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2.xml" ContentType="application/vnd.openxmlformats-officedocument.presentationml.notesSlide+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4"/>
  </p:notesMasterIdLst>
  <p:sldIdLst>
    <p:sldId id="349" r:id="rId2"/>
    <p:sldId id="323" r:id="rId3"/>
    <p:sldId id="284" r:id="rId4"/>
    <p:sldId id="267" r:id="rId5"/>
    <p:sldId id="257" r:id="rId6"/>
    <p:sldId id="260" r:id="rId7"/>
    <p:sldId id="324" r:id="rId8"/>
    <p:sldId id="285" r:id="rId9"/>
    <p:sldId id="272" r:id="rId10"/>
    <p:sldId id="342" r:id="rId11"/>
    <p:sldId id="343" r:id="rId12"/>
    <p:sldId id="288" r:id="rId13"/>
    <p:sldId id="273" r:id="rId14"/>
    <p:sldId id="274" r:id="rId15"/>
    <p:sldId id="275" r:id="rId16"/>
    <p:sldId id="289" r:id="rId17"/>
    <p:sldId id="280" r:id="rId18"/>
    <p:sldId id="276" r:id="rId19"/>
    <p:sldId id="340" r:id="rId20"/>
    <p:sldId id="290" r:id="rId21"/>
    <p:sldId id="291" r:id="rId22"/>
    <p:sldId id="277" r:id="rId23"/>
    <p:sldId id="283" r:id="rId24"/>
    <p:sldId id="330" r:id="rId25"/>
    <p:sldId id="331" r:id="rId26"/>
    <p:sldId id="332" r:id="rId27"/>
    <p:sldId id="333" r:id="rId28"/>
    <p:sldId id="334" r:id="rId29"/>
    <p:sldId id="335" r:id="rId30"/>
    <p:sldId id="336" r:id="rId31"/>
    <p:sldId id="337" r:id="rId32"/>
    <p:sldId id="281" r:id="rId33"/>
    <p:sldId id="282" r:id="rId34"/>
    <p:sldId id="292" r:id="rId35"/>
    <p:sldId id="287" r:id="rId36"/>
    <p:sldId id="293" r:id="rId37"/>
    <p:sldId id="294" r:id="rId38"/>
    <p:sldId id="268" r:id="rId39"/>
    <p:sldId id="295" r:id="rId40"/>
    <p:sldId id="344" r:id="rId41"/>
    <p:sldId id="345" r:id="rId42"/>
    <p:sldId id="346" r:id="rId43"/>
    <p:sldId id="348" r:id="rId44"/>
    <p:sldId id="296" r:id="rId45"/>
    <p:sldId id="297" r:id="rId46"/>
    <p:sldId id="338" r:id="rId47"/>
    <p:sldId id="298" r:id="rId48"/>
    <p:sldId id="299" r:id="rId49"/>
    <p:sldId id="300" r:id="rId50"/>
    <p:sldId id="339" r:id="rId51"/>
    <p:sldId id="301" r:id="rId52"/>
    <p:sldId id="302" r:id="rId53"/>
    <p:sldId id="306" r:id="rId54"/>
    <p:sldId id="307" r:id="rId55"/>
    <p:sldId id="327" r:id="rId56"/>
    <p:sldId id="341" r:id="rId57"/>
    <p:sldId id="303" r:id="rId58"/>
    <p:sldId id="326" r:id="rId59"/>
    <p:sldId id="304" r:id="rId60"/>
    <p:sldId id="308" r:id="rId61"/>
    <p:sldId id="309" r:id="rId62"/>
    <p:sldId id="310" r:id="rId63"/>
    <p:sldId id="311" r:id="rId64"/>
    <p:sldId id="312" r:id="rId65"/>
    <p:sldId id="314" r:id="rId66"/>
    <p:sldId id="315" r:id="rId67"/>
    <p:sldId id="313" r:id="rId68"/>
    <p:sldId id="305" r:id="rId69"/>
    <p:sldId id="316" r:id="rId70"/>
    <p:sldId id="317" r:id="rId71"/>
    <p:sldId id="318" r:id="rId72"/>
    <p:sldId id="320" r:id="rId73"/>
  </p:sldIdLst>
  <p:sldSz cx="9144000" cy="6858000" type="screen4x3"/>
  <p:notesSz cx="6858000" cy="9144000"/>
  <p:defaultTextStyle>
    <a:defPPr>
      <a:defRPr lang="zh-CN"/>
    </a:defPPr>
    <a:lvl1pPr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b="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FF0000"/>
    <a:srgbClr val="3333CC"/>
    <a:srgbClr val="FFCC00"/>
    <a:srgbClr val="FFFF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57" autoAdjust="0"/>
    <p:restoredTop sz="86693" autoAdjust="0"/>
  </p:normalViewPr>
  <p:slideViewPr>
    <p:cSldViewPr>
      <p:cViewPr varScale="1">
        <p:scale>
          <a:sx n="98" d="100"/>
          <a:sy n="98" d="100"/>
        </p:scale>
        <p:origin x="1734" y="84"/>
      </p:cViewPr>
      <p:guideLst>
        <p:guide orient="horz" pos="2160"/>
        <p:guide pos="2880"/>
      </p:guideLst>
    </p:cSldViewPr>
  </p:slideViewPr>
  <p:outlineViewPr>
    <p:cViewPr>
      <p:scale>
        <a:sx n="33" d="100"/>
        <a:sy n="33" d="100"/>
      </p:scale>
      <p:origin x="0" y="4476"/>
    </p:cViewPr>
  </p:outlineViewPr>
  <p:notesTextViewPr>
    <p:cViewPr>
      <p:scale>
        <a:sx n="100" d="100"/>
        <a:sy n="100" d="100"/>
      </p:scale>
      <p:origin x="0" y="0"/>
    </p:cViewPr>
  </p:notesTextViewPr>
  <p:sorterViewPr>
    <p:cViewPr>
      <p:scale>
        <a:sx n="120" d="100"/>
        <a:sy n="12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1:12:41.234"/>
    </inkml:context>
    <inkml:brush xml:id="br0">
      <inkml:brushProperty name="width" value="0.05292" units="cm"/>
      <inkml:brushProperty name="height" value="0.05292" units="cm"/>
      <inkml:brushProperty name="color" value="#FF0000"/>
    </inkml:brush>
  </inkml:definitions>
  <inkml:trace contextRef="#ctx0" brushRef="#br0">8531 9309 0,'0'0'0,"0"0"16,-96-34-16,22 10 16,-1 9-16,8 4 15,2 11 1,8 8-16,0 12 16,-12 11-1,-4 6-15,-12 7 16,3 8-1,11-1-15,3 1 16,2 7 0,1 3-16,6 4 15,9 4 1,6 1-16,7-1 16,8-9-16,12-7 15,7 3 1,11 0-16,10 1 15,5 3 1,11-2-16,9-4 16,11-8-16,16-10 15,13-4 1,3-6-16,2-10 16,6-1-1,15-8 1,5-6-16,-1-6 15,-15-8 1,-8-7-16,3-7 16,0-3-16,-2-4 15,-12-3-15,-16-3 16,-16-12 0,-4-9-16,-10-6 15,-6-7 1,-3 3-16,-6 4 15,-4-1 1,-9-4-16,-11-6 16,-9 1-1,-6-1-15,-3 9 16,-2 7-16,1 8 16,-5 5-1,-5 15-15,-8 10 16,-12 11-1,-13 8 1,-4 20-16,0 14 16,-4 9-16,-12 15 15,-12 22 1</inkml:trace>
  <inkml:trace contextRef="#ctx0" brushRef="#br0" timeOffset="3410.41">13400 11812 0,'0'0'16,"0"0"-16,0 0 15,0 0-15,65-9 16,-25 8-16,4 4 15,-2 2 1,11 8-16,18 3 16,18 1-16,3 1 15,-8-9 1,-13 0-16,-8-10 16,-9-10-1,-1-12-15,-1-9 16,3-18-1,-5-18 1,-10-15-16,-9-8 16,-5 1-16,-11 13 15,-7 14-15,-9 11 16,-9 5 0,-8 9-16,-3 6 15,0 5 1,-1 8-16,0 3 15,3 4 1,1 3-16,-4-2 16,-10 0-1,-6-2-15,-9-7 16,-6-3 0,-8-4-16,-6 1 15,-16 2 1,-11 3-16,-1 3 15,7 1 1,12 8-16,10 2 16,6 12-16,0 7 15,3 9 1,7 8-16,11 14 16,12 15-1,12 15-15,5 11 16,6-2-1,8 2-15,9 6 16,4 6-16,11-1 16,6-6-16,8-12 15,8-13 1,4-11-16,-4-5 16,-9 13-1</inkml:trace>
</inkml:ink>
</file>

<file path=ppt/ink/ink2.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2-10-10T10:23:25.296"/>
    </inkml:context>
    <inkml:brush xml:id="br0">
      <inkml:brushProperty name="width" value="0.05292" units="cm"/>
      <inkml:brushProperty name="height" value="0.05292" units="cm"/>
      <inkml:brushProperty name="color" value="#FF0000"/>
    </inkml:brush>
    <inkml:context xml:id="ctx1">
      <inkml:inkSource xml:id="inkSrc6">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2-10-10T10:23:48.586"/>
    </inkml:context>
  </inkml:definitions>
  <inkml:trace contextRef="#ctx0" brushRef="#br0">1566 8199 0,'63'0'109,"0"0"-93,-1 0-16,1 0 0,-21 0 16,62 0-1,105 0 1,-83 0 15,72 0-15,-83 0-16,-32 0 15,116 0 1,-168 0-16,42 0 31,0 0-15,-20 0-1,-22 0-15,42 0 16,-62 0 0,20 0-1,11 0 1,73 0 0,-11 0-1,-31 0 1,0 0 15,-21 0-15,-20 0-16,20 0 15,-21 0 1,42 0 0,21 0-1,0 0 1,-73 0-1,11 0 1,-1 0 0,21 0 15,-41 0-31,-1 0 0,11 0 16,10 0-1,32 0 1,-32-21 15,11 21-31,-21 0 31,10 0-15,-10 0-16,-10 0 0,-1 0 47</inkml:trace>
  <inkml:trace contextRef="#ctx0" brushRef="#br0" timeOffset="2514.98">1535 8345 0,'21'0'109,"83"-32"-93,-41 32-16,42 0 15,-11-20-15,104 20 16,-94 0 0,-30 0 15,-22 0-16,-10 0 1,-22 0-16,74 0 16,11 0-1,20 0 1,-83 0-16,21 0 16,-22 0-1,-9 0 16,-1 0-31,11 0 0,31 0 16,63-32 0,-94 22 15,-1 10-31,-20 0 16,11 0-1,20 0 16,0 0-15,42 0 0,-42 0-1,-31 0 1,-10 0-16,41 0 16,-10 0-1,10 0 1,-21 0-1,32 0 1,-21 0 0,-1 0 15,12 0-31,9 0 16,-20 0 15,-11 0-31,-10 0 31,11 0-15,-12 0-1,12 0 1,-1 0 0,0 0-1,32 0 1,-32 0-1,-10 0 1,-10 0 0,10 0 15,-11 0-31,0 0 16</inkml:trace>
  <inkml:trace contextRef="#ctx0" brushRef="#br0" timeOffset="5304.7">8825 8585 0,'-10'0'0,"10"-10"31,41 10 16,22 0-32,21 0-15,-22 0 16,32-32 0,53 11-1,-1 0 1,-31 21 0,-11 0-1,84 0 1,-10 0-1,-1 0 1,-51 0 0,-85 0 15,12 0-31,-12 0 16,-9 0 15,20 0-31,-31 0 0,10 0 31,42 0-15,-62 0-1,9 0 1,95 0 0,-42 11-1,1-1 1,-22-10-1,-21 0-15,0 0 16,1 0 15,20 0-15,-21 0 0,22 0-1,-1 0 1,-31 0-16,-11 0 31,11 0 0,-11 0-15,1 0 0,-1 0-1,11 0 1,21 0-1,-21 0 17,0 0-32,0 0 15,10 0 1,21 0-16,-20 0 31,-1 0-15,0 0-16,-10 0 31,21 0-15,-32 0-1,1 0 1,-22 0 93,1 0-93</inkml:trace>
  <inkml:trace contextRef="#ctx0" brushRef="#br0" timeOffset="8038.24">12481 8460 0,'31'0'172,"11"31"-157,31-10-15,125 0 16,-20-11 0,20-10 15,-156 0-31,73 0 0,-73 0 16,-32 0 30,11 0-30,104 0 0,-52 0-1,-31 0 1,10 0 0,11 0-16,41 0 15,-30 0 1,20 0-1,-11 0 17,11 0-32,31 0 31,22 0-15,-32 0-16,-11 0 31,126 0-16,-53 0 1,-30 0 0,-53 0-1,-21 0 1,-63 0 0,11 0 109,0 0-110,-11 0 1,1 0-16,10 0 31,10 0 0,-21 0-31,11 0 16,84 0 0,-63 0-1,-22 0 1,1 0-1,-10 0 64,-1 0-64,11 0 1,-10 0 15,-1 0-15,32-10-1,10-11 1,0 10 0,-20 11-16,-22 0 15,11 0 1,21 0-1,-11 0 17,11-20-32,-32 20 31,11 0-15,0 0 15,52 0-16,-52 0 1,-11 0 0,1 0-1,-1 0-15,22 0 16,30 0 0,-41 0-1,21 0 1,-21 0-1,-11 0 64</inkml:trace>
  <inkml:trace contextRef="#ctx0" brushRef="#br0" timeOffset="10574.82">17170 8669 0,'10'0'47,"1"0"-16,10 0 78,31-21-93,-31 21-16,41 0 0,-9 0 16,-32 0-16,41 0 0,-41 0 31,10 0-16,-20 0 1,52 0 0,41 0-1,-31 0 1,0 0 0,-41 0-1,-1 0 32,-21 0-31,11 0-1,-10 0 1,-1 0 0,21 0 93,-20 0-93,-1 0 15,11 0-16,42 0-15,0 0 32,62 0-32,-21 0 0,116 0 31,41 0-15,-105 0-16,-82 0 31,-33 0-16,32 0 1,1 0 0,9 0-1,74 10 1,-53-10 0,11 0-1,-31-10 1,-11 10-1,-31-11 17,-22 11-32,1 0 31,32 0-15,-12 0-1,-30 0 1,20 0-1,11 0 1,-11 0 0,-20 0-16,20 0 15,-10 0 1,0 0 0,-11 0-1,53 0 1,-42 0 15,-11 0-15,11 0-16,-11 0 31,11 0-15,-10 0-16,10 0 31,-11 0-16,1 0 1,9 0 0,-9 0-1,-1 0 1,22 0 15,-22 0 0,1 0-15,-1 0 0,0 0-1,1 0 1,10 0 15,-11 0-15</inkml:trace>
  <inkml:trace contextRef="#ctx0" brushRef="#br0" timeOffset="13204.91">17400 8721 0,'52'0'140,"63"0"-140,-73 0 0,-1 0 16,43 0 0,-21 0-16,-1 0 15,32 0 1,21 0 0,-52 0-1,-1 0 1,43 0-1,-22 0 1,74-32 0,-105 22-1,21 10 1,-20 0 0,51-21-1,-52 21 16,-41 0-31,10 0 32,52 0-1,-21 0-15,0 0-1,21 0 1,-20 0-1,-12 0-15,53 0 16,-41 0 0,61 0-1,-72 0 1,-10 0-16,-12 0 16,12 0-1,20 0 16,-10 0-15,41 0 0,-51 0-1,20 11 1,21-11 0,-21 0-1,-20 0-15,-1 0 16,0 0-1,0 0 1,1 0 0,10 0-1,-1 0 1,-20 0 0,0 0-1,21 0 16,-11 0-31,1 0 32,-1 0-17,11 0 1,-11 0 0,-10 0-1,-11 0 1,22 0-1,-11 0 1,-11 0 0,0 0-1,1 0 1,10 0 0,0 0-1</inkml:trace>
  <inkml:trace contextRef="#ctx1" brushRef="#br0">7501 8432 0,'-42'4'0,"-11"6"16,-2 12-1,1-3-15,7 14 16,-4 8-1,-5 13-15,-11 11 16,7 23-16,3 16 16,8 0-1,9 8-15,13 10 16,16-1-16,20-13 16,29-19-1,25-20-15,22-22 16,-1-16-1,4-10-15,9-16 16,12-12 0,5-12-16,-9-13 15,-20-9 1,-13-6-16,-4-20 16,-8-12-16,-13-5 15,-13 0 1,-11 1-16,-17-2 15,-18 1 1,-21-6-16,-10 1 16,-6 8-1,6 10-15,6 15 16,7 14-16,6 14 16,4 10-1,6 10-15,3 8 16,1 3-1,1 5-15,-2 6 16,-27 16 0,-61 45-16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0-17T11:54:45.392"/>
    </inkml:context>
    <inkml:brush xml:id="br0">
      <inkml:brushProperty name="width" value="0.05" units="cm"/>
      <inkml:brushProperty name="height" value="0.05" units="cm"/>
    </inkml:brush>
  </inkml:definitions>
  <inkml:trace contextRef="#ctx0" brushRef="#br0">92 29 4863 0 0,'0'0'223'0'0,"0"0"58"0"0,0 0 141 0 0,-9-18 2052 0 0,8 17-2406 0 0,-1-1-1 0 0,1 1 1 0 0,0 1-1 0 0,-1-1 0 0 0,1 0 1 0 0,0 0-1 0 0,-1 0 1 0 0,1 1-1 0 0,-1-1 1 0 0,0 1-1 0 0,1-1 0 0 0,-1 1 1 0 0,1 0-1 0 0,-1-1 1 0 0,0 1-1 0 0,1 0 0 0 0,-1 0 1 0 0,0 0-1 0 0,1 1 1 0 0,-1-1-1 0 0,1 0 1 0 0,-1 0-1 0 0,0 1 0 0 0,1-1 1 0 0,-1 1-1 0 0,1-1 1 0 0,-1 1-1 0 0,1 0 0 0 0,-1 0 1 0 0,1 0-1 0 0,0 0 1 0 0,-1 0-1 0 0,1 0 1 0 0,0 0-1 0 0,0 0 0 0 0,0 0 1 0 0,0 0-1 0 0,0 1 1 0 0,0-1-1 0 0,0 0 0 0 0,0 1 1 0 0,0-1-1 0 0,1 1 1 0 0,-1-1-1 0 0,0 1 1 0 0,1-1-1 0 0,0 1 0 0 0,-1 0-67 0 0,-12 25-1497 0 0,6-11-2162 0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0:25:14.411"/>
    </inkml:context>
    <inkml:brush xml:id="br0">
      <inkml:brushProperty name="width" value="0.05292" units="cm"/>
      <inkml:brushProperty name="height" value="0.05292" units="cm"/>
      <inkml:brushProperty name="color" value="#FF0000"/>
    </inkml:brush>
  </inkml:definitions>
  <inkml:trace contextRef="#ctx0" brushRef="#br0">15465 9076 0,'0'0'0,"0"0"0,13 97 0,-15-9 16,0 19 0,-4 3-16,-4 34 15,2 14 1,-1-2-16,-6 27 16,4 0-16,-6 15 15,-1 5 1,2-4-16,0 12 15,10-14 1,7 1-16,5-6 16,7-15-1,2 2-15,6-15 16,2-17-16,2 1 16,0-5-1,5-12-15,-4 2 16,-1 1-1,-1-10-15,-5 8 16,-8 7 0,-8-5-16,-2 3 15,-5-7 1,-2-20-16,2-22 16,-3-23-16,5-23 15,1-28 1,-3-14-16</inkml:trace>
  <inkml:trace contextRef="#ctx0" brushRef="#br0" timeOffset="960.05">15316 8688 0,'0'0'0,"41"-21"16,30-8-16,57-1 16,34 8-1,38 2-15,27 5 16,46 2 0,34 2-16,37 0 15,42-1 1,38-1-16,45-7 15,20 5-15,6 4 16,-4 3 0,-22 7-16,-29 15 15,-29-2 1,-13 3-16,-2-1 16,-1-2-16,4 2 15,-1 2 1,-24-7-16,-48 2 15,-16 2 1,-57-9-16,-31 1 16,-76-2-1,-57-6-15,-27-5 16,-21 0-16,-13 4 16,-17-2-1,-17 6-15,-13 16 16,-16 9-1,-14 9-15,-14 14 16,-16 25 0,-7 29-16,0 14 15,5 6 1,-19 29-16,-17 14 16,6 6-16,19 33 15,15-11 1,12 35-16,14 1 15,16 31 1,5 2-16,6 16 16,7 16-1,-1-2-15,7 19 16,8 25-16,-5-2 16,-4 6-1,-12 0-15,2-21 16,-2-36-1,2-19-15,8-37 16,14-24 0,4-34-16,-11-20 15,7-149 1,0 0-16,0 0 16</inkml:trace>
  <inkml:trace contextRef="#ctx0" brushRef="#br0" timeOffset="1749.96">15276 14158 0,'0'0'0,"44"-1"15,18 1-15,33-1 16,46 4-1,5-9-15,33-5 16,27-7 0,35-1-16,11 2 15,39 1 1,11 8-16,21 5 16,31 12-1,16 10-15,3-1 16,11 5-1,8 11-15,8 13 16,-16 7 0,-28 8-16,-6-2 15,2-3-15,-29-8 16,-11-2-16,13-11 16,-3-10-1,-21-12-15,10-11 16,-7-11-1,-30-1-15,-6 7 16,-55 4 0,-38 15-16,-23 14 15,-47 16 1,-42-4-16,-25-2 16,1 6-16,-39-47 15,0 0 1,0 0-16</inkml:trace>
  <inkml:trace contextRef="#ctx0" brushRef="#br0" timeOffset="3185.58">14545 10224 0,'0'0'0,"0"0"0,0 0 15,0 0 1,0 0-16,0 0 16,40 5-16,-22 1 15</inkml:trace>
  <inkml:trace contextRef="#ctx0" brushRef="#br0" timeOffset="3782.77">14110 11237 0,'0'0'0,"0"0"15,0 0-15,0 0 16,8-55-1,31-5-15,18-7 16,7-1 0,4 6-16,-3 3 15,-7 3 1,-12 9-16,-16 9 16,-11 14-16,-8 12 15,-10 13 1,-4 10-16,-3 5 15,-2 4 1,0 9-16,-1 4 16,-3 4-1,-4 12-15,-3 16 16,0 16 0,3 7-16,4-6 15,4-7-15,3-5 16,3-7-1,4 0 1,3-10-16,0-7 16,2-7-16,0-8 15,2-5 1,-1-11-16,3-7 16,-1-8-1,3-13-15,21-23 16,23-32-16,37-25 15,3-43 1</inkml:trace>
  <inkml:trace contextRef="#ctx0" brushRef="#br0" timeOffset="8709.77">15423 8696 0,'0'0'0,"0"0"0,0 0 15,0 0 1,-10 73-16,7-42 16,-1 0-16,-1-4 15,-3 2 1,3 0-16,0-5 15,0-6 1,-3 4-16,5 3 16,5 2-1,4 4-15,2 7 16,3 9-16,0 16 16,-3 21-1,-1 7-15,-2-3 16,-6 8-1,-6 16-15,-5 4 16,2-7 0,-5-8-16,-1-1 15,-1 3 1,3 2-16,-3-10 16,5-14-16,8-5 15,0-1 1,8-4-16,2 4 15,1-1 1,-2 2-16,0 7 16,6 15-1,2 0-15,-6-10 16,-1-2-16,-1 6 16,1 5-1,-1-4-15,-5-1 16,-5 1-1,2 4-15,2 3 16,-6-4 0,3-4-16,-1 4 15,5 7-15,3-11 16,3-11 0,-1-6-16,0-11 15,0-1 1,0 9-16,2 6 15,-3-1 1,0 0-16,3-1 16,-3 6-1,4 10-15,-6-8 16,-5 6-16,-7-5 16,-5 3-1,2-8-15,-2-20 16,6-6-1,3-11-15,1-8 16,1-9 0,2-5-16,4-12 15,6-9 1,6-23-16,15-17 16</inkml:trace>
  <inkml:trace contextRef="#ctx0" brushRef="#br0" timeOffset="9429.71">18739 6423 0,'0'0'0,"0"0"0,49-12 0,-23 5 16,2 3 0,-1-1-16,6 4 15,9 1-15,9-6 31,-3-3-31,0 2 16,-48 7 0,0 0-16,0 0 15</inkml:trace>
  <inkml:trace contextRef="#ctx0" brushRef="#br0" timeOffset="10009.84">18342 7616 0,'0'0'0,"0"0"0,32-102 16,3 25 0,11 2-16,9 8 15,-2-3 1,10-17-1,17-10-15,30 1 0,9 4 32,-19 18-32,-19 15 0,-21 16 15,-19 17 1,-11 15 0,-16 7-16,-10 12 15,-4 7-15,-24 5 16,2 3-16,-2 5 31,-1 6-31,-1 6 16,3 8-16,8 12 15,-7 13 1,2 15-16,5 7 16,-1 1-16,-1 2 15,1 16 1,2 4-16,4-6 15,1-11-15,-2 5 16,-6 8 0,-7-3-1,-13-7-15,-10 0 16,-12 4-16,-7-11 16,-1-20-1,-28-29-15,-44-31 16,-26-52-16</inkml:trace>
  <inkml:trace contextRef="#ctx0" brushRef="#br0" timeOffset="13140.06">15468 9968 0,'69'-50'0,"-2"28"16,32-8-16,15-3 0,33-1 16,29 0-1,24-1-15,36 1 16,28-2-16,4 7 16,34 3-1,-11 9-15,17 7 16,4 11-1,-12 19-15,15 14 32,-14 14-32,-3 20 0,21 9 15,-15-5 1,3-5-16,32-11 16,2-1-16,-23-15 15,3-3 1,-13-2-1,-25-3-15,16-1 16,-16-1 0,-14 5-16,10-2 15,-10 0-15,21-3 16,24-4-16,-54 0 16,-33 3-1,-64 1 1,-73 3-16,-77-12 15</inkml:trace>
  <inkml:trace contextRef="#ctx0" brushRef="#br0" timeOffset="13796.31">15689 10935 0,'0'0'0,"110"-28"16,95-14-16,37-8 15,44-1-15,34-8 16,19-7 0,28-1-1,32-1-15,37 6 16,24 10 0,19 4-16,5 12 15,-4 7-15,-33 14 16,-70 14-16,-67 23 15,-310-22 1,0 0-16,0 0 16</inkml:trace>
  <inkml:trace contextRef="#ctx0" brushRef="#br0" timeOffset="14260.06">16709 11723 0,'0'0'0,"0"0"16,0 0-1</inkml:trace>
  <inkml:trace contextRef="#ctx0" brushRef="#br0" timeOffset="14420.07">16786 12151 0,'0'0'0,"0"0"0,0 0 16,0 0-16</inkml:trace>
  <inkml:trace contextRef="#ctx0" brushRef="#br0" timeOffset="14550.01">16434 12702 0,'0'0'0</inkml:trace>
  <inkml:trace contextRef="#ctx0" brushRef="#br0" timeOffset="15061.83">15511 13003 0,'0'0'0,"0"0"0,0 0 16,108 13-16,-4 5 15,10 6 1,46 0-16,6 2 16,22-5-1,29-8 1,11-11-16,23-17 16,26-12-16,-1-15 15,36-8-15,12-6 16,9-8-1,17 6-15,5 11 16,-17 12 0,2 12-1,11 10-15,-20 13 0,-11 10 16,1 15 0,-35 11-16,-10 7 15,-24-4 1,-22-8-16,-42-13 15,-16-22 1,-48-18-16,-124 22 16,0 0-1,0 0-15</inkml:trace>
  <inkml:trace contextRef="#ctx0" brushRef="#br0" timeOffset="15719.76">17237 8517 0,'0'0'0,"9"58"16,2 75-16,-6 57 15,-7 68 1,-7 21-16,-12 28 15,-7 32 1,-9 15-16,-2-3 16,1 11-1,10-1-15,6-6 16,1-2 0,4 9-16,6 3 15,9-18 1,5-20-16,11-5 15,7-28-15,18-35 16,6-54 0,5-30-1,-5-50-15,2-58 16,-47-67-16,0 0 16,0 0-16</inkml:trace>
  <inkml:trace contextRef="#ctx0" brushRef="#br0" timeOffset="16059.87">18273 9043 0,'0'0'0,"0"0"0,-55 19 16,30 3-16,14 9 16,17 1-1,37-18-15</inkml:trace>
  <inkml:trace contextRef="#ctx0" brushRef="#br0" timeOffset="16209.84">19539 8998 0,'0'0'0,"0"0"15,0 0 1,0 0-16,45 30 16</inkml:trace>
  <inkml:trace contextRef="#ctx0" brushRef="#br0" timeOffset="16364.81">20418 9235 0,'0'0'0,"0"0"0,0 0 15,0 0-15</inkml:trace>
  <inkml:trace contextRef="#ctx0" brushRef="#br0" timeOffset="16499.66">20937 9316 0,'0'0'0,"0"0"15,0 0 1,67-26-16</inkml:trace>
  <inkml:trace contextRef="#ctx0" brushRef="#br0" timeOffset="17100.14">22447 8670 0,'0'0'0,"0"0"16,-80 96-16,33 4 16,9 9-1,5 9-15,5 19 16,5 9 0,1 8-16,-1 24 15,-4 3 1,-6 25-16,-4 7 15,3 22-15,9 8 16,15 26 0,15-3-16,12 16 15,8 5 1,0-5-16,7 11 16,-8-20-1,-4 7-15,-12-16 16,-7-10-16,-2-18 15,-9-17 1,-11-30-16,-7-12 16,-9-18-1,-7-26-15,4-22 16,40-111-16,0 0 16,0 0-1</inkml:trace>
  <inkml:trace contextRef="#ctx0" brushRef="#br0" timeOffset="19639.59">15827 9007 0,'0'0'0,"0"0"0,0 0 16,0 0-1,41 3-15,-33 10 16,2 6-16,0 4 16,0 11-1,2 11-15,-3 9 16,-5 13 0,-2 2-16,-5-8 15,-5-5 1,2-7-16,-1-9 15,-1-14 1,2-12-16,0-12 16,2-2-16,0-47 15,2-26 1,4-17-16,2-5 16,0 10-16,3 11 15,3 13 1,5 16-16,6 8 15,7 11 1,6 18-16,0 19 16,2 16-1,0 13-15,-3 9 16,-1 9-16,-5 10 16,-6 3-1,-8 2-15,-2-9 16,-5-17-1,0-12-15,-2-13 16,4-15 0,3-7-16,0-46 15,3-16-15,3-18 16,0-8 0,0 1-16,1 5 15,-1 13 1,-3 20-16,-3 15 15,2 20 1,0 21-16,-1 17 16,1 18-1,-1 13-15,-2 20 16,-3 16-16,-3 7 16,-3-6-1,-5-5 1,5-2-16,4-2 15,10-5-15</inkml:trace>
  <inkml:trace contextRef="#ctx0" brushRef="#br0" timeOffset="27870.89">17279 10593 0,'-78'-12'0,"-3"3"0,-34-3 0,-2 8 15,-9 2-15</inkml:trace>
  <inkml:trace contextRef="#ctx0" brushRef="#br0" timeOffset="28909.7">15436 11045 0,'0'0'0,"0"0"0,0 0 15,0 0 1,0 0-16,0 0 15,104-31 1,9-10-16,12-7 16,41-3-1,22-7-15,31-8 16,13-12 0,15 5-16,1 11 15,-12 22-15,5 25 16,-36 14-1,1 19-15,-9 9 16,-11 14 0,9 2-16,-26 2 15,10-8 1,-4-3-16,-10-7 16,11-10-16,-15-1 15,-14-10 1,3-2-16,-8-4 15,-20-3 1,13-4-16,10-3 16,-4-6-1,21-1-15,-8 1 16,-9 10-16,6 5 16,-3 7-1,-17 7-15,13 7 16,10 2-1,-19 0-15,8 0 16,5 2 0,-20-5-16,-21 2 15,1-1 1,-1-1-16,-8-4 16,-14-5-16,-2-5 15,22-4 1,11-8-16,-10-6 15,15-2 1,5-1-16,-14 6 16,-24 0-1,-22 3-15,-13 6 16,0 5-16,4 1 16,7 2-1,-3-2-15,-11 6 16,-17 13-1,-33-24-15,0 0 16,0 0 0</inkml:trace>
  <inkml:trace contextRef="#ctx0" brushRef="#br0" timeOffset="63138.24">4519 4539 0,'0'0'16,"0"0"-16,-33-59 15,6 12-15,-1-1 16,-15 0 0,-15 4-16,-10 8 15,-10 3-15,2 2 16,-16 11 0,-39 6-16,-9 8 15,-1 7 1,-28 6-16,4 7 15,17 5 1,-12 9-16,-5 8 16,14 15-1,-28 20-15,9 12 16,20 0-16,3-3 16,15 8-1,22 18 1,29 4-16,25 0 15,12 11 1,11 17-16,12 0 16,11 4-1,15 6-15,7-3 16,12-10-16,13 2 16,9 0-1,5-15-15,5-13 16,26-10-16,35-3 15,15-10 1,14-19-16,38-19 16,-3-24-1,34-18-15,1-24 16,15-20-16,0-26 16,-1-12-1,4-18-15,-21 2 16,10-6-1,-33-14-15,-5-13 16,-7-2 0,-40 2-1,-45-10-15,-39-12 0,-33 3 16,-30-21 0,-22-12-16,-15 9 15,-25-15 1,-35 7-1,-25 13-15,-5-1 16,-15 20-16,-39 28 16,-5 30-1,-36 30 1,6 29-16,-31 31 16,6 34-16,-20 47 15,270-85-15,0 0 16,0 0-1</inkml:trace>
  <inkml:trace contextRef="#ctx0" brushRef="#br0" timeOffset="-90017.68">17593 6195 0,'0'0'0,"0"0"16,0 0-16,-45 1 15</inkml:trace>
  <inkml:trace contextRef="#ctx0" brushRef="#br0" timeOffset="-89251.09">18900 6257 0,'0'0'0,"0"0"16,0 0-16,0 0 16,0 0-16,46 3 15,-17-15 1</inkml:trace>
  <inkml:trace contextRef="#ctx0" brushRef="#br0" timeOffset="-89067.33">19747 6410 0,'0'0'0,"0"0"15</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09-18T11:04:59.468"/>
    </inkml:context>
    <inkml:brush xml:id="br0">
      <inkml:brushProperty name="width" value="0.05292" units="cm"/>
      <inkml:brushProperty name="height" value="0.05292" units="cm"/>
      <inkml:brushProperty name="color" value="#FF0000"/>
    </inkml:brush>
    <inkml:context xml:id="ctx1">
      <inkml:inkSource xml:id="inkSrc11">
        <inkml:traceFormat>
          <inkml:channel name="X" type="integer" min="-2736" max="1920" units="cm"/>
          <inkml:channel name="Y" type="integer" max="1824" units="cm"/>
          <inkml:channel name="T" type="integer" max="2.14748E9" units="dev"/>
        </inkml:traceFormat>
        <inkml:channelProperties>
          <inkml:channelProperty channel="X" name="resolution" value="77.85954" units="1/cm"/>
          <inkml:channelProperty channel="Y" name="resolution" value="54.28571" units="1/cm"/>
          <inkml:channelProperty channel="T" name="resolution" value="1" units="1/dev"/>
        </inkml:channelProperties>
      </inkml:inkSource>
      <inkml:timestamp xml:id="ts1" timeString="2023-09-18T11:05:21.228"/>
    </inkml:context>
  </inkml:definitions>
  <inkml:trace contextRef="#ctx0" brushRef="#br0">16239 8687 5519 0,'0'0'496'0,"0"0"-496"15,0 0 0-15,-8 0 0 0,0 0 1040 0,2 2 112 16,1 3 32-16,-5-2 0 0,-1-1 704 0,-2-1 144 16,0 1 16-16,1-1 16 0,0 1 240 0,1 1 32 0,-2 1 16 0,-1-3 0 15,3-2-992-15,1-1-192 0,0 2-32 16,1 2-16-16,-1-1-720 0,0 1-144 0,1 1-16 0,-1 0-16 16,-3 2-96-16,2 0 0 0,0 6-128 0,0-1 192 15,1-2-48-15,0 1-16 0,1 4 0 0,-1 2 0 16,1 1-128-16,-1 1 192 15,0 3-192-15,1 2 192 0,-1 1 32 0,2 1 16 0,-2 1 0 0,4 3 0 16,0 0-240-16,1 3 144 0,2-1-144 0,-1 12 128 16,3-2 96-16,1-3 16 0,1-1 0 0,3-1 0 15,0 0 0-15,3 0 0 0,-1 2 0 0,1-1 0 16,-1-7 16-16,2-1 0 0,0 1 0 0,2 2 0 16,1-1 224-16,2-1 48 0,0-3 16 0,3-2 0 0,-2-1-112 15,4-4-32-15,1-2 0 0,2-2 0 0,1-1-256 0,2-1-144 16,2-2 160-16,1-1-160 0,1-2 320 15,1-2-48-15,1-2 0 0,0-1 0 0,9-3-16 0,-2-5 0 16,-2-3 0-16,2-3 0 16,-2-2-128-16,1-1-128 0,-3-4 192 0,1-5-192 0,-7 7 160 0,2-5-160 15,2-3 128-15,-1-1-128 0,2-3 128 0,1 1-128 16,-1 0 0-16,-2 0 128 0,-1 1-128 0,0 0 0 16,-2 1 0-16,-1-1 0 0,-2 0 0 0,-2 2 0 15,-1 2 0-15,0-2 0 0,-3-2 0 0,-1 2 0 16,-1 1 0-16,5-6 0 0,-3 2 0 0,-4 1 0 15,-1 1 0-15,-2-3 0 0,-3 4 0 0,1 2 0 16,-3-1 128-16,-1-1-128 0,-2-3 0 0,-1-2 0 0,-4 0 0 16,-1 0 0-16,-2 1 0 0,-1 0 0 15,-4 3 0-15,-5-11 0 0,3 9 0 0,-4 1 0 0,-4 2 0 0,-1 2 0 16,-4-2 0-16,-4 1 0 0,-5 1 0 0,-4 2 0 16,-6 8 0-16,-4-1 0 0,-3 0 0 0,-4 3 128 15,-1 4 0-15,0 4 0 0,0 4 0 0,1 3 0 16,2-1-128-16,0 9 0 0,4 0 0 0,-11 6 0 15,7 9 0-15,7-11-144 0,14-10 144 0,3-1-208 16,1 2 32-16,4 0 16 0,2 2 0 0,3-2 0 16,1-2-64-16,2 2-16 0,1 0 0 0,3 2 0 15,0 1-352-15,3 0-80 0,-1 2-16 0,2 2-10944 16,2 4-2192-16</inkml:trace>
  <inkml:trace contextRef="#ctx0" brushRef="#br0" timeOffset="943.32">17451 9681 14735 0,'0'0'1312'0,"-8"6"-1056"0,1-1-256 0,-1 0 0 15,0 0 1184-15,0-2 176 0,-1 0 48 0,1 4 0 16,0 2-80-16,0-1-16 0,1-3 0 0,1 0 0 16,1 1-16-16,0 4 0 0,0 5 0 0,1-1 0 15,0 0-224-15,3 10-48 0,1 13-16 0,5 7 0 0,-1-9-272 0,6 4-48 16,1 2-16-16,2 6 0 0,2 3-240 0,1-1-48 15,0 1-16-15,1-2 0 0,1 0 128 0,0-1 16 16,-1-5 16-16,3-4 0 0,-1-2-48 0,0-4-16 16,0-3 0-16,1-4 0 0,0-4-128 0,3-3-16 15,-1-7-16-15,4-1 0 0,0-9-64 0,1-2-16 32,0-6 0-32,2-4 0 0,2-3-64 0,-2-6-16 0,-2-5 0 0,2-6 0 0,-2 1-144 0,0-6 160 15,-1-4-160-15,-2-3 160 0,-3-1-160 0,-2 0 0 16,-3-1 0-16,-1 1 0 0,-3 1 0 0,-2 1 0 15,-3 0 0-15,-4 2 0 0,-2 0 0 0,-2 2 0 16,-7 1 0-16,-2 0 0 0,-3 2 0 0,-1 1 0 16,-5 2 128-16,-12-5-128 0,-3 5 0 0,-4 4 0 15,4 11 0 1,-4 2 0-16,-6 4 192 0,-2 5-32 0,-2 4-16 0,-2 7 0 16,0 6-16-16,0 7-128 0,1 4 192 0,0 5-64 15,3 4-128-15,4 1 0 0,2 2-192 0,5 1 192 16,3 2-368-16,4 2 48 0,4-1 16 0,5-1 0 31,5-2-464-31,4 2-112 0,4 2-16 0,6 1-17088 0</inkml:trace>
  <inkml:trace contextRef="#ctx0" brushRef="#br0" timeOffset="1729.21">18423 10797 9215 0,'-6'3'816'0,"-2"2"-656"16,-2 1-160-16,-1 2 0 0,-2 0 1152 0,0 2 192 15,1 1 32-15,0 2 16 0,1 0 80 0,2 1 32 16,0 4 0-16,5 3 0 0,0 3-304 0,6 6-64 16,3 2-16-16,5 7 0 0,4 7-96 0,5 4-32 0,5 3 0 0,5 5 0 15,5 3 240-15,4 1 48 0,6 1 16 0,2-4 0 16,2-2-16-16,1-8 0 0,0-8 0 0,-1-5 0 15,1-7-576-15,-1-6-128 0,0-7-32 0,0-10 0 16,2-7-48-16,-2-7-16 0,-3 0 0 0,0-7 0 16,-2-6-160-16,-4-3-48 0,-4-5 0 0,-3-4 0 15,-5-4-144-15,-4-3-128 0,-6-2 144 0,-2-1-144 16,-4-2 144-16,-4 1-144 0,-7 1 128 0,-5-2-128 16,-5-2 0-16,-3 2 128 0,-4-1-128 0,-4-1 0 15,-3 2 0-15,-4 4 128 0,-2 2-128 0,-4 5 0 16,0 6 0-16,-1 7 0 0,-2 6 0 0,0 9 0 15,-1 6 0-15,-2 6-144 0,0 9 144 0,-2 6-208 16,-1 6-192-16,-1 3-48 0,2 2 0 0,1 4 0 16,1 2-128-16,1 2-48 0,4-1 0 0,3-1 0 15,3-1-128-15,5-1-16 0,4-3-16 0,1 1-15152 16</inkml:trace>
  <inkml:trace contextRef="#ctx0" brushRef="#br0" timeOffset="2388.61">19324 12180 13823 0,'8'34'1216'0,"6"3"-960"16,1-13-256-16,4 14 0 0,7 14 1216 0,2-2 208 15,3-5 48-15,3-5 0 0,3-5 288 0,1-6 64 16,2-5 16-16,12-3 0 0,-3-8 32 0,-1-7 16 16,1-8 0-16,-3-6 0 0,-1-6-672 0,0-5-144 0,-3-5-32 0,-2-5 0 15,-3-3-560-15,-4-2-112 0,-2-3-32 0,-5 0 0 16,-6 0 16-16,-2 2 0 0,-7 6 0 0,-3 0 0 16,-3 2-352-16,-2-2 0 0,-3-2-160 0,-3 3 160 15,-2 3 304-15,-4 1 160 0,-6-1 48 0,-4 1 0 16,-2 1-128-16,-4 2-32 0,-4 0 0 0,-3 2 0 15,-4 3-192-15,-2 3-32 0,-2 4-128 0,-2 2 192 16,0 6-192-16,2 4 0 0,2 5-144 0,1 5 144 16,1 3-448-1,3 1 0-15,2 4 0 0,4 2 0 0,3 1 64 0,3 3 32 0,5 2 0 0,3 1 0 16,5 3-416-16,3-1-64 16,4 0-32-16,2 1 0 0,2 0-1136 0,5-1-240 15,5-2-32-15,3 1-11296 0</inkml:trace>
  <inkml:trace contextRef="#ctx0" brushRef="#br0" timeOffset="2874.89">20705 12885 10127 0,'-30'-8'448'0,"17"6"96"0,4 1-544 0,-3-1 0 0,1 2 0 0,1 3 0 16,1 2 704-16,1 3 16 0,0 5 16 0,1 5 0 15,3 2 192-15,0 5 32 16,3 0 16-16,1 4 0 0,3 3 112 0,3 0 32 0,4 0 0 0,4 2 0 15,4 0 1072-15,3 0 224 0,3-1 32 0,3-2 16 16,2-2-208-16,2-5-32 0,1-3-16 0,0-4 0 0,0-2-1200 16,2-4-240-16,-1-3-64 0,1-5 0 0,0-4-432 15,-1-6-80-15,0-3-32 0,-1-4 0 0,0-7 32 16,-2-3 0-16,1-5 0 0,-2-4 0 16,-4-4-64-16,-1-4-128 0,-3-2 192 0,-3-2-64 0,-4-1-128 0,-2-1 0 15,-4 1 0-15,-4 1 0 0,-2 1-256 0,-4 4 64 16,-1 3 0-16,-3 3 16 0,-4 2 176 0,-1 5 0 15,-4 3 0-15,-2 0 0 0,-2 0 128 0,-4 8 64 16,-3 9 16-16,-3 6 0 0,-3 1-16 0,-1 5-16 16,-3 9 0-16,1 2 0 0,0 3-176 0,1 5 0 15,0 1-160-15,2 5 160 16,0 2-1536-16,2 2-192 0,2 1-64 0,3-1-14912 0</inkml:trace>
  <inkml:trace contextRef="#ctx0" brushRef="#br0" timeOffset="3448.04">22395 13692 28559 0,'-22'16'1264'0,"15"-8"272"0,-1 4-1232 0,2 0-304 16,1 4 0-16,4 1 0 0,1 5 784 0,3 4 112 15,2 4 0-15,1 5 16 0,2 6-432 0,3 2-96 16,4 0 0-16,2 5-16 0,3-1 976 0,4-2 192 16,0-2 32-16,5-3 16 0,1-3-464 0,4-5-96 0,0-7 0 0,2-5-16 15,1-7-880-15,0-5-128 0,0-5-128 0,-1-6 128 16,0-2 0-16,-2-6 192 0,-2-5 0 0,-1-5 0 15,-2-6-48-15,-2-5-16 0,-1-5 0 0,-4-3 0 16,-1-5-128-16,-3-2-272 0,-4-1 64 0,-4 0 16 16,-6 0 192-16,-4 0 256 0,-3-2-48 0,-6-3-16 15,-6 3-192-15,-4-1 0 0,-5-2 0 0,-5 3 0 16,-3 4-176-16,-5 2-80 0,-3 4 0 0,-4 6-16 16,-4 7 272-16,0 8-160 0,-2 6 160 0,1 10-128 0,-1 8 128 15,0 7 176-15,4 9-48 0,1 7 0 0,3 4-256 16,2 5-64-16,3 3-16 0,3 3 0 0,2 2-32 15,3 2 0-15,2-2 0 0,-2 8-18112 16</inkml:trace>
  <inkml:trace contextRef="#ctx0" brushRef="#br0" timeOffset="8199.66">17844 8488 5519 0,'0'0'496'0,"0"0"-496"15,-6 7 0-15,-1-1 0 0,2 1 1216 0,1 4 160 16,-3 5 32-16,2 2 0 0,1-4 240 0,-1 4 48 15,2 6 16-15,1 3 0 0,0 2-352 0,2 1-64 16,2 4-16-16,1 0 0 0,2 1-32 0,3 1-16 16,0 0 0-16,3 1 0 15,2-1 240-15,2-4 64 0,-1-5 0 0,4 4 0 0,1 5-368 0,2-2-64 0,1-5-16 0,4-5 0 16,1-5-384-16,0-4-64 0,2-6-32 0,0-4 0 16,2-3-288-16,-1-2-48 0,-1-3-16 0,-2-5 0 15,1-5-48-15,-1-3-16 0,-1 0 0 0,-2-4 0 16,5-8 128-16,-2-3 32 0,-6 5 0 0,-2-3 0 15,-1 1-352-15,-2-4 0 0,-2-1 0 0,-3 0 0 16,-1-1 0-16,-4-1-192 0,-1-2 32 0,-3 3 0 16,-4 5-32-16,-3 2-16 0,-3 0 0 0,-1 1 0 15,-6 0 208-15,-1 2 0 0,-5 0 0 0,-3 0 0 16,-3-2 0-16,-3 2 0 0,-6 5 0 0,-2 0-144 16,-6-1 144-16,-1 6 0 0,-3 6 0 0,0 5 0 15,-2 4 208-15,1 6 128 0,-3 6 32 0,6 3 0 16,1 3-32-16,3 5 0 0,4 7 0 0,-6 9 0 0,7-3-336 15,7 3 0-15,12-10 0 0,5-1 0 0,4-3-208 16,4-2-112-16,3-2-32 0,6-1-11680 16,2-3-2352-16</inkml:trace>
  <inkml:trace contextRef="#ctx0" brushRef="#br0" timeOffset="9017.48">19093 9681 11567 0,'-7'-2'256'0,"2"9"48"0,-4-9 16 0,-1 1 0 0,1-1-320 0,0 2 0 0,1 0 0 0,-1 3 0 16,-1 2 0-16,1 0 0 0,1 4 0 0,0 1 0 16,0 0 272-16,-1 3-16 15,3 4 0-15,1 3 0 0,2-1 832 0,3 8 176 16,3 2 16-16,2 1 16 0,1 4 560 0,6 1 128 0,1 1 0 0,4 1 16 15,2 1-208-15,6 1-32 0,0-1-16 0,4 1 0 16,3-1-704-16,2-1-144 0,0-3-16 0,1-4-16 0,2-2-448 16,0-7-96-16,-2-4 0 0,0-4-16 0,1-5 0 0,-3-5 0 15,1-4 0-15,6-9 0 0,-11-1 96 0,-2-5 32 16,-1-5 0-16,-4-3 0 0,-1-3-16 0,-3-4 0 16,-4-1 0-16,-1-2 0 0,-3-1-112 0,-4 0-32 15,-2-1 0-15,-3 1 0 0,-4 1-64 0,-3 1-16 16,-4-3 0-16,-3 1 0 0,-3 1-64 0,-3 1-128 15,-4 0 176-15,-10-7-176 0,-4 3 128 0,0 2-128 16,8 8 0-16,-3 6 0 0,-2 7 0 0,0 4 0 16,1 3-208-16,-1 6 80 15,0 2-256-15,2 6-64 0,0 3 0 0,2 4 0 16,2 4-144-16,1 1-48 0,1 0 0 0,4 2 0 16,1 1-128-16,3 1-48 0,4-2 0 0,3 0 0 15,1 0-1456-15,4-1-288 0</inkml:trace>
  <inkml:trace contextRef="#ctx0" brushRef="#br0" timeOffset="9803.34">20303 10732 7359 0,'-8'0'656'16,"-4"4"-528"-1,3-3-128-15,-1-6 0 0,-4 2 1568 0,-1 0 288 0,1 1 48 0,-1 2 16 0,1-1 304 0,-1-1 64 16,1 1 16-16,0 1 0 0,-1 3-816 0,1 2-144 15,1-1-48-15,2 8 0 16,1 2-592-16,4 5-112 16,1 7-16-16,3 5-16 0,4 4-208 0,4 5-32 15,5 2-16-15,2 1 0 0,2 2 160 0,1-2 48 16,3-1 0-16,2-2 0 0,3-1 704 0,2-6 160 16,1 0 32-16,3-9 0 0,2-5-416 0,2-5-80 15,2-6-16-15,0-1 0 0,3-7-512 0,-4-7-96 0,1-6-32 16,-3-3 0-16,4-1-256 0,-5-4 0 0,-1-5 0 15,-4-4 0-15,-1-6 0 0,-4-2 0 0,-1-5 0 0,-2 1 0 16,-3-2 0-16,-3 0 0 0,-5-1 0 0,-3 1 0 16,-2 3 0-16,-4 0 0 0,-6 1 0 0,-4 2 0 15,-2 1 0-15,-5 2 0 0,-4 1 0 0,-4 3 0 16,-3 4 0-16,-3 5 0 0,-3 4 0 0,0 2 0 16,-2 3 0-16,0 11 0 0,0 14 0 0,2 5 0 15,1 4-224-15,2 5-96 0,1 1-32 0,4 2 0 16,1 2-304-1,6-1-64-15,2 2-16 0,5 0 0 0,3-1-1200 0,4-1-240 0</inkml:trace>
  <inkml:trace contextRef="#ctx0" brushRef="#br0" timeOffset="10587.98">21725 11824 5519 0,'0'0'496'0,"1"13"-496"15,1 4 0-15,3 6 0 16,1 3 1408-16,2 2 192 0,-2-3 48 0,2 2 0 0,0 2-176 0,0 1-16 16,1 2-16-16,0 0 0 0,-2 0-208 0,1-1-32 15,0-2-16-15,0 0 0 0,4 6 544 0,3-4 96 0,-1-6 32 0,4-1 0 16,-2-6 144-16,3-5 48 0,5-2 0 0,2-3 0 16,1-1-832-16,4-6-176 0,3-6-16 0,-1 0-16 15,9-7-576-15,-2-6-112 0,-3-3-32 0,-3-3 0 16,-10 2-288-16,0-7-272 0,-2-5 48 0,1-3 16 15,-4-1 16-15,-1-3 16 0,-4 1 0 0,-3 0 0 16,-3 0 176-16,-1 2 224 0,-6 1-48 0,-1 0-16 16,-4-10 48-16,-4 5 16 0,-5 7 0 0,-5 3 0 15,-1 1 160-15,-2 4 48 0,-3 2 0 0,-3 2 0 16,-5 4-176-16,-2 4-16 0,-5 4-16 0,-2 6 0 16,0 5 16-16,0 5 0 0,-3 10 0 0,4 1 0 15,0 3-96-15,2 3-16 0,-2 4 0 0,1 3 0 0,-1 1-384 16,1 4-64-16,2 0-32 0,2-2 0 0,3 0 80 0,2-1 16 15,2-4 0-15,6 0 0 16,3 0-320-16,6-1-48 0,5-2-16 16,6-1 0-16,4-7-2176 0,4 0-448 0,18 21-96 0,5-15-16 0</inkml:trace>
  <inkml:trace contextRef="#ctx0" brushRef="#br0" timeOffset="11294.29">23057 12784 12783 0,'0'0'1136'0,"-2"13"-912"0,2 3-224 0,2 3 0 16,1 2 1600-16,3 3 288 0,4 2 48 0,1 1 16 15,0-5-192-15,4 1-32 0,1 4-16 0,1 0 0 16,1 1-80-16,1-3-16 0,2-2 0 0,0-2 0 16,1-4-352-16,3-4-80 0,-1-6-16 0,0-3 0 15,0-2-320-15,0-5-64 0,0-8-16 0,0-6 0 16,0-5-192-16,-1-4-32 0,-4-3-16 0,-2-3 0 15,0-3-272-15,-5-3-64 0,0-1-16 0,-3-1 0 16,-1 0-176-16,-3 0 0 0,-2-1 0 0,-3 8 0 16,-3 2 0-16,-2-2 0 0,-3-6 0 0,-3 1 0 0,-5 2 0 0,-3 2 0 15,-2 2 0-15,-3 2 0 0,-5 3 0 0,-2 4 0 16,-2 4 0-16,-9 3 0 0,2 8 0 0,1 8 0 16,2 6 0-16,2 9 0 0,1 6-176 0,2 4-16 15,2 2 0-15,4 6 0 16,5-1-832-16,4 5-160 0,5-10-32 0,4 3-15584 15</inkml:trace>
  <inkml:trace contextRef="#ctx1" brushRef="#br0">23069 12466 0</inkml:trace>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3-09-18T11:10:13.128"/>
    </inkml:context>
    <inkml:brush xml:id="br0">
      <inkml:brushProperty name="width" value="0.05292" units="cm"/>
      <inkml:brushProperty name="height" value="0.05292" units="cm"/>
      <inkml:brushProperty name="color" value="#FF0000"/>
    </inkml:brush>
  </inkml:definitions>
  <inkml:trace contextRef="#ctx0" brushRef="#br0">9781 8954 11055 0,'0'0'976'0,"-4"-5"-784"16,-1 0-192-16,-2 0 0 0,1 1 1216 0,-2-1 208 16,0-2 48-16,0 3 0 15,0-1 128-15,-2 0 48 0,1-1 0 0,1-1 0 0,0 4-544 0,0-2-96 16,-2-1-32-16,0 1 0 0,1 0-80 0,-1 0 0 15,2 0-16-15,-2 2 0 0,1 2 192 0,-1 1 32 16,-1 1 16-16,0 4 0 0,-2 3-160 0,0 3-16 0,-1 2-16 0,-1 6 0 16,1 2-592-16,-1 0-112 0,-1 2-32 0,0-1 0 15,0 2-192-15,0 2 0 16,0 1 0-16,2 0 0 0,-1 2 0 0,2-1 0 0,2-3 0 0,1-1 0 16,1 2 192-16,1 0 0 0,1 3 0 0,3 1 0 15,0 2 0-15,4 3-16 0,2 2 0 0,1-1 0 16,2-3 80-16,1 3 0 0,2-1 16 0,2-1 0 15,0-5 0-15,1-2 0 0,2-3 0 0,1-2 0 16,2-2-48-16,3-3-16 0,1-2 0 0,1-1 0 16,1 1-32-1,9-2-16-15,-1-5 0 0,1-4 0 0,-1 1 32 0,2-5 0 0,3 0 0 0,2 0 0 16,0-1-192-16,2 1 128 0,-1 0-128 0,2-7 128 16,1-7 0-16,-1-2 0 0,-8 0 0 0,0 0 0 15,0 0-128-15,2-2 0 0,-1-3 144 0,1-1-144 0,-3-4 144 16,-3-1-144-16,3-1 192 0,-4-1-192 15,-1-1 192-15,0 1-192 0,-2 0 192 0,-2 0-192 16,-1 2 160-16,-2 1-160 0,-1 2 128 0,-2 2-128 0,0-1 0 0,-3 1 0 16,-2-1 128-16,-1 1-128 0,-4 1 0 0,-1 0 0 15,-2 0 0-15,-1-3 0 0,-6 2 0 0,-2 1 0 16,-4 0 0-16,-2 0 0 0,-6 0 0 0,-3-1 0 16,2 2 0-16,-4 4 128 0,-4-3-128 0,-3 2 0 15,-4-1 0-15,-5 2 128 0,-6 0-128 0,1 1 160 16,-5 2-160-16,1 5 160 0,0 4-160 0,3 4 192 15,2 3-192-15,1 2 192 0,2 1-192 0,1 2 0 16,6 0 0-16,1 2 0 0,3-1 0 0,1 1 0 16,3 0 0-16,1-1 0 0,1 1-272 0,2 0 64 0,1-1 16 0,2 1 0 31,2-1-80-31,0 7-16 31,1 12 0-31,4-3-19056 0</inkml:trace>
  <inkml:trace contextRef="#ctx0" brushRef="#br0" timeOffset="1287.79">11165 10005 21183 0,'0'0'1888'0,"-7"5"-1504"0,-1 0-384 0,-1 0 0 16,2-2 832-16,-1 2 80 0,-1 0 32 0,-1 4 0 16,2-1-336-16,0-3-64 0,0 1-16 0,0-1 0 0,0 2 112 0,0-3 32 15,0 3 0-15,1-2 0 0,1 1 32 0,0 1 16 16,-1-1 0-16,1 0 0 0,-2 1 336 0,-2-1 64 16,1 1 16-16,-1 1 0 0,0 0-112 0,-1 0-32 15,0 1 0-15,0-1 0 0,-2 5-320 0,1-3-64 16,1 3-16-16,0 1 0 0,0-1-400 0,0 0-192 15,-1 3 160-15,3 0-160 0,1 2 0 0,1-1 128 16,2 3-128-16,1 0 0 0,0 1 0 0,3 0 0 16,1 2 0-16,1 1 0 0,4 1 0 0,2 1 0 15,-1 0 128-15,2 3-128 0,3 6 128 0,1 2-128 16,0-2 176-16,3 2-176 0,1-2 192 0,2 1-64 0,-1-4 0 16,4-2-128-16,0 1 176 0,1-7-176 0,2-6 160 0,2-2-160 15,1-2 176-15,1-1-176 0,2-3 192 0,1-4-192 16,-1-3 192-16,4-3-192 0,0-3 192 0,11-3-192 15,-4-3 192-15,-1-2-64 0,0-2 0 0,-1-1-128 16,-12 1 144-16,2-1-144 0,2-4 0 0,-1-1 144 16,1-2-144-16,-1 0 0 0,1-1 0 0,-1-1 0 15,-1 1 0-15,-2-1 0 0,-1-1 0 0,-2 0 0 16,-2 2 0-16,1-1 0 0,-4 1 0 0,-1 1 0 16,0 0 0-16,-2 2 0 0,-2 1 0 0,-1 0 0 0,1-7 0 15,-1-4 0-15,-5 3 0 0,-1 2 0 0,-3 5 0 0,0-1 0 16,-3 1 0-16,-1 0 0 0,-1-2 0 0,-3 0 0 15,-2 0 0-15,-2 0 0 0,-3 1 0 0,-2-1 0 16,-3-2 128-16,-3 2-128 0,-4 0 0 0,-4 2 0 16,-4 0 0-16,-4 3 128 0,-3 1-128 0,-4 4 160 15,-3 5-160-15,-2 1 160 0,1 2-160 0,-1 3 0 16,2 1 0-16,2 4 128 0,3 3-128 0,1 2-224 16,4 1 48-16,1 2 16 0,4 0-16 0,1 0 0 15,2 1 0-15,1 2 0 0,2 0 32 0,3 2 0 16,-1-2 0-16,1 2 0 0,1-1-80 0,1 1-16 15,0-1 0-15,1 1 0 16,-1 0-192-16,1 1-32 0,-1 0-16 0,-2 5-11712 0,2-4-2336 16</inkml:trace>
  <inkml:trace contextRef="#ctx0" brushRef="#br0" timeOffset="3989.51">11218 8851 10127 0,'0'0'896'0,"0"0"-704"0,0 0-192 0,-3 10 0 16,-1-2 1344-16,1 0 256 0,0 0 32 0,0-2 16 15,-2-1 464-15,2 3 112 0,-2-1 16 0,0-1 0 16,0 2-928-16,0 0-176 16,1 0-48-16,-1-2 0 0,0-1-320 0,0 2-80 0,0-2-16 0,2 1 0 15,0 0 32-15,0 1 16 0,3-7 0 0,-5 5 0 16,5-5-192-16,-5 4-32 0,0 1-16 0,1 2 0 15,-1-1-192-15,-2 0-32 0,1 3-16 0,-1-3 0 0,1 0 16 0,0 2 0 16,1 0 0-16,0 0 0 0,0 0 144 0,0 0 48 16,2 1 0-16,0-3 0 15,0 2-288-15,-1-2-160 0,3 2 192 0,-1 8-192 0,-1 12 0 0,1-9 0 16,2-19 0-16,-1 8 0 0,-2 5 0 0,1 0 0 16,0 0 0-16,1-2 0 0,-1 2 224 0,-1-4-16 15,0 4 0-15,0-2 0 0,-1 1-48 0,1-3-16 16,0-1 0-16,1 3 0 0,1-2-144 0,-1-3 128 15,2-6-128-15,-1 8 128 0,-1 0-128 0,0 0 128 16,1 0-128-16,-1 0 128 0,2-8-128 0,0 10 0 16,0 1 0-16,0-1 0 0,0-10 0 0,0 0 0 15,2 6 0-15,-2-6 0 0,1 8 0 0,3 0 128 16,-1-2-128-16,-3-6 128 0,5 7-128 0,-1-1 0 0,1-1 0 16,2 3 0-16,-1-3 0 0,0 1 0 0,2-2 0 15,1 4 0-15,0-4 0 0,1 1 0 0,-1 0 0 0,3 0 0 16,-1 0 0-16,0-2 0 15,0 0 0-15,2 0 0 16,0 1 0-16,0-3 0 0,0 1 0 0,1-1 0 16,1 1-128-16,-1 0 128 0,-1 1 0 0,0 2 0 15,0-1 0-15,-1 3 0 0,1-4 0 0,0 3 0 16,0 1 0-16,0-1 0 0,-2-3 0 0,0 6 0 16,0-3 0-16,1-1 0 0,-1-2 0 0,0 0 0 0,0-1 0 15,1-2 0-15,-3 0 0 0,1-2 0 0,-2-1 0 16,2 3 0-16,-1-2 0 0,-1 1 0 0,-8 1 0 0,8-2 0 15,0 1 0-15,0-1 0 0,-1 0 0 0,1-1 0 16,0-2 0-16,1 0 0 0,-1 1 0 0,2-1 0 16,-2 0 0-16,2 0 0 0,-2-1 0 0,1-1 0 15,1 1 0-15,0 0 0 0,-1-1 0 0,1 2 0 16,-1 0 0-16,1 1 0 0,0-1 0 0,1 2 0 16,0-1 0-16,0 1 0 0,1 0 0 0,-1 0 0 15,0 0 0-15,0-1 0 0,1 0 0 0,-1-1 0 16,0 0 0-16,2 0 0 0,0-3 0 0,0 3 0 15,-1-3 0-15,3-1 0 0,1 2 0 0,-2-1 0 16,1-1 0-16,-1-1 0 0,2-1 0 0,-1-1 0 16,-1 1 0-16,1 2 0 0,-1-1 0 0,-1 4 0 0,-2 1 0 0,0 2 0 15,1-9 0-15,-3 4 0 0,-1 5 0 0,0 0 0 16,-1 0 192-16,-3-2 16 0,0-3 0 0,-1 0 0 16,-1 1 16-16,-1 1 0 0,-1 6 0 0,-1-7 0 15,-1-2 0-15,-1 4 0 0,3 5 0 0,-7-6 0 16,1-9-96-16,-1 1 0 0,-2-1-128 0,1-1 192 15,-2-1-192-15,2-1 176 0,-3 2-176 0,0-2 160 16,-1-4-160-16,0-1 0 0,-1-1 0 0,-2-2 128 16,1 1-128-16,-2-2 0 0,-2-2 0 0,1 1 0 15,-3 3 0-15,1 1 0 0,-2 0-160 0,0 4 160 0,-6-1-288 16,1 4 32-16,9 4 16 0,-1 3 0 16,0 4 48-16,1 1 16 0,1 0 0 0,1 2 0 0,1 0 176 0,-1 0 0 15,1 1-144-15,-1 0 144 0,-4 2 0 0,2 2 0 16,-3 1 0-16,3 2 0 0,2-2-128 0,1 0 128 15,-1 1 0-15,2-1 0 0,1 0 0 0,0 3-176 16,1 2 176-16,0 2-128 0,3 0-64 0,-2-2-16 16,1-2 0-16,1 1 0 0,0-1-48 0,0 0 0 15,0 1 0-15,0 1 0 0,-1 2-80 0,0-1-32 16,-2 1 0-16,-2 3 0 16,0 3-464-16,-3-2-80 0,-2-1-32 0,-1 0 0 15,-2 0-800-15,0 0-176 0</inkml:trace>
  <inkml:trace contextRef="#ctx0" brushRef="#br0" timeOffset="4869.41">11131 9000 9215 0,'0'0'816'0,"0"0"-656"16,0 0-160-16,-6 4 0 0,-1-4 1792 0,2 1 336 16,5-1 64-16,-6 2 16 0,0-2 544 0,-1 1 96 15,-1 1 32-15,0 1 0 0,2 0-912 0,-1 2-176 0,-1-5-48 0,2 2 0 16,-2 3-736-16,0 0-160 0,0-4-16 0,0 1-16 16,-2-1-272-16,1 1-48 0,-1 1-16 0,-1 0 0 15,-5 4-64-15,-2-4-16 0,4-3 0 0,-3 2 0 16,0 1-48-16,-2 2-16 0,-2-2 0 0,-2 5 0 15,-2 3-128-15,-1 2-16 0,-1-2-16 0,1-1 0 16,0-1-176-16,2 1 0 0,2 0 0 16,-6 1 0-16,6-3 0 0,3-3 0 0,6-5 0 0,2 6 0 0,3 7 0 15,1-2 0-15,1-6 0 0,6-5 0 16,0 0-352-16,0 0-160 16,0 0-16-16,1 8-16 0,1 0-1376 0,-2-8-288 0,0 0-48 0,8 5-13184 15</inkml:trace>
  <inkml:trace contextRef="#ctx0" brushRef="#br0" timeOffset="5231.03">10807 8825 5519 0,'0'0'496'0,"-5"-4"-496"16,-1-4 0-16,1 0 0 16,0 1 2624-16,0 1 448 0,0-1 64 0,5 7 32 0,-4-3-736 0,-1 2-128 15,-2 1-48-15,1-2 0 0,0-3-992 0,-1 0-208 16,1 0-32-16,-1 4-16 0,-1 2-176 0,0 3-48 0,0-1 0 0,0 2 0 15,0 3-208-15,0 1-32 0,-1 3-16 0,-3 2 0 16,1 2-128-16,-2 7-16 0,0 4-16 0,1 0 0 16,-1-3-32-16,0-1 0 0,2-4 0 0,-1 0 0 15,1 0-208-15,2-1-128 0,-1 0 128 0,0 1-128 16,1 2 0-16,1 1 0 16,0 1 0-16,1-4 0 0,-1-4 0 0,2-3 0 0,-1 1 0 0,3 0 0 15,-1-2 0-15,0 2-160 0,0 3 160 0,3-3 0 16,-1-5-144-16,3-8 144 0,-1 8 0 0,-1 0-144 15,-1 2 144-15,3-10 0 0,0 0 0 0,0 0 0 16,0 0 0-16,1 8 0 0,-1-8 0 0,4 6 0 16,0 7 0-16,1-3-160 0,-5-10 160 0,7 9 0 0,-1-1-160 15,-1-3 160-15,-5-5-128 0,0 0 128 0,10 3-144 0,-1-1 144 16,-1 0-160-16,2 1 160 0,1 3 0 0,0 1 0 16,2 4 0-16,5-3-15568 15</inkml:trace>
  <inkml:trace contextRef="#ctx0" brushRef="#br0" timeOffset="5733.5">11378 9474 10127 0,'0'0'896'0,"0"0"-704"16,0 0-192-16,0 0 0 16,0 0 2016-16,0 0 368 0,0 0 80 0,0 0 16 0,-1 6 384 0,-3 2 80 15,1 2 0-15,0 1 16 0,0 2-1680 0,0 2-352 16,-1-1-64-16,3 4-16 0,-1-1-288 0,1 3-64 15,-1-1-16-15,0 3 0 0,2 1-16 0,0 1 0 0,0 5 0 0,0-2 0 16,0-1-176-16,2 1-32 0,-2 0-16 0,0-1 0 16,2-2-240-16,-2-5 0 0,0-6 0 0,0 3 0 31,0 0-448-31,-2-3-64 0,0 2-32 0,1-6 0 16,1-9-1056-16,0 0-192 0,0 0-64 0,0 0 0 15,-5 3-464-15,5-3-112 0</inkml:trace>
  <inkml:trace contextRef="#ctx0" brushRef="#br0" timeOffset="6031.86">11133 9763 10815 0,'0'0'240'0,"0"0"48"0,0 0 16 0,-7 5 0 0,7-5-304 0,-6 5 0 0,6-5 0 0,0 0 0 16,0 0 2768-16,0 0 496 0,-3 16 112 0,1 0 16 16,4-7-736-16,1 6-144 15,2 1-16-15,1 0-16 0,2 1-1264 0,2 3-240 0,-1 2-48 0,1 1-16 0,0 1-592 0,-1-2-112 16,1 2-16-16,-2 0-16 15,0 0-176-15,0 1 0 0,2-3 0 0,-2-1 0 0,0-2 192 0,0-3 0 16,0-1 0-16,0-3 0 0,1 0 320 0,-1-3 80 16,0-2 16-16,0-1 0 0,-1-3-32 0,-7-3 0 15,10 0 0-15,-2-3 0 0,0-3-208 0,1-2-48 16,1-2-16-16,-2-3 0 0,3-3-112 0,0-3-32 16,2 0 0-16,0-2 0 0,1 0-160 0,1 0 0 15,-1 0 0 1,1 2 0-16,-1-2 0 0,1 2 0 0,-1-4-160 0,1 1 160 15,-3-2-768-15,1 6-48 0,0 5-16 0,0 0-11168 0,0-4-2240 16</inkml:trace>
  <inkml:trace contextRef="#ctx0" brushRef="#br0" timeOffset="6864.94">10489 9323 7359 0,'0'0'656'0,"0"0"-528"0,0 0-128 0,-5-2 0 16,-1-1 1072-16,6 3 176 0,-5-5 32 0,0 1 16 16,1-1 464-16,4 5 96 0,0 0 0 0,0 0 16 15,0 0-16-15,0 0-16 0,0 0 0 0,0 0 0 16,0 0-624-16,0 0-112 0,4 9-16 0,4 1-16 15,-1-2-160-15,1 2-16 0,0-1-16 0,1-1 0 16,3-1-96-16,1-1-16 0,-2 1 0 0,0 1 0 16,0 0-160-16,2-2-32 0,0 1-16 0,3 1 0 15,-2 0-288-15,2 0-48 0,-4-2-16 0,1 0 0 16,-1 2-208-16,1 1 0 0,0-1 0 0,0 0 0 31,0 1-608-31,0 1-160 0,-1 1-48 0,1 0 0 0,0 1-1040 16,2-1-224-16,1 0-32 0,0 0-11328 0</inkml:trace>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0:45:19.453"/>
    </inkml:context>
    <inkml:brush xml:id="br0">
      <inkml:brushProperty name="width" value="0.05292" units="cm"/>
      <inkml:brushProperty name="height" value="0.05292" units="cm"/>
      <inkml:brushProperty name="color" value="#00B050"/>
    </inkml:brush>
  </inkml:definitions>
  <inkml:trace contextRef="#ctx0" brushRef="#br0">15107 3773 0,'0'0'0,"0"0"15,0 0-15,0 0 16,0 0 0,0 0-16,0 0 15,2 55 1,9-10-16,0 5 16,-1 8-1,-4 2-15,-5 6 16,-4 5-1,-1 11-15,0 15 16,-4 11 0,2-6-16,0-9 15,-3-10 1,-4-5-16,-1-12 16,1-12-16,1-21 15,5-18 1,6-15-16,21-73 15,28-22-15,24-40 16,7-33 0,0-13-1,-4-19-15,-7 18 16,-5 32-16,-7 34 16,-3 41-1,-4 34-15,-5 34 16,-10 34-1,-7 35-15,-14 33 16,-8 20 0,-9 4-16,-3 7 15,-3 10-15,3 13 16,-1-9 0,6-10-16,0-6 15,7-10 1,2-22-16,-2-25 15,3-21-15,5-28 16,2-31 0</inkml:trace>
  <inkml:trace contextRef="#ctx0" brushRef="#br0" timeOffset="415.15">16358 3452 0,'0'0'0,"0"0"0,0 0 15,0 0 1,59 61-16,-29-20 15,-4 2-15,-5 4 16,-13 2 0,-21-3-16,-19-3 15,-20 9 1,-27 1-16,-11-2 16,2-7-1,16-9-15,17-6 16,19-7-16,18-7 15,15-6 1,26-2-16,39-7 16,26-8-1,16-11-15,31-6 16,3-5 0</inkml:trace>
  <inkml:trace contextRef="#ctx0" brushRef="#br0" timeOffset="96050.35">10233 10242 0,'-38'-27'0,"31"12"0,7 15 0,-7-14 0,0 0 15,-9-4-15,-8 0 16,-11-2-16,-9-3 16,-9-6-1,-24-1-15,-41 1 16,-13 1 0,-15 4-16,-32 4 15,15 7 1,17 7-16,-2 8 15,-3 4 1,18 10 0,4 6-16,-12 5 15,1 5-15,27 12 16,11 11 0,1 3-16,2 4 15,15 3 1,19-3-16,20 0 15,14 1-15,6 5 16,8 13-16,3 10 16,5-3-1,13-7-15,18 14 16,15 11 0,10 4-16,9-9 15,7-3 1,18 8-16,15-3 15,4-11-15,-4-22 16,10-19 0,40-23-1,10-22-15,35-22 16,21-28-16,33-28 16,-2-25-1,30-1-15,-21 2 16,5 6-1,-27 5-15,-54 3 16,-25 6-16,-28 0 16,-35-4-1,-38 3-15,-42-3 16,-44-19 0,-58-11-16,-43-4 15,-16 11 1,-49-5-1,-13 5-15,-16 8 0,-11 13 16,12 25 0,-12 23-16,27 29 15,-13 21 1,15 44-16</inkml:trace>
  <inkml:trace contextRef="#ctx0" brushRef="#br0" timeOffset="102370.19">2698 13253 0,'-1'55'0,"3"-43"16,4-12-16,6-11 16,8 4-16,9 0 15,17 5-15,6 5 16,10 3-16,0 0 31,2 3-31,-5-2 0,-10-4 16,6 2-1,17 1 1,13 4 0,10 1-16,-5-9 15,-6 4-15,8-3 16,12 3-16,2 1 15,-10-2 1,-11 1-16,-1-1 16,8 5-1,-1 3-15,-6-5 16,-14 2-16,-16-7 16,-4 3-1,-7-5 1,1 1-16,7 1 15,7 1-15,3-10 16</inkml:trace>
  <inkml:trace contextRef="#ctx0" brushRef="#br0" timeOffset="129825.05">16742 11187 0,'0'0'0,"0"0"0,82 9 16,-1-8 0,23 3-16,3 1 15,11 0-15,37 0 16,6-2-1,19-1-15,22-2 16,-14 2 0,18 3-16,-9 3 15,-19 3 1,3 0-16,-14 4 16,-34-1-16,-13 1 15,-13 1 1,-18-2-16,-23-7 15,-24-3 1,-16-4-16,-21-1 16,-8-2-16,-10 3 15,-7-6 1,-2 0-16,-17 4 16,-34 2-1,-52-5-15</inkml:trace>
  <inkml:trace contextRef="#ctx0" brushRef="#br0" timeOffset="130455.02">16717 11591 0,'0'0'0,"0"0"15,0 0 1,66 2-16,-6-11 15,32 3-15,23 0 16,-3 2 0,13-3-16,34-6 15,0-5 1,28-1-16,10 5 16,-4-1-1,15 3-15,-28 2 16,-31 6-16,-15 1 15,-22 4 1,-19-1-16,-28 3 16,-28-2-1,-22 3-15,-15 1 16,-23-4 0,-8 3-16,-35 6 15,-37-6 1</inkml:trace>
  <inkml:trace contextRef="#ctx0" brushRef="#br0" timeOffset="130784.93">16873 11649 0,'0'0'0,"0"0"0,79-26 16,24 18-1,15 8-15,51 4 16,20 3 0,36 1-16,1 3 15,13-5 1,-3-3-16,-16-8 15,-7-9 1,-31-2-16,-32-12 16,-40-2-16,-110 30 15,0 0 1,0 0-16</inkml:trace>
  <inkml:trace contextRef="#ctx0" brushRef="#br0" timeOffset="131009.33">16956 11756 0,'0'0'0,"0"0"0,128-24 15,13 3 1,72-7-16,43-8 15,15-9-15,36-4 16,-3 0 0,-4-12-16</inkml:trace>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0:53:20.247"/>
    </inkml:context>
    <inkml:brush xml:id="br0">
      <inkml:brushProperty name="width" value="0.05292" units="cm"/>
      <inkml:brushProperty name="height" value="0.05292" units="cm"/>
      <inkml:brushProperty name="color" value="#FF0000"/>
    </inkml:brush>
  </inkml:definitions>
  <inkml:trace contextRef="#ctx0" brushRef="#br0">8304 9401 0,'-83'-33'0,"34"15"0,-15 9 0,-20 8 15,-8 3-15,1 15 16,14 10-1,15 6 1,14 11-16,1 15 16,-1 28-16,-11 18 15,4 3 1,17-8 0,25-5-16,28-8 15,33-7 1,20-16-16,26-21 0,44-28 15,17-24 1,3-24-16,14-13 16,-5-9-1,-25-11-15,-27-11 16,-20-31 0,-30-18-16,-37 1 15,-46 14-15,-48 19 16,-81 26-1,-36 31-15,-51 27 16,8 21 0,17 14-16,13 10 15,27 7 1,43 19-16</inkml:trace>
  <inkml:trace contextRef="#ctx0" brushRef="#br0" timeOffset="13190.76">9133 10387 0,'114'-22'0,"-37"7"0,2 1 0,-9 7 16,-13 2-1,0 2-15,14-3 16,18-3-16,8-1 15,-9-1 1,-6 0-16,14-4 16,6 0-1,3 0-15,-14-1 16,-6-2 0,7 1-16,13 1 15,-6 2 1,-11 2-16,-18 5 15,-11 1 1,-2 1-16,-4 5 16,-5-2-1,-4 2-15,-6 0 16,-6-1-16,-3-3 16,-9 1-1,-4 0-15,-3 2 16,-3-2-16,-7 5 15,-3-5 1,0 3-16,0 1 16,0-1-1,-23 3-15,19-3 16,-2 2 0,2 0-16,1-2 15,-6 1-15,5-1 16,-4 5-1,-10 1-15</inkml:trace>
  <inkml:trace contextRef="#ctx0" brushRef="#br0" timeOffset="16559.91">7887 11420 0,'0'0'0,"49"20"0,-49-20 0,56-9 0,11-4 15,4 1 1,18 1-16,17 3 16,6 4-1,-11 3-15,-3 4 16,16 6 0,20-6-16,-7-2 15,2 3 1,19-3-16,1-8 15,-11 3-15,17-5 16,6-4 0,-18 2-16,11 2 15,-2 1 1,-19 1-16,-4 5 16,5 0-1,-9 0-15,-18 2 16,-8 2-16,2-3 15,-1-1 1,-10 3-16,-16-1 16,-18 4-1,5 2-15,-1 5 16,4 7 0,-2-1-16,-11-1 15,-8-5-15,-8-5 16,-6-1-1,-4-5-15,-4-3 16,-6-1 0,-3-3-16,-2 2 15,-7-2 1,-4 1-16,-3 2 16,-3 2-1,-2-2-15,-3 0 16,0 2-16,3 6 15,1 7 1</inkml:trace>
  <inkml:trace contextRef="#ctx0" brushRef="#br0" timeOffset="17100.23">12638 11500 0,'0'0'0,"0"0"15,0 0 1,0 0-16,0 0 16,34-58-1,-14 62-15,7 10 16,16 6-16,21 11 15,19-1 1,7 1-16,-7-4 16,-9-7-1,-13-2-15</inkml:trace>
  <inkml:trace contextRef="#ctx0" brushRef="#br0" timeOffset="25900.32">7489 10317 0,'-46'-27'0,"29"16"0,6 5 16,4 4-16,7 0 16,0 3-1,42 4-15,0 0 16,10 2 0,6-2-16,5-5 15,14-1-15,22-3 16,13-10-1,-1 3-15,-3-1 16,7 3 0,5 6-16,-3 6 15,-12 6 1,-1 9-16,9 1 16,5 4-1,-7-1-15,1-4 16,5-8-1,0-3-15,-14-1 16,-14 1-16,-8-5 16,2-4-1,-2-3 1,-4 2-16,-8 2 16,-6 2-16,2-9 15,10-2-15,4-1 16,0-2-1,-7-3-15,-8-5 16,-2 4 0,-3-1-16,-1 0 15,1 4 1,-1 3-16,2-4 16,-1-1-1,2 2-15,-3 0 16,-4 5-16,-8 1 15,-8 1 1,-4 4-16,-7 5 16,-6-2-1,-8 1-15,-6 0 16,-7-1 0,-3 3-16,-2-1 15,-7 12-15</inkml:trace>
  <inkml:trace contextRef="#ctx0" brushRef="#br0" timeOffset="37020.11">10148 11225 0,'0'0'0,"0"0"0,0 0 15,0 0 1,0 0-16,0 0 16,47 45-16,-10-29 15,9 2 1,5-3-16,-1 3 15,5 0 1,10 4-16,14 3 16,12-7-1,-4 3-15,-7-2 16,-1 1 0,5-3-16,7 1 15,14 1 1,-5-4-16,2-4 15,11-10-15,5 2 16,-7-4 0,-17 5-16,-14-2 15,-6 0 1,-4 7-16,0-7 16,-3-3-1,-3-1-15,-7-5 16,-7-1-16,-6-1 15,5 0 1,6 8 0,8 0-16,-1 2 15,2 4-15,-3 0 16,-5-5 0,-2 3-16,-10-5 15,-11-1-15,-8-2 16,-5-6-1,2 2-15,-1-3 16,6 0 0,-1 2-1,-1 0-15,-4 0 16,-2 3-16,-7 2 16,-8 3-1</inkml:trace>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0:56:59.216"/>
    </inkml:context>
    <inkml:brush xml:id="br0">
      <inkml:brushProperty name="width" value="0.05292" units="cm"/>
      <inkml:brushProperty name="height" value="0.05292" units="cm"/>
      <inkml:brushProperty name="color" value="#FF0000"/>
    </inkml:brush>
  </inkml:definitions>
  <inkml:trace contextRef="#ctx0" brushRef="#br0">19761 8070 0,'0'0'0,"0"0"0,0 0 16,0 0-1</inkml:trace>
</inkml:ink>
</file>

<file path=ppt/ink/ink10.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1:00:21.756"/>
    </inkml:context>
    <inkml:brush xml:id="br0">
      <inkml:brushProperty name="width" value="0.05292" units="cm"/>
      <inkml:brushProperty name="height" value="0.05292" units="cm"/>
      <inkml:brushProperty name="color" value="#FF0000"/>
    </inkml:brush>
  </inkml:definitions>
  <inkml:trace contextRef="#ctx0" brushRef="#br0">3312 3491 0,'-91'-53'0,"36"26"0,-16 8 16,-23 7-16,-15 2 16,2 10-1,-1 17-15,-28 12 16,-8 13-16,17 11 15,22 11 1,6 3-16,14 4 16,18-2-1,24 7-15,21 4 16,24 3 0,22 0-16,21-4 15,26-2-15,6-3 16,10-1-1,23 1-15,25-2 16,10-7 0,7-16-16,29-10 15,-7-11 1,10-1-16,14-14 16,-18-13-16,8-11 15,-6-19 1,-34-7-16,-9-15 15,-11-25 1,-17-26-16,-30-7 16,-31-2-1,-36-15-15,-29-7 16,-28 3 0,-29 7-16,-27 7 15,-11 6-15,-1 12 16,-6 21-1,-26 13-15,-12 18 16,-10 21 0,-43 24-16,-17 28 15,-35 42 1,-15 49-16,1 43 16,-16 57-16</inkml:trace>
  <inkml:trace contextRef="#ctx0" brushRef="#br0" timeOffset="68130.22">3548 8963 0,'0'0'0,"-52"-46"16,-28-21-16,-13-4 15,7 14 1,9 12-16,-12 17 0,-28 23 31,-16 19-31,0 18 16,-26 22-1,-4 25-15,20 5 0,3-2 16,10 3 0,23 2-1,24 12 1,24 5-16,27-7 16,21 3-16,16 18 15,16 12 1,19-8-16,21-4 15,31 5-15,15-3 16,10-14-16,21-15 16,30-18-1,2-11 1,24-9-16,5-8 16,-8-15-16,21-23 15,-24-24 1,-14-24-16,8-24 15,-21-12 1,-16-32-16,0-32 16,-7-5-16,-38-10 15,-34-23 1,-30 6-16,-24 0 16,-26-5-16,-27 17 15,-38 34 1,-53 27-16,-25 35 15,-49 37 1,-25 37 0,-34 26-16,3 23 15,-7 15 1,30 23-16,36 7 16</inkml:trace>
  <inkml:trace contextRef="#ctx0" brushRef="#br0" timeOffset="69680.22">17300 10490 0,'-59'-50'0,"36"27"0,0 0 0,-8 1 16,-24 6-16,-28 6 15,-10 11 1,9 8-16,5 6 15,2 3 1,-1 7-16,1 1 16,4 4-1,14 7-15,24 4 16,15 6-16,13 9 16,13 9-1,15 0-15,17 0 16,23-4-1,18 0-15,5 4 0,-2 1 32,4 1-32,7-6 15,-4-10 1,-9-5-16,-16-8 16,-23-8-16,-22-5 15,-32-2 1,-30-3-16,-26-1 0,-18-2 31,-5 3-31,-17-7 16,-7-11-16,4-15 15,16-15-15,22-8 16,21-4 0,23-3-1,32 2-15,24-2 16,-26 43-1,0 0-15,0 0 0</inkml:trace>
  <inkml:trace contextRef="#ctx0" brushRef="#br0" timeOffset="69949.48">17658 10286 0,'0'0'0,"0"0"16,53-18-16,3 19 16,14 10-1,5 0-15,0 3 16,-10-3-1,-12-3-15,-25 0 0,-28-4 32</inkml:trace>
  <inkml:trace contextRef="#ctx0" brushRef="#br0" timeOffset="70309.92">17560 10523 0,'0'0'0,"0"0"0,-59 24 15,28 10-15,8 21 16,8 15-16,6 2 16,7 2-1,7 10 1,6 9-16,2-1 16,-3-3-16,-3-10 15,-6-10-15,0-9 31,4-7-31,4-5 0,3-4 16,13-5 0,6-11-1,10-4-15,1-9 16,2-10 0,5-13-16,6-9 15,10-8-15,-1-4 16,1 2-1,-1-4-15,0-8 16</inkml:trace>
  <inkml:trace contextRef="#ctx0" brushRef="#br0" timeOffset="70499.87">18449 10605 0,'0'0'0,"0"0"0,0 0 31,0 0-31,63 39 0,-31-13 16</inkml:trace>
  <inkml:trace contextRef="#ctx0" brushRef="#br0" timeOffset="70919.75">18266 11325 0,'0'0'0,"0"0"0,0 0 16,0 0-1,0 0-15,0 0 16,14-59-1,24 20-15,13-14 16,5-11 0,1-2-1,-10 7-15,-8 8 16,-13 19 0,-9 17-16,-8 23 15,-12 27-15,0 24 16,2 16-1,-3 3-15,5-4 16,-2-5-16,3-10 16,0-7-1,6-8-15,2-14 16,6-14-16,9-13 16,6-18-1,14-20-15,11-32 16,2-27-1</inkml:trace>
  <inkml:trace contextRef="#ctx0" brushRef="#br0" timeOffset="71399.78">18996 10431 0,'0'0'0,"0"0"0,0 0 15,60-78 1,-18 57-1,12 9 1,5 9-16,3 11 16,-3 5-16,-6-1 15,-7 5-15,-9-3 16,-15 0-16,-11 0 16,-11 5-1,-7 11-15,-2 22 16,6 26-1,6 16-15,4 3 16,4 10 0,0 10-16,-2-2 15,-1-17 1,-3-19-16,-1-15 16,-5-18-16,-4-6 15,-4-9 1,-10-4-1,-7-4-15,-26-2 16,-26-5-16,-21-5 16,-9-1-1,-6 1 1,-1-7-16,25-2 16,41-4-1,42-11-15</inkml:trace>
  <inkml:trace contextRef="#ctx0" brushRef="#br0" timeOffset="71690.98">20359 10526 0,'0'0'0,"0"0"15,0 0-15,79 24 16,-12-1 0,25 10-16,4-1 15,-9-6-15,-21-25 16,-8 2-1,-58-3-15,0 0 16,0 0 0</inkml:trace>
  <inkml:trace contextRef="#ctx0" brushRef="#br0" timeOffset="72075.39">20208 10898 0,'0'0'0,"0"0"15,-41 2-15,25 1 16,4 5 0,3 15-16,10 10 15,7 14-15,9 15 16,2 6 0,1 0-16,5-7 15,5-5-15,5-3 16,5-4-1,5-4-15,0 4 16,2 5 0,3 10-16,4-2 15,4 0 1,2-7 0,2-16-16,0-25 0,-2-34 15,8-45 1,7-37-16,0-26 15,-75 128 1,0 0 0,0 0-16</inkml:trace>
  <inkml:trace contextRef="#ctx0" brushRef="#br0" timeOffset="72240.12">21405 10461 0,'0'0'0,"0"0"0,0 0 16,0 0 0,53 56-1,-16-25-15,3 1 16,-30-10-16</inkml:trace>
  <inkml:trace contextRef="#ctx0" brushRef="#br0" timeOffset="72799.77">21347 11277 0,'0'0'0,"0"0"0,0 0 16,0 0-16,0 0 16,0 0-1,0 0-15,0 0 16,0 0-1,22 55-15,-6-29 16,4 2 0,8 13-16,5 14 15,3 13 1,0 9 0,-5 0-16,-5 3 0,-6 10 15,-8 6 1,-12-2-16,-9-8 15,-8-13 1,-10-9-16,-4-8 16,-5-7-1,-7-4-15,-5-2 16,-7-7 0,2-7-16,-2-12 15,1-15-15,1-15 16,-2-17-1,-1-9-15,5-13 16,-2-5 0,8-11-16,11-27 15,28-34 1,31-12-16,44-11 16,17 9-16,22 17 15,35 30 1,-143 96-1,0 0-15,0 0 16</inkml:trace>
  <inkml:trace contextRef="#ctx0" brushRef="#br0" timeOffset="73259.88">22241 10843 0,'0'0'0,"0"0"16,0 0-1,0 0-15,48-21 16,-20 12 0,4 7-16,4 0 15,2 2 1,4 4 0,2-1-16,-3 5 0,-6 1 15,-2 6 1,-6 8-16,-4 10 15,-5 19 1,-4 5-16,-8 7 16,-1 2-1,-4-5-15,0-9 16,-2-5-16,1-11 16,-1-10-1,-2-7 1,0-6-16,1-6 15,1-7 1,-4 0-16,-1 0 16,-5-16-16,-2 11 15,-8-1 1,-18 1-16,-31 7 16,-42 23-1,-73 46-15</inkml:trace>
</inkml:ink>
</file>

<file path=ppt/ink/ink11.xml><?xml version="1.0" encoding="utf-8"?>
<inkml:ink xmlns:inkml="http://www.w3.org/2003/InkML">
  <inkml:definitions>
    <inkml:context xml:id="ctx0">
      <inkml:inkSource xml:id="inkSrc0">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0" timeString="2022-10-10T11:08:42.345"/>
    </inkml:context>
    <inkml:brush xml:id="br0">
      <inkml:brushProperty name="width" value="0.05292" units="cm"/>
      <inkml:brushProperty name="height" value="0.05292" units="cm"/>
      <inkml:brushProperty name="color" value="#FF0000"/>
    </inkml:brush>
    <inkml:context xml:id="ctx1">
      <inkml:inkSource xml:id="inkSrc3">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2-10-10T11:08:56.705"/>
    </inkml:context>
  </inkml:definitions>
  <inkml:trace contextRef="#ctx0" brushRef="#br0">7373 10705 0,'53'94'172,"-53"-73"-141,0-10-31,31 9 16,-21-9-16,11-1 31,-10-10-31,-1 0 16,32 0-1,10 11 1,-31-11 0,31 10-1,-31-10 1,0 0-1,-11 0 17,1 0-32,10 0 47,-11 0-47,1 0 31,-1 0-16,1-10-15,-1 10 16,11-21 0,10-10-1,-10 20 1,10 1 0,-20-1 15,-1 11 31,1 0 63,-1 0-125</inkml:trace>
  <inkml:trace contextRef="#ctx0" brushRef="#br0" timeOffset="3714.9">9212 10925 0,'10'10'250,"0"0"-250,-10 11 0,32 0 32,-11 0-32,62 10 31,-31-31-16,1 0 1,-22 21-16,63-10 16,-31-11-1,41 0 1,-52 0 0,11 0-1,-21 0 1,10 0 15,-21-11-15,42-20-1,32 0 1,-63 31 0,-21 0-16,10 0 15,11 0 1,20-11-1,11-10 1,-31 11 0,21-1-1,-42-9 1,31 20 0,-10 0-1,-11-21 1,53 10-1,-32 1 17,73 10-32,-73-21 15,11 21 17,-21 0-17,-21 0 1,0 0-1,-1 0 1,22 0 0,10 0-1,1 0 1,30 0 0,-51 0-1,-1 0 1,0 0 15,32 0-15,-11 0-16,11 0 15,-1 0 17,-30 0-32,30 0 31,-20 0-16,-21 0 1,21 0 0,-11 0-1,32 0 1,-21 0 0,41 0-1,-31 0 16,1 0-31,-32 0 32,-1 21-32,33-11 31,-43-10-31,1 0 16,9 0-16,-9 11 31,10-11-16,-11 0 17,1 0-1,-1 0 0,1 0-31,-1 0 31,0 0 1,-10 10-17,21 1 48,-10-11-63,-1 0 15,1 10 1,10-10 0,-21 10-1,10-10 1,11 0 0,-11 0-1,-10 21-15,11-21 16,-11 11 31,0-1 62</inkml:trace>
  <inkml:trace contextRef="#ctx0" brushRef="#br0" timeOffset="7430.19">13964 10987 0,'20'125'172,"-9"-104"-156,-1-21-16,22 32 16,9-22-16,-9 11 15,93-11-15,-20 11 31,30 11-15,1-1 0,10-21-1,-52-10-15,21 0 32,-73 0-17,-11 0 1,63 0 15,-62 0-31,30-10 16,-41 0-1,31-22 1,-20 22 0,51-22-1,53-9 16,-84 20-31,32 0 32,-42 0-17,41 11 1,1-1 0,-11-20-1,31 10 1,-31 11-1,105-53 1,-105 42 0,0 11-1,42-22 1,0 32 0,104-73-1,-114 42 16,30-1-31,-61 32 32,-12-10-17,53 10-15,-31 0 32,72 0-17,-83-21 1,1 21-1,-33 0 1,1 0 0,21 0-1,-32 0 1,11 0 0,10 0-1,0 0 16,-10 0-31,52 21 16,-21 10 0,11 1-1,-22-1 1,-41-31 0,-10 0-1,-1 0 16,1 0 32,-1 0-63,1 0 16,9 0-1,-9 0 1,10 0-1,-11 0-15,11 0 32,0 0-17,-11 0 1,1 0 0,-1 0 15</inkml:trace>
  <inkml:trace contextRef="#ctx1" brushRef="#br0">7410 10978 0,'0'0'0,"49"32"0,-30-19 0,6 2 16,6-4-16,6 4 16,0-1-1,5 6-15,2-6 16,0 3-16,7-3 16,5-7-1,14-9-15,10-3 16,0-1-1,-2-7-15,-2 2 16,20 4 0,9-2-1,2-1-15,-10 6 16,2 0-16,11 4 16,3-3-1,-11 3-15,-6 3 16,6 8-16,6 3 15,-2-2 1,-11 6-16,-3 3 16,10 0-1,9-5-15,-6 4 16,-6-3-16,14-6 16,8-2-1,-10 0 1,-2-1-16,6-1 15,12 1-15,-11 0 16,2-2 0,14-3-16,4 1 15,-15-2-15,5 1 32,9-3-32,-7 1 15,-6 0-15,16-1 16,3 1-16,-13 0 15,6 3 1,8-4 0,-15 1-16,-3 2 15,9 0 1,1 0-16,-14-1 16,6 1-16,9-3 15,-8 0 1,-9 2-16,11 3 15,4-3-15,-16 0 16,-2 6 0,5 1-16,5-1 15,-14 2-15,2 1 16,8-3 0,0-2-16,-11 2 15,6-4 1,11 0-16,-3 2 15,-5 0 1,12-4-16,6 1 16,-10-2-1,6 4-15,12-3 16,-6-5-16,-2-1 16,16-2-1,-4 0 1,-10 2-16,11 0 15,-4-2 1,-12 3-16,9-4 16,5 0-1,-15 2-15,2 3 16,4 0-16,-12-2 16,-12 1-1,2 2-15,-2 0 16,-12-4-1,-15 1-15,-9 1 16,1 0 0,-2-1-16,-3 0 15,-11-1-15,-5-3 16,-14 1 0,-8 1-16,-3-1 15,-4 3 1,-5 3-16,-7-3 15,-2-1 1,10 1-16,7 2 16</inkml:trace>
</inkml:ink>
</file>

<file path=ppt/ink/ink12.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1:10:22.524"/>
    </inkml:context>
    <inkml:brush xml:id="br0">
      <inkml:brushProperty name="width" value="0.05292" units="cm"/>
      <inkml:brushProperty name="height" value="0.05292" units="cm"/>
      <inkml:brushProperty name="color" value="#FF0000"/>
    </inkml:brush>
    <inkml:context xml:id="ctx1">
      <inkml:inkSource xml:id="inkSrc4">
        <inkml:traceFormat>
          <inkml:channel name="X" type="integer" max="2736" units="cm"/>
          <inkml:channel name="Y" type="integer" max="1824" units="cm"/>
          <inkml:channel name="T" type="integer" max="2.14748E9" units="dev"/>
        </inkml:traceFormat>
        <inkml:channelProperties>
          <inkml:channelProperty channel="X" name="resolution" value="105.23077" units="1/cm"/>
          <inkml:channelProperty channel="Y" name="resolution" value="105.43353" units="1/cm"/>
          <inkml:channelProperty channel="T" name="resolution" value="1" units="1/dev"/>
        </inkml:channelProperties>
      </inkml:inkSource>
      <inkml:timestamp xml:id="ts1" timeString="2022-10-10T11:11:00.915"/>
    </inkml:context>
  </inkml:definitions>
  <inkml:trace contextRef="#ctx0" brushRef="#br0">12295 6193 0,'0'0'0,"0"0"0,0 0 15,0 0-15,0 0 16,-32 85-16,33-4 16,2 30-1,-1 21 1,-2 1-16,-1 10 15,-4 14-15,-7-12 16,-5-23 0,1-21-16,3-20 15,0-20-15,3-28 16,6-20 0,3-13-16,6 0 15</inkml:trace>
  <inkml:trace contextRef="#ctx0" brushRef="#br0" timeOffset="561.04">12018 7366 0,'0'0'0,"0"0"15,-18-84-15,16 43 16,8 13-16,13 19 16,16 27-1,6 29 1,3 41-16,-4 26 15,-7-2-15,-6-5 16,-11-17 0,-4-26-1,-5-26-15,0-31 16,-4-7-16,5-79 16,3-21-16,0-21 15,4 1 1,7-1-1,8 7-15,3 14 16,9 17 0,8 21-16</inkml:trace>
  <inkml:trace contextRef="#ctx0" brushRef="#br0" timeOffset="921.05">11823 8175 0,'0'0'0,"0"0"15,0 0 1,0 0-1,0 0-15,0 0 16,34 115-16,-35-19 16,-11 8-1,-5-1-15,-3 6 16,0 0 0,6-12-16,4-8 15,5-20 1,4-14-16,9-14 15,-8-41 1,0 0-16,0 0 16</inkml:trace>
  <inkml:trace contextRef="#ctx0" brushRef="#br0" timeOffset="1271.1">12781 8197 0,'0'0'0,"0"0"0,0 0 16,-66 5-16,23 5 16,-11 12-1,-15 14-15,-11 18 16,2 5 0,7 6-16,10 0 15,14-5-15,13-10 16,11-13-1,10-12-15,10-7 16,7-8 0,12 0-16,7-4 15,9-3-15,17 1 16,21 6 0,19 1-16,9 8 15,-6-2 1,10-2-16</inkml:trace>
  <inkml:trace contextRef="#ctx1" brushRef="#br0">18089 6340 0</inkml:trace>
</inkml:ink>
</file>

<file path=ppt/ink/ink13.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1:21:15.993"/>
    </inkml:context>
    <inkml:brush xml:id="br0">
      <inkml:brushProperty name="width" value="0.05292" units="cm"/>
      <inkml:brushProperty name="height" value="0.05292" units="cm"/>
      <inkml:brushProperty name="color" value="#FF0000"/>
    </inkml:brush>
  </inkml:definitions>
  <inkml:trace contextRef="#ctx0" brushRef="#br0">3051 11281 0,'0'0'0,"0"0"0,0 0 15,0 0-15,0 0 16,0 0-16,47-23 16,-11 31-1,13 0-15,20 0 16,23-3 0,7 1-16,-5-2 15,8-5 1,12-1-16,11 1 15,-6 1-15,0-7 16,12 2 0,10-1-1,-12-3-15,7-3 16,5 0-16,-6-3 16,-20 10-1,-9-2-15,-4 4 16,-4 3-1,-10 3-15,-13 3 16,-13 0-16,-10 0 16,-2 3-1,-4 5-15,-5 16 16</inkml:trace>
</inkml:ink>
</file>

<file path=ppt/ink/ink14.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2-10-10T12:01:50.548"/>
    </inkml:context>
    <inkml:brush xml:id="br0">
      <inkml:brushProperty name="width" value="0.05292" units="cm"/>
      <inkml:brushProperty name="height" value="0.05292" units="cm"/>
      <inkml:brushProperty name="color" value="#FF0000"/>
    </inkml:brush>
  </inkml:definitions>
  <inkml:trace contextRef="#ctx0" brushRef="#br0">10541 4239 0,'-55'-5'0,"24"4"0,-6 2 0,-18 4 15,-25 13 1,-25 10-16,1 10 16,5 14-1,-10 8-15,1 5 16,10-1 0,19-5-16,16 3 15,22 5 1,19 8-16,14 4 15,9 1-15,14-6 16,18-5 0,18 1-16,26-1 15,16-9 1,7-9 0,1-14-16,9-8 15,14-6-15,-1-10 16,-5 2-1,3-5-15,20 2 16,7 1-16,1 6 16,23 3-1,-4 11-15,1 4 16,5 3 0,-18-1-1,-12-7-15,9-11 16,-5-16-1,7-2-15,28-20 16,2-9-16,24-9 16,-18-8-1,-3-6-15,-14-4 16,-30-11-16,-31-16 16,-26-12-1,-20 4-15,-15 5 16,-10 6-1,-9 8 1,-4 3-16,-11 5 16,-10 3-16,-10 8 15,-13 0-15,-14 6 16,-21 5 0,-23 3-1,-23 5-15,-16-1 16,-20-8-1,-31-4-15,-14-3 0,-37-3 16,-20-1 0,-32 5-16,-10 15 15,-17 11 1,17 16-16,11 15 16,32 10-1,9 20-15,38 9 16,30 9-1,9 1-15</inkml:trace>
</inkml:ink>
</file>

<file path=ppt/ink/ink15.xml><?xml version="1.0" encoding="utf-8"?>
<inkml:ink xmlns:inkml="http://www.w3.org/2003/InkML">
  <inkml:definitions>
    <inkml:context xml:id="ctx0">
      <inkml:inkSource xml:id="inkSrc0">
        <inkml:traceFormat>
          <inkml:channel name="X" type="integer" max="3760" units="cm"/>
          <inkml:channel name="Y" type="integer" max="1824" units="cm"/>
          <inkml:channel name="T" type="integer" max="2.14748E9" units="dev"/>
        </inkml:traceFormat>
        <inkml:channelProperties>
          <inkml:channelProperty channel="X" name="resolution" value="144.61539" units="1/cm"/>
          <inkml:channelProperty channel="Y" name="resolution" value="105.43353" units="1/cm"/>
          <inkml:channelProperty channel="T" name="resolution" value="1" units="1/dev"/>
        </inkml:channelProperties>
      </inkml:inkSource>
      <inkml:timestamp xml:id="ts0" timeString="2022-10-17T10:52:08.538"/>
    </inkml:context>
    <inkml:brush xml:id="br0">
      <inkml:brushProperty name="width" value="0.05292" units="cm"/>
      <inkml:brushProperty name="height" value="0.05292" units="cm"/>
      <inkml:brushProperty name="color" value="#FF0000"/>
    </inkml:brush>
  </inkml:definitions>
  <inkml:trace contextRef="#ctx0" brushRef="#br0">5074 15057 0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E9BF8-F797-4A54-B690-7A266B2EC3E7}" type="datetimeFigureOut">
              <a:rPr lang="zh-CN" altLang="en-US" smtClean="0"/>
              <a:t>2024/10/30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131B2-F315-4866-A399-3EC3D30B64A4}" type="slidenum">
              <a:rPr lang="zh-CN" altLang="en-US" smtClean="0"/>
              <a:t>‹#›</a:t>
            </a:fld>
            <a:endParaRPr lang="zh-CN" altLang="en-US"/>
          </a:p>
        </p:txBody>
      </p:sp>
    </p:spTree>
    <p:extLst>
      <p:ext uri="{BB962C8B-B14F-4D97-AF65-F5344CB8AC3E}">
        <p14:creationId xmlns:p14="http://schemas.microsoft.com/office/powerpoint/2010/main" val="3745645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24131B2-F315-4866-A399-3EC3D30B64A4}" type="slidenum">
              <a:rPr lang="zh-CN" altLang="en-US" smtClean="0"/>
              <a:t>19</a:t>
            </a:fld>
            <a:endParaRPr lang="zh-CN" altLang="en-US"/>
          </a:p>
        </p:txBody>
      </p:sp>
    </p:spTree>
    <p:extLst>
      <p:ext uri="{BB962C8B-B14F-4D97-AF65-F5344CB8AC3E}">
        <p14:creationId xmlns:p14="http://schemas.microsoft.com/office/powerpoint/2010/main" val="36981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24131B2-F315-4866-A399-3EC3D30B64A4}" type="slidenum">
              <a:rPr lang="zh-CN" altLang="en-US" smtClean="0"/>
              <a:t>66</a:t>
            </a:fld>
            <a:endParaRPr lang="zh-CN" altLang="en-US"/>
          </a:p>
        </p:txBody>
      </p:sp>
    </p:spTree>
    <p:extLst>
      <p:ext uri="{BB962C8B-B14F-4D97-AF65-F5344CB8AC3E}">
        <p14:creationId xmlns:p14="http://schemas.microsoft.com/office/powerpoint/2010/main" val="2106558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ea typeface="华文中宋" panose="02010600040101010101" pitchFamily="2"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3">
            <a:extLst>
              <a:ext uri="{FF2B5EF4-FFF2-40B4-BE49-F238E27FC236}">
                <a16:creationId xmlns:a16="http://schemas.microsoft.com/office/drawing/2014/main" id="{597C3A80-07D1-42AC-BF41-5739FBE01340}"/>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69123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3">
            <a:extLst>
              <a:ext uri="{FF2B5EF4-FFF2-40B4-BE49-F238E27FC236}">
                <a16:creationId xmlns:a16="http://schemas.microsoft.com/office/drawing/2014/main" id="{17212444-05D8-47BC-86E0-6F70D0EFCE09}"/>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58441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ea typeface="华文中宋" panose="02010600040101010101" pitchFamily="2"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3">
            <a:extLst>
              <a:ext uri="{FF2B5EF4-FFF2-40B4-BE49-F238E27FC236}">
                <a16:creationId xmlns:a16="http://schemas.microsoft.com/office/drawing/2014/main" id="{553DF5D4-4E39-45FC-B618-8992736BBE26}"/>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578640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3">
            <a:extLst>
              <a:ext uri="{FF2B5EF4-FFF2-40B4-BE49-F238E27FC236}">
                <a16:creationId xmlns:a16="http://schemas.microsoft.com/office/drawing/2014/main" id="{53A31EB9-5F92-4683-92BB-0A256DF27961}"/>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3460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3">
            <a:extLst>
              <a:ext uri="{FF2B5EF4-FFF2-40B4-BE49-F238E27FC236}">
                <a16:creationId xmlns:a16="http://schemas.microsoft.com/office/drawing/2014/main" id="{4C3C9F68-E322-4CCB-A3C4-C34BA44183BE}"/>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483024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Rectangle 3">
            <a:extLst>
              <a:ext uri="{FF2B5EF4-FFF2-40B4-BE49-F238E27FC236}">
                <a16:creationId xmlns:a16="http://schemas.microsoft.com/office/drawing/2014/main" id="{9F35C9CF-E48F-4C6F-9ACD-CB2405501B42}"/>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581963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7AFB456E-6F73-4A6A-8F28-B5A1C3BFB084}"/>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588794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ea typeface="华文中宋" panose="02010600040101010101" pitchFamily="2" charset="-122"/>
              </a:defRPr>
            </a:lvl1pPr>
            <a:lvl2pPr>
              <a:defRPr sz="2800">
                <a:ea typeface="华文中宋" panose="02010600040101010101" pitchFamily="2" charset="-122"/>
              </a:defRPr>
            </a:lvl2pPr>
            <a:lvl3pPr>
              <a:defRPr sz="2400">
                <a:ea typeface="华文中宋" panose="02010600040101010101" pitchFamily="2" charset="-122"/>
              </a:defRPr>
            </a:lvl3pPr>
            <a:lvl4pPr>
              <a:defRPr sz="2000">
                <a:ea typeface="华文中宋" panose="02010600040101010101" pitchFamily="2" charset="-122"/>
              </a:defRPr>
            </a:lvl4pPr>
            <a:lvl5pPr>
              <a:defRPr sz="2000">
                <a:ea typeface="华文中宋" panose="02010600040101010101" pitchFamily="2"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3">
            <a:extLst>
              <a:ext uri="{FF2B5EF4-FFF2-40B4-BE49-F238E27FC236}">
                <a16:creationId xmlns:a16="http://schemas.microsoft.com/office/drawing/2014/main" id="{BD974E24-0387-4ECD-8DB8-00D24EFA1C0C}"/>
              </a:ext>
            </a:extLst>
          </p:cNvPr>
          <p:cNvSpPr>
            <a:spLocks noGrp="1" noChangeArrowheads="1"/>
          </p:cNvSpPr>
          <p:nvPr>
            <p:ph type="dt" sz="half" idx="10"/>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317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ea typeface="华文中宋" panose="02010600040101010101"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3">
            <a:extLst>
              <a:ext uri="{FF2B5EF4-FFF2-40B4-BE49-F238E27FC236}">
                <a16:creationId xmlns:a16="http://schemas.microsoft.com/office/drawing/2014/main" id="{FAF3D00D-3D54-4D55-B22D-A3B1F42929BB}"/>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27645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3">
            <a:extLst>
              <a:ext uri="{FF2B5EF4-FFF2-40B4-BE49-F238E27FC236}">
                <a16:creationId xmlns:a16="http://schemas.microsoft.com/office/drawing/2014/main" id="{3632DFB2-4794-4815-AC28-7119A34CA81F}"/>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3688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3">
            <a:extLst>
              <a:ext uri="{FF2B5EF4-FFF2-40B4-BE49-F238E27FC236}">
                <a16:creationId xmlns:a16="http://schemas.microsoft.com/office/drawing/2014/main" id="{61B0B3F2-3ED0-4287-987B-7AF724EE83AD}"/>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633512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4648200" y="3938588"/>
            <a:ext cx="4038600" cy="2187575"/>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Rectangle 3">
            <a:extLst>
              <a:ext uri="{FF2B5EF4-FFF2-40B4-BE49-F238E27FC236}">
                <a16:creationId xmlns:a16="http://schemas.microsoft.com/office/drawing/2014/main" id="{5883D528-C7EE-45E3-9341-2A04F9EC5D81}"/>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747809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cdbkgnd">
            <a:extLst>
              <a:ext uri="{FF2B5EF4-FFF2-40B4-BE49-F238E27FC236}">
                <a16:creationId xmlns:a16="http://schemas.microsoft.com/office/drawing/2014/main" id="{49307C62-3D96-4C1E-84B6-87F679B0F9D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a:extLst>
              <a:ext uri="{FF2B5EF4-FFF2-40B4-BE49-F238E27FC236}">
                <a16:creationId xmlns:a16="http://schemas.microsoft.com/office/drawing/2014/main" id="{E92B222E-E6CC-4439-906D-64212B1EF8A8}"/>
              </a:ext>
            </a:extLst>
          </p:cNvPr>
          <p:cNvSpPr>
            <a:spLocks noGrp="1" noChangeArrowheads="1"/>
          </p:cNvSpPr>
          <p:nvPr>
            <p:ph type="dt" sz="half" idx="2"/>
          </p:nvPr>
        </p:nvSpPr>
        <p:spPr bwMode="auto">
          <a:xfrm>
            <a:off x="304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a:ea typeface="华文中宋" panose="02010600040101010101" pitchFamily="2" charset="-122"/>
              </a:defRPr>
            </a:lvl1pPr>
          </a:lstStyle>
          <a:p>
            <a:pPr>
              <a:defRPr/>
            </a:pPr>
            <a:endParaRPr lang="en-US" altLang="zh-CN" dirty="0"/>
          </a:p>
        </p:txBody>
      </p:sp>
    </p:spTree>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690" r:id="rId9"/>
    <p:sldLayoutId id="2147483691" r:id="rId10"/>
    <p:sldLayoutId id="2147483692" r:id="rId11"/>
    <p:sldLayoutId id="2147483693"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3" Type="http://schemas.openxmlformats.org/officeDocument/2006/relationships/image" Target="../media/image2.wmf"/><Relationship Id="rId21" Type="http://schemas.openxmlformats.org/officeDocument/2006/relationships/image" Target="../media/image11.png"/><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image" Target="../media/image9.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oleObject" Target="../embeddings/oleObject2.bin"/><Relationship Id="rId9" Type="http://schemas.openxmlformats.org/officeDocument/2006/relationships/image" Target="../media/image5.wmf"/><Relationship Id="rId1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wmf"/><Relationship Id="rId7" Type="http://schemas.openxmlformats.org/officeDocument/2006/relationships/customXml" Target="../ink/ink4.xml"/><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image" Target="../media/image120.png"/><Relationship Id="rId10" Type="http://schemas.openxmlformats.org/officeDocument/2006/relationships/image" Target="../media/image12.png"/><Relationship Id="rId4" Type="http://schemas.openxmlformats.org/officeDocument/2006/relationships/customXml" Target="../ink/ink3.xml"/><Relationship Id="rId9" Type="http://schemas.openxmlformats.org/officeDocument/2006/relationships/customXml" Target="../ink/ink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9.wmf"/><Relationship Id="rId2" Type="http://schemas.openxmlformats.org/officeDocument/2006/relationships/oleObject" Target="../embeddings/oleObject12.bin"/><Relationship Id="rId1" Type="http://schemas.openxmlformats.org/officeDocument/2006/relationships/slideLayout" Target="../slideLayouts/slideLayout12.xml"/><Relationship Id="rId6" Type="http://schemas.openxmlformats.org/officeDocument/2006/relationships/oleObject" Target="../embeddings/oleObject14.bin"/><Relationship Id="rId5" Type="http://schemas.openxmlformats.org/officeDocument/2006/relationships/image" Target="../media/image18.wmf"/><Relationship Id="rId4" Type="http://schemas.openxmlformats.org/officeDocument/2006/relationships/oleObject" Target="../embeddings/oleObject13.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5.bin"/><Relationship Id="rId1" Type="http://schemas.openxmlformats.org/officeDocument/2006/relationships/slideLayout" Target="../slideLayouts/slideLayout7.xml"/><Relationship Id="rId5" Type="http://schemas.openxmlformats.org/officeDocument/2006/relationships/image" Target="../media/image21.wmf"/><Relationship Id="rId4" Type="http://schemas.openxmlformats.org/officeDocument/2006/relationships/oleObject" Target="../embeddings/oleObject16.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slide" Target="slide62.xml"/><Relationship Id="rId3" Type="http://schemas.openxmlformats.org/officeDocument/2006/relationships/image" Target="../media/image25.png"/><Relationship Id="rId7" Type="http://schemas.openxmlformats.org/officeDocument/2006/relationships/image" Target="../media/image30.png"/><Relationship Id="rId2" Type="http://schemas.openxmlformats.org/officeDocument/2006/relationships/slide" Target="slide67.xml"/><Relationship Id="rId1" Type="http://schemas.openxmlformats.org/officeDocument/2006/relationships/slideLayout" Target="../slideLayouts/slideLayout2.xml"/><Relationship Id="rId6" Type="http://schemas.openxmlformats.org/officeDocument/2006/relationships/slide" Target="slide63.xml"/><Relationship Id="rId11" Type="http://schemas.openxmlformats.org/officeDocument/2006/relationships/image" Target="../media/image32.wmf"/><Relationship Id="rId5" Type="http://schemas.openxmlformats.org/officeDocument/2006/relationships/image" Target="../media/image28.png"/><Relationship Id="rId10" Type="http://schemas.openxmlformats.org/officeDocument/2006/relationships/slide" Target="slide68.xml"/><Relationship Id="rId4" Type="http://schemas.openxmlformats.org/officeDocument/2006/relationships/slide" Target="slide64.xml"/><Relationship Id="rId9" Type="http://schemas.openxmlformats.org/officeDocument/2006/relationships/image" Target="../media/image31.png"/></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 Target="slide61.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customXml" Target="../ink/ink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D7719FBD-2759-4747-938E-3E542E9355CD}"/>
              </a:ext>
            </a:extLst>
          </p:cNvPr>
          <p:cNvSpPr txBox="1">
            <a:spLocks noChangeArrowheads="1"/>
          </p:cNvSpPr>
          <p:nvPr/>
        </p:nvSpPr>
        <p:spPr bwMode="auto">
          <a:xfrm>
            <a:off x="685800" y="25654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ormAutofit lnSpcReduction="10000"/>
          </a:bodyPr>
          <a:lstStyle>
            <a:lvl1pPr algn="ctr" rtl="0" eaLnBrk="0" fontAlgn="base" hangingPunct="0">
              <a:spcBef>
                <a:spcPct val="0"/>
              </a:spcBef>
              <a:spcAft>
                <a:spcPct val="0"/>
              </a:spcAft>
              <a:defRPr kumimoji="1" sz="4400">
                <a:solidFill>
                  <a:schemeClr val="tx2"/>
                </a:solidFill>
                <a:latin typeface="Palatino Linotype" panose="02040502050505030304" pitchFamily="18" charset="0"/>
                <a:ea typeface="华文中宋" panose="02010600040101010101" pitchFamily="2" charset="-122"/>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sz="4800" kern="0" dirty="0">
                <a:solidFill>
                  <a:schemeClr val="bg2"/>
                </a:solidFill>
                <a:latin typeface="华文中宋" panose="02010600040101010101" pitchFamily="2" charset="-122"/>
              </a:rPr>
              <a:t>算法设计与分析</a:t>
            </a:r>
            <a:br>
              <a:rPr lang="zh-CN" altLang="en-US" sz="4800" kern="0" dirty="0">
                <a:solidFill>
                  <a:schemeClr val="bg2"/>
                </a:solidFill>
              </a:rPr>
            </a:br>
            <a:r>
              <a:rPr lang="zh-CN" altLang="en-US" kern="0" dirty="0">
                <a:solidFill>
                  <a:schemeClr val="bg2"/>
                </a:solidFill>
              </a:rPr>
              <a:t>    </a:t>
            </a:r>
            <a:endParaRPr lang="zh-CN" altLang="en-US" sz="3200" kern="0" dirty="0">
              <a:solidFill>
                <a:schemeClr val="bg2"/>
              </a:solidFill>
            </a:endParaRPr>
          </a:p>
        </p:txBody>
      </p:sp>
      <p:sp>
        <p:nvSpPr>
          <p:cNvPr id="7" name="Rectangle 4">
            <a:extLst>
              <a:ext uri="{FF2B5EF4-FFF2-40B4-BE49-F238E27FC236}">
                <a16:creationId xmlns:a16="http://schemas.microsoft.com/office/drawing/2014/main" id="{4C675E28-CBB2-4BB2-B1E2-D64880A2868D}"/>
              </a:ext>
            </a:extLst>
          </p:cNvPr>
          <p:cNvSpPr txBox="1">
            <a:spLocks noChangeArrowheads="1"/>
          </p:cNvSpPr>
          <p:nvPr/>
        </p:nvSpPr>
        <p:spPr bwMode="auto">
          <a:xfrm>
            <a:off x="685800" y="36449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en-US" altLang="zh-CN" sz="4000" kern="0" dirty="0">
                <a:solidFill>
                  <a:srgbClr val="AC2F36"/>
                </a:solidFill>
                <a:latin typeface="Palatino Linotype" panose="02040502050505030304" pitchFamily="18" charset="0"/>
                <a:ea typeface="华文中宋" panose="02010600040101010101" pitchFamily="2" charset="-122"/>
              </a:rPr>
              <a:t>3. </a:t>
            </a:r>
            <a:r>
              <a:rPr lang="zh-CN" altLang="en-US" sz="4000" kern="0" dirty="0">
                <a:solidFill>
                  <a:srgbClr val="AC2F36"/>
                </a:solidFill>
                <a:latin typeface="Palatino Linotype" panose="02040502050505030304" pitchFamily="18" charset="0"/>
                <a:ea typeface="华文中宋" panose="02010600040101010101" pitchFamily="2" charset="-122"/>
              </a:rPr>
              <a:t>动态规划（</a:t>
            </a:r>
            <a:r>
              <a:rPr lang="en-US" altLang="zh-CN" sz="4000" kern="0" dirty="0">
                <a:solidFill>
                  <a:srgbClr val="AC2F36"/>
                </a:solidFill>
                <a:latin typeface="Palatino Linotype" panose="02040502050505030304" pitchFamily="18" charset="0"/>
                <a:ea typeface="华文中宋" panose="02010600040101010101" pitchFamily="2" charset="-122"/>
              </a:rPr>
              <a:t>Part 1</a:t>
            </a:r>
            <a:r>
              <a:rPr lang="zh-CN" altLang="en-US" sz="4000" kern="0" dirty="0">
                <a:solidFill>
                  <a:srgbClr val="AC2F36"/>
                </a:solidFill>
                <a:latin typeface="Palatino Linotype" panose="02040502050505030304" pitchFamily="18" charset="0"/>
                <a:ea typeface="华文中宋" panose="02010600040101010101" pitchFamily="2" charset="-122"/>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0A6A5EF-FF22-4C1F-82C6-0BF2802B4E36}"/>
              </a:ext>
            </a:extLst>
          </p:cNvPr>
          <p:cNvSpPr>
            <a:spLocks noGrp="1" noChangeArrowheads="1"/>
          </p:cNvSpPr>
          <p:nvPr>
            <p:ph type="title"/>
          </p:nvPr>
        </p:nvSpPr>
        <p:spPr bwMode="auto">
          <a:xfrm>
            <a:off x="685800" y="1524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C2F36"/>
                </a:solidFill>
                <a:latin typeface="Palatino Linotype" panose="02040502050505030304" pitchFamily="18" charset="0"/>
              </a:rPr>
              <a:t>学习要点</a:t>
            </a:r>
          </a:p>
        </p:txBody>
      </p:sp>
      <p:sp>
        <p:nvSpPr>
          <p:cNvPr id="79875" name="Rectangle 3">
            <a:extLst>
              <a:ext uri="{FF2B5EF4-FFF2-40B4-BE49-F238E27FC236}">
                <a16:creationId xmlns:a16="http://schemas.microsoft.com/office/drawing/2014/main" id="{1BB7047F-0052-4949-A76B-B40B129723F3}"/>
              </a:ext>
            </a:extLst>
          </p:cNvPr>
          <p:cNvSpPr>
            <a:spLocks noGrp="1" noChangeArrowheads="1"/>
          </p:cNvSpPr>
          <p:nvPr>
            <p:ph type="body" idx="1"/>
          </p:nvPr>
        </p:nvSpPr>
        <p:spPr bwMode="auto">
          <a:xfrm>
            <a:off x="457200" y="914400"/>
            <a:ext cx="8001000" cy="556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buFont typeface="Symbol" panose="05050102010706020507" pitchFamily="18" charset="2"/>
              <a:buChar char="·"/>
            </a:pPr>
            <a:r>
              <a:rPr lang="zh-CN" altLang="en-US" sz="2400" b="1" dirty="0"/>
              <a:t>理解动态规划算法的概念与基本思想。</a:t>
            </a:r>
          </a:p>
          <a:p>
            <a:pPr eaLnBrk="1" hangingPunct="1">
              <a:lnSpc>
                <a:spcPct val="120000"/>
              </a:lnSpc>
              <a:buFont typeface="Symbol" panose="05050102010706020507" pitchFamily="18" charset="2"/>
              <a:buChar char="·"/>
            </a:pPr>
            <a:r>
              <a:rPr lang="zh-CN" altLang="en-US" sz="2400" b="1" dirty="0"/>
              <a:t>掌握动态规划算法的两个基本要素</a:t>
            </a:r>
          </a:p>
          <a:p>
            <a:pPr lvl="1" eaLnBrk="1" hangingPunct="1">
              <a:lnSpc>
                <a:spcPct val="120000"/>
              </a:lnSpc>
              <a:buFont typeface="Symbol" panose="05050102010706020507" pitchFamily="18" charset="2"/>
              <a:buNone/>
            </a:pPr>
            <a:r>
              <a:rPr lang="zh-CN" altLang="en-US" sz="2400" b="1" dirty="0"/>
              <a:t>（</a:t>
            </a:r>
            <a:r>
              <a:rPr lang="en-US" altLang="zh-CN" sz="2400" b="1" dirty="0"/>
              <a:t>1</a:t>
            </a:r>
            <a:r>
              <a:rPr lang="zh-CN" altLang="en-US" sz="2400" b="1" dirty="0"/>
              <a:t>）最优子结构性质    （</a:t>
            </a:r>
            <a:r>
              <a:rPr lang="en-US" altLang="zh-CN" sz="2400" b="1" dirty="0"/>
              <a:t>2</a:t>
            </a:r>
            <a:r>
              <a:rPr lang="zh-CN" altLang="en-US" sz="2400" b="1" dirty="0"/>
              <a:t>）重叠子问题性质</a:t>
            </a:r>
            <a:endParaRPr lang="zh-CN" altLang="en-US" sz="2400" b="1" dirty="0">
              <a:sym typeface="Symbol" panose="05050102010706020507" pitchFamily="18" charset="2"/>
            </a:endParaRPr>
          </a:p>
          <a:p>
            <a:pPr eaLnBrk="1" hangingPunct="1">
              <a:lnSpc>
                <a:spcPct val="120000"/>
              </a:lnSpc>
              <a:buFont typeface="Symbol" panose="05050102010706020507" pitchFamily="18" charset="2"/>
              <a:buChar char="·"/>
            </a:pPr>
            <a:r>
              <a:rPr lang="zh-CN" altLang="en-US" sz="2400" b="1" dirty="0"/>
              <a:t>掌握设计动态规划算法方法</a:t>
            </a:r>
          </a:p>
          <a:p>
            <a:pPr lvl="1" eaLnBrk="1" hangingPunct="1">
              <a:lnSpc>
                <a:spcPct val="120000"/>
              </a:lnSpc>
              <a:buFont typeface="Wingdings" panose="05000000000000000000" pitchFamily="2" charset="2"/>
              <a:buChar char="v"/>
            </a:pPr>
            <a:r>
              <a:rPr lang="zh-CN" altLang="en-US" sz="2400" b="1" dirty="0"/>
              <a:t>求解步骤</a:t>
            </a:r>
            <a:r>
              <a:rPr lang="en-US" altLang="zh-CN" sz="2400" b="1" dirty="0"/>
              <a:t>-4</a:t>
            </a:r>
            <a:r>
              <a:rPr lang="zh-CN" altLang="en-US" sz="2400" b="1" dirty="0"/>
              <a:t>步</a:t>
            </a:r>
          </a:p>
          <a:p>
            <a:pPr lvl="1" eaLnBrk="1" hangingPunct="1">
              <a:lnSpc>
                <a:spcPct val="120000"/>
              </a:lnSpc>
              <a:buFont typeface="Wingdings" panose="05000000000000000000" pitchFamily="2" charset="2"/>
              <a:buChar char="v"/>
            </a:pPr>
            <a:r>
              <a:rPr lang="zh-CN" altLang="en-US" sz="2400" b="1" dirty="0"/>
              <a:t>自上而下自下而上求解方式；备忘录（打表）的应用</a:t>
            </a:r>
          </a:p>
          <a:p>
            <a:pPr eaLnBrk="1" hangingPunct="1">
              <a:lnSpc>
                <a:spcPct val="120000"/>
              </a:lnSpc>
              <a:buFont typeface="Symbol" panose="05050102010706020507" pitchFamily="18" charset="2"/>
              <a:buChar char="·"/>
            </a:pPr>
            <a:r>
              <a:rPr lang="zh-CN" altLang="en-US" sz="2400" b="1" dirty="0"/>
              <a:t>动态规划典型问题</a:t>
            </a:r>
          </a:p>
          <a:p>
            <a:pPr lvl="1" eaLnBrk="1" hangingPunct="1">
              <a:lnSpc>
                <a:spcPct val="120000"/>
              </a:lnSpc>
              <a:buFont typeface="Wingdings" panose="05000000000000000000" pitchFamily="2" charset="2"/>
              <a:buChar char="v"/>
            </a:pPr>
            <a:r>
              <a:rPr lang="zh-CN" altLang="en-US" sz="2400" b="1" dirty="0">
                <a:solidFill>
                  <a:schemeClr val="bg1">
                    <a:lumMod val="75000"/>
                  </a:schemeClr>
                </a:solidFill>
              </a:rPr>
              <a:t>矩阵连乘</a:t>
            </a:r>
            <a:r>
              <a:rPr lang="zh-CN" altLang="en-US" sz="2400" b="1" dirty="0"/>
              <a:t>、最长公共子序列、</a:t>
            </a:r>
            <a:r>
              <a:rPr lang="en-US" altLang="zh-CN" sz="2400" b="1" dirty="0">
                <a:solidFill>
                  <a:schemeClr val="bg1">
                    <a:lumMod val="75000"/>
                  </a:schemeClr>
                </a:solidFill>
              </a:rPr>
              <a:t>0-1</a:t>
            </a:r>
            <a:r>
              <a:rPr lang="zh-CN" altLang="en-US" sz="2400" b="1" dirty="0">
                <a:solidFill>
                  <a:schemeClr val="bg1">
                    <a:lumMod val="75000"/>
                  </a:schemeClr>
                </a:solidFill>
              </a:rPr>
              <a:t>背包问题</a:t>
            </a:r>
            <a:r>
              <a:rPr lang="zh-CN" altLang="en-US" sz="2400" b="1" dirty="0"/>
              <a:t>、最大子段和、</a:t>
            </a:r>
            <a:r>
              <a:rPr lang="zh-CN" altLang="en-US" sz="2400" b="1" dirty="0">
                <a:solidFill>
                  <a:schemeClr val="bg1">
                    <a:lumMod val="75000"/>
                  </a:schemeClr>
                </a:solidFill>
              </a:rPr>
              <a:t>流水作业调度（</a:t>
            </a:r>
            <a:r>
              <a:rPr lang="en-US" altLang="zh-CN" sz="2400" b="1" dirty="0">
                <a:solidFill>
                  <a:schemeClr val="bg1">
                    <a:lumMod val="75000"/>
                  </a:schemeClr>
                </a:solidFill>
              </a:rPr>
              <a:t>Johnson</a:t>
            </a:r>
            <a:r>
              <a:rPr lang="zh-CN" altLang="en-US" sz="2400" b="1" dirty="0">
                <a:solidFill>
                  <a:schemeClr val="bg1">
                    <a:lumMod val="75000"/>
                  </a:schemeClr>
                </a:solidFill>
              </a:rPr>
              <a:t>调度法则）</a:t>
            </a:r>
            <a:r>
              <a:rPr lang="zh-CN" altLang="en-US" sz="2400" b="1" dirty="0"/>
              <a:t>等等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5">
                                            <p:txEl>
                                              <p:pRg st="0" end="0"/>
                                            </p:txEl>
                                          </p:spTgt>
                                        </p:tgtEl>
                                        <p:attrNameLst>
                                          <p:attrName>style.visibility</p:attrName>
                                        </p:attrNameLst>
                                      </p:cBhvr>
                                      <p:to>
                                        <p:strVal val="visible"/>
                                      </p:to>
                                    </p:set>
                                    <p:anim calcmode="lin" valueType="num">
                                      <p:cBhvr additive="base">
                                        <p:cTn id="7" dur="500" fill="hold"/>
                                        <p:tgtEl>
                                          <p:spTgt spid="798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98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9875">
                                            <p:txEl>
                                              <p:pRg st="1" end="1"/>
                                            </p:txEl>
                                          </p:spTgt>
                                        </p:tgtEl>
                                        <p:attrNameLst>
                                          <p:attrName>style.visibility</p:attrName>
                                        </p:attrNameLst>
                                      </p:cBhvr>
                                      <p:to>
                                        <p:strVal val="visible"/>
                                      </p:to>
                                    </p:set>
                                    <p:anim calcmode="lin" valueType="num">
                                      <p:cBhvr additive="base">
                                        <p:cTn id="13" dur="500" fill="hold"/>
                                        <p:tgtEl>
                                          <p:spTgt spid="798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987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9875">
                                            <p:txEl>
                                              <p:pRg st="2" end="2"/>
                                            </p:txEl>
                                          </p:spTgt>
                                        </p:tgtEl>
                                        <p:attrNameLst>
                                          <p:attrName>style.visibility</p:attrName>
                                        </p:attrNameLst>
                                      </p:cBhvr>
                                      <p:to>
                                        <p:strVal val="visible"/>
                                      </p:to>
                                    </p:set>
                                    <p:anim calcmode="lin" valueType="num">
                                      <p:cBhvr additive="base">
                                        <p:cTn id="17" dur="500" fill="hold"/>
                                        <p:tgtEl>
                                          <p:spTgt spid="7987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98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9875">
                                            <p:txEl>
                                              <p:pRg st="3" end="3"/>
                                            </p:txEl>
                                          </p:spTgt>
                                        </p:tgtEl>
                                        <p:attrNameLst>
                                          <p:attrName>style.visibility</p:attrName>
                                        </p:attrNameLst>
                                      </p:cBhvr>
                                      <p:to>
                                        <p:strVal val="visible"/>
                                      </p:to>
                                    </p:set>
                                    <p:anim calcmode="lin" valueType="num">
                                      <p:cBhvr additive="base">
                                        <p:cTn id="23" dur="500" fill="hold"/>
                                        <p:tgtEl>
                                          <p:spTgt spid="7987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987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79875">
                                            <p:txEl>
                                              <p:pRg st="4" end="4"/>
                                            </p:txEl>
                                          </p:spTgt>
                                        </p:tgtEl>
                                        <p:attrNameLst>
                                          <p:attrName>style.visibility</p:attrName>
                                        </p:attrNameLst>
                                      </p:cBhvr>
                                      <p:to>
                                        <p:strVal val="visible"/>
                                      </p:to>
                                    </p:set>
                                    <p:anim calcmode="lin" valueType="num">
                                      <p:cBhvr additive="base">
                                        <p:cTn id="27" dur="500" fill="hold"/>
                                        <p:tgtEl>
                                          <p:spTgt spid="7987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7987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9875">
                                            <p:txEl>
                                              <p:pRg st="5" end="5"/>
                                            </p:txEl>
                                          </p:spTgt>
                                        </p:tgtEl>
                                        <p:attrNameLst>
                                          <p:attrName>style.visibility</p:attrName>
                                        </p:attrNameLst>
                                      </p:cBhvr>
                                      <p:to>
                                        <p:strVal val="visible"/>
                                      </p:to>
                                    </p:set>
                                    <p:anim calcmode="lin" valueType="num">
                                      <p:cBhvr additive="base">
                                        <p:cTn id="31" dur="500" fill="hold"/>
                                        <p:tgtEl>
                                          <p:spTgt spid="7987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98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9875">
                                            <p:txEl>
                                              <p:pRg st="6" end="6"/>
                                            </p:txEl>
                                          </p:spTgt>
                                        </p:tgtEl>
                                        <p:attrNameLst>
                                          <p:attrName>style.visibility</p:attrName>
                                        </p:attrNameLst>
                                      </p:cBhvr>
                                      <p:to>
                                        <p:strVal val="visible"/>
                                      </p:to>
                                    </p:set>
                                    <p:anim calcmode="lin" valueType="num">
                                      <p:cBhvr additive="base">
                                        <p:cTn id="37" dur="500" fill="hold"/>
                                        <p:tgtEl>
                                          <p:spTgt spid="79875">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9875">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79875">
                                            <p:txEl>
                                              <p:pRg st="7" end="7"/>
                                            </p:txEl>
                                          </p:spTgt>
                                        </p:tgtEl>
                                        <p:attrNameLst>
                                          <p:attrName>style.visibility</p:attrName>
                                        </p:attrNameLst>
                                      </p:cBhvr>
                                      <p:to>
                                        <p:strVal val="visible"/>
                                      </p:to>
                                    </p:set>
                                    <p:anim calcmode="lin" valueType="num">
                                      <p:cBhvr additive="base">
                                        <p:cTn id="41" dur="500" fill="hold"/>
                                        <p:tgtEl>
                                          <p:spTgt spid="79875">
                                            <p:txEl>
                                              <p:pRg st="7" end="7"/>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7987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49A08C4-A582-419F-93D6-38F839734126}"/>
              </a:ext>
            </a:extLst>
          </p:cNvPr>
          <p:cNvSpPr>
            <a:spLocks noGrp="1" noChangeArrowheads="1"/>
          </p:cNvSpPr>
          <p:nvPr>
            <p:ph type="title"/>
          </p:nvPr>
        </p:nvSpPr>
        <p:spPr bwMode="auto">
          <a:xfrm>
            <a:off x="714375" y="24288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dirty="0">
                <a:solidFill>
                  <a:srgbClr val="AC2F36"/>
                </a:solidFill>
                <a:latin typeface="Palatino Linotype" panose="02040502050505030304" pitchFamily="18" charset="0"/>
              </a:rPr>
              <a:t>引言</a:t>
            </a:r>
            <a:r>
              <a:rPr lang="en-US" altLang="zh-CN" b="1" dirty="0">
                <a:solidFill>
                  <a:srgbClr val="AC2F36"/>
                </a:solidFill>
                <a:latin typeface="Palatino Linotype" panose="02040502050505030304" pitchFamily="18" charset="0"/>
              </a:rPr>
              <a:t> </a:t>
            </a:r>
            <a:r>
              <a:rPr lang="zh-CN" altLang="en-US" b="1" dirty="0">
                <a:solidFill>
                  <a:srgbClr val="AC2F36"/>
                </a:solidFill>
                <a:latin typeface="Palatino Linotype" panose="02040502050505030304" pitchFamily="18" charset="0"/>
              </a:rPr>
              <a:t>几个典型问题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CC7B661B-0D0E-4786-B52A-97B59130ECCE}"/>
              </a:ext>
            </a:extLst>
          </p:cNvPr>
          <p:cNvSpPr>
            <a:spLocks noGrp="1" noChangeArrowheads="1"/>
          </p:cNvSpPr>
          <p:nvPr>
            <p:ph type="title"/>
          </p:nvPr>
        </p:nvSpPr>
        <p:spPr bwMode="auto">
          <a:xfrm>
            <a:off x="685800" y="6096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问题</a:t>
            </a:r>
            <a:r>
              <a:rPr lang="en-US" altLang="zh-CN" sz="4000" b="1" dirty="0">
                <a:solidFill>
                  <a:srgbClr val="A50021"/>
                </a:solidFill>
              </a:rPr>
              <a:t>1</a:t>
            </a:r>
            <a:r>
              <a:rPr lang="zh-CN" altLang="en-US" sz="4000" b="1" dirty="0">
                <a:solidFill>
                  <a:srgbClr val="A50021"/>
                </a:solidFill>
              </a:rPr>
              <a:t>：最短路径</a:t>
            </a:r>
          </a:p>
        </p:txBody>
      </p:sp>
      <p:sp>
        <p:nvSpPr>
          <p:cNvPr id="13315" name="Rectangle 3">
            <a:extLst>
              <a:ext uri="{FF2B5EF4-FFF2-40B4-BE49-F238E27FC236}">
                <a16:creationId xmlns:a16="http://schemas.microsoft.com/office/drawing/2014/main" id="{29148681-8845-4973-8B70-811866C8CC06}"/>
              </a:ext>
            </a:extLst>
          </p:cNvPr>
          <p:cNvSpPr>
            <a:spLocks noGrp="1" noChangeArrowheads="1"/>
          </p:cNvSpPr>
          <p:nvPr>
            <p:ph type="body" idx="1"/>
          </p:nvPr>
        </p:nvSpPr>
        <p:spPr bwMode="auto">
          <a:xfrm>
            <a:off x="685800" y="1600200"/>
            <a:ext cx="7772400" cy="160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t>有一个棋盘形街道，某人从西南角</a:t>
            </a:r>
            <a:r>
              <a:rPr lang="en-US" altLang="zh-CN" sz="2800" b="1" dirty="0"/>
              <a:t>O</a:t>
            </a:r>
            <a:r>
              <a:rPr lang="zh-CN" altLang="en-US" sz="2800" b="1" dirty="0"/>
              <a:t>走到东北角</a:t>
            </a:r>
            <a:r>
              <a:rPr lang="en-US" altLang="zh-CN" sz="2800" b="1" dirty="0"/>
              <a:t>U</a:t>
            </a:r>
            <a:r>
              <a:rPr lang="zh-CN" altLang="en-US" sz="2800" b="1" dirty="0"/>
              <a:t>，想选择一条路线使所走的路径最短，如何走法？</a:t>
            </a:r>
          </a:p>
        </p:txBody>
      </p:sp>
      <p:graphicFrame>
        <p:nvGraphicFramePr>
          <p:cNvPr id="14364" name="Group 28">
            <a:extLst>
              <a:ext uri="{FF2B5EF4-FFF2-40B4-BE49-F238E27FC236}">
                <a16:creationId xmlns:a16="http://schemas.microsoft.com/office/drawing/2014/main" id="{22CCA617-B778-4170-8379-204F5F0F2949}"/>
              </a:ext>
            </a:extLst>
          </p:cNvPr>
          <p:cNvGraphicFramePr>
            <a:graphicFrameLocks noGrp="1"/>
          </p:cNvGraphicFramePr>
          <p:nvPr/>
        </p:nvGraphicFramePr>
        <p:xfrm>
          <a:off x="2514600" y="3657600"/>
          <a:ext cx="4800600" cy="2286001"/>
        </p:xfrm>
        <a:graphic>
          <a:graphicData uri="http://schemas.openxmlformats.org/drawingml/2006/table">
            <a:tbl>
              <a:tblPr/>
              <a:tblGrid>
                <a:gridCol w="1200150">
                  <a:extLst>
                    <a:ext uri="{9D8B030D-6E8A-4147-A177-3AD203B41FA5}">
                      <a16:colId xmlns:a16="http://schemas.microsoft.com/office/drawing/2014/main" val="3732946879"/>
                    </a:ext>
                  </a:extLst>
                </a:gridCol>
                <a:gridCol w="1200150">
                  <a:extLst>
                    <a:ext uri="{9D8B030D-6E8A-4147-A177-3AD203B41FA5}">
                      <a16:colId xmlns:a16="http://schemas.microsoft.com/office/drawing/2014/main" val="2469263227"/>
                    </a:ext>
                  </a:extLst>
                </a:gridCol>
                <a:gridCol w="1200150">
                  <a:extLst>
                    <a:ext uri="{9D8B030D-6E8A-4147-A177-3AD203B41FA5}">
                      <a16:colId xmlns:a16="http://schemas.microsoft.com/office/drawing/2014/main" val="1742834530"/>
                    </a:ext>
                  </a:extLst>
                </a:gridCol>
                <a:gridCol w="1200150">
                  <a:extLst>
                    <a:ext uri="{9D8B030D-6E8A-4147-A177-3AD203B41FA5}">
                      <a16:colId xmlns:a16="http://schemas.microsoft.com/office/drawing/2014/main" val="2635763436"/>
                    </a:ext>
                  </a:extLst>
                </a:gridCol>
              </a:tblGrid>
              <a:tr h="7350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3766655"/>
                  </a:ext>
                </a:extLst>
              </a:tr>
              <a:tr h="7905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90632688"/>
                  </a:ext>
                </a:extLst>
              </a:tr>
              <a:tr h="76041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34466409"/>
                  </a:ext>
                </a:extLst>
              </a:tr>
            </a:tbl>
          </a:graphicData>
        </a:graphic>
      </p:graphicFrame>
      <p:sp>
        <p:nvSpPr>
          <p:cNvPr id="13338" name="Text Box 29">
            <a:extLst>
              <a:ext uri="{FF2B5EF4-FFF2-40B4-BE49-F238E27FC236}">
                <a16:creationId xmlns:a16="http://schemas.microsoft.com/office/drawing/2014/main" id="{7BF1FE82-3213-4C9E-BAAC-DF34A42CF0CE}"/>
              </a:ext>
            </a:extLst>
          </p:cNvPr>
          <p:cNvSpPr txBox="1">
            <a:spLocks noChangeArrowheads="1"/>
          </p:cNvSpPr>
          <p:nvPr/>
        </p:nvSpPr>
        <p:spPr bwMode="auto">
          <a:xfrm>
            <a:off x="2209800" y="5867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O</a:t>
            </a:r>
          </a:p>
        </p:txBody>
      </p:sp>
      <p:sp>
        <p:nvSpPr>
          <p:cNvPr id="13339" name="Text Box 30">
            <a:extLst>
              <a:ext uri="{FF2B5EF4-FFF2-40B4-BE49-F238E27FC236}">
                <a16:creationId xmlns:a16="http://schemas.microsoft.com/office/drawing/2014/main" id="{0AD0439F-178F-438C-B506-CA4FCB162B09}"/>
              </a:ext>
            </a:extLst>
          </p:cNvPr>
          <p:cNvSpPr txBox="1">
            <a:spLocks noChangeArrowheads="1"/>
          </p:cNvSpPr>
          <p:nvPr/>
        </p:nvSpPr>
        <p:spPr bwMode="auto">
          <a:xfrm>
            <a:off x="3505200" y="5867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B</a:t>
            </a:r>
          </a:p>
        </p:txBody>
      </p:sp>
      <p:sp>
        <p:nvSpPr>
          <p:cNvPr id="13340" name="Text Box 31">
            <a:extLst>
              <a:ext uri="{FF2B5EF4-FFF2-40B4-BE49-F238E27FC236}">
                <a16:creationId xmlns:a16="http://schemas.microsoft.com/office/drawing/2014/main" id="{0EB5F1B6-434D-4E7E-ACD5-32731441659F}"/>
              </a:ext>
            </a:extLst>
          </p:cNvPr>
          <p:cNvSpPr txBox="1">
            <a:spLocks noChangeArrowheads="1"/>
          </p:cNvSpPr>
          <p:nvPr/>
        </p:nvSpPr>
        <p:spPr bwMode="auto">
          <a:xfrm>
            <a:off x="2133600" y="4953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A</a:t>
            </a:r>
          </a:p>
        </p:txBody>
      </p:sp>
      <p:sp>
        <p:nvSpPr>
          <p:cNvPr id="13341" name="Text Box 32">
            <a:extLst>
              <a:ext uri="{FF2B5EF4-FFF2-40B4-BE49-F238E27FC236}">
                <a16:creationId xmlns:a16="http://schemas.microsoft.com/office/drawing/2014/main" id="{00AF705E-BEF7-4E04-A03A-C55D40B4B97A}"/>
              </a:ext>
            </a:extLst>
          </p:cNvPr>
          <p:cNvSpPr txBox="1">
            <a:spLocks noChangeArrowheads="1"/>
          </p:cNvSpPr>
          <p:nvPr/>
        </p:nvSpPr>
        <p:spPr bwMode="auto">
          <a:xfrm>
            <a:off x="2133600" y="41910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C</a:t>
            </a:r>
          </a:p>
        </p:txBody>
      </p:sp>
      <p:sp>
        <p:nvSpPr>
          <p:cNvPr id="13342" name="Text Box 33">
            <a:extLst>
              <a:ext uri="{FF2B5EF4-FFF2-40B4-BE49-F238E27FC236}">
                <a16:creationId xmlns:a16="http://schemas.microsoft.com/office/drawing/2014/main" id="{3CA6620E-804A-472E-9C49-69CE994292B2}"/>
              </a:ext>
            </a:extLst>
          </p:cNvPr>
          <p:cNvSpPr txBox="1">
            <a:spLocks noChangeArrowheads="1"/>
          </p:cNvSpPr>
          <p:nvPr/>
        </p:nvSpPr>
        <p:spPr bwMode="auto">
          <a:xfrm>
            <a:off x="3352800" y="5105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D</a:t>
            </a:r>
          </a:p>
        </p:txBody>
      </p:sp>
      <p:sp>
        <p:nvSpPr>
          <p:cNvPr id="13343" name="Text Box 34">
            <a:extLst>
              <a:ext uri="{FF2B5EF4-FFF2-40B4-BE49-F238E27FC236}">
                <a16:creationId xmlns:a16="http://schemas.microsoft.com/office/drawing/2014/main" id="{800D6724-6860-4878-903D-D9DC66248CD0}"/>
              </a:ext>
            </a:extLst>
          </p:cNvPr>
          <p:cNvSpPr txBox="1">
            <a:spLocks noChangeArrowheads="1"/>
          </p:cNvSpPr>
          <p:nvPr/>
        </p:nvSpPr>
        <p:spPr bwMode="auto">
          <a:xfrm>
            <a:off x="4648200" y="5867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E</a:t>
            </a:r>
          </a:p>
        </p:txBody>
      </p:sp>
      <p:sp>
        <p:nvSpPr>
          <p:cNvPr id="13344" name="Text Box 35">
            <a:extLst>
              <a:ext uri="{FF2B5EF4-FFF2-40B4-BE49-F238E27FC236}">
                <a16:creationId xmlns:a16="http://schemas.microsoft.com/office/drawing/2014/main" id="{C1604FBF-914C-44F6-A08B-020321F92DA5}"/>
              </a:ext>
            </a:extLst>
          </p:cNvPr>
          <p:cNvSpPr txBox="1">
            <a:spLocks noChangeArrowheads="1"/>
          </p:cNvSpPr>
          <p:nvPr/>
        </p:nvSpPr>
        <p:spPr bwMode="auto">
          <a:xfrm>
            <a:off x="2133600" y="3276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F</a:t>
            </a:r>
          </a:p>
        </p:txBody>
      </p:sp>
      <p:sp>
        <p:nvSpPr>
          <p:cNvPr id="13345" name="Text Box 36">
            <a:extLst>
              <a:ext uri="{FF2B5EF4-FFF2-40B4-BE49-F238E27FC236}">
                <a16:creationId xmlns:a16="http://schemas.microsoft.com/office/drawing/2014/main" id="{A8227CCF-3B15-41BD-91F4-4A21131EB3FE}"/>
              </a:ext>
            </a:extLst>
          </p:cNvPr>
          <p:cNvSpPr txBox="1">
            <a:spLocks noChangeArrowheads="1"/>
          </p:cNvSpPr>
          <p:nvPr/>
        </p:nvSpPr>
        <p:spPr bwMode="auto">
          <a:xfrm>
            <a:off x="3352800" y="4343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G</a:t>
            </a:r>
          </a:p>
        </p:txBody>
      </p:sp>
      <p:sp>
        <p:nvSpPr>
          <p:cNvPr id="13346" name="Text Box 37">
            <a:extLst>
              <a:ext uri="{FF2B5EF4-FFF2-40B4-BE49-F238E27FC236}">
                <a16:creationId xmlns:a16="http://schemas.microsoft.com/office/drawing/2014/main" id="{9824529D-9F2A-4EE1-9A67-0AF514DB4FAF}"/>
              </a:ext>
            </a:extLst>
          </p:cNvPr>
          <p:cNvSpPr txBox="1">
            <a:spLocks noChangeArrowheads="1"/>
          </p:cNvSpPr>
          <p:nvPr/>
        </p:nvSpPr>
        <p:spPr bwMode="auto">
          <a:xfrm>
            <a:off x="4572000" y="5105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H</a:t>
            </a:r>
          </a:p>
        </p:txBody>
      </p:sp>
      <p:sp>
        <p:nvSpPr>
          <p:cNvPr id="13347" name="Text Box 38">
            <a:extLst>
              <a:ext uri="{FF2B5EF4-FFF2-40B4-BE49-F238E27FC236}">
                <a16:creationId xmlns:a16="http://schemas.microsoft.com/office/drawing/2014/main" id="{DA68AF75-5003-449D-A262-B1E6111D8D1D}"/>
              </a:ext>
            </a:extLst>
          </p:cNvPr>
          <p:cNvSpPr txBox="1">
            <a:spLocks noChangeArrowheads="1"/>
          </p:cNvSpPr>
          <p:nvPr/>
        </p:nvSpPr>
        <p:spPr bwMode="auto">
          <a:xfrm>
            <a:off x="5791200" y="5867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I</a:t>
            </a:r>
          </a:p>
        </p:txBody>
      </p:sp>
      <p:sp>
        <p:nvSpPr>
          <p:cNvPr id="13348" name="Text Box 39">
            <a:extLst>
              <a:ext uri="{FF2B5EF4-FFF2-40B4-BE49-F238E27FC236}">
                <a16:creationId xmlns:a16="http://schemas.microsoft.com/office/drawing/2014/main" id="{DBC672A2-E8D8-472A-8B8F-4A3772CCADAA}"/>
              </a:ext>
            </a:extLst>
          </p:cNvPr>
          <p:cNvSpPr txBox="1">
            <a:spLocks noChangeArrowheads="1"/>
          </p:cNvSpPr>
          <p:nvPr/>
        </p:nvSpPr>
        <p:spPr bwMode="auto">
          <a:xfrm>
            <a:off x="7315200" y="5867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N</a:t>
            </a:r>
          </a:p>
        </p:txBody>
      </p:sp>
      <p:sp>
        <p:nvSpPr>
          <p:cNvPr id="13349" name="Text Box 40">
            <a:extLst>
              <a:ext uri="{FF2B5EF4-FFF2-40B4-BE49-F238E27FC236}">
                <a16:creationId xmlns:a16="http://schemas.microsoft.com/office/drawing/2014/main" id="{52E847FD-B21D-4343-BB5D-01B97C5223DB}"/>
              </a:ext>
            </a:extLst>
          </p:cNvPr>
          <p:cNvSpPr txBox="1">
            <a:spLocks noChangeArrowheads="1"/>
          </p:cNvSpPr>
          <p:nvPr/>
        </p:nvSpPr>
        <p:spPr bwMode="auto">
          <a:xfrm>
            <a:off x="3429000" y="3276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K</a:t>
            </a:r>
          </a:p>
        </p:txBody>
      </p:sp>
      <p:sp>
        <p:nvSpPr>
          <p:cNvPr id="13350" name="Text Box 41">
            <a:extLst>
              <a:ext uri="{FF2B5EF4-FFF2-40B4-BE49-F238E27FC236}">
                <a16:creationId xmlns:a16="http://schemas.microsoft.com/office/drawing/2014/main" id="{0E757C74-943A-47F6-9CDE-548A3C2F6FEF}"/>
              </a:ext>
            </a:extLst>
          </p:cNvPr>
          <p:cNvSpPr txBox="1">
            <a:spLocks noChangeArrowheads="1"/>
          </p:cNvSpPr>
          <p:nvPr/>
        </p:nvSpPr>
        <p:spPr bwMode="auto">
          <a:xfrm>
            <a:off x="4572000" y="4343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L</a:t>
            </a:r>
          </a:p>
        </p:txBody>
      </p:sp>
      <p:sp>
        <p:nvSpPr>
          <p:cNvPr id="13351" name="Text Box 42">
            <a:extLst>
              <a:ext uri="{FF2B5EF4-FFF2-40B4-BE49-F238E27FC236}">
                <a16:creationId xmlns:a16="http://schemas.microsoft.com/office/drawing/2014/main" id="{6703876B-FFD3-46A6-9749-E6A01EEDDEA2}"/>
              </a:ext>
            </a:extLst>
          </p:cNvPr>
          <p:cNvSpPr txBox="1">
            <a:spLocks noChangeArrowheads="1"/>
          </p:cNvSpPr>
          <p:nvPr/>
        </p:nvSpPr>
        <p:spPr bwMode="auto">
          <a:xfrm>
            <a:off x="5638800" y="5105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M</a:t>
            </a:r>
          </a:p>
        </p:txBody>
      </p:sp>
      <p:sp>
        <p:nvSpPr>
          <p:cNvPr id="13352" name="Text Box 43">
            <a:extLst>
              <a:ext uri="{FF2B5EF4-FFF2-40B4-BE49-F238E27FC236}">
                <a16:creationId xmlns:a16="http://schemas.microsoft.com/office/drawing/2014/main" id="{382158E0-B681-4C0C-B415-89DDC93462C7}"/>
              </a:ext>
            </a:extLst>
          </p:cNvPr>
          <p:cNvSpPr txBox="1">
            <a:spLocks noChangeArrowheads="1"/>
          </p:cNvSpPr>
          <p:nvPr/>
        </p:nvSpPr>
        <p:spPr bwMode="auto">
          <a:xfrm>
            <a:off x="4648200" y="3276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P</a:t>
            </a:r>
          </a:p>
        </p:txBody>
      </p:sp>
      <p:sp>
        <p:nvSpPr>
          <p:cNvPr id="13353" name="Text Box 44">
            <a:extLst>
              <a:ext uri="{FF2B5EF4-FFF2-40B4-BE49-F238E27FC236}">
                <a16:creationId xmlns:a16="http://schemas.microsoft.com/office/drawing/2014/main" id="{3E934050-51C0-45D9-9135-081049656D78}"/>
              </a:ext>
            </a:extLst>
          </p:cNvPr>
          <p:cNvSpPr txBox="1">
            <a:spLocks noChangeArrowheads="1"/>
          </p:cNvSpPr>
          <p:nvPr/>
        </p:nvSpPr>
        <p:spPr bwMode="auto">
          <a:xfrm>
            <a:off x="5715000" y="4343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Q</a:t>
            </a:r>
          </a:p>
        </p:txBody>
      </p:sp>
      <p:sp>
        <p:nvSpPr>
          <p:cNvPr id="13354" name="Text Box 45">
            <a:extLst>
              <a:ext uri="{FF2B5EF4-FFF2-40B4-BE49-F238E27FC236}">
                <a16:creationId xmlns:a16="http://schemas.microsoft.com/office/drawing/2014/main" id="{A0F3484F-4BA5-47DF-B7D5-7C7EC9945B89}"/>
              </a:ext>
            </a:extLst>
          </p:cNvPr>
          <p:cNvSpPr txBox="1">
            <a:spLocks noChangeArrowheads="1"/>
          </p:cNvSpPr>
          <p:nvPr/>
        </p:nvSpPr>
        <p:spPr bwMode="auto">
          <a:xfrm>
            <a:off x="7315200" y="5105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R</a:t>
            </a:r>
          </a:p>
        </p:txBody>
      </p:sp>
      <p:sp>
        <p:nvSpPr>
          <p:cNvPr id="13355" name="Text Box 46">
            <a:extLst>
              <a:ext uri="{FF2B5EF4-FFF2-40B4-BE49-F238E27FC236}">
                <a16:creationId xmlns:a16="http://schemas.microsoft.com/office/drawing/2014/main" id="{29AAD72D-EE8A-4B14-8E2F-0892EDDAFF15}"/>
              </a:ext>
            </a:extLst>
          </p:cNvPr>
          <p:cNvSpPr txBox="1">
            <a:spLocks noChangeArrowheads="1"/>
          </p:cNvSpPr>
          <p:nvPr/>
        </p:nvSpPr>
        <p:spPr bwMode="auto">
          <a:xfrm>
            <a:off x="5943600" y="3276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S</a:t>
            </a:r>
          </a:p>
        </p:txBody>
      </p:sp>
      <p:sp>
        <p:nvSpPr>
          <p:cNvPr id="13356" name="Text Box 47">
            <a:extLst>
              <a:ext uri="{FF2B5EF4-FFF2-40B4-BE49-F238E27FC236}">
                <a16:creationId xmlns:a16="http://schemas.microsoft.com/office/drawing/2014/main" id="{723CCED7-9003-48F2-B487-7BCAF0782EA6}"/>
              </a:ext>
            </a:extLst>
          </p:cNvPr>
          <p:cNvSpPr txBox="1">
            <a:spLocks noChangeArrowheads="1"/>
          </p:cNvSpPr>
          <p:nvPr/>
        </p:nvSpPr>
        <p:spPr bwMode="auto">
          <a:xfrm>
            <a:off x="7315200" y="43434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T</a:t>
            </a:r>
          </a:p>
        </p:txBody>
      </p:sp>
      <p:sp>
        <p:nvSpPr>
          <p:cNvPr id="13357" name="Text Box 48">
            <a:extLst>
              <a:ext uri="{FF2B5EF4-FFF2-40B4-BE49-F238E27FC236}">
                <a16:creationId xmlns:a16="http://schemas.microsoft.com/office/drawing/2014/main" id="{91FCC673-B25D-4A0D-9720-4AD5FA4980EA}"/>
              </a:ext>
            </a:extLst>
          </p:cNvPr>
          <p:cNvSpPr txBox="1">
            <a:spLocks noChangeArrowheads="1"/>
          </p:cNvSpPr>
          <p:nvPr/>
        </p:nvSpPr>
        <p:spPr bwMode="auto">
          <a:xfrm>
            <a:off x="7315200" y="3276600"/>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U</a:t>
            </a:r>
          </a:p>
        </p:txBody>
      </p:sp>
      <p:sp>
        <p:nvSpPr>
          <p:cNvPr id="13358" name="Text Box 49">
            <a:extLst>
              <a:ext uri="{FF2B5EF4-FFF2-40B4-BE49-F238E27FC236}">
                <a16:creationId xmlns:a16="http://schemas.microsoft.com/office/drawing/2014/main" id="{292F8B07-45D1-4651-BCC4-BC862D578F29}"/>
              </a:ext>
            </a:extLst>
          </p:cNvPr>
          <p:cNvSpPr txBox="1">
            <a:spLocks noChangeArrowheads="1"/>
          </p:cNvSpPr>
          <p:nvPr/>
        </p:nvSpPr>
        <p:spPr bwMode="auto">
          <a:xfrm>
            <a:off x="2895600" y="5943600"/>
            <a:ext cx="419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1                    3                  2                 3</a:t>
            </a:r>
          </a:p>
        </p:txBody>
      </p:sp>
      <p:sp>
        <p:nvSpPr>
          <p:cNvPr id="13359" name="Text Box 50">
            <a:extLst>
              <a:ext uri="{FF2B5EF4-FFF2-40B4-BE49-F238E27FC236}">
                <a16:creationId xmlns:a16="http://schemas.microsoft.com/office/drawing/2014/main" id="{5A6B7DBE-4278-4DD8-BA36-CE34DB0452BA}"/>
              </a:ext>
            </a:extLst>
          </p:cNvPr>
          <p:cNvSpPr txBox="1">
            <a:spLocks noChangeArrowheads="1"/>
          </p:cNvSpPr>
          <p:nvPr/>
        </p:nvSpPr>
        <p:spPr bwMode="auto">
          <a:xfrm>
            <a:off x="2895600" y="5181600"/>
            <a:ext cx="419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2                    2                 1                  4</a:t>
            </a:r>
          </a:p>
        </p:txBody>
      </p:sp>
      <p:sp>
        <p:nvSpPr>
          <p:cNvPr id="13360" name="Text Box 51">
            <a:extLst>
              <a:ext uri="{FF2B5EF4-FFF2-40B4-BE49-F238E27FC236}">
                <a16:creationId xmlns:a16="http://schemas.microsoft.com/office/drawing/2014/main" id="{7E77EAA4-708B-4DB0-A4E5-2A2DCC67B96A}"/>
              </a:ext>
            </a:extLst>
          </p:cNvPr>
          <p:cNvSpPr txBox="1">
            <a:spLocks noChangeArrowheads="1"/>
          </p:cNvSpPr>
          <p:nvPr/>
        </p:nvSpPr>
        <p:spPr bwMode="auto">
          <a:xfrm>
            <a:off x="2895600" y="4357688"/>
            <a:ext cx="4191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2                    3                  4                 5</a:t>
            </a:r>
          </a:p>
        </p:txBody>
      </p:sp>
      <p:sp>
        <p:nvSpPr>
          <p:cNvPr id="13361" name="Text Box 52">
            <a:extLst>
              <a:ext uri="{FF2B5EF4-FFF2-40B4-BE49-F238E27FC236}">
                <a16:creationId xmlns:a16="http://schemas.microsoft.com/office/drawing/2014/main" id="{167A6AF7-3F35-4114-8FAA-14247FDBCAFE}"/>
              </a:ext>
            </a:extLst>
          </p:cNvPr>
          <p:cNvSpPr txBox="1">
            <a:spLocks noChangeArrowheads="1"/>
          </p:cNvSpPr>
          <p:nvPr/>
        </p:nvSpPr>
        <p:spPr bwMode="auto">
          <a:xfrm>
            <a:off x="2895600" y="3352800"/>
            <a:ext cx="4191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2                    3                  1                 2</a:t>
            </a:r>
          </a:p>
        </p:txBody>
      </p:sp>
      <p:sp>
        <p:nvSpPr>
          <p:cNvPr id="13362" name="Text Box 53">
            <a:extLst>
              <a:ext uri="{FF2B5EF4-FFF2-40B4-BE49-F238E27FC236}">
                <a16:creationId xmlns:a16="http://schemas.microsoft.com/office/drawing/2014/main" id="{22FC93CE-D0D8-4177-BC53-85FD63067F79}"/>
              </a:ext>
            </a:extLst>
          </p:cNvPr>
          <p:cNvSpPr txBox="1">
            <a:spLocks noChangeArrowheads="1"/>
          </p:cNvSpPr>
          <p:nvPr/>
        </p:nvSpPr>
        <p:spPr bwMode="auto">
          <a:xfrm>
            <a:off x="2438400" y="3810000"/>
            <a:ext cx="518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 2                   1                   2                   2                   3</a:t>
            </a:r>
          </a:p>
        </p:txBody>
      </p:sp>
      <p:sp>
        <p:nvSpPr>
          <p:cNvPr id="13363" name="Text Box 54">
            <a:extLst>
              <a:ext uri="{FF2B5EF4-FFF2-40B4-BE49-F238E27FC236}">
                <a16:creationId xmlns:a16="http://schemas.microsoft.com/office/drawing/2014/main" id="{BF30BBAB-239A-43AB-A867-5A2B90304056}"/>
              </a:ext>
            </a:extLst>
          </p:cNvPr>
          <p:cNvSpPr txBox="1">
            <a:spLocks noChangeArrowheads="1"/>
          </p:cNvSpPr>
          <p:nvPr/>
        </p:nvSpPr>
        <p:spPr bwMode="auto">
          <a:xfrm>
            <a:off x="2438400" y="4648200"/>
            <a:ext cx="518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 3                   4                   1                   2                   3</a:t>
            </a:r>
          </a:p>
        </p:txBody>
      </p:sp>
      <p:sp>
        <p:nvSpPr>
          <p:cNvPr id="13364" name="Text Box 55">
            <a:extLst>
              <a:ext uri="{FF2B5EF4-FFF2-40B4-BE49-F238E27FC236}">
                <a16:creationId xmlns:a16="http://schemas.microsoft.com/office/drawing/2014/main" id="{85BF5DAB-94A7-4A25-8ADF-0B5CEF84AF0B}"/>
              </a:ext>
            </a:extLst>
          </p:cNvPr>
          <p:cNvSpPr txBox="1">
            <a:spLocks noChangeArrowheads="1"/>
          </p:cNvSpPr>
          <p:nvPr/>
        </p:nvSpPr>
        <p:spPr bwMode="auto">
          <a:xfrm>
            <a:off x="2438400" y="5424488"/>
            <a:ext cx="5181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a:ea typeface="华文中宋" panose="02010600040101010101" pitchFamily="2" charset="-122"/>
              </a:rPr>
              <a:t> 2                   2                   1                   3                   4</a:t>
            </a:r>
          </a:p>
        </p:txBody>
      </p:sp>
      <p:grpSp>
        <p:nvGrpSpPr>
          <p:cNvPr id="13365" name="Group 58">
            <a:extLst>
              <a:ext uri="{FF2B5EF4-FFF2-40B4-BE49-F238E27FC236}">
                <a16:creationId xmlns:a16="http://schemas.microsoft.com/office/drawing/2014/main" id="{1673298A-5EE3-438E-AA0D-9EA4BE549A39}"/>
              </a:ext>
            </a:extLst>
          </p:cNvPr>
          <p:cNvGrpSpPr>
            <a:grpSpLocks/>
          </p:cNvGrpSpPr>
          <p:nvPr/>
        </p:nvGrpSpPr>
        <p:grpSpPr bwMode="auto">
          <a:xfrm>
            <a:off x="2743200" y="2590800"/>
            <a:ext cx="2895600" cy="554038"/>
            <a:chOff x="1728" y="1632"/>
            <a:chExt cx="1824" cy="349"/>
          </a:xfrm>
        </p:grpSpPr>
        <p:sp>
          <p:nvSpPr>
            <p:cNvPr id="13366" name="Text Box 56">
              <a:extLst>
                <a:ext uri="{FF2B5EF4-FFF2-40B4-BE49-F238E27FC236}">
                  <a16:creationId xmlns:a16="http://schemas.microsoft.com/office/drawing/2014/main" id="{4BE22115-1F8F-46A4-B719-1AD5608FFAB5}"/>
                </a:ext>
              </a:extLst>
            </p:cNvPr>
            <p:cNvSpPr txBox="1">
              <a:spLocks noChangeArrowheads="1"/>
            </p:cNvSpPr>
            <p:nvPr/>
          </p:nvSpPr>
          <p:spPr bwMode="auto">
            <a:xfrm>
              <a:off x="1728" y="1632"/>
              <a:ext cx="18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FF0000"/>
                  </a:solidFill>
                  <a:ea typeface="华文中宋" panose="02010600040101010101" pitchFamily="2" charset="-122"/>
                </a:rPr>
                <a:t>总路径数</a:t>
              </a:r>
              <a:r>
                <a:rPr lang="en-US" altLang="zh-CN" dirty="0">
                  <a:solidFill>
                    <a:srgbClr val="FF0000"/>
                  </a:solidFill>
                  <a:ea typeface="华文中宋" panose="02010600040101010101" pitchFamily="2" charset="-122"/>
                </a:rPr>
                <a:t>=C     =35</a:t>
              </a:r>
            </a:p>
          </p:txBody>
        </p:sp>
        <p:sp>
          <p:nvSpPr>
            <p:cNvPr id="13367" name="Text Box 57">
              <a:extLst>
                <a:ext uri="{FF2B5EF4-FFF2-40B4-BE49-F238E27FC236}">
                  <a16:creationId xmlns:a16="http://schemas.microsoft.com/office/drawing/2014/main" id="{A0D23096-2CCD-4114-9372-942D36F9C9BA}"/>
                </a:ext>
              </a:extLst>
            </p:cNvPr>
            <p:cNvSpPr txBox="1">
              <a:spLocks noChangeArrowheads="1"/>
            </p:cNvSpPr>
            <p:nvPr/>
          </p:nvSpPr>
          <p:spPr bwMode="auto">
            <a:xfrm>
              <a:off x="2832" y="1643"/>
              <a:ext cx="24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800" rIns="0" bIns="10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40000"/>
                </a:lnSpc>
                <a:spcBef>
                  <a:spcPct val="50000"/>
                </a:spcBef>
              </a:pPr>
              <a:r>
                <a:rPr lang="en-US" altLang="zh-CN" dirty="0">
                  <a:solidFill>
                    <a:srgbClr val="FF0000"/>
                  </a:solidFill>
                  <a:ea typeface="华文中宋" panose="02010600040101010101" pitchFamily="2" charset="-122"/>
                </a:rPr>
                <a:t>3</a:t>
              </a:r>
            </a:p>
            <a:p>
              <a:pPr eaLnBrk="1" hangingPunct="1">
                <a:lnSpc>
                  <a:spcPct val="40000"/>
                </a:lnSpc>
                <a:spcBef>
                  <a:spcPct val="50000"/>
                </a:spcBef>
              </a:pPr>
              <a:r>
                <a:rPr lang="en-US" altLang="zh-CN" dirty="0">
                  <a:solidFill>
                    <a:srgbClr val="FF0000"/>
                  </a:solidFill>
                  <a:ea typeface="华文中宋" panose="02010600040101010101" pitchFamily="2" charset="-122"/>
                </a:rPr>
                <a:t>7</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CF2A9E0-4074-4B6E-9FD2-DD8D0A3EFF05}"/>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问题</a:t>
            </a:r>
            <a:r>
              <a:rPr lang="en-US" altLang="zh-CN" sz="4000" b="1" dirty="0">
                <a:solidFill>
                  <a:srgbClr val="A50021"/>
                </a:solidFill>
              </a:rPr>
              <a:t>2</a:t>
            </a:r>
            <a:r>
              <a:rPr lang="zh-CN" altLang="en-US" sz="4000" b="1" dirty="0">
                <a:solidFill>
                  <a:srgbClr val="A50021"/>
                </a:solidFill>
              </a:rPr>
              <a:t>：最短路径</a:t>
            </a:r>
          </a:p>
        </p:txBody>
      </p:sp>
      <p:sp>
        <p:nvSpPr>
          <p:cNvPr id="14339" name="Rectangle 3">
            <a:extLst>
              <a:ext uri="{FF2B5EF4-FFF2-40B4-BE49-F238E27FC236}">
                <a16:creationId xmlns:a16="http://schemas.microsoft.com/office/drawing/2014/main" id="{CA076143-E2A4-4C96-92AA-E73B3826EE33}"/>
              </a:ext>
            </a:extLst>
          </p:cNvPr>
          <p:cNvSpPr>
            <a:spLocks noGrp="1" noChangeArrowheads="1"/>
          </p:cNvSpPr>
          <p:nvPr>
            <p:ph type="body" idx="1"/>
          </p:nvPr>
        </p:nvSpPr>
        <p:spPr bwMode="auto">
          <a:xfrm>
            <a:off x="714375" y="1571625"/>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solidFill>
                  <a:schemeClr val="tx2"/>
                </a:solidFill>
              </a:rPr>
              <a:t>对有向无环图，</a:t>
            </a:r>
            <a:r>
              <a:rPr lang="zh-CN" altLang="en-US" sz="2800" b="1" dirty="0"/>
              <a:t>求从</a:t>
            </a:r>
            <a:r>
              <a:rPr lang="en-US" altLang="zh-CN" sz="2800" b="1" dirty="0"/>
              <a:t>s</a:t>
            </a:r>
            <a:r>
              <a:rPr lang="zh-CN" altLang="en-US" sz="2800" b="1" dirty="0"/>
              <a:t>到</a:t>
            </a:r>
            <a:r>
              <a:rPr lang="en-US" altLang="zh-CN" sz="2800" b="1" dirty="0"/>
              <a:t>t</a:t>
            </a:r>
            <a:r>
              <a:rPr lang="zh-CN" altLang="en-US" sz="2800" b="1" dirty="0"/>
              <a:t>的一条最短路径</a:t>
            </a:r>
          </a:p>
        </p:txBody>
      </p:sp>
      <p:grpSp>
        <p:nvGrpSpPr>
          <p:cNvPr id="2" name="Group 4">
            <a:extLst>
              <a:ext uri="{FF2B5EF4-FFF2-40B4-BE49-F238E27FC236}">
                <a16:creationId xmlns:a16="http://schemas.microsoft.com/office/drawing/2014/main" id="{567D6585-F6A2-4B70-81F0-9AFA4FBD0BCE}"/>
              </a:ext>
            </a:extLst>
          </p:cNvPr>
          <p:cNvGrpSpPr>
            <a:grpSpLocks/>
          </p:cNvGrpSpPr>
          <p:nvPr/>
        </p:nvGrpSpPr>
        <p:grpSpPr bwMode="auto">
          <a:xfrm>
            <a:off x="1214438" y="2571750"/>
            <a:ext cx="7391400" cy="3478213"/>
            <a:chOff x="0" y="624"/>
            <a:chExt cx="5616" cy="3363"/>
          </a:xfrm>
        </p:grpSpPr>
        <p:sp>
          <p:nvSpPr>
            <p:cNvPr id="14341" name="Oval 5">
              <a:extLst>
                <a:ext uri="{FF2B5EF4-FFF2-40B4-BE49-F238E27FC236}">
                  <a16:creationId xmlns:a16="http://schemas.microsoft.com/office/drawing/2014/main" id="{E04D47F5-3184-4124-BB1F-C184CD2ED835}"/>
                </a:ext>
              </a:extLst>
            </p:cNvPr>
            <p:cNvSpPr>
              <a:spLocks noChangeArrowheads="1"/>
            </p:cNvSpPr>
            <p:nvPr/>
          </p:nvSpPr>
          <p:spPr bwMode="auto">
            <a:xfrm>
              <a:off x="1392" y="624"/>
              <a:ext cx="240" cy="240"/>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2</a:t>
              </a:r>
            </a:p>
          </p:txBody>
        </p:sp>
        <p:sp>
          <p:nvSpPr>
            <p:cNvPr id="14342" name="Oval 6">
              <a:extLst>
                <a:ext uri="{FF2B5EF4-FFF2-40B4-BE49-F238E27FC236}">
                  <a16:creationId xmlns:a16="http://schemas.microsoft.com/office/drawing/2014/main" id="{FBB49DD9-3F06-49DE-BB29-7C02932D422A}"/>
                </a:ext>
              </a:extLst>
            </p:cNvPr>
            <p:cNvSpPr>
              <a:spLocks noChangeArrowheads="1"/>
            </p:cNvSpPr>
            <p:nvPr/>
          </p:nvSpPr>
          <p:spPr bwMode="auto">
            <a:xfrm>
              <a:off x="1392" y="1632"/>
              <a:ext cx="240" cy="240"/>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3</a:t>
              </a:r>
            </a:p>
          </p:txBody>
        </p:sp>
        <p:sp>
          <p:nvSpPr>
            <p:cNvPr id="14343" name="Oval 7">
              <a:extLst>
                <a:ext uri="{FF2B5EF4-FFF2-40B4-BE49-F238E27FC236}">
                  <a16:creationId xmlns:a16="http://schemas.microsoft.com/office/drawing/2014/main" id="{411060AF-D510-4D06-B856-475B61650EC2}"/>
                </a:ext>
              </a:extLst>
            </p:cNvPr>
            <p:cNvSpPr>
              <a:spLocks noChangeArrowheads="1"/>
            </p:cNvSpPr>
            <p:nvPr/>
          </p:nvSpPr>
          <p:spPr bwMode="auto">
            <a:xfrm>
              <a:off x="1392" y="254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4</a:t>
              </a:r>
            </a:p>
          </p:txBody>
        </p:sp>
        <p:sp>
          <p:nvSpPr>
            <p:cNvPr id="14344" name="Oval 8">
              <a:extLst>
                <a:ext uri="{FF2B5EF4-FFF2-40B4-BE49-F238E27FC236}">
                  <a16:creationId xmlns:a16="http://schemas.microsoft.com/office/drawing/2014/main" id="{1E07DECA-83C7-4639-9589-58BECC90284E}"/>
                </a:ext>
              </a:extLst>
            </p:cNvPr>
            <p:cNvSpPr>
              <a:spLocks noChangeArrowheads="1"/>
            </p:cNvSpPr>
            <p:nvPr/>
          </p:nvSpPr>
          <p:spPr bwMode="auto">
            <a:xfrm>
              <a:off x="1392" y="350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5</a:t>
              </a:r>
            </a:p>
          </p:txBody>
        </p:sp>
        <p:sp>
          <p:nvSpPr>
            <p:cNvPr id="14345" name="Oval 9">
              <a:extLst>
                <a:ext uri="{FF2B5EF4-FFF2-40B4-BE49-F238E27FC236}">
                  <a16:creationId xmlns:a16="http://schemas.microsoft.com/office/drawing/2014/main" id="{EEF5FF48-2177-40C2-B152-4D6B11905DE2}"/>
                </a:ext>
              </a:extLst>
            </p:cNvPr>
            <p:cNvSpPr>
              <a:spLocks noChangeArrowheads="1"/>
            </p:cNvSpPr>
            <p:nvPr/>
          </p:nvSpPr>
          <p:spPr bwMode="auto">
            <a:xfrm>
              <a:off x="2688" y="1008"/>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6</a:t>
              </a:r>
            </a:p>
          </p:txBody>
        </p:sp>
        <p:sp>
          <p:nvSpPr>
            <p:cNvPr id="14346" name="Oval 10">
              <a:extLst>
                <a:ext uri="{FF2B5EF4-FFF2-40B4-BE49-F238E27FC236}">
                  <a16:creationId xmlns:a16="http://schemas.microsoft.com/office/drawing/2014/main" id="{DF99C9BD-984E-4211-B5E8-3DC6B16BF161}"/>
                </a:ext>
              </a:extLst>
            </p:cNvPr>
            <p:cNvSpPr>
              <a:spLocks noChangeArrowheads="1"/>
            </p:cNvSpPr>
            <p:nvPr/>
          </p:nvSpPr>
          <p:spPr bwMode="auto">
            <a:xfrm>
              <a:off x="2688" y="206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7</a:t>
              </a:r>
            </a:p>
          </p:txBody>
        </p:sp>
        <p:sp>
          <p:nvSpPr>
            <p:cNvPr id="14347" name="Oval 11">
              <a:extLst>
                <a:ext uri="{FF2B5EF4-FFF2-40B4-BE49-F238E27FC236}">
                  <a16:creationId xmlns:a16="http://schemas.microsoft.com/office/drawing/2014/main" id="{91B0AB5F-63D5-42E2-A4C1-10B0FDDC2670}"/>
                </a:ext>
              </a:extLst>
            </p:cNvPr>
            <p:cNvSpPr>
              <a:spLocks noChangeArrowheads="1"/>
            </p:cNvSpPr>
            <p:nvPr/>
          </p:nvSpPr>
          <p:spPr bwMode="auto">
            <a:xfrm>
              <a:off x="2688" y="307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8</a:t>
              </a:r>
            </a:p>
          </p:txBody>
        </p:sp>
        <p:sp>
          <p:nvSpPr>
            <p:cNvPr id="14348" name="Oval 12">
              <a:extLst>
                <a:ext uri="{FF2B5EF4-FFF2-40B4-BE49-F238E27FC236}">
                  <a16:creationId xmlns:a16="http://schemas.microsoft.com/office/drawing/2014/main" id="{0090FC66-346A-408C-AAB8-2C2C30E5323F}"/>
                </a:ext>
              </a:extLst>
            </p:cNvPr>
            <p:cNvSpPr>
              <a:spLocks noChangeArrowheads="1"/>
            </p:cNvSpPr>
            <p:nvPr/>
          </p:nvSpPr>
          <p:spPr bwMode="auto">
            <a:xfrm>
              <a:off x="4032" y="1008"/>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9</a:t>
              </a:r>
            </a:p>
          </p:txBody>
        </p:sp>
        <p:sp>
          <p:nvSpPr>
            <p:cNvPr id="14349" name="Oval 13">
              <a:extLst>
                <a:ext uri="{FF2B5EF4-FFF2-40B4-BE49-F238E27FC236}">
                  <a16:creationId xmlns:a16="http://schemas.microsoft.com/office/drawing/2014/main" id="{ED18C8A1-F793-447F-9948-4A70F183EF6C}"/>
                </a:ext>
              </a:extLst>
            </p:cNvPr>
            <p:cNvSpPr>
              <a:spLocks noChangeArrowheads="1"/>
            </p:cNvSpPr>
            <p:nvPr/>
          </p:nvSpPr>
          <p:spPr bwMode="auto">
            <a:xfrm>
              <a:off x="4032" y="206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10</a:t>
              </a:r>
            </a:p>
          </p:txBody>
        </p:sp>
        <p:sp>
          <p:nvSpPr>
            <p:cNvPr id="14350" name="Oval 14">
              <a:extLst>
                <a:ext uri="{FF2B5EF4-FFF2-40B4-BE49-F238E27FC236}">
                  <a16:creationId xmlns:a16="http://schemas.microsoft.com/office/drawing/2014/main" id="{B8B4CC5D-92A5-40F5-9A63-F414C59338B4}"/>
                </a:ext>
              </a:extLst>
            </p:cNvPr>
            <p:cNvSpPr>
              <a:spLocks noChangeArrowheads="1"/>
            </p:cNvSpPr>
            <p:nvPr/>
          </p:nvSpPr>
          <p:spPr bwMode="auto">
            <a:xfrm>
              <a:off x="4032" y="3072"/>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11</a:t>
              </a:r>
            </a:p>
          </p:txBody>
        </p:sp>
        <p:sp>
          <p:nvSpPr>
            <p:cNvPr id="14351" name="Oval 15">
              <a:extLst>
                <a:ext uri="{FF2B5EF4-FFF2-40B4-BE49-F238E27FC236}">
                  <a16:creationId xmlns:a16="http://schemas.microsoft.com/office/drawing/2014/main" id="{C574529D-6656-4036-B91A-3848AFC27A15}"/>
                </a:ext>
              </a:extLst>
            </p:cNvPr>
            <p:cNvSpPr>
              <a:spLocks noChangeArrowheads="1"/>
            </p:cNvSpPr>
            <p:nvPr/>
          </p:nvSpPr>
          <p:spPr bwMode="auto">
            <a:xfrm>
              <a:off x="144" y="206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1</a:t>
              </a:r>
            </a:p>
          </p:txBody>
        </p:sp>
        <p:sp>
          <p:nvSpPr>
            <p:cNvPr id="14352" name="Oval 16">
              <a:extLst>
                <a:ext uri="{FF2B5EF4-FFF2-40B4-BE49-F238E27FC236}">
                  <a16:creationId xmlns:a16="http://schemas.microsoft.com/office/drawing/2014/main" id="{8EEC02B0-CE2C-45DD-A6FC-14F8428618FC}"/>
                </a:ext>
              </a:extLst>
            </p:cNvPr>
            <p:cNvSpPr>
              <a:spLocks noChangeArrowheads="1"/>
            </p:cNvSpPr>
            <p:nvPr/>
          </p:nvSpPr>
          <p:spPr bwMode="auto">
            <a:xfrm>
              <a:off x="5328" y="2064"/>
              <a:ext cx="288" cy="288"/>
            </a:xfrm>
            <a:prstGeom prst="ellipse">
              <a:avLst/>
            </a:prstGeom>
            <a:solidFill>
              <a:schemeClr val="bg1"/>
            </a:solidFill>
            <a:ln w="2857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dirty="0">
                  <a:ea typeface="华文中宋" panose="02010600040101010101" pitchFamily="2" charset="-122"/>
                </a:rPr>
                <a:t>12</a:t>
              </a:r>
            </a:p>
          </p:txBody>
        </p:sp>
        <p:sp>
          <p:nvSpPr>
            <p:cNvPr id="14353" name="Line 17">
              <a:extLst>
                <a:ext uri="{FF2B5EF4-FFF2-40B4-BE49-F238E27FC236}">
                  <a16:creationId xmlns:a16="http://schemas.microsoft.com/office/drawing/2014/main" id="{E98A4BF6-53EA-45E1-B659-10E4500DC7C7}"/>
                </a:ext>
              </a:extLst>
            </p:cNvPr>
            <p:cNvSpPr>
              <a:spLocks noChangeShapeType="1"/>
            </p:cNvSpPr>
            <p:nvPr/>
          </p:nvSpPr>
          <p:spPr bwMode="auto">
            <a:xfrm flipV="1">
              <a:off x="432" y="1776"/>
              <a:ext cx="960"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4" name="Line 18">
              <a:extLst>
                <a:ext uri="{FF2B5EF4-FFF2-40B4-BE49-F238E27FC236}">
                  <a16:creationId xmlns:a16="http://schemas.microsoft.com/office/drawing/2014/main" id="{A392F0E6-B501-4A4D-9537-8BC51D58FD6A}"/>
                </a:ext>
              </a:extLst>
            </p:cNvPr>
            <p:cNvSpPr>
              <a:spLocks noChangeShapeType="1"/>
            </p:cNvSpPr>
            <p:nvPr/>
          </p:nvSpPr>
          <p:spPr bwMode="auto">
            <a:xfrm>
              <a:off x="432" y="2256"/>
              <a:ext cx="960" cy="43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5" name="Line 19">
              <a:extLst>
                <a:ext uri="{FF2B5EF4-FFF2-40B4-BE49-F238E27FC236}">
                  <a16:creationId xmlns:a16="http://schemas.microsoft.com/office/drawing/2014/main" id="{599D6993-815A-41BB-B817-7436E389E837}"/>
                </a:ext>
              </a:extLst>
            </p:cNvPr>
            <p:cNvSpPr>
              <a:spLocks noChangeShapeType="1"/>
            </p:cNvSpPr>
            <p:nvPr/>
          </p:nvSpPr>
          <p:spPr bwMode="auto">
            <a:xfrm flipV="1">
              <a:off x="336" y="768"/>
              <a:ext cx="1056" cy="12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6" name="Line 20">
              <a:extLst>
                <a:ext uri="{FF2B5EF4-FFF2-40B4-BE49-F238E27FC236}">
                  <a16:creationId xmlns:a16="http://schemas.microsoft.com/office/drawing/2014/main" id="{72284609-C6CD-4688-ACE5-2E391332E821}"/>
                </a:ext>
              </a:extLst>
            </p:cNvPr>
            <p:cNvSpPr>
              <a:spLocks noChangeShapeType="1"/>
            </p:cNvSpPr>
            <p:nvPr/>
          </p:nvSpPr>
          <p:spPr bwMode="auto">
            <a:xfrm>
              <a:off x="336" y="2352"/>
              <a:ext cx="1056" cy="1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7" name="Line 21">
              <a:extLst>
                <a:ext uri="{FF2B5EF4-FFF2-40B4-BE49-F238E27FC236}">
                  <a16:creationId xmlns:a16="http://schemas.microsoft.com/office/drawing/2014/main" id="{07FAC451-291F-410D-9947-687C7AA2B44F}"/>
                </a:ext>
              </a:extLst>
            </p:cNvPr>
            <p:cNvSpPr>
              <a:spLocks noChangeShapeType="1"/>
            </p:cNvSpPr>
            <p:nvPr/>
          </p:nvSpPr>
          <p:spPr bwMode="auto">
            <a:xfrm>
              <a:off x="4320" y="2208"/>
              <a:ext cx="100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8" name="Line 22">
              <a:extLst>
                <a:ext uri="{FF2B5EF4-FFF2-40B4-BE49-F238E27FC236}">
                  <a16:creationId xmlns:a16="http://schemas.microsoft.com/office/drawing/2014/main" id="{036E1F19-0E52-43C5-A925-F77F9160578B}"/>
                </a:ext>
              </a:extLst>
            </p:cNvPr>
            <p:cNvSpPr>
              <a:spLocks noChangeShapeType="1"/>
            </p:cNvSpPr>
            <p:nvPr/>
          </p:nvSpPr>
          <p:spPr bwMode="auto">
            <a:xfrm>
              <a:off x="4320" y="1152"/>
              <a:ext cx="1056" cy="91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59" name="Line 23">
              <a:extLst>
                <a:ext uri="{FF2B5EF4-FFF2-40B4-BE49-F238E27FC236}">
                  <a16:creationId xmlns:a16="http://schemas.microsoft.com/office/drawing/2014/main" id="{4681CC36-209D-4812-B198-8EC07B3A94B3}"/>
                </a:ext>
              </a:extLst>
            </p:cNvPr>
            <p:cNvSpPr>
              <a:spLocks noChangeShapeType="1"/>
            </p:cNvSpPr>
            <p:nvPr/>
          </p:nvSpPr>
          <p:spPr bwMode="auto">
            <a:xfrm flipV="1">
              <a:off x="4320" y="2352"/>
              <a:ext cx="1056" cy="86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0" name="Line 24">
              <a:extLst>
                <a:ext uri="{FF2B5EF4-FFF2-40B4-BE49-F238E27FC236}">
                  <a16:creationId xmlns:a16="http://schemas.microsoft.com/office/drawing/2014/main" id="{BA88C84E-E7B4-4E29-8FAF-6E52552A0B93}"/>
                </a:ext>
              </a:extLst>
            </p:cNvPr>
            <p:cNvSpPr>
              <a:spLocks noChangeShapeType="1"/>
            </p:cNvSpPr>
            <p:nvPr/>
          </p:nvSpPr>
          <p:spPr bwMode="auto">
            <a:xfrm>
              <a:off x="2976" y="3216"/>
              <a:ext cx="1056"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1" name="Line 25">
              <a:extLst>
                <a:ext uri="{FF2B5EF4-FFF2-40B4-BE49-F238E27FC236}">
                  <a16:creationId xmlns:a16="http://schemas.microsoft.com/office/drawing/2014/main" id="{A616018E-93CF-4A90-8A1A-CF9431CF5A39}"/>
                </a:ext>
              </a:extLst>
            </p:cNvPr>
            <p:cNvSpPr>
              <a:spLocks noChangeShapeType="1"/>
            </p:cNvSpPr>
            <p:nvPr/>
          </p:nvSpPr>
          <p:spPr bwMode="auto">
            <a:xfrm flipV="1">
              <a:off x="2928" y="2256"/>
              <a:ext cx="1104" cy="81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2" name="Line 26">
              <a:extLst>
                <a:ext uri="{FF2B5EF4-FFF2-40B4-BE49-F238E27FC236}">
                  <a16:creationId xmlns:a16="http://schemas.microsoft.com/office/drawing/2014/main" id="{D3678F00-7F86-45A4-BC58-FADBF5D736D2}"/>
                </a:ext>
              </a:extLst>
            </p:cNvPr>
            <p:cNvSpPr>
              <a:spLocks noChangeShapeType="1"/>
            </p:cNvSpPr>
            <p:nvPr/>
          </p:nvSpPr>
          <p:spPr bwMode="auto">
            <a:xfrm>
              <a:off x="2976" y="2208"/>
              <a:ext cx="1056"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3" name="Line 27">
              <a:extLst>
                <a:ext uri="{FF2B5EF4-FFF2-40B4-BE49-F238E27FC236}">
                  <a16:creationId xmlns:a16="http://schemas.microsoft.com/office/drawing/2014/main" id="{48BF51D7-66D7-4E50-823B-0633871DBB99}"/>
                </a:ext>
              </a:extLst>
            </p:cNvPr>
            <p:cNvSpPr>
              <a:spLocks noChangeShapeType="1"/>
            </p:cNvSpPr>
            <p:nvPr/>
          </p:nvSpPr>
          <p:spPr bwMode="auto">
            <a:xfrm flipV="1">
              <a:off x="2928" y="1248"/>
              <a:ext cx="1152" cy="816"/>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4" name="Line 28">
              <a:extLst>
                <a:ext uri="{FF2B5EF4-FFF2-40B4-BE49-F238E27FC236}">
                  <a16:creationId xmlns:a16="http://schemas.microsoft.com/office/drawing/2014/main" id="{35DCA8AF-FEBB-413E-8884-5B4EA1939CE9}"/>
                </a:ext>
              </a:extLst>
            </p:cNvPr>
            <p:cNvSpPr>
              <a:spLocks noChangeShapeType="1"/>
            </p:cNvSpPr>
            <p:nvPr/>
          </p:nvSpPr>
          <p:spPr bwMode="auto">
            <a:xfrm>
              <a:off x="2928" y="1248"/>
              <a:ext cx="1152" cy="864"/>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5" name="Line 29">
              <a:extLst>
                <a:ext uri="{FF2B5EF4-FFF2-40B4-BE49-F238E27FC236}">
                  <a16:creationId xmlns:a16="http://schemas.microsoft.com/office/drawing/2014/main" id="{D9CD2162-B788-4BB0-8308-3884610017F0}"/>
                </a:ext>
              </a:extLst>
            </p:cNvPr>
            <p:cNvSpPr>
              <a:spLocks noChangeShapeType="1"/>
            </p:cNvSpPr>
            <p:nvPr/>
          </p:nvSpPr>
          <p:spPr bwMode="auto">
            <a:xfrm>
              <a:off x="2976" y="1152"/>
              <a:ext cx="1056" cy="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6" name="Line 30">
              <a:extLst>
                <a:ext uri="{FF2B5EF4-FFF2-40B4-BE49-F238E27FC236}">
                  <a16:creationId xmlns:a16="http://schemas.microsoft.com/office/drawing/2014/main" id="{A3CFFEAC-9E08-4072-BE40-7D372D10E9C4}"/>
                </a:ext>
              </a:extLst>
            </p:cNvPr>
            <p:cNvSpPr>
              <a:spLocks noChangeShapeType="1"/>
            </p:cNvSpPr>
            <p:nvPr/>
          </p:nvSpPr>
          <p:spPr bwMode="auto">
            <a:xfrm flipV="1">
              <a:off x="1680" y="3312"/>
              <a:ext cx="1008" cy="336"/>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7" name="Line 31">
              <a:extLst>
                <a:ext uri="{FF2B5EF4-FFF2-40B4-BE49-F238E27FC236}">
                  <a16:creationId xmlns:a16="http://schemas.microsoft.com/office/drawing/2014/main" id="{44A43761-B585-4FBC-BDB5-692055A0C8A1}"/>
                </a:ext>
              </a:extLst>
            </p:cNvPr>
            <p:cNvSpPr>
              <a:spLocks noChangeShapeType="1"/>
            </p:cNvSpPr>
            <p:nvPr/>
          </p:nvSpPr>
          <p:spPr bwMode="auto">
            <a:xfrm flipV="1">
              <a:off x="1632" y="2304"/>
              <a:ext cx="1104" cy="12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8" name="Line 32">
              <a:extLst>
                <a:ext uri="{FF2B5EF4-FFF2-40B4-BE49-F238E27FC236}">
                  <a16:creationId xmlns:a16="http://schemas.microsoft.com/office/drawing/2014/main" id="{A556466B-C3CA-40B5-84E1-A90509E3ACDC}"/>
                </a:ext>
              </a:extLst>
            </p:cNvPr>
            <p:cNvSpPr>
              <a:spLocks noChangeShapeType="1"/>
            </p:cNvSpPr>
            <p:nvPr/>
          </p:nvSpPr>
          <p:spPr bwMode="auto">
            <a:xfrm>
              <a:off x="1632" y="2736"/>
              <a:ext cx="1056" cy="432"/>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69" name="Line 33">
              <a:extLst>
                <a:ext uri="{FF2B5EF4-FFF2-40B4-BE49-F238E27FC236}">
                  <a16:creationId xmlns:a16="http://schemas.microsoft.com/office/drawing/2014/main" id="{4CD8FD29-B18E-45DF-BF29-153E60AF9E72}"/>
                </a:ext>
              </a:extLst>
            </p:cNvPr>
            <p:cNvSpPr>
              <a:spLocks noChangeShapeType="1"/>
            </p:cNvSpPr>
            <p:nvPr/>
          </p:nvSpPr>
          <p:spPr bwMode="auto">
            <a:xfrm>
              <a:off x="1584" y="1824"/>
              <a:ext cx="1104" cy="3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70" name="Line 34">
              <a:extLst>
                <a:ext uri="{FF2B5EF4-FFF2-40B4-BE49-F238E27FC236}">
                  <a16:creationId xmlns:a16="http://schemas.microsoft.com/office/drawing/2014/main" id="{394A01D8-864D-4ECF-A320-033A4EE44835}"/>
                </a:ext>
              </a:extLst>
            </p:cNvPr>
            <p:cNvSpPr>
              <a:spLocks noChangeShapeType="1"/>
            </p:cNvSpPr>
            <p:nvPr/>
          </p:nvSpPr>
          <p:spPr bwMode="auto">
            <a:xfrm flipV="1">
              <a:off x="1584" y="1200"/>
              <a:ext cx="1104" cy="4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71" name="Line 35">
              <a:extLst>
                <a:ext uri="{FF2B5EF4-FFF2-40B4-BE49-F238E27FC236}">
                  <a16:creationId xmlns:a16="http://schemas.microsoft.com/office/drawing/2014/main" id="{8709A0F5-9832-4D28-A886-110F15860F97}"/>
                </a:ext>
              </a:extLst>
            </p:cNvPr>
            <p:cNvSpPr>
              <a:spLocks noChangeShapeType="1"/>
            </p:cNvSpPr>
            <p:nvPr/>
          </p:nvSpPr>
          <p:spPr bwMode="auto">
            <a:xfrm>
              <a:off x="1536" y="864"/>
              <a:ext cx="1248" cy="2208"/>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72" name="Line 36">
              <a:extLst>
                <a:ext uri="{FF2B5EF4-FFF2-40B4-BE49-F238E27FC236}">
                  <a16:creationId xmlns:a16="http://schemas.microsoft.com/office/drawing/2014/main" id="{38C03CF9-DD5D-4865-BE90-1457CD6FC494}"/>
                </a:ext>
              </a:extLst>
            </p:cNvPr>
            <p:cNvSpPr>
              <a:spLocks noChangeShapeType="1"/>
            </p:cNvSpPr>
            <p:nvPr/>
          </p:nvSpPr>
          <p:spPr bwMode="auto">
            <a:xfrm>
              <a:off x="1632" y="816"/>
              <a:ext cx="1152" cy="1248"/>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73" name="Line 37">
              <a:extLst>
                <a:ext uri="{FF2B5EF4-FFF2-40B4-BE49-F238E27FC236}">
                  <a16:creationId xmlns:a16="http://schemas.microsoft.com/office/drawing/2014/main" id="{A6B21A1F-9255-400E-92DF-3006FD384EB8}"/>
                </a:ext>
              </a:extLst>
            </p:cNvPr>
            <p:cNvSpPr>
              <a:spLocks noChangeShapeType="1"/>
            </p:cNvSpPr>
            <p:nvPr/>
          </p:nvSpPr>
          <p:spPr bwMode="auto">
            <a:xfrm>
              <a:off x="1632" y="720"/>
              <a:ext cx="1056" cy="384"/>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dirty="0">
                <a:ea typeface="华文中宋" panose="02010600040101010101" pitchFamily="2" charset="-122"/>
              </a:endParaRPr>
            </a:p>
          </p:txBody>
        </p:sp>
        <p:sp>
          <p:nvSpPr>
            <p:cNvPr id="14374" name="Text Box 38">
              <a:extLst>
                <a:ext uri="{FF2B5EF4-FFF2-40B4-BE49-F238E27FC236}">
                  <a16:creationId xmlns:a16="http://schemas.microsoft.com/office/drawing/2014/main" id="{CFECBDB1-5C81-4294-9F47-E74787B37495}"/>
                </a:ext>
              </a:extLst>
            </p:cNvPr>
            <p:cNvSpPr txBox="1">
              <a:spLocks noChangeArrowheads="1"/>
            </p:cNvSpPr>
            <p:nvPr/>
          </p:nvSpPr>
          <p:spPr bwMode="auto">
            <a:xfrm>
              <a:off x="0" y="2208"/>
              <a:ext cx="24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s</a:t>
              </a:r>
            </a:p>
          </p:txBody>
        </p:sp>
        <p:sp>
          <p:nvSpPr>
            <p:cNvPr id="14375" name="Text Box 39">
              <a:extLst>
                <a:ext uri="{FF2B5EF4-FFF2-40B4-BE49-F238E27FC236}">
                  <a16:creationId xmlns:a16="http://schemas.microsoft.com/office/drawing/2014/main" id="{422518F3-1155-438C-8F8E-765D3519E615}"/>
                </a:ext>
              </a:extLst>
            </p:cNvPr>
            <p:cNvSpPr txBox="1">
              <a:spLocks noChangeArrowheads="1"/>
            </p:cNvSpPr>
            <p:nvPr/>
          </p:nvSpPr>
          <p:spPr bwMode="auto">
            <a:xfrm>
              <a:off x="5376" y="2315"/>
              <a:ext cx="192"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t</a:t>
              </a:r>
            </a:p>
          </p:txBody>
        </p:sp>
        <p:sp>
          <p:nvSpPr>
            <p:cNvPr id="14376" name="Text Box 40">
              <a:extLst>
                <a:ext uri="{FF2B5EF4-FFF2-40B4-BE49-F238E27FC236}">
                  <a16:creationId xmlns:a16="http://schemas.microsoft.com/office/drawing/2014/main" id="{63A57F1D-36E2-49EA-A06C-8B72993AA700}"/>
                </a:ext>
              </a:extLst>
            </p:cNvPr>
            <p:cNvSpPr txBox="1">
              <a:spLocks noChangeArrowheads="1"/>
            </p:cNvSpPr>
            <p:nvPr/>
          </p:nvSpPr>
          <p:spPr bwMode="auto">
            <a:xfrm>
              <a:off x="577" y="1292"/>
              <a:ext cx="24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9</a:t>
              </a:r>
            </a:p>
          </p:txBody>
        </p:sp>
        <p:sp>
          <p:nvSpPr>
            <p:cNvPr id="14377" name="Text Box 41">
              <a:extLst>
                <a:ext uri="{FF2B5EF4-FFF2-40B4-BE49-F238E27FC236}">
                  <a16:creationId xmlns:a16="http://schemas.microsoft.com/office/drawing/2014/main" id="{D640A7B6-6A5C-40D4-B0F6-7E571AA1B455}"/>
                </a:ext>
              </a:extLst>
            </p:cNvPr>
            <p:cNvSpPr txBox="1">
              <a:spLocks noChangeArrowheads="1"/>
            </p:cNvSpPr>
            <p:nvPr/>
          </p:nvSpPr>
          <p:spPr bwMode="auto">
            <a:xfrm>
              <a:off x="768" y="1705"/>
              <a:ext cx="287"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7</a:t>
              </a:r>
            </a:p>
          </p:txBody>
        </p:sp>
        <p:sp>
          <p:nvSpPr>
            <p:cNvPr id="14378" name="Text Box 42">
              <a:extLst>
                <a:ext uri="{FF2B5EF4-FFF2-40B4-BE49-F238E27FC236}">
                  <a16:creationId xmlns:a16="http://schemas.microsoft.com/office/drawing/2014/main" id="{0320B804-B721-4A5D-ABEF-8149BDFB40A7}"/>
                </a:ext>
              </a:extLst>
            </p:cNvPr>
            <p:cNvSpPr txBox="1">
              <a:spLocks noChangeArrowheads="1"/>
            </p:cNvSpPr>
            <p:nvPr/>
          </p:nvSpPr>
          <p:spPr bwMode="auto">
            <a:xfrm>
              <a:off x="912" y="2208"/>
              <a:ext cx="24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3</a:t>
              </a:r>
            </a:p>
          </p:txBody>
        </p:sp>
        <p:sp>
          <p:nvSpPr>
            <p:cNvPr id="14379" name="Text Box 43">
              <a:extLst>
                <a:ext uri="{FF2B5EF4-FFF2-40B4-BE49-F238E27FC236}">
                  <a16:creationId xmlns:a16="http://schemas.microsoft.com/office/drawing/2014/main" id="{255A81B8-FB05-4A13-97C8-9C9DFF6C7EC3}"/>
                </a:ext>
              </a:extLst>
            </p:cNvPr>
            <p:cNvSpPr txBox="1">
              <a:spLocks noChangeArrowheads="1"/>
            </p:cNvSpPr>
            <p:nvPr/>
          </p:nvSpPr>
          <p:spPr bwMode="auto">
            <a:xfrm>
              <a:off x="720" y="2880"/>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2</a:t>
              </a:r>
            </a:p>
          </p:txBody>
        </p:sp>
        <p:sp>
          <p:nvSpPr>
            <p:cNvPr id="14380" name="Text Box 44">
              <a:extLst>
                <a:ext uri="{FF2B5EF4-FFF2-40B4-BE49-F238E27FC236}">
                  <a16:creationId xmlns:a16="http://schemas.microsoft.com/office/drawing/2014/main" id="{D990FC8A-D173-4D5D-B9AA-B5677BD13CB7}"/>
                </a:ext>
              </a:extLst>
            </p:cNvPr>
            <p:cNvSpPr txBox="1">
              <a:spLocks noChangeArrowheads="1"/>
            </p:cNvSpPr>
            <p:nvPr/>
          </p:nvSpPr>
          <p:spPr bwMode="auto">
            <a:xfrm>
              <a:off x="4752" y="1309"/>
              <a:ext cx="24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4</a:t>
              </a:r>
            </a:p>
          </p:txBody>
        </p:sp>
        <p:sp>
          <p:nvSpPr>
            <p:cNvPr id="14381" name="Text Box 45">
              <a:extLst>
                <a:ext uri="{FF2B5EF4-FFF2-40B4-BE49-F238E27FC236}">
                  <a16:creationId xmlns:a16="http://schemas.microsoft.com/office/drawing/2014/main" id="{90C68038-6A16-4CF5-87BF-FE9981214F67}"/>
                </a:ext>
              </a:extLst>
            </p:cNvPr>
            <p:cNvSpPr txBox="1">
              <a:spLocks noChangeArrowheads="1"/>
            </p:cNvSpPr>
            <p:nvPr/>
          </p:nvSpPr>
          <p:spPr bwMode="auto">
            <a:xfrm>
              <a:off x="4668" y="1919"/>
              <a:ext cx="33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2</a:t>
              </a:r>
            </a:p>
          </p:txBody>
        </p:sp>
        <p:sp>
          <p:nvSpPr>
            <p:cNvPr id="14382" name="Text Box 46">
              <a:extLst>
                <a:ext uri="{FF2B5EF4-FFF2-40B4-BE49-F238E27FC236}">
                  <a16:creationId xmlns:a16="http://schemas.microsoft.com/office/drawing/2014/main" id="{DC136977-A560-4B3E-B972-3DC194C1C557}"/>
                </a:ext>
              </a:extLst>
            </p:cNvPr>
            <p:cNvSpPr txBox="1">
              <a:spLocks noChangeArrowheads="1"/>
            </p:cNvSpPr>
            <p:nvPr/>
          </p:nvSpPr>
          <p:spPr bwMode="auto">
            <a:xfrm>
              <a:off x="4799" y="2701"/>
              <a:ext cx="28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5</a:t>
              </a:r>
            </a:p>
          </p:txBody>
        </p:sp>
        <p:sp>
          <p:nvSpPr>
            <p:cNvPr id="14383" name="Text Box 47">
              <a:extLst>
                <a:ext uri="{FF2B5EF4-FFF2-40B4-BE49-F238E27FC236}">
                  <a16:creationId xmlns:a16="http://schemas.microsoft.com/office/drawing/2014/main" id="{1DA63857-9F72-42F2-B094-1555D2D81C58}"/>
                </a:ext>
              </a:extLst>
            </p:cNvPr>
            <p:cNvSpPr txBox="1">
              <a:spLocks noChangeArrowheads="1"/>
            </p:cNvSpPr>
            <p:nvPr/>
          </p:nvSpPr>
          <p:spPr bwMode="auto">
            <a:xfrm>
              <a:off x="3360" y="3167"/>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2"/>
                  </a:solidFill>
                  <a:ea typeface="华文中宋" panose="02010600040101010101" pitchFamily="2" charset="-122"/>
                </a:rPr>
                <a:t>6</a:t>
              </a:r>
              <a:endParaRPr lang="en-US" altLang="zh-CN" sz="2800" dirty="0">
                <a:ea typeface="华文中宋" panose="02010600040101010101" pitchFamily="2" charset="-122"/>
              </a:endParaRPr>
            </a:p>
          </p:txBody>
        </p:sp>
        <p:sp>
          <p:nvSpPr>
            <p:cNvPr id="14384" name="Text Box 48">
              <a:extLst>
                <a:ext uri="{FF2B5EF4-FFF2-40B4-BE49-F238E27FC236}">
                  <a16:creationId xmlns:a16="http://schemas.microsoft.com/office/drawing/2014/main" id="{75688B1D-D6B0-4A53-866F-192EFD51556F}"/>
                </a:ext>
              </a:extLst>
            </p:cNvPr>
            <p:cNvSpPr txBox="1">
              <a:spLocks noChangeArrowheads="1"/>
            </p:cNvSpPr>
            <p:nvPr/>
          </p:nvSpPr>
          <p:spPr bwMode="auto">
            <a:xfrm>
              <a:off x="3456" y="2533"/>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5</a:t>
              </a:r>
            </a:p>
          </p:txBody>
        </p:sp>
        <p:sp>
          <p:nvSpPr>
            <p:cNvPr id="14385" name="Text Box 49">
              <a:extLst>
                <a:ext uri="{FF2B5EF4-FFF2-40B4-BE49-F238E27FC236}">
                  <a16:creationId xmlns:a16="http://schemas.microsoft.com/office/drawing/2014/main" id="{AA5E7859-1246-451E-9881-3A3BD5C08046}"/>
                </a:ext>
              </a:extLst>
            </p:cNvPr>
            <p:cNvSpPr txBox="1">
              <a:spLocks noChangeArrowheads="1"/>
            </p:cNvSpPr>
            <p:nvPr/>
          </p:nvSpPr>
          <p:spPr bwMode="auto">
            <a:xfrm>
              <a:off x="3372" y="1932"/>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1"/>
                  </a:solidFill>
                  <a:ea typeface="华文中宋" panose="02010600040101010101" pitchFamily="2" charset="-122"/>
                </a:rPr>
                <a:t>3</a:t>
              </a:r>
              <a:endParaRPr lang="en-US" altLang="zh-CN" sz="2800" dirty="0">
                <a:ea typeface="华文中宋" panose="02010600040101010101" pitchFamily="2" charset="-122"/>
              </a:endParaRPr>
            </a:p>
          </p:txBody>
        </p:sp>
        <p:sp>
          <p:nvSpPr>
            <p:cNvPr id="14386" name="Text Box 50">
              <a:extLst>
                <a:ext uri="{FF2B5EF4-FFF2-40B4-BE49-F238E27FC236}">
                  <a16:creationId xmlns:a16="http://schemas.microsoft.com/office/drawing/2014/main" id="{91481BCB-0A34-4C53-B906-C0F7B1AE30A1}"/>
                </a:ext>
              </a:extLst>
            </p:cNvPr>
            <p:cNvSpPr txBox="1">
              <a:spLocks noChangeArrowheads="1"/>
            </p:cNvSpPr>
            <p:nvPr/>
          </p:nvSpPr>
          <p:spPr bwMode="auto">
            <a:xfrm>
              <a:off x="2976" y="1668"/>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1"/>
                  </a:solidFill>
                  <a:ea typeface="华文中宋" panose="02010600040101010101" pitchFamily="2" charset="-122"/>
                </a:rPr>
                <a:t>4</a:t>
              </a:r>
              <a:endParaRPr lang="en-US" altLang="zh-CN" sz="2800" dirty="0">
                <a:ea typeface="华文中宋" panose="02010600040101010101" pitchFamily="2" charset="-122"/>
              </a:endParaRPr>
            </a:p>
          </p:txBody>
        </p:sp>
        <p:sp>
          <p:nvSpPr>
            <p:cNvPr id="14387" name="Text Box 51">
              <a:extLst>
                <a:ext uri="{FF2B5EF4-FFF2-40B4-BE49-F238E27FC236}">
                  <a16:creationId xmlns:a16="http://schemas.microsoft.com/office/drawing/2014/main" id="{7A642CE1-1291-42F8-97BB-647C7EF4BADE}"/>
                </a:ext>
              </a:extLst>
            </p:cNvPr>
            <p:cNvSpPr txBox="1">
              <a:spLocks noChangeArrowheads="1"/>
            </p:cNvSpPr>
            <p:nvPr/>
          </p:nvSpPr>
          <p:spPr bwMode="auto">
            <a:xfrm>
              <a:off x="3216" y="1249"/>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tx2"/>
                  </a:solidFill>
                  <a:ea typeface="华文中宋" panose="02010600040101010101" pitchFamily="2" charset="-122"/>
                </a:rPr>
                <a:t>5</a:t>
              </a:r>
              <a:endParaRPr lang="en-US" altLang="zh-CN" sz="2800" dirty="0">
                <a:ea typeface="华文中宋" panose="02010600040101010101" pitchFamily="2" charset="-122"/>
              </a:endParaRPr>
            </a:p>
          </p:txBody>
        </p:sp>
        <p:sp>
          <p:nvSpPr>
            <p:cNvPr id="14388" name="Text Box 52">
              <a:extLst>
                <a:ext uri="{FF2B5EF4-FFF2-40B4-BE49-F238E27FC236}">
                  <a16:creationId xmlns:a16="http://schemas.microsoft.com/office/drawing/2014/main" id="{4992ED75-9370-4A3B-844F-3B1128177CE5}"/>
                </a:ext>
              </a:extLst>
            </p:cNvPr>
            <p:cNvSpPr txBox="1">
              <a:spLocks noChangeArrowheads="1"/>
            </p:cNvSpPr>
            <p:nvPr/>
          </p:nvSpPr>
          <p:spPr bwMode="auto">
            <a:xfrm>
              <a:off x="3324" y="863"/>
              <a:ext cx="289"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tx2"/>
                  </a:solidFill>
                  <a:ea typeface="华文中宋" panose="02010600040101010101" pitchFamily="2" charset="-122"/>
                </a:rPr>
                <a:t>6</a:t>
              </a:r>
              <a:endParaRPr lang="en-US" altLang="zh-CN" sz="2800" dirty="0">
                <a:ea typeface="华文中宋" panose="02010600040101010101" pitchFamily="2" charset="-122"/>
              </a:endParaRPr>
            </a:p>
          </p:txBody>
        </p:sp>
        <p:sp>
          <p:nvSpPr>
            <p:cNvPr id="14389" name="Text Box 53">
              <a:extLst>
                <a:ext uri="{FF2B5EF4-FFF2-40B4-BE49-F238E27FC236}">
                  <a16:creationId xmlns:a16="http://schemas.microsoft.com/office/drawing/2014/main" id="{AE74FC61-88A2-441C-825F-629ACD6A4FAC}"/>
                </a:ext>
              </a:extLst>
            </p:cNvPr>
            <p:cNvSpPr txBox="1">
              <a:spLocks noChangeArrowheads="1"/>
            </p:cNvSpPr>
            <p:nvPr/>
          </p:nvSpPr>
          <p:spPr bwMode="auto">
            <a:xfrm>
              <a:off x="2064" y="3421"/>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tx2"/>
                  </a:solidFill>
                  <a:ea typeface="华文中宋" panose="02010600040101010101" pitchFamily="2" charset="-122"/>
                </a:rPr>
                <a:t>8</a:t>
              </a:r>
              <a:endParaRPr lang="en-US" altLang="zh-CN" sz="2800" dirty="0">
                <a:ea typeface="华文中宋" panose="02010600040101010101" pitchFamily="2" charset="-122"/>
              </a:endParaRPr>
            </a:p>
          </p:txBody>
        </p:sp>
        <p:sp>
          <p:nvSpPr>
            <p:cNvPr id="14390" name="Text Box 54">
              <a:extLst>
                <a:ext uri="{FF2B5EF4-FFF2-40B4-BE49-F238E27FC236}">
                  <a16:creationId xmlns:a16="http://schemas.microsoft.com/office/drawing/2014/main" id="{D9575E9A-E1F7-45D9-9233-AC038E72F555}"/>
                </a:ext>
              </a:extLst>
            </p:cNvPr>
            <p:cNvSpPr txBox="1">
              <a:spLocks noChangeArrowheads="1"/>
            </p:cNvSpPr>
            <p:nvPr/>
          </p:nvSpPr>
          <p:spPr bwMode="auto">
            <a:xfrm>
              <a:off x="1488" y="3072"/>
              <a:ext cx="384" cy="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tx2"/>
                  </a:solidFill>
                  <a:ea typeface="华文中宋" panose="02010600040101010101" pitchFamily="2" charset="-122"/>
                </a:rPr>
                <a:t>11</a:t>
              </a:r>
              <a:endParaRPr lang="en-US" altLang="zh-CN" sz="2800" dirty="0">
                <a:ea typeface="华文中宋" panose="02010600040101010101" pitchFamily="2" charset="-122"/>
              </a:endParaRPr>
            </a:p>
          </p:txBody>
        </p:sp>
        <p:sp>
          <p:nvSpPr>
            <p:cNvPr id="14391" name="Text Box 55">
              <a:extLst>
                <a:ext uri="{FF2B5EF4-FFF2-40B4-BE49-F238E27FC236}">
                  <a16:creationId xmlns:a16="http://schemas.microsoft.com/office/drawing/2014/main" id="{7FF64680-0F8B-4C9A-9CC9-6B242E3300A1}"/>
                </a:ext>
              </a:extLst>
            </p:cNvPr>
            <p:cNvSpPr txBox="1">
              <a:spLocks noChangeArrowheads="1"/>
            </p:cNvSpPr>
            <p:nvPr/>
          </p:nvSpPr>
          <p:spPr bwMode="auto">
            <a:xfrm>
              <a:off x="1692" y="2520"/>
              <a:ext cx="384" cy="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rgbClr val="FF0000"/>
                  </a:solidFill>
                  <a:ea typeface="华文中宋" panose="02010600040101010101" pitchFamily="2" charset="-122"/>
                </a:rPr>
                <a:t>11</a:t>
              </a:r>
            </a:p>
          </p:txBody>
        </p:sp>
        <p:sp>
          <p:nvSpPr>
            <p:cNvPr id="14392" name="Text Box 56">
              <a:extLst>
                <a:ext uri="{FF2B5EF4-FFF2-40B4-BE49-F238E27FC236}">
                  <a16:creationId xmlns:a16="http://schemas.microsoft.com/office/drawing/2014/main" id="{2167CC52-1769-425C-A2BE-E93E44771878}"/>
                </a:ext>
              </a:extLst>
            </p:cNvPr>
            <p:cNvSpPr txBox="1">
              <a:spLocks noChangeArrowheads="1"/>
            </p:cNvSpPr>
            <p:nvPr/>
          </p:nvSpPr>
          <p:spPr bwMode="auto">
            <a:xfrm>
              <a:off x="1776" y="1873"/>
              <a:ext cx="24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7</a:t>
              </a:r>
            </a:p>
          </p:txBody>
        </p:sp>
        <p:sp>
          <p:nvSpPr>
            <p:cNvPr id="14393" name="Text Box 57">
              <a:extLst>
                <a:ext uri="{FF2B5EF4-FFF2-40B4-BE49-F238E27FC236}">
                  <a16:creationId xmlns:a16="http://schemas.microsoft.com/office/drawing/2014/main" id="{BD51EAAB-44DC-4DCE-BB1E-F4EBDF098A6E}"/>
                </a:ext>
              </a:extLst>
            </p:cNvPr>
            <p:cNvSpPr txBox="1">
              <a:spLocks noChangeArrowheads="1"/>
            </p:cNvSpPr>
            <p:nvPr/>
          </p:nvSpPr>
          <p:spPr bwMode="auto">
            <a:xfrm>
              <a:off x="2292" y="1045"/>
              <a:ext cx="240" cy="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2</a:t>
              </a:r>
            </a:p>
          </p:txBody>
        </p:sp>
        <p:sp>
          <p:nvSpPr>
            <p:cNvPr id="14394" name="Text Box 58">
              <a:extLst>
                <a:ext uri="{FF2B5EF4-FFF2-40B4-BE49-F238E27FC236}">
                  <a16:creationId xmlns:a16="http://schemas.microsoft.com/office/drawing/2014/main" id="{71DBDCDC-F524-492A-B97A-0F6C27981179}"/>
                </a:ext>
              </a:extLst>
            </p:cNvPr>
            <p:cNvSpPr txBox="1">
              <a:spLocks noChangeArrowheads="1"/>
            </p:cNvSpPr>
            <p:nvPr/>
          </p:nvSpPr>
          <p:spPr bwMode="auto">
            <a:xfrm>
              <a:off x="1500" y="1032"/>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2"/>
                  </a:solidFill>
                  <a:ea typeface="华文中宋" panose="02010600040101010101" pitchFamily="2" charset="-122"/>
                </a:rPr>
                <a:t>1</a:t>
              </a:r>
              <a:endParaRPr lang="en-US" altLang="zh-CN" sz="2800" dirty="0">
                <a:ea typeface="华文中宋" panose="02010600040101010101" pitchFamily="2" charset="-122"/>
              </a:endParaRPr>
            </a:p>
          </p:txBody>
        </p:sp>
        <p:sp>
          <p:nvSpPr>
            <p:cNvPr id="14395" name="Text Box 59">
              <a:extLst>
                <a:ext uri="{FF2B5EF4-FFF2-40B4-BE49-F238E27FC236}">
                  <a16:creationId xmlns:a16="http://schemas.microsoft.com/office/drawing/2014/main" id="{11854BA4-CC27-4675-8698-861684F4CE5A}"/>
                </a:ext>
              </a:extLst>
            </p:cNvPr>
            <p:cNvSpPr txBox="1">
              <a:spLocks noChangeArrowheads="1"/>
            </p:cNvSpPr>
            <p:nvPr/>
          </p:nvSpPr>
          <p:spPr bwMode="auto">
            <a:xfrm>
              <a:off x="2520" y="1536"/>
              <a:ext cx="240"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2"/>
                  </a:solidFill>
                  <a:ea typeface="华文中宋" panose="02010600040101010101" pitchFamily="2" charset="-122"/>
                </a:rPr>
                <a:t>2</a:t>
              </a:r>
              <a:endParaRPr lang="en-US" altLang="zh-CN" sz="2800" dirty="0">
                <a:ea typeface="华文中宋" panose="02010600040101010101" pitchFamily="2" charset="-122"/>
              </a:endParaRPr>
            </a:p>
          </p:txBody>
        </p:sp>
        <p:sp>
          <p:nvSpPr>
            <p:cNvPr id="14396" name="Text Box 60">
              <a:extLst>
                <a:ext uri="{FF2B5EF4-FFF2-40B4-BE49-F238E27FC236}">
                  <a16:creationId xmlns:a16="http://schemas.microsoft.com/office/drawing/2014/main" id="{0A64BBA3-2715-4AA2-9A65-0006F867C8CB}"/>
                </a:ext>
              </a:extLst>
            </p:cNvPr>
            <p:cNvSpPr txBox="1">
              <a:spLocks noChangeArrowheads="1"/>
            </p:cNvSpPr>
            <p:nvPr/>
          </p:nvSpPr>
          <p:spPr bwMode="auto">
            <a:xfrm>
              <a:off x="2016" y="624"/>
              <a:ext cx="288"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chemeClr val="accent2"/>
                  </a:solidFill>
                  <a:ea typeface="华文中宋" panose="02010600040101010101" pitchFamily="2" charset="-122"/>
                </a:rPr>
                <a:t>4</a:t>
              </a:r>
              <a:endParaRPr lang="en-US" altLang="zh-CN" sz="2800" dirty="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5845D76B-23CA-40F4-A8EC-7A32EC83884C}"/>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latin typeface="华文中宋" panose="02010600040101010101" pitchFamily="2" charset="-122"/>
              </a:rPr>
              <a:t>问题</a:t>
            </a:r>
            <a:r>
              <a:rPr lang="en-US" altLang="zh-CN" sz="4000" b="1" dirty="0">
                <a:solidFill>
                  <a:srgbClr val="A50021"/>
                </a:solidFill>
                <a:latin typeface="Palatino Linotype" panose="02040502050505030304" pitchFamily="18" charset="0"/>
              </a:rPr>
              <a:t>3</a:t>
            </a:r>
            <a:r>
              <a:rPr lang="zh-CN" altLang="en-US" sz="4000" b="1" dirty="0">
                <a:solidFill>
                  <a:srgbClr val="A50021"/>
                </a:solidFill>
                <a:latin typeface="华文中宋" panose="02010600040101010101" pitchFamily="2" charset="-122"/>
              </a:rPr>
              <a:t>：背包问题</a:t>
            </a:r>
          </a:p>
        </p:txBody>
      </p:sp>
      <p:sp>
        <p:nvSpPr>
          <p:cNvPr id="7171" name="Rectangle 3">
            <a:extLst>
              <a:ext uri="{FF2B5EF4-FFF2-40B4-BE49-F238E27FC236}">
                <a16:creationId xmlns:a16="http://schemas.microsoft.com/office/drawing/2014/main" id="{A5BF399F-D881-40B4-9706-761FA98B2EEE}"/>
              </a:ext>
            </a:extLst>
          </p:cNvPr>
          <p:cNvSpPr>
            <a:spLocks noGrp="1" noChangeArrowheads="1"/>
          </p:cNvSpPr>
          <p:nvPr>
            <p:ph type="body" idx="1"/>
          </p:nvPr>
        </p:nvSpPr>
        <p:spPr bwMode="auto">
          <a:xfrm>
            <a:off x="685800" y="1371600"/>
            <a:ext cx="8029575" cy="27717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120000"/>
              </a:lnSpc>
              <a:spcBef>
                <a:spcPct val="0"/>
              </a:spcBef>
            </a:pPr>
            <a:r>
              <a:rPr lang="zh-CN" altLang="en-US" sz="2800" b="1" dirty="0">
                <a:latin typeface="Palatino Linotype" panose="02040502050505030304" pitchFamily="18" charset="0"/>
              </a:rPr>
              <a:t>有一旅行者要从</a:t>
            </a:r>
            <a:r>
              <a:rPr lang="en-US" altLang="zh-CN" sz="2800" b="1" dirty="0">
                <a:latin typeface="Palatino Linotype" panose="02040502050505030304" pitchFamily="18" charset="0"/>
              </a:rPr>
              <a:t>n</a:t>
            </a:r>
            <a:r>
              <a:rPr lang="zh-CN" altLang="en-US" sz="2800" b="1" dirty="0">
                <a:latin typeface="Palatino Linotype" panose="02040502050505030304" pitchFamily="18" charset="0"/>
              </a:rPr>
              <a:t>种物品中选取体积不超过</a:t>
            </a:r>
            <a:r>
              <a:rPr lang="en-US" altLang="zh-CN" sz="2800" b="1" dirty="0">
                <a:latin typeface="Palatino Linotype" panose="02040502050505030304" pitchFamily="18" charset="0"/>
              </a:rPr>
              <a:t>C</a:t>
            </a:r>
            <a:r>
              <a:rPr lang="zh-CN" altLang="en-US" sz="2800" b="1" dirty="0">
                <a:latin typeface="Palatino Linotype" panose="02040502050505030304" pitchFamily="18" charset="0"/>
              </a:rPr>
              <a:t>的行李随身携带，要求包装得最满。</a:t>
            </a:r>
          </a:p>
          <a:p>
            <a:pPr algn="just" eaLnBrk="1" hangingPunct="1">
              <a:lnSpc>
                <a:spcPct val="120000"/>
              </a:lnSpc>
              <a:spcBef>
                <a:spcPct val="0"/>
              </a:spcBef>
            </a:pPr>
            <a:r>
              <a:rPr lang="zh-CN" altLang="en-US" sz="2800" b="1" dirty="0">
                <a:latin typeface="Palatino Linotype" panose="02040502050505030304" pitchFamily="18" charset="0"/>
              </a:rPr>
              <a:t>例：设有</a:t>
            </a:r>
            <a:r>
              <a:rPr lang="en-US" altLang="zh-CN" sz="2800" b="1" dirty="0">
                <a:latin typeface="Palatino Linotype" panose="02040502050505030304" pitchFamily="18" charset="0"/>
              </a:rPr>
              <a:t>n=8</a:t>
            </a:r>
            <a:r>
              <a:rPr lang="zh-CN" altLang="en-US" sz="2800" b="1" dirty="0">
                <a:latin typeface="Palatino Linotype" panose="02040502050505030304" pitchFamily="18" charset="0"/>
              </a:rPr>
              <a:t>个体积分别为</a:t>
            </a:r>
            <a:r>
              <a:rPr lang="en-US" altLang="zh-CN" sz="2800" b="1" dirty="0">
                <a:latin typeface="Palatino Linotype" panose="02040502050505030304" pitchFamily="18" charset="0"/>
              </a:rPr>
              <a:t>54</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45</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43</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29</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23</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21</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14</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1</a:t>
            </a:r>
            <a:r>
              <a:rPr lang="zh-CN" altLang="en-US" sz="2800" b="1" dirty="0">
                <a:latin typeface="Palatino Linotype" panose="02040502050505030304" pitchFamily="18" charset="0"/>
              </a:rPr>
              <a:t>的物体和一个容积为</a:t>
            </a:r>
            <a:r>
              <a:rPr lang="en-US" altLang="zh-CN" sz="2800" b="1" dirty="0">
                <a:latin typeface="Palatino Linotype" panose="02040502050505030304" pitchFamily="18" charset="0"/>
              </a:rPr>
              <a:t>C=110</a:t>
            </a:r>
            <a:r>
              <a:rPr lang="zh-CN" altLang="en-US" sz="2800" b="1" dirty="0">
                <a:latin typeface="Palatino Linotype" panose="02040502050505030304" pitchFamily="18" charset="0"/>
              </a:rPr>
              <a:t>的背包，问选择哪几个物体装入背包可以使其装的最满。</a:t>
            </a:r>
          </a:p>
        </p:txBody>
      </p:sp>
      <p:sp>
        <p:nvSpPr>
          <p:cNvPr id="7172" name="Text Box 4">
            <a:extLst>
              <a:ext uri="{FF2B5EF4-FFF2-40B4-BE49-F238E27FC236}">
                <a16:creationId xmlns:a16="http://schemas.microsoft.com/office/drawing/2014/main" id="{3EA3094F-541A-4FAC-B4CB-E01FC1F84E09}"/>
              </a:ext>
            </a:extLst>
          </p:cNvPr>
          <p:cNvSpPr txBox="1">
            <a:spLocks noChangeArrowheads="1"/>
          </p:cNvSpPr>
          <p:nvPr/>
        </p:nvSpPr>
        <p:spPr bwMode="auto">
          <a:xfrm>
            <a:off x="685800" y="4111625"/>
            <a:ext cx="800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zh-CN" sz="2800"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nodePh="1">
                                  <p:stCondLst>
                                    <p:cond delay="0"/>
                                  </p:stCondLst>
                                  <p:endCondLst>
                                    <p:cond evt="begin" delay="0">
                                      <p:tn val="17"/>
                                    </p:cond>
                                  </p:endCondLst>
                                  <p:childTnLst>
                                    <p:set>
                                      <p:cBhvr>
                                        <p:cTn id="18" dur="1" fill="hold">
                                          <p:stCondLst>
                                            <p:cond delay="0"/>
                                          </p:stCondLst>
                                        </p:cTn>
                                        <p:tgtEl>
                                          <p:spTgt spid="7172"/>
                                        </p:tgtEl>
                                        <p:attrNameLst>
                                          <p:attrName>style.visibility</p:attrName>
                                        </p:attrNameLst>
                                      </p:cBhvr>
                                      <p:to>
                                        <p:strVal val="visible"/>
                                      </p:to>
                                    </p:set>
                                    <p:anim calcmode="lin" valueType="num">
                                      <p:cBhvr additive="base">
                                        <p:cTn id="19" dur="500" fill="hold"/>
                                        <p:tgtEl>
                                          <p:spTgt spid="7172"/>
                                        </p:tgtEl>
                                        <p:attrNameLst>
                                          <p:attrName>ppt_x</p:attrName>
                                        </p:attrNameLst>
                                      </p:cBhvr>
                                      <p:tavLst>
                                        <p:tav tm="0">
                                          <p:val>
                                            <p:strVal val="0-#ppt_w/2"/>
                                          </p:val>
                                        </p:tav>
                                        <p:tav tm="100000">
                                          <p:val>
                                            <p:strVal val="#ppt_x"/>
                                          </p:val>
                                        </p:tav>
                                      </p:tavLst>
                                    </p:anim>
                                    <p:anim calcmode="lin" valueType="num">
                                      <p:cBhvr additive="base">
                                        <p:cTn id="20" dur="500" fill="hold"/>
                                        <p:tgtEl>
                                          <p:spTgt spid="7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P spid="717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a:extLst>
              <a:ext uri="{FF2B5EF4-FFF2-40B4-BE49-F238E27FC236}">
                <a16:creationId xmlns:a16="http://schemas.microsoft.com/office/drawing/2014/main" id="{B2E19B85-DC9B-45EF-9D76-B17722AE8A62}"/>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latin typeface="华文中宋" panose="02010600040101010101" pitchFamily="2" charset="-122"/>
              </a:rPr>
              <a:t>问题</a:t>
            </a:r>
            <a:r>
              <a:rPr lang="en-US" altLang="zh-CN" sz="4000" b="1" dirty="0">
                <a:solidFill>
                  <a:srgbClr val="A50021"/>
                </a:solidFill>
                <a:latin typeface="华文中宋" panose="02010600040101010101" pitchFamily="2" charset="-122"/>
              </a:rPr>
              <a:t>4</a:t>
            </a:r>
            <a:r>
              <a:rPr lang="zh-CN" altLang="en-US" sz="4000" b="1" dirty="0">
                <a:solidFill>
                  <a:srgbClr val="A50021"/>
                </a:solidFill>
                <a:latin typeface="华文中宋" panose="02010600040101010101" pitchFamily="2" charset="-122"/>
              </a:rPr>
              <a:t>：最长公共子序列问题</a:t>
            </a:r>
          </a:p>
        </p:txBody>
      </p:sp>
      <p:sp>
        <p:nvSpPr>
          <p:cNvPr id="16387" name="Rectangle 1027">
            <a:extLst>
              <a:ext uri="{FF2B5EF4-FFF2-40B4-BE49-F238E27FC236}">
                <a16:creationId xmlns:a16="http://schemas.microsoft.com/office/drawing/2014/main" id="{D3056FD0-2838-4B57-8155-4B446086241C}"/>
              </a:ext>
            </a:extLst>
          </p:cNvPr>
          <p:cNvSpPr>
            <a:spLocks noGrp="1" noChangeArrowheads="1"/>
          </p:cNvSpPr>
          <p:nvPr>
            <p:ph type="body" idx="1"/>
          </p:nvPr>
        </p:nvSpPr>
        <p:spPr bwMode="auto">
          <a:xfrm>
            <a:off x="685800" y="1600200"/>
            <a:ext cx="77724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spcBef>
                <a:spcPct val="50000"/>
              </a:spcBef>
              <a:buFontTx/>
              <a:buNone/>
            </a:pPr>
            <a:r>
              <a:rPr lang="en-US" altLang="zh-CN" sz="2800" b="1" dirty="0">
                <a:latin typeface="华文中宋" panose="02010600040101010101" pitchFamily="2" charset="-122"/>
              </a:rPr>
              <a:t>  </a:t>
            </a:r>
            <a:r>
              <a:rPr lang="zh-CN" altLang="en-US" sz="2800" b="1" dirty="0">
                <a:latin typeface="Palatino Linotype" panose="02040502050505030304" pitchFamily="18" charset="0"/>
              </a:rPr>
              <a:t>给定两个序列</a:t>
            </a:r>
            <a:r>
              <a:rPr lang="en-US" altLang="zh-CN" sz="2800" b="1" dirty="0">
                <a:latin typeface="Palatino Linotype" panose="02040502050505030304" pitchFamily="18" charset="0"/>
              </a:rPr>
              <a:t>x=&lt;x1,x2,x3,……,</a:t>
            </a:r>
            <a:r>
              <a:rPr lang="en-US" altLang="zh-CN" sz="2800" b="1" dirty="0" err="1">
                <a:latin typeface="Palatino Linotype" panose="02040502050505030304" pitchFamily="18" charset="0"/>
              </a:rPr>
              <a:t>xn</a:t>
            </a:r>
            <a:r>
              <a:rPr lang="en-US" altLang="zh-CN" sz="2800" b="1" dirty="0">
                <a:latin typeface="Palatino Linotype" panose="02040502050505030304" pitchFamily="18" charset="0"/>
              </a:rPr>
              <a:t>&gt;</a:t>
            </a:r>
            <a:r>
              <a:rPr lang="zh-CN" altLang="en-US" sz="2800" b="1" dirty="0">
                <a:latin typeface="Palatino Linotype" panose="02040502050505030304" pitchFamily="18" charset="0"/>
              </a:rPr>
              <a:t>和</a:t>
            </a:r>
            <a:r>
              <a:rPr lang="en-US" altLang="zh-CN" sz="2800" b="1" dirty="0">
                <a:latin typeface="Palatino Linotype" panose="02040502050505030304" pitchFamily="18" charset="0"/>
              </a:rPr>
              <a:t>y=&lt;y1,y2,……,</a:t>
            </a:r>
            <a:r>
              <a:rPr lang="en-US" altLang="zh-CN" sz="2800" b="1" dirty="0" err="1">
                <a:latin typeface="Palatino Linotype" panose="02040502050505030304" pitchFamily="18" charset="0"/>
              </a:rPr>
              <a:t>ym</a:t>
            </a:r>
            <a:r>
              <a:rPr lang="en-US" altLang="zh-CN" sz="2800" b="1" dirty="0">
                <a:latin typeface="Palatino Linotype" panose="02040502050505030304" pitchFamily="18" charset="0"/>
              </a:rPr>
              <a:t>&gt;,</a:t>
            </a:r>
            <a:r>
              <a:rPr lang="zh-CN" altLang="en-US" sz="2800" b="1" dirty="0">
                <a:latin typeface="Palatino Linotype" panose="02040502050505030304" pitchFamily="18" charset="0"/>
              </a:rPr>
              <a:t>要求找出</a:t>
            </a:r>
            <a:r>
              <a:rPr lang="en-US" altLang="zh-CN" sz="2800" b="1" dirty="0">
                <a:latin typeface="Palatino Linotype" panose="02040502050505030304" pitchFamily="18" charset="0"/>
              </a:rPr>
              <a:t>x</a:t>
            </a:r>
            <a:r>
              <a:rPr lang="zh-CN" altLang="en-US" sz="2800" b="1" dirty="0">
                <a:latin typeface="Palatino Linotype" panose="02040502050505030304" pitchFamily="18" charset="0"/>
              </a:rPr>
              <a:t>和</a:t>
            </a:r>
            <a:r>
              <a:rPr lang="en-US" altLang="zh-CN" sz="2800" b="1" dirty="0">
                <a:latin typeface="Palatino Linotype" panose="02040502050505030304" pitchFamily="18" charset="0"/>
              </a:rPr>
              <a:t>y </a:t>
            </a:r>
            <a:r>
              <a:rPr lang="zh-CN" altLang="en-US" sz="2800" b="1" dirty="0">
                <a:latin typeface="Palatino Linotype" panose="02040502050505030304" pitchFamily="18" charset="0"/>
              </a:rPr>
              <a:t>的一个最长公共子序列</a:t>
            </a:r>
          </a:p>
          <a:p>
            <a:pPr eaLnBrk="1" hangingPunct="1">
              <a:lnSpc>
                <a:spcPct val="140000"/>
              </a:lnSpc>
            </a:pPr>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32A6D4D-CC99-482F-B401-C4972BC3CCDE}"/>
              </a:ext>
            </a:extLst>
          </p:cNvPr>
          <p:cNvSpPr>
            <a:spLocks noGrp="1" noChangeArrowheads="1"/>
          </p:cNvSpPr>
          <p:nvPr>
            <p:ph type="title"/>
          </p:nvPr>
        </p:nvSpPr>
        <p:spPr bwMode="auto">
          <a:xfrm>
            <a:off x="685800" y="2590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pPr>
            <a:r>
              <a:rPr lang="en-US" altLang="zh-CN" b="1" dirty="0">
                <a:solidFill>
                  <a:srgbClr val="A50021"/>
                </a:solidFill>
                <a:latin typeface="华文中宋" panose="02010600040101010101" pitchFamily="2" charset="-122"/>
              </a:rPr>
              <a:t>3.1 </a:t>
            </a:r>
            <a:r>
              <a:rPr lang="zh-CN" altLang="en-US" b="1" dirty="0">
                <a:solidFill>
                  <a:srgbClr val="A50021"/>
                </a:solidFill>
                <a:latin typeface="华文中宋" panose="02010600040101010101" pitchFamily="2" charset="-122"/>
              </a:rPr>
              <a:t>矩阵连乘问题</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A57F505-0BD3-450C-9467-F85428F1722C}"/>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b="1" dirty="0">
                <a:solidFill>
                  <a:srgbClr val="A50021"/>
                </a:solidFill>
              </a:rPr>
              <a:t>3.1 </a:t>
            </a:r>
            <a:r>
              <a:rPr lang="zh-CN" altLang="en-US" sz="4000" b="1" dirty="0">
                <a:solidFill>
                  <a:srgbClr val="A50021"/>
                </a:solidFill>
              </a:rPr>
              <a:t>矩阵连乘问题</a:t>
            </a:r>
          </a:p>
        </p:txBody>
      </p:sp>
      <p:sp>
        <p:nvSpPr>
          <p:cNvPr id="19459" name="Rectangle 3">
            <a:extLst>
              <a:ext uri="{FF2B5EF4-FFF2-40B4-BE49-F238E27FC236}">
                <a16:creationId xmlns:a16="http://schemas.microsoft.com/office/drawing/2014/main" id="{8C861D72-93EE-4616-8D5F-C86D8886AA27}"/>
              </a:ext>
            </a:extLst>
          </p:cNvPr>
          <p:cNvSpPr>
            <a:spLocks noGrp="1" noChangeArrowheads="1"/>
          </p:cNvSpPr>
          <p:nvPr>
            <p:ph type="body" idx="1"/>
          </p:nvPr>
        </p:nvSpPr>
        <p:spPr bwMode="auto">
          <a:xfrm>
            <a:off x="304800" y="2133600"/>
            <a:ext cx="84582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zh-CN" altLang="en-US" sz="2800" b="1" dirty="0"/>
              <a:t>给定</a:t>
            </a:r>
            <a:r>
              <a:rPr lang="en-US" altLang="zh-CN" sz="2800" b="1" dirty="0"/>
              <a:t>n</a:t>
            </a:r>
            <a:r>
              <a:rPr lang="zh-CN" altLang="en-US" sz="2800" b="1" dirty="0"/>
              <a:t>个矩阵</a:t>
            </a:r>
            <a:r>
              <a:rPr lang="en-US" altLang="zh-CN" sz="2800" b="1" dirty="0"/>
              <a:t>A</a:t>
            </a:r>
            <a:r>
              <a:rPr lang="en-US" altLang="zh-CN" sz="2800" b="1" baseline="-25000" dirty="0"/>
              <a:t>1</a:t>
            </a:r>
            <a:r>
              <a:rPr lang="zh-CN" altLang="en-US" sz="2800" b="1" dirty="0"/>
              <a:t>，</a:t>
            </a:r>
            <a:r>
              <a:rPr lang="en-US" altLang="zh-CN" sz="2800" b="1" dirty="0"/>
              <a:t>A</a:t>
            </a:r>
            <a:r>
              <a:rPr lang="en-US" altLang="zh-CN" sz="2800" b="1" baseline="-25000" dirty="0"/>
              <a:t>2</a:t>
            </a:r>
            <a:r>
              <a:rPr lang="zh-CN" altLang="en-US" sz="2800" b="1" dirty="0"/>
              <a:t>，</a:t>
            </a:r>
            <a:r>
              <a:rPr lang="en-US" altLang="zh-CN" sz="2800" b="1" dirty="0"/>
              <a:t>…</a:t>
            </a:r>
            <a:r>
              <a:rPr lang="zh-CN" altLang="en-US" sz="2800" b="1" dirty="0"/>
              <a:t>，</a:t>
            </a:r>
            <a:r>
              <a:rPr lang="en-US" altLang="zh-CN" sz="2800" b="1" dirty="0"/>
              <a:t>A</a:t>
            </a:r>
            <a:r>
              <a:rPr lang="en-US" altLang="zh-CN" sz="2800" b="1" baseline="-25000" dirty="0"/>
              <a:t>n</a:t>
            </a:r>
            <a:r>
              <a:rPr lang="zh-CN" altLang="en-US" sz="2800" b="1" dirty="0"/>
              <a:t>，其中，</a:t>
            </a:r>
            <a:r>
              <a:rPr lang="en-US" altLang="zh-CN" sz="2800" b="1" dirty="0"/>
              <a:t>A</a:t>
            </a:r>
            <a:r>
              <a:rPr lang="en-US" altLang="zh-CN" sz="2800" b="1" baseline="-25000" dirty="0"/>
              <a:t>i</a:t>
            </a:r>
            <a:r>
              <a:rPr lang="zh-CN" altLang="en-US" sz="2800" b="1" dirty="0"/>
              <a:t>与</a:t>
            </a:r>
            <a:r>
              <a:rPr lang="en-US" altLang="zh-CN" sz="2800" b="1" dirty="0"/>
              <a:t>A</a:t>
            </a:r>
            <a:r>
              <a:rPr lang="en-US" altLang="zh-CN" sz="2800" b="1" baseline="-25000" dirty="0"/>
              <a:t>j+1</a:t>
            </a:r>
            <a:r>
              <a:rPr lang="zh-CN" altLang="en-US" sz="2800" b="1" dirty="0"/>
              <a:t>是可乘的，</a:t>
            </a:r>
            <a:r>
              <a:rPr lang="en-US" altLang="zh-CN" sz="2800" b="1" dirty="0" err="1"/>
              <a:t>i</a:t>
            </a:r>
            <a:r>
              <a:rPr lang="en-US" altLang="zh-CN" sz="2800" b="1" dirty="0"/>
              <a:t>=1</a:t>
            </a:r>
            <a:r>
              <a:rPr lang="zh-CN" altLang="en-US" sz="2800" b="1" dirty="0"/>
              <a:t>，</a:t>
            </a:r>
            <a:r>
              <a:rPr lang="en-US" altLang="zh-CN" sz="2800" b="1" dirty="0"/>
              <a:t>2</a:t>
            </a:r>
            <a:r>
              <a:rPr lang="zh-CN" altLang="en-US" sz="2800" b="1" dirty="0"/>
              <a:t>，</a:t>
            </a:r>
            <a:r>
              <a:rPr lang="en-US" altLang="zh-CN" sz="2800" b="1" dirty="0"/>
              <a:t>…</a:t>
            </a:r>
            <a:r>
              <a:rPr lang="zh-CN" altLang="en-US" sz="2800" b="1" dirty="0"/>
              <a:t>，</a:t>
            </a:r>
            <a:r>
              <a:rPr lang="en-US" altLang="zh-CN" sz="2800" b="1" dirty="0"/>
              <a:t>n-l</a:t>
            </a:r>
            <a:r>
              <a:rPr lang="zh-CN" altLang="en-US" sz="2800" b="1" dirty="0"/>
              <a:t>，现要计算出这</a:t>
            </a:r>
            <a:r>
              <a:rPr lang="en-US" altLang="zh-CN" sz="2800" b="1" dirty="0"/>
              <a:t>n</a:t>
            </a:r>
            <a:r>
              <a:rPr lang="zh-CN" altLang="en-US" sz="2800" b="1" dirty="0"/>
              <a:t>个矩阵的连乘积</a:t>
            </a:r>
            <a:r>
              <a:rPr lang="en-US" altLang="zh-CN" sz="2800" b="1" dirty="0"/>
              <a:t>A</a:t>
            </a:r>
            <a:r>
              <a:rPr lang="en-US" altLang="zh-CN" sz="2800" b="1" baseline="-25000" dirty="0"/>
              <a:t>1</a:t>
            </a:r>
            <a:r>
              <a:rPr lang="en-US" altLang="zh-CN" sz="2800" b="1" dirty="0"/>
              <a:t>A</a:t>
            </a:r>
            <a:r>
              <a:rPr lang="en-US" altLang="zh-CN" sz="2800" b="1" baseline="-25000" dirty="0"/>
              <a:t>2</a:t>
            </a:r>
            <a:r>
              <a:rPr lang="en-US" altLang="zh-CN" sz="2800" b="1" dirty="0"/>
              <a:t>…A</a:t>
            </a:r>
            <a:r>
              <a:rPr lang="en-US" altLang="zh-CN" sz="2800" b="1" baseline="-25000" dirty="0"/>
              <a:t>n</a:t>
            </a:r>
            <a:r>
              <a:rPr lang="zh-CN" altLang="en-US" sz="2800" b="1" dirty="0"/>
              <a:t>。</a:t>
            </a:r>
          </a:p>
        </p:txBody>
      </p:sp>
      <p:sp>
        <p:nvSpPr>
          <p:cNvPr id="19461" name="Text Box 5">
            <a:extLst>
              <a:ext uri="{FF2B5EF4-FFF2-40B4-BE49-F238E27FC236}">
                <a16:creationId xmlns:a16="http://schemas.microsoft.com/office/drawing/2014/main" id="{7B0CFF70-A747-4D45-84B9-4D59D309DCE4}"/>
              </a:ext>
            </a:extLst>
          </p:cNvPr>
          <p:cNvSpPr txBox="1">
            <a:spLocks noChangeArrowheads="1"/>
          </p:cNvSpPr>
          <p:nvPr/>
        </p:nvSpPr>
        <p:spPr bwMode="auto">
          <a:xfrm>
            <a:off x="285750" y="3786188"/>
            <a:ext cx="8458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FontTx/>
              <a:buChar char="•"/>
            </a:pPr>
            <a:r>
              <a:rPr lang="zh-CN" altLang="en-US" sz="2800" dirty="0">
                <a:solidFill>
                  <a:srgbClr val="FF0000"/>
                </a:solidFill>
                <a:ea typeface="华文中宋" panose="02010600040101010101" pitchFamily="2" charset="-122"/>
              </a:rPr>
              <a:t>矩阵连乘问题：</a:t>
            </a:r>
            <a:r>
              <a:rPr lang="zh-CN" altLang="en-US" sz="2800" dirty="0">
                <a:ea typeface="华文中宋" panose="02010600040101010101" pitchFamily="2" charset="-122"/>
              </a:rPr>
              <a:t>确定一种运算次序，使总的运算次数达到最少。</a:t>
            </a:r>
          </a:p>
        </p:txBody>
      </p:sp>
      <p:sp>
        <p:nvSpPr>
          <p:cNvPr id="19462" name="Text Box 6">
            <a:extLst>
              <a:ext uri="{FF2B5EF4-FFF2-40B4-BE49-F238E27FC236}">
                <a16:creationId xmlns:a16="http://schemas.microsoft.com/office/drawing/2014/main" id="{B876DD75-B9FB-4E25-8963-07D117539458}"/>
              </a:ext>
            </a:extLst>
          </p:cNvPr>
          <p:cNvSpPr txBox="1">
            <a:spLocks noChangeArrowheads="1"/>
          </p:cNvSpPr>
          <p:nvPr/>
        </p:nvSpPr>
        <p:spPr bwMode="auto">
          <a:xfrm>
            <a:off x="457200" y="1447800"/>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dirty="0">
                <a:ea typeface="华文中宋" panose="02010600040101010101" pitchFamily="2" charset="-122"/>
              </a:rPr>
              <a:t>一、问题叙述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 calcmode="lin" valueType="num">
                                      <p:cBhvr additive="base">
                                        <p:cTn id="7" dur="500" fill="hold"/>
                                        <p:tgtEl>
                                          <p:spTgt spid="19462"/>
                                        </p:tgtEl>
                                        <p:attrNameLst>
                                          <p:attrName>ppt_x</p:attrName>
                                        </p:attrNameLst>
                                      </p:cBhvr>
                                      <p:tavLst>
                                        <p:tav tm="0">
                                          <p:val>
                                            <p:strVal val="0-#ppt_w/2"/>
                                          </p:val>
                                        </p:tav>
                                        <p:tav tm="100000">
                                          <p:val>
                                            <p:strVal val="#ppt_x"/>
                                          </p:val>
                                        </p:tav>
                                      </p:tavLst>
                                    </p:anim>
                                    <p:anim calcmode="lin" valueType="num">
                                      <p:cBhvr additive="base">
                                        <p:cTn id="8" dur="500" fill="hold"/>
                                        <p:tgtEl>
                                          <p:spTgt spid="194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
                                            <p:txEl>
                                              <p:pRg st="0" end="0"/>
                                            </p:txEl>
                                          </p:spTgt>
                                        </p:tgtEl>
                                        <p:attrNameLst>
                                          <p:attrName>style.visibility</p:attrName>
                                        </p:attrNameLst>
                                      </p:cBhvr>
                                      <p:to>
                                        <p:strVal val="visible"/>
                                      </p:to>
                                    </p:set>
                                    <p:anim calcmode="lin" valueType="num">
                                      <p:cBhvr additive="base">
                                        <p:cTn id="13" dur="500" fill="hold"/>
                                        <p:tgtEl>
                                          <p:spTgt spid="19459">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61"/>
                                        </p:tgtEl>
                                        <p:attrNameLst>
                                          <p:attrName>style.visibility</p:attrName>
                                        </p:attrNameLst>
                                      </p:cBhvr>
                                      <p:to>
                                        <p:strVal val="visible"/>
                                      </p:to>
                                    </p:set>
                                    <p:anim calcmode="lin" valueType="num">
                                      <p:cBhvr additive="base">
                                        <p:cTn id="19" dur="500" fill="hold"/>
                                        <p:tgtEl>
                                          <p:spTgt spid="19461"/>
                                        </p:tgtEl>
                                        <p:attrNameLst>
                                          <p:attrName>ppt_x</p:attrName>
                                        </p:attrNameLst>
                                      </p:cBhvr>
                                      <p:tavLst>
                                        <p:tav tm="0">
                                          <p:val>
                                            <p:strVal val="0-#ppt_w/2"/>
                                          </p:val>
                                        </p:tav>
                                        <p:tav tm="100000">
                                          <p:val>
                                            <p:strVal val="#ppt_x"/>
                                          </p:val>
                                        </p:tav>
                                      </p:tavLst>
                                    </p:anim>
                                    <p:anim calcmode="lin" valueType="num">
                                      <p:cBhvr additive="base">
                                        <p:cTn id="20" dur="500" fill="hold"/>
                                        <p:tgtEl>
                                          <p:spTgt spid="194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P spid="19461" grpId="0" autoUpdateAnimBg="0"/>
      <p:bldP spid="1946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8E39EBA6-244E-4821-A965-4331E1D4CC4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矩阵乘法</a:t>
            </a:r>
          </a:p>
        </p:txBody>
      </p:sp>
      <p:sp>
        <p:nvSpPr>
          <p:cNvPr id="19459" name="内容占位符 2">
            <a:extLst>
              <a:ext uri="{FF2B5EF4-FFF2-40B4-BE49-F238E27FC236}">
                <a16:creationId xmlns:a16="http://schemas.microsoft.com/office/drawing/2014/main" id="{0124D9C9-1CE3-435D-89FC-A3CC3D6E3617}"/>
              </a:ext>
            </a:extLst>
          </p:cNvPr>
          <p:cNvSpPr>
            <a:spLocks noGrp="1"/>
          </p:cNvSpPr>
          <p:nvPr>
            <p:ph idx="1"/>
          </p:nvPr>
        </p:nvSpPr>
        <p:spPr bwMode="auto">
          <a:xfrm>
            <a:off x="457200" y="1071563"/>
            <a:ext cx="8229600" cy="5054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800" b="1" dirty="0">
                <a:latin typeface="Palatino Linotype" panose="02040502050505030304" pitchFamily="18" charset="0"/>
              </a:rPr>
              <a:t>A=(</a:t>
            </a:r>
            <a:r>
              <a:rPr lang="en-US" altLang="zh-CN" sz="2800" b="1" dirty="0" err="1">
                <a:latin typeface="Palatino Linotype" panose="02040502050505030304" pitchFamily="18" charset="0"/>
              </a:rPr>
              <a:t>a</a:t>
            </a:r>
            <a:r>
              <a:rPr lang="en-US" altLang="zh-CN" sz="2800" b="1" baseline="-25000" dirty="0" err="1">
                <a:latin typeface="Palatino Linotype" panose="02040502050505030304" pitchFamily="18" charset="0"/>
              </a:rPr>
              <a:t>ij</a:t>
            </a:r>
            <a:r>
              <a:rPr lang="en-US" altLang="zh-CN" sz="2800" b="1" dirty="0">
                <a:latin typeface="Palatino Linotype" panose="02040502050505030304" pitchFamily="18" charset="0"/>
              </a:rPr>
              <a:t>)</a:t>
            </a:r>
            <a:r>
              <a:rPr lang="en-US" altLang="zh-CN" sz="2800" b="1" baseline="-25000" dirty="0" err="1">
                <a:latin typeface="Palatino Linotype" panose="02040502050505030304" pitchFamily="18" charset="0"/>
              </a:rPr>
              <a:t>m</a:t>
            </a:r>
            <a:r>
              <a:rPr lang="en-US" altLang="zh-CN" sz="2800" b="1" baseline="-25000" dirty="0" err="1">
                <a:latin typeface="Palatino Linotype" panose="02040502050505030304" pitchFamily="18" charset="0"/>
                <a:sym typeface="Symbol" panose="05050102010706020507" pitchFamily="18" charset="2"/>
              </a:rPr>
              <a:t></a:t>
            </a:r>
            <a:r>
              <a:rPr lang="en-US" altLang="zh-CN" sz="2800" b="1" baseline="-25000" dirty="0" err="1">
                <a:latin typeface="Palatino Linotype" panose="02040502050505030304" pitchFamily="18" charset="0"/>
              </a:rPr>
              <a:t>k</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B=(</a:t>
            </a:r>
            <a:r>
              <a:rPr lang="en-US" altLang="zh-CN" sz="2800" b="1" dirty="0" err="1">
                <a:latin typeface="Palatino Linotype" panose="02040502050505030304" pitchFamily="18" charset="0"/>
              </a:rPr>
              <a:t>b</a:t>
            </a:r>
            <a:r>
              <a:rPr lang="en-US" altLang="zh-CN" sz="2800" b="1" baseline="-25000" dirty="0" err="1">
                <a:latin typeface="Palatino Linotype" panose="02040502050505030304" pitchFamily="18" charset="0"/>
              </a:rPr>
              <a:t>ij</a:t>
            </a:r>
            <a:r>
              <a:rPr lang="en-US" altLang="zh-CN" sz="2800" b="1" dirty="0">
                <a:latin typeface="Palatino Linotype" panose="02040502050505030304" pitchFamily="18" charset="0"/>
              </a:rPr>
              <a:t>)</a:t>
            </a:r>
            <a:r>
              <a:rPr lang="en-US" altLang="zh-CN" sz="2800" b="1" baseline="-25000" dirty="0" err="1">
                <a:latin typeface="Palatino Linotype" panose="02040502050505030304" pitchFamily="18" charset="0"/>
              </a:rPr>
              <a:t>k</a:t>
            </a:r>
            <a:r>
              <a:rPr lang="en-US" altLang="zh-CN" sz="2800" b="1" baseline="-25000" dirty="0" err="1">
                <a:latin typeface="Palatino Linotype" panose="02040502050505030304" pitchFamily="18" charset="0"/>
                <a:sym typeface="Symbol" panose="05050102010706020507" pitchFamily="18" charset="2"/>
              </a:rPr>
              <a:t></a:t>
            </a:r>
            <a:r>
              <a:rPr lang="en-US" altLang="zh-CN" sz="2800" b="1" baseline="-25000" dirty="0" err="1">
                <a:latin typeface="Palatino Linotype" panose="02040502050505030304" pitchFamily="18" charset="0"/>
              </a:rPr>
              <a:t>n</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C=(</a:t>
            </a:r>
            <a:r>
              <a:rPr lang="en-US" altLang="zh-CN" sz="2800" b="1" dirty="0" err="1">
                <a:latin typeface="Palatino Linotype" panose="02040502050505030304" pitchFamily="18" charset="0"/>
              </a:rPr>
              <a:t>c</a:t>
            </a:r>
            <a:r>
              <a:rPr lang="en-US" altLang="zh-CN" sz="2800" b="1" baseline="-25000" dirty="0" err="1">
                <a:latin typeface="Palatino Linotype" panose="02040502050505030304" pitchFamily="18" charset="0"/>
              </a:rPr>
              <a:t>ij</a:t>
            </a:r>
            <a:r>
              <a:rPr lang="en-US" altLang="zh-CN" sz="2800" b="1" dirty="0">
                <a:latin typeface="Palatino Linotype" panose="02040502050505030304" pitchFamily="18" charset="0"/>
              </a:rPr>
              <a:t>)</a:t>
            </a:r>
            <a:r>
              <a:rPr lang="en-US" altLang="zh-CN" sz="2800" b="1" baseline="-25000" dirty="0" err="1">
                <a:latin typeface="Palatino Linotype" panose="02040502050505030304" pitchFamily="18" charset="0"/>
              </a:rPr>
              <a:t>m</a:t>
            </a:r>
            <a:r>
              <a:rPr lang="en-US" altLang="zh-CN" sz="2800" b="1" baseline="-25000" dirty="0" err="1">
                <a:latin typeface="Palatino Linotype" panose="02040502050505030304" pitchFamily="18" charset="0"/>
                <a:sym typeface="Symbol" panose="05050102010706020507" pitchFamily="18" charset="2"/>
              </a:rPr>
              <a:t></a:t>
            </a:r>
            <a:r>
              <a:rPr lang="en-US" altLang="zh-CN" sz="2800" b="1" baseline="-25000" dirty="0" err="1">
                <a:latin typeface="Palatino Linotype" panose="02040502050505030304" pitchFamily="18" charset="0"/>
              </a:rPr>
              <a:t>n</a:t>
            </a:r>
            <a:endParaRPr lang="en-US" altLang="zh-CN" sz="2800" b="1" baseline="-25000" dirty="0">
              <a:latin typeface="Palatino Linotype" panose="02040502050505030304" pitchFamily="18" charset="0"/>
            </a:endParaRPr>
          </a:p>
          <a:p>
            <a:pPr eaLnBrk="1" hangingPunct="1"/>
            <a:endParaRPr lang="en-US" altLang="zh-CN" sz="2800" b="1" dirty="0">
              <a:latin typeface="Palatino Linotype" panose="02040502050505030304" pitchFamily="18" charset="0"/>
            </a:endParaRPr>
          </a:p>
          <a:p>
            <a:pPr eaLnBrk="1" hangingPunct="1"/>
            <a:endParaRPr lang="en-US" altLang="zh-CN" sz="2800" b="1" dirty="0">
              <a:latin typeface="Palatino Linotype" panose="02040502050505030304" pitchFamily="18" charset="0"/>
            </a:endParaRPr>
          </a:p>
          <a:p>
            <a:pPr eaLnBrk="1" hangingPunct="1"/>
            <a:endParaRPr lang="en-US" altLang="zh-CN" sz="2800" b="1" dirty="0">
              <a:latin typeface="Palatino Linotype" panose="02040502050505030304" pitchFamily="18" charset="0"/>
            </a:endParaRPr>
          </a:p>
          <a:p>
            <a:pPr eaLnBrk="1" hangingPunct="1"/>
            <a:r>
              <a:rPr lang="zh-CN" altLang="en-US" sz="2800" b="1" dirty="0">
                <a:latin typeface="Palatino Linotype" panose="02040502050505030304" pitchFamily="18" charset="0"/>
              </a:rPr>
              <a:t>计算</a:t>
            </a:r>
            <a:r>
              <a:rPr lang="en-US" altLang="zh-CN" sz="2800" b="1" dirty="0">
                <a:latin typeface="Palatino Linotype" panose="02040502050505030304" pitchFamily="18" charset="0"/>
              </a:rPr>
              <a:t>C</a:t>
            </a:r>
            <a:r>
              <a:rPr lang="zh-CN" altLang="en-US" sz="2800" b="1" dirty="0">
                <a:latin typeface="Palatino Linotype" panose="02040502050505030304" pitchFamily="18" charset="0"/>
              </a:rPr>
              <a:t>：每个元素需</a:t>
            </a:r>
            <a:r>
              <a:rPr lang="en-US" altLang="zh-CN" sz="2800" b="1" dirty="0">
                <a:latin typeface="Palatino Linotype" panose="02040502050505030304" pitchFamily="18" charset="0"/>
              </a:rPr>
              <a:t>k</a:t>
            </a:r>
            <a:r>
              <a:rPr lang="zh-CN" altLang="en-US" sz="2800" b="1" dirty="0">
                <a:latin typeface="Palatino Linotype" panose="02040502050505030304" pitchFamily="18" charset="0"/>
              </a:rPr>
              <a:t>次乘法，</a:t>
            </a:r>
            <a:r>
              <a:rPr lang="en-US" altLang="zh-CN" sz="2800" b="1" dirty="0">
                <a:latin typeface="Palatino Linotype" panose="02040502050505030304" pitchFamily="18" charset="0"/>
              </a:rPr>
              <a:t>k-1</a:t>
            </a:r>
            <a:r>
              <a:rPr lang="zh-CN" altLang="en-US" sz="2800" b="1" dirty="0">
                <a:latin typeface="Palatino Linotype" panose="02040502050505030304" pitchFamily="18" charset="0"/>
              </a:rPr>
              <a:t>次加法</a:t>
            </a:r>
            <a:endParaRPr lang="en-US" altLang="zh-CN" sz="2800" b="1" dirty="0">
              <a:latin typeface="Palatino Linotype" panose="02040502050505030304" pitchFamily="18" charset="0"/>
            </a:endParaRPr>
          </a:p>
          <a:p>
            <a:pPr eaLnBrk="1" hangingPunct="1"/>
            <a:r>
              <a:rPr lang="en-US" altLang="zh-CN" sz="2800" b="1" dirty="0">
                <a:latin typeface="Palatino Linotype" panose="02040502050505030304" pitchFamily="18" charset="0"/>
              </a:rPr>
              <a:t>C</a:t>
            </a:r>
            <a:r>
              <a:rPr lang="zh-CN" altLang="en-US" sz="2800" b="1" dirty="0">
                <a:latin typeface="Palatino Linotype" panose="02040502050505030304" pitchFamily="18" charset="0"/>
              </a:rPr>
              <a:t>有</a:t>
            </a:r>
            <a:r>
              <a:rPr lang="en-US" altLang="zh-CN" sz="2800" b="1" dirty="0" err="1">
                <a:latin typeface="Palatino Linotype" panose="02040502050505030304" pitchFamily="18" charset="0"/>
              </a:rPr>
              <a:t>mn</a:t>
            </a:r>
            <a:r>
              <a:rPr lang="zh-CN" altLang="en-US" sz="2800" b="1" dirty="0">
                <a:latin typeface="Palatino Linotype" panose="02040502050505030304" pitchFamily="18" charset="0"/>
              </a:rPr>
              <a:t>个元素：计算</a:t>
            </a:r>
            <a:r>
              <a:rPr lang="en-US" altLang="zh-CN" sz="2800" b="1" dirty="0">
                <a:latin typeface="Palatino Linotype" panose="02040502050505030304" pitchFamily="18" charset="0"/>
              </a:rPr>
              <a:t>C</a:t>
            </a:r>
            <a:r>
              <a:rPr lang="zh-CN" altLang="en-US" sz="2800" b="1" dirty="0">
                <a:latin typeface="Palatino Linotype" panose="02040502050505030304" pitchFamily="18" charset="0"/>
              </a:rPr>
              <a:t>，需</a:t>
            </a:r>
            <a:r>
              <a:rPr lang="en-US" altLang="zh-CN" sz="2800" b="1" dirty="0" err="1">
                <a:latin typeface="Palatino Linotype" panose="02040502050505030304" pitchFamily="18" charset="0"/>
              </a:rPr>
              <a:t>mnk</a:t>
            </a:r>
            <a:r>
              <a:rPr lang="zh-CN" altLang="en-US" sz="2800" b="1" dirty="0">
                <a:latin typeface="Palatino Linotype" panose="02040502050505030304" pitchFamily="18" charset="0"/>
              </a:rPr>
              <a:t>次乘法，</a:t>
            </a:r>
            <a:r>
              <a:rPr lang="en-US" altLang="zh-CN" sz="2800" b="1" dirty="0" err="1">
                <a:latin typeface="Palatino Linotype" panose="02040502050505030304" pitchFamily="18" charset="0"/>
              </a:rPr>
              <a:t>mn</a:t>
            </a:r>
            <a:r>
              <a:rPr lang="en-US" altLang="zh-CN" sz="2800" b="1" dirty="0">
                <a:latin typeface="Palatino Linotype" panose="02040502050505030304" pitchFamily="18" charset="0"/>
              </a:rPr>
              <a:t>(k-1)</a:t>
            </a:r>
            <a:r>
              <a:rPr lang="zh-CN" altLang="en-US" sz="2800" b="1" dirty="0">
                <a:latin typeface="Palatino Linotype" panose="02040502050505030304" pitchFamily="18" charset="0"/>
              </a:rPr>
              <a:t>次加法</a:t>
            </a:r>
            <a:endParaRPr lang="en-US" altLang="zh-CN" sz="2800" b="1" dirty="0">
              <a:latin typeface="Palatino Linotype" panose="02040502050505030304" pitchFamily="18" charset="0"/>
            </a:endParaRPr>
          </a:p>
          <a:p>
            <a:pPr eaLnBrk="1" hangingPunct="1"/>
            <a:r>
              <a:rPr lang="zh-CN" altLang="en-US" sz="2800" b="1" dirty="0">
                <a:latin typeface="Palatino Linotype" panose="02040502050505030304" pitchFamily="18" charset="0"/>
              </a:rPr>
              <a:t>举例：设</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1</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2</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3</a:t>
            </a:r>
            <a:r>
              <a:rPr lang="zh-CN" altLang="en-US" sz="2800" b="1" dirty="0">
                <a:latin typeface="Palatino Linotype" panose="02040502050505030304" pitchFamily="18" charset="0"/>
              </a:rPr>
              <a:t>，分别为</a:t>
            </a:r>
            <a:r>
              <a:rPr lang="en-US" altLang="zh-CN" sz="2800" b="1" dirty="0">
                <a:latin typeface="Palatino Linotype" panose="02040502050505030304" pitchFamily="18" charset="0"/>
              </a:rPr>
              <a:t>10×100</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100×5</a:t>
            </a:r>
            <a:r>
              <a:rPr lang="zh-CN" altLang="en-US" sz="2800" b="1" dirty="0">
                <a:latin typeface="Palatino Linotype" panose="02040502050505030304" pitchFamily="18" charset="0"/>
              </a:rPr>
              <a:t>，</a:t>
            </a:r>
            <a:r>
              <a:rPr lang="en-US" altLang="zh-CN" sz="2800" b="1" dirty="0">
                <a:latin typeface="Palatino Linotype" panose="02040502050505030304" pitchFamily="18" charset="0"/>
              </a:rPr>
              <a:t>5×50</a:t>
            </a:r>
            <a:r>
              <a:rPr lang="zh-CN" altLang="en-US" sz="2800" b="1" dirty="0">
                <a:latin typeface="Palatino Linotype" panose="02040502050505030304" pitchFamily="18" charset="0"/>
              </a:rPr>
              <a:t>的矩阵，求连乘积</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1</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2</a:t>
            </a:r>
            <a:r>
              <a:rPr lang="en-US" altLang="zh-CN" sz="2800" b="1" dirty="0">
                <a:latin typeface="Palatino Linotype" panose="02040502050505030304" pitchFamily="18" charset="0"/>
              </a:rPr>
              <a:t>A</a:t>
            </a:r>
            <a:r>
              <a:rPr lang="en-US" altLang="zh-CN" sz="2800" b="1" baseline="-25000" dirty="0">
                <a:latin typeface="Palatino Linotype" panose="02040502050505030304" pitchFamily="18" charset="0"/>
              </a:rPr>
              <a:t>3</a:t>
            </a:r>
            <a:r>
              <a:rPr lang="zh-CN" altLang="en-US" sz="2800" b="1" dirty="0">
                <a:latin typeface="Palatino Linotype" panose="02040502050505030304" pitchFamily="18" charset="0"/>
              </a:rPr>
              <a:t>时需多少次乘法运算？</a:t>
            </a:r>
            <a:endParaRPr lang="zh-CN" altLang="en-US" sz="2800" b="1" dirty="0">
              <a:solidFill>
                <a:srgbClr val="3333CC"/>
              </a:solidFill>
              <a:latin typeface="Palatino Linotype" panose="02040502050505030304" pitchFamily="18" charset="0"/>
            </a:endParaRPr>
          </a:p>
          <a:p>
            <a:pPr eaLnBrk="1" hangingPunct="1"/>
            <a:endParaRPr lang="zh-CN" altLang="en-US" sz="2800" b="1" dirty="0">
              <a:latin typeface="Palatino Linotype" panose="02040502050505030304" pitchFamily="18" charset="0"/>
            </a:endParaRPr>
          </a:p>
        </p:txBody>
      </p:sp>
      <mc:AlternateContent xmlns:mc="http://schemas.openxmlformats.org/markup-compatibility/2006" xmlns:a14="http://schemas.microsoft.com/office/drawing/2010/main">
        <mc:Choice Requires="a14">
          <p:sp>
            <p:nvSpPr>
              <p:cNvPr id="19460" name="Object 2">
                <a:extLst>
                  <a:ext uri="{FF2B5EF4-FFF2-40B4-BE49-F238E27FC236}">
                    <a16:creationId xmlns:a16="http://schemas.microsoft.com/office/drawing/2014/main" id="{632D364B-4C12-4515-9A98-CE32738824E1}"/>
                  </a:ext>
                </a:extLst>
              </p:cNvPr>
              <p:cNvSpPr txBox="1"/>
              <p:nvPr/>
            </p:nvSpPr>
            <p:spPr bwMode="auto">
              <a:xfrm>
                <a:off x="683568" y="1692275"/>
                <a:ext cx="2571750" cy="104457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A50021"/>
                              </a:solidFill>
                              <a:latin typeface="Cambria Math" panose="02040503050406030204" pitchFamily="18" charset="0"/>
                            </a:rPr>
                          </m:ctrlPr>
                        </m:sSubPr>
                        <m:e>
                          <m:r>
                            <a:rPr lang="zh-CN" altLang="en-US" b="1" i="1">
                              <a:solidFill>
                                <a:srgbClr val="A50021"/>
                              </a:solidFill>
                              <a:latin typeface="Cambria Math" panose="02040503050406030204" pitchFamily="18" charset="0"/>
                            </a:rPr>
                            <m:t>𝒄</m:t>
                          </m:r>
                        </m:e>
                        <m:sub>
                          <m:r>
                            <a:rPr lang="zh-CN" altLang="en-US" b="1" i="1">
                              <a:solidFill>
                                <a:srgbClr val="A50021"/>
                              </a:solidFill>
                              <a:latin typeface="Cambria Math" panose="02040503050406030204" pitchFamily="18" charset="0"/>
                            </a:rPr>
                            <m:t>𝒊𝒋</m:t>
                          </m:r>
                        </m:sub>
                      </m:sSub>
                      <m:r>
                        <a:rPr lang="zh-CN" altLang="en-US" b="1" i="1">
                          <a:solidFill>
                            <a:srgbClr val="A50021"/>
                          </a:solidFill>
                          <a:latin typeface="Cambria Math" panose="02040503050406030204" pitchFamily="18" charset="0"/>
                        </a:rPr>
                        <m:t>=</m:t>
                      </m:r>
                      <m:nary>
                        <m:naryPr>
                          <m:chr m:val="∑"/>
                          <m:ctrlPr>
                            <a:rPr lang="zh-CN" altLang="en-US" i="1">
                              <a:solidFill>
                                <a:srgbClr val="A50021"/>
                              </a:solidFill>
                              <a:latin typeface="Cambria Math" panose="02040503050406030204" pitchFamily="18" charset="0"/>
                            </a:rPr>
                          </m:ctrlPr>
                        </m:naryPr>
                        <m:sub>
                          <m:r>
                            <a:rPr lang="zh-CN" altLang="en-US" b="1" i="1">
                              <a:solidFill>
                                <a:srgbClr val="A50021"/>
                              </a:solidFill>
                              <a:latin typeface="Cambria Math" panose="02040503050406030204" pitchFamily="18" charset="0"/>
                            </a:rPr>
                            <m:t>𝒊</m:t>
                          </m:r>
                          <m:r>
                            <a:rPr lang="zh-CN" altLang="en-US" b="1" i="1">
                              <a:solidFill>
                                <a:srgbClr val="A50021"/>
                              </a:solidFill>
                              <a:latin typeface="Cambria Math" panose="02040503050406030204" pitchFamily="18" charset="0"/>
                            </a:rPr>
                            <m:t>=</m:t>
                          </m:r>
                          <m:r>
                            <a:rPr lang="zh-CN" altLang="en-US" b="1" i="1">
                              <a:solidFill>
                                <a:srgbClr val="A50021"/>
                              </a:solidFill>
                              <a:latin typeface="Cambria Math" panose="02040503050406030204" pitchFamily="18" charset="0"/>
                            </a:rPr>
                            <m:t>𝟏</m:t>
                          </m:r>
                        </m:sub>
                        <m:sup>
                          <m:r>
                            <a:rPr lang="zh-CN" altLang="en-US" b="1" i="1">
                              <a:solidFill>
                                <a:srgbClr val="A50021"/>
                              </a:solidFill>
                              <a:latin typeface="Cambria Math" panose="02040503050406030204" pitchFamily="18" charset="0"/>
                            </a:rPr>
                            <m:t>𝒌</m:t>
                          </m:r>
                        </m:sup>
                        <m:e>
                          <m:sSub>
                            <m:sSubPr>
                              <m:ctrlPr>
                                <a:rPr lang="zh-CN" altLang="en-US" i="1">
                                  <a:solidFill>
                                    <a:srgbClr val="A50021"/>
                                  </a:solidFill>
                                  <a:latin typeface="Cambria Math" panose="02040503050406030204" pitchFamily="18" charset="0"/>
                                </a:rPr>
                              </m:ctrlPr>
                            </m:sSubPr>
                            <m:e>
                              <m:r>
                                <a:rPr lang="zh-CN" altLang="en-US" b="1" i="1">
                                  <a:solidFill>
                                    <a:srgbClr val="A50021"/>
                                  </a:solidFill>
                                  <a:latin typeface="Cambria Math" panose="02040503050406030204" pitchFamily="18" charset="0"/>
                                </a:rPr>
                                <m:t>𝒂</m:t>
                              </m:r>
                            </m:e>
                            <m:sub>
                              <m:r>
                                <a:rPr lang="zh-CN" altLang="en-US" b="1" i="1">
                                  <a:solidFill>
                                    <a:srgbClr val="A50021"/>
                                  </a:solidFill>
                                  <a:latin typeface="Cambria Math" panose="02040503050406030204" pitchFamily="18" charset="0"/>
                                </a:rPr>
                                <m:t>𝒊𝒕</m:t>
                              </m:r>
                            </m:sub>
                          </m:sSub>
                          <m:sSub>
                            <m:sSubPr>
                              <m:ctrlPr>
                                <a:rPr lang="zh-CN" altLang="en-US" i="1">
                                  <a:solidFill>
                                    <a:srgbClr val="A50021"/>
                                  </a:solidFill>
                                  <a:latin typeface="Cambria Math" panose="02040503050406030204" pitchFamily="18" charset="0"/>
                                </a:rPr>
                              </m:ctrlPr>
                            </m:sSubPr>
                            <m:e>
                              <m:r>
                                <a:rPr lang="zh-CN" altLang="en-US" b="1" i="1">
                                  <a:solidFill>
                                    <a:srgbClr val="A50021"/>
                                  </a:solidFill>
                                  <a:latin typeface="Cambria Math" panose="02040503050406030204" pitchFamily="18" charset="0"/>
                                </a:rPr>
                                <m:t>𝒃</m:t>
                              </m:r>
                            </m:e>
                            <m:sub>
                              <m:r>
                                <a:rPr lang="zh-CN" altLang="en-US" b="1" i="1">
                                  <a:solidFill>
                                    <a:srgbClr val="A50021"/>
                                  </a:solidFill>
                                  <a:latin typeface="Cambria Math" panose="02040503050406030204" pitchFamily="18" charset="0"/>
                                </a:rPr>
                                <m:t>𝒕𝒋</m:t>
                              </m:r>
                            </m:sub>
                          </m:sSub>
                        </m:e>
                      </m:nary>
                    </m:oMath>
                  </m:oMathPara>
                </a14:m>
                <a:endParaRPr lang="zh-CN" altLang="en-US" dirty="0">
                  <a:solidFill>
                    <a:srgbClr val="A50021"/>
                  </a:solidFill>
                  <a:latin typeface="Palatino Linotype" panose="02040502050505030304" pitchFamily="18" charset="0"/>
                </a:endParaRPr>
              </a:p>
            </p:txBody>
          </p:sp>
        </mc:Choice>
        <mc:Fallback xmlns="">
          <p:sp>
            <p:nvSpPr>
              <p:cNvPr id="19460" name="Object 2">
                <a:extLst>
                  <a:ext uri="{FF2B5EF4-FFF2-40B4-BE49-F238E27FC236}">
                    <a16:creationId xmlns:a16="http://schemas.microsoft.com/office/drawing/2014/main" id="{632D364B-4C12-4515-9A98-CE32738824E1}"/>
                  </a:ext>
                </a:extLst>
              </p:cNvPr>
              <p:cNvSpPr txBox="1">
                <a:spLocks noRot="1" noChangeAspect="1" noMove="1" noResize="1" noEditPoints="1" noAdjustHandles="1" noChangeArrowheads="1" noChangeShapeType="1" noTextEdit="1"/>
              </p:cNvSpPr>
              <p:nvPr/>
            </p:nvSpPr>
            <p:spPr bwMode="auto">
              <a:xfrm>
                <a:off x="683568" y="1692275"/>
                <a:ext cx="2571750" cy="1044575"/>
              </a:xfrm>
              <a:prstGeom prst="rect">
                <a:avLst/>
              </a:prstGeom>
              <a:blipFill>
                <a:blip r:embed="rId2"/>
                <a:stretch>
                  <a:fillRect b="-4094"/>
                </a:stretch>
              </a:blipFill>
              <a:ln>
                <a:noFill/>
              </a:ln>
              <a:effectLst/>
              <a:extLst/>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8F1EB15C-CBE6-4233-AB77-C490DD1CF8CE}"/>
              </a:ext>
            </a:extLst>
          </p:cNvPr>
          <p:cNvSpPr>
            <a:spLocks noGrp="1"/>
          </p:cNvSpPr>
          <p:nvPr>
            <p:ph type="title"/>
          </p:nvPr>
        </p:nvSpPr>
        <p:spPr bwMode="auto">
          <a:xfrm>
            <a:off x="285750" y="357188"/>
            <a:ext cx="8572500" cy="939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t>矩阵连乘方法数与添括号方式数一一对应</a:t>
            </a:r>
          </a:p>
        </p:txBody>
      </p:sp>
      <p:sp>
        <p:nvSpPr>
          <p:cNvPr id="20483" name="内容占位符 2">
            <a:extLst>
              <a:ext uri="{FF2B5EF4-FFF2-40B4-BE49-F238E27FC236}">
                <a16:creationId xmlns:a16="http://schemas.microsoft.com/office/drawing/2014/main" id="{3371D45F-134F-47DA-943E-54D269B63B1D}"/>
              </a:ext>
            </a:extLst>
          </p:cNvPr>
          <p:cNvSpPr>
            <a:spLocks noGrp="1"/>
          </p:cNvSpPr>
          <p:nvPr>
            <p:ph idx="1"/>
          </p:nvPr>
        </p:nvSpPr>
        <p:spPr bwMode="auto">
          <a:xfrm>
            <a:off x="457200" y="1285875"/>
            <a:ext cx="8229600" cy="2714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Palatino Linotype" panose="02040502050505030304" pitchFamily="18" charset="0"/>
              </a:rPr>
              <a:t>完全加括号的矩阵连乘积可递归地定义为：</a:t>
            </a:r>
            <a:endParaRPr lang="en-US" altLang="zh-CN" sz="2800" dirty="0">
              <a:latin typeface="Palatino Linotype" panose="02040502050505030304" pitchFamily="18" charset="0"/>
              <a:ea typeface="黑体" panose="02010609060101010101" pitchFamily="49" charset="-122"/>
            </a:endParaRPr>
          </a:p>
          <a:p>
            <a:pPr eaLnBrk="1" hangingPunct="1"/>
            <a:r>
              <a:rPr lang="zh-CN" altLang="en-US" sz="2800" dirty="0">
                <a:latin typeface="Palatino Linotype" panose="02040502050505030304" pitchFamily="18" charset="0"/>
              </a:rPr>
              <a:t>（</a:t>
            </a:r>
            <a:r>
              <a:rPr lang="en-US" altLang="zh-CN" sz="2800" dirty="0">
                <a:latin typeface="Palatino Linotype" panose="02040502050505030304" pitchFamily="18" charset="0"/>
              </a:rPr>
              <a:t>1</a:t>
            </a:r>
            <a:r>
              <a:rPr lang="zh-CN" altLang="en-US" sz="2800" dirty="0">
                <a:latin typeface="Palatino Linotype" panose="02040502050505030304" pitchFamily="18" charset="0"/>
              </a:rPr>
              <a:t>）单个矩阵是完全加括号的；</a:t>
            </a:r>
          </a:p>
          <a:p>
            <a:pPr eaLnBrk="1" hangingPunct="1"/>
            <a:r>
              <a:rPr lang="zh-CN" altLang="en-US" sz="2800" dirty="0">
                <a:latin typeface="Palatino Linotype" panose="02040502050505030304" pitchFamily="18" charset="0"/>
              </a:rPr>
              <a:t>（</a:t>
            </a:r>
            <a:r>
              <a:rPr lang="en-US" altLang="zh-CN" sz="2800" dirty="0">
                <a:latin typeface="Palatino Linotype" panose="02040502050505030304" pitchFamily="18" charset="0"/>
              </a:rPr>
              <a:t>2</a:t>
            </a:r>
            <a:r>
              <a:rPr lang="zh-CN" altLang="en-US" sz="2800" dirty="0">
                <a:latin typeface="Palatino Linotype" panose="02040502050505030304" pitchFamily="18" charset="0"/>
              </a:rPr>
              <a:t>）若</a:t>
            </a:r>
            <a:r>
              <a:rPr lang="zh-CN" altLang="en-US" sz="2800" dirty="0">
                <a:solidFill>
                  <a:srgbClr val="FF0000"/>
                </a:solidFill>
                <a:latin typeface="Palatino Linotype" panose="02040502050505030304" pitchFamily="18" charset="0"/>
              </a:rPr>
              <a:t>矩阵连乘积</a:t>
            </a:r>
            <a:r>
              <a:rPr lang="en-US" altLang="zh-CN" sz="2800" dirty="0">
                <a:solidFill>
                  <a:srgbClr val="FF0000"/>
                </a:solidFill>
                <a:latin typeface="Palatino Linotype" panose="02040502050505030304" pitchFamily="18" charset="0"/>
              </a:rPr>
              <a:t>A</a:t>
            </a:r>
            <a:r>
              <a:rPr lang="zh-CN" altLang="en-US" sz="2800" dirty="0">
                <a:latin typeface="Palatino Linotype" panose="02040502050505030304" pitchFamily="18" charset="0"/>
              </a:rPr>
              <a:t>是完全加括号的，则</a:t>
            </a:r>
            <a:r>
              <a:rPr lang="en-US" altLang="zh-CN" sz="2800" dirty="0">
                <a:latin typeface="Palatino Linotype" panose="02040502050505030304" pitchFamily="18" charset="0"/>
              </a:rPr>
              <a:t>A</a:t>
            </a:r>
            <a:r>
              <a:rPr lang="zh-CN" altLang="en-US" sz="2800" dirty="0">
                <a:latin typeface="Palatino Linotype" panose="02040502050505030304" pitchFamily="18" charset="0"/>
              </a:rPr>
              <a:t>可表示为</a:t>
            </a:r>
            <a:r>
              <a:rPr lang="en-US" altLang="zh-CN" sz="2800" dirty="0">
                <a:latin typeface="Palatino Linotype" panose="02040502050505030304" pitchFamily="18" charset="0"/>
              </a:rPr>
              <a:t>2</a:t>
            </a:r>
            <a:r>
              <a:rPr lang="zh-CN" altLang="en-US" sz="2800" dirty="0">
                <a:latin typeface="Palatino Linotype" panose="02040502050505030304" pitchFamily="18" charset="0"/>
              </a:rPr>
              <a:t>个完全加括号的矩阵连乘积</a:t>
            </a:r>
            <a:r>
              <a:rPr lang="en-US" altLang="zh-CN" sz="2800" dirty="0">
                <a:latin typeface="Palatino Linotype" panose="02040502050505030304" pitchFamily="18" charset="0"/>
              </a:rPr>
              <a:t>B</a:t>
            </a:r>
            <a:r>
              <a:rPr lang="zh-CN" altLang="en-US" sz="2800" dirty="0">
                <a:latin typeface="Palatino Linotype" panose="02040502050505030304" pitchFamily="18" charset="0"/>
              </a:rPr>
              <a:t>和</a:t>
            </a:r>
            <a:r>
              <a:rPr lang="en-US" altLang="zh-CN" sz="2800" dirty="0">
                <a:latin typeface="Palatino Linotype" panose="02040502050505030304" pitchFamily="18" charset="0"/>
              </a:rPr>
              <a:t>C</a:t>
            </a:r>
            <a:r>
              <a:rPr lang="zh-CN" altLang="en-US" sz="2800" dirty="0">
                <a:latin typeface="Palatino Linotype" panose="02040502050505030304" pitchFamily="18" charset="0"/>
              </a:rPr>
              <a:t>的乘积并加括号，即 </a:t>
            </a:r>
            <a:r>
              <a:rPr lang="en-US" altLang="zh-CN" sz="2800" dirty="0">
                <a:latin typeface="Palatino Linotype" panose="02040502050505030304" pitchFamily="18" charset="0"/>
              </a:rPr>
              <a:t>A=(BC)</a:t>
            </a:r>
            <a:r>
              <a:rPr lang="zh-CN" altLang="en-US" sz="2800" dirty="0">
                <a:latin typeface="Palatino Linotype" panose="02040502050505030304" pitchFamily="18" charset="0"/>
              </a:rPr>
              <a:t>   </a:t>
            </a:r>
            <a:endParaRPr lang="ja-JP" altLang="en-US" sz="2800" dirty="0">
              <a:latin typeface="Palatino Linotype" panose="02040502050505030304" pitchFamily="18" charset="0"/>
            </a:endParaRPr>
          </a:p>
          <a:p>
            <a:pPr eaLnBrk="1" hangingPunct="1"/>
            <a:endParaRPr lang="zh-CN" altLang="en-US" sz="2800" dirty="0">
              <a:latin typeface="Palatino Linotype" panose="0204050205050503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C4746BA-5D53-4ED1-A401-F9A33C0F0957}"/>
              </a:ext>
            </a:extLst>
          </p:cNvPr>
          <p:cNvSpPr>
            <a:spLocks noGrp="1" noChangeArrowheads="1"/>
          </p:cNvSpPr>
          <p:nvPr>
            <p:ph type="title"/>
          </p:nvPr>
        </p:nvSpPr>
        <p:spPr bwMode="auto">
          <a:xfrm>
            <a:off x="642938" y="428625"/>
            <a:ext cx="7772400" cy="9144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矩阵连乘积与加括号</a:t>
            </a:r>
          </a:p>
        </p:txBody>
      </p:sp>
      <p:sp>
        <p:nvSpPr>
          <p:cNvPr id="35843" name="Rectangle 3">
            <a:extLst>
              <a:ext uri="{FF2B5EF4-FFF2-40B4-BE49-F238E27FC236}">
                <a16:creationId xmlns:a16="http://schemas.microsoft.com/office/drawing/2014/main" id="{A0B8AFEE-CA82-43F7-A963-D88D4FFDD6D9}"/>
              </a:ext>
            </a:extLst>
          </p:cNvPr>
          <p:cNvSpPr>
            <a:spLocks noGrp="1" noChangeArrowheads="1"/>
          </p:cNvSpPr>
          <p:nvPr>
            <p:ph type="body" idx="1"/>
          </p:nvPr>
        </p:nvSpPr>
        <p:spPr bwMode="auto">
          <a:xfrm>
            <a:off x="609600" y="13716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Clr>
                <a:schemeClr val="accent2"/>
              </a:buClr>
              <a:buSzPct val="50000"/>
              <a:buFont typeface="Wingdings" panose="05000000000000000000" pitchFamily="2" charset="2"/>
              <a:buChar char="u"/>
            </a:pPr>
            <a:r>
              <a:rPr lang="zh-CN" altLang="en-US" sz="2800" b="1" dirty="0">
                <a:latin typeface="华文中宋" panose="02010600040101010101" pitchFamily="2" charset="-122"/>
              </a:rPr>
              <a:t>设有四个矩阵</a:t>
            </a:r>
            <a:r>
              <a:rPr lang="zh-CN" altLang="en-US" sz="2800" b="1" dirty="0">
                <a:solidFill>
                  <a:srgbClr val="FF0000"/>
                </a:solidFill>
                <a:latin typeface="华文中宋" panose="02010600040101010101" pitchFamily="2" charset="-122"/>
              </a:rPr>
              <a:t> </a:t>
            </a:r>
            <a:r>
              <a:rPr lang="en-US" altLang="zh-CN" sz="2800" b="1" dirty="0">
                <a:solidFill>
                  <a:srgbClr val="FF0000"/>
                </a:solidFill>
                <a:latin typeface="华文中宋" panose="02010600040101010101" pitchFamily="2" charset="-122"/>
              </a:rPr>
              <a:t>A,B,C,D</a:t>
            </a:r>
            <a:r>
              <a:rPr lang="zh-CN" altLang="en-US" sz="2800" b="1" dirty="0">
                <a:latin typeface="华文中宋" panose="02010600040101010101" pitchFamily="2" charset="-122"/>
              </a:rPr>
              <a:t>，它们的维数分别是：</a:t>
            </a:r>
            <a:endParaRPr lang="zh-CN" altLang="en-US" sz="3600" b="1" dirty="0"/>
          </a:p>
        </p:txBody>
      </p:sp>
      <p:graphicFrame>
        <p:nvGraphicFramePr>
          <p:cNvPr id="35844" name="Object 4">
            <a:extLst>
              <a:ext uri="{FF2B5EF4-FFF2-40B4-BE49-F238E27FC236}">
                <a16:creationId xmlns:a16="http://schemas.microsoft.com/office/drawing/2014/main" id="{E123012C-BB35-409B-B161-7E726D1A536D}"/>
              </a:ext>
            </a:extLst>
          </p:cNvPr>
          <p:cNvGraphicFramePr>
            <a:graphicFrameLocks noChangeAspect="1"/>
          </p:cNvGraphicFramePr>
          <p:nvPr/>
        </p:nvGraphicFramePr>
        <p:xfrm>
          <a:off x="2022475" y="3373438"/>
          <a:ext cx="1700213" cy="438150"/>
        </p:xfrm>
        <a:graphic>
          <a:graphicData uri="http://schemas.openxmlformats.org/presentationml/2006/ole">
            <mc:AlternateContent xmlns:mc="http://schemas.openxmlformats.org/markup-compatibility/2006">
              <mc:Choice xmlns:v="urn:schemas-microsoft-com:vml" Requires="v">
                <p:oleObj name="数式" r:id="rId2" imgW="787058" imgH="203112" progId="Equation.3">
                  <p:embed/>
                </p:oleObj>
              </mc:Choice>
              <mc:Fallback>
                <p:oleObj name="数式" r:id="rId2" imgW="787058" imgH="20311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475" y="3373438"/>
                        <a:ext cx="1700213"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5" name="Object 5">
            <a:extLst>
              <a:ext uri="{FF2B5EF4-FFF2-40B4-BE49-F238E27FC236}">
                <a16:creationId xmlns:a16="http://schemas.microsoft.com/office/drawing/2014/main" id="{F33137B7-F551-4A3E-A0DA-26F2BD813954}"/>
              </a:ext>
            </a:extLst>
          </p:cNvPr>
          <p:cNvGraphicFramePr>
            <a:graphicFrameLocks noChangeAspect="1"/>
          </p:cNvGraphicFramePr>
          <p:nvPr/>
        </p:nvGraphicFramePr>
        <p:xfrm>
          <a:off x="2022475" y="3838575"/>
          <a:ext cx="1700213" cy="438150"/>
        </p:xfrm>
        <a:graphic>
          <a:graphicData uri="http://schemas.openxmlformats.org/presentationml/2006/ole">
            <mc:AlternateContent xmlns:mc="http://schemas.openxmlformats.org/markup-compatibility/2006">
              <mc:Choice xmlns:v="urn:schemas-microsoft-com:vml" Requires="v">
                <p:oleObj name="数式" r:id="rId4" imgW="787058" imgH="203112" progId="Equation.3">
                  <p:embed/>
                </p:oleObj>
              </mc:Choice>
              <mc:Fallback>
                <p:oleObj name="数式" r:id="rId4" imgW="787058" imgH="203112"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2475" y="3838575"/>
                        <a:ext cx="1700213"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6" name="Object 6">
            <a:extLst>
              <a:ext uri="{FF2B5EF4-FFF2-40B4-BE49-F238E27FC236}">
                <a16:creationId xmlns:a16="http://schemas.microsoft.com/office/drawing/2014/main" id="{AF866A95-A7B4-4F27-A093-1033502C5BCB}"/>
              </a:ext>
            </a:extLst>
          </p:cNvPr>
          <p:cNvGraphicFramePr>
            <a:graphicFrameLocks noChangeAspect="1"/>
          </p:cNvGraphicFramePr>
          <p:nvPr/>
        </p:nvGraphicFramePr>
        <p:xfrm>
          <a:off x="4181475" y="3846513"/>
          <a:ext cx="1700213" cy="438150"/>
        </p:xfrm>
        <a:graphic>
          <a:graphicData uri="http://schemas.openxmlformats.org/presentationml/2006/ole">
            <mc:AlternateContent xmlns:mc="http://schemas.openxmlformats.org/markup-compatibility/2006">
              <mc:Choice xmlns:v="urn:schemas-microsoft-com:vml" Requires="v">
                <p:oleObj name="数式" r:id="rId6" imgW="787058" imgH="203112" progId="Equation.3">
                  <p:embed/>
                </p:oleObj>
              </mc:Choice>
              <mc:Fallback>
                <p:oleObj name="数式" r:id="rId6" imgW="787058" imgH="203112"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81475" y="3846513"/>
                        <a:ext cx="1700213"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7">
            <a:extLst>
              <a:ext uri="{FF2B5EF4-FFF2-40B4-BE49-F238E27FC236}">
                <a16:creationId xmlns:a16="http://schemas.microsoft.com/office/drawing/2014/main" id="{98A120C8-06B0-4F8C-9AFC-4CD7D439A68E}"/>
              </a:ext>
            </a:extLst>
          </p:cNvPr>
          <p:cNvGraphicFramePr>
            <a:graphicFrameLocks noChangeAspect="1"/>
          </p:cNvGraphicFramePr>
          <p:nvPr/>
        </p:nvGraphicFramePr>
        <p:xfrm>
          <a:off x="4211638" y="3389313"/>
          <a:ext cx="1673225" cy="438150"/>
        </p:xfrm>
        <a:graphic>
          <a:graphicData uri="http://schemas.openxmlformats.org/presentationml/2006/ole">
            <mc:AlternateContent xmlns:mc="http://schemas.openxmlformats.org/markup-compatibility/2006">
              <mc:Choice xmlns:v="urn:schemas-microsoft-com:vml" Requires="v">
                <p:oleObj name="数式" r:id="rId8" imgW="774364" imgH="203112" progId="Equation.3">
                  <p:embed/>
                </p:oleObj>
              </mc:Choice>
              <mc:Fallback>
                <p:oleObj name="数式" r:id="rId8" imgW="774364" imgH="203112"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638" y="3389313"/>
                        <a:ext cx="16732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8" name="Object 8">
            <a:extLst>
              <a:ext uri="{FF2B5EF4-FFF2-40B4-BE49-F238E27FC236}">
                <a16:creationId xmlns:a16="http://schemas.microsoft.com/office/drawing/2014/main" id="{B10D7FB1-8DF4-4A68-82D0-283CD5D22472}"/>
              </a:ext>
            </a:extLst>
          </p:cNvPr>
          <p:cNvGraphicFramePr>
            <a:graphicFrameLocks noChangeAspect="1"/>
          </p:cNvGraphicFramePr>
          <p:nvPr/>
        </p:nvGraphicFramePr>
        <p:xfrm>
          <a:off x="6191250" y="3424238"/>
          <a:ext cx="1673225" cy="438150"/>
        </p:xfrm>
        <a:graphic>
          <a:graphicData uri="http://schemas.openxmlformats.org/presentationml/2006/ole">
            <mc:AlternateContent xmlns:mc="http://schemas.openxmlformats.org/markup-compatibility/2006">
              <mc:Choice xmlns:v="urn:schemas-microsoft-com:vml" Requires="v">
                <p:oleObj name="数式" r:id="rId10" imgW="774364" imgH="203112" progId="Equation.3">
                  <p:embed/>
                </p:oleObj>
              </mc:Choice>
              <mc:Fallback>
                <p:oleObj name="数式" r:id="rId10" imgW="774364" imgH="203112"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91250" y="3424238"/>
                        <a:ext cx="16732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9" name="Text Box 9">
            <a:extLst>
              <a:ext uri="{FF2B5EF4-FFF2-40B4-BE49-F238E27FC236}">
                <a16:creationId xmlns:a16="http://schemas.microsoft.com/office/drawing/2014/main" id="{4281FD67-B430-4E60-9934-ABFC4D432C4D}"/>
              </a:ext>
            </a:extLst>
          </p:cNvPr>
          <p:cNvSpPr txBox="1">
            <a:spLocks noChangeArrowheads="1"/>
          </p:cNvSpPr>
          <p:nvPr/>
        </p:nvSpPr>
        <p:spPr bwMode="auto">
          <a:xfrm>
            <a:off x="2484438" y="4467225"/>
            <a:ext cx="6478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ja-JP" altLang="en-US" dirty="0">
                <a:latin typeface="Verdana" panose="020B0604030504040204" pitchFamily="34" charset="0"/>
                <a:ea typeface="黑体" panose="02010609060101010101" pitchFamily="49" charset="-122"/>
              </a:rPr>
              <a:t>16000, 10500, 36000, 87500, 34500</a:t>
            </a:r>
          </a:p>
        </p:txBody>
      </p:sp>
      <p:grpSp>
        <p:nvGrpSpPr>
          <p:cNvPr id="2" name="Group 18">
            <a:extLst>
              <a:ext uri="{FF2B5EF4-FFF2-40B4-BE49-F238E27FC236}">
                <a16:creationId xmlns:a16="http://schemas.microsoft.com/office/drawing/2014/main" id="{F9315B1F-FD7A-4643-B70F-CFFE5DDEC493}"/>
              </a:ext>
            </a:extLst>
          </p:cNvPr>
          <p:cNvGrpSpPr>
            <a:grpSpLocks/>
          </p:cNvGrpSpPr>
          <p:nvPr/>
        </p:nvGrpSpPr>
        <p:grpSpPr bwMode="auto">
          <a:xfrm>
            <a:off x="1071563" y="2143125"/>
            <a:ext cx="6372225" cy="428625"/>
            <a:chOff x="824" y="2639"/>
            <a:chExt cx="4014" cy="270"/>
          </a:xfrm>
        </p:grpSpPr>
        <p:graphicFrame>
          <p:nvGraphicFramePr>
            <p:cNvPr id="21517" name="Object 19">
              <a:extLst>
                <a:ext uri="{FF2B5EF4-FFF2-40B4-BE49-F238E27FC236}">
                  <a16:creationId xmlns:a16="http://schemas.microsoft.com/office/drawing/2014/main" id="{71605AF5-7C7B-4F3B-831F-C9E2BE38F5A9}"/>
                </a:ext>
              </a:extLst>
            </p:cNvPr>
            <p:cNvGraphicFramePr>
              <a:graphicFrameLocks noChangeAspect="1"/>
            </p:cNvGraphicFramePr>
            <p:nvPr/>
          </p:nvGraphicFramePr>
          <p:xfrm>
            <a:off x="824" y="2665"/>
            <a:ext cx="975" cy="244"/>
          </p:xfrm>
          <a:graphic>
            <a:graphicData uri="http://schemas.openxmlformats.org/presentationml/2006/ole">
              <mc:AlternateContent xmlns:mc="http://schemas.openxmlformats.org/markup-compatibility/2006">
                <mc:Choice xmlns:v="urn:schemas-microsoft-com:vml" Requires="v">
                  <p:oleObj name="数式" r:id="rId12" imgW="710891" imgH="177723" progId="Equation.3">
                    <p:embed/>
                  </p:oleObj>
                </mc:Choice>
                <mc:Fallback>
                  <p:oleObj name="数式" r:id="rId12" imgW="710891" imgH="177723" progId="Equation.3">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4" y="2665"/>
                          <a:ext cx="975"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8" name="Object 20">
              <a:extLst>
                <a:ext uri="{FF2B5EF4-FFF2-40B4-BE49-F238E27FC236}">
                  <a16:creationId xmlns:a16="http://schemas.microsoft.com/office/drawing/2014/main" id="{31C904C7-B855-4B3E-A007-FF0519A15834}"/>
                </a:ext>
              </a:extLst>
            </p:cNvPr>
            <p:cNvGraphicFramePr>
              <a:graphicFrameLocks noChangeAspect="1"/>
            </p:cNvGraphicFramePr>
            <p:nvPr/>
          </p:nvGraphicFramePr>
          <p:xfrm>
            <a:off x="1860" y="2660"/>
            <a:ext cx="954" cy="239"/>
          </p:xfrm>
          <a:graphic>
            <a:graphicData uri="http://schemas.openxmlformats.org/presentationml/2006/ole">
              <mc:AlternateContent xmlns:mc="http://schemas.openxmlformats.org/markup-compatibility/2006">
                <mc:Choice xmlns:v="urn:schemas-microsoft-com:vml" Requires="v">
                  <p:oleObj name="数式" r:id="rId14" imgW="710891" imgH="177723" progId="Equation.3">
                    <p:embed/>
                  </p:oleObj>
                </mc:Choice>
                <mc:Fallback>
                  <p:oleObj name="数式" r:id="rId14" imgW="710891" imgH="177723" progId="Equation.3">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60" y="2660"/>
                          <a:ext cx="954"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9" name="Object 21">
              <a:extLst>
                <a:ext uri="{FF2B5EF4-FFF2-40B4-BE49-F238E27FC236}">
                  <a16:creationId xmlns:a16="http://schemas.microsoft.com/office/drawing/2014/main" id="{700FCFD0-210D-4EC1-BBB6-4DA0EB53CC6B}"/>
                </a:ext>
              </a:extLst>
            </p:cNvPr>
            <p:cNvGraphicFramePr>
              <a:graphicFrameLocks noChangeAspect="1"/>
            </p:cNvGraphicFramePr>
            <p:nvPr/>
          </p:nvGraphicFramePr>
          <p:xfrm>
            <a:off x="2866" y="2649"/>
            <a:ext cx="1011" cy="244"/>
          </p:xfrm>
          <a:graphic>
            <a:graphicData uri="http://schemas.openxmlformats.org/presentationml/2006/ole">
              <mc:AlternateContent xmlns:mc="http://schemas.openxmlformats.org/markup-compatibility/2006">
                <mc:Choice xmlns:v="urn:schemas-microsoft-com:vml" Requires="v">
                  <p:oleObj name="数式" r:id="rId16" imgW="736280" imgH="177723" progId="Equation.3">
                    <p:embed/>
                  </p:oleObj>
                </mc:Choice>
                <mc:Fallback>
                  <p:oleObj name="数式" r:id="rId16" imgW="736280" imgH="177723" progId="Equation.3">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66" y="2649"/>
                          <a:ext cx="1011"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0" name="Object 22">
              <a:extLst>
                <a:ext uri="{FF2B5EF4-FFF2-40B4-BE49-F238E27FC236}">
                  <a16:creationId xmlns:a16="http://schemas.microsoft.com/office/drawing/2014/main" id="{42C705BA-8F56-4021-80B7-03DEAE3F2B9E}"/>
                </a:ext>
              </a:extLst>
            </p:cNvPr>
            <p:cNvGraphicFramePr>
              <a:graphicFrameLocks noChangeAspect="1"/>
            </p:cNvGraphicFramePr>
            <p:nvPr/>
          </p:nvGraphicFramePr>
          <p:xfrm>
            <a:off x="3940" y="2639"/>
            <a:ext cx="898" cy="242"/>
          </p:xfrm>
          <a:graphic>
            <a:graphicData uri="http://schemas.openxmlformats.org/presentationml/2006/ole">
              <mc:AlternateContent xmlns:mc="http://schemas.openxmlformats.org/markup-compatibility/2006">
                <mc:Choice xmlns:v="urn:schemas-microsoft-com:vml" Requires="v">
                  <p:oleObj name="数式" r:id="rId18" imgW="660113" imgH="177723" progId="Equation.3">
                    <p:embed/>
                  </p:oleObj>
                </mc:Choice>
                <mc:Fallback>
                  <p:oleObj name="数式" r:id="rId18" imgW="660113" imgH="177723" progId="Equation.3">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40" y="2639"/>
                          <a:ext cx="89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64" name="Rectangle 24">
            <a:extLst>
              <a:ext uri="{FF2B5EF4-FFF2-40B4-BE49-F238E27FC236}">
                <a16:creationId xmlns:a16="http://schemas.microsoft.com/office/drawing/2014/main" id="{D15A2F45-99A4-41EA-90BC-B22057F1823F}"/>
              </a:ext>
            </a:extLst>
          </p:cNvPr>
          <p:cNvSpPr>
            <a:spLocks noChangeArrowheads="1"/>
          </p:cNvSpPr>
          <p:nvPr/>
        </p:nvSpPr>
        <p:spPr bwMode="auto">
          <a:xfrm>
            <a:off x="785813" y="2786063"/>
            <a:ext cx="4297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accent2"/>
              </a:buClr>
              <a:buSzPct val="50000"/>
              <a:buFont typeface="Wingdings" panose="05000000000000000000" pitchFamily="2" charset="2"/>
              <a:buChar char="u"/>
            </a:pPr>
            <a:r>
              <a:rPr lang="zh-CN" altLang="en-US" dirty="0">
                <a:latin typeface="华文中宋" panose="02010600040101010101" pitchFamily="2" charset="-122"/>
                <a:ea typeface="华文中宋" panose="02010600040101010101" pitchFamily="2" charset="-122"/>
              </a:rPr>
              <a:t>总共有五种完全加括号的方式</a:t>
            </a:r>
            <a:endParaRPr lang="ja-JP" altLang="en-US" dirty="0">
              <a:latin typeface="华文中宋" panose="02010600040101010101" pitchFamily="2" charset="-122"/>
              <a:ea typeface="华文中宋" panose="02010600040101010101" pitchFamily="2" charset="-122"/>
            </a:endParaRPr>
          </a:p>
        </p:txBody>
      </p:sp>
      <p:sp>
        <p:nvSpPr>
          <p:cNvPr id="35866" name="Text Box 26">
            <a:extLst>
              <a:ext uri="{FF2B5EF4-FFF2-40B4-BE49-F238E27FC236}">
                <a16:creationId xmlns:a16="http://schemas.microsoft.com/office/drawing/2014/main" id="{0651AF00-6E79-4A82-805C-D72B93574148}"/>
              </a:ext>
            </a:extLst>
          </p:cNvPr>
          <p:cNvSpPr txBox="1">
            <a:spLocks noChangeArrowheads="1"/>
          </p:cNvSpPr>
          <p:nvPr/>
        </p:nvSpPr>
        <p:spPr bwMode="auto">
          <a:xfrm>
            <a:off x="611188" y="4471988"/>
            <a:ext cx="1979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3333CC"/>
                </a:solidFill>
                <a:ea typeface="华文中宋" panose="02010600040101010101" pitchFamily="2" charset="-122"/>
              </a:rPr>
              <a:t>乘法运算数</a:t>
            </a:r>
          </a:p>
        </p:txBody>
      </p:sp>
      <mc:AlternateContent xmlns:mc="http://schemas.openxmlformats.org/markup-compatibility/2006" xmlns:p14="http://schemas.microsoft.com/office/powerpoint/2010/main">
        <mc:Choice Requires="p14">
          <p:contentPart p14:bwMode="auto" r:id="rId20">
            <p14:nvContentPartPr>
              <p14:cNvPr id="3" name="墨迹 2">
                <a:extLst>
                  <a:ext uri="{FF2B5EF4-FFF2-40B4-BE49-F238E27FC236}">
                    <a16:creationId xmlns:a16="http://schemas.microsoft.com/office/drawing/2014/main" id="{44E3865E-24F8-006E-DFAB-3806646377E5}"/>
                  </a:ext>
                </a:extLst>
              </p14:cNvPr>
              <p14:cNvContentPartPr/>
              <p14:nvPr/>
            </p14:nvContentPartPr>
            <p14:xfrm>
              <a:off x="2597400" y="3321000"/>
              <a:ext cx="2622240" cy="995040"/>
            </p14:xfrm>
          </p:contentPart>
        </mc:Choice>
        <mc:Fallback xmlns="">
          <p:pic>
            <p:nvPicPr>
              <p:cNvPr id="3" name="墨迹 2">
                <a:extLst>
                  <a:ext uri="{FF2B5EF4-FFF2-40B4-BE49-F238E27FC236}">
                    <a16:creationId xmlns:a16="http://schemas.microsoft.com/office/drawing/2014/main" id="{44E3865E-24F8-006E-DFAB-3806646377E5}"/>
                  </a:ext>
                </a:extLst>
              </p:cNvPr>
              <p:cNvPicPr/>
              <p:nvPr/>
            </p:nvPicPr>
            <p:blipFill>
              <a:blip r:embed="rId21"/>
              <a:stretch>
                <a:fillRect/>
              </a:stretch>
            </p:blipFill>
            <p:spPr>
              <a:xfrm>
                <a:off x="2588040" y="3311640"/>
                <a:ext cx="2640960" cy="10137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 calcmode="lin" valueType="num">
                                      <p:cBhvr additive="base">
                                        <p:cTn id="7" dur="500" fill="hold"/>
                                        <p:tgtEl>
                                          <p:spTgt spid="358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3">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5864"/>
                                        </p:tgtEl>
                                        <p:attrNameLst>
                                          <p:attrName>style.visibility</p:attrName>
                                        </p:attrNameLst>
                                      </p:cBhvr>
                                      <p:to>
                                        <p:strVal val="visible"/>
                                      </p:to>
                                    </p:set>
                                    <p:anim calcmode="lin" valueType="num">
                                      <p:cBhvr additive="base">
                                        <p:cTn id="18" dur="500" fill="hold"/>
                                        <p:tgtEl>
                                          <p:spTgt spid="35864"/>
                                        </p:tgtEl>
                                        <p:attrNameLst>
                                          <p:attrName>ppt_x</p:attrName>
                                        </p:attrNameLst>
                                      </p:cBhvr>
                                      <p:tavLst>
                                        <p:tav tm="0">
                                          <p:val>
                                            <p:strVal val="0-#ppt_w/2"/>
                                          </p:val>
                                        </p:tav>
                                        <p:tav tm="100000">
                                          <p:val>
                                            <p:strVal val="#ppt_x"/>
                                          </p:val>
                                        </p:tav>
                                      </p:tavLst>
                                    </p:anim>
                                    <p:anim calcmode="lin" valueType="num">
                                      <p:cBhvr additive="base">
                                        <p:cTn id="19" dur="500" fill="hold"/>
                                        <p:tgtEl>
                                          <p:spTgt spid="35864"/>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nodeType="afterEffect">
                                  <p:stCondLst>
                                    <p:cond delay="0"/>
                                  </p:stCondLst>
                                  <p:childTnLst>
                                    <p:set>
                                      <p:cBhvr>
                                        <p:cTn id="22" dur="1" fill="hold">
                                          <p:stCondLst>
                                            <p:cond delay="0"/>
                                          </p:stCondLst>
                                        </p:cTn>
                                        <p:tgtEl>
                                          <p:spTgt spid="35844"/>
                                        </p:tgtEl>
                                        <p:attrNameLst>
                                          <p:attrName>style.visibility</p:attrName>
                                        </p:attrNameLst>
                                      </p:cBhvr>
                                      <p:to>
                                        <p:strVal val="visible"/>
                                      </p:to>
                                    </p:set>
                                    <p:anim calcmode="lin" valueType="num">
                                      <p:cBhvr additive="base">
                                        <p:cTn id="23" dur="500" fill="hold"/>
                                        <p:tgtEl>
                                          <p:spTgt spid="35844"/>
                                        </p:tgtEl>
                                        <p:attrNameLst>
                                          <p:attrName>ppt_x</p:attrName>
                                        </p:attrNameLst>
                                      </p:cBhvr>
                                      <p:tavLst>
                                        <p:tav tm="0">
                                          <p:val>
                                            <p:strVal val="0-#ppt_w/2"/>
                                          </p:val>
                                        </p:tav>
                                        <p:tav tm="100000">
                                          <p:val>
                                            <p:strVal val="#ppt_x"/>
                                          </p:val>
                                        </p:tav>
                                      </p:tavLst>
                                    </p:anim>
                                    <p:anim calcmode="lin" valueType="num">
                                      <p:cBhvr additive="base">
                                        <p:cTn id="24" dur="500" fill="hold"/>
                                        <p:tgtEl>
                                          <p:spTgt spid="35844"/>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1000"/>
                            </p:stCondLst>
                            <p:childTnLst>
                              <p:par>
                                <p:cTn id="26" presetID="2" presetClass="entr" presetSubtype="8" fill="hold" nodeType="afterEffect">
                                  <p:stCondLst>
                                    <p:cond delay="0"/>
                                  </p:stCondLst>
                                  <p:childTnLst>
                                    <p:set>
                                      <p:cBhvr>
                                        <p:cTn id="27" dur="1" fill="hold">
                                          <p:stCondLst>
                                            <p:cond delay="0"/>
                                          </p:stCondLst>
                                        </p:cTn>
                                        <p:tgtEl>
                                          <p:spTgt spid="35847"/>
                                        </p:tgtEl>
                                        <p:attrNameLst>
                                          <p:attrName>style.visibility</p:attrName>
                                        </p:attrNameLst>
                                      </p:cBhvr>
                                      <p:to>
                                        <p:strVal val="visible"/>
                                      </p:to>
                                    </p:set>
                                    <p:anim calcmode="lin" valueType="num">
                                      <p:cBhvr additive="base">
                                        <p:cTn id="28" dur="500" fill="hold"/>
                                        <p:tgtEl>
                                          <p:spTgt spid="35847"/>
                                        </p:tgtEl>
                                        <p:attrNameLst>
                                          <p:attrName>ppt_x</p:attrName>
                                        </p:attrNameLst>
                                      </p:cBhvr>
                                      <p:tavLst>
                                        <p:tav tm="0">
                                          <p:val>
                                            <p:strVal val="0-#ppt_w/2"/>
                                          </p:val>
                                        </p:tav>
                                        <p:tav tm="100000">
                                          <p:val>
                                            <p:strVal val="#ppt_x"/>
                                          </p:val>
                                        </p:tav>
                                      </p:tavLst>
                                    </p:anim>
                                    <p:anim calcmode="lin" valueType="num">
                                      <p:cBhvr additive="base">
                                        <p:cTn id="29" dur="500" fill="hold"/>
                                        <p:tgtEl>
                                          <p:spTgt spid="35847"/>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1500"/>
                            </p:stCondLst>
                            <p:childTnLst>
                              <p:par>
                                <p:cTn id="31" presetID="2" presetClass="entr" presetSubtype="8" fill="hold" nodeType="afterEffect">
                                  <p:stCondLst>
                                    <p:cond delay="0"/>
                                  </p:stCondLst>
                                  <p:childTnLst>
                                    <p:set>
                                      <p:cBhvr>
                                        <p:cTn id="32" dur="1" fill="hold">
                                          <p:stCondLst>
                                            <p:cond delay="0"/>
                                          </p:stCondLst>
                                        </p:cTn>
                                        <p:tgtEl>
                                          <p:spTgt spid="35848"/>
                                        </p:tgtEl>
                                        <p:attrNameLst>
                                          <p:attrName>style.visibility</p:attrName>
                                        </p:attrNameLst>
                                      </p:cBhvr>
                                      <p:to>
                                        <p:strVal val="visible"/>
                                      </p:to>
                                    </p:set>
                                    <p:anim calcmode="lin" valueType="num">
                                      <p:cBhvr additive="base">
                                        <p:cTn id="33" dur="500" fill="hold"/>
                                        <p:tgtEl>
                                          <p:spTgt spid="35848"/>
                                        </p:tgtEl>
                                        <p:attrNameLst>
                                          <p:attrName>ppt_x</p:attrName>
                                        </p:attrNameLst>
                                      </p:cBhvr>
                                      <p:tavLst>
                                        <p:tav tm="0">
                                          <p:val>
                                            <p:strVal val="0-#ppt_w/2"/>
                                          </p:val>
                                        </p:tav>
                                        <p:tav tm="100000">
                                          <p:val>
                                            <p:strVal val="#ppt_x"/>
                                          </p:val>
                                        </p:tav>
                                      </p:tavLst>
                                    </p:anim>
                                    <p:anim calcmode="lin" valueType="num">
                                      <p:cBhvr additive="base">
                                        <p:cTn id="34" dur="500" fill="hold"/>
                                        <p:tgtEl>
                                          <p:spTgt spid="35848"/>
                                        </p:tgtEl>
                                        <p:attrNameLst>
                                          <p:attrName>ppt_y</p:attrName>
                                        </p:attrNameLst>
                                      </p:cBhvr>
                                      <p:tavLst>
                                        <p:tav tm="0">
                                          <p:val>
                                            <p:strVal val="#ppt_y"/>
                                          </p:val>
                                        </p:tav>
                                        <p:tav tm="100000">
                                          <p:val>
                                            <p:strVal val="#ppt_y"/>
                                          </p:val>
                                        </p:tav>
                                      </p:tavLst>
                                    </p:anim>
                                  </p:childTnLst>
                                </p:cTn>
                              </p:par>
                            </p:childTnLst>
                          </p:cTn>
                        </p:par>
                        <p:par>
                          <p:cTn id="35" fill="hold" nodeType="afterGroup">
                            <p:stCondLst>
                              <p:cond delay="2000"/>
                            </p:stCondLst>
                            <p:childTnLst>
                              <p:par>
                                <p:cTn id="36" presetID="2" presetClass="entr" presetSubtype="8" fill="hold" nodeType="afterEffect">
                                  <p:stCondLst>
                                    <p:cond delay="0"/>
                                  </p:stCondLst>
                                  <p:childTnLst>
                                    <p:set>
                                      <p:cBhvr>
                                        <p:cTn id="37" dur="1" fill="hold">
                                          <p:stCondLst>
                                            <p:cond delay="0"/>
                                          </p:stCondLst>
                                        </p:cTn>
                                        <p:tgtEl>
                                          <p:spTgt spid="35845"/>
                                        </p:tgtEl>
                                        <p:attrNameLst>
                                          <p:attrName>style.visibility</p:attrName>
                                        </p:attrNameLst>
                                      </p:cBhvr>
                                      <p:to>
                                        <p:strVal val="visible"/>
                                      </p:to>
                                    </p:set>
                                    <p:anim calcmode="lin" valueType="num">
                                      <p:cBhvr additive="base">
                                        <p:cTn id="38" dur="500" fill="hold"/>
                                        <p:tgtEl>
                                          <p:spTgt spid="35845"/>
                                        </p:tgtEl>
                                        <p:attrNameLst>
                                          <p:attrName>ppt_x</p:attrName>
                                        </p:attrNameLst>
                                      </p:cBhvr>
                                      <p:tavLst>
                                        <p:tav tm="0">
                                          <p:val>
                                            <p:strVal val="0-#ppt_w/2"/>
                                          </p:val>
                                        </p:tav>
                                        <p:tav tm="100000">
                                          <p:val>
                                            <p:strVal val="#ppt_x"/>
                                          </p:val>
                                        </p:tav>
                                      </p:tavLst>
                                    </p:anim>
                                    <p:anim calcmode="lin" valueType="num">
                                      <p:cBhvr additive="base">
                                        <p:cTn id="39" dur="500" fill="hold"/>
                                        <p:tgtEl>
                                          <p:spTgt spid="35845"/>
                                        </p:tgtEl>
                                        <p:attrNameLst>
                                          <p:attrName>ppt_y</p:attrName>
                                        </p:attrNameLst>
                                      </p:cBhvr>
                                      <p:tavLst>
                                        <p:tav tm="0">
                                          <p:val>
                                            <p:strVal val="#ppt_y"/>
                                          </p:val>
                                        </p:tav>
                                        <p:tav tm="100000">
                                          <p:val>
                                            <p:strVal val="#ppt_y"/>
                                          </p:val>
                                        </p:tav>
                                      </p:tavLst>
                                    </p:anim>
                                  </p:childTnLst>
                                </p:cTn>
                              </p:par>
                            </p:childTnLst>
                          </p:cTn>
                        </p:par>
                        <p:par>
                          <p:cTn id="40" fill="hold" nodeType="afterGroup">
                            <p:stCondLst>
                              <p:cond delay="2500"/>
                            </p:stCondLst>
                            <p:childTnLst>
                              <p:par>
                                <p:cTn id="41" presetID="2" presetClass="entr" presetSubtype="8" fill="hold" nodeType="afterEffect">
                                  <p:stCondLst>
                                    <p:cond delay="0"/>
                                  </p:stCondLst>
                                  <p:childTnLst>
                                    <p:set>
                                      <p:cBhvr>
                                        <p:cTn id="42" dur="1" fill="hold">
                                          <p:stCondLst>
                                            <p:cond delay="0"/>
                                          </p:stCondLst>
                                        </p:cTn>
                                        <p:tgtEl>
                                          <p:spTgt spid="35846"/>
                                        </p:tgtEl>
                                        <p:attrNameLst>
                                          <p:attrName>style.visibility</p:attrName>
                                        </p:attrNameLst>
                                      </p:cBhvr>
                                      <p:to>
                                        <p:strVal val="visible"/>
                                      </p:to>
                                    </p:set>
                                    <p:anim calcmode="lin" valueType="num">
                                      <p:cBhvr additive="base">
                                        <p:cTn id="43" dur="500" fill="hold"/>
                                        <p:tgtEl>
                                          <p:spTgt spid="35846"/>
                                        </p:tgtEl>
                                        <p:attrNameLst>
                                          <p:attrName>ppt_x</p:attrName>
                                        </p:attrNameLst>
                                      </p:cBhvr>
                                      <p:tavLst>
                                        <p:tav tm="0">
                                          <p:val>
                                            <p:strVal val="0-#ppt_w/2"/>
                                          </p:val>
                                        </p:tav>
                                        <p:tav tm="100000">
                                          <p:val>
                                            <p:strVal val="#ppt_x"/>
                                          </p:val>
                                        </p:tav>
                                      </p:tavLst>
                                    </p:anim>
                                    <p:anim calcmode="lin" valueType="num">
                                      <p:cBhvr additive="base">
                                        <p:cTn id="44" dur="500" fill="hold"/>
                                        <p:tgtEl>
                                          <p:spTgt spid="3584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5866"/>
                                        </p:tgtEl>
                                        <p:attrNameLst>
                                          <p:attrName>style.visibility</p:attrName>
                                        </p:attrNameLst>
                                      </p:cBhvr>
                                      <p:to>
                                        <p:strVal val="visible"/>
                                      </p:to>
                                    </p:set>
                                    <p:anim calcmode="lin" valueType="num">
                                      <p:cBhvr additive="base">
                                        <p:cTn id="49" dur="500" fill="hold"/>
                                        <p:tgtEl>
                                          <p:spTgt spid="35866"/>
                                        </p:tgtEl>
                                        <p:attrNameLst>
                                          <p:attrName>ppt_x</p:attrName>
                                        </p:attrNameLst>
                                      </p:cBhvr>
                                      <p:tavLst>
                                        <p:tav tm="0">
                                          <p:val>
                                            <p:strVal val="0-#ppt_w/2"/>
                                          </p:val>
                                        </p:tav>
                                        <p:tav tm="100000">
                                          <p:val>
                                            <p:strVal val="#ppt_x"/>
                                          </p:val>
                                        </p:tav>
                                      </p:tavLst>
                                    </p:anim>
                                    <p:anim calcmode="lin" valueType="num">
                                      <p:cBhvr additive="base">
                                        <p:cTn id="50" dur="500" fill="hold"/>
                                        <p:tgtEl>
                                          <p:spTgt spid="35866"/>
                                        </p:tgtEl>
                                        <p:attrNameLst>
                                          <p:attrName>ppt_y</p:attrName>
                                        </p:attrNameLst>
                                      </p:cBhvr>
                                      <p:tavLst>
                                        <p:tav tm="0">
                                          <p:val>
                                            <p:strVal val="#ppt_y"/>
                                          </p:val>
                                        </p:tav>
                                        <p:tav tm="100000">
                                          <p:val>
                                            <p:strVal val="#ppt_y"/>
                                          </p:val>
                                        </p:tav>
                                      </p:tavLst>
                                    </p:anim>
                                  </p:childTnLst>
                                </p:cTn>
                              </p:par>
                            </p:childTnLst>
                          </p:cTn>
                        </p:par>
                        <p:par>
                          <p:cTn id="51" fill="hold" nodeType="afterGroup">
                            <p:stCondLst>
                              <p:cond delay="500"/>
                            </p:stCondLst>
                            <p:childTnLst>
                              <p:par>
                                <p:cTn id="52" presetID="2" presetClass="entr" presetSubtype="8" fill="hold" grpId="0" nodeType="afterEffect">
                                  <p:stCondLst>
                                    <p:cond delay="0"/>
                                  </p:stCondLst>
                                  <p:childTnLst>
                                    <p:set>
                                      <p:cBhvr>
                                        <p:cTn id="53" dur="1" fill="hold">
                                          <p:stCondLst>
                                            <p:cond delay="0"/>
                                          </p:stCondLst>
                                        </p:cTn>
                                        <p:tgtEl>
                                          <p:spTgt spid="35849"/>
                                        </p:tgtEl>
                                        <p:attrNameLst>
                                          <p:attrName>style.visibility</p:attrName>
                                        </p:attrNameLst>
                                      </p:cBhvr>
                                      <p:to>
                                        <p:strVal val="visible"/>
                                      </p:to>
                                    </p:set>
                                    <p:anim calcmode="lin" valueType="num">
                                      <p:cBhvr additive="base">
                                        <p:cTn id="54" dur="500" fill="hold"/>
                                        <p:tgtEl>
                                          <p:spTgt spid="35849"/>
                                        </p:tgtEl>
                                        <p:attrNameLst>
                                          <p:attrName>ppt_x</p:attrName>
                                        </p:attrNameLst>
                                      </p:cBhvr>
                                      <p:tavLst>
                                        <p:tav tm="0">
                                          <p:val>
                                            <p:strVal val="0-#ppt_w/2"/>
                                          </p:val>
                                        </p:tav>
                                        <p:tav tm="100000">
                                          <p:val>
                                            <p:strVal val="#ppt_x"/>
                                          </p:val>
                                        </p:tav>
                                      </p:tavLst>
                                    </p:anim>
                                    <p:anim calcmode="lin" valueType="num">
                                      <p:cBhvr additive="base">
                                        <p:cTn id="55" dur="500" fill="hold"/>
                                        <p:tgtEl>
                                          <p:spTgt spid="358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P spid="35849" grpId="0" autoUpdateAnimBg="0"/>
      <p:bldP spid="35864" grpId="0" autoUpdateAnimBg="0"/>
      <p:bldP spid="3586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3246F24-888D-4035-AD16-ED4C19A662E4}"/>
              </a:ext>
            </a:extLst>
          </p:cNvPr>
          <p:cNvSpPr>
            <a:spLocks noGrp="1" noChangeArrowheads="1"/>
          </p:cNvSpPr>
          <p:nvPr>
            <p:ph type="title"/>
          </p:nvPr>
        </p:nvSpPr>
        <p:spPr bwMode="auto">
          <a:xfrm>
            <a:off x="685800" y="3048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二、算法分析</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穷举法行吗？</a:t>
            </a:r>
          </a:p>
        </p:txBody>
      </p:sp>
      <p:sp>
        <p:nvSpPr>
          <p:cNvPr id="20483" name="Rectangle 3">
            <a:extLst>
              <a:ext uri="{FF2B5EF4-FFF2-40B4-BE49-F238E27FC236}">
                <a16:creationId xmlns:a16="http://schemas.microsoft.com/office/drawing/2014/main" id="{887F3AEF-277E-474D-88D5-8E4F3228CEFB}"/>
              </a:ext>
            </a:extLst>
          </p:cNvPr>
          <p:cNvSpPr>
            <a:spLocks noGrp="1" noChangeArrowheads="1"/>
          </p:cNvSpPr>
          <p:nvPr>
            <p:ph type="body" idx="1"/>
          </p:nvPr>
        </p:nvSpPr>
        <p:spPr bwMode="auto">
          <a:xfrm>
            <a:off x="457200" y="1143000"/>
            <a:ext cx="83820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50000"/>
              </a:spcBef>
              <a:buFontTx/>
              <a:buNone/>
            </a:pPr>
            <a:r>
              <a:rPr lang="zh-CN" altLang="en-US" sz="2800" b="1" dirty="0"/>
              <a:t>列举所有可能的计算次序，并计算出每一种计算次序相应需要的数乘次数 </a:t>
            </a:r>
          </a:p>
        </p:txBody>
      </p:sp>
      <p:sp>
        <p:nvSpPr>
          <p:cNvPr id="20484" name="Text Box 4">
            <a:extLst>
              <a:ext uri="{FF2B5EF4-FFF2-40B4-BE49-F238E27FC236}">
                <a16:creationId xmlns:a16="http://schemas.microsoft.com/office/drawing/2014/main" id="{6E9C4C51-1E5F-42AD-8D09-7DDA108FE4DE}"/>
              </a:ext>
            </a:extLst>
          </p:cNvPr>
          <p:cNvSpPr txBox="1">
            <a:spLocks noChangeArrowheads="1"/>
          </p:cNvSpPr>
          <p:nvPr/>
        </p:nvSpPr>
        <p:spPr bwMode="auto">
          <a:xfrm>
            <a:off x="457200" y="2286000"/>
            <a:ext cx="83058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zh-CN" altLang="en-US" sz="2800" dirty="0">
                <a:ea typeface="华文中宋" panose="02010600040101010101" pitchFamily="2" charset="-122"/>
              </a:rPr>
              <a:t>所有可能的计算次序有多少？</a:t>
            </a:r>
          </a:p>
        </p:txBody>
      </p:sp>
      <p:sp>
        <p:nvSpPr>
          <p:cNvPr id="20485" name="Text Box 5">
            <a:extLst>
              <a:ext uri="{FF2B5EF4-FFF2-40B4-BE49-F238E27FC236}">
                <a16:creationId xmlns:a16="http://schemas.microsoft.com/office/drawing/2014/main" id="{43854576-B104-4EA0-BEF6-9A7DF8B88374}"/>
              </a:ext>
            </a:extLst>
          </p:cNvPr>
          <p:cNvSpPr txBox="1">
            <a:spLocks noChangeArrowheads="1"/>
          </p:cNvSpPr>
          <p:nvPr/>
        </p:nvSpPr>
        <p:spPr bwMode="auto">
          <a:xfrm>
            <a:off x="785813" y="3000375"/>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ea typeface="华文中宋" panose="02010600040101010101" pitchFamily="2" charset="-122"/>
              </a:rPr>
              <a:t>设矩阵序列的加括号方式为</a:t>
            </a:r>
            <a:r>
              <a:rPr lang="en-US" altLang="zh-CN" sz="2800" dirty="0">
                <a:ea typeface="华文中宋" panose="02010600040101010101" pitchFamily="2" charset="-122"/>
              </a:rPr>
              <a:t>b(n)</a:t>
            </a:r>
            <a:r>
              <a:rPr lang="zh-CN" altLang="en-US" sz="2800" dirty="0">
                <a:ea typeface="华文中宋" panose="02010600040101010101" pitchFamily="2" charset="-122"/>
              </a:rPr>
              <a:t>，可得： </a:t>
            </a:r>
          </a:p>
        </p:txBody>
      </p:sp>
      <p:grpSp>
        <p:nvGrpSpPr>
          <p:cNvPr id="2" name="Group 18">
            <a:extLst>
              <a:ext uri="{FF2B5EF4-FFF2-40B4-BE49-F238E27FC236}">
                <a16:creationId xmlns:a16="http://schemas.microsoft.com/office/drawing/2014/main" id="{99FC920B-6E60-49DC-B9B8-6E8BA6FBD0C4}"/>
              </a:ext>
            </a:extLst>
          </p:cNvPr>
          <p:cNvGrpSpPr>
            <a:grpSpLocks/>
          </p:cNvGrpSpPr>
          <p:nvPr/>
        </p:nvGrpSpPr>
        <p:grpSpPr bwMode="auto">
          <a:xfrm>
            <a:off x="2338388" y="3714750"/>
            <a:ext cx="5157787" cy="854075"/>
            <a:chOff x="1473" y="2592"/>
            <a:chExt cx="3249" cy="538"/>
          </a:xfrm>
        </p:grpSpPr>
        <p:grpSp>
          <p:nvGrpSpPr>
            <p:cNvPr id="22539" name="Group 17">
              <a:extLst>
                <a:ext uri="{FF2B5EF4-FFF2-40B4-BE49-F238E27FC236}">
                  <a16:creationId xmlns:a16="http://schemas.microsoft.com/office/drawing/2014/main" id="{7C206EB4-0E37-46CC-8398-A08AFE216C90}"/>
                </a:ext>
              </a:extLst>
            </p:cNvPr>
            <p:cNvGrpSpPr>
              <a:grpSpLocks/>
            </p:cNvGrpSpPr>
            <p:nvPr/>
          </p:nvGrpSpPr>
          <p:grpSpPr bwMode="auto">
            <a:xfrm>
              <a:off x="1536" y="2592"/>
              <a:ext cx="1344" cy="538"/>
              <a:chOff x="3888" y="3331"/>
              <a:chExt cx="1344" cy="538"/>
            </a:xfrm>
          </p:grpSpPr>
          <p:sp>
            <p:nvSpPr>
              <p:cNvPr id="22541" name="Text Box 8">
                <a:extLst>
                  <a:ext uri="{FF2B5EF4-FFF2-40B4-BE49-F238E27FC236}">
                    <a16:creationId xmlns:a16="http://schemas.microsoft.com/office/drawing/2014/main" id="{52AAA1B3-9F14-42BF-BDCA-A21D0256F9EF}"/>
                  </a:ext>
                </a:extLst>
              </p:cNvPr>
              <p:cNvSpPr txBox="1">
                <a:spLocks noChangeArrowheads="1"/>
              </p:cNvSpPr>
              <p:nvPr/>
            </p:nvSpPr>
            <p:spPr bwMode="auto">
              <a:xfrm>
                <a:off x="3888" y="3427"/>
                <a:ext cx="134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Palatino Linotype" panose="02040502050505030304" pitchFamily="18" charset="0"/>
                    <a:ea typeface="华文中宋" panose="02010600040101010101" pitchFamily="2" charset="-122"/>
                    <a:sym typeface="Symbol" panose="05050102010706020507" pitchFamily="18" charset="2"/>
                  </a:rPr>
                  <a:t> b(k)b(n-k)</a:t>
                </a:r>
                <a:endParaRPr lang="en-US" altLang="zh-CN" sz="2800" baseline="-25000" dirty="0">
                  <a:latin typeface="Palatino Linotype" panose="02040502050505030304" pitchFamily="18" charset="0"/>
                  <a:ea typeface="华文中宋" panose="02010600040101010101" pitchFamily="2" charset="-122"/>
                  <a:sym typeface="Symbol" panose="05050102010706020507" pitchFamily="18" charset="2"/>
                </a:endParaRPr>
              </a:p>
            </p:txBody>
          </p:sp>
          <p:sp>
            <p:nvSpPr>
              <p:cNvPr id="22542" name="Text Box 9">
                <a:extLst>
                  <a:ext uri="{FF2B5EF4-FFF2-40B4-BE49-F238E27FC236}">
                    <a16:creationId xmlns:a16="http://schemas.microsoft.com/office/drawing/2014/main" id="{7562ECDA-0607-4A40-B27A-EDB800C14894}"/>
                  </a:ext>
                </a:extLst>
              </p:cNvPr>
              <p:cNvSpPr txBox="1">
                <a:spLocks noChangeArrowheads="1"/>
              </p:cNvSpPr>
              <p:nvPr/>
            </p:nvSpPr>
            <p:spPr bwMode="auto">
              <a:xfrm>
                <a:off x="3888" y="3696"/>
                <a:ext cx="3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dirty="0">
                    <a:latin typeface="Palatino Linotype" panose="02040502050505030304" pitchFamily="18" charset="0"/>
                    <a:ea typeface="华文中宋" panose="02010600040101010101" pitchFamily="2" charset="-122"/>
                  </a:rPr>
                  <a:t>k=1</a:t>
                </a:r>
              </a:p>
            </p:txBody>
          </p:sp>
          <p:sp>
            <p:nvSpPr>
              <p:cNvPr id="22543" name="Text Box 10">
                <a:extLst>
                  <a:ext uri="{FF2B5EF4-FFF2-40B4-BE49-F238E27FC236}">
                    <a16:creationId xmlns:a16="http://schemas.microsoft.com/office/drawing/2014/main" id="{58095564-0B20-4FC0-89AC-6BBE2A737953}"/>
                  </a:ext>
                </a:extLst>
              </p:cNvPr>
              <p:cNvSpPr txBox="1">
                <a:spLocks noChangeArrowheads="1"/>
              </p:cNvSpPr>
              <p:nvPr/>
            </p:nvSpPr>
            <p:spPr bwMode="auto">
              <a:xfrm>
                <a:off x="3888" y="333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dirty="0">
                    <a:latin typeface="Palatino Linotype" panose="02040502050505030304" pitchFamily="18" charset="0"/>
                    <a:ea typeface="华文中宋" panose="02010600040101010101" pitchFamily="2" charset="-122"/>
                  </a:rPr>
                  <a:t>n-1</a:t>
                </a:r>
              </a:p>
            </p:txBody>
          </p:sp>
        </p:grpSp>
        <p:sp>
          <p:nvSpPr>
            <p:cNvPr id="22540" name="Text Box 13">
              <a:extLst>
                <a:ext uri="{FF2B5EF4-FFF2-40B4-BE49-F238E27FC236}">
                  <a16:creationId xmlns:a16="http://schemas.microsoft.com/office/drawing/2014/main" id="{19F57167-1CD5-4399-AF9E-4B5D363BCC49}"/>
                </a:ext>
              </a:extLst>
            </p:cNvPr>
            <p:cNvSpPr txBox="1">
              <a:spLocks noChangeArrowheads="1"/>
            </p:cNvSpPr>
            <p:nvPr/>
          </p:nvSpPr>
          <p:spPr bwMode="auto">
            <a:xfrm>
              <a:off x="1473" y="2667"/>
              <a:ext cx="324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                                ( n &gt; 1 )</a:t>
              </a:r>
            </a:p>
          </p:txBody>
        </p:sp>
      </p:grpSp>
      <p:sp>
        <p:nvSpPr>
          <p:cNvPr id="20494" name="Text Box 14">
            <a:extLst>
              <a:ext uri="{FF2B5EF4-FFF2-40B4-BE49-F238E27FC236}">
                <a16:creationId xmlns:a16="http://schemas.microsoft.com/office/drawing/2014/main" id="{BE755EA3-08CE-4FB9-ADC8-3998F88B1D79}"/>
              </a:ext>
            </a:extLst>
          </p:cNvPr>
          <p:cNvSpPr txBox="1">
            <a:spLocks noChangeArrowheads="1"/>
          </p:cNvSpPr>
          <p:nvPr/>
        </p:nvSpPr>
        <p:spPr bwMode="auto">
          <a:xfrm>
            <a:off x="2301539" y="4637089"/>
            <a:ext cx="53101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   1                            ( n = 1)</a:t>
            </a:r>
          </a:p>
        </p:txBody>
      </p:sp>
      <p:sp>
        <p:nvSpPr>
          <p:cNvPr id="20495" name="Text Box 15">
            <a:extLst>
              <a:ext uri="{FF2B5EF4-FFF2-40B4-BE49-F238E27FC236}">
                <a16:creationId xmlns:a16="http://schemas.microsoft.com/office/drawing/2014/main" id="{FDDF15E1-6DE7-4C84-A042-B188D20A6C92}"/>
              </a:ext>
            </a:extLst>
          </p:cNvPr>
          <p:cNvSpPr txBox="1">
            <a:spLocks noChangeArrowheads="1"/>
          </p:cNvSpPr>
          <p:nvPr/>
        </p:nvSpPr>
        <p:spPr bwMode="auto">
          <a:xfrm>
            <a:off x="914400" y="4217988"/>
            <a:ext cx="1066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b(n) = </a:t>
            </a:r>
          </a:p>
        </p:txBody>
      </p:sp>
      <p:sp>
        <p:nvSpPr>
          <p:cNvPr id="20496" name="AutoShape 16">
            <a:extLst>
              <a:ext uri="{FF2B5EF4-FFF2-40B4-BE49-F238E27FC236}">
                <a16:creationId xmlns:a16="http://schemas.microsoft.com/office/drawing/2014/main" id="{43781A57-6F8C-4872-B775-6B234E7D0E93}"/>
              </a:ext>
            </a:extLst>
          </p:cNvPr>
          <p:cNvSpPr>
            <a:spLocks/>
          </p:cNvSpPr>
          <p:nvPr/>
        </p:nvSpPr>
        <p:spPr bwMode="auto">
          <a:xfrm>
            <a:off x="2017298" y="3979468"/>
            <a:ext cx="216023" cy="936104"/>
          </a:xfrm>
          <a:prstGeom prst="leftBrace">
            <a:avLst>
              <a:gd name="adj1" fmla="val 42551"/>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latin typeface="Palatino Linotype" panose="02040502050505030304" pitchFamily="18" charset="0"/>
              <a:ea typeface="华文中宋" panose="02010600040101010101" pitchFamily="2" charset="-122"/>
            </a:endParaRPr>
          </a:p>
        </p:txBody>
      </p:sp>
      <p:sp>
        <p:nvSpPr>
          <p:cNvPr id="20499" name="Text Box 19">
            <a:extLst>
              <a:ext uri="{FF2B5EF4-FFF2-40B4-BE49-F238E27FC236}">
                <a16:creationId xmlns:a16="http://schemas.microsoft.com/office/drawing/2014/main" id="{5EE685B2-9154-49EB-9AA3-A7335C96D4D1}"/>
              </a:ext>
            </a:extLst>
          </p:cNvPr>
          <p:cNvSpPr txBox="1">
            <a:spLocks noChangeArrowheads="1"/>
          </p:cNvSpPr>
          <p:nvPr/>
        </p:nvSpPr>
        <p:spPr bwMode="auto">
          <a:xfrm>
            <a:off x="914400" y="5208588"/>
            <a:ext cx="6477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solidFill>
                  <a:srgbClr val="A50021"/>
                </a:solidFill>
                <a:latin typeface="Palatino Linotype" panose="02040502050505030304" pitchFamily="18" charset="0"/>
                <a:ea typeface="华文中宋" panose="02010600040101010101" pitchFamily="2" charset="-122"/>
              </a:rPr>
              <a:t>b(n)</a:t>
            </a:r>
            <a:r>
              <a:rPr lang="zh-CN" altLang="en-US" sz="2800" dirty="0">
                <a:solidFill>
                  <a:srgbClr val="A50021"/>
                </a:solidFill>
                <a:latin typeface="Palatino Linotype" panose="02040502050505030304" pitchFamily="18" charset="0"/>
                <a:ea typeface="华文中宋" panose="02010600040101010101" pitchFamily="2" charset="-122"/>
              </a:rPr>
              <a:t>是</a:t>
            </a:r>
            <a:r>
              <a:rPr lang="en-US" altLang="zh-CN" sz="2800" dirty="0">
                <a:solidFill>
                  <a:srgbClr val="A50021"/>
                </a:solidFill>
                <a:latin typeface="Palatino Linotype" panose="02040502050505030304" pitchFamily="18" charset="0"/>
                <a:ea typeface="华文中宋" panose="02010600040101010101" pitchFamily="2" charset="-122"/>
              </a:rPr>
              <a:t>Catalan</a:t>
            </a:r>
            <a:r>
              <a:rPr lang="zh-CN" altLang="en-US" sz="2800" dirty="0">
                <a:solidFill>
                  <a:srgbClr val="A50021"/>
                </a:solidFill>
                <a:latin typeface="Palatino Linotype" panose="02040502050505030304" pitchFamily="18" charset="0"/>
                <a:ea typeface="华文中宋" panose="02010600040101010101" pitchFamily="2" charset="-122"/>
              </a:rPr>
              <a:t>数    </a:t>
            </a:r>
            <a:r>
              <a:rPr lang="zh-CN" altLang="en-US" sz="2800" dirty="0">
                <a:solidFill>
                  <a:srgbClr val="A50021"/>
                </a:solidFill>
                <a:latin typeface="Palatino Linotype" panose="02040502050505030304" pitchFamily="18" charset="0"/>
                <a:ea typeface="华文中宋" panose="02010600040101010101" pitchFamily="2" charset="-122"/>
                <a:sym typeface="Wingdings" panose="05000000000000000000" pitchFamily="2" charset="2"/>
              </a:rPr>
              <a:t>  </a:t>
            </a:r>
            <a:r>
              <a:rPr lang="en-US" altLang="zh-CN" sz="2800" dirty="0">
                <a:solidFill>
                  <a:srgbClr val="A50021"/>
                </a:solidFill>
                <a:latin typeface="Palatino Linotype" panose="02040502050505030304" pitchFamily="18" charset="0"/>
                <a:ea typeface="华文中宋" panose="02010600040101010101" pitchFamily="2" charset="-122"/>
                <a:sym typeface="Wingdings" panose="05000000000000000000" pitchFamily="2" charset="2"/>
              </a:rPr>
              <a:t>b(N)=</a:t>
            </a:r>
            <a:r>
              <a:rPr lang="en-US" altLang="zh-CN" sz="28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a:t>
            </a:r>
            <a:r>
              <a:rPr lang="en-US" altLang="zh-CN" sz="32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4</a:t>
            </a:r>
            <a:r>
              <a:rPr lang="en-US" altLang="zh-CN" sz="3200" baseline="300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n</a:t>
            </a:r>
            <a:r>
              <a:rPr lang="en-US" altLang="zh-CN" sz="32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/n</a:t>
            </a:r>
            <a:r>
              <a:rPr lang="en-US" altLang="zh-CN" sz="3200" baseline="300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3/2</a:t>
            </a:r>
            <a:r>
              <a:rPr lang="en-US" altLang="zh-CN" sz="2800" dirty="0">
                <a:solidFill>
                  <a:srgbClr val="A50021"/>
                </a:solidFill>
                <a:latin typeface="Palatino Linotype" panose="02040502050505030304" pitchFamily="18" charset="0"/>
                <a:ea typeface="华文中宋" panose="02010600040101010101" pitchFamily="2" charset="-122"/>
                <a:sym typeface="Symbol" panose="05050102010706020507" pitchFamily="18" charset="2"/>
              </a:rPr>
              <a:t>)</a:t>
            </a:r>
            <a:endParaRPr lang="en-US" altLang="zh-CN" sz="2800" dirty="0">
              <a:solidFill>
                <a:srgbClr val="A50021"/>
              </a:solidFill>
              <a:latin typeface="Palatino Linotype" panose="02040502050505030304" pitchFamily="18"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4">
                                            <p:txEl>
                                              <p:pRg st="0" end="0"/>
                                            </p:txEl>
                                          </p:spTgt>
                                        </p:tgtEl>
                                        <p:attrNameLst>
                                          <p:attrName>style.visibility</p:attrName>
                                        </p:attrNameLst>
                                      </p:cBhvr>
                                      <p:to>
                                        <p:strVal val="visible"/>
                                      </p:to>
                                    </p:set>
                                    <p:anim calcmode="lin" valueType="num">
                                      <p:cBhvr additive="base">
                                        <p:cTn id="13" dur="500" fill="hold"/>
                                        <p:tgtEl>
                                          <p:spTgt spid="20484">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5"/>
                                        </p:tgtEl>
                                        <p:attrNameLst>
                                          <p:attrName>style.visibility</p:attrName>
                                        </p:attrNameLst>
                                      </p:cBhvr>
                                      <p:to>
                                        <p:strVal val="visible"/>
                                      </p:to>
                                    </p:set>
                                    <p:anim calcmode="lin" valueType="num">
                                      <p:cBhvr additive="base">
                                        <p:cTn id="19" dur="500" fill="hold"/>
                                        <p:tgtEl>
                                          <p:spTgt spid="20485"/>
                                        </p:tgtEl>
                                        <p:attrNameLst>
                                          <p:attrName>ppt_x</p:attrName>
                                        </p:attrNameLst>
                                      </p:cBhvr>
                                      <p:tavLst>
                                        <p:tav tm="0">
                                          <p:val>
                                            <p:strVal val="0-#ppt_w/2"/>
                                          </p:val>
                                        </p:tav>
                                        <p:tav tm="100000">
                                          <p:val>
                                            <p:strVal val="#ppt_x"/>
                                          </p:val>
                                        </p:tav>
                                      </p:tavLst>
                                    </p:anim>
                                    <p:anim calcmode="lin" valueType="num">
                                      <p:cBhvr additive="base">
                                        <p:cTn id="20" dur="500" fill="hold"/>
                                        <p:tgtEl>
                                          <p:spTgt spid="2048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95"/>
                                        </p:tgtEl>
                                        <p:attrNameLst>
                                          <p:attrName>style.visibility</p:attrName>
                                        </p:attrNameLst>
                                      </p:cBhvr>
                                      <p:to>
                                        <p:strVal val="visible"/>
                                      </p:to>
                                    </p:set>
                                    <p:anim calcmode="lin" valueType="num">
                                      <p:cBhvr additive="base">
                                        <p:cTn id="25" dur="500" fill="hold"/>
                                        <p:tgtEl>
                                          <p:spTgt spid="20495"/>
                                        </p:tgtEl>
                                        <p:attrNameLst>
                                          <p:attrName>ppt_x</p:attrName>
                                        </p:attrNameLst>
                                      </p:cBhvr>
                                      <p:tavLst>
                                        <p:tav tm="0">
                                          <p:val>
                                            <p:strVal val="0-#ppt_w/2"/>
                                          </p:val>
                                        </p:tav>
                                        <p:tav tm="100000">
                                          <p:val>
                                            <p:strVal val="#ppt_x"/>
                                          </p:val>
                                        </p:tav>
                                      </p:tavLst>
                                    </p:anim>
                                    <p:anim calcmode="lin" valueType="num">
                                      <p:cBhvr additive="base">
                                        <p:cTn id="26" dur="500" fill="hold"/>
                                        <p:tgtEl>
                                          <p:spTgt spid="2049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496"/>
                                        </p:tgtEl>
                                        <p:attrNameLst>
                                          <p:attrName>style.visibility</p:attrName>
                                        </p:attrNameLst>
                                      </p:cBhvr>
                                      <p:to>
                                        <p:strVal val="visible"/>
                                      </p:to>
                                    </p:set>
                                    <p:anim calcmode="lin" valueType="num">
                                      <p:cBhvr additive="base">
                                        <p:cTn id="31" dur="500" fill="hold"/>
                                        <p:tgtEl>
                                          <p:spTgt spid="20496"/>
                                        </p:tgtEl>
                                        <p:attrNameLst>
                                          <p:attrName>ppt_x</p:attrName>
                                        </p:attrNameLst>
                                      </p:cBhvr>
                                      <p:tavLst>
                                        <p:tav tm="0">
                                          <p:val>
                                            <p:strVal val="0-#ppt_w/2"/>
                                          </p:val>
                                        </p:tav>
                                        <p:tav tm="100000">
                                          <p:val>
                                            <p:strVal val="#ppt_x"/>
                                          </p:val>
                                        </p:tav>
                                      </p:tavLst>
                                    </p:anim>
                                    <p:anim calcmode="lin" valueType="num">
                                      <p:cBhvr additive="base">
                                        <p:cTn id="32" dur="500" fill="hold"/>
                                        <p:tgtEl>
                                          <p:spTgt spid="2049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0-#ppt_w/2"/>
                                          </p:val>
                                        </p:tav>
                                        <p:tav tm="100000">
                                          <p:val>
                                            <p:strVal val="#ppt_x"/>
                                          </p:val>
                                        </p:tav>
                                      </p:tavLst>
                                    </p:anim>
                                    <p:anim calcmode="lin" valueType="num">
                                      <p:cBhvr additive="base">
                                        <p:cTn id="3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0494"/>
                                        </p:tgtEl>
                                        <p:attrNameLst>
                                          <p:attrName>style.visibility</p:attrName>
                                        </p:attrNameLst>
                                      </p:cBhvr>
                                      <p:to>
                                        <p:strVal val="visible"/>
                                      </p:to>
                                    </p:set>
                                    <p:anim calcmode="lin" valueType="num">
                                      <p:cBhvr additive="base">
                                        <p:cTn id="43" dur="500" fill="hold"/>
                                        <p:tgtEl>
                                          <p:spTgt spid="20494"/>
                                        </p:tgtEl>
                                        <p:attrNameLst>
                                          <p:attrName>ppt_x</p:attrName>
                                        </p:attrNameLst>
                                      </p:cBhvr>
                                      <p:tavLst>
                                        <p:tav tm="0">
                                          <p:val>
                                            <p:strVal val="0-#ppt_w/2"/>
                                          </p:val>
                                        </p:tav>
                                        <p:tav tm="100000">
                                          <p:val>
                                            <p:strVal val="#ppt_x"/>
                                          </p:val>
                                        </p:tav>
                                      </p:tavLst>
                                    </p:anim>
                                    <p:anim calcmode="lin" valueType="num">
                                      <p:cBhvr additive="base">
                                        <p:cTn id="44" dur="500" fill="hold"/>
                                        <p:tgtEl>
                                          <p:spTgt spid="20494"/>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0499"/>
                                        </p:tgtEl>
                                        <p:attrNameLst>
                                          <p:attrName>style.visibility</p:attrName>
                                        </p:attrNameLst>
                                      </p:cBhvr>
                                      <p:to>
                                        <p:strVal val="visible"/>
                                      </p:to>
                                    </p:set>
                                    <p:anim calcmode="lin" valueType="num">
                                      <p:cBhvr additive="base">
                                        <p:cTn id="49" dur="500" fill="hold"/>
                                        <p:tgtEl>
                                          <p:spTgt spid="20499"/>
                                        </p:tgtEl>
                                        <p:attrNameLst>
                                          <p:attrName>ppt_x</p:attrName>
                                        </p:attrNameLst>
                                      </p:cBhvr>
                                      <p:tavLst>
                                        <p:tav tm="0">
                                          <p:val>
                                            <p:strVal val="0-#ppt_w/2"/>
                                          </p:val>
                                        </p:tav>
                                        <p:tav tm="100000">
                                          <p:val>
                                            <p:strVal val="#ppt_x"/>
                                          </p:val>
                                        </p:tav>
                                      </p:tavLst>
                                    </p:anim>
                                    <p:anim calcmode="lin" valueType="num">
                                      <p:cBhvr additive="base">
                                        <p:cTn id="50" dur="500" fill="hold"/>
                                        <p:tgtEl>
                                          <p:spTgt spid="204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P spid="20484" grpId="0" build="p" autoUpdateAnimBg="0"/>
      <p:bldP spid="20485" grpId="0" autoUpdateAnimBg="0"/>
      <p:bldP spid="20494" grpId="0" autoUpdateAnimBg="0"/>
      <p:bldP spid="20495" grpId="0" autoUpdateAnimBg="0"/>
      <p:bldP spid="20496" grpId="0" animBg="1"/>
      <p:bldP spid="2049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B14789B8-C5B8-4E3E-92EE-EC1FB7192346}"/>
              </a:ext>
            </a:extLst>
          </p:cNvPr>
          <p:cNvSpPr>
            <a:spLocks noGrp="1" noChangeArrowheads="1"/>
          </p:cNvSpPr>
          <p:nvPr>
            <p:ph type="title"/>
          </p:nvPr>
        </p:nvSpPr>
        <p:spPr bwMode="auto">
          <a:xfrm>
            <a:off x="685800" y="609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二、算法分析</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新思路</a:t>
            </a:r>
          </a:p>
        </p:txBody>
      </p:sp>
      <p:sp>
        <p:nvSpPr>
          <p:cNvPr id="21507" name="Rectangle 3">
            <a:extLst>
              <a:ext uri="{FF2B5EF4-FFF2-40B4-BE49-F238E27FC236}">
                <a16:creationId xmlns:a16="http://schemas.microsoft.com/office/drawing/2014/main" id="{AD203B75-C5A8-49F0-B56D-EC2D48C18BDC}"/>
              </a:ext>
            </a:extLst>
          </p:cNvPr>
          <p:cNvSpPr>
            <a:spLocks noGrp="1" noChangeArrowheads="1"/>
          </p:cNvSpPr>
          <p:nvPr>
            <p:ph type="body" idx="1"/>
          </p:nvPr>
        </p:nvSpPr>
        <p:spPr bwMode="auto">
          <a:xfrm>
            <a:off x="609600" y="14478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800" b="1" dirty="0"/>
              <a:t>采用一个新方法</a:t>
            </a:r>
          </a:p>
        </p:txBody>
      </p:sp>
      <p:sp>
        <p:nvSpPr>
          <p:cNvPr id="21508" name="Text Box 4">
            <a:extLst>
              <a:ext uri="{FF2B5EF4-FFF2-40B4-BE49-F238E27FC236}">
                <a16:creationId xmlns:a16="http://schemas.microsoft.com/office/drawing/2014/main" id="{F6BCDD02-904E-4AF3-ACA7-9E9C523ADDAB}"/>
              </a:ext>
            </a:extLst>
          </p:cNvPr>
          <p:cNvSpPr txBox="1">
            <a:spLocks noChangeArrowheads="1"/>
          </p:cNvSpPr>
          <p:nvPr/>
        </p:nvSpPr>
        <p:spPr bwMode="auto">
          <a:xfrm>
            <a:off x="457200" y="2111842"/>
            <a:ext cx="7772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solidFill>
                  <a:srgbClr val="A50021"/>
                </a:solidFill>
                <a:latin typeface="华文中宋" panose="02010600040101010101" pitchFamily="2" charset="-122"/>
                <a:ea typeface="华文中宋" panose="02010600040101010101" pitchFamily="2" charset="-122"/>
              </a:rPr>
              <a:t>（</a:t>
            </a:r>
            <a:r>
              <a:rPr lang="en-US" altLang="zh-CN" sz="2800" dirty="0">
                <a:solidFill>
                  <a:srgbClr val="A50021"/>
                </a:solidFill>
                <a:latin typeface="华文中宋" panose="02010600040101010101" pitchFamily="2" charset="-122"/>
                <a:ea typeface="华文中宋" panose="02010600040101010101" pitchFamily="2" charset="-122"/>
              </a:rPr>
              <a:t>1</a:t>
            </a:r>
            <a:r>
              <a:rPr lang="zh-CN" altLang="en-US" sz="2800" dirty="0">
                <a:solidFill>
                  <a:srgbClr val="A50021"/>
                </a:solidFill>
                <a:latin typeface="华文中宋" panose="02010600040101010101" pitchFamily="2" charset="-122"/>
                <a:ea typeface="华文中宋" panose="02010600040101010101" pitchFamily="2" charset="-122"/>
              </a:rPr>
              <a:t>）分析最优解的结构</a:t>
            </a:r>
            <a:r>
              <a:rPr lang="zh-CN" altLang="en-US" sz="2800" dirty="0">
                <a:solidFill>
                  <a:srgbClr val="A50021"/>
                </a:solidFill>
                <a:ea typeface="华文中宋" panose="02010600040101010101" pitchFamily="2" charset="-122"/>
              </a:rPr>
              <a:t> </a:t>
            </a:r>
          </a:p>
        </p:txBody>
      </p:sp>
      <p:sp>
        <p:nvSpPr>
          <p:cNvPr id="21509" name="Text Box 5">
            <a:extLst>
              <a:ext uri="{FF2B5EF4-FFF2-40B4-BE49-F238E27FC236}">
                <a16:creationId xmlns:a16="http://schemas.microsoft.com/office/drawing/2014/main" id="{54E148FD-95AC-48CB-84C2-351B26E62A69}"/>
              </a:ext>
            </a:extLst>
          </p:cNvPr>
          <p:cNvSpPr txBox="1">
            <a:spLocks noChangeArrowheads="1"/>
          </p:cNvSpPr>
          <p:nvPr/>
        </p:nvSpPr>
        <p:spPr bwMode="auto">
          <a:xfrm>
            <a:off x="457200" y="2971800"/>
            <a:ext cx="8077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dirty="0">
                <a:ea typeface="华文中宋" panose="02010600040101010101" pitchFamily="2" charset="-122"/>
              </a:rPr>
              <a:t>记</a:t>
            </a:r>
            <a:r>
              <a:rPr lang="en-US" altLang="zh-CN" sz="2800" dirty="0">
                <a:ea typeface="华文中宋" panose="02010600040101010101" pitchFamily="2" charset="-122"/>
              </a:rPr>
              <a:t>A[</a:t>
            </a:r>
            <a:r>
              <a:rPr lang="en-US" altLang="zh-CN" sz="2800" dirty="0" err="1">
                <a:ea typeface="华文中宋" panose="02010600040101010101" pitchFamily="2" charset="-122"/>
              </a:rPr>
              <a:t>i</a:t>
            </a:r>
            <a:r>
              <a:rPr lang="zh-CN" altLang="en-US" sz="2800" dirty="0">
                <a:ea typeface="华文中宋" panose="02010600040101010101" pitchFamily="2" charset="-122"/>
              </a:rPr>
              <a:t>：</a:t>
            </a:r>
            <a:r>
              <a:rPr lang="en-US" altLang="zh-CN" sz="2800" dirty="0">
                <a:ea typeface="华文中宋" panose="02010600040101010101" pitchFamily="2" charset="-122"/>
              </a:rPr>
              <a:t>j]</a:t>
            </a:r>
            <a:r>
              <a:rPr lang="zh-CN" altLang="en-US" sz="2800" dirty="0">
                <a:ea typeface="华文中宋" panose="02010600040101010101" pitchFamily="2" charset="-122"/>
              </a:rPr>
              <a:t>为</a:t>
            </a:r>
            <a:r>
              <a:rPr lang="en-US" altLang="zh-CN" sz="2800" dirty="0">
                <a:ea typeface="华文中宋" panose="02010600040101010101" pitchFamily="2" charset="-122"/>
              </a:rPr>
              <a:t>A</a:t>
            </a:r>
            <a:r>
              <a:rPr lang="en-US" altLang="zh-CN" sz="2800" baseline="-25000" dirty="0">
                <a:ea typeface="华文中宋" panose="02010600040101010101" pitchFamily="2" charset="-122"/>
              </a:rPr>
              <a:t>i</a:t>
            </a:r>
            <a:r>
              <a:rPr lang="en-US" altLang="zh-CN" sz="2800" dirty="0">
                <a:ea typeface="华文中宋" panose="02010600040101010101" pitchFamily="2" charset="-122"/>
              </a:rPr>
              <a:t>A</a:t>
            </a:r>
            <a:r>
              <a:rPr lang="en-US" altLang="zh-CN" sz="2800" baseline="-25000" dirty="0">
                <a:ea typeface="华文中宋" panose="02010600040101010101" pitchFamily="2" charset="-122"/>
              </a:rPr>
              <a:t>i+1</a:t>
            </a:r>
            <a:r>
              <a:rPr lang="en-US" altLang="zh-CN" sz="2800" dirty="0">
                <a:ea typeface="华文中宋" panose="02010600040101010101" pitchFamily="2" charset="-122"/>
              </a:rPr>
              <a:t>…</a:t>
            </a:r>
            <a:r>
              <a:rPr lang="en-US" altLang="zh-CN" sz="2800" dirty="0" err="1">
                <a:ea typeface="华文中宋" panose="02010600040101010101" pitchFamily="2" charset="-122"/>
              </a:rPr>
              <a:t>A</a:t>
            </a:r>
            <a:r>
              <a:rPr lang="en-US" altLang="zh-CN" sz="2800" baseline="-25000" dirty="0" err="1">
                <a:ea typeface="华文中宋" panose="02010600040101010101" pitchFamily="2" charset="-122"/>
              </a:rPr>
              <a:t>j</a:t>
            </a:r>
            <a:r>
              <a:rPr lang="zh-CN" altLang="en-US" sz="2800" dirty="0">
                <a:ea typeface="华文中宋" panose="02010600040101010101" pitchFamily="2" charset="-122"/>
              </a:rPr>
              <a:t>，记</a:t>
            </a:r>
            <a:r>
              <a:rPr lang="en-US" altLang="zh-CN" sz="2800" dirty="0">
                <a:ea typeface="华文中宋" panose="02010600040101010101" pitchFamily="2" charset="-122"/>
              </a:rPr>
              <a:t>m[</a:t>
            </a:r>
            <a:r>
              <a:rPr lang="en-US" altLang="zh-CN" sz="2800" dirty="0" err="1">
                <a:ea typeface="华文中宋" panose="02010600040101010101" pitchFamily="2" charset="-122"/>
              </a:rPr>
              <a:t>i</a:t>
            </a:r>
            <a:r>
              <a:rPr lang="en-US" altLang="zh-CN" sz="2800" dirty="0">
                <a:ea typeface="华文中宋" panose="02010600040101010101" pitchFamily="2" charset="-122"/>
              </a:rPr>
              <a:t>][j]</a:t>
            </a:r>
            <a:r>
              <a:rPr lang="zh-CN" altLang="en-US" sz="2800" dirty="0">
                <a:ea typeface="华文中宋" panose="02010600040101010101" pitchFamily="2" charset="-122"/>
              </a:rPr>
              <a:t>是计算</a:t>
            </a:r>
            <a:r>
              <a:rPr lang="en-US" altLang="zh-CN" sz="2800" dirty="0">
                <a:ea typeface="华文中宋" panose="02010600040101010101" pitchFamily="2" charset="-122"/>
              </a:rPr>
              <a:t>A</a:t>
            </a:r>
            <a:r>
              <a:rPr lang="en-US" altLang="zh-CN" sz="2800" baseline="-25000" dirty="0">
                <a:ea typeface="华文中宋" panose="02010600040101010101" pitchFamily="2" charset="-122"/>
              </a:rPr>
              <a:t>i</a:t>
            </a:r>
            <a:r>
              <a:rPr lang="en-US" altLang="zh-CN" sz="2800" dirty="0">
                <a:ea typeface="华文中宋" panose="02010600040101010101" pitchFamily="2" charset="-122"/>
              </a:rPr>
              <a:t>A</a:t>
            </a:r>
            <a:r>
              <a:rPr lang="en-US" altLang="zh-CN" sz="2800" baseline="-25000" dirty="0">
                <a:ea typeface="华文中宋" panose="02010600040101010101" pitchFamily="2" charset="-122"/>
              </a:rPr>
              <a:t>i+1</a:t>
            </a:r>
            <a:r>
              <a:rPr lang="en-US" altLang="zh-CN" sz="2800" dirty="0">
                <a:ea typeface="华文中宋" panose="02010600040101010101" pitchFamily="2" charset="-122"/>
              </a:rPr>
              <a:t>…</a:t>
            </a:r>
            <a:r>
              <a:rPr lang="en-US" altLang="zh-CN" sz="2800" dirty="0" err="1">
                <a:ea typeface="华文中宋" panose="02010600040101010101" pitchFamily="2" charset="-122"/>
              </a:rPr>
              <a:t>A</a:t>
            </a:r>
            <a:r>
              <a:rPr lang="en-US" altLang="zh-CN" sz="2800" baseline="-25000" dirty="0" err="1">
                <a:ea typeface="华文中宋" panose="02010600040101010101" pitchFamily="2" charset="-122"/>
              </a:rPr>
              <a:t>j</a:t>
            </a:r>
            <a:r>
              <a:rPr lang="zh-CN" altLang="en-US" sz="2800" dirty="0">
                <a:ea typeface="华文中宋" panose="02010600040101010101" pitchFamily="2" charset="-122"/>
              </a:rPr>
              <a:t>时的最少乘法次数</a:t>
            </a:r>
            <a:endParaRPr lang="zh-CN" altLang="en-US" dirty="0">
              <a:ea typeface="华文中宋" panose="02010600040101010101" pitchFamily="2" charset="-122"/>
            </a:endParaRPr>
          </a:p>
        </p:txBody>
      </p:sp>
      <p:sp>
        <p:nvSpPr>
          <p:cNvPr id="21510" name="Text Box 6">
            <a:extLst>
              <a:ext uri="{FF2B5EF4-FFF2-40B4-BE49-F238E27FC236}">
                <a16:creationId xmlns:a16="http://schemas.microsoft.com/office/drawing/2014/main" id="{8BC04D30-E865-41EF-AB94-E06EB2D98234}"/>
              </a:ext>
            </a:extLst>
          </p:cNvPr>
          <p:cNvSpPr txBox="1">
            <a:spLocks noChangeArrowheads="1"/>
          </p:cNvSpPr>
          <p:nvPr/>
        </p:nvSpPr>
        <p:spPr bwMode="auto">
          <a:xfrm>
            <a:off x="457200" y="3930650"/>
            <a:ext cx="807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dirty="0">
                <a:ea typeface="华文中宋" panose="02010600040101010101" pitchFamily="2" charset="-122"/>
              </a:rPr>
              <a:t>显然，</a:t>
            </a:r>
            <a:r>
              <a:rPr lang="en-US" altLang="zh-CN" sz="2800" dirty="0">
                <a:ea typeface="华文中宋" panose="02010600040101010101" pitchFamily="2" charset="-122"/>
              </a:rPr>
              <a:t>A[</a:t>
            </a:r>
            <a:r>
              <a:rPr lang="en-US" altLang="zh-CN" sz="2800" dirty="0" err="1">
                <a:ea typeface="华文中宋" panose="02010600040101010101" pitchFamily="2" charset="-122"/>
              </a:rPr>
              <a:t>i</a:t>
            </a:r>
            <a:r>
              <a:rPr lang="zh-CN" altLang="en-US" sz="2800" dirty="0">
                <a:ea typeface="华文中宋" panose="02010600040101010101" pitchFamily="2" charset="-122"/>
              </a:rPr>
              <a:t>：</a:t>
            </a:r>
            <a:r>
              <a:rPr lang="en-US" altLang="zh-CN" sz="2800" dirty="0" err="1">
                <a:ea typeface="华文中宋" panose="02010600040101010101" pitchFamily="2" charset="-122"/>
              </a:rPr>
              <a:t>i</a:t>
            </a:r>
            <a:r>
              <a:rPr lang="en-US" altLang="zh-CN" sz="2800" dirty="0">
                <a:ea typeface="华文中宋" panose="02010600040101010101" pitchFamily="2" charset="-122"/>
              </a:rPr>
              <a:t>]=A</a:t>
            </a:r>
            <a:r>
              <a:rPr lang="en-US" altLang="zh-CN" sz="2800" baseline="-25000" dirty="0">
                <a:ea typeface="华文中宋" panose="02010600040101010101" pitchFamily="2" charset="-122"/>
              </a:rPr>
              <a:t>i</a:t>
            </a:r>
            <a:r>
              <a:rPr lang="zh-CN" altLang="en-US" sz="2800" dirty="0">
                <a:ea typeface="华文中宋" panose="02010600040101010101" pitchFamily="2" charset="-122"/>
              </a:rPr>
              <a:t>，</a:t>
            </a:r>
            <a:r>
              <a:rPr lang="en-US" altLang="zh-CN" sz="2800" dirty="0">
                <a:ea typeface="华文中宋" panose="02010600040101010101" pitchFamily="2" charset="-122"/>
              </a:rPr>
              <a:t>m[</a:t>
            </a:r>
            <a:r>
              <a:rPr lang="en-US" altLang="zh-CN" sz="2800" dirty="0" err="1">
                <a:ea typeface="华文中宋" panose="02010600040101010101" pitchFamily="2" charset="-122"/>
              </a:rPr>
              <a:t>i</a:t>
            </a:r>
            <a:r>
              <a:rPr lang="en-US" altLang="zh-CN" sz="2800" dirty="0">
                <a:ea typeface="华文中宋" panose="02010600040101010101" pitchFamily="2" charset="-122"/>
              </a:rPr>
              <a:t>][</a:t>
            </a:r>
            <a:r>
              <a:rPr lang="en-US" altLang="zh-CN" sz="2800" dirty="0" err="1">
                <a:ea typeface="华文中宋" panose="02010600040101010101" pitchFamily="2" charset="-122"/>
              </a:rPr>
              <a:t>i</a:t>
            </a:r>
            <a:r>
              <a:rPr lang="en-US" altLang="zh-CN" sz="2800" dirty="0">
                <a:ea typeface="华文中宋" panose="02010600040101010101" pitchFamily="2" charset="-122"/>
              </a:rPr>
              <a:t>]=0</a:t>
            </a:r>
            <a:endParaRPr lang="en-US" altLang="zh-CN" dirty="0">
              <a:ea typeface="华文中宋" panose="02010600040101010101" pitchFamily="2" charset="-122"/>
            </a:endParaRPr>
          </a:p>
        </p:txBody>
      </p:sp>
      <p:sp>
        <p:nvSpPr>
          <p:cNvPr id="21511" name="Text Box 7">
            <a:extLst>
              <a:ext uri="{FF2B5EF4-FFF2-40B4-BE49-F238E27FC236}">
                <a16:creationId xmlns:a16="http://schemas.microsoft.com/office/drawing/2014/main" id="{328AF1EF-B94F-4276-85B2-B2C36DB026B8}"/>
              </a:ext>
            </a:extLst>
          </p:cNvPr>
          <p:cNvSpPr txBox="1">
            <a:spLocks noChangeArrowheads="1"/>
          </p:cNvSpPr>
          <p:nvPr/>
        </p:nvSpPr>
        <p:spPr bwMode="auto">
          <a:xfrm>
            <a:off x="457200" y="4540250"/>
            <a:ext cx="807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sz="2800" dirty="0">
                <a:solidFill>
                  <a:srgbClr val="A50021"/>
                </a:solidFill>
                <a:ea typeface="华文中宋" panose="02010600040101010101" pitchFamily="2" charset="-122"/>
              </a:rPr>
              <a:t>问题变为：计算</a:t>
            </a:r>
            <a:r>
              <a:rPr lang="en-US" altLang="zh-CN" sz="2800" dirty="0">
                <a:solidFill>
                  <a:srgbClr val="A50021"/>
                </a:solidFill>
                <a:ea typeface="华文中宋" panose="02010600040101010101" pitchFamily="2" charset="-122"/>
              </a:rPr>
              <a:t>A[1</a:t>
            </a:r>
            <a:r>
              <a:rPr lang="zh-CN" altLang="en-US" sz="2800" dirty="0">
                <a:solidFill>
                  <a:srgbClr val="A50021"/>
                </a:solidFill>
                <a:ea typeface="华文中宋" panose="02010600040101010101" pitchFamily="2" charset="-122"/>
              </a:rPr>
              <a:t>：</a:t>
            </a:r>
            <a:r>
              <a:rPr lang="en-US" altLang="zh-CN" sz="2800" dirty="0">
                <a:solidFill>
                  <a:srgbClr val="A50021"/>
                </a:solidFill>
                <a:ea typeface="华文中宋" panose="02010600040101010101" pitchFamily="2" charset="-122"/>
              </a:rPr>
              <a:t>n]</a:t>
            </a:r>
            <a:r>
              <a:rPr lang="zh-CN" altLang="en-US" sz="2800" dirty="0">
                <a:solidFill>
                  <a:srgbClr val="A50021"/>
                </a:solidFill>
                <a:ea typeface="华文中宋" panose="02010600040101010101" pitchFamily="2" charset="-122"/>
              </a:rPr>
              <a:t>、求</a:t>
            </a:r>
            <a:r>
              <a:rPr lang="en-US" altLang="zh-CN" sz="2800" dirty="0">
                <a:solidFill>
                  <a:srgbClr val="A50021"/>
                </a:solidFill>
                <a:ea typeface="华文中宋" panose="02010600040101010101" pitchFamily="2" charset="-122"/>
              </a:rPr>
              <a:t>m[1][n]</a:t>
            </a:r>
            <a:endParaRPr lang="en-US" altLang="zh-CN" dirty="0">
              <a:solidFill>
                <a:srgbClr val="A50021"/>
              </a:solidFill>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508"/>
                                        </p:tgtEl>
                                        <p:attrNameLst>
                                          <p:attrName>style.visibility</p:attrName>
                                        </p:attrNameLst>
                                      </p:cBhvr>
                                      <p:to>
                                        <p:strVal val="visible"/>
                                      </p:to>
                                    </p:set>
                                    <p:anim calcmode="lin" valueType="num">
                                      <p:cBhvr additive="base">
                                        <p:cTn id="13" dur="500" fill="hold"/>
                                        <p:tgtEl>
                                          <p:spTgt spid="21508"/>
                                        </p:tgtEl>
                                        <p:attrNameLst>
                                          <p:attrName>ppt_x</p:attrName>
                                        </p:attrNameLst>
                                      </p:cBhvr>
                                      <p:tavLst>
                                        <p:tav tm="0">
                                          <p:val>
                                            <p:strVal val="0-#ppt_w/2"/>
                                          </p:val>
                                        </p:tav>
                                        <p:tav tm="100000">
                                          <p:val>
                                            <p:strVal val="#ppt_x"/>
                                          </p:val>
                                        </p:tav>
                                      </p:tavLst>
                                    </p:anim>
                                    <p:anim calcmode="lin" valueType="num">
                                      <p:cBhvr additive="base">
                                        <p:cTn id="14"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0-#ppt_w/2"/>
                                          </p:val>
                                        </p:tav>
                                        <p:tav tm="100000">
                                          <p:val>
                                            <p:strVal val="#ppt_x"/>
                                          </p:val>
                                        </p:tav>
                                      </p:tavLst>
                                    </p:anim>
                                    <p:anim calcmode="lin" valueType="num">
                                      <p:cBhvr additive="base">
                                        <p:cTn id="20" dur="500" fill="hold"/>
                                        <p:tgtEl>
                                          <p:spTgt spid="2150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510"/>
                                        </p:tgtEl>
                                        <p:attrNameLst>
                                          <p:attrName>style.visibility</p:attrName>
                                        </p:attrNameLst>
                                      </p:cBhvr>
                                      <p:to>
                                        <p:strVal val="visible"/>
                                      </p:to>
                                    </p:set>
                                    <p:anim calcmode="lin" valueType="num">
                                      <p:cBhvr additive="base">
                                        <p:cTn id="25" dur="500" fill="hold"/>
                                        <p:tgtEl>
                                          <p:spTgt spid="21510"/>
                                        </p:tgtEl>
                                        <p:attrNameLst>
                                          <p:attrName>ppt_x</p:attrName>
                                        </p:attrNameLst>
                                      </p:cBhvr>
                                      <p:tavLst>
                                        <p:tav tm="0">
                                          <p:val>
                                            <p:strVal val="0-#ppt_w/2"/>
                                          </p:val>
                                        </p:tav>
                                        <p:tav tm="100000">
                                          <p:val>
                                            <p:strVal val="#ppt_x"/>
                                          </p:val>
                                        </p:tav>
                                      </p:tavLst>
                                    </p:anim>
                                    <p:anim calcmode="lin" valueType="num">
                                      <p:cBhvr additive="base">
                                        <p:cTn id="26" dur="500" fill="hold"/>
                                        <p:tgtEl>
                                          <p:spTgt spid="2151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511"/>
                                        </p:tgtEl>
                                        <p:attrNameLst>
                                          <p:attrName>style.visibility</p:attrName>
                                        </p:attrNameLst>
                                      </p:cBhvr>
                                      <p:to>
                                        <p:strVal val="visible"/>
                                      </p:to>
                                    </p:set>
                                    <p:anim calcmode="lin" valueType="num">
                                      <p:cBhvr additive="base">
                                        <p:cTn id="31" dur="500" fill="hold"/>
                                        <p:tgtEl>
                                          <p:spTgt spid="21511"/>
                                        </p:tgtEl>
                                        <p:attrNameLst>
                                          <p:attrName>ppt_x</p:attrName>
                                        </p:attrNameLst>
                                      </p:cBhvr>
                                      <p:tavLst>
                                        <p:tav tm="0">
                                          <p:val>
                                            <p:strVal val="0-#ppt_w/2"/>
                                          </p:val>
                                        </p:tav>
                                        <p:tav tm="100000">
                                          <p:val>
                                            <p:strVal val="#ppt_x"/>
                                          </p:val>
                                        </p:tav>
                                      </p:tavLst>
                                    </p:anim>
                                    <p:anim calcmode="lin" valueType="num">
                                      <p:cBhvr additive="base">
                                        <p:cTn id="32" dur="500" fill="hold"/>
                                        <p:tgtEl>
                                          <p:spTgt spid="215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P spid="21508" grpId="0" autoUpdateAnimBg="0"/>
      <p:bldP spid="21509" grpId="0" autoUpdateAnimBg="0"/>
      <p:bldP spid="21510" grpId="0" autoUpdateAnimBg="0"/>
      <p:bldP spid="2151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56F2FAE-C3B2-420B-BA9C-FC7856122DA3}"/>
              </a:ext>
            </a:extLst>
          </p:cNvPr>
          <p:cNvSpPr>
            <a:spLocks noGrp="1" noChangeArrowheads="1"/>
          </p:cNvSpPr>
          <p:nvPr>
            <p:ph type="title"/>
          </p:nvPr>
        </p:nvSpPr>
        <p:spPr bwMode="auto">
          <a:xfrm>
            <a:off x="685800" y="304800"/>
            <a:ext cx="7772400" cy="6858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二、算法分析</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新思路</a:t>
            </a:r>
          </a:p>
        </p:txBody>
      </p:sp>
      <p:sp>
        <p:nvSpPr>
          <p:cNvPr id="22531" name="Rectangle 3">
            <a:extLst>
              <a:ext uri="{FF2B5EF4-FFF2-40B4-BE49-F238E27FC236}">
                <a16:creationId xmlns:a16="http://schemas.microsoft.com/office/drawing/2014/main" id="{98FC0012-2521-4DBD-AD86-EE839B72F640}"/>
              </a:ext>
            </a:extLst>
          </p:cNvPr>
          <p:cNvSpPr>
            <a:spLocks noGrp="1" noChangeArrowheads="1"/>
          </p:cNvSpPr>
          <p:nvPr>
            <p:ph type="body" idx="1"/>
          </p:nvPr>
        </p:nvSpPr>
        <p:spPr bwMode="auto">
          <a:xfrm>
            <a:off x="685800" y="1066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b="1" dirty="0">
                <a:solidFill>
                  <a:srgbClr val="A50021"/>
                </a:solidFill>
                <a:latin typeface="华文中宋" panose="02010600040101010101" pitchFamily="2" charset="-122"/>
              </a:rPr>
              <a:t>（</a:t>
            </a:r>
            <a:r>
              <a:rPr lang="en-US" altLang="zh-CN" b="1" dirty="0">
                <a:solidFill>
                  <a:srgbClr val="A50021"/>
                </a:solidFill>
                <a:latin typeface="华文中宋" panose="02010600040101010101" pitchFamily="2" charset="-122"/>
              </a:rPr>
              <a:t>2</a:t>
            </a:r>
            <a:r>
              <a:rPr lang="zh-CN" altLang="en-US" b="1" dirty="0">
                <a:solidFill>
                  <a:srgbClr val="A50021"/>
                </a:solidFill>
                <a:latin typeface="华文中宋" panose="02010600040101010101" pitchFamily="2" charset="-122"/>
              </a:rPr>
              <a:t>）建立递归关系</a:t>
            </a:r>
          </a:p>
        </p:txBody>
      </p:sp>
      <p:sp>
        <p:nvSpPr>
          <p:cNvPr id="22532" name="Text Box 4">
            <a:extLst>
              <a:ext uri="{FF2B5EF4-FFF2-40B4-BE49-F238E27FC236}">
                <a16:creationId xmlns:a16="http://schemas.microsoft.com/office/drawing/2014/main" id="{ECC2BFAF-A948-44BE-84D5-078FE3CE7268}"/>
              </a:ext>
            </a:extLst>
          </p:cNvPr>
          <p:cNvSpPr txBox="1">
            <a:spLocks noChangeArrowheads="1"/>
          </p:cNvSpPr>
          <p:nvPr/>
        </p:nvSpPr>
        <p:spPr bwMode="auto">
          <a:xfrm>
            <a:off x="990600" y="2833688"/>
            <a:ext cx="647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m[1][n]= m[1][k]+ m[k+1][n]+ p</a:t>
            </a:r>
            <a:r>
              <a:rPr lang="en-US" altLang="zh-CN" sz="2800" baseline="-25000" dirty="0">
                <a:latin typeface="Palatino Linotype" panose="02040502050505030304" pitchFamily="18" charset="0"/>
                <a:ea typeface="华文中宋" panose="02010600040101010101" pitchFamily="2" charset="-122"/>
              </a:rPr>
              <a:t>0</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k</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n</a:t>
            </a:r>
          </a:p>
        </p:txBody>
      </p:sp>
      <p:sp>
        <p:nvSpPr>
          <p:cNvPr id="22533" name="Rectangle 5">
            <a:extLst>
              <a:ext uri="{FF2B5EF4-FFF2-40B4-BE49-F238E27FC236}">
                <a16:creationId xmlns:a16="http://schemas.microsoft.com/office/drawing/2014/main" id="{258B61E2-6257-4414-A3A7-1F9521357BDD}"/>
              </a:ext>
            </a:extLst>
          </p:cNvPr>
          <p:cNvSpPr>
            <a:spLocks noChangeArrowheads="1"/>
          </p:cNvSpPr>
          <p:nvPr/>
        </p:nvSpPr>
        <p:spPr bwMode="auto">
          <a:xfrm>
            <a:off x="685800" y="3733800"/>
            <a:ext cx="7696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dirty="0">
                <a:latin typeface="华文中宋" panose="02010600040101010101" pitchFamily="2" charset="-122"/>
                <a:ea typeface="华文中宋" panose="02010600040101010101" pitchFamily="2" charset="-122"/>
              </a:rPr>
              <a:t>一般情况</a:t>
            </a:r>
          </a:p>
          <a:p>
            <a:pPr eaLnBrk="1" hangingPunct="1">
              <a:spcBef>
                <a:spcPct val="20000"/>
              </a:spcBef>
            </a:pPr>
            <a:r>
              <a:rPr lang="zh-CN" altLang="en-US" sz="2800" dirty="0">
                <a:latin typeface="Palatino Linotype" panose="02040502050505030304" pitchFamily="18" charset="0"/>
                <a:ea typeface="华文中宋" panose="02010600040101010101" pitchFamily="2" charset="-122"/>
              </a:rPr>
              <a:t>      假定计算</a:t>
            </a:r>
            <a:r>
              <a:rPr lang="en-US" altLang="zh-CN" sz="2800" dirty="0">
                <a:latin typeface="Palatino Linotype" panose="02040502050505030304" pitchFamily="18" charset="0"/>
                <a:ea typeface="华文中宋" panose="02010600040101010101" pitchFamily="2" charset="-122"/>
              </a:rPr>
              <a:t>A[</a:t>
            </a:r>
            <a:r>
              <a:rPr lang="en-US" altLang="zh-CN" sz="2800" dirty="0" err="1">
                <a:latin typeface="Palatino Linotype" panose="02040502050505030304" pitchFamily="18" charset="0"/>
                <a:ea typeface="华文中宋" panose="02010600040101010101" pitchFamily="2" charset="-122"/>
              </a:rPr>
              <a:t>i</a:t>
            </a:r>
            <a:r>
              <a:rPr lang="zh-CN" altLang="en-US" sz="2800" dirty="0">
                <a:latin typeface="Palatino Linotype" panose="02040502050505030304" pitchFamily="18" charset="0"/>
                <a:ea typeface="华文中宋" panose="02010600040101010101" pitchFamily="2" charset="-122"/>
              </a:rPr>
              <a:t>：</a:t>
            </a:r>
            <a:r>
              <a:rPr lang="en-US" altLang="zh-CN" sz="2800" dirty="0">
                <a:latin typeface="Palatino Linotype" panose="02040502050505030304" pitchFamily="18" charset="0"/>
                <a:ea typeface="华文中宋" panose="02010600040101010101" pitchFamily="2" charset="-122"/>
              </a:rPr>
              <a:t>j]</a:t>
            </a:r>
            <a:r>
              <a:rPr lang="zh-CN" altLang="en-US" sz="2800" dirty="0">
                <a:latin typeface="Palatino Linotype" panose="02040502050505030304" pitchFamily="18" charset="0"/>
                <a:ea typeface="华文中宋" panose="02010600040101010101" pitchFamily="2" charset="-122"/>
              </a:rPr>
              <a:t>的一个最优次序在矩阵</a:t>
            </a:r>
            <a:r>
              <a:rPr lang="en-US" altLang="zh-CN" sz="2800" dirty="0">
                <a:latin typeface="Palatino Linotype" panose="02040502050505030304" pitchFamily="18" charset="0"/>
                <a:ea typeface="华文中宋" panose="02010600040101010101" pitchFamily="2" charset="-122"/>
              </a:rPr>
              <a:t>A</a:t>
            </a:r>
            <a:r>
              <a:rPr lang="en-US" altLang="zh-CN" sz="2800" baseline="-25000" dirty="0">
                <a:latin typeface="Palatino Linotype" panose="02040502050505030304" pitchFamily="18" charset="0"/>
                <a:ea typeface="华文中宋" panose="02010600040101010101" pitchFamily="2" charset="-122"/>
              </a:rPr>
              <a:t>k</a:t>
            </a:r>
            <a:r>
              <a:rPr lang="zh-CN" altLang="en-US" sz="2800" dirty="0">
                <a:latin typeface="Palatino Linotype" panose="02040502050505030304" pitchFamily="18" charset="0"/>
                <a:ea typeface="华文中宋" panose="02010600040101010101" pitchFamily="2" charset="-122"/>
              </a:rPr>
              <a:t>和</a:t>
            </a:r>
            <a:r>
              <a:rPr lang="en-US" altLang="zh-CN" sz="2800" dirty="0">
                <a:latin typeface="Palatino Linotype" panose="02040502050505030304" pitchFamily="18" charset="0"/>
                <a:ea typeface="华文中宋" panose="02010600040101010101" pitchFamily="2" charset="-122"/>
              </a:rPr>
              <a:t>A</a:t>
            </a:r>
            <a:r>
              <a:rPr lang="en-US" altLang="zh-CN" sz="2800" baseline="-25000" dirty="0">
                <a:latin typeface="Palatino Linotype" panose="02040502050505030304" pitchFamily="18" charset="0"/>
                <a:ea typeface="华文中宋" panose="02010600040101010101" pitchFamily="2" charset="-122"/>
              </a:rPr>
              <a:t>k+1</a:t>
            </a:r>
            <a:r>
              <a:rPr lang="zh-CN" altLang="en-US" sz="2800" dirty="0">
                <a:latin typeface="Palatino Linotype" panose="02040502050505030304" pitchFamily="18" charset="0"/>
                <a:ea typeface="华文中宋" panose="02010600040101010101" pitchFamily="2" charset="-122"/>
              </a:rPr>
              <a:t>之间将矩阵链断开，</a:t>
            </a:r>
            <a:r>
              <a:rPr lang="en-US" altLang="zh-CN" sz="2800" dirty="0" err="1">
                <a:latin typeface="Palatino Linotype" panose="02040502050505030304" pitchFamily="18" charset="0"/>
                <a:ea typeface="华文中宋" panose="02010600040101010101" pitchFamily="2" charset="-122"/>
              </a:rPr>
              <a:t>i</a:t>
            </a:r>
            <a:r>
              <a:rPr lang="en-US" altLang="zh-CN" sz="2800" dirty="0">
                <a:latin typeface="Palatino Linotype" panose="02040502050505030304" pitchFamily="18" charset="0"/>
                <a:ea typeface="华文中宋" panose="02010600040101010101" pitchFamily="2" charset="-122"/>
              </a:rPr>
              <a:t> ≤ k&lt; j </a:t>
            </a:r>
          </a:p>
        </p:txBody>
      </p:sp>
      <p:sp>
        <p:nvSpPr>
          <p:cNvPr id="22534" name="Text Box 6">
            <a:extLst>
              <a:ext uri="{FF2B5EF4-FFF2-40B4-BE49-F238E27FC236}">
                <a16:creationId xmlns:a16="http://schemas.microsoft.com/office/drawing/2014/main" id="{5B5D6E50-3C53-4353-8843-7B460FBA6300}"/>
              </a:ext>
            </a:extLst>
          </p:cNvPr>
          <p:cNvSpPr txBox="1">
            <a:spLocks noChangeArrowheads="1"/>
          </p:cNvSpPr>
          <p:nvPr/>
        </p:nvSpPr>
        <p:spPr bwMode="auto">
          <a:xfrm>
            <a:off x="838200" y="5424488"/>
            <a:ext cx="647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m[</a:t>
            </a:r>
            <a:r>
              <a:rPr lang="en-US" altLang="zh-CN" sz="2800" dirty="0" err="1">
                <a:latin typeface="Palatino Linotype" panose="02040502050505030304" pitchFamily="18" charset="0"/>
                <a:ea typeface="华文中宋" panose="02010600040101010101" pitchFamily="2" charset="-122"/>
              </a:rPr>
              <a:t>i</a:t>
            </a:r>
            <a:r>
              <a:rPr lang="en-US" altLang="zh-CN" sz="2800" dirty="0">
                <a:latin typeface="Palatino Linotype" panose="02040502050505030304" pitchFamily="18" charset="0"/>
                <a:ea typeface="华文中宋" panose="02010600040101010101" pitchFamily="2" charset="-122"/>
              </a:rPr>
              <a:t>][j]= m[</a:t>
            </a:r>
            <a:r>
              <a:rPr lang="en-US" altLang="zh-CN" sz="2800" dirty="0" err="1">
                <a:latin typeface="Palatino Linotype" panose="02040502050505030304" pitchFamily="18" charset="0"/>
                <a:ea typeface="华文中宋" panose="02010600040101010101" pitchFamily="2" charset="-122"/>
              </a:rPr>
              <a:t>i</a:t>
            </a:r>
            <a:r>
              <a:rPr lang="en-US" altLang="zh-CN" sz="2800" dirty="0">
                <a:latin typeface="Palatino Linotype" panose="02040502050505030304" pitchFamily="18" charset="0"/>
                <a:ea typeface="华文中宋" panose="02010600040101010101" pitchFamily="2" charset="-122"/>
              </a:rPr>
              <a:t>][k]+ m[k+1][j]+ p</a:t>
            </a:r>
            <a:r>
              <a:rPr lang="en-US" altLang="zh-CN" sz="2800" baseline="-25000" dirty="0">
                <a:latin typeface="Palatino Linotype" panose="02040502050505030304" pitchFamily="18" charset="0"/>
                <a:ea typeface="华文中宋" panose="02010600040101010101" pitchFamily="2" charset="-122"/>
              </a:rPr>
              <a:t>i-1</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k</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j</a:t>
            </a:r>
          </a:p>
        </p:txBody>
      </p:sp>
      <p:sp>
        <p:nvSpPr>
          <p:cNvPr id="22542" name="Text Box 14">
            <a:extLst>
              <a:ext uri="{FF2B5EF4-FFF2-40B4-BE49-F238E27FC236}">
                <a16:creationId xmlns:a16="http://schemas.microsoft.com/office/drawing/2014/main" id="{D6A9A275-7BD5-40B7-9BC5-F920BE129C6E}"/>
              </a:ext>
            </a:extLst>
          </p:cNvPr>
          <p:cNvSpPr txBox="1">
            <a:spLocks noChangeArrowheads="1"/>
          </p:cNvSpPr>
          <p:nvPr/>
        </p:nvSpPr>
        <p:spPr bwMode="auto">
          <a:xfrm>
            <a:off x="685800" y="1720850"/>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Palatino Linotype" panose="02040502050505030304" pitchFamily="18" charset="0"/>
                <a:ea typeface="华文中宋" panose="02010600040101010101" pitchFamily="2" charset="-122"/>
              </a:rPr>
              <a:t>假定计算</a:t>
            </a:r>
            <a:r>
              <a:rPr lang="en-US" altLang="zh-CN" sz="2800" dirty="0">
                <a:latin typeface="Palatino Linotype" panose="02040502050505030304" pitchFamily="18" charset="0"/>
                <a:ea typeface="华文中宋" panose="02010600040101010101" pitchFamily="2" charset="-122"/>
              </a:rPr>
              <a:t>A[1</a:t>
            </a:r>
            <a:r>
              <a:rPr lang="zh-CN" altLang="en-US" sz="2800" dirty="0">
                <a:latin typeface="Palatino Linotype" panose="02040502050505030304" pitchFamily="18" charset="0"/>
                <a:ea typeface="华文中宋" panose="02010600040101010101" pitchFamily="2" charset="-122"/>
              </a:rPr>
              <a:t>：</a:t>
            </a:r>
            <a:r>
              <a:rPr lang="en-US" altLang="zh-CN" sz="2800" dirty="0">
                <a:latin typeface="Palatino Linotype" panose="02040502050505030304" pitchFamily="18" charset="0"/>
                <a:ea typeface="华文中宋" panose="02010600040101010101" pitchFamily="2" charset="-122"/>
              </a:rPr>
              <a:t>n]</a:t>
            </a:r>
            <a:r>
              <a:rPr lang="zh-CN" altLang="en-US" sz="2800" dirty="0">
                <a:latin typeface="Palatino Linotype" panose="02040502050505030304" pitchFamily="18" charset="0"/>
                <a:ea typeface="华文中宋" panose="02010600040101010101" pitchFamily="2" charset="-122"/>
              </a:rPr>
              <a:t>的一个最优次序在矩阵</a:t>
            </a:r>
            <a:r>
              <a:rPr lang="en-US" altLang="zh-CN" sz="2800" dirty="0">
                <a:latin typeface="Palatino Linotype" panose="02040502050505030304" pitchFamily="18" charset="0"/>
                <a:ea typeface="华文中宋" panose="02010600040101010101" pitchFamily="2" charset="-122"/>
              </a:rPr>
              <a:t>A</a:t>
            </a:r>
            <a:r>
              <a:rPr lang="en-US" altLang="zh-CN" sz="2800" baseline="-25000" dirty="0">
                <a:latin typeface="Palatino Linotype" panose="02040502050505030304" pitchFamily="18" charset="0"/>
                <a:ea typeface="华文中宋" panose="02010600040101010101" pitchFamily="2" charset="-122"/>
              </a:rPr>
              <a:t>k</a:t>
            </a:r>
            <a:r>
              <a:rPr lang="zh-CN" altLang="en-US" sz="2800" dirty="0">
                <a:latin typeface="Palatino Linotype" panose="02040502050505030304" pitchFamily="18" charset="0"/>
                <a:ea typeface="华文中宋" panose="02010600040101010101" pitchFamily="2" charset="-122"/>
              </a:rPr>
              <a:t>和</a:t>
            </a:r>
            <a:r>
              <a:rPr lang="en-US" altLang="zh-CN" sz="2800" dirty="0">
                <a:latin typeface="Palatino Linotype" panose="02040502050505030304" pitchFamily="18" charset="0"/>
                <a:ea typeface="华文中宋" panose="02010600040101010101" pitchFamily="2" charset="-122"/>
              </a:rPr>
              <a:t>A</a:t>
            </a:r>
            <a:r>
              <a:rPr lang="en-US" altLang="zh-CN" sz="2800" baseline="-25000" dirty="0">
                <a:latin typeface="Palatino Linotype" panose="02040502050505030304" pitchFamily="18" charset="0"/>
                <a:ea typeface="华文中宋" panose="02010600040101010101" pitchFamily="2" charset="-122"/>
              </a:rPr>
              <a:t>k+1</a:t>
            </a:r>
            <a:r>
              <a:rPr lang="zh-CN" altLang="en-US" sz="2800" dirty="0">
                <a:latin typeface="Palatino Linotype" panose="02040502050505030304" pitchFamily="18" charset="0"/>
                <a:ea typeface="华文中宋" panose="02010600040101010101" pitchFamily="2" charset="-122"/>
              </a:rPr>
              <a:t>之间将矩阵链断开，</a:t>
            </a:r>
            <a:r>
              <a:rPr lang="en-US" altLang="zh-CN" sz="2800" dirty="0">
                <a:latin typeface="Palatino Linotype" panose="02040502050505030304" pitchFamily="18" charset="0"/>
                <a:ea typeface="华文中宋" panose="02010600040101010101" pitchFamily="2" charset="-122"/>
              </a:rPr>
              <a:t>1 ≤ k&lt; n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 calcmode="lin" valueType="num">
                                      <p:cBhvr additive="base">
                                        <p:cTn id="7" dur="500" fill="hold"/>
                                        <p:tgtEl>
                                          <p:spTgt spid="225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5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42"/>
                                        </p:tgtEl>
                                        <p:attrNameLst>
                                          <p:attrName>style.visibility</p:attrName>
                                        </p:attrNameLst>
                                      </p:cBhvr>
                                      <p:to>
                                        <p:strVal val="visible"/>
                                      </p:to>
                                    </p:set>
                                    <p:anim calcmode="lin" valueType="num">
                                      <p:cBhvr additive="base">
                                        <p:cTn id="13" dur="500" fill="hold"/>
                                        <p:tgtEl>
                                          <p:spTgt spid="22542"/>
                                        </p:tgtEl>
                                        <p:attrNameLst>
                                          <p:attrName>ppt_x</p:attrName>
                                        </p:attrNameLst>
                                      </p:cBhvr>
                                      <p:tavLst>
                                        <p:tav tm="0">
                                          <p:val>
                                            <p:strVal val="0-#ppt_w/2"/>
                                          </p:val>
                                        </p:tav>
                                        <p:tav tm="100000">
                                          <p:val>
                                            <p:strVal val="#ppt_x"/>
                                          </p:val>
                                        </p:tav>
                                      </p:tavLst>
                                    </p:anim>
                                    <p:anim calcmode="lin" valueType="num">
                                      <p:cBhvr additive="base">
                                        <p:cTn id="14" dur="500" fill="hold"/>
                                        <p:tgtEl>
                                          <p:spTgt spid="2254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2"/>
                                        </p:tgtEl>
                                        <p:attrNameLst>
                                          <p:attrName>style.visibility</p:attrName>
                                        </p:attrNameLst>
                                      </p:cBhvr>
                                      <p:to>
                                        <p:strVal val="visible"/>
                                      </p:to>
                                    </p:set>
                                    <p:anim calcmode="lin" valueType="num">
                                      <p:cBhvr additive="base">
                                        <p:cTn id="19" dur="500" fill="hold"/>
                                        <p:tgtEl>
                                          <p:spTgt spid="22532"/>
                                        </p:tgtEl>
                                        <p:attrNameLst>
                                          <p:attrName>ppt_x</p:attrName>
                                        </p:attrNameLst>
                                      </p:cBhvr>
                                      <p:tavLst>
                                        <p:tav tm="0">
                                          <p:val>
                                            <p:strVal val="0-#ppt_w/2"/>
                                          </p:val>
                                        </p:tav>
                                        <p:tav tm="100000">
                                          <p:val>
                                            <p:strVal val="#ppt_x"/>
                                          </p:val>
                                        </p:tav>
                                      </p:tavLst>
                                    </p:anim>
                                    <p:anim calcmode="lin" valueType="num">
                                      <p:cBhvr additive="base">
                                        <p:cTn id="20" dur="500" fill="hold"/>
                                        <p:tgtEl>
                                          <p:spTgt spid="2253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3"/>
                                        </p:tgtEl>
                                        <p:attrNameLst>
                                          <p:attrName>style.visibility</p:attrName>
                                        </p:attrNameLst>
                                      </p:cBhvr>
                                      <p:to>
                                        <p:strVal val="visible"/>
                                      </p:to>
                                    </p:set>
                                    <p:anim calcmode="lin" valueType="num">
                                      <p:cBhvr additive="base">
                                        <p:cTn id="25" dur="500" fill="hold"/>
                                        <p:tgtEl>
                                          <p:spTgt spid="22533"/>
                                        </p:tgtEl>
                                        <p:attrNameLst>
                                          <p:attrName>ppt_x</p:attrName>
                                        </p:attrNameLst>
                                      </p:cBhvr>
                                      <p:tavLst>
                                        <p:tav tm="0">
                                          <p:val>
                                            <p:strVal val="0-#ppt_w/2"/>
                                          </p:val>
                                        </p:tav>
                                        <p:tav tm="100000">
                                          <p:val>
                                            <p:strVal val="#ppt_x"/>
                                          </p:val>
                                        </p:tav>
                                      </p:tavLst>
                                    </p:anim>
                                    <p:anim calcmode="lin" valueType="num">
                                      <p:cBhvr additive="base">
                                        <p:cTn id="26" dur="500" fill="hold"/>
                                        <p:tgtEl>
                                          <p:spTgt spid="22533"/>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534"/>
                                        </p:tgtEl>
                                        <p:attrNameLst>
                                          <p:attrName>style.visibility</p:attrName>
                                        </p:attrNameLst>
                                      </p:cBhvr>
                                      <p:to>
                                        <p:strVal val="visible"/>
                                      </p:to>
                                    </p:set>
                                    <p:anim calcmode="lin" valueType="num">
                                      <p:cBhvr additive="base">
                                        <p:cTn id="31" dur="500" fill="hold"/>
                                        <p:tgtEl>
                                          <p:spTgt spid="22534"/>
                                        </p:tgtEl>
                                        <p:attrNameLst>
                                          <p:attrName>ppt_x</p:attrName>
                                        </p:attrNameLst>
                                      </p:cBhvr>
                                      <p:tavLst>
                                        <p:tav tm="0">
                                          <p:val>
                                            <p:strVal val="0-#ppt_w/2"/>
                                          </p:val>
                                        </p:tav>
                                        <p:tav tm="100000">
                                          <p:val>
                                            <p:strVal val="#ppt_x"/>
                                          </p:val>
                                        </p:tav>
                                      </p:tavLst>
                                    </p:anim>
                                    <p:anim calcmode="lin" valueType="num">
                                      <p:cBhvr additive="base">
                                        <p:cTn id="32"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P spid="22532" grpId="0" autoUpdateAnimBg="0"/>
      <p:bldP spid="22533" grpId="0" autoUpdateAnimBg="0"/>
      <p:bldP spid="22534" grpId="0" autoUpdateAnimBg="0"/>
      <p:bldP spid="2254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C4DDA18-B423-442B-B0A4-3C94E9ED1CF1}"/>
              </a:ext>
            </a:extLst>
          </p:cNvPr>
          <p:cNvSpPr>
            <a:spLocks noGrp="1" noChangeArrowheads="1"/>
          </p:cNvSpPr>
          <p:nvPr>
            <p:ph type="title"/>
          </p:nvPr>
        </p:nvSpPr>
        <p:spPr bwMode="auto">
          <a:xfrm>
            <a:off x="685800" y="609600"/>
            <a:ext cx="7772400" cy="9144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分析最优解的特征和结构</a:t>
            </a:r>
          </a:p>
        </p:txBody>
      </p:sp>
      <p:sp>
        <p:nvSpPr>
          <p:cNvPr id="25603" name="Rectangle 3">
            <a:extLst>
              <a:ext uri="{FF2B5EF4-FFF2-40B4-BE49-F238E27FC236}">
                <a16:creationId xmlns:a16="http://schemas.microsoft.com/office/drawing/2014/main" id="{6374E342-C5D3-4DEB-AAFD-334A14B209FE}"/>
              </a:ext>
            </a:extLst>
          </p:cNvPr>
          <p:cNvSpPr>
            <a:spLocks noGrp="1" noChangeArrowheads="1"/>
          </p:cNvSpPr>
          <p:nvPr>
            <p:ph type="body" idx="1"/>
          </p:nvPr>
        </p:nvSpPr>
        <p:spPr bwMode="auto">
          <a:xfrm>
            <a:off x="533400" y="1676400"/>
            <a:ext cx="8077200" cy="441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Palatino Linotype" panose="02040502050505030304" pitchFamily="18" charset="0"/>
              </a:rPr>
              <a:t>特征：计算</a:t>
            </a:r>
            <a:r>
              <a:rPr lang="en-US" altLang="zh-CN" sz="2800" b="1" dirty="0">
                <a:latin typeface="Palatino Linotype" panose="02040502050505030304" pitchFamily="18" charset="0"/>
              </a:rPr>
              <a:t>A[</a:t>
            </a:r>
            <a:r>
              <a:rPr lang="en-US" altLang="zh-CN" sz="2800" b="1" dirty="0" err="1">
                <a:latin typeface="Palatino Linotype" panose="02040502050505030304" pitchFamily="18" charset="0"/>
              </a:rPr>
              <a:t>i:j</a:t>
            </a:r>
            <a:r>
              <a:rPr lang="en-US" altLang="zh-CN" sz="2800" b="1" dirty="0">
                <a:latin typeface="Palatino Linotype" panose="02040502050505030304" pitchFamily="18" charset="0"/>
              </a:rPr>
              <a:t>]</a:t>
            </a:r>
            <a:r>
              <a:rPr lang="zh-CN" altLang="en-US" sz="2800" b="1" dirty="0">
                <a:latin typeface="Palatino Linotype" panose="02040502050505030304" pitchFamily="18" charset="0"/>
              </a:rPr>
              <a:t>的最优次序所包含的计算矩阵子链 </a:t>
            </a:r>
            <a:r>
              <a:rPr lang="en-US" altLang="zh-CN" sz="2800" b="1" dirty="0">
                <a:latin typeface="Palatino Linotype" panose="02040502050505030304" pitchFamily="18" charset="0"/>
              </a:rPr>
              <a:t>A[</a:t>
            </a:r>
            <a:r>
              <a:rPr lang="en-US" altLang="zh-CN" sz="2800" b="1" dirty="0" err="1">
                <a:latin typeface="Palatino Linotype" panose="02040502050505030304" pitchFamily="18" charset="0"/>
              </a:rPr>
              <a:t>i:k</a:t>
            </a:r>
            <a:r>
              <a:rPr lang="en-US" altLang="zh-CN" sz="2800" b="1" dirty="0">
                <a:latin typeface="Palatino Linotype" panose="02040502050505030304" pitchFamily="18" charset="0"/>
              </a:rPr>
              <a:t>]</a:t>
            </a:r>
            <a:r>
              <a:rPr lang="zh-CN" altLang="en-US" sz="2800" b="1" dirty="0">
                <a:latin typeface="Palatino Linotype" panose="02040502050505030304" pitchFamily="18" charset="0"/>
              </a:rPr>
              <a:t>和</a:t>
            </a:r>
            <a:r>
              <a:rPr lang="en-US" altLang="zh-CN" sz="2800" b="1" dirty="0">
                <a:latin typeface="Palatino Linotype" panose="02040502050505030304" pitchFamily="18" charset="0"/>
              </a:rPr>
              <a:t>A[k+1:j]</a:t>
            </a:r>
            <a:r>
              <a:rPr lang="zh-CN" altLang="en-US" sz="2800" b="1" dirty="0">
                <a:latin typeface="Palatino Linotype" panose="02040502050505030304" pitchFamily="18" charset="0"/>
              </a:rPr>
              <a:t>的次序也是最优的。</a:t>
            </a:r>
          </a:p>
          <a:p>
            <a:pPr eaLnBrk="1" hangingPunct="1"/>
            <a:endParaRPr lang="zh-CN" altLang="en-US" sz="2800" b="1" dirty="0">
              <a:latin typeface="华文中宋" panose="02010600040101010101" pitchFamily="2" charset="-122"/>
            </a:endParaRPr>
          </a:p>
          <a:p>
            <a:pPr eaLnBrk="1" hangingPunct="1"/>
            <a:r>
              <a:rPr lang="zh-CN" altLang="en-US" sz="2800" b="1" dirty="0">
                <a:latin typeface="华文中宋" panose="02010600040101010101" pitchFamily="2" charset="-122"/>
              </a:rPr>
              <a:t>矩阵连乘计算次序问题的最优解包含着其子问题的最优解。这种性质称为最优子结构性质。问题的最优子结构性质是该问题可用这一算法求解的显著特征。</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4E99D6B-D3C8-45D3-9A10-1E6603E688E8}"/>
              </a:ext>
            </a:extLst>
          </p:cNvPr>
          <p:cNvSpPr>
            <a:spLocks noGrp="1" noChangeArrowheads="1"/>
          </p:cNvSpPr>
          <p:nvPr>
            <p:ph type="title"/>
          </p:nvPr>
        </p:nvSpPr>
        <p:spPr bwMode="auto">
          <a:xfrm>
            <a:off x="685800" y="609600"/>
            <a:ext cx="7772400" cy="9906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矩阵链问题的一般递推关系</a:t>
            </a:r>
          </a:p>
        </p:txBody>
      </p:sp>
      <p:sp>
        <p:nvSpPr>
          <p:cNvPr id="27652" name="Text Box 4">
            <a:extLst>
              <a:ext uri="{FF2B5EF4-FFF2-40B4-BE49-F238E27FC236}">
                <a16:creationId xmlns:a16="http://schemas.microsoft.com/office/drawing/2014/main" id="{2E6DAF02-89B6-416B-97D4-AE76E4CFE81B}"/>
              </a:ext>
            </a:extLst>
          </p:cNvPr>
          <p:cNvSpPr txBox="1">
            <a:spLocks noChangeArrowheads="1"/>
          </p:cNvSpPr>
          <p:nvPr/>
        </p:nvSpPr>
        <p:spPr bwMode="auto">
          <a:xfrm>
            <a:off x="533400" y="2452688"/>
            <a:ext cx="152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m[</a:t>
            </a:r>
            <a:r>
              <a:rPr lang="en-US" altLang="zh-CN" sz="2800" dirty="0" err="1">
                <a:latin typeface="Palatino Linotype" panose="02040502050505030304" pitchFamily="18" charset="0"/>
                <a:ea typeface="华文中宋" panose="02010600040101010101" pitchFamily="2" charset="-122"/>
              </a:rPr>
              <a:t>i</a:t>
            </a:r>
            <a:r>
              <a:rPr lang="en-US" altLang="zh-CN" sz="2800" dirty="0">
                <a:latin typeface="Palatino Linotype" panose="02040502050505030304" pitchFamily="18" charset="0"/>
                <a:ea typeface="华文中宋" panose="02010600040101010101" pitchFamily="2" charset="-122"/>
              </a:rPr>
              <a:t>][j]=</a:t>
            </a:r>
          </a:p>
        </p:txBody>
      </p:sp>
      <p:sp>
        <p:nvSpPr>
          <p:cNvPr id="27653" name="AutoShape 5">
            <a:extLst>
              <a:ext uri="{FF2B5EF4-FFF2-40B4-BE49-F238E27FC236}">
                <a16:creationId xmlns:a16="http://schemas.microsoft.com/office/drawing/2014/main" id="{BE091630-666E-4DBA-AC19-9658BC4635A8}"/>
              </a:ext>
            </a:extLst>
          </p:cNvPr>
          <p:cNvSpPr>
            <a:spLocks/>
          </p:cNvSpPr>
          <p:nvPr/>
        </p:nvSpPr>
        <p:spPr bwMode="auto">
          <a:xfrm>
            <a:off x="1971196" y="2240947"/>
            <a:ext cx="144016" cy="1008112"/>
          </a:xfrm>
          <a:prstGeom prst="leftBrace">
            <a:avLst>
              <a:gd name="adj1" fmla="val 4255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7654" name="Text Box 6">
            <a:extLst>
              <a:ext uri="{FF2B5EF4-FFF2-40B4-BE49-F238E27FC236}">
                <a16:creationId xmlns:a16="http://schemas.microsoft.com/office/drawing/2014/main" id="{D8C35EE3-C539-4071-9A84-0F3FF58A436A}"/>
              </a:ext>
            </a:extLst>
          </p:cNvPr>
          <p:cNvSpPr txBox="1">
            <a:spLocks noChangeArrowheads="1"/>
          </p:cNvSpPr>
          <p:nvPr/>
        </p:nvSpPr>
        <p:spPr bwMode="auto">
          <a:xfrm>
            <a:off x="2819400" y="21336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latin typeface="Palatino Linotype" panose="02040502050505030304" pitchFamily="18" charset="0"/>
                <a:ea typeface="华文中宋" panose="02010600040101010101" pitchFamily="2" charset="-122"/>
              </a:rPr>
              <a:t>0                                    </a:t>
            </a:r>
            <a:r>
              <a:rPr lang="en-US" altLang="zh-CN" dirty="0" err="1">
                <a:latin typeface="Palatino Linotype" panose="02040502050505030304" pitchFamily="18" charset="0"/>
                <a:ea typeface="华文中宋" panose="02010600040101010101" pitchFamily="2" charset="-122"/>
              </a:rPr>
              <a:t>i</a:t>
            </a:r>
            <a:r>
              <a:rPr lang="en-US" altLang="zh-CN" dirty="0">
                <a:latin typeface="Palatino Linotype" panose="02040502050505030304" pitchFamily="18" charset="0"/>
                <a:ea typeface="华文中宋" panose="02010600040101010101" pitchFamily="2" charset="-122"/>
              </a:rPr>
              <a:t>=j</a:t>
            </a:r>
          </a:p>
        </p:txBody>
      </p:sp>
      <p:grpSp>
        <p:nvGrpSpPr>
          <p:cNvPr id="2" name="Group 7">
            <a:extLst>
              <a:ext uri="{FF2B5EF4-FFF2-40B4-BE49-F238E27FC236}">
                <a16:creationId xmlns:a16="http://schemas.microsoft.com/office/drawing/2014/main" id="{CA0F6DE5-5730-43C9-997A-4AF5E9D30485}"/>
              </a:ext>
            </a:extLst>
          </p:cNvPr>
          <p:cNvGrpSpPr>
            <a:grpSpLocks/>
          </p:cNvGrpSpPr>
          <p:nvPr/>
        </p:nvGrpSpPr>
        <p:grpSpPr bwMode="auto">
          <a:xfrm>
            <a:off x="2265297" y="2619379"/>
            <a:ext cx="6899789" cy="719138"/>
            <a:chOff x="1584" y="3657"/>
            <a:chExt cx="4176" cy="453"/>
          </a:xfrm>
        </p:grpSpPr>
        <p:sp>
          <p:nvSpPr>
            <p:cNvPr id="26632" name="Text Box 8">
              <a:extLst>
                <a:ext uri="{FF2B5EF4-FFF2-40B4-BE49-F238E27FC236}">
                  <a16:creationId xmlns:a16="http://schemas.microsoft.com/office/drawing/2014/main" id="{75ACC0E8-B828-4B4D-A3F3-D5CFEBFBA14C}"/>
                </a:ext>
              </a:extLst>
            </p:cNvPr>
            <p:cNvSpPr txBox="1">
              <a:spLocks noChangeArrowheads="1"/>
            </p:cNvSpPr>
            <p:nvPr/>
          </p:nvSpPr>
          <p:spPr bwMode="auto">
            <a:xfrm>
              <a:off x="1584" y="3657"/>
              <a:ext cx="41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Palatino Linotype" panose="02040502050505030304" pitchFamily="18" charset="0"/>
                  <a:ea typeface="华文中宋" panose="02010600040101010101" pitchFamily="2" charset="-122"/>
                </a:rPr>
                <a:t>min{m[</a:t>
              </a:r>
              <a:r>
                <a:rPr lang="en-US" altLang="zh-CN" sz="2800" dirty="0" err="1">
                  <a:latin typeface="Palatino Linotype" panose="02040502050505030304" pitchFamily="18" charset="0"/>
                  <a:ea typeface="华文中宋" panose="02010600040101010101" pitchFamily="2" charset="-122"/>
                </a:rPr>
                <a:t>i</a:t>
              </a:r>
              <a:r>
                <a:rPr lang="en-US" altLang="zh-CN" sz="2800" dirty="0">
                  <a:latin typeface="Palatino Linotype" panose="02040502050505030304" pitchFamily="18" charset="0"/>
                  <a:ea typeface="华文中宋" panose="02010600040101010101" pitchFamily="2" charset="-122"/>
                </a:rPr>
                <a:t>][k]+ m[k+1][j]+ p</a:t>
              </a:r>
              <a:r>
                <a:rPr lang="en-US" altLang="zh-CN" sz="2800" baseline="-25000" dirty="0">
                  <a:latin typeface="Palatino Linotype" panose="02040502050505030304" pitchFamily="18" charset="0"/>
                  <a:ea typeface="华文中宋" panose="02010600040101010101" pitchFamily="2" charset="-122"/>
                </a:rPr>
                <a:t>i-1</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k</a:t>
              </a:r>
              <a:r>
                <a:rPr lang="en-US" altLang="zh-CN" sz="2800" dirty="0">
                  <a:latin typeface="Palatino Linotype" panose="02040502050505030304" pitchFamily="18" charset="0"/>
                  <a:ea typeface="华文中宋" panose="02010600040101010101" pitchFamily="2" charset="-122"/>
                </a:rPr>
                <a:t>p</a:t>
              </a:r>
              <a:r>
                <a:rPr lang="en-US" altLang="zh-CN" sz="2800" baseline="-25000" dirty="0">
                  <a:latin typeface="Palatino Linotype" panose="02040502050505030304" pitchFamily="18" charset="0"/>
                  <a:ea typeface="华文中宋" panose="02010600040101010101" pitchFamily="2" charset="-122"/>
                </a:rPr>
                <a:t>j </a:t>
              </a:r>
              <a:r>
                <a:rPr lang="en-US" altLang="zh-CN" sz="2800" dirty="0">
                  <a:latin typeface="Palatino Linotype" panose="02040502050505030304" pitchFamily="18" charset="0"/>
                  <a:ea typeface="华文中宋" panose="02010600040101010101" pitchFamily="2" charset="-122"/>
                </a:rPr>
                <a:t>}</a:t>
              </a:r>
              <a:r>
                <a:rPr lang="en-US" altLang="zh-CN" sz="2800" baseline="-25000" dirty="0">
                  <a:latin typeface="Palatino Linotype" panose="02040502050505030304" pitchFamily="18" charset="0"/>
                  <a:ea typeface="华文中宋" panose="02010600040101010101" pitchFamily="2" charset="-122"/>
                </a:rPr>
                <a:t>       </a:t>
              </a:r>
              <a:r>
                <a:rPr lang="en-US" altLang="zh-CN" dirty="0" err="1">
                  <a:latin typeface="Palatino Linotype" panose="02040502050505030304" pitchFamily="18" charset="0"/>
                  <a:ea typeface="华文中宋" panose="02010600040101010101" pitchFamily="2" charset="-122"/>
                </a:rPr>
                <a:t>i</a:t>
              </a:r>
              <a:r>
                <a:rPr lang="en-US" altLang="zh-CN" dirty="0" err="1">
                  <a:latin typeface="Palatino Linotype" panose="02040502050505030304" pitchFamily="18" charset="0"/>
                  <a:ea typeface="华文中宋" panose="02010600040101010101" pitchFamily="2" charset="-122"/>
                  <a:sym typeface="Symbol" panose="05050102010706020507" pitchFamily="18" charset="2"/>
                </a:rPr>
                <a:t></a:t>
              </a:r>
              <a:r>
                <a:rPr lang="en-US" altLang="zh-CN" dirty="0" err="1">
                  <a:latin typeface="Palatino Linotype" panose="02040502050505030304" pitchFamily="18" charset="0"/>
                  <a:ea typeface="华文中宋" panose="02010600040101010101" pitchFamily="2" charset="-122"/>
                </a:rPr>
                <a:t>j</a:t>
              </a:r>
              <a:endParaRPr lang="en-US" altLang="zh-CN" dirty="0">
                <a:latin typeface="Palatino Linotype" panose="02040502050505030304" pitchFamily="18" charset="0"/>
                <a:ea typeface="华文中宋" panose="02010600040101010101" pitchFamily="2" charset="-122"/>
              </a:endParaRPr>
            </a:p>
          </p:txBody>
        </p:sp>
        <p:sp>
          <p:nvSpPr>
            <p:cNvPr id="26633" name="Text Box 9">
              <a:extLst>
                <a:ext uri="{FF2B5EF4-FFF2-40B4-BE49-F238E27FC236}">
                  <a16:creationId xmlns:a16="http://schemas.microsoft.com/office/drawing/2014/main" id="{D1F08327-7748-436C-85CE-9EE2FD070F59}"/>
                </a:ext>
              </a:extLst>
            </p:cNvPr>
            <p:cNvSpPr txBox="1">
              <a:spLocks noChangeArrowheads="1"/>
            </p:cNvSpPr>
            <p:nvPr/>
          </p:nvSpPr>
          <p:spPr bwMode="auto">
            <a:xfrm>
              <a:off x="1584" y="3879"/>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err="1">
                  <a:latin typeface="Palatino Linotype" panose="02040502050505030304" pitchFamily="18" charset="0"/>
                  <a:ea typeface="华文中宋" panose="02010600040101010101" pitchFamily="2" charset="-122"/>
                </a:rPr>
                <a:t>i</a:t>
              </a:r>
              <a:r>
                <a:rPr lang="en-US" altLang="zh-CN" sz="1800" dirty="0">
                  <a:latin typeface="Palatino Linotype" panose="02040502050505030304" pitchFamily="18" charset="0"/>
                  <a:ea typeface="华文中宋" panose="02010600040101010101" pitchFamily="2" charset="-122"/>
                </a:rPr>
                <a:t>&lt;=k&lt;j</a:t>
              </a:r>
            </a:p>
          </p:txBody>
        </p:sp>
      </p:grpSp>
      <mc:AlternateContent xmlns:mc="http://schemas.openxmlformats.org/markup-compatibility/2006" xmlns:p14="http://schemas.microsoft.com/office/powerpoint/2010/main">
        <mc:Choice Requires="p14">
          <p:contentPart p14:bwMode="auto" r:id="rId2">
            <p14:nvContentPartPr>
              <p14:cNvPr id="3" name="墨迹 2">
                <a:extLst>
                  <a:ext uri="{FF2B5EF4-FFF2-40B4-BE49-F238E27FC236}">
                    <a16:creationId xmlns:a16="http://schemas.microsoft.com/office/drawing/2014/main" id="{92B99048-E89B-153E-A172-1A5539187DFC}"/>
                  </a:ext>
                </a:extLst>
              </p14:cNvPr>
              <p14:cNvContentPartPr/>
              <p14:nvPr/>
            </p14:nvContentPartPr>
            <p14:xfrm>
              <a:off x="552600" y="2944080"/>
              <a:ext cx="6888600" cy="548640"/>
            </p14:xfrm>
          </p:contentPart>
        </mc:Choice>
        <mc:Fallback xmlns="">
          <p:pic>
            <p:nvPicPr>
              <p:cNvPr id="3" name="墨迹 2">
                <a:extLst>
                  <a:ext uri="{FF2B5EF4-FFF2-40B4-BE49-F238E27FC236}">
                    <a16:creationId xmlns:a16="http://schemas.microsoft.com/office/drawing/2014/main" id="{92B99048-E89B-153E-A172-1A5539187DFC}"/>
                  </a:ext>
                </a:extLst>
              </p:cNvPr>
              <p:cNvPicPr/>
              <p:nvPr/>
            </p:nvPicPr>
            <p:blipFill>
              <a:blip r:embed="rId3"/>
              <a:stretch>
                <a:fillRect/>
              </a:stretch>
            </p:blipFill>
            <p:spPr>
              <a:xfrm>
                <a:off x="543240" y="2934720"/>
                <a:ext cx="6907320" cy="567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 calcmode="lin" valueType="num">
                                      <p:cBhvr additive="base">
                                        <p:cTn id="7" dur="500" fill="hold"/>
                                        <p:tgtEl>
                                          <p:spTgt spid="27652"/>
                                        </p:tgtEl>
                                        <p:attrNameLst>
                                          <p:attrName>ppt_x</p:attrName>
                                        </p:attrNameLst>
                                      </p:cBhvr>
                                      <p:tavLst>
                                        <p:tav tm="0">
                                          <p:val>
                                            <p:strVal val="0-#ppt_w/2"/>
                                          </p:val>
                                        </p:tav>
                                        <p:tav tm="100000">
                                          <p:val>
                                            <p:strVal val="#ppt_x"/>
                                          </p:val>
                                        </p:tav>
                                      </p:tavLst>
                                    </p:anim>
                                    <p:anim calcmode="lin" valueType="num">
                                      <p:cBhvr additive="base">
                                        <p:cTn id="8" dur="500" fill="hold"/>
                                        <p:tgtEl>
                                          <p:spTgt spid="2765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653"/>
                                        </p:tgtEl>
                                        <p:attrNameLst>
                                          <p:attrName>style.visibility</p:attrName>
                                        </p:attrNameLst>
                                      </p:cBhvr>
                                      <p:to>
                                        <p:strVal val="visible"/>
                                      </p:to>
                                    </p:set>
                                    <p:anim calcmode="lin" valueType="num">
                                      <p:cBhvr additive="base">
                                        <p:cTn id="13" dur="500" fill="hold"/>
                                        <p:tgtEl>
                                          <p:spTgt spid="27653"/>
                                        </p:tgtEl>
                                        <p:attrNameLst>
                                          <p:attrName>ppt_x</p:attrName>
                                        </p:attrNameLst>
                                      </p:cBhvr>
                                      <p:tavLst>
                                        <p:tav tm="0">
                                          <p:val>
                                            <p:strVal val="0-#ppt_w/2"/>
                                          </p:val>
                                        </p:tav>
                                        <p:tav tm="100000">
                                          <p:val>
                                            <p:strVal val="#ppt_x"/>
                                          </p:val>
                                        </p:tav>
                                      </p:tavLst>
                                    </p:anim>
                                    <p:anim calcmode="lin" valueType="num">
                                      <p:cBhvr additive="base">
                                        <p:cTn id="14" dur="500" fill="hold"/>
                                        <p:tgtEl>
                                          <p:spTgt spid="2765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7654"/>
                                        </p:tgtEl>
                                        <p:attrNameLst>
                                          <p:attrName>style.visibility</p:attrName>
                                        </p:attrNameLst>
                                      </p:cBhvr>
                                      <p:to>
                                        <p:strVal val="visible"/>
                                      </p:to>
                                    </p:set>
                                    <p:anim calcmode="lin" valueType="num">
                                      <p:cBhvr additive="base">
                                        <p:cTn id="19" dur="500" fill="hold"/>
                                        <p:tgtEl>
                                          <p:spTgt spid="27654"/>
                                        </p:tgtEl>
                                        <p:attrNameLst>
                                          <p:attrName>ppt_x</p:attrName>
                                        </p:attrNameLst>
                                      </p:cBhvr>
                                      <p:tavLst>
                                        <p:tav tm="0">
                                          <p:val>
                                            <p:strVal val="0-#ppt_w/2"/>
                                          </p:val>
                                        </p:tav>
                                        <p:tav tm="100000">
                                          <p:val>
                                            <p:strVal val="#ppt_x"/>
                                          </p:val>
                                        </p:tav>
                                      </p:tavLst>
                                    </p:anim>
                                    <p:anim calcmode="lin" valueType="num">
                                      <p:cBhvr additive="base">
                                        <p:cTn id="20" dur="500" fill="hold"/>
                                        <p:tgtEl>
                                          <p:spTgt spid="2765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utoUpdateAnimBg="0"/>
      <p:bldP spid="27653" grpId="0" animBg="1"/>
      <p:bldP spid="2765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7E5EED8-7FB5-4DB5-B26B-726459D1837D}"/>
              </a:ext>
            </a:extLst>
          </p:cNvPr>
          <p:cNvSpPr>
            <a:spLocks noGrp="1" noChangeArrowheads="1"/>
          </p:cNvSpPr>
          <p:nvPr>
            <p:ph type="title"/>
          </p:nvPr>
        </p:nvSpPr>
        <p:spPr bwMode="auto">
          <a:xfrm>
            <a:off x="685800" y="228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3</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）计算最优值</a:t>
            </a:r>
          </a:p>
        </p:txBody>
      </p:sp>
      <p:sp>
        <p:nvSpPr>
          <p:cNvPr id="23556" name="Text Box 4">
            <a:extLst>
              <a:ext uri="{FF2B5EF4-FFF2-40B4-BE49-F238E27FC236}">
                <a16:creationId xmlns:a16="http://schemas.microsoft.com/office/drawing/2014/main" id="{F7BDE58F-588C-43A0-B63B-31B5DC1BF4C5}"/>
              </a:ext>
            </a:extLst>
          </p:cNvPr>
          <p:cNvSpPr txBox="1">
            <a:spLocks noChangeArrowheads="1"/>
          </p:cNvSpPr>
          <p:nvPr/>
        </p:nvSpPr>
        <p:spPr bwMode="auto">
          <a:xfrm>
            <a:off x="1219200" y="4510088"/>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1</a:t>
            </a:r>
            <a:r>
              <a:rPr lang="zh-CN" altLang="en-US" sz="2800" dirty="0">
                <a:ea typeface="华文中宋" panose="02010600040101010101" pitchFamily="2" charset="-122"/>
              </a:rPr>
              <a:t>、简单递归</a:t>
            </a:r>
          </a:p>
        </p:txBody>
      </p:sp>
      <p:sp>
        <p:nvSpPr>
          <p:cNvPr id="23557" name="Text Box 5">
            <a:extLst>
              <a:ext uri="{FF2B5EF4-FFF2-40B4-BE49-F238E27FC236}">
                <a16:creationId xmlns:a16="http://schemas.microsoft.com/office/drawing/2014/main" id="{38C311BB-36C1-4A54-BE3F-78ED9DF2598D}"/>
              </a:ext>
            </a:extLst>
          </p:cNvPr>
          <p:cNvSpPr txBox="1">
            <a:spLocks noChangeArrowheads="1"/>
          </p:cNvSpPr>
          <p:nvPr/>
        </p:nvSpPr>
        <p:spPr bwMode="auto">
          <a:xfrm>
            <a:off x="1219200" y="5272088"/>
            <a:ext cx="609600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2</a:t>
            </a:r>
            <a:r>
              <a:rPr lang="zh-CN" altLang="en-US" dirty="0">
                <a:ea typeface="华文中宋" panose="02010600040101010101" pitchFamily="2" charset="-122"/>
              </a:rPr>
              <a:t>、</a:t>
            </a:r>
            <a:r>
              <a:rPr lang="zh-CN" altLang="en-US" sz="2800" dirty="0">
                <a:ea typeface="华文中宋" panose="02010600040101010101" pitchFamily="2" charset="-122"/>
              </a:rPr>
              <a:t>动态规划的求解方法</a:t>
            </a:r>
          </a:p>
          <a:p>
            <a:pPr eaLnBrk="1" hangingPunct="1">
              <a:spcBef>
                <a:spcPct val="50000"/>
              </a:spcBef>
            </a:pPr>
            <a:r>
              <a:rPr lang="zh-CN" altLang="en-US" sz="2800" dirty="0">
                <a:solidFill>
                  <a:srgbClr val="A50021"/>
                </a:solidFill>
                <a:ea typeface="华文中宋" panose="02010600040101010101" pitchFamily="2" charset="-122"/>
              </a:rPr>
              <a:t>按自底向上方式求解</a:t>
            </a:r>
          </a:p>
        </p:txBody>
      </p:sp>
      <p:graphicFrame>
        <p:nvGraphicFramePr>
          <p:cNvPr id="23559" name="Object 7">
            <a:extLst>
              <a:ext uri="{FF2B5EF4-FFF2-40B4-BE49-F238E27FC236}">
                <a16:creationId xmlns:a16="http://schemas.microsoft.com/office/drawing/2014/main" id="{15324773-93BA-4B69-8CD2-22396C7D93DA}"/>
              </a:ext>
            </a:extLst>
          </p:cNvPr>
          <p:cNvGraphicFramePr>
            <a:graphicFrameLocks noChangeAspect="1"/>
          </p:cNvGraphicFramePr>
          <p:nvPr/>
        </p:nvGraphicFramePr>
        <p:xfrm>
          <a:off x="2874963" y="3405188"/>
          <a:ext cx="2224087" cy="1014412"/>
        </p:xfrm>
        <a:graphic>
          <a:graphicData uri="http://schemas.openxmlformats.org/presentationml/2006/ole">
            <mc:AlternateContent xmlns:mc="http://schemas.openxmlformats.org/markup-compatibility/2006">
              <mc:Choice xmlns:v="urn:schemas-microsoft-com:vml" Requires="v">
                <p:oleObj name="数式" r:id="rId2" imgW="1002865" imgH="457002" progId="Equation.3">
                  <p:embed/>
                </p:oleObj>
              </mc:Choice>
              <mc:Fallback>
                <p:oleObj name="数式" r:id="rId2" imgW="1002865" imgH="457002"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4963" y="3405188"/>
                        <a:ext cx="2224087" cy="1014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60" name="Text Box 8">
            <a:extLst>
              <a:ext uri="{FF2B5EF4-FFF2-40B4-BE49-F238E27FC236}">
                <a16:creationId xmlns:a16="http://schemas.microsoft.com/office/drawing/2014/main" id="{992928C3-47A2-434C-BEA6-8AE615737113}"/>
              </a:ext>
            </a:extLst>
          </p:cNvPr>
          <p:cNvSpPr txBox="1">
            <a:spLocks noChangeArrowheads="1"/>
          </p:cNvSpPr>
          <p:nvPr/>
        </p:nvSpPr>
        <p:spPr bwMode="auto">
          <a:xfrm>
            <a:off x="685800" y="2530475"/>
            <a:ext cx="7696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latin typeface="Palatino Linotype" panose="02040502050505030304" pitchFamily="18" charset="0"/>
                <a:ea typeface="华文中宋" panose="02010600040101010101" pitchFamily="2" charset="-122"/>
              </a:rPr>
              <a:t>对于</a:t>
            </a:r>
            <a:r>
              <a:rPr lang="en-US" altLang="zh-CN" dirty="0">
                <a:latin typeface="Palatino Linotype" panose="02040502050505030304" pitchFamily="18" charset="0"/>
                <a:ea typeface="华文中宋" panose="02010600040101010101" pitchFamily="2" charset="-122"/>
              </a:rPr>
              <a:t>1≤i≤j≤n</a:t>
            </a:r>
            <a:r>
              <a:rPr lang="zh-CN" altLang="en-US" dirty="0">
                <a:latin typeface="Palatino Linotype" panose="02040502050505030304" pitchFamily="18" charset="0"/>
                <a:ea typeface="华文中宋" panose="02010600040101010101" pitchFamily="2" charset="-122"/>
              </a:rPr>
              <a:t>不同的有序对</a:t>
            </a:r>
            <a:r>
              <a:rPr lang="en-US" altLang="zh-CN" dirty="0">
                <a:latin typeface="Palatino Linotype" panose="02040502050505030304" pitchFamily="18" charset="0"/>
                <a:ea typeface="华文中宋" panose="02010600040101010101" pitchFamily="2" charset="-122"/>
              </a:rPr>
              <a:t>(</a:t>
            </a:r>
            <a:r>
              <a:rPr lang="en-US" altLang="zh-CN" dirty="0" err="1">
                <a:latin typeface="Palatino Linotype" panose="02040502050505030304" pitchFamily="18" charset="0"/>
                <a:ea typeface="华文中宋" panose="02010600040101010101" pitchFamily="2" charset="-122"/>
              </a:rPr>
              <a:t>i,j</a:t>
            </a:r>
            <a:r>
              <a:rPr lang="en-US" altLang="zh-CN" dirty="0">
                <a:latin typeface="Palatino Linotype" panose="02040502050505030304" pitchFamily="18" charset="0"/>
                <a:ea typeface="华文中宋" panose="02010600040101010101" pitchFamily="2" charset="-122"/>
              </a:rPr>
              <a:t>)</a:t>
            </a:r>
            <a:r>
              <a:rPr lang="zh-CN" altLang="en-US" dirty="0">
                <a:latin typeface="Palatino Linotype" panose="02040502050505030304" pitchFamily="18" charset="0"/>
                <a:ea typeface="华文中宋" panose="02010600040101010101" pitchFamily="2" charset="-122"/>
              </a:rPr>
              <a:t>对应于不同的子问题。因此，不同子问题的个数最多只有</a:t>
            </a:r>
          </a:p>
        </p:txBody>
      </p:sp>
      <p:grpSp>
        <p:nvGrpSpPr>
          <p:cNvPr id="2" name="Group 9">
            <a:extLst>
              <a:ext uri="{FF2B5EF4-FFF2-40B4-BE49-F238E27FC236}">
                <a16:creationId xmlns:a16="http://schemas.microsoft.com/office/drawing/2014/main" id="{28501D88-7270-4E4E-805F-C73193E1153D}"/>
              </a:ext>
            </a:extLst>
          </p:cNvPr>
          <p:cNvGrpSpPr>
            <a:grpSpLocks/>
          </p:cNvGrpSpPr>
          <p:nvPr/>
        </p:nvGrpSpPr>
        <p:grpSpPr bwMode="auto">
          <a:xfrm>
            <a:off x="2057400" y="1600200"/>
            <a:ext cx="6705600" cy="809625"/>
            <a:chOff x="1536" y="3657"/>
            <a:chExt cx="4224" cy="510"/>
          </a:xfrm>
        </p:grpSpPr>
        <p:sp>
          <p:nvSpPr>
            <p:cNvPr id="27658" name="Text Box 10">
              <a:extLst>
                <a:ext uri="{FF2B5EF4-FFF2-40B4-BE49-F238E27FC236}">
                  <a16:creationId xmlns:a16="http://schemas.microsoft.com/office/drawing/2014/main" id="{9883B292-03B6-4BE7-A317-64424D4F5C2F}"/>
                </a:ext>
              </a:extLst>
            </p:cNvPr>
            <p:cNvSpPr txBox="1">
              <a:spLocks noChangeArrowheads="1"/>
            </p:cNvSpPr>
            <p:nvPr/>
          </p:nvSpPr>
          <p:spPr bwMode="auto">
            <a:xfrm>
              <a:off x="1584" y="3657"/>
              <a:ext cx="41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min{m[</a:t>
              </a:r>
              <a:r>
                <a:rPr lang="en-US" altLang="zh-CN" sz="2800" dirty="0" err="1">
                  <a:ea typeface="华文中宋" panose="02010600040101010101" pitchFamily="2" charset="-122"/>
                </a:rPr>
                <a:t>i</a:t>
              </a:r>
              <a:r>
                <a:rPr lang="en-US" altLang="zh-CN" sz="2800" dirty="0">
                  <a:ea typeface="华文中宋" panose="02010600040101010101" pitchFamily="2" charset="-122"/>
                </a:rPr>
                <a:t>][k]+ m[k+1][j]+ p</a:t>
              </a:r>
              <a:r>
                <a:rPr lang="en-US" altLang="zh-CN" sz="2800" baseline="-25000" dirty="0">
                  <a:ea typeface="华文中宋" panose="02010600040101010101" pitchFamily="2" charset="-122"/>
                </a:rPr>
                <a:t>i-1</a:t>
              </a:r>
              <a:r>
                <a:rPr lang="en-US" altLang="zh-CN" sz="2800" dirty="0">
                  <a:ea typeface="华文中宋" panose="02010600040101010101" pitchFamily="2" charset="-122"/>
                </a:rPr>
                <a:t>p</a:t>
              </a:r>
              <a:r>
                <a:rPr lang="en-US" altLang="zh-CN" sz="2800" baseline="-25000" dirty="0">
                  <a:ea typeface="华文中宋" panose="02010600040101010101" pitchFamily="2" charset="-122"/>
                </a:rPr>
                <a:t>k</a:t>
              </a:r>
              <a:r>
                <a:rPr lang="en-US" altLang="zh-CN" sz="2800" dirty="0">
                  <a:ea typeface="华文中宋" panose="02010600040101010101" pitchFamily="2" charset="-122"/>
                </a:rPr>
                <a:t>p</a:t>
              </a:r>
              <a:r>
                <a:rPr lang="en-US" altLang="zh-CN" sz="2800" baseline="-25000" dirty="0">
                  <a:ea typeface="华文中宋" panose="02010600040101010101" pitchFamily="2" charset="-122"/>
                </a:rPr>
                <a:t>j </a:t>
              </a:r>
              <a:r>
                <a:rPr lang="en-US" altLang="zh-CN" sz="2800" dirty="0">
                  <a:ea typeface="华文中宋" panose="02010600040101010101" pitchFamily="2" charset="-122"/>
                </a:rPr>
                <a:t>}</a:t>
              </a:r>
              <a:r>
                <a:rPr lang="en-US" altLang="zh-CN" sz="2800" baseline="-25000" dirty="0">
                  <a:ea typeface="华文中宋" panose="02010600040101010101" pitchFamily="2" charset="-122"/>
                </a:rPr>
                <a:t>       </a:t>
              </a:r>
              <a:r>
                <a:rPr lang="en-US" altLang="zh-CN" dirty="0" err="1">
                  <a:ea typeface="华文中宋" panose="02010600040101010101" pitchFamily="2" charset="-122"/>
                </a:rPr>
                <a:t>i</a:t>
              </a:r>
              <a:r>
                <a:rPr lang="en-US" altLang="zh-CN" dirty="0">
                  <a:ea typeface="华文中宋" panose="02010600040101010101" pitchFamily="2" charset="-122"/>
                </a:rPr>
                <a:t>&lt;</a:t>
              </a:r>
              <a:r>
                <a:rPr lang="en-US" altLang="zh-CN" dirty="0">
                  <a:latin typeface="华文中宋" panose="02010600040101010101" pitchFamily="2" charset="-122"/>
                  <a:ea typeface="华文中宋" panose="02010600040101010101" pitchFamily="2" charset="-122"/>
                </a:rPr>
                <a:t>j</a:t>
              </a:r>
            </a:p>
          </p:txBody>
        </p:sp>
        <p:sp>
          <p:nvSpPr>
            <p:cNvPr id="27659" name="Text Box 11">
              <a:extLst>
                <a:ext uri="{FF2B5EF4-FFF2-40B4-BE49-F238E27FC236}">
                  <a16:creationId xmlns:a16="http://schemas.microsoft.com/office/drawing/2014/main" id="{73FD3B90-1785-4B6B-ABB4-8240FDCBC736}"/>
                </a:ext>
              </a:extLst>
            </p:cNvPr>
            <p:cNvSpPr txBox="1">
              <a:spLocks noChangeArrowheads="1"/>
            </p:cNvSpPr>
            <p:nvPr/>
          </p:nvSpPr>
          <p:spPr bwMode="auto">
            <a:xfrm>
              <a:off x="1536" y="3936"/>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800" dirty="0" err="1">
                  <a:ea typeface="华文中宋" panose="02010600040101010101" pitchFamily="2" charset="-122"/>
                </a:rPr>
                <a:t>i</a:t>
              </a:r>
              <a:r>
                <a:rPr lang="en-US" altLang="zh-CN" sz="1800" dirty="0">
                  <a:ea typeface="华文中宋" panose="02010600040101010101" pitchFamily="2" charset="-122"/>
                </a:rPr>
                <a:t>&lt;=k&lt;j</a:t>
              </a:r>
            </a:p>
          </p:txBody>
        </p:sp>
      </p:grpSp>
      <p:sp>
        <p:nvSpPr>
          <p:cNvPr id="23564" name="Text Box 12">
            <a:extLst>
              <a:ext uri="{FF2B5EF4-FFF2-40B4-BE49-F238E27FC236}">
                <a16:creationId xmlns:a16="http://schemas.microsoft.com/office/drawing/2014/main" id="{C418AE19-49E7-457A-8161-985F259AD32A}"/>
              </a:ext>
            </a:extLst>
          </p:cNvPr>
          <p:cNvSpPr txBox="1">
            <a:spLocks noChangeArrowheads="1"/>
          </p:cNvSpPr>
          <p:nvPr/>
        </p:nvSpPr>
        <p:spPr bwMode="auto">
          <a:xfrm>
            <a:off x="533400" y="1676400"/>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ea typeface="华文中宋" panose="02010600040101010101" pitchFamily="2" charset="-122"/>
              </a:rPr>
              <a:t>m[</a:t>
            </a:r>
            <a:r>
              <a:rPr lang="en-US" altLang="zh-CN" sz="2800" dirty="0" err="1">
                <a:ea typeface="华文中宋" panose="02010600040101010101" pitchFamily="2" charset="-122"/>
              </a:rPr>
              <a:t>i</a:t>
            </a:r>
            <a:r>
              <a:rPr lang="en-US" altLang="zh-CN" sz="2800" dirty="0">
                <a:ea typeface="华文中宋" panose="02010600040101010101" pitchFamily="2" charset="-122"/>
              </a:rPr>
              <a:t>][j]=</a:t>
            </a: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E9F11D33-F3A9-4AAC-A4F2-430AC4182610}"/>
                  </a:ext>
                </a:extLst>
              </p14:cNvPr>
              <p14:cNvContentPartPr/>
              <p14:nvPr/>
            </p14:nvContentPartPr>
            <p14:xfrm>
              <a:off x="9860292" y="4943897"/>
              <a:ext cx="33480" cy="27000"/>
            </p14:xfrm>
          </p:contentPart>
        </mc:Choice>
        <mc:Fallback xmlns="">
          <p:pic>
            <p:nvPicPr>
              <p:cNvPr id="3" name="墨迹 2">
                <a:extLst>
                  <a:ext uri="{FF2B5EF4-FFF2-40B4-BE49-F238E27FC236}">
                    <a16:creationId xmlns:a16="http://schemas.microsoft.com/office/drawing/2014/main" id="{E9F11D33-F3A9-4AAC-A4F2-430AC4182610}"/>
                  </a:ext>
                </a:extLst>
              </p:cNvPr>
              <p:cNvPicPr/>
              <p:nvPr/>
            </p:nvPicPr>
            <p:blipFill>
              <a:blip r:embed="rId6"/>
              <a:stretch>
                <a:fillRect/>
              </a:stretch>
            </p:blipFill>
            <p:spPr>
              <a:xfrm>
                <a:off x="9851292" y="4934897"/>
                <a:ext cx="51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EC2A0947-38CC-2994-2069-A57C4BE77603}"/>
                  </a:ext>
                </a:extLst>
              </p14:cNvPr>
              <p14:cNvContentPartPr/>
              <p14:nvPr/>
            </p14:nvContentPartPr>
            <p14:xfrm>
              <a:off x="544680" y="1410480"/>
              <a:ext cx="8502840" cy="4021200"/>
            </p14:xfrm>
          </p:contentPart>
        </mc:Choice>
        <mc:Fallback xmlns="">
          <p:pic>
            <p:nvPicPr>
              <p:cNvPr id="4" name="墨迹 3">
                <a:extLst>
                  <a:ext uri="{FF2B5EF4-FFF2-40B4-BE49-F238E27FC236}">
                    <a16:creationId xmlns:a16="http://schemas.microsoft.com/office/drawing/2014/main" id="{EC2A0947-38CC-2994-2069-A57C4BE77603}"/>
                  </a:ext>
                </a:extLst>
              </p:cNvPr>
              <p:cNvPicPr/>
              <p:nvPr/>
            </p:nvPicPr>
            <p:blipFill>
              <a:blip r:embed="rId8"/>
              <a:stretch>
                <a:fillRect/>
              </a:stretch>
            </p:blipFill>
            <p:spPr>
              <a:xfrm>
                <a:off x="535320" y="1401120"/>
                <a:ext cx="8521560" cy="4039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3AE21FBC-E683-FCED-F1FE-E18A7F29CF8E}"/>
                  </a:ext>
                </a:extLst>
              </p14:cNvPr>
              <p14:cNvContentPartPr/>
              <p14:nvPr/>
            </p14:nvContentPartPr>
            <p14:xfrm>
              <a:off x="5705280" y="3027600"/>
              <a:ext cx="2778480" cy="2147400"/>
            </p14:xfrm>
          </p:contentPart>
        </mc:Choice>
        <mc:Fallback xmlns="">
          <p:pic>
            <p:nvPicPr>
              <p:cNvPr id="5" name="墨迹 4">
                <a:extLst>
                  <a:ext uri="{FF2B5EF4-FFF2-40B4-BE49-F238E27FC236}">
                    <a16:creationId xmlns:a16="http://schemas.microsoft.com/office/drawing/2014/main" id="{3AE21FBC-E683-FCED-F1FE-E18A7F29CF8E}"/>
                  </a:ext>
                </a:extLst>
              </p:cNvPr>
              <p:cNvPicPr/>
              <p:nvPr/>
            </p:nvPicPr>
            <p:blipFill>
              <a:blip r:embed="rId10"/>
              <a:stretch>
                <a:fillRect/>
              </a:stretch>
            </p:blipFill>
            <p:spPr>
              <a:xfrm>
                <a:off x="5695920" y="3018240"/>
                <a:ext cx="2797200" cy="2166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3564"/>
                                        </p:tgtEl>
                                        <p:attrNameLst>
                                          <p:attrName>style.visibility</p:attrName>
                                        </p:attrNameLst>
                                      </p:cBhvr>
                                      <p:to>
                                        <p:strVal val="visible"/>
                                      </p:to>
                                    </p:set>
                                    <p:anim calcmode="lin" valueType="num">
                                      <p:cBhvr additive="base">
                                        <p:cTn id="7" dur="500" fill="hold"/>
                                        <p:tgtEl>
                                          <p:spTgt spid="23564"/>
                                        </p:tgtEl>
                                        <p:attrNameLst>
                                          <p:attrName>ppt_x</p:attrName>
                                        </p:attrNameLst>
                                      </p:cBhvr>
                                      <p:tavLst>
                                        <p:tav tm="0">
                                          <p:val>
                                            <p:strVal val="0-#ppt_w/2"/>
                                          </p:val>
                                        </p:tav>
                                        <p:tav tm="100000">
                                          <p:val>
                                            <p:strVal val="#ppt_x"/>
                                          </p:val>
                                        </p:tav>
                                      </p:tavLst>
                                    </p:anim>
                                    <p:anim calcmode="lin" valueType="num">
                                      <p:cBhvr additive="base">
                                        <p:cTn id="8" dur="500" fill="hold"/>
                                        <p:tgtEl>
                                          <p:spTgt spid="23564"/>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3560"/>
                                        </p:tgtEl>
                                        <p:attrNameLst>
                                          <p:attrName>style.visibility</p:attrName>
                                        </p:attrNameLst>
                                      </p:cBhvr>
                                      <p:to>
                                        <p:strVal val="visible"/>
                                      </p:to>
                                    </p:set>
                                    <p:anim calcmode="lin" valueType="num">
                                      <p:cBhvr additive="base">
                                        <p:cTn id="18" dur="500" fill="hold"/>
                                        <p:tgtEl>
                                          <p:spTgt spid="23560"/>
                                        </p:tgtEl>
                                        <p:attrNameLst>
                                          <p:attrName>ppt_x</p:attrName>
                                        </p:attrNameLst>
                                      </p:cBhvr>
                                      <p:tavLst>
                                        <p:tav tm="0">
                                          <p:val>
                                            <p:strVal val="0-#ppt_w/2"/>
                                          </p:val>
                                        </p:tav>
                                        <p:tav tm="100000">
                                          <p:val>
                                            <p:strVal val="#ppt_x"/>
                                          </p:val>
                                        </p:tav>
                                      </p:tavLst>
                                    </p:anim>
                                    <p:anim calcmode="lin" valueType="num">
                                      <p:cBhvr additive="base">
                                        <p:cTn id="19" dur="500" fill="hold"/>
                                        <p:tgtEl>
                                          <p:spTgt spid="2356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23559"/>
                                        </p:tgtEl>
                                        <p:attrNameLst>
                                          <p:attrName>style.visibility</p:attrName>
                                        </p:attrNameLst>
                                      </p:cBhvr>
                                      <p:to>
                                        <p:strVal val="visible"/>
                                      </p:to>
                                    </p:set>
                                    <p:anim calcmode="lin" valueType="num">
                                      <p:cBhvr additive="base">
                                        <p:cTn id="24" dur="500" fill="hold"/>
                                        <p:tgtEl>
                                          <p:spTgt spid="23559"/>
                                        </p:tgtEl>
                                        <p:attrNameLst>
                                          <p:attrName>ppt_x</p:attrName>
                                        </p:attrNameLst>
                                      </p:cBhvr>
                                      <p:tavLst>
                                        <p:tav tm="0">
                                          <p:val>
                                            <p:strVal val="0-#ppt_w/2"/>
                                          </p:val>
                                        </p:tav>
                                        <p:tav tm="100000">
                                          <p:val>
                                            <p:strVal val="#ppt_x"/>
                                          </p:val>
                                        </p:tav>
                                      </p:tavLst>
                                    </p:anim>
                                    <p:anim calcmode="lin" valueType="num">
                                      <p:cBhvr additive="base">
                                        <p:cTn id="25" dur="500" fill="hold"/>
                                        <p:tgtEl>
                                          <p:spTgt spid="23559"/>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23556"/>
                                        </p:tgtEl>
                                        <p:attrNameLst>
                                          <p:attrName>style.visibility</p:attrName>
                                        </p:attrNameLst>
                                      </p:cBhvr>
                                      <p:to>
                                        <p:strVal val="visible"/>
                                      </p:to>
                                    </p:set>
                                    <p:anim calcmode="lin" valueType="num">
                                      <p:cBhvr additive="base">
                                        <p:cTn id="30" dur="500" fill="hold"/>
                                        <p:tgtEl>
                                          <p:spTgt spid="23556"/>
                                        </p:tgtEl>
                                        <p:attrNameLst>
                                          <p:attrName>ppt_x</p:attrName>
                                        </p:attrNameLst>
                                      </p:cBhvr>
                                      <p:tavLst>
                                        <p:tav tm="0">
                                          <p:val>
                                            <p:strVal val="0-#ppt_w/2"/>
                                          </p:val>
                                        </p:tav>
                                        <p:tav tm="100000">
                                          <p:val>
                                            <p:strVal val="#ppt_x"/>
                                          </p:val>
                                        </p:tav>
                                      </p:tavLst>
                                    </p:anim>
                                    <p:anim calcmode="lin" valueType="num">
                                      <p:cBhvr additive="base">
                                        <p:cTn id="31" dur="500" fill="hold"/>
                                        <p:tgtEl>
                                          <p:spTgt spid="23556"/>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3557"/>
                                        </p:tgtEl>
                                        <p:attrNameLst>
                                          <p:attrName>style.visibility</p:attrName>
                                        </p:attrNameLst>
                                      </p:cBhvr>
                                      <p:to>
                                        <p:strVal val="visible"/>
                                      </p:to>
                                    </p:set>
                                    <p:anim calcmode="lin" valueType="num">
                                      <p:cBhvr additive="base">
                                        <p:cTn id="36" dur="500" fill="hold"/>
                                        <p:tgtEl>
                                          <p:spTgt spid="23557"/>
                                        </p:tgtEl>
                                        <p:attrNameLst>
                                          <p:attrName>ppt_x</p:attrName>
                                        </p:attrNameLst>
                                      </p:cBhvr>
                                      <p:tavLst>
                                        <p:tav tm="0">
                                          <p:val>
                                            <p:strVal val="0-#ppt_w/2"/>
                                          </p:val>
                                        </p:tav>
                                        <p:tav tm="100000">
                                          <p:val>
                                            <p:strVal val="#ppt_x"/>
                                          </p:val>
                                        </p:tav>
                                      </p:tavLst>
                                    </p:anim>
                                    <p:anim calcmode="lin" valueType="num">
                                      <p:cBhvr additive="base">
                                        <p:cTn id="37"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autoUpdateAnimBg="0"/>
      <p:bldP spid="23557" grpId="0" autoUpdateAnimBg="0"/>
      <p:bldP spid="23560" grpId="0" autoUpdateAnimBg="0"/>
      <p:bldP spid="23564"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24EA4D3-E445-4883-A1A8-4DFA1047C72F}"/>
              </a:ext>
            </a:extLst>
          </p:cNvPr>
          <p:cNvSpPr>
            <a:spLocks noGrp="1" noChangeArrowheads="1"/>
          </p:cNvSpPr>
          <p:nvPr>
            <p:ph type="title"/>
          </p:nvPr>
        </p:nvSpPr>
        <p:spPr bwMode="auto">
          <a:xfrm>
            <a:off x="685800" y="228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计算最优值程序</a:t>
            </a:r>
          </a:p>
        </p:txBody>
      </p:sp>
      <p:sp>
        <p:nvSpPr>
          <p:cNvPr id="28675" name="Rectangle 3">
            <a:extLst>
              <a:ext uri="{FF2B5EF4-FFF2-40B4-BE49-F238E27FC236}">
                <a16:creationId xmlns:a16="http://schemas.microsoft.com/office/drawing/2014/main" id="{1E322B68-BF29-4312-9007-2455ED2FE421}"/>
              </a:ext>
            </a:extLst>
          </p:cNvPr>
          <p:cNvSpPr>
            <a:spLocks noGrp="1" noChangeArrowheads="1"/>
          </p:cNvSpPr>
          <p:nvPr>
            <p:ph type="body" idx="1"/>
          </p:nvPr>
        </p:nvSpPr>
        <p:spPr bwMode="auto">
          <a:xfrm>
            <a:off x="179512" y="1231586"/>
            <a:ext cx="8784976"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buFontTx/>
              <a:buNone/>
            </a:pPr>
            <a:r>
              <a:rPr lang="en-US" altLang="zh-CN" sz="2000" b="1" dirty="0">
                <a:solidFill>
                  <a:srgbClr val="002060"/>
                </a:solidFill>
                <a:latin typeface="Input" panose="02000506020000090004" pitchFamily="2" charset="0"/>
              </a:rPr>
              <a:t>void </a:t>
            </a:r>
            <a:r>
              <a:rPr lang="en-US" altLang="zh-CN" sz="2000" b="1" dirty="0" err="1">
                <a:solidFill>
                  <a:srgbClr val="7030A0"/>
                </a:solidFill>
                <a:latin typeface="Input" panose="02000506020000090004" pitchFamily="2" charset="0"/>
              </a:rPr>
              <a:t>MatrixChain</a:t>
            </a:r>
            <a:r>
              <a:rPr lang="en-US" altLang="zh-CN" sz="2000" b="1" dirty="0">
                <a:solidFill>
                  <a:srgbClr val="002060"/>
                </a:solidFill>
                <a:latin typeface="Input" panose="02000506020000090004" pitchFamily="2" charset="0"/>
              </a:rPr>
              <a:t>(int *p, int n, int  **m)</a:t>
            </a:r>
            <a:r>
              <a:rPr lang="en-US" altLang="zh-CN" sz="2000" b="1" dirty="0">
                <a:solidFill>
                  <a:schemeClr val="accent5">
                    <a:lumMod val="75000"/>
                  </a:schemeClr>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int </a:t>
            </a:r>
            <a:r>
              <a:rPr lang="en-US" altLang="zh-CN" sz="2000" b="1" dirty="0" err="1">
                <a:solidFill>
                  <a:srgbClr val="002060"/>
                </a:solidFill>
                <a:latin typeface="Input" panose="02000506020000090004" pitchFamily="2" charset="0"/>
              </a:rPr>
              <a:t>i,r,j,k,t</a:t>
            </a:r>
            <a:r>
              <a:rPr lang="en-US" altLang="zh-CN" sz="2000" b="1" dirty="0">
                <a:solidFill>
                  <a:srgbClr val="002060"/>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for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&lt;= n;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0;</a:t>
            </a:r>
          </a:p>
          <a:p>
            <a:pPr eaLnBrk="1" hangingPunct="1">
              <a:lnSpc>
                <a:spcPct val="90000"/>
              </a:lnSpc>
              <a:buNone/>
            </a:pPr>
            <a:r>
              <a:rPr lang="en-US" altLang="zh-CN" sz="2000" b="1" dirty="0">
                <a:solidFill>
                  <a:srgbClr val="002060"/>
                </a:solidFill>
                <a:latin typeface="Input" panose="02000506020000090004" pitchFamily="2" charset="0"/>
              </a:rPr>
              <a:t>    for (r = 2; r &lt;= n; r++ )</a:t>
            </a:r>
            <a:r>
              <a:rPr lang="en-US" altLang="zh-CN" sz="2000" b="1" dirty="0">
                <a:solidFill>
                  <a:srgbClr val="7030A0"/>
                </a:solidFill>
                <a:latin typeface="Input" panose="02000506020000090004" pitchFamily="2" charset="0"/>
              </a:rPr>
              <a:t> </a:t>
            </a:r>
            <a:r>
              <a:rPr lang="en-US" altLang="zh-CN" sz="2000" b="1" dirty="0">
                <a:solidFill>
                  <a:srgbClr val="FFC000"/>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for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&lt;= n - r+ l;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a:t>
            </a:r>
            <a:r>
              <a:rPr lang="en-US" altLang="zh-CN" sz="2000" b="1" dirty="0">
                <a:solidFill>
                  <a:srgbClr val="7030A0"/>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j =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r - 1;</a:t>
            </a:r>
          </a:p>
          <a:p>
            <a:pPr eaLnBrk="1" hangingPunct="1">
              <a:lnSpc>
                <a:spcPct val="90000"/>
              </a:lnSpc>
              <a:buFontTx/>
              <a:buNone/>
            </a:pPr>
            <a:r>
              <a:rPr lang="en-US" altLang="zh-CN" sz="2000" b="1" dirty="0">
                <a:solidFill>
                  <a:srgbClr val="002060"/>
                </a:solidFill>
                <a:latin typeface="Input" panose="02000506020000090004" pitchFamily="2" charset="0"/>
              </a:rPr>
              <a: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 = m[i+1][j] + 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p[j];</a:t>
            </a:r>
          </a:p>
          <a:p>
            <a:pPr eaLnBrk="1" hangingPunct="1">
              <a:lnSpc>
                <a:spcPct val="90000"/>
              </a:lnSpc>
              <a:buFontTx/>
              <a:buNone/>
            </a:pPr>
            <a:r>
              <a:rPr lang="en-US" altLang="zh-CN" sz="2000" b="1" dirty="0">
                <a:solidFill>
                  <a:srgbClr val="002060"/>
                </a:solidFill>
                <a:latin typeface="Input" panose="02000506020000090004" pitchFamily="2" charset="0"/>
              </a:rPr>
              <a:t>		      s[</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][j]=1;</a:t>
            </a:r>
          </a:p>
          <a:p>
            <a:pPr eaLnBrk="1" hangingPunct="1">
              <a:lnSpc>
                <a:spcPct val="90000"/>
              </a:lnSpc>
              <a:buFontTx/>
              <a:buNone/>
            </a:pPr>
            <a:r>
              <a:rPr lang="en-US" altLang="zh-CN" sz="2000" b="1" dirty="0">
                <a:solidFill>
                  <a:srgbClr val="002060"/>
                </a:solidFill>
                <a:latin typeface="Input" panose="02000506020000090004" pitchFamily="2" charset="0"/>
              </a:rPr>
              <a:t>             for (k = i+1; k &lt; j; k++)</a:t>
            </a:r>
            <a:r>
              <a:rPr lang="en-US" altLang="zh-CN" sz="2000" b="1" dirty="0">
                <a:solidFill>
                  <a:schemeClr val="accent2"/>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t =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][k ] + m[k + 1][j]</a:t>
            </a:r>
          </a:p>
          <a:p>
            <a:pPr eaLnBrk="1" hangingPunct="1">
              <a:lnSpc>
                <a:spcPct val="90000"/>
              </a:lnSpc>
              <a:buFontTx/>
              <a:buNone/>
            </a:pPr>
            <a:r>
              <a:rPr lang="en-US" altLang="zh-CN" sz="2000" b="1" dirty="0">
                <a:solidFill>
                  <a:srgbClr val="002060"/>
                </a:solidFill>
                <a:latin typeface="Input" panose="02000506020000090004" pitchFamily="2" charset="0"/>
              </a:rPr>
              <a:t>					+ 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p[k] * p[j];</a:t>
            </a:r>
          </a:p>
          <a:p>
            <a:pPr eaLnBrk="1" hangingPunct="1">
              <a:lnSpc>
                <a:spcPct val="90000"/>
              </a:lnSpc>
              <a:buFontTx/>
              <a:buNone/>
            </a:pPr>
            <a:r>
              <a:rPr lang="en-US" altLang="zh-CN" sz="2000" b="1" dirty="0">
                <a:solidFill>
                  <a:srgbClr val="002060"/>
                </a:solidFill>
                <a:latin typeface="Input" panose="02000506020000090004" pitchFamily="2" charset="0"/>
              </a:rPr>
              <a:t>                  if (t &lt;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a:t>
            </a:r>
          </a:p>
          <a:p>
            <a:pPr eaLnBrk="1" hangingPunct="1">
              <a:lnSpc>
                <a:spcPct val="90000"/>
              </a:lnSpc>
              <a:buFontTx/>
              <a:buNone/>
            </a:pPr>
            <a:r>
              <a:rPr lang="en-US" altLang="zh-CN" sz="2000" b="1" dirty="0">
                <a:solidFill>
                  <a:srgbClr val="002060"/>
                </a:solidFill>
                <a:latin typeface="Input" panose="02000506020000090004" pitchFamily="2" charset="0"/>
              </a:rPr>
              <a: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 = t;</a:t>
            </a:r>
          </a:p>
          <a:p>
            <a:pPr eaLnBrk="1" hangingPunct="1">
              <a:lnSpc>
                <a:spcPct val="90000"/>
              </a:lnSpc>
              <a:buFontTx/>
              <a:buNone/>
            </a:pPr>
            <a:r>
              <a:rPr lang="en-US" altLang="zh-CN" sz="2000" b="1" dirty="0">
                <a:solidFill>
                  <a:srgbClr val="002060"/>
                </a:solidFill>
                <a:latin typeface="Input" panose="02000506020000090004" pitchFamily="2" charset="0"/>
              </a:rPr>
              <a:t>				  s[</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][j]=k;</a:t>
            </a:r>
          </a:p>
          <a:p>
            <a:pPr eaLnBrk="1" hangingPunct="1">
              <a:lnSpc>
                <a:spcPct val="90000"/>
              </a:lnSpc>
              <a:buFontTx/>
              <a:buNone/>
            </a:pPr>
            <a:r>
              <a:rPr lang="en-US" altLang="zh-CN" sz="2000" b="1" dirty="0">
                <a:solidFill>
                  <a:srgbClr val="002060"/>
                </a:solidFill>
                <a:latin typeface="Input" panose="02000506020000090004" pitchFamily="2" charset="0"/>
              </a:rPr>
              <a:t>              </a:t>
            </a:r>
            <a:r>
              <a:rPr lang="en-US" altLang="zh-CN" sz="2000" b="1" dirty="0">
                <a:solidFill>
                  <a:schemeClr val="accent2"/>
                </a:solidFill>
                <a:latin typeface="Input" panose="02000506020000090004" pitchFamily="2" charset="0"/>
              </a:rPr>
              <a:t>}</a:t>
            </a:r>
          </a:p>
          <a:p>
            <a:pPr eaLnBrk="1" hangingPunct="1">
              <a:lnSpc>
                <a:spcPct val="90000"/>
              </a:lnSpc>
              <a:buFontTx/>
              <a:buNone/>
            </a:pPr>
            <a:r>
              <a:rPr lang="en-US" altLang="zh-CN" sz="2000" b="1" dirty="0">
                <a:solidFill>
                  <a:srgbClr val="002060"/>
                </a:solidFill>
                <a:latin typeface="Input" panose="02000506020000090004" pitchFamily="2" charset="0"/>
              </a:rPr>
              <a:t>        </a:t>
            </a:r>
            <a:r>
              <a:rPr lang="en-US" altLang="zh-CN" sz="2000" b="1" dirty="0">
                <a:solidFill>
                  <a:srgbClr val="7030A0"/>
                </a:solidFill>
                <a:latin typeface="Input" panose="02000506020000090004" pitchFamily="2" charset="0"/>
              </a:rPr>
              <a:t>} </a:t>
            </a:r>
          </a:p>
          <a:p>
            <a:pPr eaLnBrk="1" hangingPunct="1">
              <a:lnSpc>
                <a:spcPct val="90000"/>
              </a:lnSpc>
              <a:buNone/>
            </a:pPr>
            <a:r>
              <a:rPr lang="en-US" altLang="zh-CN" sz="2000" b="1" dirty="0">
                <a:solidFill>
                  <a:srgbClr val="7030A0"/>
                </a:solidFill>
                <a:latin typeface="Input" panose="02000506020000090004" pitchFamily="2" charset="0"/>
              </a:rPr>
              <a:t>	  </a:t>
            </a:r>
            <a:r>
              <a:rPr lang="en-US" altLang="zh-CN" sz="2000" b="1" dirty="0">
                <a:solidFill>
                  <a:srgbClr val="FFC000"/>
                </a:solidFill>
                <a:latin typeface="Input" panose="02000506020000090004" pitchFamily="2" charset="0"/>
              </a:rPr>
              <a:t>} </a:t>
            </a:r>
          </a:p>
          <a:p>
            <a:pPr eaLnBrk="1" hangingPunct="1">
              <a:lnSpc>
                <a:spcPct val="90000"/>
              </a:lnSpc>
              <a:buNone/>
            </a:pPr>
            <a:r>
              <a:rPr lang="en-US" altLang="zh-CN" sz="2000" b="1" dirty="0">
                <a:solidFill>
                  <a:schemeClr val="accent5">
                    <a:lumMod val="75000"/>
                  </a:schemeClr>
                </a:solidFill>
                <a:latin typeface="Input" panose="02000506020000090004" pitchFamily="2"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D00E3D9-EBDD-4BD5-BBA1-BCB9D7380922}"/>
              </a:ext>
            </a:extLst>
          </p:cNvPr>
          <p:cNvSpPr>
            <a:spLocks noGrp="1" noChangeArrowheads="1"/>
          </p:cNvSpPr>
          <p:nvPr>
            <p:ph type="title"/>
          </p:nvPr>
        </p:nvSpPr>
        <p:spPr bwMode="auto">
          <a:xfrm>
            <a:off x="685800" y="6096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算法过程</a:t>
            </a:r>
          </a:p>
        </p:txBody>
      </p:sp>
      <p:pic>
        <p:nvPicPr>
          <p:cNvPr id="29699" name="Picture 4" descr="t31">
            <a:extLst>
              <a:ext uri="{FF2B5EF4-FFF2-40B4-BE49-F238E27FC236}">
                <a16:creationId xmlns:a16="http://schemas.microsoft.com/office/drawing/2014/main" id="{17F7DE52-0758-43E8-BDAF-07075D0EECA4}"/>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bwMode="auto">
          <a:xfrm>
            <a:off x="152400" y="2362200"/>
            <a:ext cx="8915400" cy="3657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7893" name="Group 5">
            <a:extLst>
              <a:ext uri="{FF2B5EF4-FFF2-40B4-BE49-F238E27FC236}">
                <a16:creationId xmlns:a16="http://schemas.microsoft.com/office/drawing/2014/main" id="{38E314E6-CD36-4BA8-A38A-C82FE6475CEC}"/>
              </a:ext>
            </a:extLst>
          </p:cNvPr>
          <p:cNvGraphicFramePr>
            <a:graphicFrameLocks noGrp="1"/>
          </p:cNvGraphicFramePr>
          <p:nvPr/>
        </p:nvGraphicFramePr>
        <p:xfrm>
          <a:off x="2057400" y="1554163"/>
          <a:ext cx="4921250" cy="809625"/>
        </p:xfrm>
        <a:graphic>
          <a:graphicData uri="http://schemas.openxmlformats.org/drawingml/2006/table">
            <a:tbl>
              <a:tblPr/>
              <a:tblGrid>
                <a:gridCol w="831850">
                  <a:extLst>
                    <a:ext uri="{9D8B030D-6E8A-4147-A177-3AD203B41FA5}">
                      <a16:colId xmlns:a16="http://schemas.microsoft.com/office/drawing/2014/main" val="922635986"/>
                    </a:ext>
                  </a:extLst>
                </a:gridCol>
                <a:gridCol w="831850">
                  <a:extLst>
                    <a:ext uri="{9D8B030D-6E8A-4147-A177-3AD203B41FA5}">
                      <a16:colId xmlns:a16="http://schemas.microsoft.com/office/drawing/2014/main" val="298504194"/>
                    </a:ext>
                  </a:extLst>
                </a:gridCol>
                <a:gridCol w="704850">
                  <a:extLst>
                    <a:ext uri="{9D8B030D-6E8A-4147-A177-3AD203B41FA5}">
                      <a16:colId xmlns:a16="http://schemas.microsoft.com/office/drawing/2014/main" val="3472950057"/>
                    </a:ext>
                  </a:extLst>
                </a:gridCol>
                <a:gridCol w="704850">
                  <a:extLst>
                    <a:ext uri="{9D8B030D-6E8A-4147-A177-3AD203B41FA5}">
                      <a16:colId xmlns:a16="http://schemas.microsoft.com/office/drawing/2014/main" val="1961676613"/>
                    </a:ext>
                  </a:extLst>
                </a:gridCol>
                <a:gridCol w="831850">
                  <a:extLst>
                    <a:ext uri="{9D8B030D-6E8A-4147-A177-3AD203B41FA5}">
                      <a16:colId xmlns:a16="http://schemas.microsoft.com/office/drawing/2014/main" val="1879320579"/>
                    </a:ext>
                  </a:extLst>
                </a:gridCol>
                <a:gridCol w="1016000">
                  <a:extLst>
                    <a:ext uri="{9D8B030D-6E8A-4147-A177-3AD203B41FA5}">
                      <a16:colId xmlns:a16="http://schemas.microsoft.com/office/drawing/2014/main" val="967250140"/>
                    </a:ext>
                  </a:extLst>
                </a:gridCol>
              </a:tblGrid>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A1</a:t>
                      </a:r>
                    </a:p>
                  </a:txBody>
                  <a:tcPr marT="45756" marB="4575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A2</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A3</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A4</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A5</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A6</a:t>
                      </a:r>
                    </a:p>
                  </a:txBody>
                  <a:tcPr marT="45756" marB="4575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2245629"/>
                  </a:ext>
                </a:extLst>
              </a:tr>
              <a:tr h="4127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30</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35</a:t>
                      </a:r>
                      <a:endPar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56" marB="4575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35</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15</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15</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5</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5</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10</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10</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20</a:t>
                      </a:r>
                    </a:p>
                  </a:txBody>
                  <a:tcPr marT="45756" marB="4575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20</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sym typeface="Symbol" panose="05050102010706020507" pitchFamily="18" charset="2"/>
                        </a:rPr>
                        <a:t></a:t>
                      </a:r>
                      <a:r>
                        <a:rPr kumimoji="1" lang="en-US" altLang="zh-CN"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rPr>
                        <a:t>25</a:t>
                      </a:r>
                    </a:p>
                  </a:txBody>
                  <a:tcPr marT="45756" marB="4575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64326068"/>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B0E52F64-D822-50E9-BB48-927EDD797203}"/>
                  </a:ext>
                </a:extLst>
              </p14:cNvPr>
              <p14:cNvContentPartPr/>
              <p14:nvPr/>
            </p14:nvContentPartPr>
            <p14:xfrm>
              <a:off x="3357720" y="3140640"/>
              <a:ext cx="983160" cy="807120"/>
            </p14:xfrm>
          </p:contentPart>
        </mc:Choice>
        <mc:Fallback xmlns="">
          <p:pic>
            <p:nvPicPr>
              <p:cNvPr id="2" name="墨迹 1">
                <a:extLst>
                  <a:ext uri="{FF2B5EF4-FFF2-40B4-BE49-F238E27FC236}">
                    <a16:creationId xmlns:a16="http://schemas.microsoft.com/office/drawing/2014/main" id="{B0E52F64-D822-50E9-BB48-927EDD797203}"/>
                  </a:ext>
                </a:extLst>
              </p:cNvPr>
              <p:cNvPicPr/>
              <p:nvPr/>
            </p:nvPicPr>
            <p:blipFill>
              <a:blip r:embed="rId4"/>
              <a:stretch>
                <a:fillRect/>
              </a:stretch>
            </p:blipFill>
            <p:spPr>
              <a:xfrm>
                <a:off x="3348360" y="3131280"/>
                <a:ext cx="1001880" cy="82584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A6DF772-4F01-4047-AD3B-57DB80AEAB45}"/>
              </a:ext>
            </a:extLst>
          </p:cNvPr>
          <p:cNvSpPr>
            <a:spLocks noGrp="1" noChangeArrowheads="1"/>
          </p:cNvSpPr>
          <p:nvPr>
            <p:ph type="title"/>
          </p:nvPr>
        </p:nvSpPr>
        <p:spPr bwMode="auto">
          <a:xfrm>
            <a:off x="685800" y="609600"/>
            <a:ext cx="7772400" cy="8382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算法复杂度分析</a:t>
            </a:r>
          </a:p>
        </p:txBody>
      </p:sp>
      <p:sp>
        <p:nvSpPr>
          <p:cNvPr id="30723" name="Rectangle 3">
            <a:extLst>
              <a:ext uri="{FF2B5EF4-FFF2-40B4-BE49-F238E27FC236}">
                <a16:creationId xmlns:a16="http://schemas.microsoft.com/office/drawing/2014/main" id="{AB5EC406-888F-4FC0-B9A2-6E9C36026C27}"/>
              </a:ext>
            </a:extLst>
          </p:cNvPr>
          <p:cNvSpPr>
            <a:spLocks noGrp="1" noChangeArrowheads="1"/>
          </p:cNvSpPr>
          <p:nvPr>
            <p:ph type="body" idx="1"/>
          </p:nvPr>
        </p:nvSpPr>
        <p:spPr bwMode="auto">
          <a:xfrm>
            <a:off x="533400" y="1524000"/>
            <a:ext cx="80010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spcBef>
                <a:spcPct val="0"/>
              </a:spcBef>
              <a:buFontTx/>
              <a:buNone/>
            </a:pPr>
            <a:r>
              <a:rPr kumimoji="0" lang="en-US" altLang="zh-CN" sz="2800" b="1" dirty="0">
                <a:latin typeface="华文中宋" panose="02010600040101010101" pitchFamily="2" charset="-122"/>
              </a:rPr>
              <a:t>    </a:t>
            </a:r>
            <a:r>
              <a:rPr kumimoji="0" lang="zh-CN" altLang="en-US" sz="2800" b="1" dirty="0">
                <a:latin typeface="华文中宋" panose="02010600040101010101" pitchFamily="2" charset="-122"/>
              </a:rPr>
              <a:t>算法</a:t>
            </a:r>
            <a:r>
              <a:rPr kumimoji="0" lang="en-US" altLang="zh-CN" sz="2800" b="1" dirty="0" err="1">
                <a:latin typeface="华文中宋" panose="02010600040101010101" pitchFamily="2" charset="-122"/>
              </a:rPr>
              <a:t>matrixChain</a:t>
            </a:r>
            <a:r>
              <a:rPr kumimoji="0" lang="zh-CN" altLang="en-US" sz="2800" b="1" dirty="0">
                <a:latin typeface="华文中宋" panose="02010600040101010101" pitchFamily="2" charset="-122"/>
              </a:rPr>
              <a:t>的主要计算量取决于算法中对</a:t>
            </a:r>
            <a:r>
              <a:rPr kumimoji="0" lang="en-US" altLang="zh-CN" sz="2800" b="1" dirty="0">
                <a:latin typeface="华文中宋" panose="02010600040101010101" pitchFamily="2" charset="-122"/>
              </a:rPr>
              <a:t>r</a:t>
            </a:r>
            <a:r>
              <a:rPr kumimoji="0" lang="zh-CN" altLang="en-US" sz="2800" b="1" dirty="0">
                <a:latin typeface="华文中宋" panose="02010600040101010101" pitchFamily="2" charset="-122"/>
              </a:rPr>
              <a:t>，</a:t>
            </a:r>
            <a:r>
              <a:rPr kumimoji="0" lang="en-US" altLang="zh-CN" sz="2800" b="1" dirty="0" err="1">
                <a:latin typeface="华文中宋" panose="02010600040101010101" pitchFamily="2" charset="-122"/>
              </a:rPr>
              <a:t>i</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k</a:t>
            </a:r>
            <a:r>
              <a:rPr kumimoji="0" lang="zh-CN" altLang="en-US" sz="2800" b="1" dirty="0">
                <a:latin typeface="华文中宋" panose="02010600040101010101" pitchFamily="2" charset="-122"/>
              </a:rPr>
              <a:t>的</a:t>
            </a:r>
            <a:r>
              <a:rPr kumimoji="0" lang="en-US" altLang="zh-CN" sz="2800" b="1" dirty="0">
                <a:latin typeface="华文中宋" panose="02010600040101010101" pitchFamily="2" charset="-122"/>
              </a:rPr>
              <a:t>3</a:t>
            </a:r>
            <a:r>
              <a:rPr kumimoji="0" lang="zh-CN" altLang="en-US" sz="2800" b="1" dirty="0">
                <a:latin typeface="华文中宋" panose="02010600040101010101" pitchFamily="2" charset="-122"/>
              </a:rPr>
              <a:t>重循环。循环体内的计算量为</a:t>
            </a:r>
            <a:r>
              <a:rPr kumimoji="0" lang="en-US" altLang="zh-CN" sz="2800" b="1" dirty="0">
                <a:latin typeface="华文中宋" panose="02010600040101010101" pitchFamily="2" charset="-122"/>
              </a:rPr>
              <a:t>O(1)</a:t>
            </a:r>
            <a:r>
              <a:rPr kumimoji="0" lang="zh-CN" altLang="en-US" sz="2800" b="1" dirty="0">
                <a:latin typeface="华文中宋" panose="02010600040101010101" pitchFamily="2" charset="-122"/>
              </a:rPr>
              <a:t>，而</a:t>
            </a:r>
            <a:r>
              <a:rPr kumimoji="0" lang="en-US" altLang="zh-CN" sz="2800" b="1" dirty="0">
                <a:latin typeface="华文中宋" panose="02010600040101010101" pitchFamily="2" charset="-122"/>
              </a:rPr>
              <a:t>3</a:t>
            </a:r>
            <a:r>
              <a:rPr kumimoji="0" lang="zh-CN" altLang="en-US" sz="2800" b="1" dirty="0">
                <a:latin typeface="华文中宋" panose="02010600040101010101" pitchFamily="2" charset="-122"/>
              </a:rPr>
              <a:t>重循环的总次数为</a:t>
            </a:r>
            <a:r>
              <a:rPr kumimoji="0" lang="en-US" altLang="zh-CN" sz="2800" b="1" dirty="0">
                <a:latin typeface="华文中宋" panose="02010600040101010101" pitchFamily="2" charset="-122"/>
              </a:rPr>
              <a:t>O(n</a:t>
            </a:r>
            <a:r>
              <a:rPr kumimoji="0" lang="en-US" altLang="zh-CN" sz="2800" b="1" baseline="30000" dirty="0">
                <a:latin typeface="华文中宋" panose="02010600040101010101" pitchFamily="2" charset="-122"/>
              </a:rPr>
              <a:t>3</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。因此算法的计算时间上界为</a:t>
            </a:r>
            <a:r>
              <a:rPr kumimoji="0" lang="en-US" altLang="zh-CN" sz="2800" b="1" dirty="0">
                <a:latin typeface="华文中宋" panose="02010600040101010101" pitchFamily="2" charset="-122"/>
              </a:rPr>
              <a:t>O(n</a:t>
            </a:r>
            <a:r>
              <a:rPr kumimoji="0" lang="en-US" altLang="zh-CN" sz="2800" b="1" baseline="30000" dirty="0">
                <a:latin typeface="华文中宋" panose="02010600040101010101" pitchFamily="2" charset="-122"/>
              </a:rPr>
              <a:t>3</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。算法所占用的空间显然为</a:t>
            </a:r>
            <a:r>
              <a:rPr kumimoji="0" lang="en-US" altLang="zh-CN" sz="2800" b="1" dirty="0">
                <a:latin typeface="华文中宋" panose="02010600040101010101" pitchFamily="2" charset="-122"/>
              </a:rPr>
              <a:t>O(n</a:t>
            </a:r>
            <a:r>
              <a:rPr kumimoji="0" lang="en-US" altLang="zh-CN" sz="2800" b="1" baseline="30000" dirty="0">
                <a:latin typeface="华文中宋" panose="02010600040101010101" pitchFamily="2" charset="-122"/>
              </a:rPr>
              <a:t>2</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31205C34-2A74-705F-56D0-7AC291DA80D0}"/>
                  </a:ext>
                </a:extLst>
              </p14:cNvPr>
              <p14:cNvContentPartPr/>
              <p14:nvPr/>
            </p14:nvContentPartPr>
            <p14:xfrm>
              <a:off x="970920" y="1242720"/>
              <a:ext cx="6098760" cy="3602880"/>
            </p14:xfrm>
          </p:contentPart>
        </mc:Choice>
        <mc:Fallback xmlns="">
          <p:pic>
            <p:nvPicPr>
              <p:cNvPr id="2" name="墨迹 1">
                <a:extLst>
                  <a:ext uri="{FF2B5EF4-FFF2-40B4-BE49-F238E27FC236}">
                    <a16:creationId xmlns:a16="http://schemas.microsoft.com/office/drawing/2014/main" id="{31205C34-2A74-705F-56D0-7AC291DA80D0}"/>
                  </a:ext>
                </a:extLst>
              </p:cNvPr>
              <p:cNvPicPr/>
              <p:nvPr/>
            </p:nvPicPr>
            <p:blipFill>
              <a:blip r:embed="rId3"/>
              <a:stretch>
                <a:fillRect/>
              </a:stretch>
            </p:blipFill>
            <p:spPr>
              <a:xfrm>
                <a:off x="961560" y="1233360"/>
                <a:ext cx="6117480" cy="36216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744A27-5EC8-4BCA-BD0A-5FB3E36619B4}"/>
              </a:ext>
            </a:extLst>
          </p:cNvPr>
          <p:cNvSpPr>
            <a:spLocks noGrp="1" noChangeArrowheads="1"/>
          </p:cNvSpPr>
          <p:nvPr>
            <p:ph type="title"/>
          </p:nvPr>
        </p:nvSpPr>
        <p:spPr bwMode="auto">
          <a:xfrm>
            <a:off x="685800" y="6096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rgbClr val="A50021"/>
                </a:solidFill>
                <a:effectLst>
                  <a:outerShdw blurRad="38100" dist="38100" dir="2700000" algn="tl">
                    <a:srgbClr val="C0C0C0"/>
                  </a:outerShdw>
                </a:effectLst>
                <a:latin typeface="华文中宋" panose="02010600040101010101" pitchFamily="2" charset="-122"/>
              </a:rPr>
              <a:t>（</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4</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）算法分析</a:t>
            </a:r>
            <a:r>
              <a:rPr lang="en-US" altLang="zh-CN" sz="4000" b="1" dirty="0">
                <a:solidFill>
                  <a:srgbClr val="A50021"/>
                </a:solidFill>
                <a:effectLst>
                  <a:outerShdw blurRad="38100" dist="38100" dir="2700000" algn="tl">
                    <a:srgbClr val="C0C0C0"/>
                  </a:outerShdw>
                </a:effectLst>
                <a:latin typeface="华文中宋" panose="02010600040101010101" pitchFamily="2" charset="-122"/>
              </a:rPr>
              <a:t>--</a:t>
            </a:r>
            <a:r>
              <a:rPr lang="zh-CN" altLang="en-US" sz="4000" b="1" dirty="0">
                <a:solidFill>
                  <a:srgbClr val="A50021"/>
                </a:solidFill>
                <a:effectLst>
                  <a:outerShdw blurRad="38100" dist="38100" dir="2700000" algn="tl">
                    <a:srgbClr val="C0C0C0"/>
                  </a:outerShdw>
                </a:effectLst>
                <a:latin typeface="华文中宋" panose="02010600040101010101" pitchFamily="2" charset="-122"/>
              </a:rPr>
              <a:t>构造最优解</a:t>
            </a:r>
          </a:p>
        </p:txBody>
      </p:sp>
      <p:sp>
        <p:nvSpPr>
          <p:cNvPr id="24581" name="Text Box 5">
            <a:extLst>
              <a:ext uri="{FF2B5EF4-FFF2-40B4-BE49-F238E27FC236}">
                <a16:creationId xmlns:a16="http://schemas.microsoft.com/office/drawing/2014/main" id="{88F84A8E-64E0-40C2-9C38-9A869456EAEA}"/>
              </a:ext>
            </a:extLst>
          </p:cNvPr>
          <p:cNvSpPr txBox="1">
            <a:spLocks noChangeArrowheads="1"/>
          </p:cNvSpPr>
          <p:nvPr/>
        </p:nvSpPr>
        <p:spPr bwMode="auto">
          <a:xfrm>
            <a:off x="251520" y="2708920"/>
            <a:ext cx="8712968" cy="284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void Traceback(int </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 int j, int **s){</a:t>
            </a:r>
          </a:p>
          <a:p>
            <a:pPr algn="just"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if (</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 == j) return;</a:t>
            </a:r>
          </a:p>
          <a:p>
            <a:pPr algn="just"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Traceback(</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 s[</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][j], s);</a:t>
            </a:r>
          </a:p>
          <a:p>
            <a:pPr algn="just"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Traceback(s[</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][j] + 1, </a:t>
            </a:r>
            <a:r>
              <a:rPr lang="en-US" altLang="zh-CN" sz="1800" dirty="0" err="1">
                <a:solidFill>
                  <a:srgbClr val="002060"/>
                </a:solidFill>
                <a:latin typeface="Input" panose="02000506020000090004" pitchFamily="2" charset="0"/>
                <a:ea typeface="华文中宋" panose="02010600040101010101" pitchFamily="2" charset="-122"/>
              </a:rPr>
              <a:t>j,s</a:t>
            </a:r>
            <a:r>
              <a:rPr lang="en-US" altLang="zh-CN" sz="1800" dirty="0">
                <a:solidFill>
                  <a:srgbClr val="002060"/>
                </a:solidFill>
                <a:latin typeface="Input" panose="02000506020000090004" pitchFamily="2" charset="0"/>
                <a:ea typeface="华文中宋" panose="02010600040101010101" pitchFamily="2" charset="-122"/>
              </a:rPr>
              <a:t>);</a:t>
            </a:r>
          </a:p>
          <a:p>
            <a:pPr algn="just"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a:t>
            </a:r>
            <a:r>
              <a:rPr lang="en-US" altLang="zh-CN" sz="1800" dirty="0" err="1">
                <a:solidFill>
                  <a:srgbClr val="002060"/>
                </a:solidFill>
                <a:latin typeface="Input" panose="02000506020000090004" pitchFamily="2" charset="0"/>
                <a:ea typeface="华文中宋" panose="02010600040101010101" pitchFamily="2" charset="-122"/>
              </a:rPr>
              <a:t>cout</a:t>
            </a:r>
            <a:r>
              <a:rPr lang="en-US" altLang="zh-CN" sz="1800" dirty="0">
                <a:solidFill>
                  <a:srgbClr val="002060"/>
                </a:solidFill>
                <a:latin typeface="Input" panose="02000506020000090004" pitchFamily="2" charset="0"/>
                <a:ea typeface="华文中宋" panose="02010600040101010101" pitchFamily="2" charset="-122"/>
              </a:rPr>
              <a:t> &lt;&lt; "Multiply A " &lt;&lt; </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 &lt;&lt; ", " &lt;&lt; s[</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][j];</a:t>
            </a:r>
          </a:p>
          <a:p>
            <a:pPr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a:t>
            </a:r>
            <a:r>
              <a:rPr lang="en-US" altLang="zh-CN" sz="1800" dirty="0" err="1">
                <a:solidFill>
                  <a:srgbClr val="002060"/>
                </a:solidFill>
                <a:latin typeface="Input" panose="02000506020000090004" pitchFamily="2" charset="0"/>
                <a:ea typeface="华文中宋" panose="02010600040101010101" pitchFamily="2" charset="-122"/>
              </a:rPr>
              <a:t>cout</a:t>
            </a:r>
            <a:r>
              <a:rPr lang="en-US" altLang="zh-CN" sz="1800" dirty="0">
                <a:solidFill>
                  <a:srgbClr val="002060"/>
                </a:solidFill>
                <a:latin typeface="Input" panose="02000506020000090004" pitchFamily="2" charset="0"/>
                <a:ea typeface="华文中宋" panose="02010600040101010101" pitchFamily="2" charset="-122"/>
              </a:rPr>
              <a:t> &lt;&lt;" and A " &lt;&lt; (s[</a:t>
            </a:r>
            <a:r>
              <a:rPr lang="en-US" altLang="zh-CN" sz="1800" dirty="0" err="1">
                <a:solidFill>
                  <a:srgbClr val="002060"/>
                </a:solidFill>
                <a:latin typeface="Input" panose="02000506020000090004" pitchFamily="2" charset="0"/>
                <a:ea typeface="华文中宋" panose="02010600040101010101" pitchFamily="2" charset="-122"/>
              </a:rPr>
              <a:t>i</a:t>
            </a:r>
            <a:r>
              <a:rPr lang="en-US" altLang="zh-CN" sz="1800" dirty="0">
                <a:solidFill>
                  <a:srgbClr val="002060"/>
                </a:solidFill>
                <a:latin typeface="Input" panose="02000506020000090004" pitchFamily="2" charset="0"/>
                <a:ea typeface="华文中宋" panose="02010600040101010101" pitchFamily="2" charset="-122"/>
              </a:rPr>
              <a:t>][j] + 1) &lt;&lt; " , " &lt;&lt; j </a:t>
            </a:r>
          </a:p>
          <a:p>
            <a:pPr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&lt;&lt; </a:t>
            </a:r>
            <a:r>
              <a:rPr lang="en-US" altLang="zh-CN" sz="1800" dirty="0" err="1">
                <a:solidFill>
                  <a:srgbClr val="002060"/>
                </a:solidFill>
                <a:latin typeface="Input" panose="02000506020000090004" pitchFamily="2" charset="0"/>
                <a:ea typeface="华文中宋" panose="02010600040101010101" pitchFamily="2" charset="-122"/>
              </a:rPr>
              <a:t>endl</a:t>
            </a:r>
            <a:endParaRPr lang="en-US" altLang="zh-CN" sz="1800" dirty="0">
              <a:solidFill>
                <a:srgbClr val="002060"/>
              </a:solidFill>
              <a:latin typeface="Input" panose="02000506020000090004" pitchFamily="2" charset="0"/>
              <a:ea typeface="华文中宋" panose="02010600040101010101" pitchFamily="2" charset="-122"/>
            </a:endParaRPr>
          </a:p>
          <a:p>
            <a:pPr eaLnBrk="1" hangingPunct="1">
              <a:lnSpc>
                <a:spcPct val="80000"/>
              </a:lnSpc>
              <a:spcBef>
                <a:spcPct val="50000"/>
              </a:spcBef>
            </a:pPr>
            <a:r>
              <a:rPr lang="en-US" altLang="zh-CN" sz="1800" dirty="0">
                <a:solidFill>
                  <a:srgbClr val="002060"/>
                </a:solidFill>
                <a:latin typeface="Input" panose="02000506020000090004" pitchFamily="2" charset="0"/>
                <a:ea typeface="华文中宋" panose="02010600040101010101" pitchFamily="2" charset="-122"/>
              </a:rPr>
              <a:t>    }</a:t>
            </a:r>
          </a:p>
        </p:txBody>
      </p:sp>
      <p:sp>
        <p:nvSpPr>
          <p:cNvPr id="24582" name="Text Box 6">
            <a:extLst>
              <a:ext uri="{FF2B5EF4-FFF2-40B4-BE49-F238E27FC236}">
                <a16:creationId xmlns:a16="http://schemas.microsoft.com/office/drawing/2014/main" id="{AB199BAE-B72B-4824-98A0-9230A69F14DC}"/>
              </a:ext>
            </a:extLst>
          </p:cNvPr>
          <p:cNvSpPr txBox="1">
            <a:spLocks noGrp="1" noChangeArrowheads="1"/>
          </p:cNvSpPr>
          <p:nvPr>
            <p:ph type="body" idx="1"/>
          </p:nvPr>
        </p:nvSpPr>
        <p:spPr bwMode="auto">
          <a:xfrm>
            <a:off x="685800" y="1600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spcBef>
                <a:spcPct val="50000"/>
              </a:spcBef>
              <a:buFontTx/>
              <a:buNone/>
            </a:pPr>
            <a:r>
              <a:rPr lang="zh-CN" altLang="en-US" sz="2400" b="1" dirty="0"/>
              <a:t>引入分割点标记</a:t>
            </a:r>
            <a:r>
              <a:rPr lang="en-US" altLang="zh-CN" sz="2400" b="1" dirty="0"/>
              <a:t>s[</a:t>
            </a:r>
            <a:r>
              <a:rPr lang="en-US" altLang="zh-CN" sz="2400" b="1" dirty="0" err="1"/>
              <a:t>i</a:t>
            </a:r>
            <a:r>
              <a:rPr lang="en-US" altLang="zh-CN" sz="2400" b="1" dirty="0"/>
              <a:t>][j]</a:t>
            </a:r>
            <a:r>
              <a:rPr lang="zh-CN" altLang="en-US" sz="2400" b="1" dirty="0"/>
              <a:t>，确定加括号方式，构造最优解</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E2FB882-E74C-1915-8435-552E58E0E386}"/>
                  </a:ext>
                </a:extLst>
              </p14:cNvPr>
              <p14:cNvContentPartPr/>
              <p14:nvPr/>
            </p14:nvContentPartPr>
            <p14:xfrm>
              <a:off x="2620800" y="3362400"/>
              <a:ext cx="2137680" cy="827280"/>
            </p14:xfrm>
          </p:contentPart>
        </mc:Choice>
        <mc:Fallback xmlns="">
          <p:pic>
            <p:nvPicPr>
              <p:cNvPr id="2" name="墨迹 1">
                <a:extLst>
                  <a:ext uri="{FF2B5EF4-FFF2-40B4-BE49-F238E27FC236}">
                    <a16:creationId xmlns:a16="http://schemas.microsoft.com/office/drawing/2014/main" id="{2E2FB882-E74C-1915-8435-552E58E0E386}"/>
                  </a:ext>
                </a:extLst>
              </p:cNvPr>
              <p:cNvPicPr/>
              <p:nvPr/>
            </p:nvPicPr>
            <p:blipFill>
              <a:blip r:embed="rId3"/>
              <a:stretch>
                <a:fillRect/>
              </a:stretch>
            </p:blipFill>
            <p:spPr>
              <a:xfrm>
                <a:off x="2611440" y="3353040"/>
                <a:ext cx="2156400" cy="8460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 calcmode="lin" valueType="num">
                                      <p:cBhvr additive="base">
                                        <p:cTn id="7" dur="500" fill="hold"/>
                                        <p:tgtEl>
                                          <p:spTgt spid="24582"/>
                                        </p:tgtEl>
                                        <p:attrNameLst>
                                          <p:attrName>ppt_x</p:attrName>
                                        </p:attrNameLst>
                                      </p:cBhvr>
                                      <p:tavLst>
                                        <p:tav tm="0">
                                          <p:val>
                                            <p:strVal val="0-#ppt_w/2"/>
                                          </p:val>
                                        </p:tav>
                                        <p:tav tm="100000">
                                          <p:val>
                                            <p:strVal val="#ppt_x"/>
                                          </p:val>
                                        </p:tav>
                                      </p:tavLst>
                                    </p:anim>
                                    <p:anim calcmode="lin" valueType="num">
                                      <p:cBhvr additive="base">
                                        <p:cTn id="8" dur="500" fill="hold"/>
                                        <p:tgtEl>
                                          <p:spTgt spid="2458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81"/>
                                        </p:tgtEl>
                                        <p:attrNameLst>
                                          <p:attrName>style.visibility</p:attrName>
                                        </p:attrNameLst>
                                      </p:cBhvr>
                                      <p:to>
                                        <p:strVal val="visible"/>
                                      </p:to>
                                    </p:set>
                                    <p:anim calcmode="lin" valueType="num">
                                      <p:cBhvr additive="base">
                                        <p:cTn id="13" dur="500" fill="hold"/>
                                        <p:tgtEl>
                                          <p:spTgt spid="24581"/>
                                        </p:tgtEl>
                                        <p:attrNameLst>
                                          <p:attrName>ppt_x</p:attrName>
                                        </p:attrNameLst>
                                      </p:cBhvr>
                                      <p:tavLst>
                                        <p:tav tm="0">
                                          <p:val>
                                            <p:strVal val="0-#ppt_w/2"/>
                                          </p:val>
                                        </p:tav>
                                        <p:tav tm="100000">
                                          <p:val>
                                            <p:strVal val="#ppt_x"/>
                                          </p:val>
                                        </p:tav>
                                      </p:tavLst>
                                    </p:anim>
                                    <p:anim calcmode="lin" valueType="num">
                                      <p:cBhvr additive="base">
                                        <p:cTn id="14" dur="500" fill="hold"/>
                                        <p:tgtEl>
                                          <p:spTgt spid="245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utoUpdateAnimBg="0"/>
      <p:bldP spid="2458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AC2816C1-8448-41B2-BEE6-50B8E31FB388}"/>
              </a:ext>
            </a:extLst>
          </p:cNvPr>
          <p:cNvSpPr>
            <a:spLocks noGrp="1" noChangeArrowheads="1"/>
          </p:cNvSpPr>
          <p:nvPr>
            <p:ph type="title"/>
          </p:nvPr>
        </p:nvSpPr>
        <p:spPr bwMode="auto">
          <a:xfrm>
            <a:off x="685800" y="2283073"/>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a:solidFill>
                  <a:srgbClr val="A50021"/>
                </a:solidFill>
                <a:latin typeface="华文中宋" panose="02010600040101010101" pitchFamily="2" charset="-122"/>
              </a:rPr>
              <a:t>3.2  </a:t>
            </a:r>
            <a:r>
              <a:rPr lang="zh-CN" altLang="en-US" b="1" dirty="0">
                <a:solidFill>
                  <a:srgbClr val="A50021"/>
                </a:solidFill>
                <a:latin typeface="华文中宋" panose="02010600040101010101" pitchFamily="2" charset="-122"/>
              </a:rPr>
              <a:t>动态规划算法的基本要素</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1026">
            <a:extLst>
              <a:ext uri="{FF2B5EF4-FFF2-40B4-BE49-F238E27FC236}">
                <a16:creationId xmlns:a16="http://schemas.microsoft.com/office/drawing/2014/main" id="{8366BE3F-E9F9-4600-B0F6-32C4BCB71B0A}"/>
              </a:ext>
            </a:extLst>
          </p:cNvPr>
          <p:cNvSpPr>
            <a:spLocks noGrp="1" noChangeArrowheads="1"/>
          </p:cNvSpPr>
          <p:nvPr>
            <p:ph type="title"/>
          </p:nvPr>
        </p:nvSpPr>
        <p:spPr bwMode="auto">
          <a:xfrm>
            <a:off x="685800" y="3048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动态规划的基本思想</a:t>
            </a:r>
          </a:p>
        </p:txBody>
      </p:sp>
      <p:sp>
        <p:nvSpPr>
          <p:cNvPr id="87043" name="Rectangle 1027">
            <a:extLst>
              <a:ext uri="{FF2B5EF4-FFF2-40B4-BE49-F238E27FC236}">
                <a16:creationId xmlns:a16="http://schemas.microsoft.com/office/drawing/2014/main" id="{A05B0915-AA4B-49DB-BFBE-8229B682E33F}"/>
              </a:ext>
            </a:extLst>
          </p:cNvPr>
          <p:cNvSpPr>
            <a:spLocks noGrp="1" noChangeArrowheads="1"/>
          </p:cNvSpPr>
          <p:nvPr>
            <p:ph type="body" idx="1"/>
          </p:nvPr>
        </p:nvSpPr>
        <p:spPr bwMode="auto">
          <a:xfrm>
            <a:off x="685800" y="1143000"/>
            <a:ext cx="7924800" cy="152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zh-CN" altLang="en-US" sz="2800" b="1" dirty="0"/>
              <a:t>算法目标：求解具有某种最优性质的问题。它可能有许多可行解，希望找到具有最优值的解。</a:t>
            </a:r>
          </a:p>
        </p:txBody>
      </p:sp>
      <p:sp>
        <p:nvSpPr>
          <p:cNvPr id="87044" name="Text Box 1028">
            <a:extLst>
              <a:ext uri="{FF2B5EF4-FFF2-40B4-BE49-F238E27FC236}">
                <a16:creationId xmlns:a16="http://schemas.microsoft.com/office/drawing/2014/main" id="{0E08EDFF-218B-420A-949E-B6C83007068A}"/>
              </a:ext>
            </a:extLst>
          </p:cNvPr>
          <p:cNvSpPr txBox="1">
            <a:spLocks noChangeArrowheads="1"/>
          </p:cNvSpPr>
          <p:nvPr/>
        </p:nvSpPr>
        <p:spPr bwMode="auto">
          <a:xfrm>
            <a:off x="642938" y="2286000"/>
            <a:ext cx="7924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20000"/>
              </a:spcBef>
              <a:buFontTx/>
              <a:buChar char="•"/>
            </a:pPr>
            <a:r>
              <a:rPr lang="zh-CN" altLang="en-US" sz="2800" dirty="0">
                <a:ea typeface="华文中宋" panose="02010600040101010101" pitchFamily="2" charset="-122"/>
              </a:rPr>
              <a:t>算法思想：</a:t>
            </a:r>
          </a:p>
          <a:p>
            <a:pPr eaLnBrk="1" hangingPunct="1">
              <a:lnSpc>
                <a:spcPct val="110000"/>
              </a:lnSpc>
              <a:spcBef>
                <a:spcPct val="20000"/>
              </a:spcBef>
              <a:buFontTx/>
              <a:buAutoNum type="arabicPeriod"/>
            </a:pPr>
            <a:r>
              <a:rPr lang="zh-CN" altLang="en-US" sz="2800" dirty="0">
                <a:ea typeface="华文中宋" panose="02010600040101010101" pitchFamily="2" charset="-122"/>
              </a:rPr>
              <a:t>动态规划算法将待求解问题分解成若干个子问题，先求解子问题，</a:t>
            </a:r>
          </a:p>
          <a:p>
            <a:pPr eaLnBrk="1" hangingPunct="1">
              <a:lnSpc>
                <a:spcPct val="110000"/>
              </a:lnSpc>
              <a:spcBef>
                <a:spcPct val="20000"/>
              </a:spcBef>
              <a:buFontTx/>
              <a:buAutoNum type="arabicPeriod"/>
            </a:pPr>
            <a:r>
              <a:rPr lang="zh-CN" altLang="en-US" sz="2800" dirty="0">
                <a:ea typeface="华文中宋" panose="02010600040101010101" pitchFamily="2" charset="-122"/>
              </a:rPr>
              <a:t>从这些子问题的解得到原问题的解。这些子问题往往不互相独立。</a:t>
            </a:r>
          </a:p>
          <a:p>
            <a:pPr eaLnBrk="1" hangingPunct="1">
              <a:lnSpc>
                <a:spcPct val="110000"/>
              </a:lnSpc>
              <a:spcBef>
                <a:spcPct val="20000"/>
              </a:spcBef>
              <a:buFontTx/>
              <a:buAutoNum type="arabicPeriod"/>
            </a:pPr>
            <a:r>
              <a:rPr lang="zh-CN" altLang="en-US" sz="2800" dirty="0">
                <a:ea typeface="华文中宋" panose="02010600040101010101" pitchFamily="2" charset="-122"/>
              </a:rPr>
              <a:t>分解时得到的子问题数目可能很多，有些子问题被重复计算了很多次。</a:t>
            </a:r>
          </a:p>
        </p:txBody>
      </p:sp>
      <p:sp>
        <p:nvSpPr>
          <p:cNvPr id="87045" name="Text Box 1029">
            <a:extLst>
              <a:ext uri="{FF2B5EF4-FFF2-40B4-BE49-F238E27FC236}">
                <a16:creationId xmlns:a16="http://schemas.microsoft.com/office/drawing/2014/main" id="{D5E843F4-1E9F-4BA7-8ABA-4F2D40911DF3}"/>
              </a:ext>
            </a:extLst>
          </p:cNvPr>
          <p:cNvSpPr txBox="1">
            <a:spLocks noChangeArrowheads="1"/>
          </p:cNvSpPr>
          <p:nvPr/>
        </p:nvSpPr>
        <p:spPr bwMode="auto">
          <a:xfrm>
            <a:off x="152400" y="4267200"/>
            <a:ext cx="87630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buFontTx/>
              <a:buChar char="•"/>
            </a:pPr>
            <a:endParaRPr lang="zh-CN" altLang="zh-CN" sz="2800" dirty="0">
              <a:ea typeface="华文中宋" panose="0201060004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C1B172C-45EB-BC22-9585-E732833043D6}"/>
                  </a:ext>
                </a:extLst>
              </p14:cNvPr>
              <p14:cNvContentPartPr/>
              <p14:nvPr/>
            </p14:nvContentPartPr>
            <p14:xfrm>
              <a:off x="7113960" y="2905200"/>
              <a:ext cx="360" cy="360"/>
            </p14:xfrm>
          </p:contentPart>
        </mc:Choice>
        <mc:Fallback xmlns="">
          <p:pic>
            <p:nvPicPr>
              <p:cNvPr id="2" name="墨迹 1">
                <a:extLst>
                  <a:ext uri="{FF2B5EF4-FFF2-40B4-BE49-F238E27FC236}">
                    <a16:creationId xmlns:a16="http://schemas.microsoft.com/office/drawing/2014/main" id="{FC1B172C-45EB-BC22-9585-E732833043D6}"/>
                  </a:ext>
                </a:extLst>
              </p:cNvPr>
              <p:cNvPicPr/>
              <p:nvPr/>
            </p:nvPicPr>
            <p:blipFill>
              <a:blip r:embed="rId3"/>
              <a:stretch>
                <a:fillRect/>
              </a:stretch>
            </p:blipFill>
            <p:spPr>
              <a:xfrm>
                <a:off x="7104600" y="2895840"/>
                <a:ext cx="19080" cy="19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7044"/>
                                        </p:tgtEl>
                                        <p:attrNameLst>
                                          <p:attrName>style.visibility</p:attrName>
                                        </p:attrNameLst>
                                      </p:cBhvr>
                                      <p:to>
                                        <p:strVal val="visible"/>
                                      </p:to>
                                    </p:set>
                                    <p:anim calcmode="lin" valueType="num">
                                      <p:cBhvr additive="base">
                                        <p:cTn id="13" dur="500" fill="hold"/>
                                        <p:tgtEl>
                                          <p:spTgt spid="87044"/>
                                        </p:tgtEl>
                                        <p:attrNameLst>
                                          <p:attrName>ppt_x</p:attrName>
                                        </p:attrNameLst>
                                      </p:cBhvr>
                                      <p:tavLst>
                                        <p:tav tm="0">
                                          <p:val>
                                            <p:strVal val="0-#ppt_w/2"/>
                                          </p:val>
                                        </p:tav>
                                        <p:tav tm="100000">
                                          <p:val>
                                            <p:strVal val="#ppt_x"/>
                                          </p:val>
                                        </p:tav>
                                      </p:tavLst>
                                    </p:anim>
                                    <p:anim calcmode="lin" valueType="num">
                                      <p:cBhvr additive="base">
                                        <p:cTn id="14" dur="500" fill="hold"/>
                                        <p:tgtEl>
                                          <p:spTgt spid="87044"/>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nodePh="1">
                                  <p:stCondLst>
                                    <p:cond delay="0"/>
                                  </p:stCondLst>
                                  <p:endCondLst>
                                    <p:cond evt="begin" delay="0">
                                      <p:tn val="17"/>
                                    </p:cond>
                                  </p:endCondLst>
                                  <p:childTnLst>
                                    <p:set>
                                      <p:cBhvr>
                                        <p:cTn id="18" dur="1" fill="hold">
                                          <p:stCondLst>
                                            <p:cond delay="0"/>
                                          </p:stCondLst>
                                        </p:cTn>
                                        <p:tgtEl>
                                          <p:spTgt spid="87045"/>
                                        </p:tgtEl>
                                        <p:attrNameLst>
                                          <p:attrName>style.visibility</p:attrName>
                                        </p:attrNameLst>
                                      </p:cBhvr>
                                      <p:to>
                                        <p:strVal val="visible"/>
                                      </p:to>
                                    </p:set>
                                    <p:anim calcmode="lin" valueType="num">
                                      <p:cBhvr additive="base">
                                        <p:cTn id="19" dur="500" fill="hold"/>
                                        <p:tgtEl>
                                          <p:spTgt spid="87045"/>
                                        </p:tgtEl>
                                        <p:attrNameLst>
                                          <p:attrName>ppt_x</p:attrName>
                                        </p:attrNameLst>
                                      </p:cBhvr>
                                      <p:tavLst>
                                        <p:tav tm="0">
                                          <p:val>
                                            <p:strVal val="0-#ppt_w/2"/>
                                          </p:val>
                                        </p:tav>
                                        <p:tav tm="100000">
                                          <p:val>
                                            <p:strVal val="#ppt_x"/>
                                          </p:val>
                                        </p:tav>
                                      </p:tavLst>
                                    </p:anim>
                                    <p:anim calcmode="lin" valueType="num">
                                      <p:cBhvr additive="base">
                                        <p:cTn id="20" dur="500" fill="hold"/>
                                        <p:tgtEl>
                                          <p:spTgt spid="870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autoUpdateAnimBg="0"/>
      <p:bldP spid="87044" grpId="0" autoUpdateAnimBg="0"/>
      <p:bldP spid="8704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8ABD4387-B26D-4C99-8E92-EE5E959EC933}"/>
              </a:ext>
            </a:extLst>
          </p:cNvPr>
          <p:cNvSpPr>
            <a:spLocks noGrp="1" noChangeArrowheads="1"/>
          </p:cNvSpPr>
          <p:nvPr>
            <p:ph type="title"/>
          </p:nvPr>
        </p:nvSpPr>
        <p:spPr bwMode="auto">
          <a:xfrm>
            <a:off x="685800" y="609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求解方法</a:t>
            </a:r>
          </a:p>
        </p:txBody>
      </p:sp>
      <p:sp>
        <p:nvSpPr>
          <p:cNvPr id="34819" name="Rectangle 3">
            <a:extLst>
              <a:ext uri="{FF2B5EF4-FFF2-40B4-BE49-F238E27FC236}">
                <a16:creationId xmlns:a16="http://schemas.microsoft.com/office/drawing/2014/main" id="{2EEFE51A-57AC-47F9-B25C-289B44A8AA74}"/>
              </a:ext>
            </a:extLst>
          </p:cNvPr>
          <p:cNvSpPr>
            <a:spLocks noGrp="1" noChangeArrowheads="1"/>
          </p:cNvSpPr>
          <p:nvPr>
            <p:ph type="body" idx="1"/>
          </p:nvPr>
        </p:nvSpPr>
        <p:spPr bwMode="auto">
          <a:xfrm>
            <a:off x="685800" y="1752600"/>
            <a:ext cx="7772400" cy="434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t>自底向上方式、自上而下方式</a:t>
            </a:r>
          </a:p>
          <a:p>
            <a:pPr eaLnBrk="1" hangingPunct="1"/>
            <a:r>
              <a:rPr lang="zh-CN" altLang="en-US" sz="2800" b="1" dirty="0"/>
              <a:t>采用备忘录方法：求解过程中需保存已解决的子问题的解，而在需要时再找出已求得的解，就可避免大量的重复计算，节省时间。动态规划法用表记录所有已解的子问题的答案。不管该子问题以后是否被用到，只要它被计算过，就将其结果填入表中。</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409B2EC-6540-4481-9229-E8DACB09A45B}"/>
              </a:ext>
            </a:extLst>
          </p:cNvPr>
          <p:cNvSpPr>
            <a:spLocks noGrp="1" noChangeArrowheads="1"/>
          </p:cNvSpPr>
          <p:nvPr>
            <p:ph type="title"/>
          </p:nvPr>
        </p:nvSpPr>
        <p:spPr bwMode="auto">
          <a:xfrm>
            <a:off x="685800" y="381000"/>
            <a:ext cx="77724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动态规划中的概念、名词术语</a:t>
            </a:r>
            <a:r>
              <a:rPr lang="en-US" altLang="zh-CN" sz="4000" b="1" dirty="0">
                <a:solidFill>
                  <a:schemeClr val="tx1"/>
                </a:solidFill>
                <a:effectLst>
                  <a:outerShdw blurRad="38100" dist="38100" dir="2700000" algn="tl">
                    <a:srgbClr val="C0C0C0"/>
                  </a:outerShdw>
                </a:effectLst>
                <a:latin typeface="华文中宋" panose="02010600040101010101" pitchFamily="2" charset="-122"/>
              </a:rPr>
              <a:t>(1)</a:t>
            </a:r>
          </a:p>
        </p:txBody>
      </p:sp>
      <p:sp>
        <p:nvSpPr>
          <p:cNvPr id="89091" name="Rectangle 3">
            <a:extLst>
              <a:ext uri="{FF2B5EF4-FFF2-40B4-BE49-F238E27FC236}">
                <a16:creationId xmlns:a16="http://schemas.microsoft.com/office/drawing/2014/main" id="{DFF34206-18A7-4FD6-B8DA-7FA36E00882A}"/>
              </a:ext>
            </a:extLst>
          </p:cNvPr>
          <p:cNvSpPr>
            <a:spLocks noGrp="1" noChangeArrowheads="1"/>
          </p:cNvSpPr>
          <p:nvPr>
            <p:ph type="body" idx="1"/>
          </p:nvPr>
        </p:nvSpPr>
        <p:spPr bwMode="auto">
          <a:xfrm>
            <a:off x="304800" y="1295400"/>
            <a:ext cx="84582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2800" b="1" dirty="0">
                <a:solidFill>
                  <a:srgbClr val="FF0000"/>
                </a:solidFill>
              </a:rPr>
              <a:t>1.</a:t>
            </a:r>
            <a:r>
              <a:rPr lang="zh-CN" altLang="en-US" sz="2800" b="1" dirty="0">
                <a:solidFill>
                  <a:srgbClr val="FF0000"/>
                </a:solidFill>
              </a:rPr>
              <a:t>阶段：</a:t>
            </a:r>
            <a:r>
              <a:rPr lang="zh-CN" altLang="en-US" sz="2800" b="1" dirty="0"/>
              <a:t>把问题分成几个相互联系的有顺序的几个环节，这些环节即称为阶段。</a:t>
            </a:r>
          </a:p>
        </p:txBody>
      </p:sp>
      <p:sp>
        <p:nvSpPr>
          <p:cNvPr id="89092" name="Text Box 4">
            <a:extLst>
              <a:ext uri="{FF2B5EF4-FFF2-40B4-BE49-F238E27FC236}">
                <a16:creationId xmlns:a16="http://schemas.microsoft.com/office/drawing/2014/main" id="{876F1F96-84A6-410E-BF5C-B26D2D5D17FA}"/>
              </a:ext>
            </a:extLst>
          </p:cNvPr>
          <p:cNvSpPr txBox="1">
            <a:spLocks noChangeArrowheads="1"/>
          </p:cNvSpPr>
          <p:nvPr/>
        </p:nvSpPr>
        <p:spPr bwMode="auto">
          <a:xfrm>
            <a:off x="357188" y="2357438"/>
            <a:ext cx="81438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800" dirty="0">
                <a:solidFill>
                  <a:srgbClr val="FF0000"/>
                </a:solidFill>
                <a:ea typeface="华文中宋" panose="02010600040101010101" pitchFamily="2" charset="-122"/>
              </a:rPr>
              <a:t>2.</a:t>
            </a:r>
            <a:r>
              <a:rPr lang="zh-CN" altLang="en-US" sz="2800" dirty="0">
                <a:solidFill>
                  <a:srgbClr val="FF0000"/>
                </a:solidFill>
                <a:ea typeface="华文中宋" panose="02010600040101010101" pitchFamily="2" charset="-122"/>
              </a:rPr>
              <a:t>状态：</a:t>
            </a:r>
            <a:r>
              <a:rPr lang="zh-CN" altLang="en-US" sz="2800" dirty="0">
                <a:ea typeface="华文中宋" panose="02010600040101010101" pitchFamily="2" charset="-122"/>
              </a:rPr>
              <a:t>某一阶段的出发位置称为状态。通常一个阶段包含若干状态。</a:t>
            </a:r>
          </a:p>
        </p:txBody>
      </p:sp>
      <p:sp>
        <p:nvSpPr>
          <p:cNvPr id="89093" name="Text Box 5">
            <a:extLst>
              <a:ext uri="{FF2B5EF4-FFF2-40B4-BE49-F238E27FC236}">
                <a16:creationId xmlns:a16="http://schemas.microsoft.com/office/drawing/2014/main" id="{30F622C3-200C-49F0-BCC3-D053C547F156}"/>
              </a:ext>
            </a:extLst>
          </p:cNvPr>
          <p:cNvSpPr txBox="1">
            <a:spLocks noChangeArrowheads="1"/>
          </p:cNvSpPr>
          <p:nvPr/>
        </p:nvSpPr>
        <p:spPr bwMode="auto">
          <a:xfrm>
            <a:off x="357188" y="3286125"/>
            <a:ext cx="8572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800" dirty="0">
                <a:solidFill>
                  <a:srgbClr val="FF0000"/>
                </a:solidFill>
                <a:ea typeface="华文中宋" panose="02010600040101010101" pitchFamily="2" charset="-122"/>
              </a:rPr>
              <a:t>3.</a:t>
            </a:r>
            <a:r>
              <a:rPr lang="zh-CN" altLang="en-US" sz="2800" dirty="0">
                <a:solidFill>
                  <a:srgbClr val="FF0000"/>
                </a:solidFill>
                <a:ea typeface="华文中宋" panose="02010600040101010101" pitchFamily="2" charset="-122"/>
              </a:rPr>
              <a:t>决策：</a:t>
            </a:r>
            <a:r>
              <a:rPr lang="zh-CN" altLang="en-US" sz="2800" dirty="0">
                <a:ea typeface="华文中宋" panose="02010600040101010101" pitchFamily="2" charset="-122"/>
              </a:rPr>
              <a:t>从某阶段的一个状态演变到下一个阶段某状态的选择。</a:t>
            </a:r>
            <a:endParaRPr lang="en-US" altLang="zh-CN" sz="2800" dirty="0">
              <a:ea typeface="华文中宋" panose="02010600040101010101" pitchFamily="2" charset="-122"/>
            </a:endParaRPr>
          </a:p>
          <a:p>
            <a:pPr algn="just" eaLnBrk="1" hangingPunct="1">
              <a:lnSpc>
                <a:spcPct val="90000"/>
              </a:lnSpc>
              <a:spcBef>
                <a:spcPct val="20000"/>
              </a:spcBef>
            </a:pPr>
            <a:r>
              <a:rPr lang="en-US" altLang="zh-CN" sz="2800" dirty="0">
                <a:ea typeface="华文中宋" panose="02010600040101010101" pitchFamily="2" charset="-122"/>
              </a:rPr>
              <a:t>    </a:t>
            </a:r>
            <a:r>
              <a:rPr lang="zh-CN" altLang="en-US" sz="2800" dirty="0">
                <a:ea typeface="华文中宋" panose="02010600040101010101" pitchFamily="2" charset="-122"/>
              </a:rPr>
              <a:t>特点：前一阶段的终点是后一阶段的起点，前一阶段的决策影响后一阶段的状态。</a:t>
            </a:r>
            <a:endParaRPr lang="en-US" altLang="zh-CN" sz="2800" dirty="0">
              <a:ea typeface="华文中宋" panose="02010600040101010101" pitchFamily="2" charset="-122"/>
            </a:endParaRPr>
          </a:p>
          <a:p>
            <a:pPr algn="just" eaLnBrk="1" hangingPunct="1">
              <a:lnSpc>
                <a:spcPct val="90000"/>
              </a:lnSpc>
              <a:spcBef>
                <a:spcPct val="20000"/>
              </a:spcBef>
            </a:pPr>
            <a:r>
              <a:rPr lang="en-US" altLang="zh-CN" sz="2800" dirty="0">
                <a:solidFill>
                  <a:srgbClr val="FF0000"/>
                </a:solidFill>
                <a:ea typeface="华文中宋" panose="02010600040101010101" pitchFamily="2" charset="-122"/>
              </a:rPr>
              <a:t>4.</a:t>
            </a:r>
            <a:r>
              <a:rPr lang="zh-CN" altLang="en-US" sz="2800" dirty="0">
                <a:solidFill>
                  <a:srgbClr val="FF0000"/>
                </a:solidFill>
                <a:ea typeface="华文中宋" panose="02010600040101010101" pitchFamily="2" charset="-122"/>
              </a:rPr>
              <a:t>策略：</a:t>
            </a:r>
            <a:r>
              <a:rPr lang="zh-CN" altLang="en-US" sz="2800" dirty="0">
                <a:ea typeface="华文中宋" panose="02010600040101010101" pitchFamily="2" charset="-122"/>
              </a:rPr>
              <a:t>由开始到终点的全过程中，由每段决策组成的决策序列。</a:t>
            </a:r>
            <a:endParaRPr lang="zh-CN" altLang="en-US" sz="2800" dirty="0">
              <a:solidFill>
                <a:srgbClr val="FF0000"/>
              </a:solidFill>
              <a:ea typeface="华文中宋" panose="02010600040101010101" pitchFamily="2" charset="-122"/>
            </a:endParaRPr>
          </a:p>
          <a:p>
            <a:pPr algn="just" eaLnBrk="1" hangingPunct="1">
              <a:lnSpc>
                <a:spcPct val="90000"/>
              </a:lnSpc>
              <a:spcBef>
                <a:spcPct val="20000"/>
              </a:spcBef>
            </a:pPr>
            <a:endParaRPr lang="zh-CN" altLang="en-US" sz="2800" dirty="0">
              <a:ea typeface="华文中宋" panose="0201060004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8CFFBAB8-ADD6-8450-1C8D-EA07446A9389}"/>
                  </a:ext>
                </a:extLst>
              </p14:cNvPr>
              <p14:cNvContentPartPr/>
              <p14:nvPr/>
            </p14:nvContentPartPr>
            <p14:xfrm>
              <a:off x="597960" y="1145160"/>
              <a:ext cx="7579080" cy="3378240"/>
            </p14:xfrm>
          </p:contentPart>
        </mc:Choice>
        <mc:Fallback xmlns="">
          <p:pic>
            <p:nvPicPr>
              <p:cNvPr id="2" name="墨迹 1">
                <a:extLst>
                  <a:ext uri="{FF2B5EF4-FFF2-40B4-BE49-F238E27FC236}">
                    <a16:creationId xmlns:a16="http://schemas.microsoft.com/office/drawing/2014/main" id="{8CFFBAB8-ADD6-8450-1C8D-EA07446A9389}"/>
                  </a:ext>
                </a:extLst>
              </p:cNvPr>
              <p:cNvPicPr/>
              <p:nvPr/>
            </p:nvPicPr>
            <p:blipFill>
              <a:blip r:embed="rId3"/>
              <a:stretch>
                <a:fillRect/>
              </a:stretch>
            </p:blipFill>
            <p:spPr>
              <a:xfrm>
                <a:off x="588600" y="1135800"/>
                <a:ext cx="7597800" cy="3396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 calcmode="lin" valueType="num">
                                      <p:cBhvr additive="base">
                                        <p:cTn id="7" dur="500" fill="hold"/>
                                        <p:tgtEl>
                                          <p:spTgt spid="89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9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2"/>
                                        </p:tgtEl>
                                        <p:attrNameLst>
                                          <p:attrName>style.visibility</p:attrName>
                                        </p:attrNameLst>
                                      </p:cBhvr>
                                      <p:to>
                                        <p:strVal val="visible"/>
                                      </p:to>
                                    </p:set>
                                    <p:anim calcmode="lin" valueType="num">
                                      <p:cBhvr additive="base">
                                        <p:cTn id="13" dur="500" fill="hold"/>
                                        <p:tgtEl>
                                          <p:spTgt spid="89092"/>
                                        </p:tgtEl>
                                        <p:attrNameLst>
                                          <p:attrName>ppt_x</p:attrName>
                                        </p:attrNameLst>
                                      </p:cBhvr>
                                      <p:tavLst>
                                        <p:tav tm="0">
                                          <p:val>
                                            <p:strVal val="0-#ppt_w/2"/>
                                          </p:val>
                                        </p:tav>
                                        <p:tav tm="100000">
                                          <p:val>
                                            <p:strVal val="#ppt_x"/>
                                          </p:val>
                                        </p:tav>
                                      </p:tavLst>
                                    </p:anim>
                                    <p:anim calcmode="lin" valueType="num">
                                      <p:cBhvr additive="base">
                                        <p:cTn id="14" dur="500" fill="hold"/>
                                        <p:tgtEl>
                                          <p:spTgt spid="8909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3"/>
                                        </p:tgtEl>
                                        <p:attrNameLst>
                                          <p:attrName>style.visibility</p:attrName>
                                        </p:attrNameLst>
                                      </p:cBhvr>
                                      <p:to>
                                        <p:strVal val="visible"/>
                                      </p:to>
                                    </p:set>
                                    <p:anim calcmode="lin" valueType="num">
                                      <p:cBhvr additive="base">
                                        <p:cTn id="19" dur="500" fill="hold"/>
                                        <p:tgtEl>
                                          <p:spTgt spid="89093"/>
                                        </p:tgtEl>
                                        <p:attrNameLst>
                                          <p:attrName>ppt_x</p:attrName>
                                        </p:attrNameLst>
                                      </p:cBhvr>
                                      <p:tavLst>
                                        <p:tav tm="0">
                                          <p:val>
                                            <p:strVal val="0-#ppt_w/2"/>
                                          </p:val>
                                        </p:tav>
                                        <p:tav tm="100000">
                                          <p:val>
                                            <p:strVal val="#ppt_x"/>
                                          </p:val>
                                        </p:tav>
                                      </p:tavLst>
                                    </p:anim>
                                    <p:anim calcmode="lin" valueType="num">
                                      <p:cBhvr additive="base">
                                        <p:cTn id="20" dur="500" fill="hold"/>
                                        <p:tgtEl>
                                          <p:spTgt spid="890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build="p" autoUpdateAnimBg="0"/>
      <p:bldP spid="89092" grpId="0" autoUpdateAnimBg="0"/>
      <p:bldP spid="8909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2171F43B-ABDB-48EC-95C0-2674783D39F6}"/>
              </a:ext>
            </a:extLst>
          </p:cNvPr>
          <p:cNvSpPr>
            <a:spLocks noGrp="1" noChangeArrowheads="1"/>
          </p:cNvSpPr>
          <p:nvPr>
            <p:ph type="title"/>
          </p:nvPr>
        </p:nvSpPr>
        <p:spPr bwMode="auto">
          <a:xfrm>
            <a:off x="685800" y="6096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zh-CN" altLang="en-US" sz="4000" b="1" dirty="0">
                <a:solidFill>
                  <a:schemeClr val="tx1"/>
                </a:solidFill>
                <a:effectLst>
                  <a:outerShdw blurRad="38100" dist="38100" dir="2700000" algn="tl">
                    <a:srgbClr val="C0C0C0"/>
                  </a:outerShdw>
                </a:effectLst>
                <a:latin typeface="华文中宋" panose="02010600040101010101" pitchFamily="2" charset="-122"/>
              </a:rPr>
              <a:t>动态规划中的概念、名词术语</a:t>
            </a:r>
            <a:r>
              <a:rPr lang="en-US" altLang="zh-CN" sz="4000" b="1" dirty="0">
                <a:solidFill>
                  <a:schemeClr val="tx1"/>
                </a:solidFill>
                <a:effectLst>
                  <a:outerShdw blurRad="38100" dist="38100" dir="2700000" algn="tl">
                    <a:srgbClr val="C0C0C0"/>
                  </a:outerShdw>
                </a:effectLst>
                <a:latin typeface="华文中宋" panose="02010600040101010101" pitchFamily="2" charset="-122"/>
              </a:rPr>
              <a:t>(2)</a:t>
            </a:r>
          </a:p>
        </p:txBody>
      </p:sp>
      <p:sp>
        <p:nvSpPr>
          <p:cNvPr id="90115" name="Rectangle 3">
            <a:extLst>
              <a:ext uri="{FF2B5EF4-FFF2-40B4-BE49-F238E27FC236}">
                <a16:creationId xmlns:a16="http://schemas.microsoft.com/office/drawing/2014/main" id="{9023ED99-5F10-4C33-83B8-5B84C0FED0A6}"/>
              </a:ext>
            </a:extLst>
          </p:cNvPr>
          <p:cNvSpPr>
            <a:spLocks noGrp="1" noChangeArrowheads="1"/>
          </p:cNvSpPr>
          <p:nvPr>
            <p:ph type="body" idx="1"/>
          </p:nvPr>
        </p:nvSpPr>
        <p:spPr bwMode="auto">
          <a:xfrm>
            <a:off x="533400" y="1524000"/>
            <a:ext cx="8286750" cy="3657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buFontTx/>
              <a:buNone/>
            </a:pPr>
            <a:r>
              <a:rPr lang="en-US" altLang="zh-CN" sz="2800" b="1" dirty="0">
                <a:solidFill>
                  <a:srgbClr val="FF0000"/>
                </a:solidFill>
              </a:rPr>
              <a:t>5.</a:t>
            </a:r>
            <a:r>
              <a:rPr lang="zh-CN" altLang="en-US" sz="2800" b="1" dirty="0">
                <a:solidFill>
                  <a:srgbClr val="FF0000"/>
                </a:solidFill>
              </a:rPr>
              <a:t>状态转移方程：</a:t>
            </a:r>
            <a:r>
              <a:rPr lang="zh-CN" altLang="en-US" sz="2800" b="1" dirty="0"/>
              <a:t>描述由</a:t>
            </a:r>
            <a:r>
              <a:rPr lang="en-US" altLang="zh-CN" sz="2800" b="1" dirty="0"/>
              <a:t>k</a:t>
            </a:r>
            <a:r>
              <a:rPr lang="zh-CN" altLang="en-US" sz="2800" b="1" dirty="0"/>
              <a:t>阶段到</a:t>
            </a:r>
            <a:r>
              <a:rPr lang="en-US" altLang="zh-CN" sz="2800" b="1" dirty="0"/>
              <a:t>k+1</a:t>
            </a:r>
            <a:r>
              <a:rPr lang="zh-CN" altLang="en-US" sz="2800" b="1" dirty="0"/>
              <a:t>阶段状态的演变规律称为状态转移方程（用数学形式表达）。</a:t>
            </a:r>
            <a:endParaRPr lang="zh-CN" altLang="en-US" sz="2800" b="1" dirty="0">
              <a:solidFill>
                <a:srgbClr val="FF0000"/>
              </a:solidFill>
            </a:endParaRPr>
          </a:p>
          <a:p>
            <a:pPr algn="just" eaLnBrk="1" hangingPunct="1">
              <a:buFontTx/>
              <a:buNone/>
            </a:pPr>
            <a:r>
              <a:rPr lang="en-US" altLang="zh-CN" sz="2800" b="1" dirty="0">
                <a:solidFill>
                  <a:srgbClr val="FF0000"/>
                </a:solidFill>
              </a:rPr>
              <a:t>6.</a:t>
            </a:r>
            <a:r>
              <a:rPr lang="zh-CN" altLang="en-US" sz="2800" b="1" dirty="0">
                <a:solidFill>
                  <a:srgbClr val="FF0000"/>
                </a:solidFill>
              </a:rPr>
              <a:t>目标函数与最优化概念：</a:t>
            </a:r>
            <a:r>
              <a:rPr lang="zh-CN" altLang="en-US" sz="2800" b="1" dirty="0"/>
              <a:t>目标函数是衡量多阶段决策过程优劣的准则。最优化概念是在一定条件件下找到一个途径，经过按题目具体性质所确定的运算以后，使全过程的总效益达到最优。</a:t>
            </a:r>
          </a:p>
        </p:txBody>
      </p:sp>
      <p:sp>
        <p:nvSpPr>
          <p:cNvPr id="90116" name="Text Box 4">
            <a:extLst>
              <a:ext uri="{FF2B5EF4-FFF2-40B4-BE49-F238E27FC236}">
                <a16:creationId xmlns:a16="http://schemas.microsoft.com/office/drawing/2014/main" id="{44E59367-1823-4B05-B12A-DF34F18E527B}"/>
              </a:ext>
            </a:extLst>
          </p:cNvPr>
          <p:cNvSpPr txBox="1">
            <a:spLocks noChangeArrowheads="1"/>
          </p:cNvSpPr>
          <p:nvPr/>
        </p:nvSpPr>
        <p:spPr bwMode="auto">
          <a:xfrm>
            <a:off x="642938" y="4357688"/>
            <a:ext cx="7924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90000"/>
              </a:lnSpc>
              <a:spcBef>
                <a:spcPct val="20000"/>
              </a:spcBef>
            </a:pPr>
            <a:r>
              <a:rPr lang="en-US" altLang="zh-CN" sz="2800" dirty="0">
                <a:solidFill>
                  <a:srgbClr val="FF0000"/>
                </a:solidFill>
                <a:ea typeface="华文中宋" panose="02010600040101010101" pitchFamily="2" charset="-122"/>
              </a:rPr>
              <a:t>7.</a:t>
            </a:r>
            <a:r>
              <a:rPr lang="zh-CN" altLang="en-US" sz="2800" dirty="0">
                <a:solidFill>
                  <a:srgbClr val="FF0000"/>
                </a:solidFill>
                <a:ea typeface="华文中宋" panose="02010600040101010101" pitchFamily="2" charset="-122"/>
              </a:rPr>
              <a:t>动态规划：</a:t>
            </a:r>
            <a:r>
              <a:rPr lang="zh-CN" altLang="en-US" sz="2800" dirty="0">
                <a:ea typeface="华文中宋" panose="02010600040101010101" pitchFamily="2" charset="-122"/>
              </a:rPr>
              <a:t>在多阶段决策问题中，各阶段采取的决策依赖于目前状态，并引起状态的转移，以期求得最优化的过程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 calcmode="lin" valueType="num">
                                      <p:cBhvr additive="base">
                                        <p:cTn id="7" dur="500" fill="hold"/>
                                        <p:tgtEl>
                                          <p:spTgt spid="901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01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0115">
                                            <p:txEl>
                                              <p:pRg st="1" end="1"/>
                                            </p:txEl>
                                          </p:spTgt>
                                        </p:tgtEl>
                                        <p:attrNameLst>
                                          <p:attrName>style.visibility</p:attrName>
                                        </p:attrNameLst>
                                      </p:cBhvr>
                                      <p:to>
                                        <p:strVal val="visible"/>
                                      </p:to>
                                    </p:set>
                                    <p:anim calcmode="lin" valueType="num">
                                      <p:cBhvr additive="base">
                                        <p:cTn id="13" dur="500" fill="hold"/>
                                        <p:tgtEl>
                                          <p:spTgt spid="901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01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0116"/>
                                        </p:tgtEl>
                                        <p:attrNameLst>
                                          <p:attrName>style.visibility</p:attrName>
                                        </p:attrNameLst>
                                      </p:cBhvr>
                                      <p:to>
                                        <p:strVal val="visible"/>
                                      </p:to>
                                    </p:set>
                                    <p:anim calcmode="lin" valueType="num">
                                      <p:cBhvr additive="base">
                                        <p:cTn id="19" dur="500" fill="hold"/>
                                        <p:tgtEl>
                                          <p:spTgt spid="90116"/>
                                        </p:tgtEl>
                                        <p:attrNameLst>
                                          <p:attrName>ppt_x</p:attrName>
                                        </p:attrNameLst>
                                      </p:cBhvr>
                                      <p:tavLst>
                                        <p:tav tm="0">
                                          <p:val>
                                            <p:strVal val="0-#ppt_w/2"/>
                                          </p:val>
                                        </p:tav>
                                        <p:tav tm="100000">
                                          <p:val>
                                            <p:strVal val="#ppt_x"/>
                                          </p:val>
                                        </p:tav>
                                      </p:tavLst>
                                    </p:anim>
                                    <p:anim calcmode="lin" valueType="num">
                                      <p:cBhvr additive="base">
                                        <p:cTn id="20" dur="500" fill="hold"/>
                                        <p:tgtEl>
                                          <p:spTgt spid="90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autoUpdateAnimBg="0"/>
      <p:bldP spid="90116"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866706C-BB89-42DE-8E71-3005F3DF4ADA}"/>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最佳原理</a:t>
            </a:r>
          </a:p>
        </p:txBody>
      </p:sp>
      <p:sp>
        <p:nvSpPr>
          <p:cNvPr id="37891" name="Rectangle 3">
            <a:extLst>
              <a:ext uri="{FF2B5EF4-FFF2-40B4-BE49-F238E27FC236}">
                <a16:creationId xmlns:a16="http://schemas.microsoft.com/office/drawing/2014/main" id="{CA59220A-C8D9-42D5-B560-0CD0177F899A}"/>
              </a:ext>
            </a:extLst>
          </p:cNvPr>
          <p:cNvSpPr>
            <a:spLocks noGrp="1" noChangeArrowheads="1"/>
          </p:cNvSpPr>
          <p:nvPr>
            <p:ph type="body" idx="1"/>
          </p:nvPr>
        </p:nvSpPr>
        <p:spPr bwMode="auto">
          <a:xfrm>
            <a:off x="685800" y="1714500"/>
            <a:ext cx="7772400" cy="1028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120000"/>
              </a:lnSpc>
            </a:pPr>
            <a:r>
              <a:rPr lang="zh-CN" altLang="en-US" b="1" dirty="0">
                <a:latin typeface="华文中宋" panose="02010600040101010101" pitchFamily="2" charset="-122"/>
              </a:rPr>
              <a:t>一个最优化策略的子策略总是最优的。</a:t>
            </a:r>
            <a:r>
              <a:rPr lang="zh-CN" altLang="en-US" b="1" dirty="0"/>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5CEEB3E-C33D-45A8-A072-E47A175B2DE2}"/>
              </a:ext>
            </a:extLst>
          </p:cNvPr>
          <p:cNvSpPr>
            <a:spLocks noGrp="1" noChangeArrowheads="1"/>
          </p:cNvSpPr>
          <p:nvPr>
            <p:ph type="title"/>
          </p:nvPr>
        </p:nvSpPr>
        <p:spPr bwMode="auto">
          <a:xfrm>
            <a:off x="685800" y="3810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动态规划的求解步骤</a:t>
            </a:r>
          </a:p>
        </p:txBody>
      </p:sp>
      <p:sp>
        <p:nvSpPr>
          <p:cNvPr id="92163" name="Rectangle 3">
            <a:extLst>
              <a:ext uri="{FF2B5EF4-FFF2-40B4-BE49-F238E27FC236}">
                <a16:creationId xmlns:a16="http://schemas.microsoft.com/office/drawing/2014/main" id="{6AAAABCE-306E-40CE-849D-B69B720804B8}"/>
              </a:ext>
            </a:extLst>
          </p:cNvPr>
          <p:cNvSpPr>
            <a:spLocks noGrp="1" noChangeArrowheads="1"/>
          </p:cNvSpPr>
          <p:nvPr>
            <p:ph type="body" idx="1"/>
          </p:nvPr>
        </p:nvSpPr>
        <p:spPr bwMode="auto">
          <a:xfrm>
            <a:off x="539750" y="1341438"/>
            <a:ext cx="8280400" cy="266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lang="en-US" altLang="zh-CN" sz="2800" b="1" dirty="0"/>
              <a:t>1</a:t>
            </a:r>
            <a:r>
              <a:rPr lang="zh-CN" altLang="en-US" sz="2800" b="1" dirty="0"/>
              <a:t>、找出最优解的性质，并刻画其结构特征</a:t>
            </a:r>
          </a:p>
          <a:p>
            <a:pPr eaLnBrk="1" hangingPunct="1">
              <a:spcBef>
                <a:spcPct val="50000"/>
              </a:spcBef>
              <a:buFontTx/>
              <a:buNone/>
            </a:pPr>
            <a:r>
              <a:rPr lang="en-US" altLang="zh-CN" sz="2800" b="1" dirty="0"/>
              <a:t>2</a:t>
            </a:r>
            <a:r>
              <a:rPr lang="zh-CN" altLang="en-US" sz="2800" b="1" dirty="0"/>
              <a:t>、递归地定义最优值（写出动态规划方程）</a:t>
            </a:r>
          </a:p>
          <a:p>
            <a:pPr eaLnBrk="1" hangingPunct="1">
              <a:spcBef>
                <a:spcPct val="50000"/>
              </a:spcBef>
              <a:buFontTx/>
              <a:buNone/>
            </a:pPr>
            <a:r>
              <a:rPr lang="en-US" altLang="zh-CN" sz="2800" b="1" dirty="0"/>
              <a:t>3</a:t>
            </a:r>
            <a:r>
              <a:rPr lang="zh-CN" altLang="en-US" sz="2800" b="1" dirty="0"/>
              <a:t>、以自底向上（或自顶向下）的方式计算出最优值</a:t>
            </a:r>
          </a:p>
          <a:p>
            <a:pPr eaLnBrk="1" hangingPunct="1">
              <a:spcBef>
                <a:spcPct val="50000"/>
              </a:spcBef>
              <a:buFontTx/>
              <a:buNone/>
            </a:pPr>
            <a:r>
              <a:rPr lang="en-US" altLang="zh-CN" sz="2800" b="1" dirty="0"/>
              <a:t>4</a:t>
            </a:r>
            <a:r>
              <a:rPr lang="zh-CN" altLang="en-US" sz="2800" b="1" dirty="0"/>
              <a:t>、根据计算最优值时得到的信息，构造一个最优解</a:t>
            </a:r>
          </a:p>
        </p:txBody>
      </p:sp>
      <p:sp>
        <p:nvSpPr>
          <p:cNvPr id="92164" name="Text Box 4">
            <a:extLst>
              <a:ext uri="{FF2B5EF4-FFF2-40B4-BE49-F238E27FC236}">
                <a16:creationId xmlns:a16="http://schemas.microsoft.com/office/drawing/2014/main" id="{6F045053-DDDA-4806-B8DB-41D0E386AE29}"/>
              </a:ext>
            </a:extLst>
          </p:cNvPr>
          <p:cNvSpPr txBox="1">
            <a:spLocks noChangeArrowheads="1"/>
          </p:cNvSpPr>
          <p:nvPr/>
        </p:nvSpPr>
        <p:spPr bwMode="auto">
          <a:xfrm>
            <a:off x="609600" y="4005263"/>
            <a:ext cx="8305800"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50000"/>
              </a:spcBef>
            </a:pPr>
            <a:r>
              <a:rPr lang="zh-CN" altLang="en-US" dirty="0">
                <a:solidFill>
                  <a:srgbClr val="FF0000"/>
                </a:solidFill>
                <a:ea typeface="华文中宋" panose="02010600040101010101" pitchFamily="2" charset="-122"/>
              </a:rPr>
              <a:t>注意：</a:t>
            </a:r>
            <a:r>
              <a:rPr lang="en-US" altLang="zh-CN" dirty="0">
                <a:ea typeface="华文中宋" panose="02010600040101010101" pitchFamily="2" charset="-122"/>
              </a:rPr>
              <a:t>1</a:t>
            </a:r>
            <a:r>
              <a:rPr lang="zh-CN" altLang="en-US" dirty="0">
                <a:ea typeface="华文中宋" panose="02010600040101010101" pitchFamily="2" charset="-122"/>
              </a:rPr>
              <a:t>、步骤</a:t>
            </a:r>
            <a:r>
              <a:rPr lang="en-US" altLang="zh-CN" dirty="0">
                <a:ea typeface="华文中宋" panose="02010600040101010101" pitchFamily="2" charset="-122"/>
              </a:rPr>
              <a:t>1-3</a:t>
            </a:r>
            <a:r>
              <a:rPr lang="zh-CN" altLang="en-US" dirty="0">
                <a:ea typeface="华文中宋" panose="02010600040101010101" pitchFamily="2" charset="-122"/>
              </a:rPr>
              <a:t>：是动态规划算法的基本步骤。</a:t>
            </a:r>
          </a:p>
          <a:p>
            <a:pPr eaLnBrk="1" hangingPunct="1">
              <a:lnSpc>
                <a:spcPct val="110000"/>
              </a:lnSpc>
              <a:spcBef>
                <a:spcPct val="50000"/>
              </a:spcBef>
            </a:pPr>
            <a:r>
              <a:rPr lang="zh-CN" altLang="en-US" dirty="0">
                <a:ea typeface="华文中宋" panose="02010600040101010101" pitchFamily="2" charset="-122"/>
              </a:rPr>
              <a:t>            </a:t>
            </a:r>
            <a:r>
              <a:rPr lang="en-US" altLang="zh-CN" dirty="0">
                <a:ea typeface="华文中宋" panose="02010600040101010101" pitchFamily="2" charset="-122"/>
              </a:rPr>
              <a:t>2</a:t>
            </a:r>
            <a:r>
              <a:rPr lang="zh-CN" altLang="en-US" dirty="0">
                <a:ea typeface="华文中宋" panose="02010600040101010101" pitchFamily="2" charset="-122"/>
              </a:rPr>
              <a:t>、如只求最优值，步骤</a:t>
            </a:r>
            <a:r>
              <a:rPr lang="en-US" altLang="zh-CN" dirty="0">
                <a:ea typeface="华文中宋" panose="02010600040101010101" pitchFamily="2" charset="-122"/>
              </a:rPr>
              <a:t>4</a:t>
            </a:r>
            <a:r>
              <a:rPr lang="zh-CN" altLang="en-US" dirty="0">
                <a:ea typeface="华文中宋" panose="02010600040101010101" pitchFamily="2" charset="-122"/>
              </a:rPr>
              <a:t>可以省略；</a:t>
            </a:r>
          </a:p>
          <a:p>
            <a:pPr eaLnBrk="1" hangingPunct="1">
              <a:lnSpc>
                <a:spcPct val="110000"/>
              </a:lnSpc>
              <a:spcBef>
                <a:spcPct val="50000"/>
              </a:spcBef>
            </a:pPr>
            <a:r>
              <a:rPr lang="zh-CN" altLang="en-US" dirty="0">
                <a:ea typeface="华文中宋" panose="02010600040101010101" pitchFamily="2" charset="-122"/>
              </a:rPr>
              <a:t>            </a:t>
            </a:r>
            <a:r>
              <a:rPr lang="en-US" altLang="zh-CN" dirty="0">
                <a:ea typeface="华文中宋" panose="02010600040101010101" pitchFamily="2" charset="-122"/>
              </a:rPr>
              <a:t>3</a:t>
            </a:r>
            <a:r>
              <a:rPr lang="zh-CN" altLang="en-US" dirty="0">
                <a:ea typeface="华文中宋" panose="02010600040101010101" pitchFamily="2" charset="-122"/>
              </a:rPr>
              <a:t>、若需求出问题的一个最优解，则必须执行步骤</a:t>
            </a:r>
            <a:r>
              <a:rPr lang="en-US" altLang="zh-CN" dirty="0">
                <a:ea typeface="华文中宋" panose="02010600040101010101" pitchFamily="2" charset="-122"/>
              </a:rPr>
              <a:t>4</a:t>
            </a:r>
            <a:r>
              <a:rPr lang="zh-CN" altLang="en-US" dirty="0">
                <a:ea typeface="华文中宋" panose="02010600040101010101" pitchFamily="2" charset="-122"/>
              </a:rPr>
              <a:t>，步骤</a:t>
            </a:r>
            <a:r>
              <a:rPr lang="en-US" altLang="zh-CN" dirty="0">
                <a:ea typeface="华文中宋" panose="02010600040101010101" pitchFamily="2" charset="-122"/>
              </a:rPr>
              <a:t>3</a:t>
            </a:r>
            <a:r>
              <a:rPr lang="zh-CN" altLang="en-US" dirty="0">
                <a:ea typeface="华文中宋" panose="02010600040101010101" pitchFamily="2" charset="-122"/>
              </a:rPr>
              <a:t>中记录的信息必须足够多以便构造最优解。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 calcmode="lin" valueType="num">
                                      <p:cBhvr additive="base">
                                        <p:cTn id="7" dur="500" fill="hold"/>
                                        <p:tgtEl>
                                          <p:spTgt spid="921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21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63">
                                            <p:txEl>
                                              <p:pRg st="1" end="1"/>
                                            </p:txEl>
                                          </p:spTgt>
                                        </p:tgtEl>
                                        <p:attrNameLst>
                                          <p:attrName>style.visibility</p:attrName>
                                        </p:attrNameLst>
                                      </p:cBhvr>
                                      <p:to>
                                        <p:strVal val="visible"/>
                                      </p:to>
                                    </p:set>
                                    <p:anim calcmode="lin" valueType="num">
                                      <p:cBhvr additive="base">
                                        <p:cTn id="13" dur="500" fill="hold"/>
                                        <p:tgtEl>
                                          <p:spTgt spid="921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21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63">
                                            <p:txEl>
                                              <p:pRg st="2" end="2"/>
                                            </p:txEl>
                                          </p:spTgt>
                                        </p:tgtEl>
                                        <p:attrNameLst>
                                          <p:attrName>style.visibility</p:attrName>
                                        </p:attrNameLst>
                                      </p:cBhvr>
                                      <p:to>
                                        <p:strVal val="visible"/>
                                      </p:to>
                                    </p:set>
                                    <p:anim calcmode="lin" valueType="num">
                                      <p:cBhvr additive="base">
                                        <p:cTn id="19" dur="500" fill="hold"/>
                                        <p:tgtEl>
                                          <p:spTgt spid="921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21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163">
                                            <p:txEl>
                                              <p:pRg st="3" end="3"/>
                                            </p:txEl>
                                          </p:spTgt>
                                        </p:tgtEl>
                                        <p:attrNameLst>
                                          <p:attrName>style.visibility</p:attrName>
                                        </p:attrNameLst>
                                      </p:cBhvr>
                                      <p:to>
                                        <p:strVal val="visible"/>
                                      </p:to>
                                    </p:set>
                                    <p:anim calcmode="lin" valueType="num">
                                      <p:cBhvr additive="base">
                                        <p:cTn id="25" dur="500" fill="hold"/>
                                        <p:tgtEl>
                                          <p:spTgt spid="921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21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2164">
                                            <p:txEl>
                                              <p:pRg st="0" end="0"/>
                                            </p:txEl>
                                          </p:spTgt>
                                        </p:tgtEl>
                                        <p:attrNameLst>
                                          <p:attrName>style.visibility</p:attrName>
                                        </p:attrNameLst>
                                      </p:cBhvr>
                                      <p:to>
                                        <p:strVal val="visible"/>
                                      </p:to>
                                    </p:set>
                                    <p:anim calcmode="lin" valueType="num">
                                      <p:cBhvr additive="base">
                                        <p:cTn id="31" dur="500" fill="hold"/>
                                        <p:tgtEl>
                                          <p:spTgt spid="92164">
                                            <p:txEl>
                                              <p:pRg st="0" end="0"/>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21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2164">
                                            <p:txEl>
                                              <p:pRg st="1" end="1"/>
                                            </p:txEl>
                                          </p:spTgt>
                                        </p:tgtEl>
                                        <p:attrNameLst>
                                          <p:attrName>style.visibility</p:attrName>
                                        </p:attrNameLst>
                                      </p:cBhvr>
                                      <p:to>
                                        <p:strVal val="visible"/>
                                      </p:to>
                                    </p:set>
                                    <p:anim calcmode="lin" valueType="num">
                                      <p:cBhvr additive="base">
                                        <p:cTn id="37" dur="500" fill="hold"/>
                                        <p:tgtEl>
                                          <p:spTgt spid="92164">
                                            <p:txEl>
                                              <p:pRg st="1" end="1"/>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21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2164">
                                            <p:txEl>
                                              <p:pRg st="2" end="2"/>
                                            </p:txEl>
                                          </p:spTgt>
                                        </p:tgtEl>
                                        <p:attrNameLst>
                                          <p:attrName>style.visibility</p:attrName>
                                        </p:attrNameLst>
                                      </p:cBhvr>
                                      <p:to>
                                        <p:strVal val="visible"/>
                                      </p:to>
                                    </p:set>
                                    <p:anim calcmode="lin" valueType="num">
                                      <p:cBhvr additive="base">
                                        <p:cTn id="43" dur="500" fill="hold"/>
                                        <p:tgtEl>
                                          <p:spTgt spid="92164">
                                            <p:txEl>
                                              <p:pRg st="2" end="2"/>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216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P spid="92164"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D7C3488-DB6F-49FB-94F8-9C74C4E336A6}"/>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动态规划的求解方法</a:t>
            </a:r>
          </a:p>
        </p:txBody>
      </p:sp>
      <p:sp>
        <p:nvSpPr>
          <p:cNvPr id="39939" name="Rectangle 3">
            <a:extLst>
              <a:ext uri="{FF2B5EF4-FFF2-40B4-BE49-F238E27FC236}">
                <a16:creationId xmlns:a16="http://schemas.microsoft.com/office/drawing/2014/main" id="{FA339C1B-8BE9-476C-9AFB-D14AE2817C49}"/>
              </a:ext>
            </a:extLst>
          </p:cNvPr>
          <p:cNvSpPr>
            <a:spLocks noGrp="1" noChangeArrowheads="1"/>
          </p:cNvSpPr>
          <p:nvPr>
            <p:ph type="body" idx="1"/>
          </p:nvPr>
        </p:nvSpPr>
        <p:spPr bwMode="auto">
          <a:xfrm>
            <a:off x="685800" y="1524000"/>
            <a:ext cx="7772400" cy="2590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b="1" dirty="0">
                <a:solidFill>
                  <a:srgbClr val="A50021"/>
                </a:solidFill>
              </a:rPr>
              <a:t>按自底向上方式求解</a:t>
            </a:r>
          </a:p>
          <a:p>
            <a:pPr lvl="1" eaLnBrk="1" hangingPunct="1"/>
            <a:r>
              <a:rPr lang="zh-CN" altLang="en-US" b="1" dirty="0"/>
              <a:t>是动态规划方法的一种</a:t>
            </a:r>
          </a:p>
          <a:p>
            <a:pPr lvl="1" eaLnBrk="1" hangingPunct="1"/>
            <a:r>
              <a:rPr lang="zh-CN" altLang="en-US" b="1" dirty="0"/>
              <a:t>所有子问题计算一次，无需递归代价</a:t>
            </a:r>
          </a:p>
          <a:p>
            <a:pPr lvl="1" eaLnBrk="1" hangingPunct="1"/>
            <a:r>
              <a:rPr lang="zh-CN" altLang="en-US" b="1" dirty="0"/>
              <a:t>效率较高</a:t>
            </a:r>
          </a:p>
        </p:txBody>
      </p:sp>
      <p:sp>
        <p:nvSpPr>
          <p:cNvPr id="39940" name="Text Box 4">
            <a:extLst>
              <a:ext uri="{FF2B5EF4-FFF2-40B4-BE49-F238E27FC236}">
                <a16:creationId xmlns:a16="http://schemas.microsoft.com/office/drawing/2014/main" id="{D79BECA0-C616-4F3C-AE39-FED39C3E38EF}"/>
              </a:ext>
            </a:extLst>
          </p:cNvPr>
          <p:cNvSpPr txBox="1">
            <a:spLocks noChangeArrowheads="1"/>
          </p:cNvSpPr>
          <p:nvPr/>
        </p:nvSpPr>
        <p:spPr bwMode="auto">
          <a:xfrm>
            <a:off x="1258888" y="4437063"/>
            <a:ext cx="2881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程序（</a:t>
            </a:r>
            <a:r>
              <a:rPr lang="en-US" altLang="zh-CN" dirty="0">
                <a:ea typeface="华文中宋" panose="02010600040101010101" pitchFamily="2" charset="-122"/>
              </a:rPr>
              <a:t>next page</a:t>
            </a:r>
            <a:r>
              <a:rPr lang="zh-CN" altLang="en-US" dirty="0">
                <a:ea typeface="华文中宋" panose="02010600040101010101" pitchFamily="2"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7CAD844-9548-4455-8C4D-8F0669840DBA}"/>
              </a:ext>
            </a:extLst>
          </p:cNvPr>
          <p:cNvSpPr>
            <a:spLocks noGrp="1" noChangeArrowheads="1"/>
          </p:cNvSpPr>
          <p:nvPr>
            <p:ph type="body" idx="1"/>
          </p:nvPr>
        </p:nvSpPr>
        <p:spPr bwMode="auto">
          <a:xfrm>
            <a:off x="207798" y="908720"/>
            <a:ext cx="8936201" cy="6019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2000" b="1" dirty="0">
                <a:solidFill>
                  <a:srgbClr val="002060"/>
                </a:solidFill>
                <a:latin typeface="Input" panose="02000506020000090004" pitchFamily="2" charset="0"/>
              </a:rPr>
              <a:t>void </a:t>
            </a:r>
            <a:r>
              <a:rPr lang="en-US" altLang="zh-CN" sz="2000" b="1" dirty="0" err="1">
                <a:solidFill>
                  <a:srgbClr val="002060"/>
                </a:solidFill>
                <a:latin typeface="Input" panose="02000506020000090004" pitchFamily="2" charset="0"/>
              </a:rPr>
              <a:t>MatrixChain</a:t>
            </a:r>
            <a:r>
              <a:rPr lang="en-US" altLang="zh-CN" sz="2000" b="1" dirty="0">
                <a:solidFill>
                  <a:srgbClr val="002060"/>
                </a:solidFill>
                <a:latin typeface="Input" panose="02000506020000090004" pitchFamily="2" charset="0"/>
              </a:rPr>
              <a:t>(int p, int n, int  **m, int  **s){</a:t>
            </a:r>
          </a:p>
          <a:p>
            <a:pPr algn="just" eaLnBrk="1" hangingPunct="1">
              <a:lnSpc>
                <a:spcPct val="90000"/>
              </a:lnSpc>
              <a:buFontTx/>
              <a:buNone/>
            </a:pPr>
            <a:r>
              <a:rPr lang="en-US" altLang="zh-CN" sz="2000" b="1" dirty="0">
                <a:solidFill>
                  <a:srgbClr val="002060"/>
                </a:solidFill>
                <a:latin typeface="Input" panose="02000506020000090004" pitchFamily="2" charset="0"/>
              </a:rPr>
              <a:t>     for (int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&lt;= n;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0;</a:t>
            </a:r>
          </a:p>
          <a:p>
            <a:pPr algn="just" eaLnBrk="1" hangingPunct="1">
              <a:lnSpc>
                <a:spcPct val="90000"/>
              </a:lnSpc>
              <a:buFontTx/>
              <a:buNone/>
            </a:pPr>
            <a:r>
              <a:rPr lang="en-US" altLang="zh-CN" sz="2000" b="1" dirty="0">
                <a:solidFill>
                  <a:srgbClr val="002060"/>
                </a:solidFill>
                <a:latin typeface="Input" panose="02000506020000090004" pitchFamily="2" charset="0"/>
              </a:rPr>
              <a:t>     for (int r = 2; r &lt;= n; r++ )</a:t>
            </a:r>
          </a:p>
          <a:p>
            <a:pPr algn="just" eaLnBrk="1" hangingPunct="1">
              <a:lnSpc>
                <a:spcPct val="90000"/>
              </a:lnSpc>
              <a:buFontTx/>
              <a:buNone/>
            </a:pPr>
            <a:r>
              <a:rPr lang="en-US" altLang="zh-CN" sz="2000" b="1" dirty="0">
                <a:solidFill>
                  <a:srgbClr val="002060"/>
                </a:solidFill>
                <a:latin typeface="Input" panose="02000506020000090004" pitchFamily="2" charset="0"/>
              </a:rPr>
              <a:t>        for (int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&lt;= n - r+ l;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a:t>
            </a:r>
          </a:p>
          <a:p>
            <a:pPr algn="just" eaLnBrk="1" hangingPunct="1">
              <a:lnSpc>
                <a:spcPct val="90000"/>
              </a:lnSpc>
              <a:buFontTx/>
              <a:buNone/>
            </a:pPr>
            <a:r>
              <a:rPr lang="en-US" altLang="zh-CN" sz="2000" b="1" dirty="0">
                <a:solidFill>
                  <a:srgbClr val="002060"/>
                </a:solidFill>
                <a:latin typeface="Input" panose="02000506020000090004" pitchFamily="2" charset="0"/>
              </a:rPr>
              <a:t>            int j =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r - 1;</a:t>
            </a:r>
          </a:p>
          <a:p>
            <a:pPr algn="just" eaLnBrk="1" hangingPunct="1">
              <a:lnSpc>
                <a:spcPct val="90000"/>
              </a:lnSpc>
              <a:buFontTx/>
              <a:buNone/>
            </a:pPr>
            <a:r>
              <a:rPr lang="en-US" altLang="zh-CN" sz="2000" b="1" dirty="0">
                <a:solidFill>
                  <a:srgbClr val="002060"/>
                </a:solidFill>
                <a:latin typeface="Input" panose="02000506020000090004" pitchFamily="2" charset="0"/>
              </a:rPr>
              <a: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 = m[i+1][j] + 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P[j];</a:t>
            </a:r>
          </a:p>
          <a:p>
            <a:pPr algn="just" eaLnBrk="1" hangingPunct="1">
              <a:lnSpc>
                <a:spcPct val="90000"/>
              </a:lnSpc>
              <a:buFontTx/>
              <a:buNone/>
            </a:pPr>
            <a:r>
              <a:rPr lang="en-US" altLang="zh-CN" sz="2000" b="1" dirty="0">
                <a:solidFill>
                  <a:srgbClr val="002060"/>
                </a:solidFill>
                <a:latin typeface="Input" panose="02000506020000090004" pitchFamily="2" charset="0"/>
              </a:rPr>
              <a:t>           s[</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 = </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a:t>
            </a:r>
          </a:p>
          <a:p>
            <a:pPr algn="just" eaLnBrk="1" hangingPunct="1">
              <a:lnSpc>
                <a:spcPct val="90000"/>
              </a:lnSpc>
              <a:buFontTx/>
              <a:buNone/>
            </a:pPr>
            <a:r>
              <a:rPr lang="en-US" altLang="zh-CN" sz="2000" b="1" dirty="0">
                <a:solidFill>
                  <a:srgbClr val="002060"/>
                </a:solidFill>
                <a:latin typeface="Input" panose="02000506020000090004" pitchFamily="2" charset="0"/>
              </a:rPr>
              <a:t>           for (int  k = i+1; k &lt; j; k++){</a:t>
            </a:r>
          </a:p>
          <a:p>
            <a:pPr algn="just" eaLnBrk="1" hangingPunct="1">
              <a:lnSpc>
                <a:spcPct val="90000"/>
              </a:lnSpc>
              <a:buFontTx/>
              <a:buNone/>
            </a:pPr>
            <a:r>
              <a:rPr lang="en-US" altLang="zh-CN" sz="2000" b="1" dirty="0">
                <a:solidFill>
                  <a:srgbClr val="002060"/>
                </a:solidFill>
                <a:latin typeface="Input" panose="02000506020000090004" pitchFamily="2" charset="0"/>
              </a:rPr>
              <a:t>              int t =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][k ] + m[k + 1][j] </a:t>
            </a:r>
          </a:p>
          <a:p>
            <a:pPr algn="just" eaLnBrk="1" hangingPunct="1">
              <a:lnSpc>
                <a:spcPct val="90000"/>
              </a:lnSpc>
              <a:buFontTx/>
              <a:buNone/>
            </a:pPr>
            <a:r>
              <a:rPr lang="en-US" altLang="zh-CN" sz="2000" b="1" dirty="0">
                <a:solidFill>
                  <a:srgbClr val="002060"/>
                </a:solidFill>
                <a:latin typeface="Input" panose="02000506020000090004" pitchFamily="2" charset="0"/>
              </a:rPr>
              <a:t>                          +P[</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 – 1]* p[k] * p[j];</a:t>
            </a:r>
          </a:p>
          <a:p>
            <a:pPr algn="just" eaLnBrk="1" hangingPunct="1">
              <a:lnSpc>
                <a:spcPct val="90000"/>
              </a:lnSpc>
              <a:buFontTx/>
              <a:buNone/>
            </a:pPr>
            <a:r>
              <a:rPr lang="en-US" altLang="zh-CN" sz="2000" b="1" dirty="0">
                <a:solidFill>
                  <a:srgbClr val="002060"/>
                </a:solidFill>
                <a:latin typeface="Input" panose="02000506020000090004" pitchFamily="2" charset="0"/>
              </a:rPr>
              <a:t>              if (t &lt; m[</a:t>
            </a:r>
            <a:r>
              <a:rPr lang="en-US" altLang="zh-CN" sz="2000" b="1" dirty="0" err="1">
                <a:solidFill>
                  <a:srgbClr val="002060"/>
                </a:solidFill>
                <a:latin typeface="Input" panose="02000506020000090004" pitchFamily="2" charset="0"/>
              </a:rPr>
              <a:t>i</a:t>
            </a:r>
            <a:r>
              <a:rPr lang="en-US" altLang="zh-CN" sz="2000" b="1" dirty="0">
                <a:solidFill>
                  <a:srgbClr val="002060"/>
                </a:solidFill>
                <a:latin typeface="Input" panose="02000506020000090004" pitchFamily="2" charset="0"/>
              </a:rPr>
              <a:t>][j]){</a:t>
            </a:r>
          </a:p>
          <a:p>
            <a:pPr algn="just" eaLnBrk="1" hangingPunct="1">
              <a:lnSpc>
                <a:spcPct val="90000"/>
              </a:lnSpc>
              <a:buFontTx/>
              <a:buNone/>
            </a:pPr>
            <a:r>
              <a:rPr lang="en-US" altLang="zh-CN" sz="2000" b="1" dirty="0">
                <a:solidFill>
                  <a:srgbClr val="002060"/>
                </a:solidFill>
                <a:latin typeface="Input" panose="02000506020000090004" pitchFamily="2" charset="0"/>
              </a:rPr>
              <a:t>                  </a:t>
            </a:r>
            <a:r>
              <a:rPr lang="en-US" altLang="zh-CN" sz="2000" b="1" dirty="0">
                <a:solidFill>
                  <a:srgbClr val="A50021"/>
                </a:solidFill>
                <a:latin typeface="Input" panose="02000506020000090004" pitchFamily="2" charset="0"/>
              </a:rPr>
              <a:t>m[</a:t>
            </a:r>
            <a:r>
              <a:rPr lang="en-US" altLang="zh-CN" sz="2000" b="1" dirty="0" err="1">
                <a:solidFill>
                  <a:srgbClr val="A50021"/>
                </a:solidFill>
                <a:latin typeface="Input" panose="02000506020000090004" pitchFamily="2" charset="0"/>
              </a:rPr>
              <a:t>i</a:t>
            </a:r>
            <a:r>
              <a:rPr lang="en-US" altLang="zh-CN" sz="2000" b="1" dirty="0">
                <a:solidFill>
                  <a:srgbClr val="A50021"/>
                </a:solidFill>
                <a:latin typeface="Input" panose="02000506020000090004" pitchFamily="2" charset="0"/>
              </a:rPr>
              <a:t>][j] = t;   s[</a:t>
            </a:r>
            <a:r>
              <a:rPr lang="en-US" altLang="zh-CN" sz="2000" b="1" dirty="0" err="1">
                <a:solidFill>
                  <a:srgbClr val="A50021"/>
                </a:solidFill>
                <a:latin typeface="Input" panose="02000506020000090004" pitchFamily="2" charset="0"/>
              </a:rPr>
              <a:t>i</a:t>
            </a:r>
            <a:r>
              <a:rPr lang="en-US" altLang="zh-CN" sz="2000" b="1" dirty="0">
                <a:solidFill>
                  <a:srgbClr val="A50021"/>
                </a:solidFill>
                <a:latin typeface="Input" panose="02000506020000090004" pitchFamily="2" charset="0"/>
              </a:rPr>
              <a:t>][j] = k;</a:t>
            </a:r>
          </a:p>
          <a:p>
            <a:pPr algn="just" eaLnBrk="1" hangingPunct="1">
              <a:lnSpc>
                <a:spcPct val="90000"/>
              </a:lnSpc>
              <a:buFontTx/>
              <a:buNone/>
            </a:pPr>
            <a:r>
              <a:rPr lang="en-US" altLang="zh-CN" sz="2000" b="1" dirty="0">
                <a:solidFill>
                  <a:srgbClr val="002060"/>
                </a:solidFill>
                <a:latin typeface="Input" panose="02000506020000090004" pitchFamily="2" charset="0"/>
              </a:rPr>
              <a:t>           }</a:t>
            </a:r>
          </a:p>
          <a:p>
            <a:pPr algn="just" eaLnBrk="1" hangingPunct="1">
              <a:lnSpc>
                <a:spcPct val="90000"/>
              </a:lnSpc>
              <a:buFontTx/>
              <a:buNone/>
            </a:pPr>
            <a:r>
              <a:rPr lang="en-US" altLang="zh-CN" sz="2000" b="1" dirty="0">
                <a:solidFill>
                  <a:srgbClr val="002060"/>
                </a:solidFill>
                <a:latin typeface="Input" panose="02000506020000090004" pitchFamily="2" charset="0"/>
              </a:rPr>
              <a:t>         }</a:t>
            </a:r>
          </a:p>
          <a:p>
            <a:pPr eaLnBrk="1" hangingPunct="1">
              <a:lnSpc>
                <a:spcPct val="90000"/>
              </a:lnSpc>
              <a:buFontTx/>
              <a:buNone/>
            </a:pPr>
            <a:r>
              <a:rPr lang="en-US" altLang="zh-CN" sz="2000" b="1" dirty="0">
                <a:solidFill>
                  <a:srgbClr val="002060"/>
                </a:solidFill>
                <a:latin typeface="Input" panose="02000506020000090004" pitchFamily="2" charset="0"/>
              </a:rPr>
              <a:t>   } </a:t>
            </a:r>
          </a:p>
        </p:txBody>
      </p:sp>
      <p:sp>
        <p:nvSpPr>
          <p:cNvPr id="40963" name="AutoShape 3">
            <a:extLst>
              <a:ext uri="{FF2B5EF4-FFF2-40B4-BE49-F238E27FC236}">
                <a16:creationId xmlns:a16="http://schemas.microsoft.com/office/drawing/2014/main" id="{DB6CC13D-DB0B-4919-83CE-9F4754E156DF}"/>
              </a:ext>
            </a:extLst>
          </p:cNvPr>
          <p:cNvSpPr>
            <a:spLocks noChangeArrowheads="1"/>
          </p:cNvSpPr>
          <p:nvPr/>
        </p:nvSpPr>
        <p:spPr bwMode="auto">
          <a:xfrm>
            <a:off x="6660232" y="4941168"/>
            <a:ext cx="2209800" cy="762000"/>
          </a:xfrm>
          <a:prstGeom prst="wedgeRoundRectCallout">
            <a:avLst>
              <a:gd name="adj1" fmla="val -146051"/>
              <a:gd name="adj2" fmla="val -30625"/>
              <a:gd name="adj3" fmla="val 16667"/>
            </a:avLst>
          </a:prstGeom>
          <a:solidFill>
            <a:srgbClr val="FFFF00"/>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dirty="0">
                <a:ea typeface="华文中宋" panose="02010600040101010101" pitchFamily="2" charset="-122"/>
              </a:rPr>
              <a:t>备忘录方法</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1C877E72-F30C-95EB-C96E-1F94399A974E}"/>
                  </a:ext>
                </a:extLst>
              </p14:cNvPr>
              <p14:cNvContentPartPr/>
              <p14:nvPr/>
            </p14:nvContentPartPr>
            <p14:xfrm>
              <a:off x="2654280" y="3853800"/>
              <a:ext cx="4335120" cy="265680"/>
            </p14:xfrm>
          </p:contentPart>
        </mc:Choice>
        <mc:Fallback xmlns="">
          <p:pic>
            <p:nvPicPr>
              <p:cNvPr id="2" name="墨迹 1">
                <a:extLst>
                  <a:ext uri="{FF2B5EF4-FFF2-40B4-BE49-F238E27FC236}">
                    <a16:creationId xmlns:a16="http://schemas.microsoft.com/office/drawing/2014/main" id="{1C877E72-F30C-95EB-C96E-1F94399A974E}"/>
                  </a:ext>
                </a:extLst>
              </p:cNvPr>
              <p:cNvPicPr/>
              <p:nvPr/>
            </p:nvPicPr>
            <p:blipFill>
              <a:blip r:embed="rId3"/>
              <a:stretch>
                <a:fillRect/>
              </a:stretch>
            </p:blipFill>
            <p:spPr>
              <a:xfrm>
                <a:off x="2644920" y="3844440"/>
                <a:ext cx="4353840" cy="284400"/>
              </a:xfrm>
              <a:prstGeom prst="rect">
                <a:avLst/>
              </a:prstGeom>
            </p:spPr>
          </p:pic>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9AECA28-CA14-43CA-92A4-334D3FFDD213}"/>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动态规划算法的基本要素</a:t>
            </a:r>
          </a:p>
        </p:txBody>
      </p:sp>
      <p:sp>
        <p:nvSpPr>
          <p:cNvPr id="28675" name="Rectangle 3">
            <a:extLst>
              <a:ext uri="{FF2B5EF4-FFF2-40B4-BE49-F238E27FC236}">
                <a16:creationId xmlns:a16="http://schemas.microsoft.com/office/drawing/2014/main" id="{9766F664-E54F-43CD-8568-5616DCBFDD89}"/>
              </a:ext>
            </a:extLst>
          </p:cNvPr>
          <p:cNvSpPr>
            <a:spLocks noGrp="1" noChangeArrowheads="1"/>
          </p:cNvSpPr>
          <p:nvPr>
            <p:ph type="body" idx="1"/>
          </p:nvPr>
        </p:nvSpPr>
        <p:spPr bwMode="auto">
          <a:xfrm>
            <a:off x="685800" y="1447800"/>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t>动态规划算法的有效性依赖于问题本身所具有的两个重要性质：最优子结构性质和子问题重叠性质。</a:t>
            </a:r>
          </a:p>
        </p:txBody>
      </p:sp>
      <p:sp>
        <p:nvSpPr>
          <p:cNvPr id="28676" name="Text Box 4">
            <a:extLst>
              <a:ext uri="{FF2B5EF4-FFF2-40B4-BE49-F238E27FC236}">
                <a16:creationId xmlns:a16="http://schemas.microsoft.com/office/drawing/2014/main" id="{6AB0267D-382F-4920-86A2-7216BCD10004}"/>
              </a:ext>
            </a:extLst>
          </p:cNvPr>
          <p:cNvSpPr txBox="1">
            <a:spLocks noChangeArrowheads="1"/>
          </p:cNvSpPr>
          <p:nvPr/>
        </p:nvSpPr>
        <p:spPr bwMode="auto">
          <a:xfrm>
            <a:off x="452321" y="2882176"/>
            <a:ext cx="79898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23888" indent="-53657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dirty="0">
                <a:solidFill>
                  <a:schemeClr val="accent2"/>
                </a:solidFill>
                <a:ea typeface="华文中宋" panose="02010600040101010101" pitchFamily="2" charset="-122"/>
              </a:rPr>
              <a:t>1</a:t>
            </a:r>
            <a:r>
              <a:rPr lang="zh-CN" altLang="en-US" sz="2800" dirty="0">
                <a:solidFill>
                  <a:schemeClr val="accent2"/>
                </a:solidFill>
                <a:latin typeface="华文中宋" panose="02010600040101010101" pitchFamily="2" charset="-122"/>
                <a:ea typeface="华文中宋" panose="02010600040101010101" pitchFamily="2" charset="-122"/>
              </a:rPr>
              <a:t>．</a:t>
            </a:r>
            <a:r>
              <a:rPr lang="zh-CN" altLang="en-US" sz="2800" dirty="0">
                <a:solidFill>
                  <a:schemeClr val="accent2"/>
                </a:solidFill>
                <a:ea typeface="华文中宋" panose="02010600040101010101" pitchFamily="2" charset="-122"/>
              </a:rPr>
              <a:t>最优子结构：当问题的最优解包含了其子问题的最优解时，称该问题具有最优子结构性质。</a:t>
            </a:r>
          </a:p>
        </p:txBody>
      </p:sp>
      <p:sp>
        <p:nvSpPr>
          <p:cNvPr id="28678" name="Text Box 6">
            <a:extLst>
              <a:ext uri="{FF2B5EF4-FFF2-40B4-BE49-F238E27FC236}">
                <a16:creationId xmlns:a16="http://schemas.microsoft.com/office/drawing/2014/main" id="{5B77C657-CCCF-4A31-BA1A-43EA8D1F271C}"/>
              </a:ext>
            </a:extLst>
          </p:cNvPr>
          <p:cNvSpPr txBox="1">
            <a:spLocks noChangeArrowheads="1"/>
          </p:cNvSpPr>
          <p:nvPr/>
        </p:nvSpPr>
        <p:spPr bwMode="auto">
          <a:xfrm>
            <a:off x="684213" y="3933825"/>
            <a:ext cx="762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dirty="0">
                <a:ea typeface="华文中宋" panose="02010600040101010101" pitchFamily="2" charset="-122"/>
              </a:rPr>
              <a:t>如何说明问题具有最优子结构性质？</a:t>
            </a:r>
          </a:p>
        </p:txBody>
      </p:sp>
      <p:sp>
        <p:nvSpPr>
          <p:cNvPr id="28679" name="Rectangle 7">
            <a:extLst>
              <a:ext uri="{FF2B5EF4-FFF2-40B4-BE49-F238E27FC236}">
                <a16:creationId xmlns:a16="http://schemas.microsoft.com/office/drawing/2014/main" id="{DCAB9A75-187A-44C1-8BA3-89ED7E9C7875}"/>
              </a:ext>
            </a:extLst>
          </p:cNvPr>
          <p:cNvSpPr>
            <a:spLocks noChangeArrowheads="1"/>
          </p:cNvSpPr>
          <p:nvPr/>
        </p:nvSpPr>
        <p:spPr bwMode="auto">
          <a:xfrm>
            <a:off x="1042988" y="4500563"/>
            <a:ext cx="7677150" cy="18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ea typeface="华文中宋" panose="02010600040101010101" pitchFamily="2" charset="-122"/>
              </a:rPr>
              <a:t>用反证法：先假设由问题的最优解导出的子问题的解不是最优的，然后再设法证明在这个假设下可构造出一个比原问题最优解更好的解，从而导致矛盾。</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EE23979E-7842-F31B-2A00-EB0B6E29AEB4}"/>
                  </a:ext>
                </a:extLst>
              </p14:cNvPr>
              <p14:cNvContentPartPr/>
              <p14:nvPr/>
            </p14:nvContentPartPr>
            <p14:xfrm>
              <a:off x="4232520" y="2229480"/>
              <a:ext cx="2279880" cy="1069200"/>
            </p14:xfrm>
          </p:contentPart>
        </mc:Choice>
        <mc:Fallback xmlns="">
          <p:pic>
            <p:nvPicPr>
              <p:cNvPr id="2" name="墨迹 1">
                <a:extLst>
                  <a:ext uri="{FF2B5EF4-FFF2-40B4-BE49-F238E27FC236}">
                    <a16:creationId xmlns:a16="http://schemas.microsoft.com/office/drawing/2014/main" id="{EE23979E-7842-F31B-2A00-EB0B6E29AEB4}"/>
                  </a:ext>
                </a:extLst>
              </p:cNvPr>
              <p:cNvPicPr/>
              <p:nvPr/>
            </p:nvPicPr>
            <p:blipFill>
              <a:blip r:embed="rId3"/>
              <a:stretch>
                <a:fillRect/>
              </a:stretch>
            </p:blipFill>
            <p:spPr>
              <a:xfrm>
                <a:off x="4223160" y="2220120"/>
                <a:ext cx="2298600" cy="1087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6"/>
                                        </p:tgtEl>
                                        <p:attrNameLst>
                                          <p:attrName>style.visibility</p:attrName>
                                        </p:attrNameLst>
                                      </p:cBhvr>
                                      <p:to>
                                        <p:strVal val="visible"/>
                                      </p:to>
                                    </p:set>
                                    <p:anim calcmode="lin" valueType="num">
                                      <p:cBhvr additive="base">
                                        <p:cTn id="13" dur="500" fill="hold"/>
                                        <p:tgtEl>
                                          <p:spTgt spid="28676"/>
                                        </p:tgtEl>
                                        <p:attrNameLst>
                                          <p:attrName>ppt_x</p:attrName>
                                        </p:attrNameLst>
                                      </p:cBhvr>
                                      <p:tavLst>
                                        <p:tav tm="0">
                                          <p:val>
                                            <p:strVal val="0-#ppt_w/2"/>
                                          </p:val>
                                        </p:tav>
                                        <p:tav tm="100000">
                                          <p:val>
                                            <p:strVal val="#ppt_x"/>
                                          </p:val>
                                        </p:tav>
                                      </p:tavLst>
                                    </p:anim>
                                    <p:anim calcmode="lin" valueType="num">
                                      <p:cBhvr additive="base">
                                        <p:cTn id="14" dur="500" fill="hold"/>
                                        <p:tgtEl>
                                          <p:spTgt spid="2867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8"/>
                                        </p:tgtEl>
                                        <p:attrNameLst>
                                          <p:attrName>style.visibility</p:attrName>
                                        </p:attrNameLst>
                                      </p:cBhvr>
                                      <p:to>
                                        <p:strVal val="visible"/>
                                      </p:to>
                                    </p:set>
                                    <p:anim calcmode="lin" valueType="num">
                                      <p:cBhvr additive="base">
                                        <p:cTn id="19" dur="500" fill="hold"/>
                                        <p:tgtEl>
                                          <p:spTgt spid="28678"/>
                                        </p:tgtEl>
                                        <p:attrNameLst>
                                          <p:attrName>ppt_x</p:attrName>
                                        </p:attrNameLst>
                                      </p:cBhvr>
                                      <p:tavLst>
                                        <p:tav tm="0">
                                          <p:val>
                                            <p:strVal val="0-#ppt_w/2"/>
                                          </p:val>
                                        </p:tav>
                                        <p:tav tm="100000">
                                          <p:val>
                                            <p:strVal val="#ppt_x"/>
                                          </p:val>
                                        </p:tav>
                                      </p:tavLst>
                                    </p:anim>
                                    <p:anim calcmode="lin" valueType="num">
                                      <p:cBhvr additive="base">
                                        <p:cTn id="20" dur="500" fill="hold"/>
                                        <p:tgtEl>
                                          <p:spTgt spid="2867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679"/>
                                        </p:tgtEl>
                                        <p:attrNameLst>
                                          <p:attrName>style.visibility</p:attrName>
                                        </p:attrNameLst>
                                      </p:cBhvr>
                                      <p:to>
                                        <p:strVal val="visible"/>
                                      </p:to>
                                    </p:set>
                                    <p:anim calcmode="lin" valueType="num">
                                      <p:cBhvr additive="base">
                                        <p:cTn id="25" dur="500" fill="hold"/>
                                        <p:tgtEl>
                                          <p:spTgt spid="28679"/>
                                        </p:tgtEl>
                                        <p:attrNameLst>
                                          <p:attrName>ppt_x</p:attrName>
                                        </p:attrNameLst>
                                      </p:cBhvr>
                                      <p:tavLst>
                                        <p:tav tm="0">
                                          <p:val>
                                            <p:strVal val="0-#ppt_w/2"/>
                                          </p:val>
                                        </p:tav>
                                        <p:tav tm="100000">
                                          <p:val>
                                            <p:strVal val="#ppt_x"/>
                                          </p:val>
                                        </p:tav>
                                      </p:tavLst>
                                    </p:anim>
                                    <p:anim calcmode="lin" valueType="num">
                                      <p:cBhvr additive="base">
                                        <p:cTn id="26" dur="500" fill="hold"/>
                                        <p:tgtEl>
                                          <p:spTgt spid="286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P spid="28676" grpId="0" autoUpdateAnimBg="0"/>
      <p:bldP spid="28678" grpId="0" autoUpdateAnimBg="0"/>
      <p:bldP spid="2867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1EB2CFA-B338-4BC2-85E1-6A690C2C6CC2}"/>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动态规划算法的基本要素</a:t>
            </a:r>
          </a:p>
        </p:txBody>
      </p:sp>
      <p:sp>
        <p:nvSpPr>
          <p:cNvPr id="29700" name="Text Box 4">
            <a:extLst>
              <a:ext uri="{FF2B5EF4-FFF2-40B4-BE49-F238E27FC236}">
                <a16:creationId xmlns:a16="http://schemas.microsoft.com/office/drawing/2014/main" id="{A0835F70-2337-45E3-A595-9E0AE53AADD3}"/>
              </a:ext>
            </a:extLst>
          </p:cNvPr>
          <p:cNvSpPr txBox="1">
            <a:spLocks noGrp="1" noChangeArrowheads="1"/>
          </p:cNvSpPr>
          <p:nvPr>
            <p:ph type="body" idx="1"/>
          </p:nvPr>
        </p:nvSpPr>
        <p:spPr bwMode="auto">
          <a:xfrm>
            <a:off x="609600" y="1447800"/>
            <a:ext cx="8105775" cy="1816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marL="623888" indent="-536575" eaLnBrk="1" hangingPunct="1">
              <a:buFontTx/>
              <a:buNone/>
            </a:pPr>
            <a:r>
              <a:rPr lang="en-US" altLang="zh-CN" sz="2800" b="1" dirty="0">
                <a:solidFill>
                  <a:schemeClr val="accent2"/>
                </a:solidFill>
              </a:rPr>
              <a:t>2</a:t>
            </a:r>
            <a:r>
              <a:rPr lang="zh-CN" altLang="en-US" sz="2800" b="1" dirty="0">
                <a:solidFill>
                  <a:schemeClr val="accent2"/>
                </a:solidFill>
              </a:rPr>
              <a:t>．重叠子问题：在用递归算法自顶向下解问题时，每次产生的子问题并不总是新问题，有些子问题被反复计算多次。这种性质称为子问题的重叠性质。</a:t>
            </a:r>
          </a:p>
        </p:txBody>
      </p:sp>
      <p:graphicFrame>
        <p:nvGraphicFramePr>
          <p:cNvPr id="29702" name="Object 6">
            <a:extLst>
              <a:ext uri="{FF2B5EF4-FFF2-40B4-BE49-F238E27FC236}">
                <a16:creationId xmlns:a16="http://schemas.microsoft.com/office/drawing/2014/main" id="{E28D8938-62E0-469E-AAA4-435949BCC313}"/>
              </a:ext>
            </a:extLst>
          </p:cNvPr>
          <p:cNvGraphicFramePr>
            <a:graphicFrameLocks noChangeAspect="1"/>
          </p:cNvGraphicFramePr>
          <p:nvPr/>
        </p:nvGraphicFramePr>
        <p:xfrm>
          <a:off x="762000" y="3581400"/>
          <a:ext cx="7339013" cy="2667000"/>
        </p:xfrm>
        <a:graphic>
          <a:graphicData uri="http://schemas.openxmlformats.org/presentationml/2006/ole">
            <mc:AlternateContent xmlns:mc="http://schemas.openxmlformats.org/markup-compatibility/2006">
              <mc:Choice xmlns:v="urn:schemas-microsoft-com:vml" Requires="v">
                <p:oleObj name="位图图像" r:id="rId2" imgW="3428571" imgH="1457143" progId="Paint.Picture">
                  <p:embed/>
                </p:oleObj>
              </mc:Choice>
              <mc:Fallback>
                <p:oleObj name="位图图像" r:id="rId2" imgW="3428571" imgH="1457143" progId="Paint.Picture">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3581400"/>
                        <a:ext cx="733901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
        <p:nvSpPr>
          <p:cNvPr id="29703" name="AutoShape 7">
            <a:extLst>
              <a:ext uri="{FF2B5EF4-FFF2-40B4-BE49-F238E27FC236}">
                <a16:creationId xmlns:a16="http://schemas.microsoft.com/office/drawing/2014/main" id="{4427ED75-8CEA-43BF-834D-98AC6A778940}"/>
              </a:ext>
            </a:extLst>
          </p:cNvPr>
          <p:cNvSpPr>
            <a:spLocks noChangeArrowheads="1"/>
          </p:cNvSpPr>
          <p:nvPr/>
        </p:nvSpPr>
        <p:spPr bwMode="auto">
          <a:xfrm>
            <a:off x="5486400" y="3276600"/>
            <a:ext cx="2895600" cy="533400"/>
          </a:xfrm>
          <a:prstGeom prst="wedgeRoundRectCallout">
            <a:avLst>
              <a:gd name="adj1" fmla="val -59759"/>
              <a:gd name="adj2" fmla="val 103273"/>
              <a:gd name="adj3" fmla="val 16667"/>
            </a:avLst>
          </a:prstGeom>
          <a:solidFill>
            <a:schemeClr val="accent1"/>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0" dirty="0">
                <a:ea typeface="华文中宋" panose="02010600040101010101" pitchFamily="2" charset="-122"/>
              </a:rPr>
              <a:t>矩阵计算次序</a:t>
            </a:r>
          </a:p>
        </p:txBody>
      </p:sp>
      <p:sp>
        <p:nvSpPr>
          <p:cNvPr id="29704" name="Line 8">
            <a:extLst>
              <a:ext uri="{FF2B5EF4-FFF2-40B4-BE49-F238E27FC236}">
                <a16:creationId xmlns:a16="http://schemas.microsoft.com/office/drawing/2014/main" id="{F3F423EA-B423-4E19-BCAC-32F338380E73}"/>
              </a:ext>
            </a:extLst>
          </p:cNvPr>
          <p:cNvSpPr>
            <a:spLocks noChangeShapeType="1"/>
          </p:cNvSpPr>
          <p:nvPr/>
        </p:nvSpPr>
        <p:spPr bwMode="auto">
          <a:xfrm flipH="1">
            <a:off x="1219200" y="4038600"/>
            <a:ext cx="3276600" cy="457200"/>
          </a:xfrm>
          <a:prstGeom prst="line">
            <a:avLst/>
          </a:prstGeom>
          <a:noFill/>
          <a:ln w="3492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9705" name="Line 9">
            <a:extLst>
              <a:ext uri="{FF2B5EF4-FFF2-40B4-BE49-F238E27FC236}">
                <a16:creationId xmlns:a16="http://schemas.microsoft.com/office/drawing/2014/main" id="{60BE8DD5-711D-4865-8CD7-15BB96739256}"/>
              </a:ext>
            </a:extLst>
          </p:cNvPr>
          <p:cNvSpPr>
            <a:spLocks noChangeShapeType="1"/>
          </p:cNvSpPr>
          <p:nvPr/>
        </p:nvSpPr>
        <p:spPr bwMode="auto">
          <a:xfrm flipH="1">
            <a:off x="2514600" y="4038600"/>
            <a:ext cx="1981200" cy="457200"/>
          </a:xfrm>
          <a:prstGeom prst="line">
            <a:avLst/>
          </a:prstGeom>
          <a:noFill/>
          <a:ln w="34925">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9706" name="Line 10">
            <a:extLst>
              <a:ext uri="{FF2B5EF4-FFF2-40B4-BE49-F238E27FC236}">
                <a16:creationId xmlns:a16="http://schemas.microsoft.com/office/drawing/2014/main" id="{8A896C4F-7C33-4080-A65C-87308B376E86}"/>
              </a:ext>
            </a:extLst>
          </p:cNvPr>
          <p:cNvSpPr>
            <a:spLocks noChangeShapeType="1"/>
          </p:cNvSpPr>
          <p:nvPr/>
        </p:nvSpPr>
        <p:spPr bwMode="auto">
          <a:xfrm flipH="1">
            <a:off x="4038600" y="4038600"/>
            <a:ext cx="533400" cy="457200"/>
          </a:xfrm>
          <a:prstGeom prst="line">
            <a:avLst/>
          </a:prstGeom>
          <a:noFill/>
          <a:ln w="34925">
            <a:solidFill>
              <a:srgbClr val="3333CC"/>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9707" name="Line 11">
            <a:extLst>
              <a:ext uri="{FF2B5EF4-FFF2-40B4-BE49-F238E27FC236}">
                <a16:creationId xmlns:a16="http://schemas.microsoft.com/office/drawing/2014/main" id="{7B0B2991-A254-4836-A154-B70ACEF10824}"/>
              </a:ext>
            </a:extLst>
          </p:cNvPr>
          <p:cNvSpPr>
            <a:spLocks noChangeShapeType="1"/>
          </p:cNvSpPr>
          <p:nvPr/>
        </p:nvSpPr>
        <p:spPr bwMode="auto">
          <a:xfrm>
            <a:off x="4648200" y="4038600"/>
            <a:ext cx="533400" cy="457200"/>
          </a:xfrm>
          <a:prstGeom prst="line">
            <a:avLst/>
          </a:prstGeom>
          <a:noFill/>
          <a:ln w="34925">
            <a:solidFill>
              <a:srgbClr val="3333CC"/>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9708" name="Line 12">
            <a:extLst>
              <a:ext uri="{FF2B5EF4-FFF2-40B4-BE49-F238E27FC236}">
                <a16:creationId xmlns:a16="http://schemas.microsoft.com/office/drawing/2014/main" id="{4495CF62-C58E-4FD9-86F7-CC13B70C3A42}"/>
              </a:ext>
            </a:extLst>
          </p:cNvPr>
          <p:cNvSpPr>
            <a:spLocks noChangeShapeType="1"/>
          </p:cNvSpPr>
          <p:nvPr/>
        </p:nvSpPr>
        <p:spPr bwMode="auto">
          <a:xfrm>
            <a:off x="4648200" y="4038600"/>
            <a:ext cx="1828800" cy="457200"/>
          </a:xfrm>
          <a:prstGeom prst="line">
            <a:avLst/>
          </a:prstGeom>
          <a:noFill/>
          <a:ln w="349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9709" name="Line 13">
            <a:extLst>
              <a:ext uri="{FF2B5EF4-FFF2-40B4-BE49-F238E27FC236}">
                <a16:creationId xmlns:a16="http://schemas.microsoft.com/office/drawing/2014/main" id="{F4F112BC-58B8-4671-88E2-32B8F764857A}"/>
              </a:ext>
            </a:extLst>
          </p:cNvPr>
          <p:cNvSpPr>
            <a:spLocks noChangeShapeType="1"/>
          </p:cNvSpPr>
          <p:nvPr/>
        </p:nvSpPr>
        <p:spPr bwMode="auto">
          <a:xfrm>
            <a:off x="4648200" y="3962400"/>
            <a:ext cx="3200400" cy="533400"/>
          </a:xfrm>
          <a:prstGeom prst="line">
            <a:avLst/>
          </a:prstGeom>
          <a:noFill/>
          <a:ln w="349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 calcmode="lin" valueType="num">
                                      <p:cBhvr additive="base">
                                        <p:cTn id="7" dur="500" fill="hold"/>
                                        <p:tgtEl>
                                          <p:spTgt spid="29700"/>
                                        </p:tgtEl>
                                        <p:attrNameLst>
                                          <p:attrName>ppt_x</p:attrName>
                                        </p:attrNameLst>
                                      </p:cBhvr>
                                      <p:tavLst>
                                        <p:tav tm="0">
                                          <p:val>
                                            <p:strVal val="0-#ppt_w/2"/>
                                          </p:val>
                                        </p:tav>
                                        <p:tav tm="100000">
                                          <p:val>
                                            <p:strVal val="#ppt_x"/>
                                          </p:val>
                                        </p:tav>
                                      </p:tavLst>
                                    </p:anim>
                                    <p:anim calcmode="lin" valueType="num">
                                      <p:cBhvr additive="base">
                                        <p:cTn id="8" dur="500" fill="hold"/>
                                        <p:tgtEl>
                                          <p:spTgt spid="297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702"/>
                                        </p:tgtEl>
                                        <p:attrNameLst>
                                          <p:attrName>style.visibility</p:attrName>
                                        </p:attrNameLst>
                                      </p:cBhvr>
                                      <p:to>
                                        <p:strVal val="visible"/>
                                      </p:to>
                                    </p:set>
                                    <p:anim calcmode="lin" valueType="num">
                                      <p:cBhvr additive="base">
                                        <p:cTn id="13" dur="500" fill="hold"/>
                                        <p:tgtEl>
                                          <p:spTgt spid="29702"/>
                                        </p:tgtEl>
                                        <p:attrNameLst>
                                          <p:attrName>ppt_x</p:attrName>
                                        </p:attrNameLst>
                                      </p:cBhvr>
                                      <p:tavLst>
                                        <p:tav tm="0">
                                          <p:val>
                                            <p:strVal val="0-#ppt_w/2"/>
                                          </p:val>
                                        </p:tav>
                                        <p:tav tm="100000">
                                          <p:val>
                                            <p:strVal val="#ppt_x"/>
                                          </p:val>
                                        </p:tav>
                                      </p:tavLst>
                                    </p:anim>
                                    <p:anim calcmode="lin" valueType="num">
                                      <p:cBhvr additive="base">
                                        <p:cTn id="14" dur="500" fill="hold"/>
                                        <p:tgtEl>
                                          <p:spTgt spid="2970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703"/>
                                        </p:tgtEl>
                                        <p:attrNameLst>
                                          <p:attrName>style.visibility</p:attrName>
                                        </p:attrNameLst>
                                      </p:cBhvr>
                                      <p:to>
                                        <p:strVal val="visible"/>
                                      </p:to>
                                    </p:set>
                                    <p:anim calcmode="lin" valueType="num">
                                      <p:cBhvr additive="base">
                                        <p:cTn id="19" dur="500" fill="hold"/>
                                        <p:tgtEl>
                                          <p:spTgt spid="29703"/>
                                        </p:tgtEl>
                                        <p:attrNameLst>
                                          <p:attrName>ppt_x</p:attrName>
                                        </p:attrNameLst>
                                      </p:cBhvr>
                                      <p:tavLst>
                                        <p:tav tm="0">
                                          <p:val>
                                            <p:strVal val="0-#ppt_w/2"/>
                                          </p:val>
                                        </p:tav>
                                        <p:tav tm="100000">
                                          <p:val>
                                            <p:strVal val="#ppt_x"/>
                                          </p:val>
                                        </p:tav>
                                      </p:tavLst>
                                    </p:anim>
                                    <p:anim calcmode="lin" valueType="num">
                                      <p:cBhvr additive="base">
                                        <p:cTn id="20" dur="500" fill="hold"/>
                                        <p:tgtEl>
                                          <p:spTgt spid="2970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704"/>
                                        </p:tgtEl>
                                        <p:attrNameLst>
                                          <p:attrName>style.visibility</p:attrName>
                                        </p:attrNameLst>
                                      </p:cBhvr>
                                      <p:to>
                                        <p:strVal val="visible"/>
                                      </p:to>
                                    </p:set>
                                    <p:anim calcmode="lin" valueType="num">
                                      <p:cBhvr additive="base">
                                        <p:cTn id="25" dur="500" fill="hold"/>
                                        <p:tgtEl>
                                          <p:spTgt spid="29704"/>
                                        </p:tgtEl>
                                        <p:attrNameLst>
                                          <p:attrName>ppt_x</p:attrName>
                                        </p:attrNameLst>
                                      </p:cBhvr>
                                      <p:tavLst>
                                        <p:tav tm="0">
                                          <p:val>
                                            <p:strVal val="0-#ppt_w/2"/>
                                          </p:val>
                                        </p:tav>
                                        <p:tav tm="100000">
                                          <p:val>
                                            <p:strVal val="#ppt_x"/>
                                          </p:val>
                                        </p:tav>
                                      </p:tavLst>
                                    </p:anim>
                                    <p:anim calcmode="lin" valueType="num">
                                      <p:cBhvr additive="base">
                                        <p:cTn id="26" dur="500" fill="hold"/>
                                        <p:tgtEl>
                                          <p:spTgt spid="2970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0"/>
                                  </p:stCondLst>
                                  <p:childTnLst>
                                    <p:set>
                                      <p:cBhvr>
                                        <p:cTn id="29" dur="1" fill="hold">
                                          <p:stCondLst>
                                            <p:cond delay="0"/>
                                          </p:stCondLst>
                                        </p:cTn>
                                        <p:tgtEl>
                                          <p:spTgt spid="29705"/>
                                        </p:tgtEl>
                                        <p:attrNameLst>
                                          <p:attrName>style.visibility</p:attrName>
                                        </p:attrNameLst>
                                      </p:cBhvr>
                                      <p:to>
                                        <p:strVal val="visible"/>
                                      </p:to>
                                    </p:set>
                                    <p:anim calcmode="lin" valueType="num">
                                      <p:cBhvr additive="base">
                                        <p:cTn id="30" dur="500" fill="hold"/>
                                        <p:tgtEl>
                                          <p:spTgt spid="29705"/>
                                        </p:tgtEl>
                                        <p:attrNameLst>
                                          <p:attrName>ppt_x</p:attrName>
                                        </p:attrNameLst>
                                      </p:cBhvr>
                                      <p:tavLst>
                                        <p:tav tm="0">
                                          <p:val>
                                            <p:strVal val="0-#ppt_w/2"/>
                                          </p:val>
                                        </p:tav>
                                        <p:tav tm="100000">
                                          <p:val>
                                            <p:strVal val="#ppt_x"/>
                                          </p:val>
                                        </p:tav>
                                      </p:tavLst>
                                    </p:anim>
                                    <p:anim calcmode="lin" valueType="num">
                                      <p:cBhvr additive="base">
                                        <p:cTn id="31" dur="500" fill="hold"/>
                                        <p:tgtEl>
                                          <p:spTgt spid="29705"/>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9706"/>
                                        </p:tgtEl>
                                        <p:attrNameLst>
                                          <p:attrName>style.visibility</p:attrName>
                                        </p:attrNameLst>
                                      </p:cBhvr>
                                      <p:to>
                                        <p:strVal val="visible"/>
                                      </p:to>
                                    </p:set>
                                    <p:anim calcmode="lin" valueType="num">
                                      <p:cBhvr additive="base">
                                        <p:cTn id="36" dur="500" fill="hold"/>
                                        <p:tgtEl>
                                          <p:spTgt spid="29706"/>
                                        </p:tgtEl>
                                        <p:attrNameLst>
                                          <p:attrName>ppt_x</p:attrName>
                                        </p:attrNameLst>
                                      </p:cBhvr>
                                      <p:tavLst>
                                        <p:tav tm="0">
                                          <p:val>
                                            <p:strVal val="0-#ppt_w/2"/>
                                          </p:val>
                                        </p:tav>
                                        <p:tav tm="100000">
                                          <p:val>
                                            <p:strVal val="#ppt_x"/>
                                          </p:val>
                                        </p:tav>
                                      </p:tavLst>
                                    </p:anim>
                                    <p:anim calcmode="lin" valueType="num">
                                      <p:cBhvr additive="base">
                                        <p:cTn id="37" dur="500" fill="hold"/>
                                        <p:tgtEl>
                                          <p:spTgt spid="29706"/>
                                        </p:tgtEl>
                                        <p:attrNameLst>
                                          <p:attrName>ppt_y</p:attrName>
                                        </p:attrNameLst>
                                      </p:cBhvr>
                                      <p:tavLst>
                                        <p:tav tm="0">
                                          <p:val>
                                            <p:strVal val="#ppt_y"/>
                                          </p:val>
                                        </p:tav>
                                        <p:tav tm="100000">
                                          <p:val>
                                            <p:strVal val="#ppt_y"/>
                                          </p:val>
                                        </p:tav>
                                      </p:tavLst>
                                    </p:anim>
                                  </p:childTnLst>
                                </p:cTn>
                              </p:par>
                            </p:childTnLst>
                          </p:cTn>
                        </p:par>
                        <p:par>
                          <p:cTn id="38" fill="hold" nodeType="afterGroup">
                            <p:stCondLst>
                              <p:cond delay="500"/>
                            </p:stCondLst>
                            <p:childTnLst>
                              <p:par>
                                <p:cTn id="39" presetID="2" presetClass="entr" presetSubtype="8" fill="hold" nodeType="afterEffect">
                                  <p:stCondLst>
                                    <p:cond delay="0"/>
                                  </p:stCondLst>
                                  <p:childTnLst>
                                    <p:set>
                                      <p:cBhvr>
                                        <p:cTn id="40" dur="1" fill="hold">
                                          <p:stCondLst>
                                            <p:cond delay="0"/>
                                          </p:stCondLst>
                                        </p:cTn>
                                        <p:tgtEl>
                                          <p:spTgt spid="29707"/>
                                        </p:tgtEl>
                                        <p:attrNameLst>
                                          <p:attrName>style.visibility</p:attrName>
                                        </p:attrNameLst>
                                      </p:cBhvr>
                                      <p:to>
                                        <p:strVal val="visible"/>
                                      </p:to>
                                    </p:set>
                                    <p:anim calcmode="lin" valueType="num">
                                      <p:cBhvr additive="base">
                                        <p:cTn id="41" dur="500" fill="hold"/>
                                        <p:tgtEl>
                                          <p:spTgt spid="29707"/>
                                        </p:tgtEl>
                                        <p:attrNameLst>
                                          <p:attrName>ppt_x</p:attrName>
                                        </p:attrNameLst>
                                      </p:cBhvr>
                                      <p:tavLst>
                                        <p:tav tm="0">
                                          <p:val>
                                            <p:strVal val="0-#ppt_w/2"/>
                                          </p:val>
                                        </p:tav>
                                        <p:tav tm="100000">
                                          <p:val>
                                            <p:strVal val="#ppt_x"/>
                                          </p:val>
                                        </p:tav>
                                      </p:tavLst>
                                    </p:anim>
                                    <p:anim calcmode="lin" valueType="num">
                                      <p:cBhvr additive="base">
                                        <p:cTn id="42" dur="500" fill="hold"/>
                                        <p:tgtEl>
                                          <p:spTgt spid="29707"/>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nodeType="clickEffect">
                                  <p:stCondLst>
                                    <p:cond delay="0"/>
                                  </p:stCondLst>
                                  <p:childTnLst>
                                    <p:set>
                                      <p:cBhvr>
                                        <p:cTn id="46" dur="1" fill="hold">
                                          <p:stCondLst>
                                            <p:cond delay="0"/>
                                          </p:stCondLst>
                                        </p:cTn>
                                        <p:tgtEl>
                                          <p:spTgt spid="29708"/>
                                        </p:tgtEl>
                                        <p:attrNameLst>
                                          <p:attrName>style.visibility</p:attrName>
                                        </p:attrNameLst>
                                      </p:cBhvr>
                                      <p:to>
                                        <p:strVal val="visible"/>
                                      </p:to>
                                    </p:set>
                                    <p:anim calcmode="lin" valueType="num">
                                      <p:cBhvr additive="base">
                                        <p:cTn id="47" dur="500" fill="hold"/>
                                        <p:tgtEl>
                                          <p:spTgt spid="29708"/>
                                        </p:tgtEl>
                                        <p:attrNameLst>
                                          <p:attrName>ppt_x</p:attrName>
                                        </p:attrNameLst>
                                      </p:cBhvr>
                                      <p:tavLst>
                                        <p:tav tm="0">
                                          <p:val>
                                            <p:strVal val="0-#ppt_w/2"/>
                                          </p:val>
                                        </p:tav>
                                        <p:tav tm="100000">
                                          <p:val>
                                            <p:strVal val="#ppt_x"/>
                                          </p:val>
                                        </p:tav>
                                      </p:tavLst>
                                    </p:anim>
                                    <p:anim calcmode="lin" valueType="num">
                                      <p:cBhvr additive="base">
                                        <p:cTn id="48" dur="500" fill="hold"/>
                                        <p:tgtEl>
                                          <p:spTgt spid="29708"/>
                                        </p:tgtEl>
                                        <p:attrNameLst>
                                          <p:attrName>ppt_y</p:attrName>
                                        </p:attrNameLst>
                                      </p:cBhvr>
                                      <p:tavLst>
                                        <p:tav tm="0">
                                          <p:val>
                                            <p:strVal val="#ppt_y"/>
                                          </p:val>
                                        </p:tav>
                                        <p:tav tm="100000">
                                          <p:val>
                                            <p:strVal val="#ppt_y"/>
                                          </p:val>
                                        </p:tav>
                                      </p:tavLst>
                                    </p:anim>
                                  </p:childTnLst>
                                </p:cTn>
                              </p:par>
                            </p:childTnLst>
                          </p:cTn>
                        </p:par>
                        <p:par>
                          <p:cTn id="49" fill="hold" nodeType="afterGroup">
                            <p:stCondLst>
                              <p:cond delay="500"/>
                            </p:stCondLst>
                            <p:childTnLst>
                              <p:par>
                                <p:cTn id="50" presetID="2" presetClass="entr" presetSubtype="8" fill="hold" nodeType="afterEffect">
                                  <p:stCondLst>
                                    <p:cond delay="0"/>
                                  </p:stCondLst>
                                  <p:childTnLst>
                                    <p:set>
                                      <p:cBhvr>
                                        <p:cTn id="51" dur="1" fill="hold">
                                          <p:stCondLst>
                                            <p:cond delay="0"/>
                                          </p:stCondLst>
                                        </p:cTn>
                                        <p:tgtEl>
                                          <p:spTgt spid="29709"/>
                                        </p:tgtEl>
                                        <p:attrNameLst>
                                          <p:attrName>style.visibility</p:attrName>
                                        </p:attrNameLst>
                                      </p:cBhvr>
                                      <p:to>
                                        <p:strVal val="visible"/>
                                      </p:to>
                                    </p:set>
                                    <p:anim calcmode="lin" valueType="num">
                                      <p:cBhvr additive="base">
                                        <p:cTn id="52" dur="500" fill="hold"/>
                                        <p:tgtEl>
                                          <p:spTgt spid="29709"/>
                                        </p:tgtEl>
                                        <p:attrNameLst>
                                          <p:attrName>ppt_x</p:attrName>
                                        </p:attrNameLst>
                                      </p:cBhvr>
                                      <p:tavLst>
                                        <p:tav tm="0">
                                          <p:val>
                                            <p:strVal val="0-#ppt_w/2"/>
                                          </p:val>
                                        </p:tav>
                                        <p:tav tm="100000">
                                          <p:val>
                                            <p:strVal val="#ppt_x"/>
                                          </p:val>
                                        </p:tav>
                                      </p:tavLst>
                                    </p:anim>
                                    <p:anim calcmode="lin" valueType="num">
                                      <p:cBhvr additive="base">
                                        <p:cTn id="53" dur="500" fill="hold"/>
                                        <p:tgtEl>
                                          <p:spTgt spid="297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utoUpdateAnimBg="0"/>
      <p:bldP spid="29703"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39BDC14-DB3B-4C75-A822-49E03838A1A8}"/>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20000"/>
              </a:spcBef>
            </a:pPr>
            <a:r>
              <a:rPr lang="zh-CN" altLang="en-US" sz="4000" b="1" dirty="0">
                <a:solidFill>
                  <a:srgbClr val="A50021"/>
                </a:solidFill>
              </a:rPr>
              <a:t>重叠子结构性质</a:t>
            </a:r>
          </a:p>
        </p:txBody>
      </p:sp>
      <p:sp>
        <p:nvSpPr>
          <p:cNvPr id="39940" name="Text Box 4">
            <a:extLst>
              <a:ext uri="{FF2B5EF4-FFF2-40B4-BE49-F238E27FC236}">
                <a16:creationId xmlns:a16="http://schemas.microsoft.com/office/drawing/2014/main" id="{B932278C-056F-4237-BCD7-F9634FD58123}"/>
              </a:ext>
            </a:extLst>
          </p:cNvPr>
          <p:cNvSpPr txBox="1">
            <a:spLocks noGrp="1" noChangeArrowheads="1"/>
          </p:cNvSpPr>
          <p:nvPr>
            <p:ph type="body" idx="1"/>
          </p:nvPr>
        </p:nvSpPr>
        <p:spPr bwMode="auto">
          <a:xfrm>
            <a:off x="685800" y="1700213"/>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spcBef>
                <a:spcPct val="50000"/>
              </a:spcBef>
              <a:buFontTx/>
              <a:buNone/>
            </a:pPr>
            <a:r>
              <a:rPr lang="zh-CN" altLang="en-US" sz="2800" b="1" dirty="0"/>
              <a:t>动态规划算法利用子问题的重叠性质，对每一个子问题只解一次，并将解保存在一个表格中，在以后尽可能多地利用这些子问题的解。</a:t>
            </a:r>
          </a:p>
        </p:txBody>
      </p:sp>
      <p:sp>
        <p:nvSpPr>
          <p:cNvPr id="39941" name="Text Box 5">
            <a:extLst>
              <a:ext uri="{FF2B5EF4-FFF2-40B4-BE49-F238E27FC236}">
                <a16:creationId xmlns:a16="http://schemas.microsoft.com/office/drawing/2014/main" id="{3C7F9A25-E156-45C2-8824-106088892E3B}"/>
              </a:ext>
            </a:extLst>
          </p:cNvPr>
          <p:cNvSpPr txBox="1">
            <a:spLocks noChangeArrowheads="1"/>
          </p:cNvSpPr>
          <p:nvPr/>
        </p:nvSpPr>
        <p:spPr bwMode="auto">
          <a:xfrm>
            <a:off x="685800" y="3429000"/>
            <a:ext cx="7924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Arial" panose="020B0604020202020204" pitchFamily="34" charset="0"/>
              <a:buNone/>
            </a:pPr>
            <a:r>
              <a:rPr lang="zh-CN" altLang="en-US" sz="2800" dirty="0">
                <a:latin typeface="华文中宋" panose="02010600040101010101" pitchFamily="2" charset="-122"/>
                <a:ea typeface="华文中宋" panose="02010600040101010101" pitchFamily="2" charset="-122"/>
              </a:rPr>
              <a:t>特征：不同的子问题个数随问题的大小呈多项式增长，而不是指数增长。</a:t>
            </a:r>
          </a:p>
          <a:p>
            <a:pPr eaLnBrk="1" hangingPunct="1">
              <a:buClr>
                <a:schemeClr val="accent2"/>
              </a:buClr>
              <a:buFont typeface="Arial" panose="020B0604020202020204" pitchFamily="34" charset="0"/>
              <a:buNone/>
            </a:pPr>
            <a:r>
              <a:rPr lang="zh-CN" altLang="en-US" sz="2800" dirty="0">
                <a:latin typeface="华文中宋" panose="02010600040101010101" pitchFamily="2" charset="-122"/>
                <a:ea typeface="华文中宋" panose="02010600040101010101" pitchFamily="2" charset="-122"/>
              </a:rPr>
              <a:t>用动态规划算法只需要多项式时间，从而获得较高的解题效率。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 calcmode="lin" valueType="num">
                                      <p:cBhvr additive="base">
                                        <p:cTn id="7" dur="500" fill="hold"/>
                                        <p:tgtEl>
                                          <p:spTgt spid="3994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99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941"/>
                                        </p:tgtEl>
                                        <p:attrNameLst>
                                          <p:attrName>style.visibility</p:attrName>
                                        </p:attrNameLst>
                                      </p:cBhvr>
                                      <p:to>
                                        <p:strVal val="visible"/>
                                      </p:to>
                                    </p:set>
                                    <p:anim calcmode="lin" valueType="num">
                                      <p:cBhvr additive="base">
                                        <p:cTn id="13" dur="500" fill="hold"/>
                                        <p:tgtEl>
                                          <p:spTgt spid="39941"/>
                                        </p:tgtEl>
                                        <p:attrNameLst>
                                          <p:attrName>ppt_x</p:attrName>
                                        </p:attrNameLst>
                                      </p:cBhvr>
                                      <p:tavLst>
                                        <p:tav tm="0">
                                          <p:val>
                                            <p:strVal val="0-#ppt_w/2"/>
                                          </p:val>
                                        </p:tav>
                                        <p:tav tm="100000">
                                          <p:val>
                                            <p:strVal val="#ppt_x"/>
                                          </p:val>
                                        </p:tav>
                                      </p:tavLst>
                                    </p:anim>
                                    <p:anim calcmode="lin" valueType="num">
                                      <p:cBhvr additive="base">
                                        <p:cTn id="14" dur="500" fill="hold"/>
                                        <p:tgtEl>
                                          <p:spTgt spid="399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autoUpdateAnimBg="0"/>
      <p:bldP spid="3994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8DA37ED-7835-4C79-B1B0-19D380637E1C}"/>
              </a:ext>
            </a:extLst>
          </p:cNvPr>
          <p:cNvSpPr>
            <a:spLocks noGrp="1" noChangeArrowheads="1"/>
          </p:cNvSpPr>
          <p:nvPr>
            <p:ph type="title"/>
          </p:nvPr>
        </p:nvSpPr>
        <p:spPr bwMode="auto">
          <a:xfrm>
            <a:off x="685800" y="4572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20000"/>
              </a:spcBef>
            </a:pPr>
            <a:r>
              <a:rPr lang="zh-CN" altLang="en-US" sz="4000" b="1" dirty="0">
                <a:solidFill>
                  <a:srgbClr val="A50021"/>
                </a:solidFill>
                <a:latin typeface="华文中宋" panose="02010600040101010101" pitchFamily="2" charset="-122"/>
              </a:rPr>
              <a:t>动态规划法与分治策略</a:t>
            </a:r>
          </a:p>
        </p:txBody>
      </p:sp>
      <p:sp>
        <p:nvSpPr>
          <p:cNvPr id="34819" name="Rectangle 3">
            <a:extLst>
              <a:ext uri="{FF2B5EF4-FFF2-40B4-BE49-F238E27FC236}">
                <a16:creationId xmlns:a16="http://schemas.microsoft.com/office/drawing/2014/main" id="{ED0CF2FF-3559-4797-977A-B0981C5581FE}"/>
              </a:ext>
            </a:extLst>
          </p:cNvPr>
          <p:cNvSpPr>
            <a:spLocks noGrp="1" noChangeArrowheads="1"/>
          </p:cNvSpPr>
          <p:nvPr>
            <p:ph type="body" idx="1"/>
          </p:nvPr>
        </p:nvSpPr>
        <p:spPr bwMode="auto">
          <a:xfrm>
            <a:off x="228600" y="1371600"/>
            <a:ext cx="86868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algn="just" eaLnBrk="1" hangingPunct="1">
              <a:lnSpc>
                <a:spcPct val="130000"/>
              </a:lnSpc>
              <a:buFontTx/>
              <a:buNone/>
            </a:pPr>
            <a:r>
              <a:rPr lang="zh-CN" altLang="en-US" sz="2800" b="1" dirty="0">
                <a:latin typeface="华文中宋" panose="02010600040101010101" pitchFamily="2" charset="-122"/>
              </a:rPr>
              <a:t>共性：都通过子问题求解原问题</a:t>
            </a:r>
          </a:p>
          <a:p>
            <a:pPr marL="533400" indent="-533400" algn="just" eaLnBrk="1" hangingPunct="1">
              <a:lnSpc>
                <a:spcPct val="120000"/>
              </a:lnSpc>
              <a:buFontTx/>
              <a:buNone/>
            </a:pPr>
            <a:r>
              <a:rPr lang="zh-CN" altLang="en-US" sz="2800" b="1" dirty="0">
                <a:latin typeface="华文中宋" panose="02010600040101010101" pitchFamily="2" charset="-122"/>
              </a:rPr>
              <a:t>方法：分治法是把一个规模为ｎ的问题分成多个与原问题类型相同的较小的子问题，通过对子问题的求解，并把子问题的解合并起来，构造出整个问题的解；</a:t>
            </a:r>
          </a:p>
          <a:p>
            <a:pPr marL="533400" indent="-533400" algn="just" eaLnBrk="1" hangingPunct="1">
              <a:lnSpc>
                <a:spcPct val="120000"/>
              </a:lnSpc>
              <a:buFontTx/>
              <a:buNone/>
            </a:pPr>
            <a:r>
              <a:rPr lang="en-US" altLang="zh-CN" sz="2800" b="1" dirty="0">
                <a:latin typeface="华文中宋" panose="02010600040101010101" pitchFamily="2" charset="-122"/>
              </a:rPr>
              <a:t>	</a:t>
            </a:r>
            <a:r>
              <a:rPr lang="zh-CN" altLang="en-US" sz="2800" b="1" dirty="0">
                <a:latin typeface="华文中宋" panose="02010600040101010101" pitchFamily="2" charset="-122"/>
              </a:rPr>
              <a:t>动态规划法也先求子问题的解，通过求解子问题，构造原问题的解。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 calcmode="lin" valueType="num">
                                      <p:cBhvr additive="base">
                                        <p:cTn id="7" dur="500" fill="hold"/>
                                        <p:tgtEl>
                                          <p:spTgt spid="348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48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 calcmode="lin" valueType="num">
                                      <p:cBhvr additive="base">
                                        <p:cTn id="13" dur="500" fill="hold"/>
                                        <p:tgtEl>
                                          <p:spTgt spid="3481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48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819">
                                            <p:txEl>
                                              <p:pRg st="2" end="2"/>
                                            </p:txEl>
                                          </p:spTgt>
                                        </p:tgtEl>
                                        <p:attrNameLst>
                                          <p:attrName>style.visibility</p:attrName>
                                        </p:attrNameLst>
                                      </p:cBhvr>
                                      <p:to>
                                        <p:strVal val="visible"/>
                                      </p:to>
                                    </p:set>
                                    <p:anim calcmode="lin" valueType="num">
                                      <p:cBhvr additive="base">
                                        <p:cTn id="19" dur="500" fill="hold"/>
                                        <p:tgtEl>
                                          <p:spTgt spid="3481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481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40C0005-8762-4543-A298-B5A1E62D16C0}"/>
              </a:ext>
            </a:extLst>
          </p:cNvPr>
          <p:cNvSpPr>
            <a:spLocks noGrp="1" noChangeArrowheads="1"/>
          </p:cNvSpPr>
          <p:nvPr>
            <p:ph type="title"/>
          </p:nvPr>
        </p:nvSpPr>
        <p:spPr bwMode="auto">
          <a:xfrm>
            <a:off x="685800" y="3048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latin typeface="华文中宋" panose="02010600040101010101" pitchFamily="2" charset="-122"/>
              </a:rPr>
              <a:t>动态规划法与分治策略（续）</a:t>
            </a:r>
            <a:endParaRPr lang="zh-CN" altLang="en-US" sz="3600" b="1" dirty="0">
              <a:latin typeface="华文中宋" panose="02010600040101010101" pitchFamily="2" charset="-122"/>
            </a:endParaRPr>
          </a:p>
        </p:txBody>
      </p:sp>
      <p:sp>
        <p:nvSpPr>
          <p:cNvPr id="40963" name="Rectangle 3">
            <a:extLst>
              <a:ext uri="{FF2B5EF4-FFF2-40B4-BE49-F238E27FC236}">
                <a16:creationId xmlns:a16="http://schemas.microsoft.com/office/drawing/2014/main" id="{3F64A861-C6BB-4075-8C2B-9AA02CDC8EB4}"/>
              </a:ext>
            </a:extLst>
          </p:cNvPr>
          <p:cNvSpPr>
            <a:spLocks noGrp="1" noChangeArrowheads="1"/>
          </p:cNvSpPr>
          <p:nvPr>
            <p:ph type="body" idx="1"/>
          </p:nvPr>
        </p:nvSpPr>
        <p:spPr bwMode="auto">
          <a:xfrm>
            <a:off x="228600" y="1143000"/>
            <a:ext cx="8534400" cy="510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algn="just" eaLnBrk="1" hangingPunct="1">
              <a:lnSpc>
                <a:spcPct val="120000"/>
              </a:lnSpc>
              <a:buFontTx/>
              <a:buNone/>
            </a:pPr>
            <a:r>
              <a:rPr lang="zh-CN" altLang="en-US" sz="2800" b="1" dirty="0">
                <a:latin typeface="华文中宋" panose="02010600040101010101" pitchFamily="2" charset="-122"/>
              </a:rPr>
              <a:t>差异：</a:t>
            </a:r>
          </a:p>
          <a:p>
            <a:pPr marL="533400" indent="-533400" algn="just" eaLnBrk="1" hangingPunct="1">
              <a:lnSpc>
                <a:spcPct val="120000"/>
              </a:lnSpc>
              <a:buFontTx/>
              <a:buAutoNum type="arabicPeriod"/>
            </a:pPr>
            <a:r>
              <a:rPr lang="zh-CN" altLang="en-US" sz="2800" b="1" dirty="0">
                <a:solidFill>
                  <a:srgbClr val="A50021"/>
                </a:solidFill>
                <a:latin typeface="华文中宋" panose="02010600040101010101" pitchFamily="2" charset="-122"/>
              </a:rPr>
              <a:t>独立性</a:t>
            </a:r>
            <a:r>
              <a:rPr lang="zh-CN" altLang="en-US" sz="2800" b="1" dirty="0">
                <a:latin typeface="华文中宋" panose="02010600040101010101" pitchFamily="2" charset="-122"/>
              </a:rPr>
              <a:t>：分治法各子问题互相独立，动态规划法的各子问题可不独立</a:t>
            </a:r>
          </a:p>
          <a:p>
            <a:pPr marL="533400" indent="-533400" algn="just" eaLnBrk="1" hangingPunct="1">
              <a:lnSpc>
                <a:spcPct val="120000"/>
              </a:lnSpc>
              <a:buFontTx/>
              <a:buAutoNum type="arabicPeriod"/>
            </a:pPr>
            <a:r>
              <a:rPr lang="zh-CN" altLang="en-US" sz="2800" b="1" dirty="0">
                <a:solidFill>
                  <a:srgbClr val="A50021"/>
                </a:solidFill>
                <a:latin typeface="华文中宋" panose="02010600040101010101" pitchFamily="2" charset="-122"/>
              </a:rPr>
              <a:t>子问题数目</a:t>
            </a:r>
            <a:r>
              <a:rPr lang="zh-CN" altLang="en-US" sz="2800" b="1" dirty="0">
                <a:latin typeface="华文中宋" panose="02010600040101010101" pitchFamily="2" charset="-122"/>
              </a:rPr>
              <a:t>：动态规划法中涉及的子问题，不独立的有很多，而独立的应只有</a:t>
            </a:r>
            <a:r>
              <a:rPr lang="zh-CN" altLang="en-US" sz="2800" b="1" dirty="0">
                <a:solidFill>
                  <a:srgbClr val="A50021"/>
                </a:solidFill>
                <a:latin typeface="华文中宋" panose="02010600040101010101" pitchFamily="2" charset="-122"/>
              </a:rPr>
              <a:t>多项式级</a:t>
            </a:r>
            <a:r>
              <a:rPr lang="en-US" altLang="zh-CN" sz="2800" b="1" dirty="0">
                <a:latin typeface="华文中宋" panose="02010600040101010101" pitchFamily="2" charset="-122"/>
              </a:rPr>
              <a:t>;</a:t>
            </a:r>
            <a:r>
              <a:rPr lang="zh-CN" altLang="en-US" sz="2800" b="1" dirty="0">
                <a:latin typeface="华文中宋" panose="02010600040101010101" pitchFamily="2" charset="-122"/>
              </a:rPr>
              <a:t>分治法涉及的子问题数一般达</a:t>
            </a:r>
            <a:r>
              <a:rPr lang="zh-CN" altLang="en-US" sz="2800" b="1" dirty="0">
                <a:solidFill>
                  <a:srgbClr val="A50021"/>
                </a:solidFill>
                <a:latin typeface="华文中宋" panose="02010600040101010101" pitchFamily="2" charset="-122"/>
              </a:rPr>
              <a:t>指数级</a:t>
            </a:r>
          </a:p>
          <a:p>
            <a:pPr marL="533400" indent="-533400" algn="just" eaLnBrk="1" hangingPunct="1">
              <a:lnSpc>
                <a:spcPct val="120000"/>
              </a:lnSpc>
              <a:buFontTx/>
              <a:buAutoNum type="arabicPeriod"/>
            </a:pPr>
            <a:r>
              <a:rPr lang="zh-CN" altLang="en-US" sz="2800" b="1" dirty="0">
                <a:latin typeface="华文中宋" panose="02010600040101010101" pitchFamily="2" charset="-122"/>
              </a:rPr>
              <a:t>动态规划法把问题分成许多子问题，每个子问题的解都是</a:t>
            </a:r>
            <a:r>
              <a:rPr lang="zh-CN" altLang="en-US" sz="2800" b="1" dirty="0">
                <a:solidFill>
                  <a:srgbClr val="A50021"/>
                </a:solidFill>
                <a:latin typeface="华文中宋" panose="02010600040101010101" pitchFamily="2" charset="-122"/>
              </a:rPr>
              <a:t>局部最优</a:t>
            </a:r>
            <a:r>
              <a:rPr lang="zh-CN" altLang="en-US" sz="2800" b="1" dirty="0">
                <a:latin typeface="华文中宋" panose="02010600040101010101" pitchFamily="2" charset="-122"/>
              </a:rPr>
              <a:t>；分治法未必考虑最优性</a:t>
            </a:r>
          </a:p>
          <a:p>
            <a:pPr marL="533400" indent="-533400" algn="just" eaLnBrk="1" hangingPunct="1">
              <a:lnSpc>
                <a:spcPct val="120000"/>
              </a:lnSpc>
              <a:buFontTx/>
              <a:buAutoNum type="arabicPeriod"/>
            </a:pPr>
            <a:r>
              <a:rPr lang="zh-CN" altLang="en-US" sz="2800" b="1" dirty="0">
                <a:latin typeface="华文中宋" panose="02010600040101010101" pitchFamily="2" charset="-122"/>
              </a:rPr>
              <a:t>动态规划法可采用</a:t>
            </a:r>
            <a:r>
              <a:rPr lang="zh-CN" altLang="en-US" sz="2800" b="1" dirty="0">
                <a:solidFill>
                  <a:srgbClr val="A50021"/>
                </a:solidFill>
                <a:latin typeface="华文中宋" panose="02010600040101010101" pitchFamily="2" charset="-122"/>
              </a:rPr>
              <a:t>备忘录方法</a:t>
            </a:r>
            <a:r>
              <a:rPr lang="zh-CN" altLang="en-US" sz="2800" b="1" dirty="0">
                <a:latin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63">
                                            <p:txEl>
                                              <p:pRg st="2" end="2"/>
                                            </p:txEl>
                                          </p:spTgt>
                                        </p:tgtEl>
                                        <p:attrNameLst>
                                          <p:attrName>style.visibility</p:attrName>
                                        </p:attrNameLst>
                                      </p:cBhvr>
                                      <p:to>
                                        <p:strVal val="visible"/>
                                      </p:to>
                                    </p:set>
                                    <p:anim calcmode="lin" valueType="num">
                                      <p:cBhvr additive="base">
                                        <p:cTn id="19" dur="500" fill="hold"/>
                                        <p:tgtEl>
                                          <p:spTgt spid="409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963">
                                            <p:txEl>
                                              <p:pRg st="3" end="3"/>
                                            </p:txEl>
                                          </p:spTgt>
                                        </p:tgtEl>
                                        <p:attrNameLst>
                                          <p:attrName>style.visibility</p:attrName>
                                        </p:attrNameLst>
                                      </p:cBhvr>
                                      <p:to>
                                        <p:strVal val="visible"/>
                                      </p:to>
                                    </p:set>
                                    <p:anim calcmode="lin" valueType="num">
                                      <p:cBhvr additive="base">
                                        <p:cTn id="25" dur="500" fill="hold"/>
                                        <p:tgtEl>
                                          <p:spTgt spid="409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09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963">
                                            <p:txEl>
                                              <p:pRg st="4" end="4"/>
                                            </p:txEl>
                                          </p:spTgt>
                                        </p:tgtEl>
                                        <p:attrNameLst>
                                          <p:attrName>style.visibility</p:attrName>
                                        </p:attrNameLst>
                                      </p:cBhvr>
                                      <p:to>
                                        <p:strVal val="visible"/>
                                      </p:to>
                                    </p:set>
                                    <p:anim calcmode="lin" valueType="num">
                                      <p:cBhvr additive="base">
                                        <p:cTn id="31" dur="500" fill="hold"/>
                                        <p:tgtEl>
                                          <p:spTgt spid="409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09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CE636B3-F31A-4B22-8823-BF5040863E21}"/>
              </a:ext>
            </a:extLst>
          </p:cNvPr>
          <p:cNvSpPr>
            <a:spLocks noGrp="1" noChangeArrowheads="1"/>
          </p:cNvSpPr>
          <p:nvPr>
            <p:ph type="title"/>
          </p:nvPr>
        </p:nvSpPr>
        <p:spPr bwMode="auto">
          <a:xfrm>
            <a:off x="685800" y="76200"/>
            <a:ext cx="7772400" cy="1143000"/>
          </a:xfrm>
          <a:ln>
            <a:miter lim="800000"/>
            <a:headEnd/>
            <a:tailEnd/>
          </a:ln>
        </p:spPr>
        <p:txBody>
          <a:bodyPr vert="horz" wrap="square" lIns="91440" tIns="45720" rIns="91440" bIns="45720" numCol="1" anchor="t" anchorCtr="0" compatLnSpc="1">
            <a:prstTxWarp prst="textNoShape">
              <a:avLst/>
            </a:prstTxWarp>
          </a:bodyPr>
          <a:lstStyle/>
          <a:p>
            <a:pPr eaLnBrk="1" hangingPunct="1">
              <a:lnSpc>
                <a:spcPct val="120000"/>
              </a:lnSpc>
              <a:defRPr/>
            </a:pPr>
            <a:r>
              <a:rPr kumimoji="0" lang="zh-CN" altLang="en-US" sz="4000" b="1" dirty="0">
                <a:effectLst>
                  <a:outerShdw blurRad="38100" dist="38100" dir="2700000" algn="tl">
                    <a:srgbClr val="C0C0C0"/>
                  </a:outerShdw>
                </a:effectLst>
                <a:latin typeface="华文中宋" panose="02010600040101010101" pitchFamily="2" charset="-122"/>
              </a:rPr>
              <a:t>备忘录方法</a:t>
            </a:r>
          </a:p>
        </p:txBody>
      </p:sp>
      <p:sp>
        <p:nvSpPr>
          <p:cNvPr id="47107" name="Rectangle 3">
            <a:extLst>
              <a:ext uri="{FF2B5EF4-FFF2-40B4-BE49-F238E27FC236}">
                <a16:creationId xmlns:a16="http://schemas.microsoft.com/office/drawing/2014/main" id="{4544399F-F00B-444F-B6A8-FF956FDDD1B7}"/>
              </a:ext>
            </a:extLst>
          </p:cNvPr>
          <p:cNvSpPr>
            <a:spLocks noGrp="1" noChangeArrowheads="1"/>
          </p:cNvSpPr>
          <p:nvPr>
            <p:ph type="body" idx="1"/>
          </p:nvPr>
        </p:nvSpPr>
        <p:spPr bwMode="auto">
          <a:xfrm>
            <a:off x="457200" y="914400"/>
            <a:ext cx="81534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0"/>
              </a:spcBef>
              <a:buClr>
                <a:schemeClr val="accent2"/>
              </a:buClr>
            </a:pPr>
            <a:r>
              <a:rPr lang="zh-CN" altLang="en-US" sz="2800" b="1" dirty="0"/>
              <a:t>备忘录方法的控制结构与直接递归方法的控制结构相同，区别在于备忘录方法为每个解过的子问题建立了备忘录以备需要时查看，避免了相同子问题的重复求解。</a:t>
            </a:r>
          </a:p>
        </p:txBody>
      </p:sp>
      <p:sp>
        <p:nvSpPr>
          <p:cNvPr id="47108" name="Rectangle 4">
            <a:extLst>
              <a:ext uri="{FF2B5EF4-FFF2-40B4-BE49-F238E27FC236}">
                <a16:creationId xmlns:a16="http://schemas.microsoft.com/office/drawing/2014/main" id="{8D8DBFE7-91D8-4D46-B059-96704AFB430A}"/>
              </a:ext>
            </a:extLst>
          </p:cNvPr>
          <p:cNvSpPr>
            <a:spLocks noChangeArrowheads="1"/>
          </p:cNvSpPr>
          <p:nvPr/>
        </p:nvSpPr>
        <p:spPr bwMode="auto">
          <a:xfrm>
            <a:off x="228600" y="2768600"/>
            <a:ext cx="4495800" cy="3403600"/>
          </a:xfrm>
          <a:prstGeom prst="rect">
            <a:avLst/>
          </a:prstGeo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ea typeface="华文中宋" panose="02010600040101010101" pitchFamily="2" charset="-122"/>
              </a:rPr>
              <a:t>int </a:t>
            </a:r>
            <a:r>
              <a:rPr lang="en-US" altLang="zh-CN" dirty="0" err="1">
                <a:ea typeface="华文中宋" panose="02010600040101010101" pitchFamily="2" charset="-122"/>
              </a:rPr>
              <a:t>t,k</a:t>
            </a:r>
            <a:r>
              <a:rPr lang="en-US" altLang="zh-CN" dirty="0">
                <a:ea typeface="华文中宋" panose="02010600040101010101" pitchFamily="2" charset="-122"/>
              </a:rPr>
              <a:t>, m</a:t>
            </a:r>
            <a:r>
              <a:rPr lang="en-US" altLang="zh-CN" dirty="0">
                <a:ea typeface="华文中宋" panose="02010600040101010101" pitchFamily="2" charset="-122"/>
                <a:sym typeface="Wingdings" panose="05000000000000000000" pitchFamily="2" charset="2"/>
              </a:rPr>
              <a:t>=0;</a:t>
            </a:r>
            <a:endParaRPr lang="en-US" altLang="zh-CN" dirty="0">
              <a:ea typeface="华文中宋" panose="02010600040101010101" pitchFamily="2" charset="-122"/>
            </a:endParaRPr>
          </a:p>
          <a:p>
            <a:pPr eaLnBrk="1" hangingPunct="1"/>
            <a:r>
              <a:rPr lang="en-US" altLang="zh-CN" dirty="0">
                <a:ea typeface="华文中宋" panose="02010600040101010101" pitchFamily="2" charset="-122"/>
              </a:rPr>
              <a:t>int </a:t>
            </a:r>
            <a:r>
              <a:rPr lang="en-US" altLang="zh-CN" dirty="0" err="1">
                <a:ea typeface="华文中宋" panose="02010600040101010101" pitchFamily="2" charset="-122"/>
              </a:rPr>
              <a:t>lookupChain</a:t>
            </a:r>
            <a:r>
              <a:rPr lang="en-US" altLang="zh-CN" dirty="0">
                <a:ea typeface="华文中宋" panose="02010600040101010101" pitchFamily="2" charset="-122"/>
              </a:rPr>
              <a:t>(int </a:t>
            </a:r>
            <a:r>
              <a:rPr lang="en-US" altLang="zh-CN" dirty="0" err="1">
                <a:ea typeface="华文中宋" panose="02010600040101010101" pitchFamily="2" charset="-122"/>
              </a:rPr>
              <a:t>i</a:t>
            </a:r>
            <a:r>
              <a:rPr lang="en-US" altLang="zh-CN" dirty="0">
                <a:ea typeface="华文中宋" panose="02010600040101010101" pitchFamily="2" charset="-122"/>
              </a:rPr>
              <a:t>, int j)  {</a:t>
            </a:r>
          </a:p>
          <a:p>
            <a:pPr eaLnBrk="1" hangingPunct="1"/>
            <a:r>
              <a:rPr lang="en-US" altLang="zh-CN" dirty="0">
                <a:ea typeface="华文中宋" panose="02010600040101010101" pitchFamily="2" charset="-122"/>
              </a:rPr>
              <a:t>      if (m[</a:t>
            </a:r>
            <a:r>
              <a:rPr lang="en-US" altLang="zh-CN" dirty="0" err="1">
                <a:ea typeface="华文中宋" panose="02010600040101010101" pitchFamily="2" charset="-122"/>
              </a:rPr>
              <a:t>i</a:t>
            </a:r>
            <a:r>
              <a:rPr lang="en-US" altLang="zh-CN" dirty="0">
                <a:ea typeface="华文中宋" panose="02010600040101010101" pitchFamily="2" charset="-122"/>
              </a:rPr>
              <a:t>][j] &gt; 0) </a:t>
            </a:r>
          </a:p>
          <a:p>
            <a:pPr eaLnBrk="1" hangingPunct="1"/>
            <a:r>
              <a:rPr lang="en-US" altLang="zh-CN" dirty="0">
                <a:ea typeface="华文中宋" panose="02010600040101010101" pitchFamily="2" charset="-122"/>
              </a:rPr>
              <a:t>          return m[</a:t>
            </a:r>
            <a:r>
              <a:rPr lang="en-US" altLang="zh-CN" dirty="0" err="1">
                <a:ea typeface="华文中宋" panose="02010600040101010101" pitchFamily="2" charset="-122"/>
              </a:rPr>
              <a:t>i</a:t>
            </a:r>
            <a:r>
              <a:rPr lang="en-US" altLang="zh-CN" dirty="0">
                <a:ea typeface="华文中宋" panose="02010600040101010101" pitchFamily="2" charset="-122"/>
              </a:rPr>
              <a:t>][j];</a:t>
            </a:r>
          </a:p>
          <a:p>
            <a:pPr eaLnBrk="1" hangingPunct="1"/>
            <a:r>
              <a:rPr lang="en-US" altLang="zh-CN" dirty="0">
                <a:ea typeface="华文中宋" panose="02010600040101010101" pitchFamily="2" charset="-122"/>
              </a:rPr>
              <a:t>      if (</a:t>
            </a:r>
            <a:r>
              <a:rPr lang="en-US" altLang="zh-CN" dirty="0" err="1">
                <a:ea typeface="华文中宋" panose="02010600040101010101" pitchFamily="2" charset="-122"/>
              </a:rPr>
              <a:t>i</a:t>
            </a:r>
            <a:r>
              <a:rPr lang="en-US" altLang="zh-CN" dirty="0">
                <a:ea typeface="华文中宋" panose="02010600040101010101" pitchFamily="2" charset="-122"/>
              </a:rPr>
              <a:t> == j) return 0;</a:t>
            </a:r>
          </a:p>
          <a:p>
            <a:pPr eaLnBrk="1" hangingPunct="1"/>
            <a:r>
              <a:rPr lang="en-US" altLang="zh-CN" dirty="0">
                <a:ea typeface="华文中宋" panose="02010600040101010101" pitchFamily="2" charset="-122"/>
              </a:rPr>
              <a:t>      int u = </a:t>
            </a:r>
            <a:r>
              <a:rPr lang="en-US" altLang="zh-CN" dirty="0" err="1">
                <a:ea typeface="华文中宋" panose="02010600040101010101" pitchFamily="2" charset="-122"/>
              </a:rPr>
              <a:t>lookupChain</a:t>
            </a:r>
            <a:r>
              <a:rPr lang="en-US" altLang="zh-CN" dirty="0">
                <a:ea typeface="华文中宋" panose="02010600040101010101" pitchFamily="2" charset="-122"/>
              </a:rPr>
              <a:t>(i+1,j) +</a:t>
            </a:r>
          </a:p>
          <a:p>
            <a:pPr eaLnBrk="1" hangingPunct="1"/>
            <a:r>
              <a:rPr lang="en-US" altLang="zh-CN" dirty="0">
                <a:ea typeface="华文中宋" panose="02010600040101010101" pitchFamily="2" charset="-122"/>
              </a:rPr>
              <a:t>          p[i-1]*p[</a:t>
            </a:r>
            <a:r>
              <a:rPr lang="en-US" altLang="zh-CN" dirty="0" err="1">
                <a:ea typeface="华文中宋" panose="02010600040101010101" pitchFamily="2" charset="-122"/>
              </a:rPr>
              <a:t>i</a:t>
            </a:r>
            <a:r>
              <a:rPr lang="en-US" altLang="zh-CN" dirty="0">
                <a:ea typeface="华文中宋" panose="02010600040101010101" pitchFamily="2" charset="-122"/>
              </a:rPr>
              <a:t>]*p[j];   //</a:t>
            </a:r>
            <a:r>
              <a:rPr lang="zh-CN" altLang="en-US" dirty="0">
                <a:solidFill>
                  <a:srgbClr val="A50021"/>
                </a:solidFill>
                <a:ea typeface="华文中宋" panose="02010600040101010101" pitchFamily="2" charset="-122"/>
              </a:rPr>
              <a:t>记初值</a:t>
            </a:r>
            <a:endParaRPr lang="en-US" altLang="zh-CN" dirty="0">
              <a:solidFill>
                <a:srgbClr val="A50021"/>
              </a:solidFill>
              <a:ea typeface="华文中宋" panose="02010600040101010101" pitchFamily="2" charset="-122"/>
            </a:endParaRPr>
          </a:p>
          <a:p>
            <a:pPr eaLnBrk="1" hangingPunct="1"/>
            <a:r>
              <a:rPr lang="en-US" altLang="zh-CN" dirty="0">
                <a:ea typeface="华文中宋" panose="02010600040101010101" pitchFamily="2" charset="-122"/>
              </a:rPr>
              <a:t>      s[</a:t>
            </a:r>
            <a:r>
              <a:rPr lang="en-US" altLang="zh-CN" dirty="0" err="1">
                <a:ea typeface="华文中宋" panose="02010600040101010101" pitchFamily="2" charset="-122"/>
              </a:rPr>
              <a:t>i</a:t>
            </a:r>
            <a:r>
              <a:rPr lang="en-US" altLang="zh-CN" dirty="0">
                <a:ea typeface="华文中宋" panose="02010600040101010101" pitchFamily="2" charset="-122"/>
              </a:rPr>
              <a:t>][j] = </a:t>
            </a:r>
            <a:r>
              <a:rPr lang="en-US" altLang="zh-CN" dirty="0" err="1">
                <a:ea typeface="华文中宋" panose="02010600040101010101" pitchFamily="2" charset="-122"/>
              </a:rPr>
              <a:t>i</a:t>
            </a:r>
            <a:r>
              <a:rPr lang="en-US" altLang="zh-CN" dirty="0">
                <a:ea typeface="华文中宋" panose="02010600040101010101" pitchFamily="2" charset="-122"/>
              </a:rPr>
              <a:t>;</a:t>
            </a:r>
          </a:p>
          <a:p>
            <a:pPr eaLnBrk="1" hangingPunct="1"/>
            <a:r>
              <a:rPr lang="en-US" altLang="zh-CN" dirty="0">
                <a:ea typeface="华文中宋" panose="02010600040101010101" pitchFamily="2" charset="-122"/>
              </a:rPr>
              <a:t>      for (k = i+1; k &lt; j; k++)</a:t>
            </a:r>
          </a:p>
        </p:txBody>
      </p:sp>
      <p:sp>
        <p:nvSpPr>
          <p:cNvPr id="47109" name="Rectangle 6">
            <a:extLst>
              <a:ext uri="{FF2B5EF4-FFF2-40B4-BE49-F238E27FC236}">
                <a16:creationId xmlns:a16="http://schemas.microsoft.com/office/drawing/2014/main" id="{BFCB3129-FDD7-4855-BF63-54B5B6ABDE1B}"/>
              </a:ext>
            </a:extLst>
          </p:cNvPr>
          <p:cNvSpPr>
            <a:spLocks noChangeArrowheads="1"/>
          </p:cNvSpPr>
          <p:nvPr/>
        </p:nvSpPr>
        <p:spPr bwMode="auto">
          <a:xfrm>
            <a:off x="4800600" y="2403475"/>
            <a:ext cx="4114800" cy="3768725"/>
          </a:xfrm>
          <a:prstGeom prst="rect">
            <a:avLst/>
          </a:prstGeom>
          <a:noFill/>
          <a:ln w="25400">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ea typeface="华文中宋" panose="02010600040101010101" pitchFamily="2" charset="-122"/>
              </a:rPr>
              <a:t>    {</a:t>
            </a:r>
          </a:p>
          <a:p>
            <a:pPr eaLnBrk="1" hangingPunct="1"/>
            <a:r>
              <a:rPr lang="en-US" altLang="zh-CN" dirty="0">
                <a:ea typeface="华文中宋" panose="02010600040101010101" pitchFamily="2" charset="-122"/>
              </a:rPr>
              <a:t>       t= </a:t>
            </a:r>
            <a:r>
              <a:rPr lang="en-US" altLang="zh-CN" dirty="0" err="1">
                <a:ea typeface="华文中宋" panose="02010600040101010101" pitchFamily="2" charset="-122"/>
              </a:rPr>
              <a:t>lookupChain</a:t>
            </a:r>
            <a:r>
              <a:rPr lang="en-US" altLang="zh-CN" dirty="0">
                <a:ea typeface="华文中宋" panose="02010600040101010101" pitchFamily="2" charset="-122"/>
              </a:rPr>
              <a:t>(</a:t>
            </a:r>
            <a:r>
              <a:rPr lang="en-US" altLang="zh-CN" dirty="0" err="1">
                <a:ea typeface="华文中宋" panose="02010600040101010101" pitchFamily="2" charset="-122"/>
              </a:rPr>
              <a:t>i,k</a:t>
            </a:r>
            <a:r>
              <a:rPr lang="en-US" altLang="zh-CN" dirty="0">
                <a:ea typeface="华文中宋" panose="02010600040101010101" pitchFamily="2" charset="-122"/>
              </a:rPr>
              <a:t>)</a:t>
            </a:r>
          </a:p>
          <a:p>
            <a:pPr eaLnBrk="1" hangingPunct="1"/>
            <a:r>
              <a:rPr lang="en-US" altLang="zh-CN" dirty="0">
                <a:ea typeface="华文中宋" panose="02010600040101010101" pitchFamily="2" charset="-122"/>
              </a:rPr>
              <a:t>           + </a:t>
            </a:r>
            <a:r>
              <a:rPr lang="en-US" altLang="zh-CN" dirty="0" err="1">
                <a:ea typeface="华文中宋" panose="02010600040101010101" pitchFamily="2" charset="-122"/>
              </a:rPr>
              <a:t>lookupChain</a:t>
            </a:r>
            <a:r>
              <a:rPr lang="en-US" altLang="zh-CN" dirty="0">
                <a:ea typeface="华文中宋" panose="02010600040101010101" pitchFamily="2" charset="-122"/>
              </a:rPr>
              <a:t>(k+1,j) </a:t>
            </a:r>
          </a:p>
          <a:p>
            <a:pPr eaLnBrk="1" hangingPunct="1"/>
            <a:r>
              <a:rPr lang="en-US" altLang="zh-CN" dirty="0">
                <a:ea typeface="华文中宋" panose="02010600040101010101" pitchFamily="2" charset="-122"/>
              </a:rPr>
              <a:t>           + p[i-1]*p[k]*p[j];</a:t>
            </a:r>
          </a:p>
          <a:p>
            <a:pPr eaLnBrk="1" hangingPunct="1"/>
            <a:r>
              <a:rPr lang="en-US" altLang="zh-CN" dirty="0">
                <a:ea typeface="华文中宋" panose="02010600040101010101" pitchFamily="2" charset="-122"/>
              </a:rPr>
              <a:t>       if (t &lt; u) {</a:t>
            </a:r>
          </a:p>
          <a:p>
            <a:pPr eaLnBrk="1" hangingPunct="1"/>
            <a:r>
              <a:rPr lang="en-US" altLang="zh-CN" dirty="0">
                <a:ea typeface="华文中宋" panose="02010600040101010101" pitchFamily="2" charset="-122"/>
              </a:rPr>
              <a:t>          u = t; s[</a:t>
            </a:r>
            <a:r>
              <a:rPr lang="en-US" altLang="zh-CN" dirty="0" err="1">
                <a:ea typeface="华文中宋" panose="02010600040101010101" pitchFamily="2" charset="-122"/>
              </a:rPr>
              <a:t>i</a:t>
            </a:r>
            <a:r>
              <a:rPr lang="en-US" altLang="zh-CN" dirty="0">
                <a:ea typeface="华文中宋" panose="02010600040101010101" pitchFamily="2" charset="-122"/>
              </a:rPr>
              <a:t>][j] = k;}</a:t>
            </a:r>
          </a:p>
          <a:p>
            <a:pPr eaLnBrk="1" hangingPunct="1"/>
            <a:r>
              <a:rPr lang="en-US" altLang="zh-CN" dirty="0">
                <a:ea typeface="华文中宋" panose="02010600040101010101" pitchFamily="2" charset="-122"/>
              </a:rPr>
              <a:t>      }</a:t>
            </a:r>
          </a:p>
          <a:p>
            <a:pPr eaLnBrk="1" hangingPunct="1"/>
            <a:r>
              <a:rPr lang="en-US" altLang="zh-CN" dirty="0">
                <a:ea typeface="华文中宋" panose="02010600040101010101" pitchFamily="2" charset="-122"/>
              </a:rPr>
              <a:t>      m[</a:t>
            </a:r>
            <a:r>
              <a:rPr lang="en-US" altLang="zh-CN" dirty="0" err="1">
                <a:ea typeface="华文中宋" panose="02010600040101010101" pitchFamily="2" charset="-122"/>
              </a:rPr>
              <a:t>i</a:t>
            </a:r>
            <a:r>
              <a:rPr lang="en-US" altLang="zh-CN" dirty="0">
                <a:ea typeface="华文中宋" panose="02010600040101010101" pitchFamily="2" charset="-122"/>
              </a:rPr>
              <a:t>][j] = u;</a:t>
            </a:r>
          </a:p>
          <a:p>
            <a:pPr eaLnBrk="1" hangingPunct="1"/>
            <a:r>
              <a:rPr lang="en-US" altLang="zh-CN" dirty="0">
                <a:ea typeface="华文中宋" panose="02010600040101010101" pitchFamily="2" charset="-122"/>
              </a:rPr>
              <a:t>      return u;</a:t>
            </a:r>
          </a:p>
          <a:p>
            <a:pPr eaLnBrk="1" hangingPunct="1"/>
            <a:r>
              <a:rPr lang="en-US" altLang="zh-CN" dirty="0">
                <a:ea typeface="华文中宋" panose="0201060004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004A1DC-33CC-3B69-4A4E-C88270797589}"/>
                  </a:ext>
                </a:extLst>
              </p14:cNvPr>
              <p14:cNvContentPartPr/>
              <p14:nvPr/>
            </p14:nvContentPartPr>
            <p14:xfrm>
              <a:off x="1098360" y="4036320"/>
              <a:ext cx="977040" cy="30960"/>
            </p14:xfrm>
          </p:contentPart>
        </mc:Choice>
        <mc:Fallback xmlns="">
          <p:pic>
            <p:nvPicPr>
              <p:cNvPr id="2" name="墨迹 1">
                <a:extLst>
                  <a:ext uri="{FF2B5EF4-FFF2-40B4-BE49-F238E27FC236}">
                    <a16:creationId xmlns:a16="http://schemas.microsoft.com/office/drawing/2014/main" id="{2004A1DC-33CC-3B69-4A4E-C88270797589}"/>
                  </a:ext>
                </a:extLst>
              </p:cNvPr>
              <p:cNvPicPr/>
              <p:nvPr/>
            </p:nvPicPr>
            <p:blipFill>
              <a:blip r:embed="rId3"/>
              <a:stretch>
                <a:fillRect/>
              </a:stretch>
            </p:blipFill>
            <p:spPr>
              <a:xfrm>
                <a:off x="1089000" y="4026960"/>
                <a:ext cx="995760" cy="49680"/>
              </a:xfrm>
              <a:prstGeom prst="rect">
                <a:avLst/>
              </a:prstGeom>
            </p:spPr>
          </p:pic>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6446A22-07A8-44C4-A4F4-4E5C7E5D047F}"/>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olidFill>
                  <a:srgbClr val="A50021"/>
                </a:solidFill>
              </a:rPr>
              <a:t>动态规划小结</a:t>
            </a:r>
          </a:p>
        </p:txBody>
      </p:sp>
      <p:sp>
        <p:nvSpPr>
          <p:cNvPr id="15363" name="Rectangle 3">
            <a:extLst>
              <a:ext uri="{FF2B5EF4-FFF2-40B4-BE49-F238E27FC236}">
                <a16:creationId xmlns:a16="http://schemas.microsoft.com/office/drawing/2014/main" id="{597BA339-C0A0-4821-BF9D-99E8424B686D}"/>
              </a:ext>
            </a:extLst>
          </p:cNvPr>
          <p:cNvSpPr>
            <a:spLocks noGrp="1" noChangeArrowheads="1"/>
          </p:cNvSpPr>
          <p:nvPr>
            <p:ph type="body" idx="1"/>
          </p:nvPr>
        </p:nvSpPr>
        <p:spPr bwMode="auto">
          <a:xfrm>
            <a:off x="838200" y="1600200"/>
            <a:ext cx="8153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t>特征：最优子结构性质和子问题重叠性质。</a:t>
            </a:r>
            <a:endParaRPr lang="zh-CN" altLang="en-US" dirty="0"/>
          </a:p>
        </p:txBody>
      </p:sp>
      <p:sp>
        <p:nvSpPr>
          <p:cNvPr id="15365" name="Text Box 5">
            <a:extLst>
              <a:ext uri="{FF2B5EF4-FFF2-40B4-BE49-F238E27FC236}">
                <a16:creationId xmlns:a16="http://schemas.microsoft.com/office/drawing/2014/main" id="{530E2101-9433-45D9-A644-948A2664F465}"/>
              </a:ext>
            </a:extLst>
          </p:cNvPr>
          <p:cNvSpPr txBox="1">
            <a:spLocks noChangeArrowheads="1"/>
          </p:cNvSpPr>
          <p:nvPr/>
        </p:nvSpPr>
        <p:spPr bwMode="auto">
          <a:xfrm>
            <a:off x="838200" y="2224088"/>
            <a:ext cx="7467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en-US" altLang="zh-CN" sz="2800" dirty="0">
                <a:ea typeface="华文中宋" panose="02010600040101010101" pitchFamily="2" charset="-122"/>
              </a:rPr>
              <a:t>  </a:t>
            </a:r>
            <a:r>
              <a:rPr lang="zh-CN" altLang="en-US" sz="2800" dirty="0">
                <a:ea typeface="华文中宋" panose="02010600040101010101" pitchFamily="2" charset="-122"/>
              </a:rPr>
              <a:t>最佳原理</a:t>
            </a:r>
            <a:endParaRPr lang="zh-CN" altLang="en-US" dirty="0">
              <a:ea typeface="华文中宋" panose="02010600040101010101" pitchFamily="2" charset="-122"/>
            </a:endParaRPr>
          </a:p>
        </p:txBody>
      </p:sp>
      <p:sp>
        <p:nvSpPr>
          <p:cNvPr id="15366" name="Text Box 6">
            <a:extLst>
              <a:ext uri="{FF2B5EF4-FFF2-40B4-BE49-F238E27FC236}">
                <a16:creationId xmlns:a16="http://schemas.microsoft.com/office/drawing/2014/main" id="{D7287219-837E-4E30-91BD-554EC641EECA}"/>
              </a:ext>
            </a:extLst>
          </p:cNvPr>
          <p:cNvSpPr txBox="1">
            <a:spLocks noChangeArrowheads="1"/>
          </p:cNvSpPr>
          <p:nvPr/>
        </p:nvSpPr>
        <p:spPr bwMode="auto">
          <a:xfrm>
            <a:off x="838200" y="3138488"/>
            <a:ext cx="7467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en-US" altLang="zh-CN" sz="2800" dirty="0">
                <a:ea typeface="华文中宋" panose="02010600040101010101" pitchFamily="2" charset="-122"/>
              </a:rPr>
              <a:t>  </a:t>
            </a:r>
            <a:r>
              <a:rPr lang="zh-CN" altLang="en-US" sz="2800" dirty="0">
                <a:ea typeface="华文中宋" panose="02010600040101010101" pitchFamily="2" charset="-122"/>
              </a:rPr>
              <a:t>动态规划法与分治法的联系与区别</a:t>
            </a:r>
            <a:endParaRPr lang="zh-CN" altLang="en-US" dirty="0">
              <a:ea typeface="华文中宋" panose="02010600040101010101" pitchFamily="2" charset="-122"/>
            </a:endParaRPr>
          </a:p>
        </p:txBody>
      </p:sp>
      <p:sp>
        <p:nvSpPr>
          <p:cNvPr id="15368" name="Text Box 8">
            <a:extLst>
              <a:ext uri="{FF2B5EF4-FFF2-40B4-BE49-F238E27FC236}">
                <a16:creationId xmlns:a16="http://schemas.microsoft.com/office/drawing/2014/main" id="{3D4880C2-5884-462A-88CE-7FC90EA51C6C}"/>
              </a:ext>
            </a:extLst>
          </p:cNvPr>
          <p:cNvSpPr txBox="1">
            <a:spLocks noChangeArrowheads="1"/>
          </p:cNvSpPr>
          <p:nvPr/>
        </p:nvSpPr>
        <p:spPr bwMode="auto">
          <a:xfrm>
            <a:off x="838200" y="38100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dirty="0">
                <a:ea typeface="华文中宋" panose="02010600040101010101" pitchFamily="2" charset="-122"/>
              </a:rPr>
              <a:t>  </a:t>
            </a:r>
            <a:r>
              <a:rPr lang="zh-CN" altLang="en-US" sz="2800" dirty="0">
                <a:ea typeface="华文中宋" panose="02010600040101010101" pitchFamily="2" charset="-122"/>
              </a:rPr>
              <a:t>动态规划法的使用方法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5"/>
                                        </p:tgtEl>
                                        <p:attrNameLst>
                                          <p:attrName>style.visibility</p:attrName>
                                        </p:attrNameLst>
                                      </p:cBhvr>
                                      <p:to>
                                        <p:strVal val="visible"/>
                                      </p:to>
                                    </p:set>
                                    <p:anim calcmode="lin" valueType="num">
                                      <p:cBhvr additive="base">
                                        <p:cTn id="13" dur="500" fill="hold"/>
                                        <p:tgtEl>
                                          <p:spTgt spid="15365"/>
                                        </p:tgtEl>
                                        <p:attrNameLst>
                                          <p:attrName>ppt_x</p:attrName>
                                        </p:attrNameLst>
                                      </p:cBhvr>
                                      <p:tavLst>
                                        <p:tav tm="0">
                                          <p:val>
                                            <p:strVal val="0-#ppt_w/2"/>
                                          </p:val>
                                        </p:tav>
                                        <p:tav tm="100000">
                                          <p:val>
                                            <p:strVal val="#ppt_x"/>
                                          </p:val>
                                        </p:tav>
                                      </p:tavLst>
                                    </p:anim>
                                    <p:anim calcmode="lin" valueType="num">
                                      <p:cBhvr additive="base">
                                        <p:cTn id="14" dur="500" fill="hold"/>
                                        <p:tgtEl>
                                          <p:spTgt spid="1536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6"/>
                                        </p:tgtEl>
                                        <p:attrNameLst>
                                          <p:attrName>style.visibility</p:attrName>
                                        </p:attrNameLst>
                                      </p:cBhvr>
                                      <p:to>
                                        <p:strVal val="visible"/>
                                      </p:to>
                                    </p:set>
                                    <p:anim calcmode="lin" valueType="num">
                                      <p:cBhvr additive="base">
                                        <p:cTn id="19" dur="500" fill="hold"/>
                                        <p:tgtEl>
                                          <p:spTgt spid="15366"/>
                                        </p:tgtEl>
                                        <p:attrNameLst>
                                          <p:attrName>ppt_x</p:attrName>
                                        </p:attrNameLst>
                                      </p:cBhvr>
                                      <p:tavLst>
                                        <p:tav tm="0">
                                          <p:val>
                                            <p:strVal val="0-#ppt_w/2"/>
                                          </p:val>
                                        </p:tav>
                                        <p:tav tm="100000">
                                          <p:val>
                                            <p:strVal val="#ppt_x"/>
                                          </p:val>
                                        </p:tav>
                                      </p:tavLst>
                                    </p:anim>
                                    <p:anim calcmode="lin" valueType="num">
                                      <p:cBhvr additive="base">
                                        <p:cTn id="20" dur="500" fill="hold"/>
                                        <p:tgtEl>
                                          <p:spTgt spid="1536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368"/>
                                        </p:tgtEl>
                                        <p:attrNameLst>
                                          <p:attrName>style.visibility</p:attrName>
                                        </p:attrNameLst>
                                      </p:cBhvr>
                                      <p:to>
                                        <p:strVal val="visible"/>
                                      </p:to>
                                    </p:set>
                                    <p:anim calcmode="lin" valueType="num">
                                      <p:cBhvr additive="base">
                                        <p:cTn id="25" dur="500" fill="hold"/>
                                        <p:tgtEl>
                                          <p:spTgt spid="15368"/>
                                        </p:tgtEl>
                                        <p:attrNameLst>
                                          <p:attrName>ppt_x</p:attrName>
                                        </p:attrNameLst>
                                      </p:cBhvr>
                                      <p:tavLst>
                                        <p:tav tm="0">
                                          <p:val>
                                            <p:strVal val="0-#ppt_w/2"/>
                                          </p:val>
                                        </p:tav>
                                        <p:tav tm="100000">
                                          <p:val>
                                            <p:strVal val="#ppt_x"/>
                                          </p:val>
                                        </p:tav>
                                      </p:tavLst>
                                    </p:anim>
                                    <p:anim calcmode="lin" valueType="num">
                                      <p:cBhvr additive="base">
                                        <p:cTn id="26" dur="500" fill="hold"/>
                                        <p:tgtEl>
                                          <p:spTgt spid="153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autoUpdateAnimBg="0"/>
      <p:bldP spid="15365" grpId="0" autoUpdateAnimBg="0"/>
      <p:bldP spid="15366" grpId="0" autoUpdateAnimBg="0"/>
      <p:bldP spid="1536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44E31B28-B142-4C8C-AD64-01FAAF4249E6}"/>
              </a:ext>
            </a:extLst>
          </p:cNvPr>
          <p:cNvSpPr>
            <a:spLocks noGrp="1" noChangeArrowheads="1"/>
          </p:cNvSpPr>
          <p:nvPr>
            <p:ph type="title"/>
          </p:nvPr>
        </p:nvSpPr>
        <p:spPr bwMode="auto">
          <a:xfrm>
            <a:off x="714375" y="28575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上机题</a:t>
            </a:r>
          </a:p>
        </p:txBody>
      </p:sp>
      <p:sp>
        <p:nvSpPr>
          <p:cNvPr id="49155" name="Rectangle 3">
            <a:extLst>
              <a:ext uri="{FF2B5EF4-FFF2-40B4-BE49-F238E27FC236}">
                <a16:creationId xmlns:a16="http://schemas.microsoft.com/office/drawing/2014/main" id="{D889B915-A60F-4690-8BB7-2D8FD70E4D20}"/>
              </a:ext>
            </a:extLst>
          </p:cNvPr>
          <p:cNvSpPr>
            <a:spLocks noGrp="1" noChangeArrowheads="1"/>
          </p:cNvSpPr>
          <p:nvPr>
            <p:ph type="body" idx="1"/>
          </p:nvPr>
        </p:nvSpPr>
        <p:spPr bwMode="auto">
          <a:xfrm>
            <a:off x="611188" y="1214438"/>
            <a:ext cx="8175625" cy="52149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800" b="1" dirty="0">
                <a:latin typeface="华文中宋" panose="02010600040101010101" pitchFamily="2" charset="-122"/>
                <a:sym typeface="Symbol" panose="05050102010706020507" pitchFamily="18" charset="2"/>
              </a:rPr>
              <a:t>上机实验</a:t>
            </a:r>
            <a:r>
              <a:rPr lang="en-US" altLang="zh-CN" sz="2800" b="1" dirty="0">
                <a:latin typeface="华文中宋" panose="02010600040101010101" pitchFamily="2" charset="-122"/>
                <a:sym typeface="Symbol" panose="05050102010706020507" pitchFamily="18" charset="2"/>
              </a:rPr>
              <a:t>2</a:t>
            </a:r>
            <a:r>
              <a:rPr lang="zh-CN" altLang="en-US" sz="2800" b="1" dirty="0">
                <a:latin typeface="华文中宋" panose="02010600040101010101" pitchFamily="2" charset="-122"/>
                <a:sym typeface="Symbol" panose="05050102010706020507" pitchFamily="18" charset="2"/>
              </a:rPr>
              <a:t>：</a:t>
            </a:r>
          </a:p>
          <a:p>
            <a:pPr eaLnBrk="1" hangingPunct="1">
              <a:buFontTx/>
              <a:buNone/>
            </a:pPr>
            <a:r>
              <a:rPr lang="zh-CN" altLang="en-US" sz="2800" b="1" dirty="0">
                <a:latin typeface="华文中宋" panose="02010600040101010101" pitchFamily="2" charset="-122"/>
                <a:sym typeface="Symbol" panose="05050102010706020507" pitchFamily="18" charset="2"/>
              </a:rPr>
              <a:t>  修改</a:t>
            </a:r>
            <a:r>
              <a:rPr lang="en-US" altLang="zh-CN" sz="2800" b="1" dirty="0">
                <a:latin typeface="华文中宋" panose="02010600040101010101" pitchFamily="2" charset="-122"/>
                <a:sym typeface="Symbol" panose="05050102010706020507" pitchFamily="18" charset="2"/>
              </a:rPr>
              <a:t>3.1</a:t>
            </a:r>
            <a:r>
              <a:rPr lang="zh-CN" altLang="en-US" sz="2800" b="1" dirty="0">
                <a:latin typeface="华文中宋" panose="02010600040101010101" pitchFamily="2" charset="-122"/>
                <a:sym typeface="Symbol" panose="05050102010706020507" pitchFamily="18" charset="2"/>
              </a:rPr>
              <a:t>节的算法，找出计算</a:t>
            </a:r>
            <a:r>
              <a:rPr lang="en-US" altLang="zh-CN" sz="2800" b="1" dirty="0">
                <a:latin typeface="华文中宋" panose="02010600040101010101" pitchFamily="2" charset="-122"/>
                <a:sym typeface="Symbol" panose="05050102010706020507" pitchFamily="18" charset="2"/>
              </a:rPr>
              <a:t>n</a:t>
            </a:r>
            <a:r>
              <a:rPr lang="zh-CN" altLang="en-US" sz="2800" b="1" dirty="0">
                <a:latin typeface="华文中宋" panose="02010600040101010101" pitchFamily="2" charset="-122"/>
                <a:sym typeface="Symbol" panose="05050102010706020507" pitchFamily="18" charset="2"/>
              </a:rPr>
              <a:t>个矩阵之积的最少乘法数，并完成添括号过程。</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57E24CD-9CC2-49C5-86AB-62A052DB570D}"/>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dirty="0"/>
              <a:t>动态规划解题举例</a:t>
            </a:r>
            <a:r>
              <a:rPr lang="en-US" altLang="zh-CN" sz="4000" b="1" dirty="0"/>
              <a:t>1</a:t>
            </a:r>
          </a:p>
        </p:txBody>
      </p:sp>
      <p:sp>
        <p:nvSpPr>
          <p:cNvPr id="50179" name="Rectangle 3">
            <a:extLst>
              <a:ext uri="{FF2B5EF4-FFF2-40B4-BE49-F238E27FC236}">
                <a16:creationId xmlns:a16="http://schemas.microsoft.com/office/drawing/2014/main" id="{8F156E43-F24F-474B-92BF-2DE0EB2F5307}"/>
              </a:ext>
            </a:extLst>
          </p:cNvPr>
          <p:cNvSpPr>
            <a:spLocks noGrp="1" noChangeArrowheads="1"/>
          </p:cNvSpPr>
          <p:nvPr>
            <p:ph type="body" idx="1"/>
          </p:nvPr>
        </p:nvSpPr>
        <p:spPr bwMode="auto">
          <a:xfrm>
            <a:off x="323850" y="1143000"/>
            <a:ext cx="8496300" cy="4214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r>
              <a:rPr lang="en-US" altLang="zh-CN" sz="2400" b="1" dirty="0"/>
              <a:t>1</a:t>
            </a:r>
            <a:r>
              <a:rPr lang="zh-CN" altLang="en-US" sz="2400" b="1" dirty="0"/>
              <a:t>、单侧跳马问题</a:t>
            </a:r>
          </a:p>
          <a:p>
            <a:pPr>
              <a:buFontTx/>
              <a:buNone/>
            </a:pPr>
            <a:r>
              <a:rPr lang="zh-CN" altLang="en-US" sz="2400" b="1" dirty="0"/>
              <a:t>     给定</a:t>
            </a:r>
            <a:r>
              <a:rPr lang="en-US" altLang="zh-CN" sz="2400" b="1" dirty="0"/>
              <a:t>m*n</a:t>
            </a:r>
            <a:r>
              <a:rPr lang="zh-CN" altLang="en-US" sz="2400" b="1" dirty="0"/>
              <a:t>棋盘，求棋盘上一只马从左上角（</a:t>
            </a:r>
            <a:r>
              <a:rPr lang="en-US" altLang="zh-CN" sz="2400" b="1" dirty="0"/>
              <a:t>1</a:t>
            </a:r>
            <a:r>
              <a:rPr lang="zh-CN" altLang="en-US" sz="2400" b="1" dirty="0"/>
              <a:t>，</a:t>
            </a:r>
            <a:r>
              <a:rPr lang="en-US" altLang="zh-CN" sz="2400" b="1" dirty="0"/>
              <a:t>1</a:t>
            </a:r>
            <a:r>
              <a:rPr lang="zh-CN" altLang="en-US" sz="2400" b="1" dirty="0"/>
              <a:t>）到达右下角位置的最短路径长。</a:t>
            </a:r>
          </a:p>
          <a:p>
            <a:pPr>
              <a:buFontTx/>
              <a:buNone/>
            </a:pPr>
            <a:r>
              <a:rPr lang="zh-CN" altLang="en-US" sz="2400" b="1" dirty="0"/>
              <a:t>     注意：在本问题中马只能向右侧、向下走“日”字形的，但马不能向所在位置的左边、向上走“日”字形。</a:t>
            </a:r>
          </a:p>
          <a:p>
            <a:pPr>
              <a:buFontTx/>
              <a:buNone/>
            </a:pPr>
            <a:r>
              <a:rPr lang="zh-CN" altLang="en-US" sz="2400" b="1" dirty="0">
                <a:solidFill>
                  <a:srgbClr val="A50021"/>
                </a:solidFill>
              </a:rPr>
              <a:t>输入</a:t>
            </a:r>
          </a:p>
          <a:p>
            <a:pPr>
              <a:buFontTx/>
              <a:buNone/>
            </a:pPr>
            <a:r>
              <a:rPr lang="en-US" altLang="zh-CN" sz="2400" b="1" dirty="0"/>
              <a:t>     2</a:t>
            </a:r>
            <a:r>
              <a:rPr lang="zh-CN" altLang="en-US" sz="2400" b="1" dirty="0"/>
              <a:t>个整数</a:t>
            </a:r>
            <a:r>
              <a:rPr lang="en-US" altLang="zh-CN" sz="2400" b="1" dirty="0"/>
              <a:t>m</a:t>
            </a:r>
            <a:r>
              <a:rPr lang="zh-CN" altLang="en-US" sz="2400" b="1" dirty="0"/>
              <a:t>、</a:t>
            </a:r>
            <a:r>
              <a:rPr lang="en-US" altLang="zh-CN" sz="2400" b="1" dirty="0"/>
              <a:t>n</a:t>
            </a:r>
            <a:r>
              <a:rPr lang="zh-CN" altLang="en-US" sz="2400" b="1" dirty="0"/>
              <a:t>，（</a:t>
            </a:r>
            <a:r>
              <a:rPr lang="en-US" altLang="zh-CN" sz="2400" b="1" dirty="0"/>
              <a:t>1</a:t>
            </a:r>
            <a:r>
              <a:rPr lang="en-US" altLang="zh-CN" sz="2400" b="1" dirty="0">
                <a:sym typeface="Symbol" panose="05050102010706020507" pitchFamily="18" charset="2"/>
              </a:rPr>
              <a:t></a:t>
            </a:r>
            <a:r>
              <a:rPr lang="en-US" altLang="zh-CN" sz="2400" b="1" dirty="0"/>
              <a:t>m</a:t>
            </a:r>
            <a:r>
              <a:rPr lang="zh-CN" altLang="en-US" sz="2400" b="1" dirty="0"/>
              <a:t>，</a:t>
            </a:r>
            <a:r>
              <a:rPr lang="en-US" altLang="zh-CN" sz="2400" b="1" dirty="0"/>
              <a:t>n</a:t>
            </a:r>
            <a:r>
              <a:rPr lang="en-US" altLang="zh-CN" sz="2400" b="1" dirty="0">
                <a:sym typeface="Symbol" panose="05050102010706020507" pitchFamily="18" charset="2"/>
              </a:rPr>
              <a:t>19</a:t>
            </a:r>
            <a:r>
              <a:rPr lang="zh-CN" altLang="en-US" sz="2400" b="1" dirty="0"/>
              <a:t>）</a:t>
            </a:r>
            <a:r>
              <a:rPr lang="en-US" altLang="zh-CN" sz="2400" b="1" dirty="0"/>
              <a:t>)</a:t>
            </a:r>
            <a:r>
              <a:rPr lang="zh-CN" altLang="en-US" sz="2400" b="1" dirty="0"/>
              <a:t>之间用一个空格隔开，表示棋盘大小。</a:t>
            </a:r>
          </a:p>
          <a:p>
            <a:pPr>
              <a:buFontTx/>
              <a:buNone/>
            </a:pPr>
            <a:r>
              <a:rPr lang="zh-CN" altLang="en-US" sz="2400" b="1" dirty="0">
                <a:solidFill>
                  <a:srgbClr val="A50021"/>
                </a:solidFill>
              </a:rPr>
              <a:t>输出</a:t>
            </a:r>
          </a:p>
          <a:p>
            <a:pPr>
              <a:buFontTx/>
              <a:buNone/>
            </a:pPr>
            <a:r>
              <a:rPr lang="zh-CN" altLang="en-US" sz="2400" b="1" dirty="0"/>
              <a:t>     输出马从棋盘左上角跳到右下角所需的最短路径长，如果不能跳到，那么直接输出“</a:t>
            </a:r>
            <a:r>
              <a:rPr lang="en-US" altLang="zh-CN" sz="2400" b="1" dirty="0"/>
              <a:t>Impossible”</a:t>
            </a:r>
            <a:r>
              <a:rPr lang="zh-CN" altLang="en-US" sz="2400" b="1"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B583A1A-3DEE-4E52-BCD6-8942946115A0}"/>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dirty="0"/>
              <a:t>分析</a:t>
            </a:r>
          </a:p>
        </p:txBody>
      </p:sp>
      <p:sp>
        <p:nvSpPr>
          <p:cNvPr id="51203" name="Rectangle 3">
            <a:extLst>
              <a:ext uri="{FF2B5EF4-FFF2-40B4-BE49-F238E27FC236}">
                <a16:creationId xmlns:a16="http://schemas.microsoft.com/office/drawing/2014/main" id="{63739395-5110-498D-BF8D-260CC030FE73}"/>
              </a:ext>
            </a:extLst>
          </p:cNvPr>
          <p:cNvSpPr>
            <a:spLocks noGrp="1" noChangeArrowheads="1"/>
          </p:cNvSpPr>
          <p:nvPr>
            <p:ph type="body" sz="half" idx="1"/>
          </p:nvPr>
        </p:nvSpPr>
        <p:spPr bwMode="auto">
          <a:xfrm>
            <a:off x="395288" y="981075"/>
            <a:ext cx="8207375"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400" b="1" dirty="0"/>
              <a:t>设</a:t>
            </a:r>
            <a:r>
              <a:rPr lang="en-US" altLang="zh-CN" sz="2400" b="1" i="1" dirty="0"/>
              <a:t>f</a:t>
            </a:r>
            <a:r>
              <a:rPr lang="en-US" altLang="zh-CN" sz="2400" b="1" dirty="0"/>
              <a:t>(</a:t>
            </a:r>
            <a:r>
              <a:rPr lang="en-US" altLang="zh-CN" sz="2400" b="1" i="1" dirty="0" err="1"/>
              <a:t>i</a:t>
            </a:r>
            <a:r>
              <a:rPr lang="en-US" altLang="zh-CN" sz="2400" b="1" dirty="0" err="1"/>
              <a:t>,</a:t>
            </a:r>
            <a:r>
              <a:rPr lang="en-US" altLang="zh-CN" sz="2400" b="1" i="1" dirty="0" err="1"/>
              <a:t>j</a:t>
            </a:r>
            <a:r>
              <a:rPr lang="en-US" altLang="zh-CN" sz="2400" b="1" dirty="0"/>
              <a:t>)</a:t>
            </a:r>
            <a:r>
              <a:rPr lang="zh-CN" altLang="en-US" sz="2400" b="1" dirty="0"/>
              <a:t>为从</a:t>
            </a:r>
            <a:r>
              <a:rPr lang="en-US" altLang="zh-CN" sz="2400" b="1" dirty="0"/>
              <a:t>(</a:t>
            </a:r>
            <a:r>
              <a:rPr lang="en-US" altLang="zh-CN" sz="2400" b="1" dirty="0" err="1"/>
              <a:t>i,j</a:t>
            </a:r>
            <a:r>
              <a:rPr lang="en-US" altLang="zh-CN" sz="2400" b="1" dirty="0"/>
              <a:t>)</a:t>
            </a:r>
            <a:r>
              <a:rPr lang="zh-CN" altLang="en-US" sz="2400" b="1" dirty="0"/>
              <a:t>到</a:t>
            </a:r>
            <a:r>
              <a:rPr lang="en-US" altLang="zh-CN" sz="2400" b="1" dirty="0"/>
              <a:t>(</a:t>
            </a:r>
            <a:r>
              <a:rPr lang="en-US" altLang="zh-CN" sz="2400" b="1" i="1" dirty="0" err="1"/>
              <a:t>m</a:t>
            </a:r>
            <a:r>
              <a:rPr lang="en-US" altLang="zh-CN" sz="2400" b="1" dirty="0" err="1"/>
              <a:t>,</a:t>
            </a:r>
            <a:r>
              <a:rPr lang="en-US" altLang="zh-CN" sz="2400" b="1" i="1" dirty="0" err="1"/>
              <a:t>n</a:t>
            </a:r>
            <a:r>
              <a:rPr lang="en-US" altLang="zh-CN" sz="2400" b="1" dirty="0"/>
              <a:t>)</a:t>
            </a:r>
            <a:r>
              <a:rPr lang="zh-CN" altLang="en-US" sz="2400" b="1" dirty="0"/>
              <a:t>的最短距离。从 </a:t>
            </a:r>
            <a:r>
              <a:rPr lang="en-US" altLang="zh-CN" sz="2400" b="1" dirty="0"/>
              <a:t>(</a:t>
            </a:r>
            <a:r>
              <a:rPr lang="en-US" altLang="zh-CN" sz="2400" b="1" dirty="0" err="1"/>
              <a:t>i,</a:t>
            </a:r>
            <a:r>
              <a:rPr lang="en-US" altLang="zh-CN" sz="2400" b="1" i="1" dirty="0" err="1"/>
              <a:t>j</a:t>
            </a:r>
            <a:r>
              <a:rPr lang="en-US" altLang="zh-CN" sz="2400" b="1" dirty="0"/>
              <a:t>)</a:t>
            </a:r>
            <a:r>
              <a:rPr lang="zh-CN" altLang="en-US" sz="2400" b="1" dirty="0"/>
              <a:t>开始可走</a:t>
            </a:r>
            <a:r>
              <a:rPr lang="en-US" altLang="zh-CN" sz="2400" b="1" dirty="0"/>
              <a:t>2</a:t>
            </a:r>
            <a:r>
              <a:rPr lang="zh-CN" altLang="en-US" sz="2400" b="1" dirty="0"/>
              <a:t>个位置</a:t>
            </a:r>
            <a:r>
              <a:rPr lang="en-US" altLang="zh-CN" sz="2400" b="1" dirty="0"/>
              <a:t>(</a:t>
            </a:r>
            <a:r>
              <a:rPr lang="en-US" altLang="zh-CN" sz="2400" b="1" i="1" dirty="0"/>
              <a:t>i</a:t>
            </a:r>
            <a:r>
              <a:rPr lang="en-US" altLang="zh-CN" sz="2400" b="1" dirty="0"/>
              <a:t>+1,</a:t>
            </a:r>
            <a:r>
              <a:rPr lang="en-US" altLang="zh-CN" sz="2400" b="1" i="1" dirty="0"/>
              <a:t>j</a:t>
            </a:r>
            <a:r>
              <a:rPr lang="en-US" altLang="zh-CN" sz="2400" b="1" dirty="0"/>
              <a:t>+2)</a:t>
            </a:r>
            <a:r>
              <a:rPr lang="zh-CN" altLang="en-US" sz="2400" b="1" dirty="0"/>
              <a:t>与</a:t>
            </a:r>
            <a:r>
              <a:rPr lang="en-US" altLang="zh-CN" sz="2400" b="1" dirty="0"/>
              <a:t>(</a:t>
            </a:r>
            <a:r>
              <a:rPr lang="en-US" altLang="zh-CN" sz="2400" b="1" i="1" dirty="0"/>
              <a:t>i</a:t>
            </a:r>
            <a:r>
              <a:rPr lang="en-US" altLang="zh-CN" sz="2400" b="1" dirty="0"/>
              <a:t>+2,</a:t>
            </a:r>
            <a:r>
              <a:rPr lang="en-US" altLang="zh-CN" sz="2400" b="1" i="1" dirty="0"/>
              <a:t>j</a:t>
            </a:r>
            <a:r>
              <a:rPr lang="en-US" altLang="zh-CN" sz="2400" b="1" dirty="0"/>
              <a:t>+1)</a:t>
            </a:r>
            <a:r>
              <a:rPr lang="zh-CN" altLang="en-US" sz="2400" b="1" dirty="0"/>
              <a:t>。</a:t>
            </a:r>
          </a:p>
          <a:p>
            <a:endParaRPr lang="zh-CN" altLang="en-US" sz="2400" b="1" dirty="0"/>
          </a:p>
        </p:txBody>
      </p:sp>
      <p:graphicFrame>
        <p:nvGraphicFramePr>
          <p:cNvPr id="51204" name="Object 103">
            <a:extLst>
              <a:ext uri="{FF2B5EF4-FFF2-40B4-BE49-F238E27FC236}">
                <a16:creationId xmlns:a16="http://schemas.microsoft.com/office/drawing/2014/main" id="{D0416549-55E1-44BB-9CBA-5E9E0AF86361}"/>
              </a:ext>
            </a:extLst>
          </p:cNvPr>
          <p:cNvGraphicFramePr>
            <a:graphicFrameLocks noGrp="1" noChangeAspect="1"/>
          </p:cNvGraphicFramePr>
          <p:nvPr>
            <p:ph sz="quarter" idx="2"/>
          </p:nvPr>
        </p:nvGraphicFramePr>
        <p:xfrm>
          <a:off x="684213" y="1916113"/>
          <a:ext cx="6767512" cy="1227137"/>
        </p:xfrm>
        <a:graphic>
          <a:graphicData uri="http://schemas.openxmlformats.org/presentationml/2006/ole">
            <mc:AlternateContent xmlns:mc="http://schemas.openxmlformats.org/markup-compatibility/2006">
              <mc:Choice xmlns:v="urn:schemas-microsoft-com:vml" Requires="v">
                <p:oleObj name="公式" r:id="rId2" imgW="4165600" imgH="711200" progId="Equation.3">
                  <p:embed/>
                </p:oleObj>
              </mc:Choice>
              <mc:Fallback>
                <p:oleObj name="公式" r:id="rId2" imgW="4165600" imgH="711200" progId="Equation.3">
                  <p:embed/>
                  <p:pic>
                    <p:nvPicPr>
                      <p:cNvPr id="0" name="Object 103"/>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916113"/>
                        <a:ext cx="6767512" cy="122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149" name="Group 109">
            <a:extLst>
              <a:ext uri="{FF2B5EF4-FFF2-40B4-BE49-F238E27FC236}">
                <a16:creationId xmlns:a16="http://schemas.microsoft.com/office/drawing/2014/main" id="{EAE0CC84-F1AD-430A-B942-FFBFD8C906C6}"/>
              </a:ext>
            </a:extLst>
          </p:cNvPr>
          <p:cNvGraphicFramePr>
            <a:graphicFrameLocks noGrp="1"/>
          </p:cNvGraphicFramePr>
          <p:nvPr/>
        </p:nvGraphicFramePr>
        <p:xfrm>
          <a:off x="5435600" y="3068638"/>
          <a:ext cx="2951163" cy="3175000"/>
        </p:xfrm>
        <a:graphic>
          <a:graphicData uri="http://schemas.openxmlformats.org/drawingml/2006/table">
            <a:tbl>
              <a:tblPr/>
              <a:tblGrid>
                <a:gridCol w="369888">
                  <a:extLst>
                    <a:ext uri="{9D8B030D-6E8A-4147-A177-3AD203B41FA5}">
                      <a16:colId xmlns:a16="http://schemas.microsoft.com/office/drawing/2014/main" val="366065671"/>
                    </a:ext>
                  </a:extLst>
                </a:gridCol>
                <a:gridCol w="368300">
                  <a:extLst>
                    <a:ext uri="{9D8B030D-6E8A-4147-A177-3AD203B41FA5}">
                      <a16:colId xmlns:a16="http://schemas.microsoft.com/office/drawing/2014/main" val="367498406"/>
                    </a:ext>
                  </a:extLst>
                </a:gridCol>
                <a:gridCol w="369887">
                  <a:extLst>
                    <a:ext uri="{9D8B030D-6E8A-4147-A177-3AD203B41FA5}">
                      <a16:colId xmlns:a16="http://schemas.microsoft.com/office/drawing/2014/main" val="4255695444"/>
                    </a:ext>
                  </a:extLst>
                </a:gridCol>
                <a:gridCol w="368300">
                  <a:extLst>
                    <a:ext uri="{9D8B030D-6E8A-4147-A177-3AD203B41FA5}">
                      <a16:colId xmlns:a16="http://schemas.microsoft.com/office/drawing/2014/main" val="4045324488"/>
                    </a:ext>
                  </a:extLst>
                </a:gridCol>
                <a:gridCol w="368300">
                  <a:extLst>
                    <a:ext uri="{9D8B030D-6E8A-4147-A177-3AD203B41FA5}">
                      <a16:colId xmlns:a16="http://schemas.microsoft.com/office/drawing/2014/main" val="2180628062"/>
                    </a:ext>
                  </a:extLst>
                </a:gridCol>
                <a:gridCol w="369888">
                  <a:extLst>
                    <a:ext uri="{9D8B030D-6E8A-4147-A177-3AD203B41FA5}">
                      <a16:colId xmlns:a16="http://schemas.microsoft.com/office/drawing/2014/main" val="803613831"/>
                    </a:ext>
                  </a:extLst>
                </a:gridCol>
                <a:gridCol w="368300">
                  <a:extLst>
                    <a:ext uri="{9D8B030D-6E8A-4147-A177-3AD203B41FA5}">
                      <a16:colId xmlns:a16="http://schemas.microsoft.com/office/drawing/2014/main" val="202298110"/>
                    </a:ext>
                  </a:extLst>
                </a:gridCol>
                <a:gridCol w="368300">
                  <a:extLst>
                    <a:ext uri="{9D8B030D-6E8A-4147-A177-3AD203B41FA5}">
                      <a16:colId xmlns:a16="http://schemas.microsoft.com/office/drawing/2014/main" val="2388772555"/>
                    </a:ext>
                  </a:extLst>
                </a:gridCol>
              </a:tblGrid>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2326259"/>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9577266"/>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854638"/>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7955118"/>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0118661"/>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46707838"/>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7945042"/>
                  </a:ext>
                </a:extLst>
              </a:tr>
              <a:tr h="3968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CN" altLang="en-US" sz="20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4206702"/>
                  </a:ext>
                </a:extLst>
              </a:tr>
            </a:tbl>
          </a:graphicData>
        </a:graphic>
      </p:graphicFrame>
      <p:sp>
        <p:nvSpPr>
          <p:cNvPr id="51288" name="Oval 95">
            <a:extLst>
              <a:ext uri="{FF2B5EF4-FFF2-40B4-BE49-F238E27FC236}">
                <a16:creationId xmlns:a16="http://schemas.microsoft.com/office/drawing/2014/main" id="{69752BA1-4E99-4CDD-AF6F-40CD86539D80}"/>
              </a:ext>
            </a:extLst>
          </p:cNvPr>
          <p:cNvSpPr>
            <a:spLocks noChangeArrowheads="1"/>
          </p:cNvSpPr>
          <p:nvPr/>
        </p:nvSpPr>
        <p:spPr bwMode="auto">
          <a:xfrm>
            <a:off x="6156325" y="3429000"/>
            <a:ext cx="71438" cy="71438"/>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1289" name="Oval 96">
            <a:extLst>
              <a:ext uri="{FF2B5EF4-FFF2-40B4-BE49-F238E27FC236}">
                <a16:creationId xmlns:a16="http://schemas.microsoft.com/office/drawing/2014/main" id="{5445CCF5-DEEC-4DF9-82AE-5C76E2DDF79C}"/>
              </a:ext>
            </a:extLst>
          </p:cNvPr>
          <p:cNvSpPr>
            <a:spLocks noChangeArrowheads="1"/>
          </p:cNvSpPr>
          <p:nvPr/>
        </p:nvSpPr>
        <p:spPr bwMode="auto">
          <a:xfrm>
            <a:off x="6877050" y="3860800"/>
            <a:ext cx="71438" cy="71438"/>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1290" name="Oval 97">
            <a:extLst>
              <a:ext uri="{FF2B5EF4-FFF2-40B4-BE49-F238E27FC236}">
                <a16:creationId xmlns:a16="http://schemas.microsoft.com/office/drawing/2014/main" id="{50919DDA-A3A0-4AA6-BB0A-6BEA1BA9D8F2}"/>
              </a:ext>
            </a:extLst>
          </p:cNvPr>
          <p:cNvSpPr>
            <a:spLocks noChangeArrowheads="1"/>
          </p:cNvSpPr>
          <p:nvPr/>
        </p:nvSpPr>
        <p:spPr bwMode="auto">
          <a:xfrm>
            <a:off x="6516688" y="4221163"/>
            <a:ext cx="71437" cy="71437"/>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1291" name="Oval 98">
            <a:extLst>
              <a:ext uri="{FF2B5EF4-FFF2-40B4-BE49-F238E27FC236}">
                <a16:creationId xmlns:a16="http://schemas.microsoft.com/office/drawing/2014/main" id="{F6620015-6D4A-40EE-9DF9-A82110F57082}"/>
              </a:ext>
            </a:extLst>
          </p:cNvPr>
          <p:cNvSpPr>
            <a:spLocks noChangeArrowheads="1"/>
          </p:cNvSpPr>
          <p:nvPr/>
        </p:nvSpPr>
        <p:spPr bwMode="auto">
          <a:xfrm>
            <a:off x="5435600" y="3068638"/>
            <a:ext cx="71438" cy="71437"/>
          </a:xfrm>
          <a:prstGeom prst="ellipse">
            <a:avLst/>
          </a:prstGeom>
          <a:solidFill>
            <a:schemeClr val="accent1"/>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1292" name="Text Box 99">
            <a:extLst>
              <a:ext uri="{FF2B5EF4-FFF2-40B4-BE49-F238E27FC236}">
                <a16:creationId xmlns:a16="http://schemas.microsoft.com/office/drawing/2014/main" id="{EF46B26F-5040-4C49-8C96-D0F9335FB249}"/>
              </a:ext>
            </a:extLst>
          </p:cNvPr>
          <p:cNvSpPr txBox="1">
            <a:spLocks noChangeArrowheads="1"/>
          </p:cNvSpPr>
          <p:nvPr/>
        </p:nvSpPr>
        <p:spPr bwMode="auto">
          <a:xfrm>
            <a:off x="8101013" y="616585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a:t>
            </a:r>
            <a:r>
              <a:rPr lang="en-US" altLang="zh-CN" dirty="0" err="1">
                <a:ea typeface="华文中宋" panose="02010600040101010101" pitchFamily="2" charset="-122"/>
              </a:rPr>
              <a:t>m,n</a:t>
            </a:r>
            <a:r>
              <a:rPr lang="en-US" altLang="zh-CN" dirty="0">
                <a:ea typeface="华文中宋" panose="02010600040101010101" pitchFamily="2" charset="-122"/>
              </a:rPr>
              <a:t>)</a:t>
            </a:r>
          </a:p>
        </p:txBody>
      </p:sp>
      <p:sp>
        <p:nvSpPr>
          <p:cNvPr id="51293" name="Text Box 100">
            <a:extLst>
              <a:ext uri="{FF2B5EF4-FFF2-40B4-BE49-F238E27FC236}">
                <a16:creationId xmlns:a16="http://schemas.microsoft.com/office/drawing/2014/main" id="{0952CD93-B8E1-46C0-B0D3-0685521D6AF7}"/>
              </a:ext>
            </a:extLst>
          </p:cNvPr>
          <p:cNvSpPr txBox="1">
            <a:spLocks noChangeArrowheads="1"/>
          </p:cNvSpPr>
          <p:nvPr/>
        </p:nvSpPr>
        <p:spPr bwMode="auto">
          <a:xfrm>
            <a:off x="4716463" y="2852738"/>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(1,1)</a:t>
            </a:r>
          </a:p>
        </p:txBody>
      </p:sp>
      <p:sp>
        <p:nvSpPr>
          <p:cNvPr id="51294" name="Text Box 101">
            <a:extLst>
              <a:ext uri="{FF2B5EF4-FFF2-40B4-BE49-F238E27FC236}">
                <a16:creationId xmlns:a16="http://schemas.microsoft.com/office/drawing/2014/main" id="{4D9FE262-8AA1-47BF-A597-D5852A082B4E}"/>
              </a:ext>
            </a:extLst>
          </p:cNvPr>
          <p:cNvSpPr txBox="1">
            <a:spLocks noChangeArrowheads="1"/>
          </p:cNvSpPr>
          <p:nvPr/>
        </p:nvSpPr>
        <p:spPr bwMode="auto">
          <a:xfrm>
            <a:off x="6083300" y="299720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a:t>
            </a:r>
            <a:r>
              <a:rPr lang="en-US" altLang="zh-CN" dirty="0" err="1">
                <a:ea typeface="华文中宋" panose="02010600040101010101" pitchFamily="2" charset="-122"/>
              </a:rPr>
              <a:t>i,j</a:t>
            </a:r>
            <a:r>
              <a:rPr lang="en-US" altLang="zh-CN" dirty="0">
                <a:ea typeface="华文中宋" panose="02010600040101010101" pitchFamily="2" charset="-122"/>
              </a:rPr>
              <a:t>)</a:t>
            </a:r>
          </a:p>
        </p:txBody>
      </p:sp>
      <p:graphicFrame>
        <p:nvGraphicFramePr>
          <p:cNvPr id="87151" name="Object 111">
            <a:extLst>
              <a:ext uri="{FF2B5EF4-FFF2-40B4-BE49-F238E27FC236}">
                <a16:creationId xmlns:a16="http://schemas.microsoft.com/office/drawing/2014/main" id="{608378EC-9D4B-4345-AEF2-1F8234767902}"/>
              </a:ext>
            </a:extLst>
          </p:cNvPr>
          <p:cNvGraphicFramePr>
            <a:graphicFrameLocks noGrp="1" noChangeAspect="1"/>
          </p:cNvGraphicFramePr>
          <p:nvPr>
            <p:ph sz="quarter" idx="3"/>
          </p:nvPr>
        </p:nvGraphicFramePr>
        <p:xfrm>
          <a:off x="1116013" y="3860800"/>
          <a:ext cx="1317625" cy="363538"/>
        </p:xfrm>
        <a:graphic>
          <a:graphicData uri="http://schemas.openxmlformats.org/presentationml/2006/ole">
            <mc:AlternateContent xmlns:mc="http://schemas.openxmlformats.org/markup-compatibility/2006">
              <mc:Choice xmlns:v="urn:schemas-microsoft-com:vml" Requires="v">
                <p:oleObj name="公式" r:id="rId4" imgW="736600" imgH="203200" progId="Equation.3">
                  <p:embed/>
                </p:oleObj>
              </mc:Choice>
              <mc:Fallback>
                <p:oleObj name="公式" r:id="rId4" imgW="736600" imgH="203200" progId="Equation.3">
                  <p:embed/>
                  <p:pic>
                    <p:nvPicPr>
                      <p:cNvPr id="0" name="Object 111"/>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3860800"/>
                        <a:ext cx="13176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7153" name="Text Box 113">
            <a:extLst>
              <a:ext uri="{FF2B5EF4-FFF2-40B4-BE49-F238E27FC236}">
                <a16:creationId xmlns:a16="http://schemas.microsoft.com/office/drawing/2014/main" id="{81C58412-41AE-4319-AA9E-641132DF6440}"/>
              </a:ext>
            </a:extLst>
          </p:cNvPr>
          <p:cNvSpPr txBox="1">
            <a:spLocks noChangeArrowheads="1"/>
          </p:cNvSpPr>
          <p:nvPr/>
        </p:nvSpPr>
        <p:spPr bwMode="auto">
          <a:xfrm>
            <a:off x="611188" y="3284538"/>
            <a:ext cx="3960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初值：</a:t>
            </a:r>
          </a:p>
        </p:txBody>
      </p:sp>
      <p:graphicFrame>
        <p:nvGraphicFramePr>
          <p:cNvPr id="87154" name="Object 114">
            <a:extLst>
              <a:ext uri="{FF2B5EF4-FFF2-40B4-BE49-F238E27FC236}">
                <a16:creationId xmlns:a16="http://schemas.microsoft.com/office/drawing/2014/main" id="{7D145779-FB0B-4213-A4AA-97B67762537E}"/>
              </a:ext>
            </a:extLst>
          </p:cNvPr>
          <p:cNvGraphicFramePr>
            <a:graphicFrameLocks noChangeAspect="1"/>
          </p:cNvGraphicFramePr>
          <p:nvPr/>
        </p:nvGraphicFramePr>
        <p:xfrm>
          <a:off x="1116013" y="4365625"/>
          <a:ext cx="3024187" cy="363538"/>
        </p:xfrm>
        <a:graphic>
          <a:graphicData uri="http://schemas.openxmlformats.org/presentationml/2006/ole">
            <mc:AlternateContent xmlns:mc="http://schemas.openxmlformats.org/markup-compatibility/2006">
              <mc:Choice xmlns:v="urn:schemas-microsoft-com:vml" Requires="v">
                <p:oleObj name="公式" r:id="rId6" imgW="1688367" imgH="203112" progId="Equation.3">
                  <p:embed/>
                </p:oleObj>
              </mc:Choice>
              <mc:Fallback>
                <p:oleObj name="公式" r:id="rId6" imgW="1688367" imgH="203112" progId="Equation.3">
                  <p:embed/>
                  <p:pic>
                    <p:nvPicPr>
                      <p:cNvPr id="0" name="Object 1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4365625"/>
                        <a:ext cx="302418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1298" name="AutoShape 115">
            <a:extLst>
              <a:ext uri="{FF2B5EF4-FFF2-40B4-BE49-F238E27FC236}">
                <a16:creationId xmlns:a16="http://schemas.microsoft.com/office/drawing/2014/main" id="{032D3683-14F9-4AE7-B81F-011BF9D23486}"/>
              </a:ext>
            </a:extLst>
          </p:cNvPr>
          <p:cNvCxnSpPr>
            <a:cxnSpLocks noChangeShapeType="1"/>
            <a:stCxn id="51288" idx="4"/>
            <a:endCxn id="51289" idx="1"/>
          </p:cNvCxnSpPr>
          <p:nvPr/>
        </p:nvCxnSpPr>
        <p:spPr bwMode="auto">
          <a:xfrm rot="16200000" flipH="1">
            <a:off x="6354763" y="3338513"/>
            <a:ext cx="371475" cy="695325"/>
          </a:xfrm>
          <a:prstGeom prst="curvedConnector3">
            <a:avLst>
              <a:gd name="adj1" fmla="val 29486"/>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299" name="AutoShape 116">
            <a:extLst>
              <a:ext uri="{FF2B5EF4-FFF2-40B4-BE49-F238E27FC236}">
                <a16:creationId xmlns:a16="http://schemas.microsoft.com/office/drawing/2014/main" id="{02EA96A3-CDB3-4B12-A701-0AF7936BFF79}"/>
              </a:ext>
            </a:extLst>
          </p:cNvPr>
          <p:cNvCxnSpPr>
            <a:cxnSpLocks noChangeShapeType="1"/>
            <a:stCxn id="51288" idx="4"/>
            <a:endCxn id="51290" idx="1"/>
          </p:cNvCxnSpPr>
          <p:nvPr/>
        </p:nvCxnSpPr>
        <p:spPr bwMode="auto">
          <a:xfrm rot="16200000" flipH="1">
            <a:off x="5994400" y="3698876"/>
            <a:ext cx="731837" cy="334962"/>
          </a:xfrm>
          <a:prstGeom prst="curvedConnector3">
            <a:avLst>
              <a:gd name="adj1" fmla="val 77653"/>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7153"/>
                                        </p:tgtEl>
                                        <p:attrNameLst>
                                          <p:attrName>style.visibility</p:attrName>
                                        </p:attrNameLst>
                                      </p:cBhvr>
                                      <p:to>
                                        <p:strVal val="visible"/>
                                      </p:to>
                                    </p:set>
                                    <p:anim calcmode="lin" valueType="num">
                                      <p:cBhvr additive="base">
                                        <p:cTn id="7" dur="500" fill="hold"/>
                                        <p:tgtEl>
                                          <p:spTgt spid="87153"/>
                                        </p:tgtEl>
                                        <p:attrNameLst>
                                          <p:attrName>ppt_x</p:attrName>
                                        </p:attrNameLst>
                                      </p:cBhvr>
                                      <p:tavLst>
                                        <p:tav tm="0">
                                          <p:val>
                                            <p:strVal val="#ppt_x"/>
                                          </p:val>
                                        </p:tav>
                                        <p:tav tm="100000">
                                          <p:val>
                                            <p:strVal val="#ppt_x"/>
                                          </p:val>
                                        </p:tav>
                                      </p:tavLst>
                                    </p:anim>
                                    <p:anim calcmode="lin" valueType="num">
                                      <p:cBhvr additive="base">
                                        <p:cTn id="8" dur="500" fill="hold"/>
                                        <p:tgtEl>
                                          <p:spTgt spid="8715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7151"/>
                                        </p:tgtEl>
                                        <p:attrNameLst>
                                          <p:attrName>style.visibility</p:attrName>
                                        </p:attrNameLst>
                                      </p:cBhvr>
                                      <p:to>
                                        <p:strVal val="visible"/>
                                      </p:to>
                                    </p:set>
                                    <p:anim calcmode="lin" valueType="num">
                                      <p:cBhvr additive="base">
                                        <p:cTn id="13" dur="500" fill="hold"/>
                                        <p:tgtEl>
                                          <p:spTgt spid="87151"/>
                                        </p:tgtEl>
                                        <p:attrNameLst>
                                          <p:attrName>ppt_x</p:attrName>
                                        </p:attrNameLst>
                                      </p:cBhvr>
                                      <p:tavLst>
                                        <p:tav tm="0">
                                          <p:val>
                                            <p:strVal val="#ppt_x"/>
                                          </p:val>
                                        </p:tav>
                                        <p:tav tm="100000">
                                          <p:val>
                                            <p:strVal val="#ppt_x"/>
                                          </p:val>
                                        </p:tav>
                                      </p:tavLst>
                                    </p:anim>
                                    <p:anim calcmode="lin" valueType="num">
                                      <p:cBhvr additive="base">
                                        <p:cTn id="14" dur="500" fill="hold"/>
                                        <p:tgtEl>
                                          <p:spTgt spid="8715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7154"/>
                                        </p:tgtEl>
                                        <p:attrNameLst>
                                          <p:attrName>style.visibility</p:attrName>
                                        </p:attrNameLst>
                                      </p:cBhvr>
                                      <p:to>
                                        <p:strVal val="visible"/>
                                      </p:to>
                                    </p:set>
                                    <p:anim calcmode="lin" valueType="num">
                                      <p:cBhvr additive="base">
                                        <p:cTn id="19" dur="500" fill="hold"/>
                                        <p:tgtEl>
                                          <p:spTgt spid="87154"/>
                                        </p:tgtEl>
                                        <p:attrNameLst>
                                          <p:attrName>ppt_x</p:attrName>
                                        </p:attrNameLst>
                                      </p:cBhvr>
                                      <p:tavLst>
                                        <p:tav tm="0">
                                          <p:val>
                                            <p:strVal val="#ppt_x"/>
                                          </p:val>
                                        </p:tav>
                                        <p:tav tm="100000">
                                          <p:val>
                                            <p:strVal val="#ppt_x"/>
                                          </p:val>
                                        </p:tav>
                                      </p:tavLst>
                                    </p:anim>
                                    <p:anim calcmode="lin" valueType="num">
                                      <p:cBhvr additive="base">
                                        <p:cTn id="20" dur="500" fill="hold"/>
                                        <p:tgtEl>
                                          <p:spTgt spid="871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5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B2FC54B-C531-4917-B086-AC9121C79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dirty="0"/>
              <a:t>动态规划解题举例</a:t>
            </a:r>
            <a:r>
              <a:rPr lang="en-US" altLang="zh-CN" sz="4000" b="1" dirty="0"/>
              <a:t>2</a:t>
            </a:r>
            <a:endParaRPr lang="zh-CN" altLang="en-US" sz="4000" b="1" dirty="0"/>
          </a:p>
        </p:txBody>
      </p:sp>
      <p:sp>
        <p:nvSpPr>
          <p:cNvPr id="52227" name="Rectangle 3">
            <a:extLst>
              <a:ext uri="{FF2B5EF4-FFF2-40B4-BE49-F238E27FC236}">
                <a16:creationId xmlns:a16="http://schemas.microsoft.com/office/drawing/2014/main" id="{3254D7E2-0D01-499A-AD67-0F6C33F42F7E}"/>
              </a:ext>
            </a:extLst>
          </p:cNvPr>
          <p:cNvSpPr>
            <a:spLocks noGrp="1" noChangeArrowheads="1"/>
          </p:cNvSpPr>
          <p:nvPr>
            <p:ph type="body" idx="1"/>
          </p:nvPr>
        </p:nvSpPr>
        <p:spPr bwMode="auto">
          <a:xfrm>
            <a:off x="395288" y="1125538"/>
            <a:ext cx="8353425" cy="5327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400" b="1" dirty="0"/>
              <a:t>复制书稿</a:t>
            </a:r>
          </a:p>
          <a:p>
            <a:r>
              <a:rPr lang="zh-CN" altLang="en-US" sz="2400" b="1" dirty="0"/>
              <a:t>以前人们靠抄写员复制书籍。一次，有个剧院要排演一场戏剧</a:t>
            </a:r>
            <a:r>
              <a:rPr lang="en-US" altLang="zh-CN" sz="2400" b="1" dirty="0"/>
              <a:t>,</a:t>
            </a:r>
            <a:r>
              <a:rPr lang="zh-CN" altLang="en-US" sz="2400" b="1" dirty="0"/>
              <a:t>希望将剧本复制一份。已知剧本由</a:t>
            </a:r>
            <a:r>
              <a:rPr lang="en-US" altLang="zh-CN" sz="2400" b="1" dirty="0"/>
              <a:t>m</a:t>
            </a:r>
            <a:r>
              <a:rPr lang="zh-CN" altLang="en-US" sz="2400" b="1" dirty="0"/>
              <a:t>册组成，每册有</a:t>
            </a:r>
            <a:r>
              <a:rPr lang="en-US" altLang="zh-CN" sz="2400" b="1" dirty="0"/>
              <a:t>p</a:t>
            </a:r>
            <a:r>
              <a:rPr lang="en-US" altLang="zh-CN" sz="2400" b="1" baseline="-25000" dirty="0"/>
              <a:t>i</a:t>
            </a:r>
            <a:r>
              <a:rPr lang="zh-CN" altLang="en-US" sz="2400" b="1" dirty="0"/>
              <a:t>页</a:t>
            </a:r>
            <a:r>
              <a:rPr lang="en-US" altLang="zh-CN" sz="2400" b="1" dirty="0"/>
              <a:t>(1&lt;=</a:t>
            </a:r>
            <a:r>
              <a:rPr lang="en-US" altLang="zh-CN" sz="2400" b="1" dirty="0" err="1"/>
              <a:t>i</a:t>
            </a:r>
            <a:r>
              <a:rPr lang="en-US" altLang="zh-CN" sz="2400" b="1" dirty="0"/>
              <a:t>&lt;=m)</a:t>
            </a:r>
            <a:r>
              <a:rPr lang="zh-CN" altLang="en-US" sz="2400" b="1" dirty="0"/>
              <a:t>。雇佣了</a:t>
            </a:r>
            <a:r>
              <a:rPr lang="en-US" altLang="zh-CN" sz="2400" b="1" dirty="0"/>
              <a:t>k</a:t>
            </a:r>
            <a:r>
              <a:rPr lang="zh-CN" altLang="en-US" sz="2400" b="1" dirty="0"/>
              <a:t>个抄写员</a:t>
            </a:r>
            <a:r>
              <a:rPr lang="en-US" altLang="zh-CN" sz="2400" b="1" dirty="0"/>
              <a:t>(1</a:t>
            </a:r>
            <a:r>
              <a:rPr lang="en-US" altLang="zh-CN" sz="2400" b="1" dirty="0">
                <a:sym typeface="Symbol" panose="05050102010706020507" pitchFamily="18" charset="2"/>
              </a:rPr>
              <a:t></a:t>
            </a:r>
            <a:r>
              <a:rPr lang="en-US" altLang="zh-CN" sz="2400" b="1" dirty="0"/>
              <a:t>k </a:t>
            </a:r>
            <a:r>
              <a:rPr lang="en-US" altLang="zh-CN" sz="2400" b="1" dirty="0">
                <a:sym typeface="Symbol" panose="05050102010706020507" pitchFamily="18" charset="2"/>
              </a:rPr>
              <a:t></a:t>
            </a:r>
            <a:r>
              <a:rPr lang="en-US" altLang="zh-CN" sz="2400" b="1" dirty="0"/>
              <a:t> m)</a:t>
            </a:r>
            <a:r>
              <a:rPr lang="zh-CN" altLang="en-US" sz="2400" b="1" dirty="0"/>
              <a:t>．每个抄写员只能被分配一个任务，即抄写连续的若干册书稿。假定每个抄写员的抄写速度一样。该任务完成所需的总时间由工作量最大的抄写员决定，即该抄写员要抄写的总书页数。</a:t>
            </a:r>
          </a:p>
          <a:p>
            <a:r>
              <a:rPr lang="zh-CN" altLang="en-US" sz="2400" b="1" dirty="0"/>
              <a:t>求一种分配方案，使得完成任务所需的总时间最少。</a:t>
            </a:r>
          </a:p>
          <a:p>
            <a:pPr>
              <a:buFontTx/>
              <a:buNone/>
            </a:pPr>
            <a:r>
              <a:rPr lang="zh-CN" altLang="en-US" sz="2400" b="1" dirty="0">
                <a:solidFill>
                  <a:srgbClr val="A50021"/>
                </a:solidFill>
              </a:rPr>
              <a:t>输入</a:t>
            </a:r>
          </a:p>
          <a:p>
            <a:pPr>
              <a:buFontTx/>
              <a:buNone/>
            </a:pPr>
            <a:r>
              <a:rPr lang="zh-CN" altLang="en-US" sz="2400" b="1" dirty="0"/>
              <a:t>    整数</a:t>
            </a:r>
            <a:r>
              <a:rPr lang="en-US" altLang="zh-CN" sz="2400" b="1" dirty="0"/>
              <a:t>m</a:t>
            </a:r>
            <a:r>
              <a:rPr lang="zh-CN" altLang="en-US" sz="2400" b="1" dirty="0"/>
              <a:t>及</a:t>
            </a:r>
            <a:r>
              <a:rPr lang="en-US" altLang="zh-CN" sz="2400" b="1" dirty="0"/>
              <a:t>k</a:t>
            </a:r>
            <a:r>
              <a:rPr lang="zh-CN" altLang="en-US" sz="2400" b="1" dirty="0"/>
              <a:t>。接着输入</a:t>
            </a:r>
            <a:r>
              <a:rPr lang="en-US" altLang="zh-CN" sz="2400" b="1" dirty="0"/>
              <a:t>m</a:t>
            </a:r>
            <a:r>
              <a:rPr lang="zh-CN" altLang="en-US" sz="2400" b="1" dirty="0"/>
              <a:t>个整数</a:t>
            </a:r>
            <a:r>
              <a:rPr lang="en-US" altLang="zh-CN" sz="2400" b="1" dirty="0"/>
              <a:t>p</a:t>
            </a:r>
            <a:r>
              <a:rPr lang="en-US" altLang="zh-CN" sz="2400" b="1" baseline="-25000" dirty="0"/>
              <a:t>1</a:t>
            </a:r>
            <a:r>
              <a:rPr lang="zh-CN" altLang="en-US" sz="2400" b="1" dirty="0"/>
              <a:t>、</a:t>
            </a:r>
            <a:r>
              <a:rPr lang="en-US" altLang="zh-CN" sz="2400" b="1" dirty="0"/>
              <a:t>p</a:t>
            </a:r>
            <a:r>
              <a:rPr lang="en-US" altLang="zh-CN" sz="2400" b="1" baseline="-25000" dirty="0"/>
              <a:t>2</a:t>
            </a:r>
            <a:r>
              <a:rPr lang="zh-CN" altLang="en-US" sz="2400" b="1" dirty="0"/>
              <a:t>、</a:t>
            </a:r>
            <a:r>
              <a:rPr lang="en-US" altLang="zh-CN" sz="2400" b="1" dirty="0"/>
              <a:t>p</a:t>
            </a:r>
            <a:r>
              <a:rPr lang="en-US" altLang="zh-CN" sz="2400" b="1" baseline="-25000" dirty="0"/>
              <a:t>3</a:t>
            </a:r>
            <a:r>
              <a:rPr lang="zh-CN" altLang="en-US" sz="2400" b="1" dirty="0"/>
              <a:t>、</a:t>
            </a:r>
            <a:r>
              <a:rPr lang="en-US" altLang="zh-CN" sz="2400" b="1" dirty="0"/>
              <a:t>…</a:t>
            </a:r>
            <a:r>
              <a:rPr lang="zh-CN" altLang="en-US" sz="2400" b="1" dirty="0"/>
              <a:t>、 </a:t>
            </a:r>
            <a:r>
              <a:rPr lang="en-US" altLang="zh-CN" sz="2400" b="1" dirty="0"/>
              <a:t>p</a:t>
            </a:r>
            <a:r>
              <a:rPr lang="en-US" altLang="zh-CN" sz="2400" b="1" baseline="-25000" dirty="0"/>
              <a:t>m</a:t>
            </a:r>
            <a:r>
              <a:rPr lang="zh-CN" altLang="en-US" sz="2400" b="1" dirty="0"/>
              <a:t>，之间用一个空格隔开。</a:t>
            </a:r>
          </a:p>
          <a:p>
            <a:pPr>
              <a:buFontTx/>
              <a:buNone/>
            </a:pPr>
            <a:r>
              <a:rPr lang="zh-CN" altLang="en-US" sz="2400" b="1" dirty="0">
                <a:solidFill>
                  <a:srgbClr val="A50021"/>
                </a:solidFill>
              </a:rPr>
              <a:t>输出</a:t>
            </a:r>
          </a:p>
          <a:p>
            <a:pPr>
              <a:buFontTx/>
              <a:buNone/>
            </a:pPr>
            <a:r>
              <a:rPr lang="zh-CN" altLang="en-US" sz="2400" b="1" dirty="0"/>
              <a:t>     输出完成任务所需的最少总时间。</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内容占位符 2">
            <a:extLst>
              <a:ext uri="{FF2B5EF4-FFF2-40B4-BE49-F238E27FC236}">
                <a16:creationId xmlns:a16="http://schemas.microsoft.com/office/drawing/2014/main" id="{21E85204-F1E0-47ED-A166-C1C3099974D1}"/>
              </a:ext>
            </a:extLst>
          </p:cNvPr>
          <p:cNvSpPr>
            <a:spLocks noGrp="1"/>
          </p:cNvSpPr>
          <p:nvPr>
            <p:ph idx="4294967295"/>
          </p:nvPr>
        </p:nvSpPr>
        <p:spPr bwMode="auto">
          <a:xfrm>
            <a:off x="457200" y="1219200"/>
            <a:ext cx="8229600" cy="4906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zh-CN" sz="2800" b="1" dirty="0">
                <a:ea typeface="华文中宋" panose="02010600040101010101" pitchFamily="2" charset="-122"/>
              </a:rPr>
              <a:t>设</a:t>
            </a:r>
            <a:r>
              <a:rPr lang="en-US" altLang="zh-CN" sz="2800" b="1" i="1" dirty="0">
                <a:ea typeface="华文中宋" panose="02010600040101010101" pitchFamily="2" charset="-122"/>
              </a:rPr>
              <a:t>F</a:t>
            </a:r>
            <a:r>
              <a:rPr lang="en-US" altLang="zh-CN" sz="2800" b="1" dirty="0">
                <a:ea typeface="华文中宋" panose="02010600040101010101" pitchFamily="2" charset="-122"/>
              </a:rPr>
              <a:t>[</a:t>
            </a:r>
            <a:r>
              <a:rPr lang="en-US" altLang="zh-CN" sz="2800" b="1" i="1" dirty="0" err="1">
                <a:ea typeface="华文中宋" panose="02010600040101010101" pitchFamily="2" charset="-122"/>
              </a:rPr>
              <a:t>i</a:t>
            </a:r>
            <a:r>
              <a:rPr lang="en-US" altLang="zh-CN" sz="2800" b="1" dirty="0">
                <a:ea typeface="华文中宋" panose="02010600040101010101" pitchFamily="2" charset="-122"/>
              </a:rPr>
              <a:t>][</a:t>
            </a:r>
            <a:r>
              <a:rPr lang="en-US" altLang="zh-CN" sz="2800" b="1" i="1" dirty="0">
                <a:ea typeface="华文中宋" panose="02010600040101010101" pitchFamily="2" charset="-122"/>
              </a:rPr>
              <a:t>j</a:t>
            </a:r>
            <a:r>
              <a:rPr lang="en-US" altLang="zh-CN" sz="2800" b="1" dirty="0">
                <a:ea typeface="华文中宋" panose="02010600040101010101" pitchFamily="2" charset="-122"/>
              </a:rPr>
              <a:t>]</a:t>
            </a:r>
            <a:r>
              <a:rPr lang="zh-CN" altLang="zh-CN" sz="2800" b="1" dirty="0">
                <a:ea typeface="华文中宋" panose="02010600040101010101" pitchFamily="2" charset="-122"/>
              </a:rPr>
              <a:t>为前</a:t>
            </a:r>
            <a:r>
              <a:rPr lang="en-US" altLang="zh-CN" sz="2800" b="1" i="1" dirty="0" err="1">
                <a:ea typeface="华文中宋" panose="02010600040101010101" pitchFamily="2" charset="-122"/>
              </a:rPr>
              <a:t>i</a:t>
            </a:r>
            <a:r>
              <a:rPr lang="zh-CN" altLang="zh-CN" sz="2800" b="1" dirty="0">
                <a:ea typeface="华文中宋" panose="02010600040101010101" pitchFamily="2" charset="-122"/>
              </a:rPr>
              <a:t>个抄写员复制前</a:t>
            </a:r>
            <a:r>
              <a:rPr lang="en-US" altLang="zh-CN" sz="2800" b="1" i="1" dirty="0">
                <a:ea typeface="华文中宋" panose="02010600040101010101" pitchFamily="2" charset="-122"/>
              </a:rPr>
              <a:t>j</a:t>
            </a:r>
            <a:r>
              <a:rPr lang="zh-CN" altLang="zh-CN" sz="2800" b="1" dirty="0">
                <a:ea typeface="华文中宋" panose="02010600040101010101" pitchFamily="2" charset="-122"/>
              </a:rPr>
              <a:t>本书的最小完成时间数。考察第</a:t>
            </a:r>
            <a:r>
              <a:rPr lang="en-US" altLang="zh-CN" sz="2800" b="1" i="1" dirty="0" err="1">
                <a:ea typeface="华文中宋" panose="02010600040101010101" pitchFamily="2" charset="-122"/>
              </a:rPr>
              <a:t>i</a:t>
            </a:r>
            <a:r>
              <a:rPr lang="zh-CN" altLang="zh-CN" sz="2800" b="1" dirty="0">
                <a:ea typeface="华文中宋" panose="02010600040101010101" pitchFamily="2" charset="-122"/>
              </a:rPr>
              <a:t>人的抄写情况。设前面</a:t>
            </a:r>
            <a:r>
              <a:rPr lang="en-US" altLang="zh-CN" sz="2800" b="1" i="1" dirty="0">
                <a:ea typeface="华文中宋" panose="02010600040101010101" pitchFamily="2" charset="-122"/>
              </a:rPr>
              <a:t>t</a:t>
            </a:r>
            <a:r>
              <a:rPr lang="zh-CN" altLang="zh-CN" sz="2800" b="1" dirty="0">
                <a:ea typeface="华文中宋" panose="02010600040101010101" pitchFamily="2" charset="-122"/>
              </a:rPr>
              <a:t>本书由前</a:t>
            </a:r>
            <a:r>
              <a:rPr lang="en-US" altLang="zh-CN" sz="2800" b="1" i="1" dirty="0">
                <a:ea typeface="华文中宋" panose="02010600040101010101" pitchFamily="2" charset="-122"/>
              </a:rPr>
              <a:t>i</a:t>
            </a:r>
            <a:r>
              <a:rPr lang="en-US" altLang="zh-CN" sz="2800" b="1" dirty="0">
                <a:ea typeface="华文中宋" panose="02010600040101010101" pitchFamily="2" charset="-122"/>
              </a:rPr>
              <a:t>-1</a:t>
            </a:r>
            <a:r>
              <a:rPr lang="zh-CN" altLang="zh-CN" sz="2800" b="1" dirty="0">
                <a:ea typeface="华文中宋" panose="02010600040101010101" pitchFamily="2" charset="-122"/>
              </a:rPr>
              <a:t>人抄写，而从第</a:t>
            </a:r>
            <a:r>
              <a:rPr lang="en-US" altLang="zh-CN" sz="2800" b="1" i="1" dirty="0">
                <a:ea typeface="华文中宋" panose="02010600040101010101" pitchFamily="2" charset="-122"/>
              </a:rPr>
              <a:t>t</a:t>
            </a:r>
            <a:r>
              <a:rPr lang="en-US" altLang="zh-CN" sz="2800" b="1" dirty="0">
                <a:ea typeface="华文中宋" panose="02010600040101010101" pitchFamily="2" charset="-122"/>
              </a:rPr>
              <a:t>+1</a:t>
            </a:r>
            <a:r>
              <a:rPr lang="zh-CN" altLang="zh-CN" sz="2800" b="1" dirty="0">
                <a:ea typeface="华文中宋" panose="02010600040101010101" pitchFamily="2" charset="-122"/>
              </a:rPr>
              <a:t>，</a:t>
            </a:r>
            <a:r>
              <a:rPr lang="en-US" altLang="zh-CN" sz="2800" b="1" i="1" dirty="0">
                <a:ea typeface="华文中宋" panose="02010600040101010101" pitchFamily="2" charset="-122"/>
              </a:rPr>
              <a:t>t</a:t>
            </a:r>
            <a:r>
              <a:rPr lang="en-US" altLang="zh-CN" sz="2800" b="1" dirty="0">
                <a:ea typeface="华文中宋" panose="02010600040101010101" pitchFamily="2" charset="-122"/>
              </a:rPr>
              <a:t>+2</a:t>
            </a:r>
            <a:r>
              <a:rPr lang="zh-CN" altLang="zh-CN" sz="2800" b="1" dirty="0">
                <a:ea typeface="华文中宋" panose="02010600040101010101" pitchFamily="2" charset="-122"/>
              </a:rPr>
              <a:t>，…，</a:t>
            </a:r>
            <a:r>
              <a:rPr lang="en-US" altLang="zh-CN" sz="2800" b="1" i="1" dirty="0">
                <a:ea typeface="华文中宋" panose="02010600040101010101" pitchFamily="2" charset="-122"/>
              </a:rPr>
              <a:t>j</a:t>
            </a:r>
            <a:r>
              <a:rPr lang="zh-CN" altLang="zh-CN" sz="2800" b="1" dirty="0">
                <a:ea typeface="华文中宋" panose="02010600040101010101" pitchFamily="2" charset="-122"/>
              </a:rPr>
              <a:t>本书由第</a:t>
            </a:r>
            <a:r>
              <a:rPr lang="en-US" altLang="zh-CN" sz="2800" b="1" i="1" dirty="0" err="1">
                <a:ea typeface="华文中宋" panose="02010600040101010101" pitchFamily="2" charset="-122"/>
              </a:rPr>
              <a:t>i</a:t>
            </a:r>
            <a:r>
              <a:rPr lang="zh-CN" altLang="zh-CN" sz="2800" b="1" dirty="0">
                <a:ea typeface="华文中宋" panose="02010600040101010101" pitchFamily="2" charset="-122"/>
              </a:rPr>
              <a:t>人抄写，于是便有状态转移方程：</a:t>
            </a:r>
            <a:endParaRPr lang="en-US" altLang="zh-CN" sz="2800" b="1" dirty="0">
              <a:ea typeface="华文中宋" panose="02010600040101010101" pitchFamily="2" charset="-122"/>
            </a:endParaRPr>
          </a:p>
          <a:p>
            <a:pPr eaLnBrk="1" hangingPunct="1">
              <a:buFontTx/>
              <a:buNone/>
            </a:pPr>
            <a:endParaRPr lang="en-US" altLang="zh-CN" sz="2800" b="1" dirty="0">
              <a:ea typeface="华文中宋" panose="02010600040101010101" pitchFamily="2" charset="-122"/>
            </a:endParaRPr>
          </a:p>
        </p:txBody>
      </p:sp>
      <p:sp>
        <p:nvSpPr>
          <p:cNvPr id="53251" name="Rectangle 3">
            <a:extLst>
              <a:ext uri="{FF2B5EF4-FFF2-40B4-BE49-F238E27FC236}">
                <a16:creationId xmlns:a16="http://schemas.microsoft.com/office/drawing/2014/main" id="{C9831D3E-9A9D-4BDF-B47F-4CE39226AF2A}"/>
              </a:ext>
            </a:extLst>
          </p:cNvPr>
          <p:cNvSpPr>
            <a:spLocks noGrp="1" noChangeArrowheads="1"/>
          </p:cNvSpPr>
          <p:nvPr>
            <p:ph type="title" idx="4294967295"/>
          </p:nvPr>
        </p:nvSpPr>
        <p:spPr bwMode="auto">
          <a:xfrm>
            <a:off x="762000" y="228600"/>
            <a:ext cx="7772400" cy="91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4000" b="1" dirty="0">
                <a:solidFill>
                  <a:srgbClr val="A50021"/>
                </a:solidFill>
                <a:latin typeface="华文中宋" panose="02010600040101010101" pitchFamily="2" charset="-122"/>
                <a:ea typeface="华文中宋" panose="02010600040101010101" pitchFamily="2" charset="-122"/>
              </a:rPr>
              <a:t>分析</a:t>
            </a:r>
          </a:p>
        </p:txBody>
      </p:sp>
      <p:sp>
        <p:nvSpPr>
          <p:cNvPr id="53252" name="Rectangle 4">
            <a:extLst>
              <a:ext uri="{FF2B5EF4-FFF2-40B4-BE49-F238E27FC236}">
                <a16:creationId xmlns:a16="http://schemas.microsoft.com/office/drawing/2014/main" id="{1B61DD26-608B-4E7E-86B3-19DC44D5255E}"/>
              </a:ext>
            </a:extLst>
          </p:cNvPr>
          <p:cNvSpPr>
            <a:spLocks noChangeArrowheads="1"/>
          </p:cNvSpPr>
          <p:nvPr/>
        </p:nvSpPr>
        <p:spPr bwMode="auto">
          <a:xfrm>
            <a:off x="3948113" y="3290888"/>
            <a:ext cx="914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aphicFrame>
        <p:nvGraphicFramePr>
          <p:cNvPr id="53253" name="Object 5">
            <a:extLst>
              <a:ext uri="{FF2B5EF4-FFF2-40B4-BE49-F238E27FC236}">
                <a16:creationId xmlns:a16="http://schemas.microsoft.com/office/drawing/2014/main" id="{B4AA47B3-9EF2-4769-84F1-63A2BC5333D9}"/>
              </a:ext>
            </a:extLst>
          </p:cNvPr>
          <p:cNvGraphicFramePr>
            <a:graphicFrameLocks noChangeAspect="1"/>
          </p:cNvGraphicFramePr>
          <p:nvPr/>
        </p:nvGraphicFramePr>
        <p:xfrm>
          <a:off x="5638800" y="4876800"/>
          <a:ext cx="3124200" cy="533400"/>
        </p:xfrm>
        <a:graphic>
          <a:graphicData uri="http://schemas.openxmlformats.org/presentationml/2006/ole">
            <mc:AlternateContent xmlns:mc="http://schemas.openxmlformats.org/markup-compatibility/2006">
              <mc:Choice xmlns:v="urn:schemas-microsoft-com:vml" Requires="v">
                <p:oleObj r:id="rId2" imgW="1244600" imgH="279400" progId="Equation.3">
                  <p:embed/>
                </p:oleObj>
              </mc:Choice>
              <mc:Fallback>
                <p:oleObj r:id="rId2" imgW="1244600" imgH="2794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4876800"/>
                        <a:ext cx="3124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4" name="Text Box 6">
            <a:extLst>
              <a:ext uri="{FF2B5EF4-FFF2-40B4-BE49-F238E27FC236}">
                <a16:creationId xmlns:a16="http://schemas.microsoft.com/office/drawing/2014/main" id="{8DB0B634-E29B-4644-8122-AADDD05BAEC7}"/>
              </a:ext>
            </a:extLst>
          </p:cNvPr>
          <p:cNvSpPr txBox="1">
            <a:spLocks noChangeArrowheads="1"/>
          </p:cNvSpPr>
          <p:nvPr/>
        </p:nvSpPr>
        <p:spPr bwMode="auto">
          <a:xfrm>
            <a:off x="838200" y="4876800"/>
            <a:ext cx="525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solidFill>
                  <a:srgbClr val="000000"/>
                </a:solidFill>
                <a:latin typeface="华文中宋" panose="02010600040101010101" pitchFamily="2" charset="-122"/>
                <a:ea typeface="华文中宋" panose="02010600040101010101" pitchFamily="2" charset="-122"/>
              </a:rPr>
              <a:t>初始时，</a:t>
            </a:r>
            <a:r>
              <a:rPr lang="en-US" altLang="zh-CN" i="1" dirty="0">
                <a:solidFill>
                  <a:srgbClr val="000000"/>
                </a:solidFill>
                <a:ea typeface="华文中宋" panose="02010600040101010101" pitchFamily="2" charset="-122"/>
              </a:rPr>
              <a:t>F</a:t>
            </a:r>
            <a:r>
              <a:rPr lang="en-US" altLang="zh-CN" dirty="0">
                <a:solidFill>
                  <a:srgbClr val="000000"/>
                </a:solidFill>
                <a:ea typeface="华文中宋" panose="02010600040101010101" pitchFamily="2" charset="-122"/>
              </a:rPr>
              <a:t>[1][1]=</a:t>
            </a:r>
            <a:r>
              <a:rPr lang="en-US" altLang="zh-CN" i="1" dirty="0">
                <a:solidFill>
                  <a:srgbClr val="000000"/>
                </a:solidFill>
                <a:ea typeface="华文中宋" panose="02010600040101010101" pitchFamily="2" charset="-122"/>
              </a:rPr>
              <a:t>p</a:t>
            </a:r>
            <a:r>
              <a:rPr lang="en-US" altLang="zh-CN" baseline="-30000" dirty="0">
                <a:solidFill>
                  <a:srgbClr val="000000"/>
                </a:solidFill>
                <a:ea typeface="华文中宋" panose="02010600040101010101" pitchFamily="2" charset="-122"/>
              </a:rPr>
              <a:t>1</a:t>
            </a:r>
            <a:r>
              <a:rPr lang="en-US" altLang="zh-CN" dirty="0">
                <a:solidFill>
                  <a:srgbClr val="000000"/>
                </a:solidFill>
                <a:latin typeface="华文中宋" panose="02010600040101010101" pitchFamily="2" charset="-122"/>
                <a:ea typeface="华文中宋" panose="02010600040101010101" pitchFamily="2" charset="-122"/>
              </a:rPr>
              <a:t>。</a:t>
            </a:r>
            <a:r>
              <a:rPr lang="zh-CN" altLang="en-US" dirty="0">
                <a:solidFill>
                  <a:srgbClr val="000000"/>
                </a:solidFill>
                <a:latin typeface="华文中宋" panose="02010600040101010101" pitchFamily="2" charset="-122"/>
                <a:ea typeface="华文中宋" panose="02010600040101010101" pitchFamily="2" charset="-122"/>
              </a:rPr>
              <a:t>又当</a:t>
            </a:r>
            <a:r>
              <a:rPr lang="en-US" altLang="zh-CN" i="1" dirty="0" err="1">
                <a:solidFill>
                  <a:srgbClr val="000000"/>
                </a:solidFill>
                <a:ea typeface="华文中宋" panose="02010600040101010101" pitchFamily="2" charset="-122"/>
              </a:rPr>
              <a:t>m</a:t>
            </a:r>
            <a:r>
              <a:rPr lang="en-US" altLang="zh-CN" dirty="0" err="1">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k</a:t>
            </a:r>
            <a:r>
              <a:rPr lang="zh-CN" altLang="en-US" dirty="0">
                <a:solidFill>
                  <a:srgbClr val="000000"/>
                </a:solidFill>
                <a:latin typeface="华文中宋" panose="02010600040101010101" pitchFamily="2" charset="-122"/>
                <a:ea typeface="华文中宋" panose="02010600040101010101" pitchFamily="2" charset="-122"/>
              </a:rPr>
              <a:t>时，</a:t>
            </a:r>
            <a:r>
              <a:rPr lang="zh-CN" altLang="en-US" dirty="0">
                <a:ea typeface="华文中宋" panose="02010600040101010101" pitchFamily="2" charset="-122"/>
              </a:rPr>
              <a:t> </a:t>
            </a:r>
          </a:p>
        </p:txBody>
      </p:sp>
      <p:sp>
        <p:nvSpPr>
          <p:cNvPr id="53255" name="Rectangle 7">
            <a:extLst>
              <a:ext uri="{FF2B5EF4-FFF2-40B4-BE49-F238E27FC236}">
                <a16:creationId xmlns:a16="http://schemas.microsoft.com/office/drawing/2014/main" id="{46E16B30-D49E-4E81-9D8D-9116DAE6356C}"/>
              </a:ext>
            </a:extLst>
          </p:cNvPr>
          <p:cNvSpPr>
            <a:spLocks noChangeArrowheads="1"/>
          </p:cNvSpPr>
          <p:nvPr/>
        </p:nvSpPr>
        <p:spPr bwMode="auto">
          <a:xfrm>
            <a:off x="2900363" y="3281363"/>
            <a:ext cx="914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aphicFrame>
        <p:nvGraphicFramePr>
          <p:cNvPr id="53256" name="Object 8">
            <a:extLst>
              <a:ext uri="{FF2B5EF4-FFF2-40B4-BE49-F238E27FC236}">
                <a16:creationId xmlns:a16="http://schemas.microsoft.com/office/drawing/2014/main" id="{97036016-C8DF-4FE6-9E55-91400A73BC67}"/>
              </a:ext>
            </a:extLst>
          </p:cNvPr>
          <p:cNvGraphicFramePr>
            <a:graphicFrameLocks noChangeAspect="1"/>
          </p:cNvGraphicFramePr>
          <p:nvPr/>
        </p:nvGraphicFramePr>
        <p:xfrm>
          <a:off x="923925" y="3352800"/>
          <a:ext cx="7372350" cy="685800"/>
        </p:xfrm>
        <a:graphic>
          <a:graphicData uri="http://schemas.openxmlformats.org/presentationml/2006/ole">
            <mc:AlternateContent xmlns:mc="http://schemas.openxmlformats.org/markup-compatibility/2006">
              <mc:Choice xmlns:v="urn:schemas-microsoft-com:vml" Requires="v">
                <p:oleObj name="公式" r:id="rId4" imgW="3263900" imgH="292100" progId="Equation.3">
                  <p:embed/>
                </p:oleObj>
              </mc:Choice>
              <mc:Fallback>
                <p:oleObj name="公式" r:id="rId4" imgW="3263900" imgH="2921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3925" y="3352800"/>
                        <a:ext cx="73723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7" name="Rectangle 9">
            <a:extLst>
              <a:ext uri="{FF2B5EF4-FFF2-40B4-BE49-F238E27FC236}">
                <a16:creationId xmlns:a16="http://schemas.microsoft.com/office/drawing/2014/main" id="{FD72B800-2295-4A4C-B98B-128BCBBAAD08}"/>
              </a:ext>
            </a:extLst>
          </p:cNvPr>
          <p:cNvSpPr>
            <a:spLocks noChangeArrowheads="1"/>
          </p:cNvSpPr>
          <p:nvPr/>
        </p:nvSpPr>
        <p:spPr bwMode="auto">
          <a:xfrm>
            <a:off x="762000" y="41148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000000"/>
                </a:solidFill>
                <a:latin typeface="华文中宋" panose="02010600040101010101" pitchFamily="2" charset="-122"/>
                <a:ea typeface="华文中宋" panose="02010600040101010101" pitchFamily="2" charset="-122"/>
              </a:rPr>
              <a:t>其中，</a:t>
            </a:r>
            <a:r>
              <a:rPr lang="zh-CN" altLang="en-US" dirty="0">
                <a:solidFill>
                  <a:srgbClr val="000000"/>
                </a:solidFill>
                <a:ea typeface="华文中宋" panose="02010600040101010101" pitchFamily="2" charset="-122"/>
              </a:rPr>
              <a:t>1</a:t>
            </a:r>
            <a:r>
              <a:rPr lang="zh-CN" altLang="en-US" dirty="0">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i</a:t>
            </a:r>
            <a:r>
              <a:rPr lang="en-US" altLang="zh-CN" dirty="0" err="1">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k</a:t>
            </a:r>
            <a:r>
              <a:rPr lang="en-US" altLang="zh-CN" dirty="0" err="1">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i</a:t>
            </a:r>
            <a:r>
              <a:rPr lang="en-US" altLang="zh-CN" dirty="0" err="1">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j</a:t>
            </a:r>
            <a:r>
              <a:rPr lang="en-US" altLang="zh-CN" dirty="0" err="1">
                <a:solidFill>
                  <a:srgbClr val="000000"/>
                </a:solidFill>
                <a:latin typeface="华文中宋" panose="02010600040101010101" pitchFamily="2" charset="-122"/>
                <a:ea typeface="华文中宋" panose="02010600040101010101" pitchFamily="2" charset="-122"/>
              </a:rPr>
              <a:t>≤</a:t>
            </a:r>
            <a:r>
              <a:rPr lang="en-US" altLang="zh-CN" i="1" dirty="0" err="1">
                <a:solidFill>
                  <a:srgbClr val="000000"/>
                </a:solidFill>
                <a:ea typeface="华文中宋" panose="02010600040101010101" pitchFamily="2" charset="-122"/>
              </a:rPr>
              <a:t>m</a:t>
            </a:r>
            <a:r>
              <a:rPr lang="en-US" altLang="zh-CN" dirty="0">
                <a:solidFill>
                  <a:srgbClr val="000000"/>
                </a:solidFill>
                <a:latin typeface="华文中宋" panose="02010600040101010101" pitchFamily="2" charset="-122"/>
                <a:ea typeface="华文中宋" panose="02010600040101010101" pitchFamily="2" charset="-122"/>
              </a:rPr>
              <a:t>。</a:t>
            </a:r>
            <a:r>
              <a:rPr lang="en-US" altLang="zh-CN" dirty="0">
                <a:ea typeface="华文中宋" panose="02010600040101010101" pitchFamily="2" charset="-122"/>
              </a:rPr>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70B911E-C4A2-4505-B13D-D3BB93199F72}"/>
              </a:ext>
            </a:extLst>
          </p:cNvPr>
          <p:cNvSpPr>
            <a:spLocks noGrp="1" noChangeArrowheads="1"/>
          </p:cNvSpPr>
          <p:nvPr>
            <p:ph type="title"/>
          </p:nvPr>
        </p:nvSpPr>
        <p:spPr bwMode="auto">
          <a:xfrm>
            <a:off x="685800" y="1628775"/>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pPr>
            <a:r>
              <a:rPr lang="en-US" altLang="zh-CN" b="1" dirty="0">
                <a:solidFill>
                  <a:srgbClr val="A50021"/>
                </a:solidFill>
                <a:latin typeface="Palatino Linotype" panose="02040502050505030304" pitchFamily="18" charset="0"/>
              </a:rPr>
              <a:t>3.3 </a:t>
            </a:r>
            <a:r>
              <a:rPr lang="zh-CN" altLang="en-US" b="1" dirty="0">
                <a:solidFill>
                  <a:srgbClr val="A50021"/>
                </a:solidFill>
                <a:latin typeface="Palatino Linotype" panose="02040502050505030304" pitchFamily="18" charset="0"/>
              </a:rPr>
              <a:t>最</a:t>
            </a:r>
            <a:r>
              <a:rPr lang="zh-CN" altLang="en-US" dirty="0">
                <a:solidFill>
                  <a:srgbClr val="A50021"/>
                </a:solidFill>
                <a:latin typeface="Palatino Linotype" panose="02040502050505030304" pitchFamily="18" charset="0"/>
              </a:rPr>
              <a:t>长</a:t>
            </a:r>
            <a:r>
              <a:rPr lang="zh-CN" altLang="en-US" b="1" dirty="0">
                <a:solidFill>
                  <a:srgbClr val="A50021"/>
                </a:solidFill>
                <a:latin typeface="Palatino Linotype" panose="02040502050505030304" pitchFamily="18" charset="0"/>
              </a:rPr>
              <a:t>公共子序列</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7D02AAC-7B88-4C36-A4C9-1429EE059B90}"/>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zh-CN" altLang="en-US" sz="4000" b="1" dirty="0"/>
              <a:t>概念</a:t>
            </a:r>
          </a:p>
        </p:txBody>
      </p:sp>
      <p:sp>
        <p:nvSpPr>
          <p:cNvPr id="45059" name="Rectangle 3">
            <a:extLst>
              <a:ext uri="{FF2B5EF4-FFF2-40B4-BE49-F238E27FC236}">
                <a16:creationId xmlns:a16="http://schemas.microsoft.com/office/drawing/2014/main" id="{3D16E7C1-C3E4-4C1B-83F6-9D1E20C1D17F}"/>
              </a:ext>
            </a:extLst>
          </p:cNvPr>
          <p:cNvSpPr>
            <a:spLocks noGrp="1" noChangeArrowheads="1"/>
          </p:cNvSpPr>
          <p:nvPr>
            <p:ph type="body" idx="1"/>
          </p:nvPr>
        </p:nvSpPr>
        <p:spPr bwMode="auto">
          <a:xfrm>
            <a:off x="381000" y="1219200"/>
            <a:ext cx="8382000" cy="35782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b="1" dirty="0">
                <a:solidFill>
                  <a:srgbClr val="FF0000"/>
                </a:solidFill>
                <a:latin typeface="华文中宋" panose="02010600040101010101" pitchFamily="2" charset="-122"/>
              </a:rPr>
              <a:t>1</a:t>
            </a:r>
            <a:r>
              <a:rPr lang="zh-CN" altLang="en-US" sz="2800" b="1" dirty="0">
                <a:solidFill>
                  <a:srgbClr val="FF0000"/>
                </a:solidFill>
                <a:latin typeface="华文中宋" panose="02010600040101010101" pitchFamily="2" charset="-122"/>
              </a:rPr>
              <a:t>、子序列：</a:t>
            </a:r>
            <a:r>
              <a:rPr kumimoji="0" lang="zh-CN" altLang="en-US" sz="2800" b="1" dirty="0">
                <a:latin typeface="华文中宋" panose="02010600040101010101" pitchFamily="2" charset="-122"/>
              </a:rPr>
              <a:t>若给定序列</a:t>
            </a:r>
            <a:r>
              <a:rPr kumimoji="0" lang="en-US" altLang="zh-CN" sz="2800" b="1" dirty="0">
                <a:latin typeface="华文中宋" panose="02010600040101010101" pitchFamily="2" charset="-122"/>
              </a:rPr>
              <a:t>X={x</a:t>
            </a:r>
            <a:r>
              <a:rPr kumimoji="0" lang="en-US" altLang="zh-CN" sz="2800" b="1" baseline="-25000" dirty="0">
                <a:latin typeface="华文中宋" panose="02010600040101010101" pitchFamily="2" charset="-122"/>
              </a:rPr>
              <a:t>1</a:t>
            </a:r>
            <a:r>
              <a:rPr kumimoji="0" lang="en-US" altLang="zh-CN" sz="2800" b="1" dirty="0">
                <a:latin typeface="华文中宋" panose="02010600040101010101" pitchFamily="2" charset="-122"/>
              </a:rPr>
              <a:t>,x</a:t>
            </a:r>
            <a:r>
              <a:rPr kumimoji="0" lang="en-US" altLang="zh-CN" sz="2800" b="1" baseline="-25000" dirty="0">
                <a:latin typeface="华文中宋" panose="02010600040101010101" pitchFamily="2" charset="-122"/>
              </a:rPr>
              <a:t>2</a:t>
            </a:r>
            <a:r>
              <a:rPr kumimoji="0" lang="en-US" altLang="zh-CN" sz="2800" b="1" dirty="0">
                <a:latin typeface="华文中宋" panose="02010600040101010101" pitchFamily="2" charset="-122"/>
              </a:rPr>
              <a:t>,</a:t>
            </a:r>
            <a:r>
              <a:rPr kumimoji="0" lang="en-US" altLang="zh-CN" sz="2800" b="1" dirty="0"/>
              <a:t>…</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x</a:t>
            </a:r>
            <a:r>
              <a:rPr kumimoji="0" lang="en-US" altLang="zh-CN" sz="2800" b="1" baseline="-25000" dirty="0" err="1">
                <a:latin typeface="华文中宋" panose="02010600040101010101" pitchFamily="2" charset="-122"/>
              </a:rPr>
              <a:t>m</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，则另一序列</a:t>
            </a:r>
            <a:r>
              <a:rPr kumimoji="0" lang="en-US" altLang="zh-CN" sz="2800" b="1" dirty="0">
                <a:latin typeface="华文中宋" panose="02010600040101010101" pitchFamily="2" charset="-122"/>
              </a:rPr>
              <a:t>Z={z</a:t>
            </a:r>
            <a:r>
              <a:rPr kumimoji="0" lang="en-US" altLang="zh-CN" sz="2800" b="1" baseline="-25000" dirty="0">
                <a:latin typeface="华文中宋" panose="02010600040101010101" pitchFamily="2" charset="-122"/>
              </a:rPr>
              <a:t>1</a:t>
            </a:r>
            <a:r>
              <a:rPr kumimoji="0" lang="en-US" altLang="zh-CN" sz="2800" b="1" dirty="0">
                <a:latin typeface="华文中宋" panose="02010600040101010101" pitchFamily="2" charset="-122"/>
              </a:rPr>
              <a:t>,z</a:t>
            </a:r>
            <a:r>
              <a:rPr kumimoji="0" lang="en-US" altLang="zh-CN" sz="2800" b="1" baseline="-25000" dirty="0">
                <a:latin typeface="华文中宋" panose="02010600040101010101" pitchFamily="2" charset="-122"/>
              </a:rPr>
              <a:t>2</a:t>
            </a:r>
            <a:r>
              <a:rPr kumimoji="0" lang="en-US" altLang="zh-CN" sz="2800" b="1" dirty="0">
                <a:latin typeface="华文中宋" panose="02010600040101010101" pitchFamily="2" charset="-122"/>
              </a:rPr>
              <a:t>,</a:t>
            </a:r>
            <a:r>
              <a:rPr kumimoji="0" lang="en-US" altLang="zh-CN" sz="2800" b="1" dirty="0"/>
              <a:t>…</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z</a:t>
            </a:r>
            <a:r>
              <a:rPr kumimoji="0" lang="en-US" altLang="zh-CN" sz="2800" b="1" baseline="-25000" dirty="0" err="1">
                <a:latin typeface="华文中宋" panose="02010600040101010101" pitchFamily="2" charset="-122"/>
              </a:rPr>
              <a:t>k</a:t>
            </a:r>
            <a:r>
              <a:rPr kumimoji="0" lang="en-US" altLang="zh-CN" sz="2800" b="1" dirty="0">
                <a:latin typeface="华文中宋" panose="02010600040101010101" pitchFamily="2" charset="-122"/>
              </a:rPr>
              <a:t>} </a:t>
            </a:r>
            <a:r>
              <a:rPr kumimoji="0" lang="zh-CN" altLang="en-US" sz="2800" b="1" dirty="0">
                <a:latin typeface="华文中宋" panose="02010600040101010101" pitchFamily="2" charset="-122"/>
              </a:rPr>
              <a:t>是</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的子序列，是指存在一个严格递增下标序列</a:t>
            </a:r>
            <a:r>
              <a:rPr kumimoji="0" lang="en-US" altLang="zh-CN" sz="2800" b="1" dirty="0">
                <a:latin typeface="华文中宋" panose="02010600040101010101" pitchFamily="2" charset="-122"/>
              </a:rPr>
              <a:t>{i</a:t>
            </a:r>
            <a:r>
              <a:rPr kumimoji="0" lang="en-US" altLang="zh-CN" sz="2800" b="1" baseline="-25000" dirty="0">
                <a:latin typeface="华文中宋" panose="02010600040101010101" pitchFamily="2" charset="-122"/>
              </a:rPr>
              <a:t>1</a:t>
            </a:r>
            <a:r>
              <a:rPr kumimoji="0" lang="en-US" altLang="zh-CN" sz="2800" b="1" dirty="0">
                <a:latin typeface="华文中宋" panose="02010600040101010101" pitchFamily="2" charset="-122"/>
              </a:rPr>
              <a:t>,i</a:t>
            </a:r>
            <a:r>
              <a:rPr kumimoji="0" lang="en-US" altLang="zh-CN" sz="2800" b="1" baseline="-25000" dirty="0">
                <a:latin typeface="华文中宋" panose="02010600040101010101" pitchFamily="2" charset="-122"/>
              </a:rPr>
              <a:t>2</a:t>
            </a:r>
            <a:r>
              <a:rPr kumimoji="0" lang="en-US" altLang="zh-CN" sz="2800" b="1" dirty="0">
                <a:latin typeface="华文中宋" panose="02010600040101010101" pitchFamily="2" charset="-122"/>
              </a:rPr>
              <a:t>,</a:t>
            </a:r>
            <a:r>
              <a:rPr kumimoji="0" lang="en-US" altLang="zh-CN" sz="2800" b="1" dirty="0"/>
              <a:t>…</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i</a:t>
            </a:r>
            <a:r>
              <a:rPr kumimoji="0" lang="en-US" altLang="zh-CN" sz="2800" b="1" baseline="-25000" dirty="0" err="1">
                <a:latin typeface="华文中宋" panose="02010600040101010101" pitchFamily="2" charset="-122"/>
              </a:rPr>
              <a:t>k</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使得对于所有</a:t>
            </a:r>
            <a:r>
              <a:rPr kumimoji="0" lang="en-US" altLang="zh-CN" sz="2800" b="1" dirty="0">
                <a:latin typeface="华文中宋" panose="02010600040101010101" pitchFamily="2" charset="-122"/>
              </a:rPr>
              <a:t>j=1,2,</a:t>
            </a:r>
            <a:r>
              <a:rPr kumimoji="0" lang="en-US" altLang="zh-CN" sz="2800" b="1" dirty="0"/>
              <a:t>…</a:t>
            </a:r>
            <a:r>
              <a:rPr kumimoji="0" lang="en-US" altLang="zh-CN" sz="2800" b="1" dirty="0">
                <a:latin typeface="华文中宋" panose="02010600040101010101" pitchFamily="2" charset="-122"/>
              </a:rPr>
              <a:t>,k</a:t>
            </a:r>
            <a:r>
              <a:rPr kumimoji="0" lang="zh-CN" altLang="en-US" sz="2800" b="1" dirty="0">
                <a:latin typeface="华文中宋" panose="02010600040101010101" pitchFamily="2" charset="-122"/>
              </a:rPr>
              <a:t>有：</a:t>
            </a:r>
            <a:r>
              <a:rPr kumimoji="0" lang="en-US" altLang="zh-CN" sz="2800" b="1" dirty="0" err="1">
                <a:latin typeface="华文中宋" panose="02010600040101010101" pitchFamily="2" charset="-122"/>
              </a:rPr>
              <a:t>z</a:t>
            </a:r>
            <a:r>
              <a:rPr kumimoji="0" lang="en-US" altLang="zh-CN" sz="2800" b="1" baseline="-25000" dirty="0" err="1">
                <a:latin typeface="华文中宋" panose="02010600040101010101" pitchFamily="2" charset="-122"/>
              </a:rPr>
              <a:t>j</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x</a:t>
            </a:r>
            <a:r>
              <a:rPr kumimoji="0" lang="en-US" altLang="zh-CN" sz="2800" b="1" baseline="-25000" dirty="0" err="1">
                <a:latin typeface="华文中宋" panose="02010600040101010101" pitchFamily="2" charset="-122"/>
              </a:rPr>
              <a:t>i</a:t>
            </a:r>
            <a:r>
              <a:rPr kumimoji="0" lang="en-US" altLang="zh-CN" sz="2800" b="1" baseline="-50000" dirty="0" err="1">
                <a:latin typeface="华文中宋" panose="02010600040101010101" pitchFamily="2" charset="-122"/>
              </a:rPr>
              <a:t>j</a:t>
            </a:r>
            <a:r>
              <a:rPr kumimoji="0" lang="zh-CN" altLang="en-US" sz="2800" b="1" dirty="0">
                <a:latin typeface="华文中宋" panose="02010600040101010101" pitchFamily="2" charset="-122"/>
              </a:rPr>
              <a:t>。</a:t>
            </a:r>
          </a:p>
          <a:p>
            <a:pPr eaLnBrk="1" hangingPunct="1"/>
            <a:r>
              <a:rPr kumimoji="0" lang="zh-CN" altLang="en-US" sz="2800" b="1" dirty="0">
                <a:latin typeface="华文中宋" panose="02010600040101010101" pitchFamily="2" charset="-122"/>
              </a:rPr>
              <a:t>例如，序列</a:t>
            </a:r>
            <a:r>
              <a:rPr kumimoji="0" lang="en-US" altLang="zh-CN" sz="2800" b="1" dirty="0">
                <a:latin typeface="华文中宋" panose="02010600040101010101" pitchFamily="2" charset="-122"/>
              </a:rPr>
              <a:t>Z={B</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C</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D</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B}</a:t>
            </a:r>
            <a:r>
              <a:rPr kumimoji="0" lang="zh-CN" altLang="en-US" sz="2800" b="1" dirty="0">
                <a:latin typeface="华文中宋" panose="02010600040101010101" pitchFamily="2" charset="-122"/>
              </a:rPr>
              <a:t>是序列</a:t>
            </a:r>
            <a:r>
              <a:rPr kumimoji="0" lang="en-US" altLang="zh-CN" sz="2800" b="1" dirty="0">
                <a:latin typeface="华文中宋" panose="02010600040101010101" pitchFamily="2" charset="-122"/>
              </a:rPr>
              <a:t>X={A</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B</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C</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B</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D</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A</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B}</a:t>
            </a:r>
            <a:r>
              <a:rPr kumimoji="0" lang="zh-CN" altLang="en-US" sz="2800" b="1" dirty="0">
                <a:latin typeface="华文中宋" panose="02010600040101010101" pitchFamily="2" charset="-122"/>
              </a:rPr>
              <a:t>的子序列，相应的递增下标序列为</a:t>
            </a:r>
            <a:r>
              <a:rPr kumimoji="0" lang="en-US" altLang="zh-CN" sz="2800" b="1" dirty="0">
                <a:latin typeface="华文中宋" panose="02010600040101010101" pitchFamily="2" charset="-122"/>
              </a:rPr>
              <a:t>{2</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3</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5</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7}</a:t>
            </a:r>
            <a:r>
              <a:rPr kumimoji="0" lang="zh-CN" altLang="en-US" sz="2800" b="1" dirty="0">
                <a:latin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059">
                                            <p:txEl>
                                              <p:pRg st="1" end="1"/>
                                            </p:txEl>
                                          </p:spTgt>
                                        </p:tgtEl>
                                        <p:attrNameLst>
                                          <p:attrName>style.visibility</p:attrName>
                                        </p:attrNameLst>
                                      </p:cBhvr>
                                      <p:to>
                                        <p:strVal val="visible"/>
                                      </p:to>
                                    </p:set>
                                    <p:anim calcmode="lin" valueType="num">
                                      <p:cBhvr additive="base">
                                        <p:cTn id="13" dur="500" fill="hold"/>
                                        <p:tgtEl>
                                          <p:spTgt spid="450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5059">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4E16EB7-FFFF-4C56-B382-FF5D8738EAAD}"/>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b="1" dirty="0"/>
              <a:t>2</a:t>
            </a:r>
            <a:r>
              <a:rPr lang="zh-CN" altLang="en-US" sz="4000" b="1" dirty="0"/>
              <a:t>、公共子序列</a:t>
            </a:r>
          </a:p>
        </p:txBody>
      </p:sp>
      <p:sp>
        <p:nvSpPr>
          <p:cNvPr id="56323" name="Rectangle 3">
            <a:extLst>
              <a:ext uri="{FF2B5EF4-FFF2-40B4-BE49-F238E27FC236}">
                <a16:creationId xmlns:a16="http://schemas.microsoft.com/office/drawing/2014/main" id="{60AE6FF8-4810-4AA3-B20D-A8D094AA8962}"/>
              </a:ext>
            </a:extLst>
          </p:cNvPr>
          <p:cNvSpPr>
            <a:spLocks noGrp="1" noChangeArrowheads="1"/>
          </p:cNvSpPr>
          <p:nvPr>
            <p:ph type="body" idx="1"/>
          </p:nvPr>
        </p:nvSpPr>
        <p:spPr bwMode="auto">
          <a:xfrm>
            <a:off x="685800" y="1981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b="1" dirty="0">
                <a:latin typeface="华文中宋" panose="02010600040101010101" pitchFamily="2" charset="-122"/>
              </a:rPr>
              <a:t>给定</a:t>
            </a:r>
            <a:r>
              <a:rPr kumimoji="0" lang="en-US" altLang="zh-CN" b="1" dirty="0">
                <a:latin typeface="华文中宋" panose="02010600040101010101" pitchFamily="2" charset="-122"/>
              </a:rPr>
              <a:t>2</a:t>
            </a:r>
            <a:r>
              <a:rPr kumimoji="0" lang="zh-CN" altLang="en-US" b="1" dirty="0">
                <a:latin typeface="华文中宋" panose="02010600040101010101" pitchFamily="2" charset="-122"/>
              </a:rPr>
              <a:t>个序列</a:t>
            </a:r>
            <a:r>
              <a:rPr kumimoji="0" lang="en-US" altLang="zh-CN" b="1" dirty="0">
                <a:latin typeface="华文中宋" panose="02010600040101010101" pitchFamily="2" charset="-122"/>
              </a:rPr>
              <a:t>X</a:t>
            </a:r>
            <a:r>
              <a:rPr kumimoji="0" lang="zh-CN" altLang="en-US" b="1" dirty="0">
                <a:latin typeface="华文中宋" panose="02010600040101010101" pitchFamily="2" charset="-122"/>
              </a:rPr>
              <a:t>和</a:t>
            </a:r>
            <a:r>
              <a:rPr kumimoji="0" lang="en-US" altLang="zh-CN" b="1" dirty="0">
                <a:latin typeface="华文中宋" panose="02010600040101010101" pitchFamily="2" charset="-122"/>
              </a:rPr>
              <a:t>Y</a:t>
            </a:r>
            <a:r>
              <a:rPr kumimoji="0" lang="zh-CN" altLang="en-US" b="1" dirty="0">
                <a:latin typeface="华文中宋" panose="02010600040101010101" pitchFamily="2" charset="-122"/>
              </a:rPr>
              <a:t>，当另一序列</a:t>
            </a:r>
            <a:r>
              <a:rPr kumimoji="0" lang="en-US" altLang="zh-CN" b="1" dirty="0">
                <a:latin typeface="华文中宋" panose="02010600040101010101" pitchFamily="2" charset="-122"/>
              </a:rPr>
              <a:t>Z</a:t>
            </a:r>
            <a:r>
              <a:rPr kumimoji="0" lang="zh-CN" altLang="en-US" b="1" dirty="0">
                <a:latin typeface="华文中宋" panose="02010600040101010101" pitchFamily="2" charset="-122"/>
              </a:rPr>
              <a:t>既是</a:t>
            </a:r>
            <a:r>
              <a:rPr kumimoji="0" lang="en-US" altLang="zh-CN" b="1" dirty="0">
                <a:latin typeface="华文中宋" panose="02010600040101010101" pitchFamily="2" charset="-122"/>
              </a:rPr>
              <a:t>X</a:t>
            </a:r>
            <a:r>
              <a:rPr kumimoji="0" lang="zh-CN" altLang="en-US" b="1" dirty="0">
                <a:latin typeface="华文中宋" panose="02010600040101010101" pitchFamily="2" charset="-122"/>
              </a:rPr>
              <a:t>的子序列又是</a:t>
            </a:r>
            <a:r>
              <a:rPr kumimoji="0" lang="en-US" altLang="zh-CN" b="1" dirty="0">
                <a:latin typeface="华文中宋" panose="02010600040101010101" pitchFamily="2" charset="-122"/>
              </a:rPr>
              <a:t>Y</a:t>
            </a:r>
            <a:r>
              <a:rPr kumimoji="0" lang="zh-CN" altLang="en-US" b="1" dirty="0">
                <a:latin typeface="华文中宋" panose="02010600040101010101" pitchFamily="2" charset="-122"/>
              </a:rPr>
              <a:t>的子序列时，称</a:t>
            </a:r>
            <a:r>
              <a:rPr kumimoji="0" lang="en-US" altLang="zh-CN" b="1" dirty="0">
                <a:latin typeface="华文中宋" panose="02010600040101010101" pitchFamily="2" charset="-122"/>
              </a:rPr>
              <a:t>Z</a:t>
            </a:r>
            <a:r>
              <a:rPr kumimoji="0" lang="zh-CN" altLang="en-US" b="1" dirty="0">
                <a:latin typeface="华文中宋" panose="02010600040101010101" pitchFamily="2" charset="-122"/>
              </a:rPr>
              <a:t>是序列</a:t>
            </a:r>
            <a:r>
              <a:rPr kumimoji="0" lang="en-US" altLang="zh-CN" b="1" dirty="0">
                <a:latin typeface="华文中宋" panose="02010600040101010101" pitchFamily="2" charset="-122"/>
              </a:rPr>
              <a:t>X</a:t>
            </a:r>
            <a:r>
              <a:rPr kumimoji="0" lang="zh-CN" altLang="en-US" b="1" dirty="0">
                <a:latin typeface="华文中宋" panose="02010600040101010101" pitchFamily="2" charset="-122"/>
              </a:rPr>
              <a:t>和</a:t>
            </a:r>
            <a:r>
              <a:rPr kumimoji="0" lang="en-US" altLang="zh-CN" b="1" dirty="0">
                <a:latin typeface="华文中宋" panose="02010600040101010101" pitchFamily="2" charset="-122"/>
              </a:rPr>
              <a:t>Y</a:t>
            </a:r>
            <a:r>
              <a:rPr kumimoji="0" lang="zh-CN" altLang="en-US" b="1" dirty="0">
                <a:latin typeface="华文中宋" panose="02010600040101010101" pitchFamily="2" charset="-122"/>
              </a:rPr>
              <a:t>的公共子序列</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5710A58-A9AB-4574-A194-87A537D283A4}"/>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pPr>
            <a:r>
              <a:rPr lang="zh-CN" altLang="en-US" sz="4000" b="1" dirty="0"/>
              <a:t>最长公共子序问题</a:t>
            </a:r>
          </a:p>
        </p:txBody>
      </p:sp>
      <p:sp>
        <p:nvSpPr>
          <p:cNvPr id="57347" name="Rectangle 3">
            <a:extLst>
              <a:ext uri="{FF2B5EF4-FFF2-40B4-BE49-F238E27FC236}">
                <a16:creationId xmlns:a16="http://schemas.microsoft.com/office/drawing/2014/main" id="{FFEA1F7C-7BAD-4319-AD05-3BB74A8C91F3}"/>
              </a:ext>
            </a:extLst>
          </p:cNvPr>
          <p:cNvSpPr>
            <a:spLocks noGrp="1" noChangeArrowheads="1"/>
          </p:cNvSpPr>
          <p:nvPr>
            <p:ph type="body" idx="1"/>
          </p:nvPr>
        </p:nvSpPr>
        <p:spPr bwMode="auto">
          <a:xfrm>
            <a:off x="685800" y="1981200"/>
            <a:ext cx="78486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Clr>
                <a:schemeClr val="accent2"/>
              </a:buClr>
            </a:pPr>
            <a:r>
              <a:rPr kumimoji="0" lang="zh-CN" altLang="en-US" sz="2800" b="1" dirty="0">
                <a:latin typeface="华文中宋" panose="02010600040101010101" pitchFamily="2" charset="-122"/>
              </a:rPr>
              <a:t>给定</a:t>
            </a:r>
            <a:r>
              <a:rPr kumimoji="0" lang="en-US" altLang="zh-CN" sz="2800" b="1" dirty="0">
                <a:latin typeface="华文中宋" panose="02010600040101010101" pitchFamily="2" charset="-122"/>
              </a:rPr>
              <a:t>2</a:t>
            </a:r>
            <a:r>
              <a:rPr kumimoji="0" lang="zh-CN" altLang="en-US" sz="2800" b="1" dirty="0">
                <a:latin typeface="华文中宋" panose="02010600040101010101" pitchFamily="2" charset="-122"/>
              </a:rPr>
              <a:t>个序列</a:t>
            </a:r>
            <a:r>
              <a:rPr kumimoji="0" lang="en-US" altLang="zh-CN" sz="2800" b="1" dirty="0">
                <a:latin typeface="华文中宋" panose="02010600040101010101" pitchFamily="2" charset="-122"/>
              </a:rPr>
              <a:t>X={x</a:t>
            </a:r>
            <a:r>
              <a:rPr kumimoji="0" lang="en-US" altLang="zh-CN" sz="2800" b="1" baseline="-25000" dirty="0">
                <a:latin typeface="华文中宋" panose="02010600040101010101" pitchFamily="2" charset="-122"/>
              </a:rPr>
              <a:t>1</a:t>
            </a:r>
            <a:r>
              <a:rPr kumimoji="0" lang="en-US" altLang="zh-CN" sz="2800" b="1" dirty="0">
                <a:latin typeface="华文中宋" panose="02010600040101010101" pitchFamily="2" charset="-122"/>
              </a:rPr>
              <a:t>,x</a:t>
            </a:r>
            <a:r>
              <a:rPr kumimoji="0" lang="en-US" altLang="zh-CN" sz="2800" b="1" baseline="-25000" dirty="0">
                <a:latin typeface="华文中宋" panose="02010600040101010101" pitchFamily="2" charset="-122"/>
              </a:rPr>
              <a:t>2</a:t>
            </a:r>
            <a:r>
              <a:rPr kumimoji="0" lang="en-US" altLang="zh-CN" sz="2800" b="1" dirty="0">
                <a:latin typeface="华文中宋" panose="02010600040101010101" pitchFamily="2" charset="-122"/>
              </a:rPr>
              <a:t>,</a:t>
            </a:r>
            <a:r>
              <a:rPr kumimoji="0" lang="en-US" altLang="zh-CN" sz="2800" b="1" dirty="0"/>
              <a:t>…</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x</a:t>
            </a:r>
            <a:r>
              <a:rPr kumimoji="0" lang="en-US" altLang="zh-CN" sz="2800" b="1" baseline="-25000" dirty="0" err="1">
                <a:latin typeface="华文中宋" panose="02010600040101010101" pitchFamily="2" charset="-122"/>
              </a:rPr>
              <a:t>m</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Y={y</a:t>
            </a:r>
            <a:r>
              <a:rPr kumimoji="0" lang="en-US" altLang="zh-CN" sz="2800" b="1" baseline="-25000" dirty="0">
                <a:latin typeface="华文中宋" panose="02010600040101010101" pitchFamily="2" charset="-122"/>
              </a:rPr>
              <a:t>1</a:t>
            </a:r>
            <a:r>
              <a:rPr kumimoji="0" lang="en-US" altLang="zh-CN" sz="2800" b="1" dirty="0">
                <a:latin typeface="华文中宋" panose="02010600040101010101" pitchFamily="2" charset="-122"/>
              </a:rPr>
              <a:t>,y</a:t>
            </a:r>
            <a:r>
              <a:rPr kumimoji="0" lang="en-US" altLang="zh-CN" sz="2800" b="1" baseline="-25000" dirty="0">
                <a:latin typeface="华文中宋" panose="02010600040101010101" pitchFamily="2" charset="-122"/>
              </a:rPr>
              <a:t>2</a:t>
            </a:r>
            <a:r>
              <a:rPr kumimoji="0" lang="en-US" altLang="zh-CN" sz="2800" b="1" dirty="0">
                <a:latin typeface="华文中宋" panose="02010600040101010101" pitchFamily="2" charset="-122"/>
              </a:rPr>
              <a:t>,</a:t>
            </a:r>
            <a:r>
              <a:rPr kumimoji="0" lang="en-US" altLang="zh-CN" sz="2800" b="1" dirty="0"/>
              <a:t>…</a:t>
            </a:r>
            <a:r>
              <a:rPr kumimoji="0" lang="en-US" altLang="zh-CN" sz="2800" b="1" dirty="0">
                <a:latin typeface="华文中宋" panose="02010600040101010101" pitchFamily="2" charset="-122"/>
              </a:rPr>
              <a:t>,</a:t>
            </a:r>
            <a:r>
              <a:rPr kumimoji="0" lang="en-US" altLang="zh-CN" sz="2800" b="1" dirty="0" err="1">
                <a:latin typeface="华文中宋" panose="02010600040101010101" pitchFamily="2" charset="-122"/>
              </a:rPr>
              <a:t>y</a:t>
            </a:r>
            <a:r>
              <a:rPr kumimoji="0" lang="en-US" altLang="zh-CN" sz="2800" b="1" baseline="-25000" dirty="0" err="1">
                <a:latin typeface="华文中宋" panose="02010600040101010101" pitchFamily="2" charset="-122"/>
              </a:rPr>
              <a:t>n</a:t>
            </a:r>
            <a:r>
              <a:rPr kumimoji="0" lang="en-US" altLang="zh-CN" sz="2800" b="1" dirty="0">
                <a:latin typeface="华文中宋" panose="02010600040101010101" pitchFamily="2" charset="-122"/>
              </a:rPr>
              <a:t>}</a:t>
            </a:r>
            <a:r>
              <a:rPr kumimoji="0" lang="zh-CN" altLang="en-US" sz="2800" b="1" dirty="0">
                <a:latin typeface="华文中宋" panose="02010600040101010101" pitchFamily="2" charset="-122"/>
              </a:rPr>
              <a:t>，找出</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Y</a:t>
            </a:r>
            <a:r>
              <a:rPr kumimoji="0" lang="zh-CN" altLang="en-US" sz="2800" b="1" dirty="0">
                <a:latin typeface="华文中宋" panose="02010600040101010101" pitchFamily="2" charset="-122"/>
              </a:rPr>
              <a:t>的最长公共子序列</a:t>
            </a:r>
            <a:r>
              <a:rPr kumimoji="0" lang="en-US" altLang="zh-CN" sz="2800" b="1" dirty="0">
                <a:latin typeface="华文中宋" panose="02010600040101010101" pitchFamily="2" charset="-122"/>
              </a:rPr>
              <a:t>Z</a:t>
            </a:r>
            <a:r>
              <a:rPr kumimoji="0" lang="zh-CN" altLang="en-US" sz="2800" b="1" dirty="0">
                <a:latin typeface="华文中宋" panose="02010600040101010101" pitchFamily="2" charset="-122"/>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2F65FE83-7853-4F75-AE67-7FA7C738B9A1}"/>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lang="zh-CN" altLang="en-US" sz="4000" b="1" dirty="0"/>
              <a:t>一、算法分析</a:t>
            </a:r>
          </a:p>
        </p:txBody>
      </p:sp>
      <p:sp>
        <p:nvSpPr>
          <p:cNvPr id="47107" name="Rectangle 3">
            <a:extLst>
              <a:ext uri="{FF2B5EF4-FFF2-40B4-BE49-F238E27FC236}">
                <a16:creationId xmlns:a16="http://schemas.microsoft.com/office/drawing/2014/main" id="{37F692D2-7FDE-4602-8E70-3D2AFE4E7955}"/>
              </a:ext>
            </a:extLst>
          </p:cNvPr>
          <p:cNvSpPr>
            <a:spLocks noGrp="1" noChangeArrowheads="1"/>
          </p:cNvSpPr>
          <p:nvPr>
            <p:ph type="body" idx="1"/>
          </p:nvPr>
        </p:nvSpPr>
        <p:spPr bwMode="auto">
          <a:xfrm>
            <a:off x="685800" y="1524000"/>
            <a:ext cx="7989888" cy="1262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zh-CN" altLang="en-US" sz="2800" b="1" dirty="0"/>
              <a:t>用穷举法：</a:t>
            </a:r>
            <a:r>
              <a:rPr lang="en-US" altLang="zh-CN" sz="2800" b="1" dirty="0"/>
              <a:t>X</a:t>
            </a:r>
            <a:r>
              <a:rPr lang="zh-CN" altLang="en-US" sz="2800" b="1" dirty="0"/>
              <a:t>有</a:t>
            </a:r>
            <a:r>
              <a:rPr lang="en-US" altLang="zh-CN" sz="2800" b="1" dirty="0"/>
              <a:t>2</a:t>
            </a:r>
            <a:r>
              <a:rPr lang="en-US" altLang="zh-CN" sz="2800" b="1" baseline="30000" dirty="0"/>
              <a:t>m</a:t>
            </a:r>
            <a:r>
              <a:rPr lang="zh-CN" altLang="en-US" sz="2800" b="1" dirty="0"/>
              <a:t>个子集，</a:t>
            </a:r>
            <a:r>
              <a:rPr lang="en-US" altLang="zh-CN" sz="2800" b="1" dirty="0"/>
              <a:t>m=|X|</a:t>
            </a:r>
            <a:r>
              <a:rPr lang="zh-CN" altLang="en-US" sz="2800" b="1" dirty="0"/>
              <a:t>， 逐一验证</a:t>
            </a:r>
            <a:r>
              <a:rPr lang="en-US" altLang="zh-CN" sz="2800" b="1" dirty="0"/>
              <a:t>X</a:t>
            </a:r>
            <a:r>
              <a:rPr lang="zh-CN" altLang="en-US" sz="2800" b="1" dirty="0"/>
              <a:t>的每个子集是否合要求，找出</a:t>
            </a:r>
            <a:r>
              <a:rPr lang="en-US" altLang="zh-CN" sz="2800" b="1" dirty="0"/>
              <a:t>Z</a:t>
            </a:r>
            <a:r>
              <a:rPr lang="zh-CN" altLang="en-US" sz="2800" b="1" dirty="0"/>
              <a:t>需指数时间</a:t>
            </a:r>
          </a:p>
        </p:txBody>
      </p:sp>
      <p:sp>
        <p:nvSpPr>
          <p:cNvPr id="47108" name="Rectangle 4">
            <a:extLst>
              <a:ext uri="{FF2B5EF4-FFF2-40B4-BE49-F238E27FC236}">
                <a16:creationId xmlns:a16="http://schemas.microsoft.com/office/drawing/2014/main" id="{2DB7E02D-78B2-49CA-9173-49A58DE37B64}"/>
              </a:ext>
            </a:extLst>
          </p:cNvPr>
          <p:cNvSpPr>
            <a:spLocks noChangeArrowheads="1"/>
          </p:cNvSpPr>
          <p:nvPr/>
        </p:nvSpPr>
        <p:spPr bwMode="auto">
          <a:xfrm>
            <a:off x="714375" y="2643188"/>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dirty="0">
                <a:ea typeface="华文中宋" panose="02010600040101010101" pitchFamily="2" charset="-122"/>
              </a:rPr>
              <a:t>可否用</a:t>
            </a:r>
            <a:r>
              <a:rPr lang="zh-CN" altLang="en-US" sz="2800" dirty="0">
                <a:solidFill>
                  <a:srgbClr val="FF0000"/>
                </a:solidFill>
                <a:ea typeface="华文中宋" panose="02010600040101010101" pitchFamily="2" charset="-122"/>
              </a:rPr>
              <a:t>动态规划法</a:t>
            </a:r>
            <a:r>
              <a:rPr lang="zh-CN" altLang="en-US" sz="2800" dirty="0">
                <a:ea typeface="华文中宋" panose="02010600040101010101" pitchFamily="2" charset="-122"/>
              </a:rPr>
              <a:t>？</a:t>
            </a:r>
          </a:p>
        </p:txBody>
      </p:sp>
      <p:sp>
        <p:nvSpPr>
          <p:cNvPr id="47109" name="Text Box 5">
            <a:extLst>
              <a:ext uri="{FF2B5EF4-FFF2-40B4-BE49-F238E27FC236}">
                <a16:creationId xmlns:a16="http://schemas.microsoft.com/office/drawing/2014/main" id="{C43D9AC6-56D5-4BAC-A9C4-CCC2EDF4C78F}"/>
              </a:ext>
            </a:extLst>
          </p:cNvPr>
          <p:cNvSpPr txBox="1">
            <a:spLocks noChangeArrowheads="1"/>
          </p:cNvSpPr>
          <p:nvPr/>
        </p:nvSpPr>
        <p:spPr bwMode="auto">
          <a:xfrm>
            <a:off x="1071563" y="3571875"/>
            <a:ext cx="76962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ea typeface="华文中宋" panose="02010600040101010101" pitchFamily="2" charset="-122"/>
              </a:rPr>
              <a:t>前提：问题是否具有</a:t>
            </a:r>
          </a:p>
          <a:p>
            <a:pPr eaLnBrk="1" hangingPunct="1">
              <a:spcBef>
                <a:spcPct val="50000"/>
              </a:spcBef>
            </a:pPr>
            <a:r>
              <a:rPr lang="zh-CN" altLang="en-US" sz="2800" dirty="0">
                <a:ea typeface="华文中宋" panose="02010600040101010101" pitchFamily="2" charset="-122"/>
              </a:rPr>
              <a:t>        </a:t>
            </a:r>
            <a:r>
              <a:rPr lang="en-US" altLang="zh-CN" sz="2800" dirty="0">
                <a:ea typeface="华文中宋" panose="02010600040101010101" pitchFamily="2" charset="-122"/>
              </a:rPr>
              <a:t>1</a:t>
            </a:r>
            <a:r>
              <a:rPr lang="zh-CN" altLang="en-US" sz="2800" dirty="0">
                <a:ea typeface="华文中宋" panose="02010600040101010101" pitchFamily="2" charset="-122"/>
              </a:rPr>
              <a:t>、最优子结构性质；</a:t>
            </a:r>
            <a:r>
              <a:rPr lang="en-US" altLang="zh-CN" sz="2800" dirty="0">
                <a:ea typeface="华文中宋" panose="02010600040101010101" pitchFamily="2" charset="-122"/>
              </a:rPr>
              <a:t>2</a:t>
            </a:r>
            <a:r>
              <a:rPr lang="zh-CN" altLang="en-US" sz="2800" dirty="0">
                <a:ea typeface="华文中宋" panose="02010600040101010101" pitchFamily="2" charset="-122"/>
              </a:rPr>
              <a:t>、子问题重叠性质？</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BCB858B-AA1D-E86E-A878-64D9F198B22F}"/>
                  </a:ext>
                </a:extLst>
              </p14:cNvPr>
              <p14:cNvContentPartPr/>
              <p14:nvPr/>
            </p14:nvContentPartPr>
            <p14:xfrm>
              <a:off x="3400920" y="1514160"/>
              <a:ext cx="1680480" cy="567720"/>
            </p14:xfrm>
          </p:contentPart>
        </mc:Choice>
        <mc:Fallback xmlns="">
          <p:pic>
            <p:nvPicPr>
              <p:cNvPr id="2" name="墨迹 1">
                <a:extLst>
                  <a:ext uri="{FF2B5EF4-FFF2-40B4-BE49-F238E27FC236}">
                    <a16:creationId xmlns:a16="http://schemas.microsoft.com/office/drawing/2014/main" id="{FBCB858B-AA1D-E86E-A878-64D9F198B22F}"/>
                  </a:ext>
                </a:extLst>
              </p:cNvPr>
              <p:cNvPicPr/>
              <p:nvPr/>
            </p:nvPicPr>
            <p:blipFill>
              <a:blip r:embed="rId3"/>
              <a:stretch>
                <a:fillRect/>
              </a:stretch>
            </p:blipFill>
            <p:spPr>
              <a:xfrm>
                <a:off x="3391560" y="1504800"/>
                <a:ext cx="1699200" cy="586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7108"/>
                                        </p:tgtEl>
                                        <p:attrNameLst>
                                          <p:attrName>style.visibility</p:attrName>
                                        </p:attrNameLst>
                                      </p:cBhvr>
                                      <p:to>
                                        <p:strVal val="visible"/>
                                      </p:to>
                                    </p:set>
                                    <p:anim calcmode="lin" valueType="num">
                                      <p:cBhvr additive="base">
                                        <p:cTn id="13" dur="500" fill="hold"/>
                                        <p:tgtEl>
                                          <p:spTgt spid="47108"/>
                                        </p:tgtEl>
                                        <p:attrNameLst>
                                          <p:attrName>ppt_x</p:attrName>
                                        </p:attrNameLst>
                                      </p:cBhvr>
                                      <p:tavLst>
                                        <p:tav tm="0">
                                          <p:val>
                                            <p:strVal val="0-#ppt_w/2"/>
                                          </p:val>
                                        </p:tav>
                                        <p:tav tm="100000">
                                          <p:val>
                                            <p:strVal val="#ppt_x"/>
                                          </p:val>
                                        </p:tav>
                                      </p:tavLst>
                                    </p:anim>
                                    <p:anim calcmode="lin" valueType="num">
                                      <p:cBhvr additive="base">
                                        <p:cTn id="14" dur="500" fill="hold"/>
                                        <p:tgtEl>
                                          <p:spTgt spid="4710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7109"/>
                                        </p:tgtEl>
                                        <p:attrNameLst>
                                          <p:attrName>style.visibility</p:attrName>
                                        </p:attrNameLst>
                                      </p:cBhvr>
                                      <p:to>
                                        <p:strVal val="visible"/>
                                      </p:to>
                                    </p:set>
                                    <p:anim calcmode="lin" valueType="num">
                                      <p:cBhvr additive="base">
                                        <p:cTn id="19" dur="500" fill="hold"/>
                                        <p:tgtEl>
                                          <p:spTgt spid="47109"/>
                                        </p:tgtEl>
                                        <p:attrNameLst>
                                          <p:attrName>ppt_x</p:attrName>
                                        </p:attrNameLst>
                                      </p:cBhvr>
                                      <p:tavLst>
                                        <p:tav tm="0">
                                          <p:val>
                                            <p:strVal val="0-#ppt_w/2"/>
                                          </p:val>
                                        </p:tav>
                                        <p:tav tm="100000">
                                          <p:val>
                                            <p:strVal val="#ppt_x"/>
                                          </p:val>
                                        </p:tav>
                                      </p:tavLst>
                                    </p:anim>
                                    <p:anim calcmode="lin" valueType="num">
                                      <p:cBhvr additive="base">
                                        <p:cTn id="20" dur="500" fill="hold"/>
                                        <p:tgtEl>
                                          <p:spTgt spid="47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P spid="47108" grpId="0" autoUpdateAnimBg="0"/>
      <p:bldP spid="47109"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076B36B-1E26-438D-86C5-C59A1D9F403A}"/>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最长公共子序列的结构</a:t>
            </a:r>
          </a:p>
        </p:txBody>
      </p:sp>
      <p:sp>
        <p:nvSpPr>
          <p:cNvPr id="48131" name="Rectangle 3">
            <a:extLst>
              <a:ext uri="{FF2B5EF4-FFF2-40B4-BE49-F238E27FC236}">
                <a16:creationId xmlns:a16="http://schemas.microsoft.com/office/drawing/2014/main" id="{013F7A57-3586-472A-B89C-E68AF2C0DB51}"/>
              </a:ext>
            </a:extLst>
          </p:cNvPr>
          <p:cNvSpPr>
            <a:spLocks noGrp="1" noChangeArrowheads="1"/>
          </p:cNvSpPr>
          <p:nvPr>
            <p:ph type="body" idx="1"/>
          </p:nvPr>
        </p:nvSpPr>
        <p:spPr bwMode="auto">
          <a:xfrm>
            <a:off x="304800" y="1447800"/>
            <a:ext cx="88392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spcBef>
                <a:spcPct val="0"/>
              </a:spcBef>
              <a:buFontTx/>
              <a:buNone/>
            </a:pPr>
            <a:r>
              <a:rPr kumimoji="0" lang="zh-CN" altLang="en-US" sz="2400" b="1" dirty="0">
                <a:latin typeface="华文中宋" panose="02010600040101010101" pitchFamily="2" charset="-122"/>
              </a:rPr>
              <a:t>设序列</a:t>
            </a:r>
            <a:r>
              <a:rPr kumimoji="0" lang="en-US" altLang="zh-CN" sz="2400" b="1" dirty="0">
                <a:latin typeface="华文中宋" panose="02010600040101010101" pitchFamily="2" charset="-122"/>
              </a:rPr>
              <a:t>X={x</a:t>
            </a:r>
            <a:r>
              <a:rPr kumimoji="0" lang="en-US" altLang="zh-CN" sz="2400" b="1" baseline="-25000" dirty="0">
                <a:latin typeface="华文中宋" panose="02010600040101010101" pitchFamily="2" charset="-122"/>
              </a:rPr>
              <a:t>1</a:t>
            </a:r>
            <a:r>
              <a:rPr kumimoji="0" lang="en-US" altLang="zh-CN" sz="2400" b="1" dirty="0">
                <a:latin typeface="华文中宋" panose="02010600040101010101" pitchFamily="2" charset="-122"/>
              </a:rPr>
              <a:t>,x</a:t>
            </a:r>
            <a:r>
              <a:rPr kumimoji="0" lang="en-US" altLang="zh-CN" sz="2400" b="1" baseline="-25000" dirty="0">
                <a:latin typeface="华文中宋" panose="02010600040101010101" pitchFamily="2" charset="-122"/>
              </a:rPr>
              <a:t>2</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en-US" altLang="zh-CN" sz="2400" b="1" dirty="0">
                <a:latin typeface="华文中宋" panose="02010600040101010101" pitchFamily="2" charset="-122"/>
              </a:rPr>
              <a:t>}</a:t>
            </a:r>
            <a:r>
              <a:rPr kumimoji="0" lang="zh-CN" altLang="en-US" sz="2400" b="1" dirty="0">
                <a:latin typeface="华文中宋" panose="02010600040101010101" pitchFamily="2" charset="-122"/>
              </a:rPr>
              <a:t>和</a:t>
            </a:r>
            <a:r>
              <a:rPr kumimoji="0" lang="en-US" altLang="zh-CN" sz="2400" b="1" dirty="0">
                <a:latin typeface="华文中宋" panose="02010600040101010101" pitchFamily="2" charset="-122"/>
              </a:rPr>
              <a:t>Y={y</a:t>
            </a:r>
            <a:r>
              <a:rPr kumimoji="0" lang="en-US" altLang="zh-CN" sz="2400" b="1" baseline="-25000" dirty="0">
                <a:latin typeface="华文中宋" panose="02010600040101010101" pitchFamily="2" charset="-122"/>
              </a:rPr>
              <a:t>1</a:t>
            </a:r>
            <a:r>
              <a:rPr kumimoji="0" lang="en-US" altLang="zh-CN" sz="2400" b="1" dirty="0">
                <a:latin typeface="华文中宋" panose="02010600040101010101" pitchFamily="2" charset="-122"/>
              </a:rPr>
              <a:t>,y</a:t>
            </a:r>
            <a:r>
              <a:rPr kumimoji="0" lang="en-US" altLang="zh-CN" sz="2400" b="1" baseline="-25000" dirty="0">
                <a:latin typeface="华文中宋" panose="02010600040101010101" pitchFamily="2" charset="-122"/>
              </a:rPr>
              <a:t>2</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en-US" altLang="zh-CN" sz="2400" b="1" dirty="0">
                <a:latin typeface="华文中宋" panose="02010600040101010101" pitchFamily="2" charset="-122"/>
              </a:rPr>
              <a:t>}</a:t>
            </a:r>
            <a:r>
              <a:rPr kumimoji="0" lang="zh-CN" altLang="en-US" sz="2400" b="1" dirty="0">
                <a:latin typeface="华文中宋" panose="02010600040101010101" pitchFamily="2" charset="-122"/>
              </a:rPr>
              <a:t>的最长公共子序列为</a:t>
            </a:r>
            <a:r>
              <a:rPr kumimoji="0" lang="en-US" altLang="zh-CN" sz="2400" b="1" dirty="0">
                <a:latin typeface="华文中宋" panose="02010600040101010101" pitchFamily="2" charset="-122"/>
              </a:rPr>
              <a:t>Z={z</a:t>
            </a:r>
            <a:r>
              <a:rPr kumimoji="0" lang="en-US" altLang="zh-CN" sz="2400" b="1" baseline="-25000" dirty="0">
                <a:latin typeface="华文中宋" panose="02010600040101010101" pitchFamily="2" charset="-122"/>
              </a:rPr>
              <a:t>1</a:t>
            </a:r>
            <a:r>
              <a:rPr kumimoji="0" lang="en-US" altLang="zh-CN" sz="2400" b="1" dirty="0">
                <a:latin typeface="华文中宋" panose="02010600040101010101" pitchFamily="2" charset="-122"/>
              </a:rPr>
              <a:t>,z</a:t>
            </a:r>
            <a:r>
              <a:rPr kumimoji="0" lang="en-US" altLang="zh-CN" sz="2400" b="1" baseline="-25000" dirty="0">
                <a:latin typeface="华文中宋" panose="02010600040101010101" pitchFamily="2" charset="-122"/>
              </a:rPr>
              <a:t>2</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z</a:t>
            </a:r>
            <a:r>
              <a:rPr kumimoji="0" lang="en-US" altLang="zh-CN" sz="2400" b="1" baseline="-25000" dirty="0" err="1">
                <a:latin typeface="华文中宋" panose="02010600040101010101" pitchFamily="2" charset="-122"/>
              </a:rPr>
              <a:t>k</a:t>
            </a:r>
            <a:r>
              <a:rPr kumimoji="0" lang="en-US" altLang="zh-CN" sz="2400" b="1" dirty="0">
                <a:latin typeface="华文中宋" panose="02010600040101010101" pitchFamily="2" charset="-122"/>
              </a:rPr>
              <a:t>} </a:t>
            </a:r>
            <a:r>
              <a:rPr kumimoji="0" lang="zh-CN" altLang="en-US" sz="2400" b="1" dirty="0">
                <a:latin typeface="华文中宋" panose="02010600040101010101" pitchFamily="2" charset="-122"/>
              </a:rPr>
              <a:t>，则</a:t>
            </a:r>
          </a:p>
          <a:p>
            <a:pPr eaLnBrk="1" hangingPunct="1">
              <a:lnSpc>
                <a:spcPct val="140000"/>
              </a:lnSpc>
              <a:spcBef>
                <a:spcPct val="0"/>
              </a:spcBef>
              <a:buFontTx/>
              <a:buNone/>
            </a:pPr>
            <a:r>
              <a:rPr kumimoji="0" lang="en-US" altLang="zh-CN" sz="2400" b="1" dirty="0">
                <a:latin typeface="华文中宋" panose="02010600040101010101" pitchFamily="2" charset="-122"/>
              </a:rPr>
              <a:t>(1)</a:t>
            </a:r>
            <a:r>
              <a:rPr kumimoji="0" lang="zh-CN" altLang="en-US" sz="2400" b="1" dirty="0">
                <a:latin typeface="华文中宋" panose="02010600040101010101" pitchFamily="2" charset="-122"/>
              </a:rPr>
              <a:t>若</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zh-CN" altLang="en-US" sz="2400" b="1" dirty="0">
                <a:latin typeface="华文中宋" panose="02010600040101010101" pitchFamily="2" charset="-122"/>
              </a:rPr>
              <a:t>，则</a:t>
            </a:r>
            <a:r>
              <a:rPr kumimoji="0" lang="en-US" altLang="zh-CN" sz="2400" b="1" dirty="0" err="1">
                <a:latin typeface="华文中宋" panose="02010600040101010101" pitchFamily="2" charset="-122"/>
              </a:rPr>
              <a:t>z</a:t>
            </a:r>
            <a:r>
              <a:rPr kumimoji="0" lang="en-US" altLang="zh-CN" sz="2400" b="1" baseline="-25000" dirty="0" err="1">
                <a:latin typeface="华文中宋" panose="02010600040101010101" pitchFamily="2" charset="-122"/>
              </a:rPr>
              <a:t>k</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en-US" altLang="zh-CN" sz="2400" b="1" dirty="0">
                <a:latin typeface="华文中宋" panose="02010600040101010101" pitchFamily="2" charset="-122"/>
              </a:rPr>
              <a:t>=</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zh-CN" altLang="en-US" sz="2400" b="1" dirty="0">
                <a:latin typeface="华文中宋" panose="02010600040101010101" pitchFamily="2" charset="-122"/>
              </a:rPr>
              <a:t>，且</a:t>
            </a:r>
            <a:r>
              <a:rPr kumimoji="0" lang="en-US" altLang="zh-CN" sz="2400" b="1" dirty="0">
                <a:latin typeface="华文中宋" panose="02010600040101010101" pitchFamily="2" charset="-122"/>
              </a:rPr>
              <a:t>z</a:t>
            </a:r>
            <a:r>
              <a:rPr kumimoji="0" lang="en-US" altLang="zh-CN" sz="2400" b="1" baseline="-25000" dirty="0">
                <a:latin typeface="华文中宋" panose="02010600040101010101" pitchFamily="2" charset="-122"/>
              </a:rPr>
              <a:t>k-1</a:t>
            </a:r>
            <a:r>
              <a:rPr kumimoji="0" lang="zh-CN" altLang="en-US" sz="2400" b="1" dirty="0">
                <a:latin typeface="华文中宋" panose="02010600040101010101" pitchFamily="2" charset="-122"/>
              </a:rPr>
              <a:t>是</a:t>
            </a:r>
            <a:r>
              <a:rPr kumimoji="0" lang="en-US" altLang="zh-CN" sz="2400" b="1" dirty="0">
                <a:latin typeface="华文中宋" panose="02010600040101010101" pitchFamily="2" charset="-122"/>
              </a:rPr>
              <a:t>x</a:t>
            </a:r>
            <a:r>
              <a:rPr kumimoji="0" lang="en-US" altLang="zh-CN" sz="2400" b="1" baseline="-25000" dirty="0">
                <a:latin typeface="华文中宋" panose="02010600040101010101" pitchFamily="2" charset="-122"/>
              </a:rPr>
              <a:t>m-1</a:t>
            </a:r>
            <a:r>
              <a:rPr kumimoji="0" lang="zh-CN" altLang="en-US" sz="2400" b="1" dirty="0">
                <a:latin typeface="华文中宋" panose="02010600040101010101" pitchFamily="2" charset="-122"/>
              </a:rPr>
              <a:t>和</a:t>
            </a:r>
            <a:r>
              <a:rPr kumimoji="0" lang="en-US" altLang="zh-CN" sz="2400" b="1" dirty="0">
                <a:latin typeface="华文中宋" panose="02010600040101010101" pitchFamily="2" charset="-122"/>
              </a:rPr>
              <a:t>y</a:t>
            </a:r>
            <a:r>
              <a:rPr kumimoji="0" lang="en-US" altLang="zh-CN" sz="2400" b="1" baseline="-25000" dirty="0">
                <a:latin typeface="华文中宋" panose="02010600040101010101" pitchFamily="2" charset="-122"/>
              </a:rPr>
              <a:t>n-1</a:t>
            </a:r>
            <a:r>
              <a:rPr kumimoji="0" lang="zh-CN" altLang="en-US" sz="2400" b="1" dirty="0">
                <a:latin typeface="华文中宋" panose="02010600040101010101" pitchFamily="2" charset="-122"/>
              </a:rPr>
              <a:t>的最长公共子序列。</a:t>
            </a:r>
          </a:p>
          <a:p>
            <a:pPr eaLnBrk="1" hangingPunct="1">
              <a:lnSpc>
                <a:spcPct val="140000"/>
              </a:lnSpc>
              <a:spcBef>
                <a:spcPct val="0"/>
              </a:spcBef>
              <a:buFontTx/>
              <a:buNone/>
            </a:pPr>
            <a:r>
              <a:rPr kumimoji="0" lang="en-US" altLang="zh-CN" sz="2400" b="1" dirty="0">
                <a:latin typeface="华文中宋" panose="02010600040101010101" pitchFamily="2" charset="-122"/>
              </a:rPr>
              <a:t>(2)</a:t>
            </a:r>
            <a:r>
              <a:rPr kumimoji="0" lang="zh-CN" altLang="en-US" sz="2400" b="1" dirty="0">
                <a:latin typeface="华文中宋" panose="02010600040101010101" pitchFamily="2" charset="-122"/>
              </a:rPr>
              <a:t>若</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zh-CN" altLang="en-US" sz="2400" b="1" dirty="0">
                <a:latin typeface="华文中宋" panose="02010600040101010101" pitchFamily="2" charset="-122"/>
              </a:rPr>
              <a:t>且</a:t>
            </a:r>
            <a:r>
              <a:rPr kumimoji="0" lang="en-US" altLang="zh-CN" sz="2400" b="1" dirty="0" err="1">
                <a:latin typeface="华文中宋" panose="02010600040101010101" pitchFamily="2" charset="-122"/>
              </a:rPr>
              <a:t>z</a:t>
            </a:r>
            <a:r>
              <a:rPr kumimoji="0" lang="en-US" altLang="zh-CN" sz="2400" b="1" baseline="-25000" dirty="0" err="1">
                <a:latin typeface="华文中宋" panose="02010600040101010101" pitchFamily="2" charset="-122"/>
              </a:rPr>
              <a:t>k</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zh-CN" altLang="en-US" sz="2400" b="1" dirty="0">
                <a:latin typeface="华文中宋" panose="02010600040101010101" pitchFamily="2" charset="-122"/>
              </a:rPr>
              <a:t>，则</a:t>
            </a:r>
            <a:r>
              <a:rPr kumimoji="0" lang="en-US" altLang="zh-CN" sz="2400" b="1" dirty="0">
                <a:latin typeface="华文中宋" panose="02010600040101010101" pitchFamily="2" charset="-122"/>
              </a:rPr>
              <a:t>Z</a:t>
            </a:r>
            <a:r>
              <a:rPr kumimoji="0" lang="zh-CN" altLang="en-US" sz="2400" b="1" dirty="0">
                <a:latin typeface="华文中宋" panose="02010600040101010101" pitchFamily="2" charset="-122"/>
              </a:rPr>
              <a:t>是</a:t>
            </a:r>
            <a:r>
              <a:rPr kumimoji="0" lang="en-US" altLang="zh-CN" sz="2400" b="1" dirty="0">
                <a:latin typeface="华文中宋" panose="02010600040101010101" pitchFamily="2" charset="-122"/>
              </a:rPr>
              <a:t>x</a:t>
            </a:r>
            <a:r>
              <a:rPr kumimoji="0" lang="en-US" altLang="zh-CN" sz="2400" b="1" baseline="-25000" dirty="0">
                <a:latin typeface="华文中宋" panose="02010600040101010101" pitchFamily="2" charset="-122"/>
              </a:rPr>
              <a:t>m-1</a:t>
            </a:r>
            <a:r>
              <a:rPr kumimoji="0" lang="zh-CN" altLang="en-US" sz="2400" b="1" dirty="0">
                <a:latin typeface="华文中宋" panose="02010600040101010101" pitchFamily="2" charset="-122"/>
              </a:rPr>
              <a:t>和</a:t>
            </a:r>
            <a:r>
              <a:rPr kumimoji="0" lang="en-US" altLang="zh-CN" sz="2400" b="1" dirty="0">
                <a:latin typeface="华文中宋" panose="02010600040101010101" pitchFamily="2" charset="-122"/>
              </a:rPr>
              <a:t>Y</a:t>
            </a:r>
            <a:r>
              <a:rPr kumimoji="0" lang="zh-CN" altLang="en-US" sz="2400" b="1" dirty="0">
                <a:latin typeface="华文中宋" panose="02010600040101010101" pitchFamily="2" charset="-122"/>
              </a:rPr>
              <a:t>的最长公共子序列。</a:t>
            </a:r>
          </a:p>
          <a:p>
            <a:pPr eaLnBrk="1" hangingPunct="1">
              <a:lnSpc>
                <a:spcPct val="140000"/>
              </a:lnSpc>
              <a:spcBef>
                <a:spcPct val="0"/>
              </a:spcBef>
              <a:buFontTx/>
              <a:buNone/>
            </a:pPr>
            <a:r>
              <a:rPr kumimoji="0" lang="en-US" altLang="zh-CN" sz="2400" b="1" dirty="0">
                <a:latin typeface="华文中宋" panose="02010600040101010101" pitchFamily="2" charset="-122"/>
              </a:rPr>
              <a:t>(3)</a:t>
            </a:r>
            <a:r>
              <a:rPr kumimoji="0" lang="zh-CN" altLang="en-US" sz="2400" b="1" dirty="0">
                <a:latin typeface="华文中宋" panose="02010600040101010101" pitchFamily="2" charset="-122"/>
              </a:rPr>
              <a:t>若</a:t>
            </a:r>
            <a:r>
              <a:rPr kumimoji="0" lang="en-US" altLang="zh-CN" sz="2400" b="1" dirty="0" err="1">
                <a:latin typeface="华文中宋" panose="02010600040101010101" pitchFamily="2" charset="-122"/>
              </a:rPr>
              <a:t>x</a:t>
            </a:r>
            <a:r>
              <a:rPr kumimoji="0" lang="en-US" altLang="zh-CN" sz="2400" b="1" baseline="-25000" dirty="0" err="1">
                <a:latin typeface="华文中宋" panose="02010600040101010101" pitchFamily="2" charset="-122"/>
              </a:rPr>
              <a:t>m</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zh-CN" altLang="en-US" sz="2400" b="1" dirty="0">
                <a:latin typeface="华文中宋" panose="02010600040101010101" pitchFamily="2" charset="-122"/>
              </a:rPr>
              <a:t>且</a:t>
            </a:r>
            <a:r>
              <a:rPr kumimoji="0" lang="en-US" altLang="zh-CN" sz="2400" b="1" dirty="0" err="1">
                <a:latin typeface="华文中宋" panose="02010600040101010101" pitchFamily="2" charset="-122"/>
              </a:rPr>
              <a:t>z</a:t>
            </a:r>
            <a:r>
              <a:rPr kumimoji="0" lang="en-US" altLang="zh-CN" sz="2400" b="1" baseline="-25000" dirty="0" err="1">
                <a:latin typeface="华文中宋" panose="02010600040101010101" pitchFamily="2" charset="-122"/>
              </a:rPr>
              <a:t>k</a:t>
            </a:r>
            <a:r>
              <a:rPr kumimoji="0" lang="en-US" altLang="zh-CN" sz="2400" b="1" dirty="0" err="1">
                <a:latin typeface="华文中宋" panose="02010600040101010101" pitchFamily="2" charset="-122"/>
              </a:rPr>
              <a:t>≠y</a:t>
            </a:r>
            <a:r>
              <a:rPr kumimoji="0" lang="en-US" altLang="zh-CN" sz="2400" b="1" baseline="-25000" dirty="0" err="1">
                <a:latin typeface="华文中宋" panose="02010600040101010101" pitchFamily="2" charset="-122"/>
              </a:rPr>
              <a:t>n</a:t>
            </a:r>
            <a:r>
              <a:rPr kumimoji="0" lang="zh-CN" altLang="en-US" sz="2400" b="1" dirty="0">
                <a:latin typeface="华文中宋" panose="02010600040101010101" pitchFamily="2" charset="-122"/>
              </a:rPr>
              <a:t>，则</a:t>
            </a:r>
            <a:r>
              <a:rPr kumimoji="0" lang="en-US" altLang="zh-CN" sz="2400" b="1" dirty="0">
                <a:latin typeface="华文中宋" panose="02010600040101010101" pitchFamily="2" charset="-122"/>
              </a:rPr>
              <a:t>Z</a:t>
            </a:r>
            <a:r>
              <a:rPr kumimoji="0" lang="zh-CN" altLang="en-US" sz="2400" b="1" dirty="0">
                <a:latin typeface="华文中宋" panose="02010600040101010101" pitchFamily="2" charset="-122"/>
              </a:rPr>
              <a:t>是</a:t>
            </a:r>
            <a:r>
              <a:rPr kumimoji="0" lang="en-US" altLang="zh-CN" sz="2400" b="1" dirty="0">
                <a:latin typeface="华文中宋" panose="02010600040101010101" pitchFamily="2" charset="-122"/>
              </a:rPr>
              <a:t>X</a:t>
            </a:r>
            <a:r>
              <a:rPr kumimoji="0" lang="zh-CN" altLang="en-US" sz="2400" b="1" dirty="0">
                <a:latin typeface="华文中宋" panose="02010600040101010101" pitchFamily="2" charset="-122"/>
              </a:rPr>
              <a:t>和</a:t>
            </a:r>
            <a:r>
              <a:rPr kumimoji="0" lang="en-US" altLang="zh-CN" sz="2400" b="1" dirty="0">
                <a:latin typeface="华文中宋" panose="02010600040101010101" pitchFamily="2" charset="-122"/>
              </a:rPr>
              <a:t>y</a:t>
            </a:r>
            <a:r>
              <a:rPr kumimoji="0" lang="en-US" altLang="zh-CN" sz="2400" b="1" baseline="-25000" dirty="0">
                <a:latin typeface="华文中宋" panose="02010600040101010101" pitchFamily="2" charset="-122"/>
              </a:rPr>
              <a:t>n-1</a:t>
            </a:r>
            <a:r>
              <a:rPr kumimoji="0" lang="zh-CN" altLang="en-US" sz="2400" b="1" dirty="0">
                <a:latin typeface="华文中宋" panose="02010600040101010101" pitchFamily="2" charset="-122"/>
              </a:rPr>
              <a:t>的最长公共子序列。</a:t>
            </a:r>
          </a:p>
        </p:txBody>
      </p:sp>
      <p:sp>
        <p:nvSpPr>
          <p:cNvPr id="48132" name="Text Box 4">
            <a:extLst>
              <a:ext uri="{FF2B5EF4-FFF2-40B4-BE49-F238E27FC236}">
                <a16:creationId xmlns:a16="http://schemas.microsoft.com/office/drawing/2014/main" id="{5905BB04-9DC9-4304-86F0-3A6C7C92918B}"/>
              </a:ext>
            </a:extLst>
          </p:cNvPr>
          <p:cNvSpPr txBox="1">
            <a:spLocks noChangeArrowheads="1"/>
          </p:cNvSpPr>
          <p:nvPr/>
        </p:nvSpPr>
        <p:spPr bwMode="auto">
          <a:xfrm>
            <a:off x="609600" y="4800600"/>
            <a:ext cx="80010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endParaRPr lang="zh-CN" altLang="zh-CN"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8131">
                                            <p:txEl>
                                              <p:pRg st="2" end="2"/>
                                            </p:txEl>
                                          </p:spTgt>
                                        </p:tgtEl>
                                        <p:attrNameLst>
                                          <p:attrName>style.visibility</p:attrName>
                                        </p:attrNameLst>
                                      </p:cBhvr>
                                      <p:to>
                                        <p:strVal val="visible"/>
                                      </p:to>
                                    </p:set>
                                    <p:anim calcmode="lin" valueType="num">
                                      <p:cBhvr additive="base">
                                        <p:cTn id="19" dur="500" fill="hold"/>
                                        <p:tgtEl>
                                          <p:spTgt spid="481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8131">
                                            <p:txEl>
                                              <p:pRg st="3" end="3"/>
                                            </p:txEl>
                                          </p:spTgt>
                                        </p:tgtEl>
                                        <p:attrNameLst>
                                          <p:attrName>style.visibility</p:attrName>
                                        </p:attrNameLst>
                                      </p:cBhvr>
                                      <p:to>
                                        <p:strVal val="visible"/>
                                      </p:to>
                                    </p:set>
                                    <p:anim calcmode="lin" valueType="num">
                                      <p:cBhvr additive="base">
                                        <p:cTn id="25" dur="500" fill="hold"/>
                                        <p:tgtEl>
                                          <p:spTgt spid="481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nodePh="1">
                                  <p:stCondLst>
                                    <p:cond delay="0"/>
                                  </p:stCondLst>
                                  <p:endCondLst>
                                    <p:cond evt="begin" delay="0">
                                      <p:tn val="29"/>
                                    </p:cond>
                                  </p:endCondLst>
                                  <p:childTnLst>
                                    <p:set>
                                      <p:cBhvr>
                                        <p:cTn id="30" dur="1" fill="hold">
                                          <p:stCondLst>
                                            <p:cond delay="0"/>
                                          </p:stCondLst>
                                        </p:cTn>
                                        <p:tgtEl>
                                          <p:spTgt spid="48132"/>
                                        </p:tgtEl>
                                        <p:attrNameLst>
                                          <p:attrName>style.visibility</p:attrName>
                                        </p:attrNameLst>
                                      </p:cBhvr>
                                      <p:to>
                                        <p:strVal val="visible"/>
                                      </p:to>
                                    </p:set>
                                    <p:anim calcmode="lin" valueType="num">
                                      <p:cBhvr additive="base">
                                        <p:cTn id="31" dur="500" fill="hold"/>
                                        <p:tgtEl>
                                          <p:spTgt spid="48132"/>
                                        </p:tgtEl>
                                        <p:attrNameLst>
                                          <p:attrName>ppt_x</p:attrName>
                                        </p:attrNameLst>
                                      </p:cBhvr>
                                      <p:tavLst>
                                        <p:tav tm="0">
                                          <p:val>
                                            <p:strVal val="0-#ppt_w/2"/>
                                          </p:val>
                                        </p:tav>
                                        <p:tav tm="100000">
                                          <p:val>
                                            <p:strVal val="#ppt_x"/>
                                          </p:val>
                                        </p:tav>
                                      </p:tavLst>
                                    </p:anim>
                                    <p:anim calcmode="lin" valueType="num">
                                      <p:cBhvr additive="base">
                                        <p:cTn id="32" dur="500" fill="hold"/>
                                        <p:tgtEl>
                                          <p:spTgt spid="481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P spid="48132"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FED2B899-0E01-42CE-BA4A-E9FA1291DB85}"/>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结论</a:t>
            </a:r>
          </a:p>
        </p:txBody>
      </p:sp>
      <p:sp>
        <p:nvSpPr>
          <p:cNvPr id="60419" name="Rectangle 3">
            <a:extLst>
              <a:ext uri="{FF2B5EF4-FFF2-40B4-BE49-F238E27FC236}">
                <a16:creationId xmlns:a16="http://schemas.microsoft.com/office/drawing/2014/main" id="{D6053591-FB54-42CB-AB45-DD3996051188}"/>
              </a:ext>
            </a:extLst>
          </p:cNvPr>
          <p:cNvSpPr>
            <a:spLocks noGrp="1" noChangeArrowheads="1"/>
          </p:cNvSpPr>
          <p:nvPr>
            <p:ph type="body" idx="1"/>
          </p:nvPr>
        </p:nvSpPr>
        <p:spPr bwMode="auto">
          <a:xfrm>
            <a:off x="611188" y="1628775"/>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spcBef>
                <a:spcPct val="0"/>
              </a:spcBef>
            </a:pPr>
            <a:r>
              <a:rPr lang="en-US" altLang="zh-CN" sz="2800" b="1" dirty="0"/>
              <a:t>2</a:t>
            </a:r>
            <a:r>
              <a:rPr lang="zh-CN" altLang="en-US" sz="2800" b="1" dirty="0"/>
              <a:t>个序列的最长公共子序列包含了这</a:t>
            </a:r>
            <a:r>
              <a:rPr lang="en-US" altLang="zh-CN" sz="2800" b="1" dirty="0"/>
              <a:t>2</a:t>
            </a:r>
            <a:r>
              <a:rPr lang="zh-CN" altLang="en-US" sz="2800" b="1" dirty="0"/>
              <a:t>个序列的前缀的最长公共子序列。因此，最长公共子序列问题具有</a:t>
            </a:r>
            <a:r>
              <a:rPr lang="zh-CN" altLang="en-US" sz="2800" b="1" dirty="0">
                <a:ea typeface="黑体" panose="02010609060101010101" pitchFamily="49" charset="-122"/>
              </a:rPr>
              <a:t>最优子结构性质</a:t>
            </a:r>
            <a:r>
              <a:rPr lang="zh-CN" altLang="en-US" sz="2800" b="1" dirty="0"/>
              <a:t>。 </a:t>
            </a:r>
          </a:p>
          <a:p>
            <a:pPr eaLnBrk="1" hangingPunct="1">
              <a:lnSpc>
                <a:spcPct val="140000"/>
              </a:lnSpc>
            </a:pPr>
            <a:endParaRPr lang="en-US" altLang="zh-CN"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F720E3C1-8397-4553-909B-655DE6503916}"/>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pPr>
            <a:r>
              <a:rPr lang="zh-CN" altLang="en-US" sz="4000" b="1" dirty="0"/>
              <a:t>二、子问题的递归结构</a:t>
            </a:r>
          </a:p>
        </p:txBody>
      </p:sp>
      <p:sp>
        <p:nvSpPr>
          <p:cNvPr id="49156" name="Text Box 4">
            <a:extLst>
              <a:ext uri="{FF2B5EF4-FFF2-40B4-BE49-F238E27FC236}">
                <a16:creationId xmlns:a16="http://schemas.microsoft.com/office/drawing/2014/main" id="{05DA0058-6499-4FF9-8AC6-D5CD1EE3DC8D}"/>
              </a:ext>
            </a:extLst>
          </p:cNvPr>
          <p:cNvSpPr txBox="1">
            <a:spLocks noChangeArrowheads="1"/>
          </p:cNvSpPr>
          <p:nvPr/>
        </p:nvSpPr>
        <p:spPr bwMode="auto">
          <a:xfrm>
            <a:off x="357188" y="1000125"/>
            <a:ext cx="82296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dirty="0">
                <a:latin typeface="华文中宋" panose="02010600040101010101" pitchFamily="2" charset="-122"/>
                <a:ea typeface="华文中宋" panose="02010600040101010101" pitchFamily="2" charset="-122"/>
              </a:rPr>
              <a:t>用</a:t>
            </a:r>
            <a:r>
              <a:rPr kumimoji="0" lang="en-US" altLang="zh-CN" dirty="0">
                <a:latin typeface="华文中宋" panose="02010600040101010101" pitchFamily="2" charset="-122"/>
                <a:ea typeface="华文中宋" panose="02010600040101010101" pitchFamily="2" charset="-122"/>
              </a:rPr>
              <a:t>c[</a:t>
            </a:r>
            <a:r>
              <a:rPr kumimoji="0" lang="en-US" altLang="zh-CN" dirty="0" err="1">
                <a:latin typeface="华文中宋" panose="02010600040101010101" pitchFamily="2" charset="-122"/>
                <a:ea typeface="华文中宋" panose="02010600040101010101" pitchFamily="2" charset="-122"/>
              </a:rPr>
              <a:t>i</a:t>
            </a:r>
            <a:r>
              <a:rPr kumimoji="0" lang="en-US" altLang="zh-CN" dirty="0">
                <a:latin typeface="华文中宋" panose="02010600040101010101" pitchFamily="2" charset="-122"/>
                <a:ea typeface="华文中宋" panose="02010600040101010101" pitchFamily="2" charset="-122"/>
              </a:rPr>
              <a:t>][j]</a:t>
            </a:r>
            <a:r>
              <a:rPr kumimoji="0" lang="zh-CN" altLang="en-US" dirty="0">
                <a:latin typeface="华文中宋" panose="02010600040101010101" pitchFamily="2" charset="-122"/>
                <a:ea typeface="华文中宋" panose="02010600040101010101" pitchFamily="2" charset="-122"/>
              </a:rPr>
              <a:t>记录序列</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i</a:t>
            </a:r>
            <a:r>
              <a:rPr kumimoji="0" lang="zh-CN" altLang="en-US" dirty="0">
                <a:latin typeface="华文中宋" panose="02010600040101010101" pitchFamily="2" charset="-122"/>
                <a:ea typeface="华文中宋" panose="02010600040101010101" pitchFamily="2" charset="-122"/>
              </a:rPr>
              <a:t>和</a:t>
            </a:r>
            <a:r>
              <a:rPr kumimoji="0" lang="en-US" altLang="zh-CN" dirty="0" err="1">
                <a:latin typeface="华文中宋" panose="02010600040101010101" pitchFamily="2" charset="-122"/>
                <a:ea typeface="华文中宋" panose="02010600040101010101" pitchFamily="2" charset="-122"/>
              </a:rPr>
              <a:t>Y</a:t>
            </a:r>
            <a:r>
              <a:rPr kumimoji="0" lang="en-US" altLang="zh-CN" baseline="-25000" dirty="0" err="1">
                <a:latin typeface="华文中宋" panose="02010600040101010101" pitchFamily="2" charset="-122"/>
                <a:ea typeface="华文中宋" panose="02010600040101010101" pitchFamily="2" charset="-122"/>
              </a:rPr>
              <a:t>j</a:t>
            </a:r>
            <a:r>
              <a:rPr kumimoji="0" lang="zh-CN" altLang="en-US" dirty="0">
                <a:latin typeface="华文中宋" panose="02010600040101010101" pitchFamily="2" charset="-122"/>
                <a:ea typeface="华文中宋" panose="02010600040101010101" pitchFamily="2" charset="-122"/>
              </a:rPr>
              <a:t>的最长公共子序列的长度。</a:t>
            </a:r>
          </a:p>
          <a:p>
            <a:pPr eaLnBrk="1" hangingPunct="1">
              <a:spcBef>
                <a:spcPct val="20000"/>
              </a:spcBef>
            </a:pPr>
            <a:r>
              <a:rPr kumimoji="0" lang="zh-CN" altLang="en-US" dirty="0">
                <a:latin typeface="华文中宋" panose="02010600040101010101" pitchFamily="2" charset="-122"/>
                <a:ea typeface="华文中宋" panose="02010600040101010101" pitchFamily="2" charset="-122"/>
              </a:rPr>
              <a:t> 其中， </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i</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1</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2</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i</a:t>
            </a:r>
            <a:r>
              <a:rPr kumimoji="0" lang="en-US" altLang="zh-CN" dirty="0">
                <a:latin typeface="华文中宋" panose="02010600040101010101" pitchFamily="2" charset="-122"/>
                <a:ea typeface="华文中宋" panose="02010600040101010101" pitchFamily="2" charset="-122"/>
              </a:rPr>
              <a:t>}</a:t>
            </a:r>
            <a:r>
              <a:rPr kumimoji="0" lang="zh-CN" altLang="en-US" dirty="0">
                <a:latin typeface="华文中宋" panose="02010600040101010101" pitchFamily="2" charset="-122"/>
                <a:ea typeface="华文中宋" panose="02010600040101010101" pitchFamily="2" charset="-122"/>
              </a:rPr>
              <a:t>；</a:t>
            </a:r>
            <a:r>
              <a:rPr kumimoji="0" lang="en-US" altLang="zh-CN" dirty="0" err="1">
                <a:latin typeface="华文中宋" panose="02010600040101010101" pitchFamily="2" charset="-122"/>
                <a:ea typeface="华文中宋" panose="02010600040101010101" pitchFamily="2" charset="-122"/>
              </a:rPr>
              <a:t>Yj</a:t>
            </a:r>
            <a:r>
              <a:rPr kumimoji="0" lang="en-US" altLang="zh-CN" dirty="0">
                <a:latin typeface="华文中宋" panose="02010600040101010101" pitchFamily="2" charset="-122"/>
                <a:ea typeface="华文中宋" panose="02010600040101010101" pitchFamily="2" charset="-122"/>
              </a:rPr>
              <a:t>={y</a:t>
            </a:r>
            <a:r>
              <a:rPr kumimoji="0" lang="en-US" altLang="zh-CN" baseline="-25000" dirty="0">
                <a:latin typeface="华文中宋" panose="02010600040101010101" pitchFamily="2" charset="-122"/>
                <a:ea typeface="华文中宋" panose="02010600040101010101" pitchFamily="2" charset="-122"/>
              </a:rPr>
              <a:t>1</a:t>
            </a:r>
            <a:r>
              <a:rPr kumimoji="0" lang="en-US" altLang="zh-CN" dirty="0">
                <a:latin typeface="华文中宋" panose="02010600040101010101" pitchFamily="2" charset="-122"/>
                <a:ea typeface="华文中宋" panose="02010600040101010101" pitchFamily="2" charset="-122"/>
              </a:rPr>
              <a:t>,y</a:t>
            </a:r>
            <a:r>
              <a:rPr kumimoji="0" lang="en-US" altLang="zh-CN" baseline="-25000" dirty="0">
                <a:latin typeface="华文中宋" panose="02010600040101010101" pitchFamily="2" charset="-122"/>
                <a:ea typeface="华文中宋" panose="02010600040101010101" pitchFamily="2" charset="-122"/>
              </a:rPr>
              <a:t>2</a:t>
            </a:r>
            <a:r>
              <a:rPr kumimoji="0" lang="en-US" altLang="zh-CN" dirty="0">
                <a:latin typeface="华文中宋" panose="02010600040101010101" pitchFamily="2" charset="-122"/>
                <a:ea typeface="华文中宋" panose="02010600040101010101" pitchFamily="2" charset="-122"/>
              </a:rPr>
              <a:t>,…,</a:t>
            </a:r>
            <a:r>
              <a:rPr kumimoji="0" lang="en-US" altLang="zh-CN" dirty="0" err="1">
                <a:latin typeface="华文中宋" panose="02010600040101010101" pitchFamily="2" charset="-122"/>
                <a:ea typeface="华文中宋" panose="02010600040101010101" pitchFamily="2" charset="-122"/>
              </a:rPr>
              <a:t>y</a:t>
            </a:r>
            <a:r>
              <a:rPr kumimoji="0" lang="en-US" altLang="zh-CN" baseline="-25000" dirty="0" err="1">
                <a:latin typeface="华文中宋" panose="02010600040101010101" pitchFamily="2" charset="-122"/>
                <a:ea typeface="华文中宋" panose="02010600040101010101" pitchFamily="2" charset="-122"/>
              </a:rPr>
              <a:t>j</a:t>
            </a:r>
            <a:r>
              <a:rPr kumimoji="0" lang="en-US" altLang="zh-CN" dirty="0">
                <a:latin typeface="华文中宋" panose="02010600040101010101" pitchFamily="2" charset="-122"/>
                <a:ea typeface="华文中宋" panose="02010600040101010101" pitchFamily="2" charset="-122"/>
              </a:rPr>
              <a:t>}</a:t>
            </a:r>
            <a:r>
              <a:rPr kumimoji="0" lang="zh-CN" altLang="en-US" dirty="0">
                <a:latin typeface="华文中宋" panose="02010600040101010101" pitchFamily="2" charset="-122"/>
                <a:ea typeface="华文中宋" panose="02010600040101010101" pitchFamily="2" charset="-122"/>
              </a:rPr>
              <a:t>。</a:t>
            </a:r>
          </a:p>
          <a:p>
            <a:pPr lvl="1" eaLnBrk="1" hangingPunct="1">
              <a:spcBef>
                <a:spcPct val="20000"/>
              </a:spcBef>
              <a:buFontTx/>
              <a:buChar char="•"/>
            </a:pPr>
            <a:r>
              <a:rPr kumimoji="0" lang="zh-CN" altLang="en-US" dirty="0">
                <a:latin typeface="华文中宋" panose="02010600040101010101" pitchFamily="2" charset="-122"/>
                <a:ea typeface="华文中宋" panose="02010600040101010101" pitchFamily="2" charset="-122"/>
              </a:rPr>
              <a:t>当</a:t>
            </a:r>
            <a:r>
              <a:rPr kumimoji="0" lang="en-US" altLang="zh-CN" dirty="0" err="1">
                <a:latin typeface="华文中宋" panose="02010600040101010101" pitchFamily="2" charset="-122"/>
                <a:ea typeface="华文中宋" panose="02010600040101010101" pitchFamily="2" charset="-122"/>
              </a:rPr>
              <a:t>i</a:t>
            </a:r>
            <a:r>
              <a:rPr kumimoji="0" lang="en-US" altLang="zh-CN" dirty="0">
                <a:latin typeface="华文中宋" panose="02010600040101010101" pitchFamily="2" charset="-122"/>
                <a:ea typeface="华文中宋" panose="02010600040101010101" pitchFamily="2" charset="-122"/>
              </a:rPr>
              <a:t>=0</a:t>
            </a:r>
            <a:r>
              <a:rPr kumimoji="0" lang="zh-CN" altLang="en-US" dirty="0">
                <a:latin typeface="华文中宋" panose="02010600040101010101" pitchFamily="2" charset="-122"/>
                <a:ea typeface="华文中宋" panose="02010600040101010101" pitchFamily="2" charset="-122"/>
              </a:rPr>
              <a:t>或</a:t>
            </a:r>
            <a:r>
              <a:rPr kumimoji="0" lang="en-US" altLang="zh-CN" dirty="0">
                <a:latin typeface="华文中宋" panose="02010600040101010101" pitchFamily="2" charset="-122"/>
                <a:ea typeface="华文中宋" panose="02010600040101010101" pitchFamily="2" charset="-122"/>
              </a:rPr>
              <a:t>j=0</a:t>
            </a:r>
            <a:r>
              <a:rPr kumimoji="0" lang="zh-CN" altLang="en-US" dirty="0">
                <a:latin typeface="华文中宋" panose="02010600040101010101" pitchFamily="2" charset="-122"/>
                <a:ea typeface="华文中宋" panose="02010600040101010101" pitchFamily="2" charset="-122"/>
              </a:rPr>
              <a:t>时，空序列是</a:t>
            </a:r>
            <a:r>
              <a:rPr kumimoji="0" lang="en-US" altLang="zh-CN" dirty="0">
                <a:latin typeface="华文中宋" panose="02010600040101010101" pitchFamily="2" charset="-122"/>
                <a:ea typeface="华文中宋" panose="02010600040101010101" pitchFamily="2" charset="-122"/>
              </a:rPr>
              <a:t>X</a:t>
            </a:r>
            <a:r>
              <a:rPr kumimoji="0" lang="en-US" altLang="zh-CN" baseline="-25000" dirty="0">
                <a:latin typeface="华文中宋" panose="02010600040101010101" pitchFamily="2" charset="-122"/>
                <a:ea typeface="华文中宋" panose="02010600040101010101" pitchFamily="2" charset="-122"/>
              </a:rPr>
              <a:t>i</a:t>
            </a:r>
            <a:r>
              <a:rPr kumimoji="0" lang="zh-CN" altLang="en-US" dirty="0">
                <a:latin typeface="华文中宋" panose="02010600040101010101" pitchFamily="2" charset="-122"/>
                <a:ea typeface="华文中宋" panose="02010600040101010101" pitchFamily="2" charset="-122"/>
              </a:rPr>
              <a:t>和</a:t>
            </a:r>
            <a:r>
              <a:rPr kumimoji="0" lang="en-US" altLang="zh-CN" dirty="0" err="1">
                <a:latin typeface="华文中宋" panose="02010600040101010101" pitchFamily="2" charset="-122"/>
                <a:ea typeface="华文中宋" panose="02010600040101010101" pitchFamily="2" charset="-122"/>
              </a:rPr>
              <a:t>Y</a:t>
            </a:r>
            <a:r>
              <a:rPr kumimoji="0" lang="en-US" altLang="zh-CN" baseline="-25000" dirty="0" err="1">
                <a:latin typeface="华文中宋" panose="02010600040101010101" pitchFamily="2" charset="-122"/>
                <a:ea typeface="华文中宋" panose="02010600040101010101" pitchFamily="2" charset="-122"/>
              </a:rPr>
              <a:t>j</a:t>
            </a:r>
            <a:r>
              <a:rPr kumimoji="0" lang="zh-CN" altLang="en-US" dirty="0">
                <a:latin typeface="华文中宋" panose="02010600040101010101" pitchFamily="2" charset="-122"/>
                <a:ea typeface="华文中宋" panose="02010600040101010101" pitchFamily="2" charset="-122"/>
              </a:rPr>
              <a:t>的最长公共子序列。故此时</a:t>
            </a:r>
            <a:r>
              <a:rPr kumimoji="0" lang="en-US" altLang="zh-CN" dirty="0">
                <a:latin typeface="华文中宋" panose="02010600040101010101" pitchFamily="2" charset="-122"/>
                <a:ea typeface="华文中宋" panose="02010600040101010101" pitchFamily="2" charset="-122"/>
              </a:rPr>
              <a:t>C[</a:t>
            </a:r>
            <a:r>
              <a:rPr kumimoji="0" lang="en-US" altLang="zh-CN" dirty="0" err="1">
                <a:latin typeface="华文中宋" panose="02010600040101010101" pitchFamily="2" charset="-122"/>
                <a:ea typeface="华文中宋" panose="02010600040101010101" pitchFamily="2" charset="-122"/>
              </a:rPr>
              <a:t>i</a:t>
            </a:r>
            <a:r>
              <a:rPr kumimoji="0" lang="en-US" altLang="zh-CN" dirty="0">
                <a:latin typeface="华文中宋" panose="02010600040101010101" pitchFamily="2" charset="-122"/>
                <a:ea typeface="华文中宋" panose="02010600040101010101" pitchFamily="2" charset="-122"/>
              </a:rPr>
              <a:t>][j]=0</a:t>
            </a:r>
            <a:r>
              <a:rPr kumimoji="0" lang="zh-CN" altLang="en-US" dirty="0">
                <a:latin typeface="华文中宋" panose="02010600040101010101" pitchFamily="2" charset="-122"/>
                <a:ea typeface="华文中宋" panose="02010600040101010101" pitchFamily="2" charset="-122"/>
              </a:rPr>
              <a:t>。</a:t>
            </a:r>
          </a:p>
          <a:p>
            <a:pPr lvl="1" eaLnBrk="1" hangingPunct="1">
              <a:spcBef>
                <a:spcPct val="20000"/>
              </a:spcBef>
              <a:buFontTx/>
              <a:buChar char="•"/>
            </a:pPr>
            <a:r>
              <a:rPr kumimoji="0" lang="zh-CN" altLang="en-US" dirty="0">
                <a:latin typeface="华文中宋" panose="02010600040101010101" pitchFamily="2" charset="-122"/>
                <a:ea typeface="华文中宋" panose="02010600040101010101" pitchFamily="2" charset="-122"/>
              </a:rPr>
              <a:t>其他情况下，由最优子结构性质可建立递归关系如下：</a:t>
            </a:r>
            <a:endParaRPr lang="zh-CN" altLang="en-US" dirty="0">
              <a:latin typeface="华文中宋" panose="02010600040101010101" pitchFamily="2" charset="-122"/>
              <a:ea typeface="华文中宋" panose="02010600040101010101" pitchFamily="2" charset="-122"/>
            </a:endParaRPr>
          </a:p>
        </p:txBody>
      </p:sp>
      <p:graphicFrame>
        <p:nvGraphicFramePr>
          <p:cNvPr id="49157" name="Object 5">
            <a:extLst>
              <a:ext uri="{FF2B5EF4-FFF2-40B4-BE49-F238E27FC236}">
                <a16:creationId xmlns:a16="http://schemas.microsoft.com/office/drawing/2014/main" id="{94601F61-9E97-4F46-8E01-AA0466B1B8BB}"/>
              </a:ext>
            </a:extLst>
          </p:cNvPr>
          <p:cNvGraphicFramePr>
            <a:graphicFrameLocks noChangeAspect="1"/>
          </p:cNvGraphicFramePr>
          <p:nvPr/>
        </p:nvGraphicFramePr>
        <p:xfrm>
          <a:off x="428625" y="3571875"/>
          <a:ext cx="8027988" cy="1736725"/>
        </p:xfrm>
        <a:graphic>
          <a:graphicData uri="http://schemas.openxmlformats.org/presentationml/2006/ole">
            <mc:AlternateContent xmlns:mc="http://schemas.openxmlformats.org/markup-compatibility/2006">
              <mc:Choice xmlns:v="urn:schemas-microsoft-com:vml" Requires="v">
                <p:oleObj name="公式" r:id="rId2" imgW="3390900" imgH="736600" progId="Equation.3">
                  <p:embed/>
                </p:oleObj>
              </mc:Choice>
              <mc:Fallback>
                <p:oleObj name="公式" r:id="rId2" imgW="3390900" imgH="736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3571875"/>
                        <a:ext cx="8027988"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8" name="Rectangle 6">
            <a:extLst>
              <a:ext uri="{FF2B5EF4-FFF2-40B4-BE49-F238E27FC236}">
                <a16:creationId xmlns:a16="http://schemas.microsoft.com/office/drawing/2014/main" id="{479D59F3-FF97-4C58-98EE-5A0F54C137A7}"/>
              </a:ext>
            </a:extLst>
          </p:cNvPr>
          <p:cNvSpPr>
            <a:spLocks noChangeArrowheads="1"/>
          </p:cNvSpPr>
          <p:nvPr/>
        </p:nvSpPr>
        <p:spPr bwMode="auto">
          <a:xfrm>
            <a:off x="428625" y="5572125"/>
            <a:ext cx="8458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kumimoji="0" lang="zh-CN" altLang="en-US" sz="2800" dirty="0">
                <a:solidFill>
                  <a:srgbClr val="FF0000"/>
                </a:solidFill>
                <a:ea typeface="华文中宋" panose="02010600040101010101" pitchFamily="2" charset="-122"/>
              </a:rPr>
              <a:t>为什么是这种形式？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additive="base">
                                        <p:cTn id="7" dur="500" fill="hold"/>
                                        <p:tgtEl>
                                          <p:spTgt spid="49156"/>
                                        </p:tgtEl>
                                        <p:attrNameLst>
                                          <p:attrName>ppt_x</p:attrName>
                                        </p:attrNameLst>
                                      </p:cBhvr>
                                      <p:tavLst>
                                        <p:tav tm="0">
                                          <p:val>
                                            <p:strVal val="0-#ppt_w/2"/>
                                          </p:val>
                                        </p:tav>
                                        <p:tav tm="100000">
                                          <p:val>
                                            <p:strVal val="#ppt_x"/>
                                          </p:val>
                                        </p:tav>
                                      </p:tavLst>
                                    </p:anim>
                                    <p:anim calcmode="lin" valueType="num">
                                      <p:cBhvr additive="base">
                                        <p:cTn id="8" dur="500" fill="hold"/>
                                        <p:tgtEl>
                                          <p:spTgt spid="4915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9157"/>
                                        </p:tgtEl>
                                        <p:attrNameLst>
                                          <p:attrName>style.visibility</p:attrName>
                                        </p:attrNameLst>
                                      </p:cBhvr>
                                      <p:to>
                                        <p:strVal val="visible"/>
                                      </p:to>
                                    </p:set>
                                    <p:anim calcmode="lin" valueType="num">
                                      <p:cBhvr additive="base">
                                        <p:cTn id="13" dur="500" fill="hold"/>
                                        <p:tgtEl>
                                          <p:spTgt spid="49157"/>
                                        </p:tgtEl>
                                        <p:attrNameLst>
                                          <p:attrName>ppt_x</p:attrName>
                                        </p:attrNameLst>
                                      </p:cBhvr>
                                      <p:tavLst>
                                        <p:tav tm="0">
                                          <p:val>
                                            <p:strVal val="0-#ppt_w/2"/>
                                          </p:val>
                                        </p:tav>
                                        <p:tav tm="100000">
                                          <p:val>
                                            <p:strVal val="#ppt_x"/>
                                          </p:val>
                                        </p:tav>
                                      </p:tavLst>
                                    </p:anim>
                                    <p:anim calcmode="lin" valueType="num">
                                      <p:cBhvr additive="base">
                                        <p:cTn id="14" dur="500" fill="hold"/>
                                        <p:tgtEl>
                                          <p:spTgt spid="4915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9158">
                                            <p:txEl>
                                              <p:pRg st="0" end="0"/>
                                            </p:txEl>
                                          </p:spTgt>
                                        </p:tgtEl>
                                        <p:attrNameLst>
                                          <p:attrName>style.visibility</p:attrName>
                                        </p:attrNameLst>
                                      </p:cBhvr>
                                      <p:to>
                                        <p:strVal val="visible"/>
                                      </p:to>
                                    </p:set>
                                    <p:anim calcmode="lin" valueType="num">
                                      <p:cBhvr additive="base">
                                        <p:cTn id="19" dur="500" fill="hold"/>
                                        <p:tgtEl>
                                          <p:spTgt spid="49158">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915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49158"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5C094F8-5D1A-4171-8213-EBF0EABAB25C}"/>
              </a:ext>
            </a:extLst>
          </p:cNvPr>
          <p:cNvSpPr>
            <a:spLocks noGrp="1" noChangeArrowheads="1"/>
          </p:cNvSpPr>
          <p:nvPr>
            <p:ph type="title"/>
          </p:nvPr>
        </p:nvSpPr>
        <p:spPr bwMode="auto">
          <a:xfrm>
            <a:off x="685800" y="228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三、计算最优值</a:t>
            </a:r>
          </a:p>
        </p:txBody>
      </p:sp>
      <p:sp>
        <p:nvSpPr>
          <p:cNvPr id="50179" name="Rectangle 3">
            <a:extLst>
              <a:ext uri="{FF2B5EF4-FFF2-40B4-BE49-F238E27FC236}">
                <a16:creationId xmlns:a16="http://schemas.microsoft.com/office/drawing/2014/main" id="{FB422EBC-2198-4E9C-988D-8E981D5D1CF0}"/>
              </a:ext>
            </a:extLst>
          </p:cNvPr>
          <p:cNvSpPr>
            <a:spLocks noGrp="1" noChangeArrowheads="1"/>
          </p:cNvSpPr>
          <p:nvPr>
            <p:ph type="body" idx="1"/>
          </p:nvPr>
        </p:nvSpPr>
        <p:spPr bwMode="auto">
          <a:xfrm>
            <a:off x="0" y="990600"/>
            <a:ext cx="91440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0"/>
              </a:spcBef>
            </a:pPr>
            <a:r>
              <a:rPr kumimoji="0" lang="zh-CN" altLang="en-US" sz="2800" b="1" dirty="0"/>
              <a:t>子问题空间中，总共有</a:t>
            </a:r>
            <a:r>
              <a:rPr kumimoji="0" lang="en-US" altLang="zh-CN" sz="2800" b="1" dirty="0"/>
              <a:t>θ(</a:t>
            </a:r>
            <a:r>
              <a:rPr kumimoji="0" lang="en-US" altLang="zh-CN" sz="2800" b="1" dirty="0" err="1"/>
              <a:t>mn</a:t>
            </a:r>
            <a:r>
              <a:rPr kumimoji="0" lang="en-US" altLang="zh-CN" sz="2800" b="1" dirty="0"/>
              <a:t>)</a:t>
            </a:r>
            <a:r>
              <a:rPr kumimoji="0" lang="zh-CN" altLang="en-US" sz="2800" b="1" dirty="0"/>
              <a:t>个不同的子问题，用动态规划算法自底向上计算最优值能提高算法的效率。</a:t>
            </a:r>
          </a:p>
        </p:txBody>
      </p:sp>
      <p:sp>
        <p:nvSpPr>
          <p:cNvPr id="50180" name="Rectangle 4">
            <a:extLst>
              <a:ext uri="{FF2B5EF4-FFF2-40B4-BE49-F238E27FC236}">
                <a16:creationId xmlns:a16="http://schemas.microsoft.com/office/drawing/2014/main" id="{DA8D4701-177C-4C67-B26E-19128043A46C}"/>
              </a:ext>
            </a:extLst>
          </p:cNvPr>
          <p:cNvSpPr>
            <a:spLocks noChangeArrowheads="1"/>
          </p:cNvSpPr>
          <p:nvPr/>
        </p:nvSpPr>
        <p:spPr bwMode="auto">
          <a:xfrm>
            <a:off x="20961" y="1981419"/>
            <a:ext cx="4685977" cy="4278094"/>
          </a:xfrm>
          <a:prstGeom prst="rect">
            <a:avLst/>
          </a:prstGeom>
          <a:noFill/>
          <a:ln w="222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700" dirty="0" err="1">
                <a:latin typeface="Input"/>
                <a:ea typeface="华文中宋" panose="02010600040101010101" pitchFamily="2" charset="-122"/>
              </a:rPr>
              <a:t>lcsLength</a:t>
            </a:r>
            <a:r>
              <a:rPr lang="en-US" altLang="zh-CN" sz="1700" dirty="0">
                <a:latin typeface="Input"/>
                <a:ea typeface="华文中宋" panose="02010600040101010101" pitchFamily="2" charset="-122"/>
              </a:rPr>
              <a:t>(</a:t>
            </a:r>
            <a:r>
              <a:rPr lang="en-US" altLang="zh-CN" sz="1700" dirty="0" err="1">
                <a:latin typeface="Input"/>
                <a:ea typeface="华文中宋" panose="02010600040101010101" pitchFamily="2" charset="-122"/>
              </a:rPr>
              <a:t>x,y,b</a:t>
            </a:r>
            <a:r>
              <a:rPr lang="en-US" altLang="zh-CN" sz="1700" dirty="0">
                <a:latin typeface="Input"/>
                <a:ea typeface="华文中宋" panose="02010600040101010101" pitchFamily="2" charset="-122"/>
              </a:rPr>
              <a:t>)</a:t>
            </a:r>
          </a:p>
          <a:p>
            <a:pPr eaLnBrk="1" hangingPunct="1"/>
            <a:r>
              <a:rPr lang="en-US" altLang="zh-CN" sz="1700" dirty="0">
                <a:latin typeface="Input"/>
                <a:ea typeface="华文中宋" panose="02010600040101010101" pitchFamily="2" charset="-122"/>
              </a:rPr>
              <a:t>m=x.length-1; n=y.length-1;</a:t>
            </a:r>
          </a:p>
          <a:p>
            <a:pPr eaLnBrk="1" hangingPunct="1"/>
            <a:r>
              <a:rPr lang="en-US" altLang="zh-CN" sz="1700" dirty="0">
                <a:latin typeface="Input"/>
                <a:ea typeface="华文中宋" panose="02010600040101010101" pitchFamily="2" charset="-122"/>
              </a:rPr>
              <a:t>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][0]=0; c[0][</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]=0;</a:t>
            </a:r>
          </a:p>
          <a:p>
            <a:pPr eaLnBrk="1" hangingPunct="1"/>
            <a:r>
              <a:rPr lang="en-US" altLang="zh-CN" sz="1700" dirty="0">
                <a:latin typeface="Input"/>
                <a:ea typeface="华文中宋" panose="02010600040101010101" pitchFamily="2" charset="-122"/>
              </a:rPr>
              <a:t>for (int </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 = 1; </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 &lt;= m; </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a:t>
            </a:r>
          </a:p>
          <a:p>
            <a:pPr eaLnBrk="1" hangingPunct="1"/>
            <a:r>
              <a:rPr lang="en-US" altLang="zh-CN" sz="1700" dirty="0">
                <a:latin typeface="Input"/>
                <a:ea typeface="华文中宋" panose="02010600040101010101" pitchFamily="2" charset="-122"/>
              </a:rPr>
              <a:t>     for (int j = 1; j &lt;= n; </a:t>
            </a:r>
            <a:r>
              <a:rPr lang="en-US" altLang="zh-CN" sz="1700" dirty="0" err="1">
                <a:latin typeface="Input"/>
                <a:ea typeface="华文中宋" panose="02010600040101010101" pitchFamily="2" charset="-122"/>
              </a:rPr>
              <a:t>j++</a:t>
            </a:r>
            <a:r>
              <a:rPr lang="en-US" altLang="zh-CN" sz="1700" dirty="0">
                <a:latin typeface="Input"/>
                <a:ea typeface="华文中宋" panose="02010600040101010101" pitchFamily="2" charset="-122"/>
              </a:rPr>
              <a:t>) </a:t>
            </a:r>
          </a:p>
          <a:p>
            <a:pPr eaLnBrk="1" hangingPunct="1"/>
            <a:r>
              <a:rPr lang="en-US" altLang="zh-CN" sz="1700" dirty="0">
                <a:latin typeface="Input"/>
                <a:ea typeface="华文中宋" panose="02010600040101010101" pitchFamily="2" charset="-122"/>
              </a:rPr>
              <a:t>         if (x[</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]==y[j]) {</a:t>
            </a:r>
          </a:p>
          <a:p>
            <a:pPr eaLnBrk="1" hangingPunct="1"/>
            <a:r>
              <a:rPr lang="en-US" altLang="zh-CN" sz="1700" dirty="0">
                <a:latin typeface="Input"/>
                <a:ea typeface="华文中宋" panose="02010600040101010101" pitchFamily="2" charset="-122"/>
              </a:rPr>
              <a:t>           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][j]=c[i-1][j-1]+1;</a:t>
            </a:r>
          </a:p>
          <a:p>
            <a:pPr eaLnBrk="1" hangingPunct="1"/>
            <a:r>
              <a:rPr lang="en-US" altLang="zh-CN" sz="1700" dirty="0">
                <a:latin typeface="Input"/>
                <a:ea typeface="华文中宋" panose="02010600040101010101" pitchFamily="2" charset="-122"/>
              </a:rPr>
              <a:t>           b[</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][j]=‘0</a:t>
            </a:r>
            <a:r>
              <a:rPr lang="en-US" altLang="zh-CN" sz="1700" dirty="0">
                <a:latin typeface="Input"/>
                <a:ea typeface="华文中宋" panose="02010600040101010101" pitchFamily="2" charset="-122"/>
                <a:cs typeface="Times New Roman" panose="02020603050405020304" pitchFamily="18" charset="0"/>
              </a:rPr>
              <a:t>’</a:t>
            </a:r>
            <a:r>
              <a:rPr lang="en-US" altLang="zh-CN" sz="1700" dirty="0">
                <a:latin typeface="Input"/>
                <a:ea typeface="华文中宋" panose="02010600040101010101" pitchFamily="2" charset="-122"/>
              </a:rPr>
              <a:t>;}         //</a:t>
            </a:r>
            <a:r>
              <a:rPr lang="zh-CN" altLang="en-US" sz="1700" dirty="0">
                <a:latin typeface="Input"/>
                <a:ea typeface="华文中宋" panose="02010600040101010101" pitchFamily="2" charset="-122"/>
              </a:rPr>
              <a:t>指</a:t>
            </a:r>
            <a:r>
              <a:rPr lang="en-US" altLang="zh-CN" sz="1700" dirty="0">
                <a:latin typeface="Input"/>
                <a:ea typeface="华文中宋" panose="02010600040101010101" pitchFamily="2" charset="-122"/>
              </a:rPr>
              <a:t>↖</a:t>
            </a:r>
          </a:p>
          <a:p>
            <a:pPr eaLnBrk="1" hangingPunct="1"/>
            <a:r>
              <a:rPr lang="en-US" altLang="zh-CN" sz="1700" dirty="0">
                <a:latin typeface="Input"/>
                <a:ea typeface="华文中宋" panose="02010600040101010101" pitchFamily="2" charset="-122"/>
              </a:rPr>
              <a:t>        else if (c[i-1][j]&gt;=c[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][j-1]) </a:t>
            </a:r>
          </a:p>
          <a:p>
            <a:pPr eaLnBrk="1" hangingPunct="1"/>
            <a:r>
              <a:rPr lang="en-US" altLang="zh-CN" sz="1700" dirty="0">
                <a:latin typeface="Input"/>
                <a:ea typeface="华文中宋" panose="02010600040101010101" pitchFamily="2" charset="-122"/>
              </a:rPr>
              <a:t>        {  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][j]=c[i-1][j];</a:t>
            </a:r>
          </a:p>
          <a:p>
            <a:pPr eaLnBrk="1" hangingPunct="1"/>
            <a:r>
              <a:rPr lang="en-US" altLang="zh-CN" sz="1700" dirty="0">
                <a:latin typeface="Input"/>
                <a:ea typeface="华文中宋" panose="02010600040101010101" pitchFamily="2" charset="-122"/>
              </a:rPr>
              <a:t>          b[</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][j]=‘1’;}       //</a:t>
            </a:r>
            <a:r>
              <a:rPr lang="zh-CN" altLang="en-US" sz="1700" dirty="0">
                <a:latin typeface="Input"/>
                <a:ea typeface="华文中宋" panose="02010600040101010101" pitchFamily="2" charset="-122"/>
              </a:rPr>
              <a:t>指</a:t>
            </a:r>
            <a:r>
              <a:rPr lang="en-US" altLang="zh-CN" sz="1700" dirty="0">
                <a:latin typeface="Input"/>
                <a:ea typeface="华文中宋" panose="02010600040101010101" pitchFamily="2" charset="-122"/>
              </a:rPr>
              <a:t>↑</a:t>
            </a:r>
          </a:p>
          <a:p>
            <a:pPr eaLnBrk="1" hangingPunct="1"/>
            <a:r>
              <a:rPr lang="en-US" altLang="zh-CN" sz="1700" dirty="0">
                <a:latin typeface="Input"/>
                <a:ea typeface="华文中宋" panose="02010600040101010101" pitchFamily="2" charset="-122"/>
              </a:rPr>
              <a:t>      else </a:t>
            </a:r>
          </a:p>
          <a:p>
            <a:pPr eaLnBrk="1" hangingPunct="1"/>
            <a:r>
              <a:rPr lang="en-US" altLang="zh-CN" sz="1700" dirty="0">
                <a:latin typeface="Input"/>
                <a:ea typeface="华文中宋" panose="02010600040101010101" pitchFamily="2" charset="-122"/>
              </a:rPr>
              <a:t>         {  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][j]=c[</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][j-1];</a:t>
            </a:r>
          </a:p>
          <a:p>
            <a:pPr eaLnBrk="1" hangingPunct="1"/>
            <a:r>
              <a:rPr lang="en-US" altLang="zh-CN" sz="1700" dirty="0">
                <a:latin typeface="Input"/>
                <a:ea typeface="华文中宋" panose="02010600040101010101" pitchFamily="2" charset="-122"/>
              </a:rPr>
              <a:t>           b[</a:t>
            </a:r>
            <a:r>
              <a:rPr lang="en-US" altLang="zh-CN" sz="1700" dirty="0" err="1">
                <a:latin typeface="Input"/>
                <a:ea typeface="华文中宋" panose="02010600040101010101" pitchFamily="2" charset="-122"/>
              </a:rPr>
              <a:t>i</a:t>
            </a:r>
            <a:r>
              <a:rPr lang="en-US" altLang="zh-CN" sz="1700" dirty="0">
                <a:latin typeface="Input"/>
                <a:ea typeface="华文中宋" panose="02010600040101010101" pitchFamily="2" charset="-122"/>
              </a:rPr>
              <a:t>][j]=‘’;}       //</a:t>
            </a:r>
            <a:r>
              <a:rPr lang="zh-CN" altLang="en-US" sz="1700" dirty="0">
                <a:latin typeface="Input"/>
                <a:ea typeface="华文中宋" panose="02010600040101010101" pitchFamily="2" charset="-122"/>
              </a:rPr>
              <a:t>指</a:t>
            </a:r>
            <a:r>
              <a:rPr lang="en-US" altLang="zh-CN" sz="1700" dirty="0">
                <a:latin typeface="Input"/>
                <a:ea typeface="华文中宋" panose="02010600040101010101" pitchFamily="2" charset="-122"/>
              </a:rPr>
              <a:t>←</a:t>
            </a:r>
          </a:p>
        </p:txBody>
      </p:sp>
      <p:sp>
        <p:nvSpPr>
          <p:cNvPr id="50181" name="Text Box 5">
            <a:extLst>
              <a:ext uri="{FF2B5EF4-FFF2-40B4-BE49-F238E27FC236}">
                <a16:creationId xmlns:a16="http://schemas.microsoft.com/office/drawing/2014/main" id="{0F1B8F22-DBB3-4719-8831-25400C1E43DA}"/>
              </a:ext>
            </a:extLst>
          </p:cNvPr>
          <p:cNvSpPr txBox="1">
            <a:spLocks noChangeArrowheads="1"/>
          </p:cNvSpPr>
          <p:nvPr/>
        </p:nvSpPr>
        <p:spPr bwMode="auto">
          <a:xfrm>
            <a:off x="4729204" y="1963026"/>
            <a:ext cx="4307292" cy="3231654"/>
          </a:xfrm>
          <a:prstGeom prst="rect">
            <a:avLst/>
          </a:prstGeom>
          <a:noFill/>
          <a:ln w="222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1700" dirty="0">
                <a:ea typeface="黑体" panose="02010609060101010101" pitchFamily="49" charset="-122"/>
              </a:rPr>
              <a:t>构造最长公共子序列</a:t>
            </a:r>
          </a:p>
          <a:p>
            <a:pPr eaLnBrk="1" hangingPunct="1"/>
            <a:r>
              <a:rPr kumimoji="0" lang="en-US" altLang="zh-CN" sz="1700" dirty="0" err="1">
                <a:latin typeface="Input"/>
                <a:ea typeface="华文中宋" panose="02010600040101010101" pitchFamily="2" charset="-122"/>
              </a:rPr>
              <a:t>lcs</a:t>
            </a:r>
            <a:r>
              <a:rPr kumimoji="0" lang="en-US" altLang="zh-CN" sz="1700" b="0" dirty="0">
                <a:latin typeface="Input"/>
                <a:ea typeface="华文中宋" panose="02010600040101010101" pitchFamily="2" charset="-122"/>
              </a:rPr>
              <a:t>(int </a:t>
            </a:r>
            <a:r>
              <a:rPr kumimoji="0" lang="en-US" altLang="zh-CN" sz="1700" b="0" dirty="0" err="1">
                <a:latin typeface="Input"/>
                <a:ea typeface="华文中宋" panose="02010600040101010101" pitchFamily="2" charset="-122"/>
              </a:rPr>
              <a:t>i,int</a:t>
            </a:r>
            <a:r>
              <a:rPr kumimoji="0" lang="en-US" altLang="zh-CN" sz="1700" b="0" dirty="0">
                <a:latin typeface="Input"/>
                <a:ea typeface="华文中宋" panose="02010600040101010101" pitchFamily="2" charset="-122"/>
              </a:rPr>
              <a:t> </a:t>
            </a:r>
            <a:r>
              <a:rPr kumimoji="0" lang="en-US" altLang="zh-CN" sz="1700" b="0" dirty="0" err="1">
                <a:latin typeface="Input"/>
                <a:ea typeface="华文中宋" panose="02010600040101010101" pitchFamily="2" charset="-122"/>
              </a:rPr>
              <a:t>j,char</a:t>
            </a:r>
            <a:r>
              <a:rPr kumimoji="0" lang="en-US" altLang="zh-CN" sz="1700" b="0" dirty="0">
                <a:latin typeface="Input"/>
                <a:ea typeface="华文中宋" panose="02010600040101010101" pitchFamily="2" charset="-122"/>
              </a:rPr>
              <a:t> *</a:t>
            </a:r>
            <a:r>
              <a:rPr kumimoji="0" lang="en-US" altLang="zh-CN" sz="1700" b="0" dirty="0" err="1">
                <a:latin typeface="Input"/>
                <a:ea typeface="华文中宋" panose="02010600040101010101" pitchFamily="2" charset="-122"/>
              </a:rPr>
              <a:t>x,int</a:t>
            </a:r>
            <a:r>
              <a:rPr kumimoji="0" lang="en-US" altLang="zh-CN" sz="1700" b="0" dirty="0">
                <a:latin typeface="Input"/>
                <a:ea typeface="华文中宋" panose="02010600040101010101" pitchFamily="2" charset="-122"/>
              </a:rPr>
              <a:t> **b)</a:t>
            </a:r>
          </a:p>
          <a:p>
            <a:pPr eaLnBrk="1" hangingPunct="1"/>
            <a:r>
              <a:rPr kumimoji="0" lang="en-US" altLang="zh-CN" sz="1700" b="0" dirty="0">
                <a:latin typeface="Input"/>
                <a:ea typeface="华文中宋" panose="02010600040101010101" pitchFamily="2" charset="-122"/>
              </a:rPr>
              <a:t> {</a:t>
            </a:r>
          </a:p>
          <a:p>
            <a:pPr eaLnBrk="1" hangingPunct="1"/>
            <a:r>
              <a:rPr kumimoji="0" lang="en-US" altLang="zh-CN" sz="1700" b="0" dirty="0">
                <a:latin typeface="Input"/>
                <a:ea typeface="华文中宋" panose="02010600040101010101" pitchFamily="2" charset="-122"/>
              </a:rPr>
              <a:t>     </a:t>
            </a:r>
            <a:r>
              <a:rPr kumimoji="0" lang="en-US" altLang="zh-CN" sz="1700" dirty="0">
                <a:latin typeface="Input"/>
                <a:ea typeface="华文中宋" panose="02010600040101010101" pitchFamily="2" charset="-122"/>
              </a:rPr>
              <a:t> if</a:t>
            </a:r>
            <a:r>
              <a:rPr kumimoji="0" lang="en-US" altLang="zh-CN" sz="1700" b="0" dirty="0">
                <a:latin typeface="Input"/>
                <a:ea typeface="华文中宋" panose="02010600040101010101" pitchFamily="2" charset="-122"/>
              </a:rPr>
              <a:t> (</a:t>
            </a:r>
            <a:r>
              <a:rPr kumimoji="0" lang="en-US" altLang="zh-CN" sz="1700" b="0" dirty="0" err="1">
                <a:latin typeface="Input"/>
                <a:ea typeface="华文中宋" panose="02010600040101010101" pitchFamily="2" charset="-122"/>
              </a:rPr>
              <a:t>i</a:t>
            </a:r>
            <a:r>
              <a:rPr kumimoji="0" lang="en-US" altLang="zh-CN" sz="1700" b="0" dirty="0">
                <a:latin typeface="Input"/>
                <a:ea typeface="华文中宋" panose="02010600040101010101" pitchFamily="2" charset="-122"/>
              </a:rPr>
              <a:t> ==0 || j==0) </a:t>
            </a:r>
            <a:r>
              <a:rPr kumimoji="0" lang="en-US" altLang="zh-CN" sz="1700" dirty="0">
                <a:latin typeface="Input"/>
                <a:ea typeface="华文中宋" panose="02010600040101010101" pitchFamily="2" charset="-122"/>
              </a:rPr>
              <a:t>return</a:t>
            </a:r>
            <a:r>
              <a:rPr kumimoji="0" lang="en-US" altLang="zh-CN" sz="1700" b="0" dirty="0">
                <a:latin typeface="Input"/>
                <a:ea typeface="华文中宋" panose="02010600040101010101" pitchFamily="2" charset="-122"/>
              </a:rPr>
              <a:t>;</a:t>
            </a:r>
          </a:p>
          <a:p>
            <a:pPr eaLnBrk="1" hangingPunct="1"/>
            <a:r>
              <a:rPr kumimoji="0" lang="en-US" altLang="zh-CN" sz="1700" b="0" dirty="0">
                <a:latin typeface="Input"/>
                <a:ea typeface="华文中宋" panose="02010600040101010101" pitchFamily="2" charset="-122"/>
              </a:rPr>
              <a:t>      </a:t>
            </a:r>
            <a:r>
              <a:rPr kumimoji="0" lang="en-US" altLang="zh-CN" sz="1700" dirty="0">
                <a:latin typeface="Input"/>
                <a:ea typeface="华文中宋" panose="02010600040101010101" pitchFamily="2" charset="-122"/>
              </a:rPr>
              <a:t>if</a:t>
            </a:r>
            <a:r>
              <a:rPr kumimoji="0" lang="en-US" altLang="zh-CN" sz="1700" b="0" dirty="0">
                <a:latin typeface="Input"/>
                <a:ea typeface="华文中宋" panose="02010600040101010101" pitchFamily="2" charset="-122"/>
              </a:rPr>
              <a:t> (b[</a:t>
            </a:r>
            <a:r>
              <a:rPr kumimoji="0" lang="en-US" altLang="zh-CN" sz="1700" b="0" dirty="0" err="1">
                <a:latin typeface="Input"/>
                <a:ea typeface="华文中宋" panose="02010600040101010101" pitchFamily="2" charset="-122"/>
              </a:rPr>
              <a:t>i</a:t>
            </a:r>
            <a:r>
              <a:rPr kumimoji="0" lang="en-US" altLang="zh-CN" sz="1700" b="0" dirty="0">
                <a:latin typeface="Input"/>
                <a:ea typeface="华文中宋" panose="02010600040101010101" pitchFamily="2" charset="-122"/>
              </a:rPr>
              <a:t>][j]== </a:t>
            </a:r>
            <a:r>
              <a:rPr lang="en-US" altLang="zh-CN" sz="1700" b="0" dirty="0">
                <a:latin typeface="Input"/>
                <a:ea typeface="华文中宋" panose="02010600040101010101" pitchFamily="2" charset="-122"/>
              </a:rPr>
              <a:t>‘</a:t>
            </a:r>
            <a:r>
              <a:rPr lang="en-US" altLang="zh-CN" sz="1700" b="0" dirty="0">
                <a:latin typeface="Input"/>
                <a:ea typeface="华文中宋" panose="02010600040101010101" pitchFamily="2" charset="-122"/>
                <a:cs typeface="Times New Roman" panose="02020603050405020304" pitchFamily="18" charset="0"/>
              </a:rPr>
              <a:t>0’</a:t>
            </a:r>
            <a:r>
              <a:rPr kumimoji="0" lang="en-US" altLang="zh-CN" sz="1700" b="0" dirty="0">
                <a:latin typeface="Input"/>
                <a:ea typeface="华文中宋" panose="02010600040101010101" pitchFamily="2" charset="-122"/>
              </a:rPr>
              <a:t> ){</a:t>
            </a:r>
          </a:p>
          <a:p>
            <a:pPr eaLnBrk="1" hangingPunct="1"/>
            <a:r>
              <a:rPr kumimoji="0" lang="en-US" altLang="zh-CN" sz="1700" b="0" dirty="0">
                <a:latin typeface="Input"/>
                <a:ea typeface="华文中宋" panose="02010600040101010101" pitchFamily="2" charset="-122"/>
              </a:rPr>
              <a:t>        </a:t>
            </a:r>
            <a:r>
              <a:rPr kumimoji="0" lang="en-US" altLang="zh-CN" sz="1700" dirty="0" err="1">
                <a:latin typeface="Input"/>
                <a:ea typeface="华文中宋" panose="02010600040101010101" pitchFamily="2" charset="-122"/>
              </a:rPr>
              <a:t>lcs</a:t>
            </a:r>
            <a:r>
              <a:rPr kumimoji="0" lang="en-US" altLang="zh-CN" sz="1700" b="0" dirty="0">
                <a:latin typeface="Input"/>
                <a:ea typeface="华文中宋" panose="02010600040101010101" pitchFamily="2" charset="-122"/>
              </a:rPr>
              <a:t>(i-1,j-1,x,b);</a:t>
            </a:r>
          </a:p>
          <a:p>
            <a:pPr eaLnBrk="1" hangingPunct="1"/>
            <a:r>
              <a:rPr kumimoji="0" lang="en-US" altLang="zh-CN" sz="1700" b="0" dirty="0">
                <a:latin typeface="Input"/>
                <a:ea typeface="华文中宋" panose="02010600040101010101" pitchFamily="2" charset="-122"/>
              </a:rPr>
              <a:t>        </a:t>
            </a:r>
            <a:r>
              <a:rPr kumimoji="0" lang="en-US" altLang="zh-CN" sz="1700" dirty="0" err="1">
                <a:latin typeface="Input"/>
                <a:ea typeface="华文中宋" panose="02010600040101010101" pitchFamily="2" charset="-122"/>
              </a:rPr>
              <a:t>printf</a:t>
            </a:r>
            <a:r>
              <a:rPr kumimoji="0" lang="en-US" altLang="zh-CN" sz="1700" b="0" dirty="0">
                <a:latin typeface="Input"/>
                <a:ea typeface="华文中宋" panose="02010600040101010101" pitchFamily="2" charset="-122"/>
              </a:rPr>
              <a:t>(x[</a:t>
            </a:r>
            <a:r>
              <a:rPr kumimoji="0" lang="en-US" altLang="zh-CN" sz="1700" b="0" dirty="0" err="1">
                <a:latin typeface="Input"/>
                <a:ea typeface="华文中宋" panose="02010600040101010101" pitchFamily="2" charset="-122"/>
              </a:rPr>
              <a:t>i</a:t>
            </a:r>
            <a:r>
              <a:rPr kumimoji="0" lang="en-US" altLang="zh-CN" sz="1700" b="0" dirty="0">
                <a:latin typeface="Input"/>
                <a:ea typeface="华文中宋" panose="02010600040101010101" pitchFamily="2" charset="-122"/>
              </a:rPr>
              <a:t>]);</a:t>
            </a:r>
          </a:p>
          <a:p>
            <a:pPr eaLnBrk="1" hangingPunct="1"/>
            <a:r>
              <a:rPr kumimoji="0" lang="en-US" altLang="zh-CN" sz="1700" b="0" dirty="0">
                <a:latin typeface="Input"/>
                <a:ea typeface="华文中宋" panose="02010600040101010101" pitchFamily="2" charset="-122"/>
              </a:rPr>
              <a:t>        }</a:t>
            </a:r>
          </a:p>
          <a:p>
            <a:pPr eaLnBrk="1" hangingPunct="1"/>
            <a:r>
              <a:rPr kumimoji="0" lang="en-US" altLang="zh-CN" sz="1700" b="0" dirty="0">
                <a:latin typeface="Input"/>
                <a:ea typeface="华文中宋" panose="02010600040101010101" pitchFamily="2" charset="-122"/>
              </a:rPr>
              <a:t>      </a:t>
            </a:r>
            <a:r>
              <a:rPr kumimoji="0" lang="en-US" altLang="zh-CN" sz="1700" dirty="0">
                <a:latin typeface="Input"/>
                <a:ea typeface="华文中宋" panose="02010600040101010101" pitchFamily="2" charset="-122"/>
              </a:rPr>
              <a:t>else if</a:t>
            </a:r>
            <a:r>
              <a:rPr kumimoji="0" lang="en-US" altLang="zh-CN" sz="1700" b="0" dirty="0">
                <a:latin typeface="Input"/>
                <a:ea typeface="华文中宋" panose="02010600040101010101" pitchFamily="2" charset="-122"/>
              </a:rPr>
              <a:t> (b[</a:t>
            </a:r>
            <a:r>
              <a:rPr kumimoji="0" lang="en-US" altLang="zh-CN" sz="1700" b="0" dirty="0" err="1">
                <a:latin typeface="Input"/>
                <a:ea typeface="华文中宋" panose="02010600040101010101" pitchFamily="2" charset="-122"/>
              </a:rPr>
              <a:t>i</a:t>
            </a:r>
            <a:r>
              <a:rPr kumimoji="0" lang="en-US" altLang="zh-CN" sz="1700" b="0" dirty="0">
                <a:latin typeface="Input"/>
                <a:ea typeface="华文中宋" panose="02010600040101010101" pitchFamily="2" charset="-122"/>
              </a:rPr>
              <a:t>][j]== </a:t>
            </a:r>
            <a:r>
              <a:rPr lang="en-US" altLang="zh-CN" sz="1700" b="0" dirty="0">
                <a:latin typeface="Input"/>
                <a:ea typeface="华文中宋" panose="02010600040101010101" pitchFamily="2" charset="-122"/>
              </a:rPr>
              <a:t>‘1’</a:t>
            </a:r>
            <a:r>
              <a:rPr kumimoji="0" lang="en-US" altLang="zh-CN" sz="1700" b="0" dirty="0">
                <a:latin typeface="Input"/>
                <a:ea typeface="华文中宋" panose="02010600040101010101" pitchFamily="2" charset="-122"/>
              </a:rPr>
              <a:t>) </a:t>
            </a:r>
            <a:r>
              <a:rPr kumimoji="0" lang="en-US" altLang="zh-CN" sz="1700" dirty="0" err="1">
                <a:latin typeface="Input"/>
                <a:ea typeface="华文中宋" panose="02010600040101010101" pitchFamily="2" charset="-122"/>
              </a:rPr>
              <a:t>lcs</a:t>
            </a:r>
            <a:r>
              <a:rPr kumimoji="0" lang="en-US" altLang="zh-CN" sz="1700" b="0" dirty="0">
                <a:latin typeface="Input"/>
                <a:ea typeface="华文中宋" panose="02010600040101010101" pitchFamily="2" charset="-122"/>
              </a:rPr>
              <a:t>(i-1,j,x,b);</a:t>
            </a:r>
          </a:p>
          <a:p>
            <a:pPr eaLnBrk="1" hangingPunct="1"/>
            <a:r>
              <a:rPr kumimoji="0" lang="en-US" altLang="zh-CN" sz="1700" b="0" dirty="0">
                <a:latin typeface="Input"/>
                <a:ea typeface="华文中宋" panose="02010600040101010101" pitchFamily="2" charset="-122"/>
              </a:rPr>
              <a:t>        </a:t>
            </a:r>
            <a:r>
              <a:rPr kumimoji="0" lang="en-US" altLang="zh-CN" sz="1700" dirty="0">
                <a:latin typeface="Input"/>
                <a:ea typeface="华文中宋" panose="02010600040101010101" pitchFamily="2" charset="-122"/>
              </a:rPr>
              <a:t>else </a:t>
            </a:r>
            <a:r>
              <a:rPr kumimoji="0" lang="en-US" altLang="zh-CN" sz="1700" dirty="0" err="1">
                <a:latin typeface="Input"/>
                <a:ea typeface="华文中宋" panose="02010600040101010101" pitchFamily="2" charset="-122"/>
              </a:rPr>
              <a:t>lcs</a:t>
            </a:r>
            <a:r>
              <a:rPr kumimoji="0" lang="en-US" altLang="zh-CN" sz="1700" b="0" dirty="0">
                <a:latin typeface="Input"/>
                <a:ea typeface="华文中宋" panose="02010600040101010101" pitchFamily="2" charset="-122"/>
              </a:rPr>
              <a:t>(i,j-1,x,b);</a:t>
            </a:r>
          </a:p>
          <a:p>
            <a:pPr eaLnBrk="1" hangingPunct="1"/>
            <a:r>
              <a:rPr kumimoji="0" lang="en-US" altLang="zh-CN" sz="1700" b="0" dirty="0">
                <a:latin typeface="Input"/>
                <a:ea typeface="华文中宋" panose="02010600040101010101" pitchFamily="2" charset="-122"/>
              </a:rPr>
              <a:t>   }</a:t>
            </a:r>
          </a:p>
        </p:txBody>
      </p:sp>
      <p:sp>
        <p:nvSpPr>
          <p:cNvPr id="6" name="矩形 5">
            <a:extLst>
              <a:ext uri="{FF2B5EF4-FFF2-40B4-BE49-F238E27FC236}">
                <a16:creationId xmlns:a16="http://schemas.microsoft.com/office/drawing/2014/main" id="{67C25FA4-C7BA-4F08-8940-EE33EBD8B32C}"/>
              </a:ext>
            </a:extLst>
          </p:cNvPr>
          <p:cNvSpPr>
            <a:spLocks noChangeArrowheads="1"/>
          </p:cNvSpPr>
          <p:nvPr/>
        </p:nvSpPr>
        <p:spPr bwMode="auto">
          <a:xfrm>
            <a:off x="4706938" y="5424860"/>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indent="0" eaLnBrk="1" hangingPunct="1">
              <a:spcBef>
                <a:spcPct val="20000"/>
              </a:spcBef>
            </a:pPr>
            <a:r>
              <a:rPr kumimoji="0" lang="zh-CN" altLang="en-US" dirty="0">
                <a:solidFill>
                  <a:srgbClr val="FF0000"/>
                </a:solidFill>
                <a:ea typeface="华文中宋" panose="02010600040101010101" pitchFamily="2" charset="-122"/>
              </a:rPr>
              <a:t>求最长公共子序列问题的重叠子结构性质很明显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0180"/>
                                        </p:tgtEl>
                                        <p:attrNameLst>
                                          <p:attrName>style.visibility</p:attrName>
                                        </p:attrNameLst>
                                      </p:cBhvr>
                                      <p:to>
                                        <p:strVal val="visible"/>
                                      </p:to>
                                    </p:set>
                                    <p:anim calcmode="lin" valueType="num">
                                      <p:cBhvr additive="base">
                                        <p:cTn id="13" dur="500" fill="hold"/>
                                        <p:tgtEl>
                                          <p:spTgt spid="50180"/>
                                        </p:tgtEl>
                                        <p:attrNameLst>
                                          <p:attrName>ppt_x</p:attrName>
                                        </p:attrNameLst>
                                      </p:cBhvr>
                                      <p:tavLst>
                                        <p:tav tm="0">
                                          <p:val>
                                            <p:strVal val="0-#ppt_w/2"/>
                                          </p:val>
                                        </p:tav>
                                        <p:tav tm="100000">
                                          <p:val>
                                            <p:strVal val="#ppt_x"/>
                                          </p:val>
                                        </p:tav>
                                      </p:tavLst>
                                    </p:anim>
                                    <p:anim calcmode="lin" valueType="num">
                                      <p:cBhvr additive="base">
                                        <p:cTn id="14" dur="500" fill="hold"/>
                                        <p:tgtEl>
                                          <p:spTgt spid="5018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181"/>
                                        </p:tgtEl>
                                        <p:attrNameLst>
                                          <p:attrName>style.visibility</p:attrName>
                                        </p:attrNameLst>
                                      </p:cBhvr>
                                      <p:to>
                                        <p:strVal val="visible"/>
                                      </p:to>
                                    </p:set>
                                    <p:anim calcmode="lin" valueType="num">
                                      <p:cBhvr additive="base">
                                        <p:cTn id="19" dur="500" fill="hold"/>
                                        <p:tgtEl>
                                          <p:spTgt spid="50181"/>
                                        </p:tgtEl>
                                        <p:attrNameLst>
                                          <p:attrName>ppt_x</p:attrName>
                                        </p:attrNameLst>
                                      </p:cBhvr>
                                      <p:tavLst>
                                        <p:tav tm="0">
                                          <p:val>
                                            <p:strVal val="0-#ppt_w/2"/>
                                          </p:val>
                                        </p:tav>
                                        <p:tav tm="100000">
                                          <p:val>
                                            <p:strVal val="#ppt_x"/>
                                          </p:val>
                                        </p:tav>
                                      </p:tavLst>
                                    </p:anim>
                                    <p:anim calcmode="lin" valueType="num">
                                      <p:cBhvr additive="base">
                                        <p:cTn id="20" dur="500" fill="hold"/>
                                        <p:tgtEl>
                                          <p:spTgt spid="5018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autoUpdateAnimBg="0"/>
      <p:bldP spid="50180" grpId="0" animBg="1" autoUpdateAnimBg="0"/>
      <p:bldP spid="50181" grpId="0" animBg="1" autoUpdateAnimBg="0"/>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4DBEB64A-E9DE-47FC-8D12-C5F5438F6BE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举例</a:t>
            </a:r>
          </a:p>
        </p:txBody>
      </p:sp>
      <p:sp>
        <p:nvSpPr>
          <p:cNvPr id="54275" name="Rectangle 3">
            <a:extLst>
              <a:ext uri="{FF2B5EF4-FFF2-40B4-BE49-F238E27FC236}">
                <a16:creationId xmlns:a16="http://schemas.microsoft.com/office/drawing/2014/main" id="{A036524A-5BC1-48BE-B129-7E4529AC91CD}"/>
              </a:ext>
            </a:extLst>
          </p:cNvPr>
          <p:cNvSpPr>
            <a:spLocks noGrp="1" noChangeArrowheads="1"/>
          </p:cNvSpPr>
          <p:nvPr>
            <p:ph type="body" idx="1"/>
          </p:nvPr>
        </p:nvSpPr>
        <p:spPr bwMode="auto">
          <a:xfrm>
            <a:off x="714375" y="1500188"/>
            <a:ext cx="7772400" cy="1295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Clr>
                <a:schemeClr val="accent2"/>
              </a:buClr>
            </a:pPr>
            <a:r>
              <a:rPr kumimoji="0" lang="zh-CN" altLang="en-US" sz="2800" b="1" dirty="0">
                <a:latin typeface="华文中宋" panose="02010600040101010101" pitchFamily="2" charset="-122"/>
              </a:rPr>
              <a:t>设</a:t>
            </a:r>
            <a:r>
              <a:rPr kumimoji="0" lang="en-US" altLang="zh-CN" sz="2800" b="1" dirty="0">
                <a:latin typeface="华文中宋" panose="02010600040101010101" pitchFamily="2" charset="-122"/>
              </a:rPr>
              <a:t>X={A,B,C,B,D,A,B}</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Y={B,D,C,A,B,A}</a:t>
            </a:r>
            <a:r>
              <a:rPr kumimoji="0" lang="zh-CN" altLang="en-US" sz="2800" b="1" dirty="0">
                <a:latin typeface="华文中宋" panose="02010600040101010101" pitchFamily="2" charset="-122"/>
              </a:rPr>
              <a:t>，找出</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Y</a:t>
            </a:r>
            <a:r>
              <a:rPr kumimoji="0" lang="zh-CN" altLang="en-US" sz="2800" b="1" dirty="0">
                <a:latin typeface="华文中宋" panose="02010600040101010101" pitchFamily="2" charset="-122"/>
              </a:rPr>
              <a:t>的最长公共子序列</a:t>
            </a:r>
            <a:r>
              <a:rPr kumimoji="0" lang="en-US" altLang="zh-CN" sz="2800" b="1" dirty="0">
                <a:latin typeface="华文中宋" panose="02010600040101010101" pitchFamily="2" charset="-122"/>
              </a:rPr>
              <a:t>LCS(X,Y)</a:t>
            </a:r>
            <a:r>
              <a:rPr kumimoji="0" lang="zh-CN" altLang="en-US" sz="2800" b="1" dirty="0">
                <a:latin typeface="华文中宋" panose="02010600040101010101" pitchFamily="2" charset="-122"/>
              </a:rPr>
              <a:t>。</a:t>
            </a:r>
          </a:p>
        </p:txBody>
      </p:sp>
      <p:sp>
        <p:nvSpPr>
          <p:cNvPr id="54276" name="Text Box 4">
            <a:extLst>
              <a:ext uri="{FF2B5EF4-FFF2-40B4-BE49-F238E27FC236}">
                <a16:creationId xmlns:a16="http://schemas.microsoft.com/office/drawing/2014/main" id="{1C3F0855-43D2-41AE-9A0C-E9E981A79CE8}"/>
              </a:ext>
            </a:extLst>
          </p:cNvPr>
          <p:cNvSpPr txBox="1">
            <a:spLocks noChangeArrowheads="1"/>
          </p:cNvSpPr>
          <p:nvPr/>
        </p:nvSpPr>
        <p:spPr bwMode="auto">
          <a:xfrm>
            <a:off x="809625" y="2928938"/>
            <a:ext cx="762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3538" indent="-363538">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zh-CN" altLang="en-US" dirty="0">
                <a:ea typeface="华文中宋" panose="02010600040101010101" pitchFamily="2" charset="-122"/>
              </a:rPr>
              <a:t>先通过</a:t>
            </a:r>
            <a:r>
              <a:rPr lang="en-US" altLang="zh-CN" dirty="0" err="1">
                <a:ea typeface="华文中宋" panose="02010600040101010101" pitchFamily="2" charset="-122"/>
              </a:rPr>
              <a:t>LCSLength</a:t>
            </a:r>
            <a:r>
              <a:rPr lang="zh-CN" altLang="en-US" dirty="0">
                <a:ea typeface="华文中宋" panose="02010600040101010101" pitchFamily="2" charset="-122"/>
              </a:rPr>
              <a:t>，求</a:t>
            </a:r>
            <a:r>
              <a:rPr lang="en-US" altLang="zh-CN" dirty="0">
                <a:ea typeface="华文中宋" panose="02010600040101010101" pitchFamily="2" charset="-122"/>
              </a:rPr>
              <a:t>C[</a:t>
            </a:r>
            <a:r>
              <a:rPr lang="en-US" altLang="zh-CN" dirty="0" err="1">
                <a:ea typeface="华文中宋" panose="02010600040101010101" pitchFamily="2" charset="-122"/>
              </a:rPr>
              <a:t>i</a:t>
            </a:r>
            <a:r>
              <a:rPr lang="en-US" altLang="zh-CN" dirty="0">
                <a:ea typeface="华文中宋" panose="02010600040101010101" pitchFamily="2" charset="-122"/>
              </a:rPr>
              <a:t>][j]</a:t>
            </a:r>
            <a:r>
              <a:rPr lang="zh-CN" altLang="en-US" dirty="0">
                <a:ea typeface="华文中宋" panose="02010600040101010101" pitchFamily="2" charset="-122"/>
              </a:rPr>
              <a:t>， </a:t>
            </a:r>
            <a:r>
              <a:rPr lang="en-US" altLang="zh-CN" dirty="0">
                <a:ea typeface="华文中宋" panose="02010600040101010101" pitchFamily="2" charset="-122"/>
              </a:rPr>
              <a:t>b[</a:t>
            </a:r>
            <a:r>
              <a:rPr lang="en-US" altLang="zh-CN" dirty="0" err="1">
                <a:ea typeface="华文中宋" panose="02010600040101010101" pitchFamily="2" charset="-122"/>
              </a:rPr>
              <a:t>i</a:t>
            </a:r>
            <a:r>
              <a:rPr lang="en-US" altLang="zh-CN" dirty="0">
                <a:ea typeface="华文中宋" panose="02010600040101010101" pitchFamily="2" charset="-122"/>
              </a:rPr>
              <a:t>][j]</a:t>
            </a:r>
          </a:p>
          <a:p>
            <a:pPr eaLnBrk="1" hangingPunct="1">
              <a:spcBef>
                <a:spcPct val="50000"/>
              </a:spcBef>
              <a:buFontTx/>
              <a:buChar char="•"/>
            </a:pPr>
            <a:r>
              <a:rPr lang="zh-CN" altLang="en-US" dirty="0">
                <a:ea typeface="华文中宋" panose="02010600040101010101" pitchFamily="2" charset="-122"/>
              </a:rPr>
              <a:t>再调用</a:t>
            </a:r>
            <a:r>
              <a:rPr lang="en-US" altLang="zh-CN" dirty="0">
                <a:ea typeface="华文中宋" panose="02010600040101010101" pitchFamily="2" charset="-122"/>
              </a:rPr>
              <a:t>LCS</a:t>
            </a:r>
            <a:r>
              <a:rPr lang="zh-CN" altLang="en-US" dirty="0">
                <a:ea typeface="华文中宋" panose="02010600040101010101" pitchFamily="2" charset="-122"/>
              </a:rPr>
              <a:t>，求得</a:t>
            </a:r>
            <a:r>
              <a:rPr lang="en-US" altLang="zh-CN" dirty="0">
                <a:ea typeface="华文中宋" panose="02010600040101010101" pitchFamily="2" charset="-122"/>
              </a:rPr>
              <a:t>LCS</a:t>
            </a:r>
            <a:r>
              <a:rPr lang="zh-CN" altLang="en-US" dirty="0">
                <a:ea typeface="华文中宋" panose="02010600040101010101" pitchFamily="2" charset="-122"/>
              </a:rPr>
              <a:t>（</a:t>
            </a:r>
            <a:r>
              <a:rPr lang="en-US" altLang="zh-CN" dirty="0">
                <a:ea typeface="华文中宋" panose="02010600040101010101" pitchFamily="2" charset="-122"/>
              </a:rPr>
              <a:t>X</a:t>
            </a:r>
            <a:r>
              <a:rPr lang="zh-CN" altLang="en-US" dirty="0">
                <a:ea typeface="华文中宋" panose="02010600040101010101" pitchFamily="2" charset="-122"/>
              </a:rPr>
              <a:t>，</a:t>
            </a:r>
            <a:r>
              <a:rPr lang="en-US" altLang="zh-CN" dirty="0">
                <a:ea typeface="华文中宋" panose="02010600040101010101" pitchFamily="2" charset="-122"/>
              </a:rPr>
              <a:t>Y</a:t>
            </a:r>
            <a:r>
              <a:rPr lang="zh-CN" altLang="en-US" dirty="0">
                <a:ea typeface="华文中宋" panose="02010600040101010101" pitchFamily="2" charset="-122"/>
              </a:rPr>
              <a:t>）</a:t>
            </a:r>
            <a:r>
              <a:rPr lang="en-US" altLang="zh-CN" dirty="0">
                <a:ea typeface="华文中宋" panose="02010600040101010101" pitchFamily="2" charset="-122"/>
              </a:rPr>
              <a:t>={B</a:t>
            </a:r>
            <a:r>
              <a:rPr lang="zh-CN" altLang="en-US" dirty="0">
                <a:ea typeface="华文中宋" panose="02010600040101010101" pitchFamily="2" charset="-122"/>
              </a:rPr>
              <a:t>，</a:t>
            </a:r>
            <a:r>
              <a:rPr lang="en-US" altLang="zh-CN" dirty="0">
                <a:ea typeface="华文中宋" panose="02010600040101010101" pitchFamily="2" charset="-122"/>
              </a:rPr>
              <a:t>C</a:t>
            </a:r>
            <a:r>
              <a:rPr lang="zh-CN" altLang="en-US" dirty="0">
                <a:ea typeface="华文中宋" panose="02010600040101010101" pitchFamily="2" charset="-122"/>
              </a:rPr>
              <a:t>，</a:t>
            </a:r>
            <a:r>
              <a:rPr lang="en-US" altLang="zh-CN" dirty="0">
                <a:ea typeface="华文中宋" panose="02010600040101010101" pitchFamily="2" charset="-122"/>
              </a:rPr>
              <a:t>B</a:t>
            </a:r>
            <a:r>
              <a:rPr lang="zh-CN" altLang="en-US" dirty="0">
                <a:ea typeface="华文中宋" panose="02010600040101010101" pitchFamily="2" charset="-122"/>
              </a:rPr>
              <a:t>，</a:t>
            </a:r>
            <a:r>
              <a:rPr lang="en-US" altLang="zh-CN" dirty="0">
                <a:ea typeface="华文中宋" panose="02010600040101010101" pitchFamily="2" charset="-122"/>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4276"/>
                                        </p:tgtEl>
                                        <p:attrNameLst>
                                          <p:attrName>style.visibility</p:attrName>
                                        </p:attrNameLst>
                                      </p:cBhvr>
                                      <p:to>
                                        <p:strVal val="visible"/>
                                      </p:to>
                                    </p:set>
                                    <p:anim calcmode="lin" valueType="num">
                                      <p:cBhvr additive="base">
                                        <p:cTn id="13" dur="500" fill="hold"/>
                                        <p:tgtEl>
                                          <p:spTgt spid="54276"/>
                                        </p:tgtEl>
                                        <p:attrNameLst>
                                          <p:attrName>ppt_x</p:attrName>
                                        </p:attrNameLst>
                                      </p:cBhvr>
                                      <p:tavLst>
                                        <p:tav tm="0">
                                          <p:val>
                                            <p:strVal val="0-#ppt_w/2"/>
                                          </p:val>
                                        </p:tav>
                                        <p:tav tm="100000">
                                          <p:val>
                                            <p:strVal val="#ppt_x"/>
                                          </p:val>
                                        </p:tav>
                                      </p:tavLst>
                                    </p:anim>
                                    <p:anim calcmode="lin" valueType="num">
                                      <p:cBhvr additive="base">
                                        <p:cTn id="14" dur="500" fill="hold"/>
                                        <p:tgtEl>
                                          <p:spTgt spid="542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utoUpdateAnimBg="0"/>
      <p:bldP spid="54276"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DB32A7F-0FB9-4EAE-B24E-3B15F4367C40}"/>
              </a:ext>
            </a:extLst>
          </p:cNvPr>
          <p:cNvSpPr>
            <a:spLocks noGrp="1" noChangeArrowheads="1"/>
          </p:cNvSpPr>
          <p:nvPr>
            <p:ph type="title"/>
          </p:nvPr>
        </p:nvSpPr>
        <p:spPr bwMode="auto">
          <a:xfrm>
            <a:off x="685800" y="76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buClr>
                <a:schemeClr val="accent2"/>
              </a:buClr>
            </a:pPr>
            <a:r>
              <a:rPr lang="zh-CN" altLang="en-US" sz="4000" b="1" dirty="0"/>
              <a:t>算法的改进</a:t>
            </a:r>
          </a:p>
        </p:txBody>
      </p:sp>
      <p:sp>
        <p:nvSpPr>
          <p:cNvPr id="64515" name="Rectangle 3">
            <a:extLst>
              <a:ext uri="{FF2B5EF4-FFF2-40B4-BE49-F238E27FC236}">
                <a16:creationId xmlns:a16="http://schemas.microsoft.com/office/drawing/2014/main" id="{AB0E60D3-5066-4AA2-9250-E708A87D2794}"/>
              </a:ext>
            </a:extLst>
          </p:cNvPr>
          <p:cNvSpPr>
            <a:spLocks noGrp="1" noChangeArrowheads="1"/>
          </p:cNvSpPr>
          <p:nvPr>
            <p:ph type="body" idx="1"/>
          </p:nvPr>
        </p:nvSpPr>
        <p:spPr bwMode="auto">
          <a:xfrm>
            <a:off x="685800" y="1066800"/>
            <a:ext cx="7772400" cy="3733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pPr>
            <a:r>
              <a:rPr kumimoji="0" lang="zh-CN" altLang="en-US" sz="2400" b="1" dirty="0"/>
              <a:t>在算法</a:t>
            </a:r>
            <a:r>
              <a:rPr kumimoji="0" lang="en-US" altLang="zh-CN" sz="2400" b="1" dirty="0" err="1"/>
              <a:t>lcsLength</a:t>
            </a:r>
            <a:r>
              <a:rPr kumimoji="0" lang="zh-CN" altLang="en-US" sz="2400" b="1" dirty="0"/>
              <a:t>和</a:t>
            </a:r>
            <a:r>
              <a:rPr kumimoji="0" lang="en-US" altLang="zh-CN" sz="2400" b="1" dirty="0" err="1"/>
              <a:t>lcs</a:t>
            </a:r>
            <a:r>
              <a:rPr kumimoji="0" lang="zh-CN" altLang="en-US" sz="2400" b="1" dirty="0"/>
              <a:t>中，可进一步将数组</a:t>
            </a:r>
            <a:r>
              <a:rPr kumimoji="0" lang="en-US" altLang="zh-CN" sz="2400" b="1" dirty="0"/>
              <a:t>b</a:t>
            </a:r>
            <a:r>
              <a:rPr kumimoji="0" lang="zh-CN" altLang="en-US" sz="2400" b="1" dirty="0"/>
              <a:t>省去。</a:t>
            </a:r>
          </a:p>
          <a:p>
            <a:pPr eaLnBrk="1" hangingPunct="1">
              <a:spcBef>
                <a:spcPct val="0"/>
              </a:spcBef>
              <a:buFontTx/>
              <a:buNone/>
            </a:pPr>
            <a:r>
              <a:rPr lang="en-US" altLang="zh-CN" sz="2400" b="1" dirty="0"/>
              <a:t>void </a:t>
            </a:r>
            <a:r>
              <a:rPr lang="en-US" altLang="zh-CN" sz="2400" b="1" dirty="0" err="1"/>
              <a:t>lcsPrint</a:t>
            </a:r>
            <a:r>
              <a:rPr lang="en-US" altLang="zh-CN" sz="2400" b="1" dirty="0"/>
              <a:t>(</a:t>
            </a:r>
            <a:r>
              <a:rPr lang="en-US" altLang="zh-CN" sz="2400" b="1" dirty="0" err="1"/>
              <a:t>i,j,x</a:t>
            </a:r>
            <a:r>
              <a:rPr lang="en-US" altLang="zh-CN" sz="2400" b="1" dirty="0"/>
              <a:t>) {</a:t>
            </a:r>
          </a:p>
          <a:p>
            <a:pPr eaLnBrk="1" hangingPunct="1">
              <a:spcBef>
                <a:spcPct val="0"/>
              </a:spcBef>
              <a:buFontTx/>
              <a:buNone/>
            </a:pPr>
            <a:r>
              <a:rPr lang="en-US" altLang="zh-CN" sz="2400" b="1" dirty="0"/>
              <a:t>    if (</a:t>
            </a:r>
            <a:r>
              <a:rPr lang="en-US" altLang="zh-CN" sz="2400" b="1" dirty="0" err="1"/>
              <a:t>i</a:t>
            </a:r>
            <a:r>
              <a:rPr lang="en-US" altLang="zh-CN" sz="2400" b="1" dirty="0"/>
              <a:t>==0)||(j==0) return;</a:t>
            </a:r>
          </a:p>
          <a:p>
            <a:pPr eaLnBrk="1" hangingPunct="1">
              <a:spcBef>
                <a:spcPct val="0"/>
              </a:spcBef>
              <a:buFontTx/>
              <a:buNone/>
            </a:pPr>
            <a:r>
              <a:rPr lang="en-US" altLang="zh-CN" sz="2400" b="1" dirty="0"/>
              <a:t>    if (c[</a:t>
            </a:r>
            <a:r>
              <a:rPr lang="en-US" altLang="zh-CN" sz="2400" b="1" dirty="0" err="1"/>
              <a:t>i</a:t>
            </a:r>
            <a:r>
              <a:rPr lang="en-US" altLang="zh-CN" sz="2400" b="1" dirty="0"/>
              <a:t>][j]==c[i-1][j-1]+1) {</a:t>
            </a:r>
          </a:p>
          <a:p>
            <a:pPr eaLnBrk="1" hangingPunct="1">
              <a:spcBef>
                <a:spcPct val="0"/>
              </a:spcBef>
              <a:buFontTx/>
              <a:buNone/>
            </a:pPr>
            <a:r>
              <a:rPr lang="en-US" altLang="zh-CN" sz="2400" b="1" dirty="0"/>
              <a:t>           </a:t>
            </a:r>
            <a:r>
              <a:rPr lang="en-US" altLang="zh-CN" sz="2400" b="1" dirty="0" err="1"/>
              <a:t>lcsPrint</a:t>
            </a:r>
            <a:r>
              <a:rPr lang="en-US" altLang="zh-CN" sz="2400" b="1" dirty="0"/>
              <a:t>(i-1,j-1,x) ; </a:t>
            </a:r>
            <a:r>
              <a:rPr lang="en-US" altLang="zh-CN" sz="2400" b="1" dirty="0" err="1"/>
              <a:t>printf</a:t>
            </a:r>
            <a:r>
              <a:rPr lang="en-US" altLang="zh-CN" sz="2400" b="1" dirty="0"/>
              <a:t>(x[</a:t>
            </a:r>
            <a:r>
              <a:rPr lang="en-US" altLang="zh-CN" sz="2400" b="1" dirty="0" err="1"/>
              <a:t>i</a:t>
            </a:r>
            <a:r>
              <a:rPr lang="en-US" altLang="zh-CN" sz="2400" b="1" dirty="0"/>
              <a:t>]);}</a:t>
            </a:r>
          </a:p>
          <a:p>
            <a:pPr eaLnBrk="1" hangingPunct="1">
              <a:spcBef>
                <a:spcPct val="0"/>
              </a:spcBef>
              <a:buFontTx/>
              <a:buNone/>
            </a:pPr>
            <a:r>
              <a:rPr lang="en-US" altLang="zh-CN" sz="2400" b="1" dirty="0"/>
              <a:t>    else if (c[</a:t>
            </a:r>
            <a:r>
              <a:rPr lang="en-US" altLang="zh-CN" sz="2400" b="1" dirty="0" err="1"/>
              <a:t>i</a:t>
            </a:r>
            <a:r>
              <a:rPr lang="en-US" altLang="zh-CN" sz="2400" b="1" dirty="0"/>
              <a:t>][j]&gt;c[i-1][j]+1) </a:t>
            </a:r>
          </a:p>
          <a:p>
            <a:pPr eaLnBrk="1" hangingPunct="1">
              <a:spcBef>
                <a:spcPct val="0"/>
              </a:spcBef>
              <a:buFontTx/>
              <a:buNone/>
            </a:pPr>
            <a:r>
              <a:rPr lang="en-US" altLang="zh-CN" sz="2400" b="1" dirty="0"/>
              <a:t>                      </a:t>
            </a:r>
            <a:r>
              <a:rPr lang="en-US" altLang="zh-CN" sz="2400" b="1" dirty="0" err="1"/>
              <a:t>lcsPrint</a:t>
            </a:r>
            <a:r>
              <a:rPr lang="en-US" altLang="zh-CN" sz="2400" b="1" dirty="0"/>
              <a:t>(i-1,j,x);</a:t>
            </a:r>
          </a:p>
          <a:p>
            <a:pPr eaLnBrk="1" hangingPunct="1">
              <a:spcBef>
                <a:spcPct val="0"/>
              </a:spcBef>
              <a:buFontTx/>
              <a:buNone/>
            </a:pPr>
            <a:r>
              <a:rPr lang="en-US" altLang="zh-CN" sz="2400" b="1" dirty="0"/>
              <a:t>            else    </a:t>
            </a:r>
            <a:r>
              <a:rPr lang="en-US" altLang="zh-CN" sz="2400" b="1" dirty="0" err="1"/>
              <a:t>lcsPrint</a:t>
            </a:r>
            <a:r>
              <a:rPr lang="en-US" altLang="zh-CN" sz="2400" b="1" dirty="0"/>
              <a:t>(</a:t>
            </a:r>
            <a:r>
              <a:rPr lang="en-US" altLang="zh-CN" sz="2400" b="1" dirty="0" err="1"/>
              <a:t>i</a:t>
            </a:r>
            <a:r>
              <a:rPr lang="en-US" altLang="zh-CN" sz="2400" b="1" dirty="0"/>
              <a:t>, j-1,x)</a:t>
            </a:r>
          </a:p>
          <a:p>
            <a:pPr eaLnBrk="1" hangingPunct="1">
              <a:spcBef>
                <a:spcPct val="0"/>
              </a:spcBef>
              <a:buFontTx/>
              <a:buNone/>
            </a:pPr>
            <a:r>
              <a:rPr kumimoji="0" lang="en-US" altLang="zh-CN" sz="2400" b="1" dirty="0"/>
              <a:t>}</a:t>
            </a:r>
          </a:p>
        </p:txBody>
      </p:sp>
      <p:sp>
        <p:nvSpPr>
          <p:cNvPr id="64516" name="Text Box 4">
            <a:extLst>
              <a:ext uri="{FF2B5EF4-FFF2-40B4-BE49-F238E27FC236}">
                <a16:creationId xmlns:a16="http://schemas.microsoft.com/office/drawing/2014/main" id="{7A67A0A2-9592-43B0-BF0C-534B3DD97B2E}"/>
              </a:ext>
            </a:extLst>
          </p:cNvPr>
          <p:cNvSpPr txBox="1">
            <a:spLocks noChangeArrowheads="1"/>
          </p:cNvSpPr>
          <p:nvPr/>
        </p:nvSpPr>
        <p:spPr bwMode="auto">
          <a:xfrm>
            <a:off x="533400" y="4572000"/>
            <a:ext cx="80391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dirty="0">
                <a:ea typeface="华文中宋" panose="02010600040101010101" pitchFamily="2" charset="-122"/>
              </a:rPr>
              <a:t>如果只需要计算最长公共子序列的长度，则算法的空间需求可大大减少。事实上，在计算</a:t>
            </a:r>
            <a:r>
              <a:rPr kumimoji="0" lang="en-US" altLang="zh-CN" dirty="0">
                <a:ea typeface="华文中宋" panose="02010600040101010101" pitchFamily="2" charset="-122"/>
              </a:rPr>
              <a:t>c[</a:t>
            </a:r>
            <a:r>
              <a:rPr kumimoji="0" lang="en-US" altLang="zh-CN" dirty="0" err="1">
                <a:ea typeface="华文中宋" panose="02010600040101010101" pitchFamily="2" charset="-122"/>
              </a:rPr>
              <a:t>i</a:t>
            </a:r>
            <a:r>
              <a:rPr kumimoji="0" lang="en-US" altLang="zh-CN" dirty="0">
                <a:ea typeface="华文中宋" panose="02010600040101010101" pitchFamily="2" charset="-122"/>
              </a:rPr>
              <a:t>][j]</a:t>
            </a:r>
            <a:r>
              <a:rPr kumimoji="0" lang="zh-CN" altLang="en-US" dirty="0">
                <a:ea typeface="华文中宋" panose="02010600040101010101" pitchFamily="2" charset="-122"/>
              </a:rPr>
              <a:t>时，只用到数组</a:t>
            </a:r>
            <a:r>
              <a:rPr kumimoji="0" lang="en-US" altLang="zh-CN" dirty="0">
                <a:ea typeface="华文中宋" panose="02010600040101010101" pitchFamily="2" charset="-122"/>
              </a:rPr>
              <a:t>c</a:t>
            </a:r>
            <a:r>
              <a:rPr kumimoji="0" lang="zh-CN" altLang="en-US" dirty="0">
                <a:ea typeface="华文中宋" panose="02010600040101010101" pitchFamily="2" charset="-122"/>
              </a:rPr>
              <a:t>的第</a:t>
            </a:r>
            <a:r>
              <a:rPr kumimoji="0" lang="en-US" altLang="zh-CN" dirty="0" err="1">
                <a:ea typeface="华文中宋" panose="02010600040101010101" pitchFamily="2" charset="-122"/>
              </a:rPr>
              <a:t>i</a:t>
            </a:r>
            <a:r>
              <a:rPr kumimoji="0" lang="zh-CN" altLang="en-US" dirty="0">
                <a:ea typeface="华文中宋" panose="02010600040101010101" pitchFamily="2" charset="-122"/>
              </a:rPr>
              <a:t>行和第</a:t>
            </a:r>
            <a:r>
              <a:rPr kumimoji="0" lang="en-US" altLang="zh-CN" dirty="0">
                <a:ea typeface="华文中宋" panose="02010600040101010101" pitchFamily="2" charset="-122"/>
              </a:rPr>
              <a:t>i-1</a:t>
            </a:r>
            <a:r>
              <a:rPr kumimoji="0" lang="zh-CN" altLang="en-US" dirty="0">
                <a:ea typeface="华文中宋" panose="02010600040101010101" pitchFamily="2" charset="-122"/>
              </a:rPr>
              <a:t>行。因此，用</a:t>
            </a:r>
            <a:r>
              <a:rPr kumimoji="0" lang="en-US" altLang="zh-CN" dirty="0">
                <a:ea typeface="华文中宋" panose="02010600040101010101" pitchFamily="2" charset="-122"/>
              </a:rPr>
              <a:t>2</a:t>
            </a:r>
            <a:r>
              <a:rPr kumimoji="0" lang="zh-CN" altLang="en-US" dirty="0">
                <a:ea typeface="华文中宋" panose="02010600040101010101" pitchFamily="2" charset="-122"/>
              </a:rPr>
              <a:t>行的数组空间就可以计算出最长公共子序列的长度。进一步的分析还可将空间需求减至</a:t>
            </a:r>
            <a:r>
              <a:rPr kumimoji="0" lang="en-US" altLang="zh-CN" dirty="0">
                <a:ea typeface="华文中宋" panose="02010600040101010101" pitchFamily="2" charset="-122"/>
              </a:rPr>
              <a:t>O(min(</a:t>
            </a:r>
            <a:r>
              <a:rPr kumimoji="0" lang="en-US" altLang="zh-CN" dirty="0" err="1">
                <a:ea typeface="华文中宋" panose="02010600040101010101" pitchFamily="2" charset="-122"/>
              </a:rPr>
              <a:t>m,n</a:t>
            </a:r>
            <a:r>
              <a:rPr kumimoji="0" lang="en-US" altLang="zh-CN" dirty="0">
                <a:ea typeface="华文中宋" panose="02010600040101010101" pitchFamily="2" charset="-122"/>
              </a:rPr>
              <a:t>))</a:t>
            </a:r>
            <a:r>
              <a:rPr kumimoji="0" lang="zh-CN" altLang="en-US" dirty="0">
                <a:ea typeface="华文中宋" panose="02010600040101010101" pitchFamily="2" charset="-122"/>
              </a:rPr>
              <a:t>。</a:t>
            </a:r>
            <a:endParaRPr lang="zh-CN" altLang="en-US" dirty="0">
              <a:ea typeface="华文中宋"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39B11B96-E182-4A54-95C2-9EA4507342C7}"/>
              </a:ext>
            </a:extLst>
          </p:cNvPr>
          <p:cNvSpPr>
            <a:spLocks noGrp="1" noChangeArrowheads="1"/>
          </p:cNvSpPr>
          <p:nvPr>
            <p:ph type="title"/>
          </p:nvPr>
        </p:nvSpPr>
        <p:spPr bwMode="auto">
          <a:xfrm>
            <a:off x="714375" y="357188"/>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银币问题</a:t>
            </a:r>
            <a:r>
              <a:rPr lang="en-US" altLang="zh-CN" sz="4000" b="1" dirty="0"/>
              <a:t>—</a:t>
            </a:r>
            <a:r>
              <a:rPr lang="zh-CN" altLang="en-US" sz="4000" b="1" dirty="0"/>
              <a:t>补充</a:t>
            </a:r>
          </a:p>
        </p:txBody>
      </p:sp>
      <p:sp>
        <p:nvSpPr>
          <p:cNvPr id="65539" name="Rectangle 3">
            <a:extLst>
              <a:ext uri="{FF2B5EF4-FFF2-40B4-BE49-F238E27FC236}">
                <a16:creationId xmlns:a16="http://schemas.microsoft.com/office/drawing/2014/main" id="{3A3F9E92-7F20-4E4F-AE93-51A0D4C4E4DD}"/>
              </a:ext>
            </a:extLst>
          </p:cNvPr>
          <p:cNvSpPr>
            <a:spLocks noGrp="1" noChangeArrowheads="1"/>
          </p:cNvSpPr>
          <p:nvPr>
            <p:ph type="body" idx="1"/>
          </p:nvPr>
        </p:nvSpPr>
        <p:spPr bwMode="auto">
          <a:xfrm>
            <a:off x="304800" y="1214438"/>
            <a:ext cx="8515350" cy="4881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lang="zh-CN" altLang="en-US" sz="2800" b="1" dirty="0">
                <a:solidFill>
                  <a:srgbClr val="FF0000"/>
                </a:solidFill>
              </a:rPr>
              <a:t>银币问题：</a:t>
            </a:r>
            <a:r>
              <a:rPr lang="zh-CN" altLang="en-US" sz="2800" b="1" dirty="0">
                <a:solidFill>
                  <a:srgbClr val="000000"/>
                </a:solidFill>
              </a:rPr>
              <a:t>用天平秤银币，找出不合格的银币，且在最坏情况下秤银币的次数最少。</a:t>
            </a:r>
            <a:endParaRPr lang="zh-CN" altLang="en-US" sz="2800" b="1" dirty="0"/>
          </a:p>
          <a:p>
            <a:pPr eaLnBrk="1" hangingPunct="1">
              <a:lnSpc>
                <a:spcPct val="130000"/>
              </a:lnSpc>
            </a:pPr>
            <a:r>
              <a:rPr lang="zh-CN" altLang="en-US" sz="2800" b="1" dirty="0">
                <a:solidFill>
                  <a:srgbClr val="000000"/>
                </a:solidFill>
              </a:rPr>
              <a:t>设有</a:t>
            </a:r>
            <a:r>
              <a:rPr lang="en-US" altLang="zh-CN" sz="2800" b="1" dirty="0">
                <a:solidFill>
                  <a:srgbClr val="000000"/>
                </a:solidFill>
              </a:rPr>
              <a:t>n</a:t>
            </a:r>
            <a:r>
              <a:rPr lang="zh-CN" altLang="en-US" sz="2800" b="1" dirty="0">
                <a:solidFill>
                  <a:srgbClr val="000000"/>
                </a:solidFill>
              </a:rPr>
              <a:t>个银币中有一个是不合格的，不合格的银币比合格银币要轻。</a:t>
            </a:r>
          </a:p>
          <a:p>
            <a:pPr eaLnBrk="1" hangingPunct="1">
              <a:lnSpc>
                <a:spcPct val="130000"/>
              </a:lnSpc>
            </a:pPr>
            <a:r>
              <a:rPr lang="zh-CN" altLang="en-US" sz="2800" b="1" dirty="0">
                <a:solidFill>
                  <a:srgbClr val="000000"/>
                </a:solidFill>
              </a:rPr>
              <a:t>设</a:t>
            </a:r>
            <a:r>
              <a:rPr lang="en-US" altLang="zh-CN" sz="2800" b="1" i="1" dirty="0">
                <a:solidFill>
                  <a:srgbClr val="000000"/>
                </a:solidFill>
              </a:rPr>
              <a:t>T</a:t>
            </a:r>
            <a:r>
              <a:rPr lang="en-US" altLang="zh-CN" sz="2800" b="1" i="1" baseline="-25000" dirty="0">
                <a:solidFill>
                  <a:srgbClr val="000000"/>
                </a:solidFill>
              </a:rPr>
              <a:t>n</a:t>
            </a:r>
            <a:r>
              <a:rPr lang="zh-CN" altLang="en-US" sz="2800" b="1" dirty="0">
                <a:solidFill>
                  <a:srgbClr val="000000"/>
                </a:solidFill>
              </a:rPr>
              <a:t>为最坏情况下秤</a:t>
            </a:r>
            <a:r>
              <a:rPr lang="en-US" altLang="zh-CN" sz="2800" b="1" dirty="0">
                <a:solidFill>
                  <a:srgbClr val="000000"/>
                </a:solidFill>
              </a:rPr>
              <a:t>n</a:t>
            </a:r>
            <a:r>
              <a:rPr lang="zh-CN" altLang="en-US" sz="2800" b="1" dirty="0">
                <a:solidFill>
                  <a:srgbClr val="000000"/>
                </a:solidFill>
              </a:rPr>
              <a:t>个银币的最少次数，需建立动态规划方程</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137552B1-2641-43F7-B80C-0F839F3073C1}"/>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补充：银币问题</a:t>
            </a:r>
            <a:r>
              <a:rPr lang="en-US" altLang="zh-CN" sz="4000" b="1" dirty="0"/>
              <a:t>-</a:t>
            </a:r>
            <a:r>
              <a:rPr lang="zh-CN" altLang="en-US" sz="4000" b="1" dirty="0"/>
              <a:t>续 </a:t>
            </a:r>
          </a:p>
        </p:txBody>
      </p:sp>
      <p:sp>
        <p:nvSpPr>
          <p:cNvPr id="66563" name="Rectangle 3">
            <a:extLst>
              <a:ext uri="{FF2B5EF4-FFF2-40B4-BE49-F238E27FC236}">
                <a16:creationId xmlns:a16="http://schemas.microsoft.com/office/drawing/2014/main" id="{32EBDE6F-A390-4E77-9312-DD9761B41555}"/>
              </a:ext>
            </a:extLst>
          </p:cNvPr>
          <p:cNvSpPr>
            <a:spLocks noGrp="1" noChangeArrowheads="1"/>
          </p:cNvSpPr>
          <p:nvPr>
            <p:ph type="body" idx="1"/>
          </p:nvPr>
        </p:nvSpPr>
        <p:spPr bwMode="auto">
          <a:xfrm>
            <a:off x="395288" y="1524000"/>
            <a:ext cx="82804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800" b="1" dirty="0"/>
              <a:t>n</a:t>
            </a:r>
            <a:r>
              <a:rPr lang="zh-CN" altLang="en-US" sz="2800" b="1" dirty="0"/>
              <a:t>块银币</a:t>
            </a:r>
            <a:r>
              <a:rPr lang="en-US" altLang="zh-CN" sz="2800" b="1" dirty="0"/>
              <a:t>C1</a:t>
            </a:r>
            <a:r>
              <a:rPr lang="zh-CN" altLang="en-US" sz="2800" b="1" dirty="0">
                <a:solidFill>
                  <a:srgbClr val="000000"/>
                </a:solidFill>
              </a:rPr>
              <a:t>、</a:t>
            </a:r>
            <a:r>
              <a:rPr lang="en-US" altLang="zh-CN" sz="2800" b="1" dirty="0">
                <a:solidFill>
                  <a:srgbClr val="000000"/>
                </a:solidFill>
              </a:rPr>
              <a:t>C2</a:t>
            </a:r>
            <a:r>
              <a:rPr lang="zh-CN" altLang="en-US" sz="2800" b="1" dirty="0">
                <a:solidFill>
                  <a:srgbClr val="000000"/>
                </a:solidFill>
              </a:rPr>
              <a:t>、</a:t>
            </a:r>
            <a:r>
              <a:rPr lang="en-US" altLang="zh-CN" sz="2800" b="1" dirty="0">
                <a:solidFill>
                  <a:srgbClr val="000000"/>
                </a:solidFill>
              </a:rPr>
              <a:t>C3</a:t>
            </a:r>
            <a:r>
              <a:rPr lang="zh-CN" altLang="en-US" sz="2800" b="1" dirty="0">
                <a:solidFill>
                  <a:srgbClr val="000000"/>
                </a:solidFill>
              </a:rPr>
              <a:t>、</a:t>
            </a:r>
            <a:r>
              <a:rPr lang="en-US" altLang="zh-CN" sz="2800" b="1" dirty="0">
                <a:solidFill>
                  <a:srgbClr val="000000"/>
                </a:solidFill>
              </a:rPr>
              <a:t>…</a:t>
            </a:r>
            <a:r>
              <a:rPr lang="zh-CN" altLang="en-US" sz="2800" b="1" dirty="0">
                <a:solidFill>
                  <a:srgbClr val="000000"/>
                </a:solidFill>
              </a:rPr>
              <a:t>、</a:t>
            </a:r>
            <a:r>
              <a:rPr lang="en-US" altLang="zh-CN" sz="2800" b="1" dirty="0">
                <a:solidFill>
                  <a:srgbClr val="000000"/>
                </a:solidFill>
              </a:rPr>
              <a:t>Cn</a:t>
            </a:r>
            <a:r>
              <a:rPr lang="zh-CN" altLang="en-US" sz="2800" b="1" dirty="0"/>
              <a:t>中有一块不合格，较重，用天平找出这块不合格的银币，问天平要称量多少次，如何称？</a:t>
            </a:r>
          </a:p>
          <a:p>
            <a:pPr eaLnBrk="1" hangingPunct="1"/>
            <a:r>
              <a:rPr lang="zh-CN" altLang="en-US" sz="2800" b="1" dirty="0"/>
              <a:t>若从</a:t>
            </a:r>
            <a:r>
              <a:rPr lang="en-US" altLang="zh-CN" sz="2800" b="1" dirty="0"/>
              <a:t>n</a:t>
            </a:r>
            <a:r>
              <a:rPr lang="zh-CN" altLang="en-US" sz="2800" b="1" dirty="0"/>
              <a:t>中取出</a:t>
            </a:r>
            <a:r>
              <a:rPr lang="en-US" altLang="zh-CN" sz="2800" b="1" dirty="0"/>
              <a:t>2k</a:t>
            </a:r>
            <a:r>
              <a:rPr lang="zh-CN" altLang="en-US" sz="2800" b="1" dirty="0"/>
              <a:t>块，每边</a:t>
            </a:r>
            <a:r>
              <a:rPr lang="en-US" altLang="zh-CN" sz="2800" b="1" dirty="0"/>
              <a:t>k</a:t>
            </a:r>
            <a:r>
              <a:rPr lang="zh-CN" altLang="en-US" sz="2800" b="1" dirty="0"/>
              <a:t>块，在天平上称，设</a:t>
            </a:r>
            <a:r>
              <a:rPr lang="en-US" altLang="zh-CN" sz="2800" b="1" dirty="0"/>
              <a:t>T</a:t>
            </a:r>
            <a:r>
              <a:rPr lang="en-US" altLang="zh-CN" sz="2800" b="1" baseline="-25000" dirty="0"/>
              <a:t>n</a:t>
            </a:r>
            <a:r>
              <a:rPr lang="zh-CN" altLang="en-US" sz="2800" b="1" dirty="0"/>
              <a:t>为从</a:t>
            </a:r>
            <a:r>
              <a:rPr lang="en-US" altLang="zh-CN" sz="2800" b="1" dirty="0"/>
              <a:t>n</a:t>
            </a:r>
            <a:r>
              <a:rPr lang="zh-CN" altLang="en-US" sz="2800" b="1" dirty="0"/>
              <a:t>块中找出不合格银币的称量次数，显然， </a:t>
            </a:r>
            <a:r>
              <a:rPr lang="en-US" altLang="zh-CN" sz="2800" b="1" dirty="0"/>
              <a:t>T</a:t>
            </a:r>
            <a:r>
              <a:rPr lang="en-US" altLang="zh-CN" sz="2800" b="1" baseline="-25000" dirty="0"/>
              <a:t>n</a:t>
            </a:r>
            <a:r>
              <a:rPr lang="zh-CN" altLang="en-US" sz="2800" b="1" dirty="0"/>
              <a:t>是</a:t>
            </a:r>
            <a:r>
              <a:rPr lang="en-US" altLang="zh-CN" sz="2800" b="1" dirty="0"/>
              <a:t>n</a:t>
            </a:r>
            <a:r>
              <a:rPr lang="zh-CN" altLang="en-US" sz="2800" b="1" dirty="0"/>
              <a:t>的单调增（不是严格单调）函数。</a:t>
            </a:r>
          </a:p>
          <a:p>
            <a:pPr algn="ctr" eaLnBrk="1" hangingPunct="1">
              <a:buFontTx/>
              <a:buNone/>
            </a:pPr>
            <a:endParaRPr lang="zh-CN" altLang="en-US" sz="2800" b="1" dirty="0"/>
          </a:p>
          <a:p>
            <a:pPr algn="ctr" eaLnBrk="1" hangingPunct="1">
              <a:buFontTx/>
              <a:buNone/>
            </a:pPr>
            <a:endParaRPr lang="zh-CN" altLang="en-US" sz="2800" b="1" dirty="0"/>
          </a:p>
          <a:p>
            <a:pPr eaLnBrk="1" hangingPunct="1"/>
            <a:endParaRPr lang="en-US" altLang="zh-CN" sz="2800" b="1" dirty="0"/>
          </a:p>
        </p:txBody>
      </p:sp>
      <p:sp>
        <p:nvSpPr>
          <p:cNvPr id="66564" name="Rectangle 5">
            <a:extLst>
              <a:ext uri="{FF2B5EF4-FFF2-40B4-BE49-F238E27FC236}">
                <a16:creationId xmlns:a16="http://schemas.microsoft.com/office/drawing/2014/main" id="{94EC16A9-FC26-43B8-97AF-E3BBABCE4F4E}"/>
              </a:ext>
            </a:extLst>
          </p:cNvPr>
          <p:cNvSpPr>
            <a:spLocks noChangeArrowheads="1"/>
          </p:cNvSpPr>
          <p:nvPr/>
        </p:nvSpPr>
        <p:spPr bwMode="auto">
          <a:xfrm>
            <a:off x="3462338" y="3233738"/>
            <a:ext cx="9144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aphicFrame>
        <p:nvGraphicFramePr>
          <p:cNvPr id="66565" name="Object 4">
            <a:extLst>
              <a:ext uri="{FF2B5EF4-FFF2-40B4-BE49-F238E27FC236}">
                <a16:creationId xmlns:a16="http://schemas.microsoft.com/office/drawing/2014/main" id="{BAF9C177-2DE2-4BD4-BFB3-DE7D9747ECF7}"/>
              </a:ext>
            </a:extLst>
          </p:cNvPr>
          <p:cNvGraphicFramePr>
            <a:graphicFrameLocks noChangeAspect="1"/>
          </p:cNvGraphicFramePr>
          <p:nvPr/>
        </p:nvGraphicFramePr>
        <p:xfrm>
          <a:off x="2124075" y="4384675"/>
          <a:ext cx="4824413" cy="915988"/>
        </p:xfrm>
        <a:graphic>
          <a:graphicData uri="http://schemas.openxmlformats.org/presentationml/2006/ole">
            <mc:AlternateContent xmlns:mc="http://schemas.openxmlformats.org/markup-compatibility/2006">
              <mc:Choice xmlns:v="urn:schemas-microsoft-com:vml" Requires="v">
                <p:oleObj r:id="rId2" imgW="2222500" imgH="393700" progId="Equation.3">
                  <p:embed/>
                </p:oleObj>
              </mc:Choice>
              <mc:Fallback>
                <p:oleObj r:id="rId2" imgW="2222500" imgH="3937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4384675"/>
                        <a:ext cx="4824413"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2E5E5D4-7B3D-4F4E-AEEC-948298CC5511}"/>
              </a:ext>
            </a:extLst>
          </p:cNvPr>
          <p:cNvSpPr>
            <a:spLocks noGrp="1" noChangeArrowheads="1"/>
          </p:cNvSpPr>
          <p:nvPr>
            <p:ph type="title"/>
          </p:nvPr>
        </p:nvSpPr>
        <p:spPr bwMode="auto">
          <a:xfrm>
            <a:off x="685800" y="1905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pPr>
            <a:r>
              <a:rPr lang="en-US" altLang="zh-CN" b="1" dirty="0">
                <a:solidFill>
                  <a:srgbClr val="A50021"/>
                </a:solidFill>
                <a:latin typeface="华文中宋" panose="02010600040101010101" pitchFamily="2" charset="-122"/>
              </a:rPr>
              <a:t>3.4 </a:t>
            </a:r>
            <a:r>
              <a:rPr lang="zh-CN" altLang="en-US" b="1" dirty="0">
                <a:solidFill>
                  <a:srgbClr val="A50021"/>
                </a:solidFill>
                <a:latin typeface="华文中宋" panose="02010600040101010101" pitchFamily="2" charset="-122"/>
              </a:rPr>
              <a:t>最大子段和</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F12E2292-0F89-403A-AC45-E23A9BAFF180}"/>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pPr>
            <a:r>
              <a:rPr lang="zh-CN" altLang="en-US" b="1" dirty="0">
                <a:solidFill>
                  <a:srgbClr val="FF0000"/>
                </a:solidFill>
                <a:latin typeface="华文中宋" panose="02010600040101010101" pitchFamily="2" charset="-122"/>
              </a:rPr>
              <a:t>心情愉快指数</a:t>
            </a:r>
          </a:p>
        </p:txBody>
      </p:sp>
      <p:sp>
        <p:nvSpPr>
          <p:cNvPr id="68611" name="Rectangle 3">
            <a:extLst>
              <a:ext uri="{FF2B5EF4-FFF2-40B4-BE49-F238E27FC236}">
                <a16:creationId xmlns:a16="http://schemas.microsoft.com/office/drawing/2014/main" id="{B5E09DFE-DFBA-488C-A33E-5F9C1A665DD6}"/>
              </a:ext>
            </a:extLst>
          </p:cNvPr>
          <p:cNvSpPr>
            <a:spLocks noGrp="1" noChangeArrowheads="1"/>
          </p:cNvSpPr>
          <p:nvPr>
            <p:ph type="body" idx="1"/>
          </p:nvPr>
        </p:nvSpPr>
        <p:spPr bwMode="auto">
          <a:xfrm>
            <a:off x="304800" y="1524000"/>
            <a:ext cx="85344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latin typeface="华文中宋" panose="02010600040101010101" pitchFamily="2" charset="-122"/>
              </a:rPr>
              <a:t>问题描述：某人驾车旅行，一些道路使他心情很舒畅，如高速公路，但一些道路使他心情很沮丧，如乡村泥泞的道路。于是他对路过的这些给出心情愉快指数，并统计道路上若干路段的心情愉快指数之和，他想知道在道路上从哪个起点开始到哪个位置结束的路段上心情愉快指数最大。</a:t>
            </a:r>
          </a:p>
          <a:p>
            <a:pPr eaLnBrk="1" hangingPunct="1"/>
            <a:r>
              <a:rPr lang="zh-CN" altLang="en-US" sz="2800" b="1" dirty="0">
                <a:latin typeface="华文中宋" panose="02010600040101010101" pitchFamily="2" charset="-122"/>
              </a:rPr>
              <a:t>您是计算机程序编程高手，请您帮助他解决这问题。</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A6CDFF4E-EAE0-4A4A-ABAC-2BD9E854F75E}"/>
              </a:ext>
            </a:extLst>
          </p:cNvPr>
          <p:cNvSpPr>
            <a:spLocks noGrp="1" noChangeArrowheads="1"/>
          </p:cNvSpPr>
          <p:nvPr>
            <p:ph type="title"/>
          </p:nvPr>
        </p:nvSpPr>
        <p:spPr bwMode="auto">
          <a:xfrm>
            <a:off x="685800" y="609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spcBef>
                <a:spcPct val="50000"/>
              </a:spcBef>
            </a:pPr>
            <a:r>
              <a:rPr lang="zh-CN" altLang="en-US" sz="4000" b="1">
                <a:solidFill>
                  <a:srgbClr val="FF0000"/>
                </a:solidFill>
                <a:latin typeface="黑体" panose="02010609060101010101" pitchFamily="49" charset="-122"/>
                <a:ea typeface="黑体" panose="02010609060101010101" pitchFamily="49" charset="-122"/>
              </a:rPr>
              <a:t>最大子段和问题</a:t>
            </a:r>
          </a:p>
        </p:txBody>
      </p:sp>
      <p:sp>
        <p:nvSpPr>
          <p:cNvPr id="69635" name="Rectangle 3">
            <a:extLst>
              <a:ext uri="{FF2B5EF4-FFF2-40B4-BE49-F238E27FC236}">
                <a16:creationId xmlns:a16="http://schemas.microsoft.com/office/drawing/2014/main" id="{9657B377-5BCC-4663-9344-F86A956B0DA1}"/>
              </a:ext>
            </a:extLst>
          </p:cNvPr>
          <p:cNvSpPr>
            <a:spLocks noGrp="1" noChangeArrowheads="1"/>
          </p:cNvSpPr>
          <p:nvPr>
            <p:ph type="body" idx="1"/>
          </p:nvPr>
        </p:nvSpPr>
        <p:spPr bwMode="auto">
          <a:xfrm>
            <a:off x="304800" y="1447800"/>
            <a:ext cx="8382000"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dirty="0"/>
              <a:t>问题描述：给定由</a:t>
            </a:r>
            <a:r>
              <a:rPr lang="en-US" altLang="zh-CN" sz="2800" b="1" dirty="0"/>
              <a:t>n</a:t>
            </a:r>
            <a:r>
              <a:rPr lang="zh-CN" altLang="en-US" sz="2800" b="1" dirty="0"/>
              <a:t>个整数组成的序列</a:t>
            </a:r>
            <a:r>
              <a:rPr lang="en-US" altLang="zh-CN" sz="2800" b="1" dirty="0"/>
              <a:t>a</a:t>
            </a:r>
            <a:r>
              <a:rPr lang="en-US" altLang="zh-CN" sz="2800" b="1" baseline="-25000" dirty="0"/>
              <a:t>1</a:t>
            </a:r>
            <a:r>
              <a:rPr lang="en-US" altLang="zh-CN" sz="2800" b="1" dirty="0"/>
              <a:t>, a</a:t>
            </a:r>
            <a:r>
              <a:rPr lang="en-US" altLang="zh-CN" sz="2800" b="1" baseline="-25000" dirty="0"/>
              <a:t>2</a:t>
            </a:r>
            <a:r>
              <a:rPr lang="en-US" altLang="zh-CN" sz="2800" b="1" dirty="0"/>
              <a:t>, a</a:t>
            </a:r>
            <a:r>
              <a:rPr lang="en-US" altLang="zh-CN" sz="2800" b="1" baseline="-25000" dirty="0"/>
              <a:t>3</a:t>
            </a:r>
            <a:r>
              <a:rPr lang="en-US" altLang="zh-CN" sz="2800" b="1" dirty="0"/>
              <a:t>, … , a</a:t>
            </a:r>
            <a:r>
              <a:rPr lang="en-US" altLang="zh-CN" sz="2800" b="1" baseline="-25000" dirty="0"/>
              <a:t>n</a:t>
            </a:r>
            <a:r>
              <a:rPr lang="en-US" altLang="zh-CN" sz="2800" b="1" dirty="0"/>
              <a:t>,  </a:t>
            </a:r>
            <a:r>
              <a:rPr lang="zh-CN" altLang="en-US" sz="2800" b="1" dirty="0"/>
              <a:t>求该序列形如</a:t>
            </a:r>
            <a:r>
              <a:rPr lang="zh-CN" altLang="en-US" sz="2800" b="1" dirty="0">
                <a:sym typeface="Symbol" panose="05050102010706020507" pitchFamily="18" charset="2"/>
              </a:rPr>
              <a:t></a:t>
            </a:r>
            <a:r>
              <a:rPr lang="en-US" altLang="zh-CN" sz="2800" b="1" dirty="0" err="1">
                <a:sym typeface="Symbol" panose="05050102010706020507" pitchFamily="18" charset="2"/>
              </a:rPr>
              <a:t>a</a:t>
            </a:r>
            <a:r>
              <a:rPr lang="en-US" altLang="zh-CN" sz="2800" b="1" baseline="-25000" dirty="0" err="1">
                <a:sym typeface="Symbol" panose="05050102010706020507" pitchFamily="18" charset="2"/>
              </a:rPr>
              <a:t>k</a:t>
            </a:r>
            <a:r>
              <a:rPr lang="zh-CN" altLang="zh-CN" sz="2800" b="1" dirty="0">
                <a:sym typeface="Symbol" panose="05050102010706020507" pitchFamily="18" charset="2"/>
              </a:rPr>
              <a:t>的子段和的最大值。</a:t>
            </a:r>
            <a:endParaRPr lang="zh-CN" altLang="en-US" sz="2800" b="1" dirty="0">
              <a:sym typeface="Symbol" panose="05050102010706020507" pitchFamily="18" charset="2"/>
            </a:endParaRPr>
          </a:p>
        </p:txBody>
      </p:sp>
      <p:sp>
        <p:nvSpPr>
          <p:cNvPr id="52228" name="Text Box 4">
            <a:extLst>
              <a:ext uri="{FF2B5EF4-FFF2-40B4-BE49-F238E27FC236}">
                <a16:creationId xmlns:a16="http://schemas.microsoft.com/office/drawing/2014/main" id="{0E9B4693-FB79-459F-B5E8-7B3EC98BD6C1}"/>
              </a:ext>
            </a:extLst>
          </p:cNvPr>
          <p:cNvSpPr txBox="1">
            <a:spLocks noChangeArrowheads="1"/>
          </p:cNvSpPr>
          <p:nvPr/>
        </p:nvSpPr>
        <p:spPr bwMode="auto">
          <a:xfrm>
            <a:off x="685800" y="3124200"/>
            <a:ext cx="7924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marL="92075" indent="-92075">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rPr>
              <a:t>     </a:t>
            </a:r>
            <a:r>
              <a:rPr lang="zh-CN" altLang="en-US" sz="2800" dirty="0">
                <a:ea typeface="华文中宋" panose="02010600040101010101" pitchFamily="2" charset="-122"/>
              </a:rPr>
              <a:t>注：当</a:t>
            </a:r>
            <a:r>
              <a:rPr lang="en-US" altLang="zh-CN" sz="2800" dirty="0">
                <a:ea typeface="华文中宋" panose="02010600040101010101" pitchFamily="2" charset="-122"/>
              </a:rPr>
              <a:t>n</a:t>
            </a:r>
            <a:r>
              <a:rPr lang="zh-CN" altLang="en-US" sz="2800" dirty="0">
                <a:ea typeface="华文中宋" panose="02010600040101010101" pitchFamily="2" charset="-122"/>
              </a:rPr>
              <a:t>个整数均为负数时，规定其最大子段和为</a:t>
            </a:r>
            <a:r>
              <a:rPr lang="en-US" altLang="zh-CN" sz="2800" dirty="0">
                <a:ea typeface="华文中宋" panose="02010600040101010101" pitchFamily="2" charset="-122"/>
              </a:rPr>
              <a:t>0</a:t>
            </a:r>
            <a:r>
              <a:rPr lang="zh-CN" altLang="en-US" sz="2800" dirty="0">
                <a:ea typeface="华文中宋" panose="02010600040101010101" pitchFamily="2" charset="-122"/>
              </a:rPr>
              <a:t>。即，所求最大子段和为：</a:t>
            </a:r>
          </a:p>
        </p:txBody>
      </p:sp>
      <p:grpSp>
        <p:nvGrpSpPr>
          <p:cNvPr id="2" name="Group 5">
            <a:extLst>
              <a:ext uri="{FF2B5EF4-FFF2-40B4-BE49-F238E27FC236}">
                <a16:creationId xmlns:a16="http://schemas.microsoft.com/office/drawing/2014/main" id="{E637CD02-F489-4260-B361-F1D1FCFDE861}"/>
              </a:ext>
            </a:extLst>
          </p:cNvPr>
          <p:cNvGrpSpPr>
            <a:grpSpLocks/>
          </p:cNvGrpSpPr>
          <p:nvPr/>
        </p:nvGrpSpPr>
        <p:grpSpPr bwMode="auto">
          <a:xfrm>
            <a:off x="2209800" y="4267200"/>
            <a:ext cx="4724400" cy="1533525"/>
            <a:chOff x="2064" y="2304"/>
            <a:chExt cx="2976" cy="966"/>
          </a:xfrm>
        </p:grpSpPr>
        <p:grpSp>
          <p:nvGrpSpPr>
            <p:cNvPr id="69638" name="Group 6">
              <a:extLst>
                <a:ext uri="{FF2B5EF4-FFF2-40B4-BE49-F238E27FC236}">
                  <a16:creationId xmlns:a16="http://schemas.microsoft.com/office/drawing/2014/main" id="{AE6C3C93-95D8-4D97-BD62-F46CC3818B1C}"/>
                </a:ext>
              </a:extLst>
            </p:cNvPr>
            <p:cNvGrpSpPr>
              <a:grpSpLocks/>
            </p:cNvGrpSpPr>
            <p:nvPr/>
          </p:nvGrpSpPr>
          <p:grpSpPr bwMode="auto">
            <a:xfrm>
              <a:off x="3744" y="2304"/>
              <a:ext cx="592" cy="814"/>
              <a:chOff x="992" y="2232"/>
              <a:chExt cx="592" cy="814"/>
            </a:xfrm>
          </p:grpSpPr>
          <p:sp>
            <p:nvSpPr>
              <p:cNvPr id="69641" name="Text Box 7">
                <a:extLst>
                  <a:ext uri="{FF2B5EF4-FFF2-40B4-BE49-F238E27FC236}">
                    <a16:creationId xmlns:a16="http://schemas.microsoft.com/office/drawing/2014/main" id="{EE174118-9E02-4BB5-B04A-66CEAD385577}"/>
                  </a:ext>
                </a:extLst>
              </p:cNvPr>
              <p:cNvSpPr txBox="1">
                <a:spLocks noChangeArrowheads="1"/>
              </p:cNvSpPr>
              <p:nvPr/>
            </p:nvSpPr>
            <p:spPr bwMode="auto">
              <a:xfrm>
                <a:off x="1104" y="2496"/>
                <a:ext cx="48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ea typeface="华文中宋" panose="02010600040101010101" pitchFamily="2" charset="-122"/>
                    <a:sym typeface="Symbol" panose="05050102010706020507" pitchFamily="18" charset="2"/>
                  </a:rPr>
                  <a:t></a:t>
                </a:r>
                <a:r>
                  <a:rPr lang="en-US" altLang="zh-CN" sz="3200" dirty="0" err="1">
                    <a:ea typeface="华文中宋" panose="02010600040101010101" pitchFamily="2" charset="-122"/>
                    <a:sym typeface="Symbol" panose="05050102010706020507" pitchFamily="18" charset="2"/>
                  </a:rPr>
                  <a:t>a</a:t>
                </a:r>
                <a:r>
                  <a:rPr lang="en-US" altLang="zh-CN" sz="3200" baseline="-25000" dirty="0" err="1">
                    <a:ea typeface="华文中宋" panose="02010600040101010101" pitchFamily="2" charset="-122"/>
                    <a:sym typeface="Symbol" panose="05050102010706020507" pitchFamily="18" charset="2"/>
                  </a:rPr>
                  <a:t>k</a:t>
                </a:r>
                <a:endParaRPr lang="en-US" altLang="zh-CN" sz="3200" baseline="-25000" dirty="0">
                  <a:ea typeface="华文中宋" panose="02010600040101010101" pitchFamily="2" charset="-122"/>
                  <a:sym typeface="Symbol" panose="05050102010706020507" pitchFamily="18" charset="2"/>
                </a:endParaRPr>
              </a:p>
            </p:txBody>
          </p:sp>
          <p:sp>
            <p:nvSpPr>
              <p:cNvPr id="69642" name="Text Box 8">
                <a:extLst>
                  <a:ext uri="{FF2B5EF4-FFF2-40B4-BE49-F238E27FC236}">
                    <a16:creationId xmlns:a16="http://schemas.microsoft.com/office/drawing/2014/main" id="{89F175A9-C1FA-453E-A257-F4C798AF0DFD}"/>
                  </a:ext>
                </a:extLst>
              </p:cNvPr>
              <p:cNvSpPr txBox="1">
                <a:spLocks noChangeArrowheads="1"/>
              </p:cNvSpPr>
              <p:nvPr/>
            </p:nvSpPr>
            <p:spPr bwMode="auto">
              <a:xfrm>
                <a:off x="992" y="2736"/>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ea typeface="华文中宋" panose="02010600040101010101" pitchFamily="2" charset="-122"/>
                  </a:rPr>
                  <a:t>k=</a:t>
                </a:r>
                <a:r>
                  <a:rPr lang="en-US" altLang="zh-CN" sz="3200" dirty="0" err="1">
                    <a:ea typeface="华文中宋" panose="02010600040101010101" pitchFamily="2" charset="-122"/>
                  </a:rPr>
                  <a:t>i</a:t>
                </a:r>
                <a:endParaRPr lang="en-US" altLang="zh-CN" sz="3200" dirty="0">
                  <a:ea typeface="华文中宋" panose="02010600040101010101" pitchFamily="2" charset="-122"/>
                </a:endParaRPr>
              </a:p>
            </p:txBody>
          </p:sp>
          <p:sp>
            <p:nvSpPr>
              <p:cNvPr id="69643" name="Text Box 9">
                <a:extLst>
                  <a:ext uri="{FF2B5EF4-FFF2-40B4-BE49-F238E27FC236}">
                    <a16:creationId xmlns:a16="http://schemas.microsoft.com/office/drawing/2014/main" id="{F00AF6A5-3CE2-42B7-A56A-34D355B8893B}"/>
                  </a:ext>
                </a:extLst>
              </p:cNvPr>
              <p:cNvSpPr txBox="1">
                <a:spLocks noChangeArrowheads="1"/>
              </p:cNvSpPr>
              <p:nvPr/>
            </p:nvSpPr>
            <p:spPr bwMode="auto">
              <a:xfrm>
                <a:off x="1152" y="2232"/>
                <a:ext cx="9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ea typeface="华文中宋" panose="02010600040101010101" pitchFamily="2" charset="-122"/>
                  </a:rPr>
                  <a:t>j</a:t>
                </a:r>
              </a:p>
            </p:txBody>
          </p:sp>
        </p:grpSp>
        <p:sp>
          <p:nvSpPr>
            <p:cNvPr id="69639" name="Text Box 10">
              <a:extLst>
                <a:ext uri="{FF2B5EF4-FFF2-40B4-BE49-F238E27FC236}">
                  <a16:creationId xmlns:a16="http://schemas.microsoft.com/office/drawing/2014/main" id="{2B14A54D-178C-4F08-958A-FF148E999587}"/>
                </a:ext>
              </a:extLst>
            </p:cNvPr>
            <p:cNvSpPr txBox="1">
              <a:spLocks noChangeArrowheads="1"/>
            </p:cNvSpPr>
            <p:nvPr/>
          </p:nvSpPr>
          <p:spPr bwMode="auto">
            <a:xfrm>
              <a:off x="2688" y="2960"/>
              <a:ext cx="120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a:solidFill>
                    <a:schemeClr val="tx2"/>
                  </a:solidFill>
                  <a:ea typeface="华文中宋" panose="02010600040101010101" pitchFamily="2" charset="-122"/>
                </a:rPr>
                <a:t>  1</a:t>
              </a:r>
              <a:r>
                <a:rPr lang="en-US" altLang="zh-CN" dirty="0">
                  <a:solidFill>
                    <a:schemeClr val="tx2"/>
                  </a:solidFill>
                  <a:ea typeface="华文中宋" panose="02010600040101010101" pitchFamily="2" charset="-122"/>
                  <a:sym typeface="Symbol" panose="05050102010706020507" pitchFamily="18" charset="2"/>
                </a:rPr>
                <a:t> </a:t>
              </a:r>
              <a:r>
                <a:rPr lang="en-US" altLang="zh-CN" dirty="0" err="1">
                  <a:solidFill>
                    <a:schemeClr val="tx2"/>
                  </a:solidFill>
                  <a:ea typeface="华文中宋" panose="02010600040101010101" pitchFamily="2" charset="-122"/>
                  <a:sym typeface="Symbol" panose="05050102010706020507" pitchFamily="18" charset="2"/>
                </a:rPr>
                <a:t>i</a:t>
              </a:r>
              <a:r>
                <a:rPr lang="en-US" altLang="zh-CN" dirty="0">
                  <a:solidFill>
                    <a:schemeClr val="tx2"/>
                  </a:solidFill>
                  <a:ea typeface="华文中宋" panose="02010600040101010101" pitchFamily="2" charset="-122"/>
                  <a:sym typeface="Symbol" panose="05050102010706020507" pitchFamily="18" charset="2"/>
                </a:rPr>
                <a:t>  j  n</a:t>
              </a:r>
              <a:r>
                <a:rPr lang="en-US" altLang="zh-CN" sz="3200" dirty="0">
                  <a:ea typeface="华文中宋" panose="02010600040101010101" pitchFamily="2" charset="-122"/>
                  <a:sym typeface="Symbol" panose="05050102010706020507" pitchFamily="18" charset="2"/>
                </a:rPr>
                <a:t> </a:t>
              </a:r>
            </a:p>
          </p:txBody>
        </p:sp>
        <p:sp>
          <p:nvSpPr>
            <p:cNvPr id="69640" name="Text Box 11">
              <a:extLst>
                <a:ext uri="{FF2B5EF4-FFF2-40B4-BE49-F238E27FC236}">
                  <a16:creationId xmlns:a16="http://schemas.microsoft.com/office/drawing/2014/main" id="{47D049B1-347A-4413-95B9-7B550B91B0B0}"/>
                </a:ext>
              </a:extLst>
            </p:cNvPr>
            <p:cNvSpPr txBox="1">
              <a:spLocks noChangeArrowheads="1"/>
            </p:cNvSpPr>
            <p:nvPr/>
          </p:nvSpPr>
          <p:spPr bwMode="auto">
            <a:xfrm>
              <a:off x="2064" y="2592"/>
              <a:ext cx="297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ea typeface="华文中宋" panose="02010600040101010101" pitchFamily="2" charset="-122"/>
                </a:rPr>
                <a:t>max</a:t>
              </a:r>
              <a:r>
                <a:rPr lang="en-US" altLang="zh-CN" sz="3200" baseline="-25000" dirty="0">
                  <a:ea typeface="华文中宋" panose="02010600040101010101" pitchFamily="2" charset="-122"/>
                </a:rPr>
                <a:t> </a:t>
              </a:r>
              <a:r>
                <a:rPr lang="en-US" altLang="zh-CN" sz="3200" dirty="0">
                  <a:ea typeface="华文中宋" panose="02010600040101010101" pitchFamily="2" charset="-122"/>
                </a:rPr>
                <a:t>{ 0,   </a:t>
              </a:r>
              <a:r>
                <a:rPr lang="en-US" altLang="zh-CN" sz="3200" dirty="0">
                  <a:solidFill>
                    <a:schemeClr val="tx2"/>
                  </a:solidFill>
                  <a:ea typeface="华文中宋" panose="02010600040101010101" pitchFamily="2" charset="-122"/>
                </a:rPr>
                <a:t>max </a:t>
              </a:r>
              <a:r>
                <a:rPr lang="en-US" altLang="zh-CN" sz="3200" dirty="0">
                  <a:ea typeface="华文中宋" panose="02010600040101010101" pitchFamily="2" charset="-122"/>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blinds(horizontal)">
                                      <p:cBhvr>
                                        <p:cTn id="7" dur="500"/>
                                        <p:tgtEl>
                                          <p:spTgt spid="52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F73D1745-4BDE-4927-BF44-5E4067FA4525}"/>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sym typeface="Symbol" panose="05050102010706020507" pitchFamily="18" charset="2"/>
              </a:rPr>
              <a:t>举例</a:t>
            </a:r>
          </a:p>
        </p:txBody>
      </p:sp>
      <p:sp>
        <p:nvSpPr>
          <p:cNvPr id="70659" name="Rectangle 3">
            <a:extLst>
              <a:ext uri="{FF2B5EF4-FFF2-40B4-BE49-F238E27FC236}">
                <a16:creationId xmlns:a16="http://schemas.microsoft.com/office/drawing/2014/main" id="{2152489E-6B22-4EAC-9B29-7444057573EA}"/>
              </a:ext>
            </a:extLst>
          </p:cNvPr>
          <p:cNvSpPr>
            <a:spLocks noGrp="1" noChangeArrowheads="1"/>
          </p:cNvSpPr>
          <p:nvPr>
            <p:ph type="body" idx="1"/>
          </p:nvPr>
        </p:nvSpPr>
        <p:spPr bwMode="auto">
          <a:xfrm>
            <a:off x="762000" y="1600200"/>
            <a:ext cx="7772400" cy="205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pPr>
            <a:r>
              <a:rPr lang="zh-CN" altLang="en-US" b="1" dirty="0"/>
              <a:t>设（</a:t>
            </a:r>
            <a:r>
              <a:rPr lang="en-US" altLang="zh-CN" b="1" dirty="0"/>
              <a:t>a</a:t>
            </a:r>
            <a:r>
              <a:rPr lang="en-US" altLang="zh-CN" b="1" baseline="-25000" dirty="0"/>
              <a:t>1</a:t>
            </a:r>
            <a:r>
              <a:rPr lang="en-US" altLang="zh-CN" b="1" dirty="0"/>
              <a:t>, a</a:t>
            </a:r>
            <a:r>
              <a:rPr lang="en-US" altLang="zh-CN" b="1" baseline="-25000" dirty="0"/>
              <a:t>2</a:t>
            </a:r>
            <a:r>
              <a:rPr lang="en-US" altLang="zh-CN" b="1" dirty="0"/>
              <a:t>, a</a:t>
            </a:r>
            <a:r>
              <a:rPr lang="en-US" altLang="zh-CN" b="1" baseline="-25000" dirty="0"/>
              <a:t>3</a:t>
            </a:r>
            <a:r>
              <a:rPr lang="en-US" altLang="zh-CN" b="1" dirty="0"/>
              <a:t>, a</a:t>
            </a:r>
            <a:r>
              <a:rPr lang="en-US" altLang="zh-CN" b="1" baseline="-25000" dirty="0"/>
              <a:t>4</a:t>
            </a:r>
            <a:r>
              <a:rPr lang="en-US" altLang="zh-CN" b="1" dirty="0"/>
              <a:t>, a</a:t>
            </a:r>
            <a:r>
              <a:rPr lang="en-US" altLang="zh-CN" b="1" baseline="-25000" dirty="0"/>
              <a:t>5</a:t>
            </a:r>
            <a:r>
              <a:rPr lang="en-US" altLang="zh-CN" b="1" dirty="0"/>
              <a:t>, a</a:t>
            </a:r>
            <a:r>
              <a:rPr lang="en-US" altLang="zh-CN" b="1" baseline="-25000" dirty="0"/>
              <a:t>6</a:t>
            </a:r>
            <a:r>
              <a:rPr lang="zh-CN" altLang="en-US" b="1" dirty="0"/>
              <a:t>）</a:t>
            </a:r>
            <a:r>
              <a:rPr lang="en-US" altLang="zh-CN" b="1" dirty="0"/>
              <a:t>=</a:t>
            </a:r>
            <a:r>
              <a:rPr lang="zh-CN" altLang="en-US" b="1" dirty="0"/>
              <a:t>（</a:t>
            </a:r>
            <a:r>
              <a:rPr lang="en-US" altLang="zh-CN" b="1" dirty="0"/>
              <a:t>-2</a:t>
            </a:r>
            <a:r>
              <a:rPr lang="zh-CN" altLang="en-US" b="1" dirty="0"/>
              <a:t>，</a:t>
            </a:r>
            <a:r>
              <a:rPr lang="en-US" altLang="zh-CN" b="1" dirty="0"/>
              <a:t>11</a:t>
            </a:r>
            <a:r>
              <a:rPr lang="zh-CN" altLang="en-US" b="1" dirty="0"/>
              <a:t>，</a:t>
            </a:r>
            <a:r>
              <a:rPr lang="en-US" altLang="zh-CN" b="1" dirty="0"/>
              <a:t>-4</a:t>
            </a:r>
            <a:r>
              <a:rPr lang="zh-CN" altLang="en-US" b="1" dirty="0"/>
              <a:t>，</a:t>
            </a:r>
            <a:r>
              <a:rPr lang="en-US" altLang="zh-CN" b="1" dirty="0"/>
              <a:t>13</a:t>
            </a:r>
            <a:r>
              <a:rPr lang="zh-CN" altLang="en-US" b="1" dirty="0"/>
              <a:t>，</a:t>
            </a:r>
            <a:r>
              <a:rPr lang="en-US" altLang="zh-CN" b="1" dirty="0"/>
              <a:t>-5</a:t>
            </a:r>
            <a:r>
              <a:rPr lang="zh-CN" altLang="en-US" b="1" dirty="0"/>
              <a:t>，</a:t>
            </a:r>
            <a:r>
              <a:rPr lang="en-US" altLang="zh-CN" b="1" dirty="0"/>
              <a:t>-2</a:t>
            </a:r>
            <a:r>
              <a:rPr lang="zh-CN" altLang="en-US" b="1" dirty="0"/>
              <a:t>），求该序列</a:t>
            </a:r>
            <a:r>
              <a:rPr lang="zh-CN" altLang="zh-CN" b="1" dirty="0">
                <a:sym typeface="Symbol" panose="05050102010706020507" pitchFamily="18" charset="2"/>
              </a:rPr>
              <a:t>的子段和的最大值。</a:t>
            </a:r>
            <a:endParaRPr lang="zh-CN" altLang="en-US" b="1" dirty="0">
              <a:sym typeface="Symbol" panose="05050102010706020507" pitchFamily="18" charset="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B0C0EA6-7402-41A3-A260-EA21F6DA8CD2}"/>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dirty="0"/>
              <a:t>算法分析</a:t>
            </a:r>
          </a:p>
        </p:txBody>
      </p:sp>
      <p:sp>
        <p:nvSpPr>
          <p:cNvPr id="71683" name="Rectangle 3">
            <a:extLst>
              <a:ext uri="{FF2B5EF4-FFF2-40B4-BE49-F238E27FC236}">
                <a16:creationId xmlns:a16="http://schemas.microsoft.com/office/drawing/2014/main" id="{C6D4A6C9-0CA5-402F-A288-81A5CC185EEC}"/>
              </a:ext>
            </a:extLst>
          </p:cNvPr>
          <p:cNvSpPr>
            <a:spLocks noGrp="1" noChangeArrowheads="1"/>
          </p:cNvSpPr>
          <p:nvPr>
            <p:ph type="body" idx="1"/>
          </p:nvPr>
        </p:nvSpPr>
        <p:spPr bwMode="auto">
          <a:xfrm>
            <a:off x="685800" y="1524000"/>
            <a:ext cx="7772400" cy="2514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dirty="0"/>
              <a:t>简单算法</a:t>
            </a:r>
          </a:p>
          <a:p>
            <a:pPr eaLnBrk="1" hangingPunct="1"/>
            <a:r>
              <a:rPr lang="zh-CN" altLang="en-US" dirty="0"/>
              <a:t>改进算法</a:t>
            </a:r>
          </a:p>
          <a:p>
            <a:pPr eaLnBrk="1" hangingPunct="1"/>
            <a:r>
              <a:rPr lang="zh-CN" altLang="en-US" dirty="0"/>
              <a:t>分治策略</a:t>
            </a:r>
          </a:p>
          <a:p>
            <a:pPr eaLnBrk="1" hangingPunct="1"/>
            <a:r>
              <a:rPr lang="zh-CN" altLang="en-US" dirty="0"/>
              <a:t>动态规划</a:t>
            </a:r>
          </a:p>
        </p:txBody>
      </p:sp>
      <p:pic>
        <p:nvPicPr>
          <p:cNvPr id="71684" name="Picture 4" descr="BD14866_">
            <a:hlinkClick r:id="rId2" action="ppaction://hlinksldjump"/>
            <a:extLst>
              <a:ext uri="{FF2B5EF4-FFF2-40B4-BE49-F238E27FC236}">
                <a16:creationId xmlns:a16="http://schemas.microsoft.com/office/drawing/2014/main" id="{E6E0767B-BE1D-4E2D-929D-54AEAD2F4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6275" y="35814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5" name="Picture 5" descr="BD14867_">
            <a:hlinkClick r:id="rId4" action="ppaction://hlinksldjump"/>
            <a:extLst>
              <a:ext uri="{FF2B5EF4-FFF2-40B4-BE49-F238E27FC236}">
                <a16:creationId xmlns:a16="http://schemas.microsoft.com/office/drawing/2014/main" id="{6C5C2D5E-CE2F-441F-BFD9-A0D79714D6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6275" y="28956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6" descr="BD21375_">
            <a:hlinkClick r:id="rId6" action="ppaction://hlinksldjump"/>
            <a:extLst>
              <a:ext uri="{FF2B5EF4-FFF2-40B4-BE49-F238E27FC236}">
                <a16:creationId xmlns:a16="http://schemas.microsoft.com/office/drawing/2014/main" id="{2097BD51-83D2-4448-A938-F296723EAC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6275" y="23622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Picture 7" descr="BD10267_">
            <a:hlinkClick r:id="rId8" action="ppaction://hlinksldjump"/>
            <a:extLst>
              <a:ext uri="{FF2B5EF4-FFF2-40B4-BE49-F238E27FC236}">
                <a16:creationId xmlns:a16="http://schemas.microsoft.com/office/drawing/2014/main" id="{4DCF3287-0FE8-4C69-9D9D-C6D7511C622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738" y="1752600"/>
            <a:ext cx="136525"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Picture 8" descr="IN00357_">
            <a:hlinkClick r:id="rId10" action="ppaction://hlinksldjump"/>
            <a:extLst>
              <a:ext uri="{FF2B5EF4-FFF2-40B4-BE49-F238E27FC236}">
                <a16:creationId xmlns:a16="http://schemas.microsoft.com/office/drawing/2014/main" id="{08676871-F794-4094-86CF-FA8CBA61AC9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4600" y="5257800"/>
            <a:ext cx="13716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9873D930-E03D-407E-92FC-1A98365C1C9F}"/>
              </a:ext>
            </a:extLst>
          </p:cNvPr>
          <p:cNvSpPr>
            <a:spLocks noGrp="1" noChangeArrowheads="1"/>
          </p:cNvSpPr>
          <p:nvPr>
            <p:ph type="title"/>
          </p:nvPr>
        </p:nvSpPr>
        <p:spPr bwMode="auto">
          <a:xfrm>
            <a:off x="685800" y="76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简单算法</a:t>
            </a:r>
            <a:r>
              <a:rPr lang="en-US" altLang="zh-CN" sz="4000" b="1" dirty="0"/>
              <a:t>--</a:t>
            </a:r>
            <a:r>
              <a:rPr lang="zh-CN" altLang="en-US" dirty="0"/>
              <a:t>枚举</a:t>
            </a:r>
          </a:p>
        </p:txBody>
      </p:sp>
      <p:sp>
        <p:nvSpPr>
          <p:cNvPr id="58371" name="Rectangle 3">
            <a:extLst>
              <a:ext uri="{FF2B5EF4-FFF2-40B4-BE49-F238E27FC236}">
                <a16:creationId xmlns:a16="http://schemas.microsoft.com/office/drawing/2014/main" id="{191C3537-AAE1-4038-A048-D68DC23E9581}"/>
              </a:ext>
            </a:extLst>
          </p:cNvPr>
          <p:cNvSpPr>
            <a:spLocks noGrp="1" noChangeArrowheads="1"/>
          </p:cNvSpPr>
          <p:nvPr>
            <p:ph type="body" idx="1"/>
          </p:nvPr>
        </p:nvSpPr>
        <p:spPr bwMode="auto">
          <a:xfrm>
            <a:off x="685800" y="914400"/>
            <a:ext cx="7086600" cy="571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buFontTx/>
              <a:buNone/>
            </a:pPr>
            <a:r>
              <a:rPr lang="en-US" altLang="zh-CN" sz="2200" b="1" dirty="0">
                <a:solidFill>
                  <a:srgbClr val="0000FF"/>
                </a:solidFill>
                <a:latin typeface="Input"/>
              </a:rPr>
              <a:t>int </a:t>
            </a:r>
            <a:r>
              <a:rPr lang="en-US" altLang="zh-CN" sz="2200" b="1" dirty="0" err="1">
                <a:solidFill>
                  <a:srgbClr val="0000FF"/>
                </a:solidFill>
                <a:latin typeface="Input"/>
              </a:rPr>
              <a:t>MaxSum</a:t>
            </a:r>
            <a:r>
              <a:rPr lang="en-US" altLang="zh-CN" sz="2200" b="1" dirty="0">
                <a:solidFill>
                  <a:srgbClr val="0000FF"/>
                </a:solidFill>
                <a:latin typeface="Input"/>
              </a:rPr>
              <a:t>(int n, int *a, int &amp;</a:t>
            </a:r>
            <a:r>
              <a:rPr lang="en-US" altLang="zh-CN" sz="2200" b="1" dirty="0" err="1">
                <a:solidFill>
                  <a:srgbClr val="0000FF"/>
                </a:solidFill>
                <a:latin typeface="Input"/>
              </a:rPr>
              <a:t>besti</a:t>
            </a:r>
            <a:r>
              <a:rPr lang="en-US" altLang="zh-CN" sz="2200" b="1" dirty="0">
                <a:solidFill>
                  <a:srgbClr val="0000FF"/>
                </a:solidFill>
                <a:latin typeface="Input"/>
              </a:rPr>
              <a:t>, int &amp;</a:t>
            </a:r>
            <a:r>
              <a:rPr lang="en-US" altLang="zh-CN" sz="2200" b="1" dirty="0" err="1">
                <a:solidFill>
                  <a:srgbClr val="0000FF"/>
                </a:solidFill>
                <a:latin typeface="Input"/>
              </a:rPr>
              <a:t>bestj</a:t>
            </a:r>
            <a:r>
              <a:rPr lang="en-US" altLang="zh-CN" sz="2200" b="1" dirty="0">
                <a:solidFill>
                  <a:srgbClr val="0000FF"/>
                </a:solidFill>
                <a:latin typeface="Input"/>
              </a:rPr>
              <a:t>)</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int sum = 0;</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for (int </a:t>
            </a:r>
            <a:r>
              <a:rPr lang="en-US" altLang="zh-CN" sz="2200" b="1" dirty="0" err="1">
                <a:solidFill>
                  <a:srgbClr val="0000FF"/>
                </a:solidFill>
                <a:latin typeface="Input"/>
              </a:rPr>
              <a:t>i</a:t>
            </a:r>
            <a:r>
              <a:rPr lang="en-US" altLang="zh-CN" sz="2200" b="1" dirty="0">
                <a:solidFill>
                  <a:srgbClr val="0000FF"/>
                </a:solidFill>
                <a:latin typeface="Input"/>
              </a:rPr>
              <a:t> = 1;i &lt;= </a:t>
            </a:r>
            <a:r>
              <a:rPr lang="en-US" altLang="zh-CN" sz="2200" b="1" dirty="0" err="1">
                <a:solidFill>
                  <a:srgbClr val="0000FF"/>
                </a:solidFill>
                <a:latin typeface="Input"/>
              </a:rPr>
              <a:t>n;i</a:t>
            </a:r>
            <a:r>
              <a:rPr lang="en-US" altLang="zh-CN" sz="2200" b="1" dirty="0">
                <a:solidFill>
                  <a:srgbClr val="0000FF"/>
                </a:solidFill>
                <a:latin typeface="Input"/>
              </a:rPr>
              <a:t> ++ )</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for (int j = </a:t>
            </a:r>
            <a:r>
              <a:rPr lang="en-US" altLang="zh-CN" sz="2200" b="1" dirty="0" err="1">
                <a:solidFill>
                  <a:srgbClr val="0000FF"/>
                </a:solidFill>
                <a:latin typeface="Input"/>
              </a:rPr>
              <a:t>i;j</a:t>
            </a:r>
            <a:r>
              <a:rPr lang="en-US" altLang="zh-CN" sz="2200" b="1" dirty="0">
                <a:solidFill>
                  <a:srgbClr val="0000FF"/>
                </a:solidFill>
                <a:latin typeface="Input"/>
              </a:rPr>
              <a:t> &lt;= </a:t>
            </a:r>
            <a:r>
              <a:rPr lang="en-US" altLang="zh-CN" sz="2200" b="1" dirty="0" err="1">
                <a:solidFill>
                  <a:srgbClr val="0000FF"/>
                </a:solidFill>
                <a:latin typeface="Input"/>
              </a:rPr>
              <a:t>n;j</a:t>
            </a:r>
            <a:r>
              <a:rPr lang="en-US" altLang="zh-CN" sz="2200" b="1" dirty="0">
                <a:solidFill>
                  <a:srgbClr val="0000FF"/>
                </a:solidFill>
                <a:latin typeface="Input"/>
              </a:rPr>
              <a:t> ++){</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int </a:t>
            </a:r>
            <a:r>
              <a:rPr lang="en-US" altLang="zh-CN" sz="2200" b="1" dirty="0" err="1">
                <a:solidFill>
                  <a:srgbClr val="0000FF"/>
                </a:solidFill>
                <a:latin typeface="Input"/>
              </a:rPr>
              <a:t>thissum</a:t>
            </a:r>
            <a:r>
              <a:rPr lang="en-US" altLang="zh-CN" sz="2200" b="1" dirty="0">
                <a:solidFill>
                  <a:srgbClr val="0000FF"/>
                </a:solidFill>
                <a:latin typeface="Input"/>
              </a:rPr>
              <a:t> = 0;</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for (int k = </a:t>
            </a:r>
            <a:r>
              <a:rPr lang="en-US" altLang="zh-CN" sz="2200" b="1" dirty="0" err="1">
                <a:solidFill>
                  <a:srgbClr val="0000FF"/>
                </a:solidFill>
                <a:latin typeface="Input"/>
              </a:rPr>
              <a:t>i;k</a:t>
            </a:r>
            <a:r>
              <a:rPr lang="en-US" altLang="zh-CN" sz="2200" b="1" dirty="0">
                <a:solidFill>
                  <a:srgbClr val="0000FF"/>
                </a:solidFill>
                <a:latin typeface="Input"/>
              </a:rPr>
              <a:t> &lt;= </a:t>
            </a:r>
            <a:r>
              <a:rPr lang="en-US" altLang="zh-CN" sz="2200" b="1" dirty="0" err="1">
                <a:solidFill>
                  <a:srgbClr val="0000FF"/>
                </a:solidFill>
                <a:latin typeface="Input"/>
              </a:rPr>
              <a:t>j;k</a:t>
            </a:r>
            <a:r>
              <a:rPr lang="en-US" altLang="zh-CN" sz="2200" b="1" dirty="0">
                <a:solidFill>
                  <a:srgbClr val="0000FF"/>
                </a:solidFill>
                <a:latin typeface="Input"/>
              </a:rPr>
              <a:t> ++) </a:t>
            </a:r>
            <a:r>
              <a:rPr lang="en-US" altLang="zh-CN" sz="2200" b="1" dirty="0" err="1">
                <a:solidFill>
                  <a:srgbClr val="0000FF"/>
                </a:solidFill>
                <a:latin typeface="Input"/>
              </a:rPr>
              <a:t>thissum</a:t>
            </a:r>
            <a:r>
              <a:rPr lang="en-US" altLang="zh-CN" sz="2200" b="1" dirty="0">
                <a:solidFill>
                  <a:srgbClr val="0000FF"/>
                </a:solidFill>
                <a:latin typeface="Input"/>
              </a:rPr>
              <a:t> += a[k];</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if (</a:t>
            </a:r>
            <a:r>
              <a:rPr lang="en-US" altLang="zh-CN" sz="2200" b="1" dirty="0" err="1">
                <a:solidFill>
                  <a:srgbClr val="0000FF"/>
                </a:solidFill>
                <a:latin typeface="Input"/>
              </a:rPr>
              <a:t>thissum</a:t>
            </a:r>
            <a:r>
              <a:rPr lang="en-US" altLang="zh-CN" sz="2200" b="1" dirty="0">
                <a:solidFill>
                  <a:srgbClr val="0000FF"/>
                </a:solidFill>
                <a:latin typeface="Input"/>
              </a:rPr>
              <a:t> &gt; sum) {</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sum = </a:t>
            </a:r>
            <a:r>
              <a:rPr lang="en-US" altLang="zh-CN" sz="2200" b="1" dirty="0" err="1">
                <a:solidFill>
                  <a:srgbClr val="0000FF"/>
                </a:solidFill>
                <a:latin typeface="Input"/>
              </a:rPr>
              <a:t>thissum</a:t>
            </a:r>
            <a:r>
              <a:rPr lang="en-US" altLang="zh-CN" sz="2200" b="1" dirty="0">
                <a:solidFill>
                  <a:srgbClr val="0000FF"/>
                </a:solidFill>
                <a:latin typeface="Input"/>
              </a:rPr>
              <a:t>;</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a:t>
            </a:r>
            <a:r>
              <a:rPr lang="en-US" altLang="zh-CN" sz="2200" b="1" dirty="0" err="1">
                <a:solidFill>
                  <a:srgbClr val="0000FF"/>
                </a:solidFill>
                <a:latin typeface="Input"/>
              </a:rPr>
              <a:t>besti</a:t>
            </a:r>
            <a:r>
              <a:rPr lang="en-US" altLang="zh-CN" sz="2200" b="1" dirty="0">
                <a:solidFill>
                  <a:srgbClr val="0000FF"/>
                </a:solidFill>
                <a:latin typeface="Input"/>
              </a:rPr>
              <a:t> = </a:t>
            </a:r>
            <a:r>
              <a:rPr lang="en-US" altLang="zh-CN" sz="2200" b="1" dirty="0" err="1">
                <a:solidFill>
                  <a:srgbClr val="0000FF"/>
                </a:solidFill>
                <a:latin typeface="Input"/>
              </a:rPr>
              <a:t>i</a:t>
            </a:r>
            <a:r>
              <a:rPr lang="en-US" altLang="zh-CN" sz="2200" b="1" dirty="0">
                <a:solidFill>
                  <a:srgbClr val="0000FF"/>
                </a:solidFill>
                <a:latin typeface="Input"/>
              </a:rPr>
              <a:t>; </a:t>
            </a:r>
            <a:r>
              <a:rPr lang="en-US" altLang="zh-CN" sz="2200" b="1" dirty="0" err="1">
                <a:solidFill>
                  <a:srgbClr val="0000FF"/>
                </a:solidFill>
                <a:latin typeface="Input"/>
              </a:rPr>
              <a:t>bestj</a:t>
            </a:r>
            <a:r>
              <a:rPr lang="en-US" altLang="zh-CN" sz="2200" b="1" dirty="0">
                <a:solidFill>
                  <a:srgbClr val="0000FF"/>
                </a:solidFill>
                <a:latin typeface="Input"/>
              </a:rPr>
              <a:t> = j;</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 </a:t>
            </a:r>
          </a:p>
          <a:p>
            <a:pPr algn="just" eaLnBrk="1" hangingPunct="1">
              <a:lnSpc>
                <a:spcPct val="80000"/>
              </a:lnSpc>
              <a:spcBef>
                <a:spcPct val="50000"/>
              </a:spcBef>
              <a:buFontTx/>
              <a:buNone/>
            </a:pPr>
            <a:r>
              <a:rPr lang="en-US" altLang="zh-CN" sz="2200" b="1" dirty="0">
                <a:solidFill>
                  <a:srgbClr val="0000FF"/>
                </a:solidFill>
                <a:latin typeface="Input"/>
              </a:rPr>
              <a:t>           }</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    return sum;</a:t>
            </a:r>
            <a:endParaRPr lang="en-US" altLang="zh-CN" sz="2200" b="1" dirty="0">
              <a:latin typeface="Input"/>
            </a:endParaRPr>
          </a:p>
          <a:p>
            <a:pPr algn="just" eaLnBrk="1" hangingPunct="1">
              <a:lnSpc>
                <a:spcPct val="80000"/>
              </a:lnSpc>
              <a:spcBef>
                <a:spcPct val="50000"/>
              </a:spcBef>
              <a:buFontTx/>
              <a:buNone/>
            </a:pPr>
            <a:r>
              <a:rPr lang="en-US" altLang="zh-CN" sz="2200" b="1" dirty="0">
                <a:solidFill>
                  <a:srgbClr val="0000FF"/>
                </a:solidFill>
                <a:latin typeface="Input"/>
              </a:rPr>
              <a:t>}</a:t>
            </a:r>
            <a:endParaRPr lang="en-US" altLang="zh-CN" sz="2200" b="1" dirty="0">
              <a:latin typeface="Input"/>
            </a:endParaRPr>
          </a:p>
        </p:txBody>
      </p:sp>
      <p:pic>
        <p:nvPicPr>
          <p:cNvPr id="58373" name="Picture 5" descr="BD15132_">
            <a:hlinkClick r:id="rId2" action="ppaction://hlinksldjump"/>
            <a:extLst>
              <a:ext uri="{FF2B5EF4-FFF2-40B4-BE49-F238E27FC236}">
                <a16:creationId xmlns:a16="http://schemas.microsoft.com/office/drawing/2014/main" id="{57711E19-3744-4E78-89C2-B74AAA648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60960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Text Box 6">
            <a:extLst>
              <a:ext uri="{FF2B5EF4-FFF2-40B4-BE49-F238E27FC236}">
                <a16:creationId xmlns:a16="http://schemas.microsoft.com/office/drawing/2014/main" id="{D6D985A7-946A-4D1C-96A0-B3306DA931F1}"/>
              </a:ext>
            </a:extLst>
          </p:cNvPr>
          <p:cNvSpPr txBox="1">
            <a:spLocks noChangeArrowheads="1"/>
          </p:cNvSpPr>
          <p:nvPr/>
        </p:nvSpPr>
        <p:spPr bwMode="auto">
          <a:xfrm>
            <a:off x="6629400" y="59436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返回</a:t>
            </a:r>
          </a:p>
        </p:txBody>
      </p:sp>
      <p:sp>
        <p:nvSpPr>
          <p:cNvPr id="58375" name="Rectangle 7">
            <a:extLst>
              <a:ext uri="{FF2B5EF4-FFF2-40B4-BE49-F238E27FC236}">
                <a16:creationId xmlns:a16="http://schemas.microsoft.com/office/drawing/2014/main" id="{240C9A67-4F5E-45D3-8B64-EC5DDD9E7B16}"/>
              </a:ext>
            </a:extLst>
          </p:cNvPr>
          <p:cNvSpPr>
            <a:spLocks noChangeArrowheads="1"/>
          </p:cNvSpPr>
          <p:nvPr/>
        </p:nvSpPr>
        <p:spPr bwMode="auto">
          <a:xfrm>
            <a:off x="5791200" y="5181600"/>
            <a:ext cx="2819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dirty="0">
                <a:solidFill>
                  <a:srgbClr val="FF0000"/>
                </a:solidFill>
                <a:ea typeface="华文中宋" panose="02010600040101010101" pitchFamily="2" charset="-122"/>
              </a:rPr>
              <a:t>复杂性</a:t>
            </a:r>
            <a:r>
              <a:rPr lang="en-US" altLang="zh-CN" sz="3200" dirty="0">
                <a:solidFill>
                  <a:srgbClr val="FF0000"/>
                </a:solidFill>
                <a:ea typeface="华文中宋" panose="02010600040101010101" pitchFamily="2" charset="-122"/>
              </a:rPr>
              <a:t>O(n</a:t>
            </a:r>
            <a:r>
              <a:rPr lang="en-US" altLang="zh-CN" sz="3200" baseline="30000" dirty="0">
                <a:solidFill>
                  <a:srgbClr val="FF0000"/>
                </a:solidFill>
                <a:ea typeface="华文中宋" panose="02010600040101010101" pitchFamily="2" charset="-122"/>
              </a:rPr>
              <a:t>3</a:t>
            </a:r>
            <a:r>
              <a:rPr lang="en-US" altLang="zh-CN" sz="3200" dirty="0">
                <a:solidFill>
                  <a:srgbClr val="FF0000"/>
                </a:solidFill>
                <a:ea typeface="华文中宋" panose="02010600040101010101" pitchFamily="2" charset="-122"/>
              </a:rPr>
              <a:t>)</a:t>
            </a:r>
          </a:p>
        </p:txBody>
      </p:sp>
      <p:sp>
        <p:nvSpPr>
          <p:cNvPr id="58376" name="Text Box 8">
            <a:extLst>
              <a:ext uri="{FF2B5EF4-FFF2-40B4-BE49-F238E27FC236}">
                <a16:creationId xmlns:a16="http://schemas.microsoft.com/office/drawing/2014/main" id="{9B7AE02C-793D-4021-BA29-EDE0D1619201}"/>
              </a:ext>
            </a:extLst>
          </p:cNvPr>
          <p:cNvSpPr txBox="1">
            <a:spLocks noChangeArrowheads="1"/>
          </p:cNvSpPr>
          <p:nvPr/>
        </p:nvSpPr>
        <p:spPr bwMode="auto">
          <a:xfrm>
            <a:off x="5715000" y="1676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取</a:t>
            </a:r>
            <a:r>
              <a:rPr lang="en-US" altLang="zh-CN" dirty="0">
                <a:ea typeface="华文中宋" panose="02010600040101010101" pitchFamily="2" charset="-122"/>
              </a:rPr>
              <a:t>2</a:t>
            </a:r>
            <a:r>
              <a:rPr lang="zh-CN" altLang="en-US" dirty="0">
                <a:ea typeface="华文中宋" panose="02010600040101010101" pitchFamily="2" charset="-122"/>
              </a:rPr>
              <a:t>个位置</a:t>
            </a:r>
            <a:r>
              <a:rPr lang="en-US" altLang="zh-CN" dirty="0" err="1">
                <a:ea typeface="华文中宋" panose="02010600040101010101" pitchFamily="2" charset="-122"/>
              </a:rPr>
              <a:t>i,j</a:t>
            </a:r>
            <a:endParaRPr lang="en-US" altLang="zh-CN"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8371"/>
                                        </p:tgtEl>
                                        <p:attrNameLst>
                                          <p:attrName>style.visibility</p:attrName>
                                        </p:attrNameLst>
                                      </p:cBhvr>
                                      <p:to>
                                        <p:strVal val="visible"/>
                                      </p:to>
                                    </p:set>
                                    <p:anim calcmode="lin" valueType="num">
                                      <p:cBhvr additive="base">
                                        <p:cTn id="7" dur="500" fill="hold"/>
                                        <p:tgtEl>
                                          <p:spTgt spid="58371"/>
                                        </p:tgtEl>
                                        <p:attrNameLst>
                                          <p:attrName>ppt_x</p:attrName>
                                        </p:attrNameLst>
                                      </p:cBhvr>
                                      <p:tavLst>
                                        <p:tav tm="0">
                                          <p:val>
                                            <p:strVal val="0-#ppt_w/2"/>
                                          </p:val>
                                        </p:tav>
                                        <p:tav tm="100000">
                                          <p:val>
                                            <p:strVal val="#ppt_x"/>
                                          </p:val>
                                        </p:tav>
                                      </p:tavLst>
                                    </p:anim>
                                    <p:anim calcmode="lin" valueType="num">
                                      <p:cBhvr additive="base">
                                        <p:cTn id="8" dur="500" fill="hold"/>
                                        <p:tgtEl>
                                          <p:spTgt spid="5837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8375">
                                            <p:txEl>
                                              <p:pRg st="0" end="0"/>
                                            </p:txEl>
                                          </p:spTgt>
                                        </p:tgtEl>
                                        <p:attrNameLst>
                                          <p:attrName>style.visibility</p:attrName>
                                        </p:attrNameLst>
                                      </p:cBhvr>
                                      <p:to>
                                        <p:strVal val="visible"/>
                                      </p:to>
                                    </p:set>
                                    <p:anim calcmode="lin" valueType="num">
                                      <p:cBhvr additive="base">
                                        <p:cTn id="13" dur="500" fill="hold"/>
                                        <p:tgtEl>
                                          <p:spTgt spid="5837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83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8374"/>
                                        </p:tgtEl>
                                        <p:attrNameLst>
                                          <p:attrName>style.visibility</p:attrName>
                                        </p:attrNameLst>
                                      </p:cBhvr>
                                      <p:to>
                                        <p:strVal val="visible"/>
                                      </p:to>
                                    </p:set>
                                    <p:anim calcmode="lin" valueType="num">
                                      <p:cBhvr additive="base">
                                        <p:cTn id="19" dur="500" fill="hold"/>
                                        <p:tgtEl>
                                          <p:spTgt spid="58374"/>
                                        </p:tgtEl>
                                        <p:attrNameLst>
                                          <p:attrName>ppt_x</p:attrName>
                                        </p:attrNameLst>
                                      </p:cBhvr>
                                      <p:tavLst>
                                        <p:tav tm="0">
                                          <p:val>
                                            <p:strVal val="0-#ppt_w/2"/>
                                          </p:val>
                                        </p:tav>
                                        <p:tav tm="100000">
                                          <p:val>
                                            <p:strVal val="#ppt_x"/>
                                          </p:val>
                                        </p:tav>
                                      </p:tavLst>
                                    </p:anim>
                                    <p:anim calcmode="lin" valueType="num">
                                      <p:cBhvr additive="base">
                                        <p:cTn id="20" dur="500" fill="hold"/>
                                        <p:tgtEl>
                                          <p:spTgt spid="58374"/>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58373"/>
                                        </p:tgtEl>
                                        <p:attrNameLst>
                                          <p:attrName>style.visibility</p:attrName>
                                        </p:attrNameLst>
                                      </p:cBhvr>
                                      <p:to>
                                        <p:strVal val="visible"/>
                                      </p:to>
                                    </p:set>
                                    <p:anim calcmode="lin" valueType="num">
                                      <p:cBhvr additive="base">
                                        <p:cTn id="24" dur="500" fill="hold"/>
                                        <p:tgtEl>
                                          <p:spTgt spid="58373"/>
                                        </p:tgtEl>
                                        <p:attrNameLst>
                                          <p:attrName>ppt_x</p:attrName>
                                        </p:attrNameLst>
                                      </p:cBhvr>
                                      <p:tavLst>
                                        <p:tav tm="0">
                                          <p:val>
                                            <p:strVal val="0-#ppt_w/2"/>
                                          </p:val>
                                        </p:tav>
                                        <p:tav tm="100000">
                                          <p:val>
                                            <p:strVal val="#ppt_x"/>
                                          </p:val>
                                        </p:tav>
                                      </p:tavLst>
                                    </p:anim>
                                    <p:anim calcmode="lin" valueType="num">
                                      <p:cBhvr additive="base">
                                        <p:cTn id="25" dur="500" fill="hold"/>
                                        <p:tgtEl>
                                          <p:spTgt spid="5837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58376"/>
                                        </p:tgtEl>
                                        <p:attrNameLst>
                                          <p:attrName>style.visibility</p:attrName>
                                        </p:attrNameLst>
                                      </p:cBhvr>
                                      <p:to>
                                        <p:strVal val="visible"/>
                                      </p:to>
                                    </p:set>
                                    <p:anim calcmode="lin" valueType="num">
                                      <p:cBhvr additive="base">
                                        <p:cTn id="30" dur="500" fill="hold"/>
                                        <p:tgtEl>
                                          <p:spTgt spid="58376"/>
                                        </p:tgtEl>
                                        <p:attrNameLst>
                                          <p:attrName>ppt_x</p:attrName>
                                        </p:attrNameLst>
                                      </p:cBhvr>
                                      <p:tavLst>
                                        <p:tav tm="0">
                                          <p:val>
                                            <p:strVal val="0-#ppt_w/2"/>
                                          </p:val>
                                        </p:tav>
                                        <p:tav tm="100000">
                                          <p:val>
                                            <p:strVal val="#ppt_x"/>
                                          </p:val>
                                        </p:tav>
                                      </p:tavLst>
                                    </p:anim>
                                    <p:anim calcmode="lin" valueType="num">
                                      <p:cBhvr additive="base">
                                        <p:cTn id="31" dur="500" fill="hold"/>
                                        <p:tgtEl>
                                          <p:spTgt spid="5837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autoUpdateAnimBg="0"/>
      <p:bldP spid="58374" grpId="0" autoUpdateAnimBg="0"/>
      <p:bldP spid="58375" grpId="0" build="p" autoUpdateAnimBg="0"/>
      <p:bldP spid="58376"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7CE5C6B-AADC-484C-A2BC-4BCD45C08D45}"/>
              </a:ext>
            </a:extLst>
          </p:cNvPr>
          <p:cNvSpPr>
            <a:spLocks noGrp="1" noChangeArrowheads="1"/>
          </p:cNvSpPr>
          <p:nvPr>
            <p:ph type="title"/>
          </p:nvPr>
        </p:nvSpPr>
        <p:spPr bwMode="auto">
          <a:xfrm>
            <a:off x="685800" y="1524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改进算法</a:t>
            </a:r>
            <a:r>
              <a:rPr lang="en-US" altLang="zh-CN" sz="4000" b="1" dirty="0"/>
              <a:t>—</a:t>
            </a:r>
            <a:r>
              <a:rPr lang="zh-CN" altLang="en-US" sz="4000" b="1" dirty="0"/>
              <a:t>递推</a:t>
            </a:r>
          </a:p>
        </p:txBody>
      </p:sp>
      <p:sp>
        <p:nvSpPr>
          <p:cNvPr id="59395" name="Rectangle 3">
            <a:extLst>
              <a:ext uri="{FF2B5EF4-FFF2-40B4-BE49-F238E27FC236}">
                <a16:creationId xmlns:a16="http://schemas.microsoft.com/office/drawing/2014/main" id="{861F5AAC-AC05-4A05-A56A-05470A4246F8}"/>
              </a:ext>
            </a:extLst>
          </p:cNvPr>
          <p:cNvSpPr>
            <a:spLocks noGrp="1" noChangeArrowheads="1"/>
          </p:cNvSpPr>
          <p:nvPr>
            <p:ph type="body" idx="1"/>
          </p:nvPr>
        </p:nvSpPr>
        <p:spPr bwMode="auto">
          <a:xfrm>
            <a:off x="685800" y="1071563"/>
            <a:ext cx="54102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dirty="0"/>
              <a:t>利用          </a:t>
            </a:r>
            <a:r>
              <a:rPr lang="en-US" altLang="zh-CN" dirty="0"/>
              <a:t>=</a:t>
            </a:r>
            <a:r>
              <a:rPr lang="en-US" altLang="zh-CN" dirty="0" err="1"/>
              <a:t>a</a:t>
            </a:r>
            <a:r>
              <a:rPr lang="en-US" altLang="zh-CN" baseline="-25000" dirty="0" err="1"/>
              <a:t>j</a:t>
            </a:r>
            <a:r>
              <a:rPr lang="en-US" altLang="zh-CN" dirty="0"/>
              <a:t>+</a:t>
            </a:r>
          </a:p>
        </p:txBody>
      </p:sp>
      <p:pic>
        <p:nvPicPr>
          <p:cNvPr id="59396" name="Picture 4" descr="BD15132_">
            <a:hlinkClick r:id="rId2" action="ppaction://hlinksldjump"/>
            <a:extLst>
              <a:ext uri="{FF2B5EF4-FFF2-40B4-BE49-F238E27FC236}">
                <a16:creationId xmlns:a16="http://schemas.microsoft.com/office/drawing/2014/main" id="{BD1FF2B9-DDBC-41B3-AA7A-29440EB3A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60960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 Box 5">
            <a:extLst>
              <a:ext uri="{FF2B5EF4-FFF2-40B4-BE49-F238E27FC236}">
                <a16:creationId xmlns:a16="http://schemas.microsoft.com/office/drawing/2014/main" id="{09354F41-F732-44A9-B7E8-F86AD1F3049B}"/>
              </a:ext>
            </a:extLst>
          </p:cNvPr>
          <p:cNvSpPr txBox="1">
            <a:spLocks noChangeArrowheads="1"/>
          </p:cNvSpPr>
          <p:nvPr/>
        </p:nvSpPr>
        <p:spPr bwMode="auto">
          <a:xfrm>
            <a:off x="6629400" y="59436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返回</a:t>
            </a:r>
          </a:p>
        </p:txBody>
      </p:sp>
      <p:grpSp>
        <p:nvGrpSpPr>
          <p:cNvPr id="2" name="Group 13">
            <a:extLst>
              <a:ext uri="{FF2B5EF4-FFF2-40B4-BE49-F238E27FC236}">
                <a16:creationId xmlns:a16="http://schemas.microsoft.com/office/drawing/2014/main" id="{85EC1C27-CBFC-4FE3-8120-2A4D3C5EE12C}"/>
              </a:ext>
            </a:extLst>
          </p:cNvPr>
          <p:cNvGrpSpPr>
            <a:grpSpLocks/>
          </p:cNvGrpSpPr>
          <p:nvPr/>
        </p:nvGrpSpPr>
        <p:grpSpPr bwMode="auto">
          <a:xfrm>
            <a:off x="2133600" y="785813"/>
            <a:ext cx="762000" cy="952500"/>
            <a:chOff x="2560" y="1152"/>
            <a:chExt cx="480" cy="600"/>
          </a:xfrm>
        </p:grpSpPr>
        <p:sp>
          <p:nvSpPr>
            <p:cNvPr id="73741" name="Text Box 8">
              <a:extLst>
                <a:ext uri="{FF2B5EF4-FFF2-40B4-BE49-F238E27FC236}">
                  <a16:creationId xmlns:a16="http://schemas.microsoft.com/office/drawing/2014/main" id="{89254012-5964-4A5C-A255-61DB5D907F43}"/>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3742" name="Text Box 9">
              <a:extLst>
                <a:ext uri="{FF2B5EF4-FFF2-40B4-BE49-F238E27FC236}">
                  <a16:creationId xmlns:a16="http://schemas.microsoft.com/office/drawing/2014/main" id="{802DFF15-ED35-41F2-8136-00AEE7FA2397}"/>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3743" name="Text Box 10">
              <a:extLst>
                <a:ext uri="{FF2B5EF4-FFF2-40B4-BE49-F238E27FC236}">
                  <a16:creationId xmlns:a16="http://schemas.microsoft.com/office/drawing/2014/main" id="{B78E03B9-418D-4671-AF3F-780632343690}"/>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grpSp>
        <p:nvGrpSpPr>
          <p:cNvPr id="3" name="Group 18">
            <a:extLst>
              <a:ext uri="{FF2B5EF4-FFF2-40B4-BE49-F238E27FC236}">
                <a16:creationId xmlns:a16="http://schemas.microsoft.com/office/drawing/2014/main" id="{EBDFC002-2E5E-4A50-9A80-8384819BAAC8}"/>
              </a:ext>
            </a:extLst>
          </p:cNvPr>
          <p:cNvGrpSpPr>
            <a:grpSpLocks/>
          </p:cNvGrpSpPr>
          <p:nvPr/>
        </p:nvGrpSpPr>
        <p:grpSpPr bwMode="auto">
          <a:xfrm>
            <a:off x="3886200" y="785813"/>
            <a:ext cx="762000" cy="952500"/>
            <a:chOff x="2448" y="624"/>
            <a:chExt cx="480" cy="600"/>
          </a:xfrm>
        </p:grpSpPr>
        <p:sp>
          <p:nvSpPr>
            <p:cNvPr id="73738" name="Text Box 15">
              <a:extLst>
                <a:ext uri="{FF2B5EF4-FFF2-40B4-BE49-F238E27FC236}">
                  <a16:creationId xmlns:a16="http://schemas.microsoft.com/office/drawing/2014/main" id="{503164FA-53E1-4D57-AD42-CFFF893594B7}"/>
                </a:ext>
              </a:extLst>
            </p:cNvPr>
            <p:cNvSpPr txBox="1">
              <a:spLocks noChangeArrowheads="1"/>
            </p:cNvSpPr>
            <p:nvPr/>
          </p:nvSpPr>
          <p:spPr bwMode="auto">
            <a:xfrm>
              <a:off x="2448" y="792"/>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3739" name="Text Box 16">
              <a:extLst>
                <a:ext uri="{FF2B5EF4-FFF2-40B4-BE49-F238E27FC236}">
                  <a16:creationId xmlns:a16="http://schemas.microsoft.com/office/drawing/2014/main" id="{197F62C8-5820-4140-B940-2F2C8F5FC930}"/>
                </a:ext>
              </a:extLst>
            </p:cNvPr>
            <p:cNvSpPr txBox="1">
              <a:spLocks noChangeArrowheads="1"/>
            </p:cNvSpPr>
            <p:nvPr/>
          </p:nvSpPr>
          <p:spPr bwMode="auto">
            <a:xfrm>
              <a:off x="2480" y="1032"/>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3740" name="Text Box 17">
              <a:extLst>
                <a:ext uri="{FF2B5EF4-FFF2-40B4-BE49-F238E27FC236}">
                  <a16:creationId xmlns:a16="http://schemas.microsoft.com/office/drawing/2014/main" id="{DDA934AF-89B7-455E-8806-5F520C5E08ED}"/>
                </a:ext>
              </a:extLst>
            </p:cNvPr>
            <p:cNvSpPr txBox="1">
              <a:spLocks noChangeArrowheads="1"/>
            </p:cNvSpPr>
            <p:nvPr/>
          </p:nvSpPr>
          <p:spPr bwMode="auto">
            <a:xfrm>
              <a:off x="2448" y="624"/>
              <a:ext cx="25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j-1</a:t>
              </a:r>
            </a:p>
          </p:txBody>
        </p:sp>
      </p:grpSp>
      <p:sp>
        <p:nvSpPr>
          <p:cNvPr id="59411" name="Text Box 19">
            <a:extLst>
              <a:ext uri="{FF2B5EF4-FFF2-40B4-BE49-F238E27FC236}">
                <a16:creationId xmlns:a16="http://schemas.microsoft.com/office/drawing/2014/main" id="{1EE77869-83A1-434E-AD2F-E4B1612E7142}"/>
              </a:ext>
            </a:extLst>
          </p:cNvPr>
          <p:cNvSpPr txBox="1">
            <a:spLocks noChangeArrowheads="1"/>
          </p:cNvSpPr>
          <p:nvPr/>
        </p:nvSpPr>
        <p:spPr bwMode="auto">
          <a:xfrm>
            <a:off x="838200" y="1785938"/>
            <a:ext cx="6705600"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int </a:t>
            </a:r>
            <a:r>
              <a:rPr lang="en-US" altLang="zh-CN" sz="2000" dirty="0" err="1">
                <a:solidFill>
                  <a:srgbClr val="0000FF"/>
                </a:solidFill>
                <a:latin typeface="Input"/>
                <a:ea typeface="华文中宋" panose="02010600040101010101" pitchFamily="2" charset="-122"/>
              </a:rPr>
              <a:t>MaxSum</a:t>
            </a:r>
            <a:r>
              <a:rPr lang="en-US" altLang="zh-CN" sz="2000" dirty="0">
                <a:solidFill>
                  <a:srgbClr val="0000FF"/>
                </a:solidFill>
                <a:latin typeface="Input"/>
                <a:ea typeface="华文中宋" panose="02010600040101010101" pitchFamily="2" charset="-122"/>
              </a:rPr>
              <a:t>(int n, int *a, int &amp;</a:t>
            </a:r>
            <a:r>
              <a:rPr lang="en-US" altLang="zh-CN" sz="2000" dirty="0" err="1">
                <a:solidFill>
                  <a:srgbClr val="0000FF"/>
                </a:solidFill>
                <a:latin typeface="Input"/>
                <a:ea typeface="华文中宋" panose="02010600040101010101" pitchFamily="2" charset="-122"/>
              </a:rPr>
              <a:t>besti</a:t>
            </a:r>
            <a:r>
              <a:rPr lang="en-US" altLang="zh-CN" sz="2000" dirty="0">
                <a:solidFill>
                  <a:srgbClr val="0000FF"/>
                </a:solidFill>
                <a:latin typeface="Input"/>
                <a:ea typeface="华文中宋" panose="02010600040101010101" pitchFamily="2" charset="-122"/>
              </a:rPr>
              <a:t>, int &amp;</a:t>
            </a:r>
            <a:r>
              <a:rPr lang="en-US" altLang="zh-CN" sz="2000" dirty="0" err="1">
                <a:solidFill>
                  <a:srgbClr val="0000FF"/>
                </a:solidFill>
                <a:latin typeface="Input"/>
                <a:ea typeface="华文中宋" panose="02010600040101010101" pitchFamily="2" charset="-122"/>
              </a:rPr>
              <a:t>bestj</a:t>
            </a:r>
            <a:r>
              <a:rPr lang="en-US" altLang="zh-CN" sz="2000" dirty="0">
                <a:solidFill>
                  <a:srgbClr val="0000FF"/>
                </a:solidFill>
                <a:latin typeface="Input"/>
                <a:ea typeface="华文中宋" panose="02010600040101010101" pitchFamily="2" charset="-122"/>
              </a:rPr>
              <a:t>)</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int sum = 0, </a:t>
            </a:r>
            <a:r>
              <a:rPr lang="en-US" altLang="zh-CN" sz="2000" dirty="0" err="1">
                <a:solidFill>
                  <a:srgbClr val="0000FF"/>
                </a:solidFill>
                <a:latin typeface="Input"/>
                <a:ea typeface="华文中宋" panose="02010600040101010101" pitchFamily="2" charset="-122"/>
              </a:rPr>
              <a:t>thissum</a:t>
            </a:r>
            <a:r>
              <a:rPr lang="en-US" altLang="zh-CN" sz="2000" dirty="0">
                <a:solidFill>
                  <a:srgbClr val="0000FF"/>
                </a:solidFill>
                <a:latin typeface="Input"/>
                <a:ea typeface="华文中宋" panose="02010600040101010101" pitchFamily="2" charset="-122"/>
              </a:rPr>
              <a:t>;</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for (int </a:t>
            </a:r>
            <a:r>
              <a:rPr lang="en-US" altLang="zh-CN" sz="2000" dirty="0" err="1">
                <a:solidFill>
                  <a:srgbClr val="0000FF"/>
                </a:solidFill>
                <a:latin typeface="Input"/>
                <a:ea typeface="华文中宋" panose="02010600040101010101" pitchFamily="2" charset="-122"/>
              </a:rPr>
              <a:t>i</a:t>
            </a:r>
            <a:r>
              <a:rPr lang="en-US" altLang="zh-CN" sz="2000" dirty="0">
                <a:solidFill>
                  <a:srgbClr val="0000FF"/>
                </a:solidFill>
                <a:latin typeface="Input"/>
                <a:ea typeface="华文中宋" panose="02010600040101010101" pitchFamily="2" charset="-122"/>
              </a:rPr>
              <a:t> = 1;i &lt;= </a:t>
            </a:r>
            <a:r>
              <a:rPr lang="en-US" altLang="zh-CN" sz="2000" dirty="0" err="1">
                <a:solidFill>
                  <a:srgbClr val="0000FF"/>
                </a:solidFill>
                <a:latin typeface="Input"/>
                <a:ea typeface="华文中宋" panose="02010600040101010101" pitchFamily="2" charset="-122"/>
              </a:rPr>
              <a:t>n;i</a:t>
            </a:r>
            <a:r>
              <a:rPr lang="en-US" altLang="zh-CN" sz="2000" dirty="0">
                <a:solidFill>
                  <a:srgbClr val="0000FF"/>
                </a:solidFill>
                <a:latin typeface="Input"/>
                <a:ea typeface="华文中宋" panose="02010600040101010101" pitchFamily="2" charset="-122"/>
              </a:rPr>
              <a:t> ++ ){ </a:t>
            </a: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a:t>
            </a:r>
            <a:r>
              <a:rPr lang="en-US" altLang="zh-CN" sz="2000" dirty="0" err="1">
                <a:solidFill>
                  <a:srgbClr val="0000FF"/>
                </a:solidFill>
                <a:latin typeface="Input"/>
                <a:ea typeface="华文中宋" panose="02010600040101010101" pitchFamily="2" charset="-122"/>
              </a:rPr>
              <a:t>thissum</a:t>
            </a:r>
            <a:r>
              <a:rPr lang="en-US" altLang="zh-CN" sz="2000" dirty="0">
                <a:solidFill>
                  <a:srgbClr val="0000FF"/>
                </a:solidFill>
                <a:latin typeface="Input"/>
                <a:ea typeface="华文中宋" panose="02010600040101010101" pitchFamily="2" charset="-122"/>
              </a:rPr>
              <a:t> = 0;</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for (int j = </a:t>
            </a:r>
            <a:r>
              <a:rPr lang="en-US" altLang="zh-CN" sz="2000" dirty="0" err="1">
                <a:solidFill>
                  <a:srgbClr val="0000FF"/>
                </a:solidFill>
                <a:latin typeface="Input"/>
                <a:ea typeface="华文中宋" panose="02010600040101010101" pitchFamily="2" charset="-122"/>
              </a:rPr>
              <a:t>i;j</a:t>
            </a:r>
            <a:r>
              <a:rPr lang="en-US" altLang="zh-CN" sz="2000" dirty="0">
                <a:solidFill>
                  <a:srgbClr val="0000FF"/>
                </a:solidFill>
                <a:latin typeface="Input"/>
                <a:ea typeface="华文中宋" panose="02010600040101010101" pitchFamily="2" charset="-122"/>
              </a:rPr>
              <a:t> &lt;= </a:t>
            </a:r>
            <a:r>
              <a:rPr lang="en-US" altLang="zh-CN" sz="2000" dirty="0" err="1">
                <a:solidFill>
                  <a:srgbClr val="0000FF"/>
                </a:solidFill>
                <a:latin typeface="Input"/>
                <a:ea typeface="华文中宋" panose="02010600040101010101" pitchFamily="2" charset="-122"/>
              </a:rPr>
              <a:t>n;j</a:t>
            </a:r>
            <a:r>
              <a:rPr lang="en-US" altLang="zh-CN" sz="2000" dirty="0">
                <a:solidFill>
                  <a:srgbClr val="0000FF"/>
                </a:solidFill>
                <a:latin typeface="Input"/>
                <a:ea typeface="华文中宋" panose="02010600040101010101" pitchFamily="2" charset="-122"/>
              </a:rPr>
              <a:t> ++){</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a:t>
            </a:r>
            <a:r>
              <a:rPr lang="en-US" altLang="zh-CN" sz="2000" dirty="0" err="1">
                <a:solidFill>
                  <a:srgbClr val="0000FF"/>
                </a:solidFill>
                <a:latin typeface="Input"/>
                <a:ea typeface="华文中宋" panose="02010600040101010101" pitchFamily="2" charset="-122"/>
              </a:rPr>
              <a:t>thissum</a:t>
            </a:r>
            <a:r>
              <a:rPr lang="en-US" altLang="zh-CN" sz="2000" dirty="0">
                <a:solidFill>
                  <a:srgbClr val="0000FF"/>
                </a:solidFill>
                <a:latin typeface="Input"/>
                <a:ea typeface="华文中宋" panose="02010600040101010101" pitchFamily="2" charset="-122"/>
              </a:rPr>
              <a:t> += a[j];</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if (</a:t>
            </a:r>
            <a:r>
              <a:rPr lang="en-US" altLang="zh-CN" sz="2000" dirty="0" err="1">
                <a:solidFill>
                  <a:srgbClr val="0000FF"/>
                </a:solidFill>
                <a:latin typeface="Input"/>
                <a:ea typeface="华文中宋" panose="02010600040101010101" pitchFamily="2" charset="-122"/>
              </a:rPr>
              <a:t>thissum</a:t>
            </a:r>
            <a:r>
              <a:rPr lang="en-US" altLang="zh-CN" sz="2000" dirty="0">
                <a:solidFill>
                  <a:srgbClr val="0000FF"/>
                </a:solidFill>
                <a:latin typeface="Input"/>
                <a:ea typeface="华文中宋" panose="02010600040101010101" pitchFamily="2" charset="-122"/>
              </a:rPr>
              <a:t> &gt; sum)</a:t>
            </a: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   sum = </a:t>
            </a:r>
            <a:r>
              <a:rPr lang="en-US" altLang="zh-CN" sz="2000" dirty="0" err="1">
                <a:solidFill>
                  <a:srgbClr val="0000FF"/>
                </a:solidFill>
                <a:latin typeface="Input"/>
                <a:ea typeface="华文中宋" panose="02010600040101010101" pitchFamily="2" charset="-122"/>
              </a:rPr>
              <a:t>thissum</a:t>
            </a:r>
            <a:r>
              <a:rPr lang="en-US" altLang="zh-CN" sz="2000" dirty="0">
                <a:solidFill>
                  <a:srgbClr val="0000FF"/>
                </a:solidFill>
                <a:latin typeface="Input"/>
                <a:ea typeface="华文中宋" panose="02010600040101010101" pitchFamily="2" charset="-122"/>
              </a:rPr>
              <a:t>;    </a:t>
            </a:r>
            <a:r>
              <a:rPr lang="en-US" altLang="zh-CN" sz="2000" dirty="0" err="1">
                <a:solidFill>
                  <a:srgbClr val="0000FF"/>
                </a:solidFill>
                <a:latin typeface="Input"/>
                <a:ea typeface="华文中宋" panose="02010600040101010101" pitchFamily="2" charset="-122"/>
              </a:rPr>
              <a:t>besti</a:t>
            </a:r>
            <a:r>
              <a:rPr lang="en-US" altLang="zh-CN" sz="2000" dirty="0">
                <a:solidFill>
                  <a:srgbClr val="0000FF"/>
                </a:solidFill>
                <a:latin typeface="Input"/>
                <a:ea typeface="华文中宋" panose="02010600040101010101" pitchFamily="2" charset="-122"/>
              </a:rPr>
              <a:t> = </a:t>
            </a:r>
            <a:r>
              <a:rPr lang="en-US" altLang="zh-CN" sz="2000" dirty="0" err="1">
                <a:solidFill>
                  <a:srgbClr val="0000FF"/>
                </a:solidFill>
                <a:latin typeface="Input"/>
                <a:ea typeface="华文中宋" panose="02010600040101010101" pitchFamily="2" charset="-122"/>
              </a:rPr>
              <a:t>i;bestj</a:t>
            </a:r>
            <a:r>
              <a:rPr lang="en-US" altLang="zh-CN" sz="2000" dirty="0">
                <a:solidFill>
                  <a:srgbClr val="0000FF"/>
                </a:solidFill>
                <a:latin typeface="Input"/>
                <a:ea typeface="华文中宋" panose="02010600040101010101" pitchFamily="2" charset="-122"/>
              </a:rPr>
              <a:t> = j;   } </a:t>
            </a: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 </a:t>
            </a: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    return sum;</a:t>
            </a:r>
            <a:endParaRPr lang="en-US" altLang="zh-CN" sz="2000" dirty="0">
              <a:latin typeface="Input"/>
              <a:ea typeface="华文中宋" panose="02010600040101010101" pitchFamily="2" charset="-122"/>
            </a:endParaRPr>
          </a:p>
          <a:p>
            <a:pPr algn="just" eaLnBrk="1" hangingPunct="1">
              <a:lnSpc>
                <a:spcPct val="80000"/>
              </a:lnSpc>
              <a:spcBef>
                <a:spcPct val="50000"/>
              </a:spcBef>
            </a:pPr>
            <a:r>
              <a:rPr lang="en-US" altLang="zh-CN" sz="2000" dirty="0">
                <a:solidFill>
                  <a:srgbClr val="0000FF"/>
                </a:solidFill>
                <a:latin typeface="Input"/>
                <a:ea typeface="华文中宋" panose="02010600040101010101" pitchFamily="2" charset="-122"/>
              </a:rPr>
              <a:t>}</a:t>
            </a:r>
          </a:p>
        </p:txBody>
      </p:sp>
      <p:sp>
        <p:nvSpPr>
          <p:cNvPr id="59412" name="Rectangle 20">
            <a:extLst>
              <a:ext uri="{FF2B5EF4-FFF2-40B4-BE49-F238E27FC236}">
                <a16:creationId xmlns:a16="http://schemas.microsoft.com/office/drawing/2014/main" id="{281E4424-F22A-4FBC-965D-01189F6AEA17}"/>
              </a:ext>
            </a:extLst>
          </p:cNvPr>
          <p:cNvSpPr>
            <a:spLocks noChangeArrowheads="1"/>
          </p:cNvSpPr>
          <p:nvPr/>
        </p:nvSpPr>
        <p:spPr bwMode="auto">
          <a:xfrm>
            <a:off x="5791200" y="5267325"/>
            <a:ext cx="2819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dirty="0">
                <a:solidFill>
                  <a:srgbClr val="FF0000"/>
                </a:solidFill>
                <a:ea typeface="华文中宋" panose="02010600040101010101" pitchFamily="2" charset="-122"/>
              </a:rPr>
              <a:t>复杂性</a:t>
            </a:r>
            <a:r>
              <a:rPr lang="en-US" altLang="zh-CN" sz="3200" dirty="0">
                <a:solidFill>
                  <a:srgbClr val="FF0000"/>
                </a:solidFill>
                <a:ea typeface="华文中宋" panose="02010600040101010101" pitchFamily="2" charset="-122"/>
              </a:rPr>
              <a:t>O(n</a:t>
            </a:r>
            <a:r>
              <a:rPr lang="en-US" altLang="zh-CN" sz="3200" baseline="30000" dirty="0">
                <a:solidFill>
                  <a:srgbClr val="FF0000"/>
                </a:solidFill>
                <a:ea typeface="华文中宋" panose="02010600040101010101" pitchFamily="2" charset="-122"/>
              </a:rPr>
              <a:t>2</a:t>
            </a:r>
            <a:r>
              <a:rPr lang="en-US" altLang="zh-CN" sz="3200" dirty="0">
                <a:solidFill>
                  <a:srgbClr val="FF0000"/>
                </a:solidFill>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0-#ppt_w/2"/>
                                          </p:val>
                                        </p:tav>
                                        <p:tav tm="100000">
                                          <p:val>
                                            <p:strVal val="#ppt_x"/>
                                          </p:val>
                                        </p:tav>
                                      </p:tavLst>
                                    </p:anim>
                                    <p:anim calcmode="lin" valueType="num">
                                      <p:cBhvr additive="base">
                                        <p:cTn id="1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9411"/>
                                        </p:tgtEl>
                                        <p:attrNameLst>
                                          <p:attrName>style.visibility</p:attrName>
                                        </p:attrNameLst>
                                      </p:cBhvr>
                                      <p:to>
                                        <p:strVal val="visible"/>
                                      </p:to>
                                    </p:set>
                                    <p:anim calcmode="lin" valueType="num">
                                      <p:cBhvr additive="base">
                                        <p:cTn id="23" dur="500" fill="hold"/>
                                        <p:tgtEl>
                                          <p:spTgt spid="59411"/>
                                        </p:tgtEl>
                                        <p:attrNameLst>
                                          <p:attrName>ppt_x</p:attrName>
                                        </p:attrNameLst>
                                      </p:cBhvr>
                                      <p:tavLst>
                                        <p:tav tm="0">
                                          <p:val>
                                            <p:strVal val="0-#ppt_w/2"/>
                                          </p:val>
                                        </p:tav>
                                        <p:tav tm="100000">
                                          <p:val>
                                            <p:strVal val="#ppt_x"/>
                                          </p:val>
                                        </p:tav>
                                      </p:tavLst>
                                    </p:anim>
                                    <p:anim calcmode="lin" valueType="num">
                                      <p:cBhvr additive="base">
                                        <p:cTn id="24" dur="500" fill="hold"/>
                                        <p:tgtEl>
                                          <p:spTgt spid="59411"/>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59412">
                                            <p:txEl>
                                              <p:pRg st="0" end="0"/>
                                            </p:txEl>
                                          </p:spTgt>
                                        </p:tgtEl>
                                        <p:attrNameLst>
                                          <p:attrName>style.visibility</p:attrName>
                                        </p:attrNameLst>
                                      </p:cBhvr>
                                      <p:to>
                                        <p:strVal val="visible"/>
                                      </p:to>
                                    </p:set>
                                    <p:anim calcmode="lin" valueType="num">
                                      <p:cBhvr additive="base">
                                        <p:cTn id="29" dur="500" fill="hold"/>
                                        <p:tgtEl>
                                          <p:spTgt spid="59412">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94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59397"/>
                                        </p:tgtEl>
                                        <p:attrNameLst>
                                          <p:attrName>style.visibility</p:attrName>
                                        </p:attrNameLst>
                                      </p:cBhvr>
                                      <p:to>
                                        <p:strVal val="visible"/>
                                      </p:to>
                                    </p:set>
                                    <p:anim calcmode="lin" valueType="num">
                                      <p:cBhvr additive="base">
                                        <p:cTn id="35" dur="500" fill="hold"/>
                                        <p:tgtEl>
                                          <p:spTgt spid="59397"/>
                                        </p:tgtEl>
                                        <p:attrNameLst>
                                          <p:attrName>ppt_x</p:attrName>
                                        </p:attrNameLst>
                                      </p:cBhvr>
                                      <p:tavLst>
                                        <p:tav tm="0">
                                          <p:val>
                                            <p:strVal val="0-#ppt_w/2"/>
                                          </p:val>
                                        </p:tav>
                                        <p:tav tm="100000">
                                          <p:val>
                                            <p:strVal val="#ppt_x"/>
                                          </p:val>
                                        </p:tav>
                                      </p:tavLst>
                                    </p:anim>
                                    <p:anim calcmode="lin" valueType="num">
                                      <p:cBhvr additive="base">
                                        <p:cTn id="36" dur="500" fill="hold"/>
                                        <p:tgtEl>
                                          <p:spTgt spid="59397"/>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500"/>
                            </p:stCondLst>
                            <p:childTnLst>
                              <p:par>
                                <p:cTn id="38" presetID="2" presetClass="entr" presetSubtype="8" fill="hold" nodeType="afterEffect">
                                  <p:stCondLst>
                                    <p:cond delay="0"/>
                                  </p:stCondLst>
                                  <p:childTnLst>
                                    <p:set>
                                      <p:cBhvr>
                                        <p:cTn id="39" dur="1" fill="hold">
                                          <p:stCondLst>
                                            <p:cond delay="0"/>
                                          </p:stCondLst>
                                        </p:cTn>
                                        <p:tgtEl>
                                          <p:spTgt spid="59396"/>
                                        </p:tgtEl>
                                        <p:attrNameLst>
                                          <p:attrName>style.visibility</p:attrName>
                                        </p:attrNameLst>
                                      </p:cBhvr>
                                      <p:to>
                                        <p:strVal val="visible"/>
                                      </p:to>
                                    </p:set>
                                    <p:anim calcmode="lin" valueType="num">
                                      <p:cBhvr additive="base">
                                        <p:cTn id="40" dur="500" fill="hold"/>
                                        <p:tgtEl>
                                          <p:spTgt spid="59396"/>
                                        </p:tgtEl>
                                        <p:attrNameLst>
                                          <p:attrName>ppt_x</p:attrName>
                                        </p:attrNameLst>
                                      </p:cBhvr>
                                      <p:tavLst>
                                        <p:tav tm="0">
                                          <p:val>
                                            <p:strVal val="0-#ppt_w/2"/>
                                          </p:val>
                                        </p:tav>
                                        <p:tav tm="100000">
                                          <p:val>
                                            <p:strVal val="#ppt_x"/>
                                          </p:val>
                                        </p:tav>
                                      </p:tavLst>
                                    </p:anim>
                                    <p:anim calcmode="lin" valueType="num">
                                      <p:cBhvr additive="base">
                                        <p:cTn id="41" dur="500" fill="hold"/>
                                        <p:tgtEl>
                                          <p:spTgt spid="593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P spid="59397" grpId="0" autoUpdateAnimBg="0"/>
      <p:bldP spid="59411" grpId="0" autoUpdateAnimBg="0"/>
      <p:bldP spid="59412"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E406998-A65D-40EE-A2B4-FFFAF4869607}"/>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分治策略</a:t>
            </a:r>
          </a:p>
        </p:txBody>
      </p:sp>
      <p:sp>
        <p:nvSpPr>
          <p:cNvPr id="60419" name="Rectangle 3">
            <a:extLst>
              <a:ext uri="{FF2B5EF4-FFF2-40B4-BE49-F238E27FC236}">
                <a16:creationId xmlns:a16="http://schemas.microsoft.com/office/drawing/2014/main" id="{EF7982C8-CEE6-40CD-94D5-44754D4605BC}"/>
              </a:ext>
            </a:extLst>
          </p:cNvPr>
          <p:cNvSpPr>
            <a:spLocks noGrp="1" noChangeArrowheads="1"/>
          </p:cNvSpPr>
          <p:nvPr>
            <p:ph type="body" idx="1"/>
          </p:nvPr>
        </p:nvSpPr>
        <p:spPr bwMode="auto">
          <a:xfrm>
            <a:off x="685800" y="1447800"/>
            <a:ext cx="7772400" cy="175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dirty="0"/>
              <a:t>将序列 </a:t>
            </a:r>
            <a:r>
              <a:rPr lang="en-US" altLang="zh-CN" sz="2800" dirty="0"/>
              <a:t>a[1:n]</a:t>
            </a:r>
            <a:r>
              <a:rPr lang="zh-CN" altLang="en-US" sz="2800" dirty="0"/>
              <a:t>分为长度相等的两段</a:t>
            </a:r>
            <a:r>
              <a:rPr lang="en-US" altLang="zh-CN" sz="2800" dirty="0"/>
              <a:t>a[1:n/2]</a:t>
            </a:r>
            <a:r>
              <a:rPr lang="zh-CN" altLang="en-US" sz="2800" dirty="0"/>
              <a:t>」和</a:t>
            </a:r>
            <a:r>
              <a:rPr lang="en-US" altLang="zh-CN" sz="2800" dirty="0"/>
              <a:t>a[n/2+1:n]</a:t>
            </a:r>
            <a:r>
              <a:rPr lang="zh-CN" altLang="en-US" sz="2800" dirty="0"/>
              <a:t>，分别求出这两段的最大子段和</a:t>
            </a:r>
            <a:r>
              <a:rPr lang="en-US" altLang="zh-CN" sz="2800" dirty="0"/>
              <a:t>S</a:t>
            </a:r>
            <a:r>
              <a:rPr lang="en-US" altLang="zh-CN" sz="2800" baseline="-25000" dirty="0"/>
              <a:t>1</a:t>
            </a:r>
            <a:r>
              <a:rPr lang="en-US" altLang="zh-CN" sz="2800" dirty="0"/>
              <a:t>,S</a:t>
            </a:r>
            <a:r>
              <a:rPr lang="en-US" altLang="zh-CN" sz="2800" baseline="-25000" dirty="0"/>
              <a:t>2</a:t>
            </a:r>
          </a:p>
        </p:txBody>
      </p:sp>
      <p:grpSp>
        <p:nvGrpSpPr>
          <p:cNvPr id="2" name="Group 15">
            <a:extLst>
              <a:ext uri="{FF2B5EF4-FFF2-40B4-BE49-F238E27FC236}">
                <a16:creationId xmlns:a16="http://schemas.microsoft.com/office/drawing/2014/main" id="{D9BBCE46-1410-4F95-9FF7-891DA697273F}"/>
              </a:ext>
            </a:extLst>
          </p:cNvPr>
          <p:cNvGrpSpPr>
            <a:grpSpLocks/>
          </p:cNvGrpSpPr>
          <p:nvPr/>
        </p:nvGrpSpPr>
        <p:grpSpPr bwMode="auto">
          <a:xfrm>
            <a:off x="685800" y="2933700"/>
            <a:ext cx="7772400" cy="2019300"/>
            <a:chOff x="432" y="1848"/>
            <a:chExt cx="4896" cy="1272"/>
          </a:xfrm>
        </p:grpSpPr>
        <p:sp>
          <p:nvSpPr>
            <p:cNvPr id="74762" name="Rectangle 6">
              <a:extLst>
                <a:ext uri="{FF2B5EF4-FFF2-40B4-BE49-F238E27FC236}">
                  <a16:creationId xmlns:a16="http://schemas.microsoft.com/office/drawing/2014/main" id="{28152B11-A397-4A4A-A594-6F02C4C51CB5}"/>
                </a:ext>
              </a:extLst>
            </p:cNvPr>
            <p:cNvSpPr>
              <a:spLocks noChangeArrowheads="1"/>
            </p:cNvSpPr>
            <p:nvPr/>
          </p:nvSpPr>
          <p:spPr bwMode="auto">
            <a:xfrm>
              <a:off x="432" y="1968"/>
              <a:ext cx="489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buFontTx/>
                <a:buChar char="•"/>
              </a:pPr>
              <a:r>
                <a:rPr lang="en-US" altLang="zh-CN" sz="3200" b="0" dirty="0">
                  <a:ea typeface="华文中宋" panose="02010600040101010101" pitchFamily="2" charset="-122"/>
                </a:rPr>
                <a:t>S</a:t>
              </a:r>
              <a:r>
                <a:rPr lang="en-US" altLang="zh-CN" sz="3200" b="0" baseline="-25000" dirty="0">
                  <a:ea typeface="华文中宋" panose="02010600040101010101" pitchFamily="2" charset="-122"/>
                </a:rPr>
                <a:t>1</a:t>
              </a:r>
              <a:r>
                <a:rPr lang="en-US" altLang="zh-CN" sz="3200" b="0" dirty="0">
                  <a:ea typeface="华文中宋" panose="02010600040101010101" pitchFamily="2" charset="-122"/>
                </a:rPr>
                <a:t>=max</a:t>
              </a:r>
              <a:r>
                <a:rPr lang="en-US" altLang="zh-CN" sz="3200" b="0" baseline="-25000" dirty="0">
                  <a:ea typeface="华文中宋" panose="02010600040101010101" pitchFamily="2" charset="-122"/>
                </a:rPr>
                <a:t>{1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a:t>
              </a:r>
              <a:r>
                <a:rPr lang="en-US" altLang="zh-CN" sz="3200" b="0" baseline="-25000" dirty="0" err="1">
                  <a:ea typeface="华文中宋" panose="02010600040101010101" pitchFamily="2" charset="-122"/>
                </a:rPr>
                <a:t>i</a:t>
              </a:r>
              <a:r>
                <a:rPr lang="en-US" altLang="zh-CN" sz="3200" b="0" baseline="-25000" dirty="0" err="1">
                  <a:ea typeface="华文中宋" panose="02010600040101010101" pitchFamily="2" charset="-122"/>
                  <a:sym typeface="Symbol" panose="05050102010706020507" pitchFamily="18" charset="2"/>
                </a:rPr>
                <a:t></a:t>
              </a:r>
              <a:r>
                <a:rPr lang="en-US" altLang="zh-CN" sz="3200" b="0" baseline="-25000" dirty="0" err="1">
                  <a:ea typeface="华文中宋" panose="02010600040101010101" pitchFamily="2" charset="-122"/>
                </a:rPr>
                <a:t>j</a:t>
              </a:r>
              <a:r>
                <a:rPr lang="en-US" altLang="zh-CN" sz="3200" b="0" baseline="-25000" dirty="0">
                  <a:ea typeface="华文中宋" panose="02010600040101010101" pitchFamily="2" charset="-122"/>
                </a:rPr>
                <a:t>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n/2}</a:t>
              </a:r>
              <a:r>
                <a:rPr lang="en-US" altLang="zh-CN" sz="3200" b="0" dirty="0">
                  <a:ea typeface="华文中宋" panose="02010600040101010101" pitchFamily="2" charset="-122"/>
                </a:rPr>
                <a:t>{       }</a:t>
              </a:r>
            </a:p>
            <a:p>
              <a:pPr eaLnBrk="1" hangingPunct="1">
                <a:lnSpc>
                  <a:spcPct val="150000"/>
                </a:lnSpc>
                <a:spcBef>
                  <a:spcPct val="20000"/>
                </a:spcBef>
                <a:buFontTx/>
                <a:buChar char="•"/>
              </a:pPr>
              <a:r>
                <a:rPr lang="en-US" altLang="zh-CN" sz="3200" b="0" dirty="0">
                  <a:ea typeface="华文中宋" panose="02010600040101010101" pitchFamily="2" charset="-122"/>
                </a:rPr>
                <a:t>S</a:t>
              </a:r>
              <a:r>
                <a:rPr lang="en-US" altLang="zh-CN" sz="3200" b="0" baseline="-25000" dirty="0">
                  <a:ea typeface="华文中宋" panose="02010600040101010101" pitchFamily="2" charset="-122"/>
                </a:rPr>
                <a:t>2 </a:t>
              </a:r>
              <a:r>
                <a:rPr lang="en-US" altLang="zh-CN" sz="3200" b="0" dirty="0">
                  <a:ea typeface="华文中宋" panose="02010600040101010101" pitchFamily="2" charset="-122"/>
                </a:rPr>
                <a:t>=max</a:t>
              </a:r>
              <a:r>
                <a:rPr lang="en-US" altLang="zh-CN" sz="3200" b="0" baseline="-25000" dirty="0">
                  <a:ea typeface="华文中宋" panose="02010600040101010101" pitchFamily="2" charset="-122"/>
                </a:rPr>
                <a:t>{n/2+1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a:t>
              </a:r>
              <a:r>
                <a:rPr lang="en-US" altLang="zh-CN" sz="3200" b="0" baseline="-25000" dirty="0" err="1">
                  <a:ea typeface="华文中宋" panose="02010600040101010101" pitchFamily="2" charset="-122"/>
                </a:rPr>
                <a:t>i</a:t>
              </a:r>
              <a:r>
                <a:rPr lang="en-US" altLang="zh-CN" sz="3200" b="0" baseline="-25000" dirty="0" err="1">
                  <a:ea typeface="华文中宋" panose="02010600040101010101" pitchFamily="2" charset="-122"/>
                  <a:sym typeface="Symbol" panose="05050102010706020507" pitchFamily="18" charset="2"/>
                </a:rPr>
                <a:t></a:t>
              </a:r>
              <a:r>
                <a:rPr lang="en-US" altLang="zh-CN" sz="3200" b="0" baseline="-25000" dirty="0" err="1">
                  <a:ea typeface="华文中宋" panose="02010600040101010101" pitchFamily="2" charset="-122"/>
                </a:rPr>
                <a:t>j</a:t>
              </a:r>
              <a:r>
                <a:rPr lang="en-US" altLang="zh-CN" sz="3200" b="0" baseline="-25000" dirty="0">
                  <a:ea typeface="华文中宋" panose="02010600040101010101" pitchFamily="2" charset="-122"/>
                </a:rPr>
                <a:t>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n}</a:t>
              </a:r>
              <a:r>
                <a:rPr lang="en-US" altLang="zh-CN" sz="3200" b="0" dirty="0">
                  <a:ea typeface="华文中宋" panose="02010600040101010101" pitchFamily="2" charset="-122"/>
                </a:rPr>
                <a:t>{       }</a:t>
              </a:r>
            </a:p>
          </p:txBody>
        </p:sp>
        <p:grpSp>
          <p:nvGrpSpPr>
            <p:cNvPr id="74763" name="Group 7">
              <a:extLst>
                <a:ext uri="{FF2B5EF4-FFF2-40B4-BE49-F238E27FC236}">
                  <a16:creationId xmlns:a16="http://schemas.microsoft.com/office/drawing/2014/main" id="{414CFB40-86F7-4754-8109-842331ED4964}"/>
                </a:ext>
              </a:extLst>
            </p:cNvPr>
            <p:cNvGrpSpPr>
              <a:grpSpLocks/>
            </p:cNvGrpSpPr>
            <p:nvPr/>
          </p:nvGrpSpPr>
          <p:grpSpPr bwMode="auto">
            <a:xfrm>
              <a:off x="2736" y="1848"/>
              <a:ext cx="480" cy="600"/>
              <a:chOff x="2560" y="1152"/>
              <a:chExt cx="480" cy="600"/>
            </a:xfrm>
          </p:grpSpPr>
          <p:sp>
            <p:nvSpPr>
              <p:cNvPr id="74768" name="Text Box 8">
                <a:extLst>
                  <a:ext uri="{FF2B5EF4-FFF2-40B4-BE49-F238E27FC236}">
                    <a16:creationId xmlns:a16="http://schemas.microsoft.com/office/drawing/2014/main" id="{1B0E2406-F1F0-4A8E-AA8D-E1B855BBDBE5}"/>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4769" name="Text Box 9">
                <a:extLst>
                  <a:ext uri="{FF2B5EF4-FFF2-40B4-BE49-F238E27FC236}">
                    <a16:creationId xmlns:a16="http://schemas.microsoft.com/office/drawing/2014/main" id="{C29F84DB-16F7-4899-A56F-6CDFBCCD148D}"/>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4770" name="Text Box 10">
                <a:extLst>
                  <a:ext uri="{FF2B5EF4-FFF2-40B4-BE49-F238E27FC236}">
                    <a16:creationId xmlns:a16="http://schemas.microsoft.com/office/drawing/2014/main" id="{A2DFB85E-4434-4CF5-83FD-1CABDEC44956}"/>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grpSp>
          <p:nvGrpSpPr>
            <p:cNvPr id="74764" name="Group 11">
              <a:extLst>
                <a:ext uri="{FF2B5EF4-FFF2-40B4-BE49-F238E27FC236}">
                  <a16:creationId xmlns:a16="http://schemas.microsoft.com/office/drawing/2014/main" id="{919797C4-1398-4777-B3FA-6DAF2B2AEE6E}"/>
                </a:ext>
              </a:extLst>
            </p:cNvPr>
            <p:cNvGrpSpPr>
              <a:grpSpLocks/>
            </p:cNvGrpSpPr>
            <p:nvPr/>
          </p:nvGrpSpPr>
          <p:grpSpPr bwMode="auto">
            <a:xfrm>
              <a:off x="2928" y="2520"/>
              <a:ext cx="480" cy="600"/>
              <a:chOff x="2560" y="1152"/>
              <a:chExt cx="480" cy="600"/>
            </a:xfrm>
          </p:grpSpPr>
          <p:sp>
            <p:nvSpPr>
              <p:cNvPr id="74765" name="Text Box 12">
                <a:extLst>
                  <a:ext uri="{FF2B5EF4-FFF2-40B4-BE49-F238E27FC236}">
                    <a16:creationId xmlns:a16="http://schemas.microsoft.com/office/drawing/2014/main" id="{6CC12629-776F-49AE-8DBE-10B4FD840711}"/>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4766" name="Text Box 13">
                <a:extLst>
                  <a:ext uri="{FF2B5EF4-FFF2-40B4-BE49-F238E27FC236}">
                    <a16:creationId xmlns:a16="http://schemas.microsoft.com/office/drawing/2014/main" id="{157C4794-EB38-4B10-95A9-22490DD034FD}"/>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4767" name="Text Box 14">
                <a:extLst>
                  <a:ext uri="{FF2B5EF4-FFF2-40B4-BE49-F238E27FC236}">
                    <a16:creationId xmlns:a16="http://schemas.microsoft.com/office/drawing/2014/main" id="{57E1006F-FB59-4688-8B39-B34A1A6357FB}"/>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grpSp>
      <p:sp>
        <p:nvSpPr>
          <p:cNvPr id="60432" name="Rectangle 16">
            <a:extLst>
              <a:ext uri="{FF2B5EF4-FFF2-40B4-BE49-F238E27FC236}">
                <a16:creationId xmlns:a16="http://schemas.microsoft.com/office/drawing/2014/main" id="{E8A6D569-5E3B-4066-A997-F360DF5AE710}"/>
              </a:ext>
            </a:extLst>
          </p:cNvPr>
          <p:cNvSpPr>
            <a:spLocks noChangeArrowheads="1"/>
          </p:cNvSpPr>
          <p:nvPr/>
        </p:nvSpPr>
        <p:spPr bwMode="auto">
          <a:xfrm>
            <a:off x="685800" y="4876800"/>
            <a:ext cx="81534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buFontTx/>
              <a:buChar char="•"/>
            </a:pPr>
            <a:r>
              <a:rPr lang="en-US" altLang="zh-CN" sz="3200" b="0" dirty="0">
                <a:ea typeface="华文中宋" panose="02010600040101010101" pitchFamily="2" charset="-122"/>
              </a:rPr>
              <a:t>a[1:n]</a:t>
            </a:r>
            <a:r>
              <a:rPr lang="zh-CN" altLang="en-US" sz="3200" b="0" dirty="0">
                <a:ea typeface="华文中宋" panose="02010600040101010101" pitchFamily="2" charset="-122"/>
              </a:rPr>
              <a:t>的最大子段和</a:t>
            </a:r>
            <a:r>
              <a:rPr lang="en-US" altLang="zh-CN" sz="3200" b="0" dirty="0">
                <a:ea typeface="华文中宋" panose="02010600040101010101" pitchFamily="2" charset="-122"/>
              </a:rPr>
              <a:t>S</a:t>
            </a:r>
            <a:r>
              <a:rPr lang="zh-CN" altLang="en-US" sz="3200" b="0" dirty="0">
                <a:ea typeface="华文中宋" panose="02010600040101010101" pitchFamily="2" charset="-122"/>
              </a:rPr>
              <a:t>有三种可能：</a:t>
            </a:r>
          </a:p>
          <a:p>
            <a:pPr eaLnBrk="1" hangingPunct="1">
              <a:lnSpc>
                <a:spcPct val="120000"/>
              </a:lnSpc>
              <a:spcBef>
                <a:spcPct val="20000"/>
              </a:spcBef>
              <a:buFontTx/>
              <a:buChar char="•"/>
            </a:pPr>
            <a:r>
              <a:rPr lang="en-US" altLang="zh-CN" sz="3200" b="0" dirty="0">
                <a:ea typeface="华文中宋" panose="02010600040101010101" pitchFamily="2" charset="-122"/>
              </a:rPr>
              <a:t>S=S</a:t>
            </a:r>
            <a:r>
              <a:rPr lang="en-US" altLang="zh-CN" sz="3200" b="0" baseline="-25000" dirty="0">
                <a:ea typeface="华文中宋" panose="02010600040101010101" pitchFamily="2" charset="-122"/>
              </a:rPr>
              <a:t>1</a:t>
            </a:r>
            <a:r>
              <a:rPr lang="zh-CN" altLang="en-US" sz="3200" b="0" dirty="0">
                <a:ea typeface="华文中宋" panose="02010600040101010101" pitchFamily="2" charset="-122"/>
              </a:rPr>
              <a:t>，</a:t>
            </a:r>
            <a:r>
              <a:rPr lang="en-US" altLang="zh-CN" sz="3200" b="0" dirty="0">
                <a:ea typeface="华文中宋" panose="02010600040101010101" pitchFamily="2" charset="-122"/>
              </a:rPr>
              <a:t>S=S</a:t>
            </a:r>
            <a:r>
              <a:rPr lang="en-US" altLang="zh-CN" sz="3200" b="0" baseline="-25000" dirty="0">
                <a:ea typeface="华文中宋" panose="02010600040101010101" pitchFamily="2" charset="-122"/>
              </a:rPr>
              <a:t>2</a:t>
            </a:r>
            <a:r>
              <a:rPr lang="zh-CN" altLang="en-US" sz="3200" b="0" dirty="0">
                <a:ea typeface="华文中宋" panose="02010600040101010101" pitchFamily="2" charset="-122"/>
              </a:rPr>
              <a:t>或</a:t>
            </a:r>
            <a:r>
              <a:rPr lang="en-US" altLang="zh-CN" sz="3200" b="0" dirty="0">
                <a:ea typeface="华文中宋" panose="02010600040101010101" pitchFamily="2" charset="-122"/>
              </a:rPr>
              <a:t>S=             </a:t>
            </a:r>
            <a:r>
              <a:rPr lang="zh-CN" altLang="en-US" sz="3200" b="0" dirty="0">
                <a:ea typeface="华文中宋" panose="02010600040101010101" pitchFamily="2" charset="-122"/>
              </a:rPr>
              <a:t>，</a:t>
            </a:r>
            <a:r>
              <a:rPr lang="en-US" altLang="zh-CN" sz="3200" b="0" dirty="0" err="1">
                <a:ea typeface="华文中宋" panose="02010600040101010101" pitchFamily="2" charset="-122"/>
              </a:rPr>
              <a:t>i</a:t>
            </a:r>
            <a:r>
              <a:rPr lang="en-US" altLang="zh-CN" sz="3200" b="0" dirty="0">
                <a:ea typeface="华文中宋" panose="02010600040101010101" pitchFamily="2" charset="-122"/>
              </a:rPr>
              <a:t> </a:t>
            </a:r>
            <a:r>
              <a:rPr lang="en-US" altLang="zh-CN" sz="3200" b="0" dirty="0">
                <a:ea typeface="华文中宋" panose="02010600040101010101" pitchFamily="2" charset="-122"/>
                <a:sym typeface="Symbol" panose="05050102010706020507" pitchFamily="18" charset="2"/>
              </a:rPr>
              <a:t></a:t>
            </a:r>
            <a:r>
              <a:rPr lang="en-US" altLang="zh-CN" sz="3200" b="0" dirty="0">
                <a:ea typeface="华文中宋" panose="02010600040101010101" pitchFamily="2" charset="-122"/>
              </a:rPr>
              <a:t> n/2</a:t>
            </a:r>
            <a:r>
              <a:rPr lang="zh-CN" altLang="en-US" sz="3200" b="0" dirty="0">
                <a:ea typeface="华文中宋" panose="02010600040101010101" pitchFamily="2" charset="-122"/>
              </a:rPr>
              <a:t>，</a:t>
            </a:r>
            <a:r>
              <a:rPr lang="en-US" altLang="zh-CN" sz="3200" b="0" dirty="0">
                <a:ea typeface="华文中宋" panose="02010600040101010101" pitchFamily="2" charset="-122"/>
              </a:rPr>
              <a:t>n/2+1 </a:t>
            </a:r>
            <a:r>
              <a:rPr lang="en-US" altLang="zh-CN" sz="3200" b="0" dirty="0">
                <a:ea typeface="华文中宋" panose="02010600040101010101" pitchFamily="2" charset="-122"/>
                <a:sym typeface="Symbol" panose="05050102010706020507" pitchFamily="18" charset="2"/>
              </a:rPr>
              <a:t>j</a:t>
            </a:r>
          </a:p>
        </p:txBody>
      </p:sp>
      <p:grpSp>
        <p:nvGrpSpPr>
          <p:cNvPr id="5" name="Group 17">
            <a:extLst>
              <a:ext uri="{FF2B5EF4-FFF2-40B4-BE49-F238E27FC236}">
                <a16:creationId xmlns:a16="http://schemas.microsoft.com/office/drawing/2014/main" id="{54FFB3ED-5B99-4573-9CF0-9A00076E3316}"/>
              </a:ext>
            </a:extLst>
          </p:cNvPr>
          <p:cNvGrpSpPr>
            <a:grpSpLocks/>
          </p:cNvGrpSpPr>
          <p:nvPr/>
        </p:nvGrpSpPr>
        <p:grpSpPr bwMode="auto">
          <a:xfrm>
            <a:off x="4343400" y="5410200"/>
            <a:ext cx="762000" cy="952500"/>
            <a:chOff x="2560" y="1152"/>
            <a:chExt cx="480" cy="600"/>
          </a:xfrm>
        </p:grpSpPr>
        <p:sp>
          <p:nvSpPr>
            <p:cNvPr id="74759" name="Text Box 18">
              <a:extLst>
                <a:ext uri="{FF2B5EF4-FFF2-40B4-BE49-F238E27FC236}">
                  <a16:creationId xmlns:a16="http://schemas.microsoft.com/office/drawing/2014/main" id="{DA78CB08-B811-4B1F-81FC-3622B672AF7D}"/>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4760" name="Text Box 19">
              <a:extLst>
                <a:ext uri="{FF2B5EF4-FFF2-40B4-BE49-F238E27FC236}">
                  <a16:creationId xmlns:a16="http://schemas.microsoft.com/office/drawing/2014/main" id="{035FB8DE-8654-4EF1-8AD0-1749A6E1C6B4}"/>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4761" name="Text Box 20">
              <a:extLst>
                <a:ext uri="{FF2B5EF4-FFF2-40B4-BE49-F238E27FC236}">
                  <a16:creationId xmlns:a16="http://schemas.microsoft.com/office/drawing/2014/main" id="{C4912AB0-CC33-4767-8E32-2689B3F398AA}"/>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0432"/>
                                        </p:tgtEl>
                                        <p:attrNameLst>
                                          <p:attrName>style.visibility</p:attrName>
                                        </p:attrNameLst>
                                      </p:cBhvr>
                                      <p:to>
                                        <p:strVal val="visible"/>
                                      </p:to>
                                    </p:set>
                                    <p:anim calcmode="lin" valueType="num">
                                      <p:cBhvr additive="base">
                                        <p:cTn id="19" dur="500" fill="hold"/>
                                        <p:tgtEl>
                                          <p:spTgt spid="60432"/>
                                        </p:tgtEl>
                                        <p:attrNameLst>
                                          <p:attrName>ppt_x</p:attrName>
                                        </p:attrNameLst>
                                      </p:cBhvr>
                                      <p:tavLst>
                                        <p:tav tm="0">
                                          <p:val>
                                            <p:strVal val="0-#ppt_w/2"/>
                                          </p:val>
                                        </p:tav>
                                        <p:tav tm="100000">
                                          <p:val>
                                            <p:strVal val="#ppt_x"/>
                                          </p:val>
                                        </p:tav>
                                      </p:tavLst>
                                    </p:anim>
                                    <p:anim calcmode="lin" valueType="num">
                                      <p:cBhvr additive="base">
                                        <p:cTn id="20" dur="500" fill="hold"/>
                                        <p:tgtEl>
                                          <p:spTgt spid="60432"/>
                                        </p:tgtEl>
                                        <p:attrNameLst>
                                          <p:attrName>ppt_y</p:attrName>
                                        </p:attrNameLst>
                                      </p:cBhvr>
                                      <p:tavLst>
                                        <p:tav tm="0">
                                          <p:val>
                                            <p:strVal val="#ppt_y"/>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autoUpdateAnimBg="0"/>
      <p:bldP spid="60432"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F9D1B86-0248-4F9E-B4BC-AA9D5B90CACC}"/>
              </a:ext>
            </a:extLst>
          </p:cNvPr>
          <p:cNvSpPr>
            <a:spLocks noGrp="1" noChangeArrowheads="1"/>
          </p:cNvSpPr>
          <p:nvPr>
            <p:ph type="title"/>
          </p:nvPr>
        </p:nvSpPr>
        <p:spPr bwMode="auto">
          <a:xfrm>
            <a:off x="762000" y="4572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zh-CN" altLang="en-US" sz="4000" b="1" dirty="0"/>
              <a:t>第三种情况的处理：</a:t>
            </a:r>
            <a:r>
              <a:rPr lang="en-US" altLang="zh-CN" sz="4000" b="1" dirty="0"/>
              <a:t>S=</a:t>
            </a:r>
          </a:p>
        </p:txBody>
      </p:sp>
      <p:pic>
        <p:nvPicPr>
          <p:cNvPr id="62468" name="Picture 4" descr="BD15132_">
            <a:hlinkClick r:id="rId2" action="ppaction://hlinksldjump"/>
            <a:extLst>
              <a:ext uri="{FF2B5EF4-FFF2-40B4-BE49-F238E27FC236}">
                <a16:creationId xmlns:a16="http://schemas.microsoft.com/office/drawing/2014/main" id="{AFE22A53-6A02-404A-81EF-34703D981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6750" y="5857875"/>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5">
            <a:extLst>
              <a:ext uri="{FF2B5EF4-FFF2-40B4-BE49-F238E27FC236}">
                <a16:creationId xmlns:a16="http://schemas.microsoft.com/office/drawing/2014/main" id="{6BCDA456-EBFC-49D5-8DB8-404B5A6689D8}"/>
              </a:ext>
            </a:extLst>
          </p:cNvPr>
          <p:cNvSpPr txBox="1">
            <a:spLocks noChangeArrowheads="1"/>
          </p:cNvSpPr>
          <p:nvPr/>
        </p:nvSpPr>
        <p:spPr bwMode="auto">
          <a:xfrm>
            <a:off x="7296150" y="5705475"/>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返回</a:t>
            </a:r>
          </a:p>
        </p:txBody>
      </p:sp>
      <p:grpSp>
        <p:nvGrpSpPr>
          <p:cNvPr id="2" name="Group 18">
            <a:extLst>
              <a:ext uri="{FF2B5EF4-FFF2-40B4-BE49-F238E27FC236}">
                <a16:creationId xmlns:a16="http://schemas.microsoft.com/office/drawing/2014/main" id="{C5A79811-8924-44C8-9116-098EE53817ED}"/>
              </a:ext>
            </a:extLst>
          </p:cNvPr>
          <p:cNvGrpSpPr>
            <a:grpSpLocks/>
          </p:cNvGrpSpPr>
          <p:nvPr/>
        </p:nvGrpSpPr>
        <p:grpSpPr bwMode="auto">
          <a:xfrm>
            <a:off x="685800" y="1285875"/>
            <a:ext cx="7772400" cy="1866900"/>
            <a:chOff x="432" y="1008"/>
            <a:chExt cx="4896" cy="1176"/>
          </a:xfrm>
        </p:grpSpPr>
        <p:sp>
          <p:nvSpPr>
            <p:cNvPr id="75793" name="Rectangle 7">
              <a:extLst>
                <a:ext uri="{FF2B5EF4-FFF2-40B4-BE49-F238E27FC236}">
                  <a16:creationId xmlns:a16="http://schemas.microsoft.com/office/drawing/2014/main" id="{B2E80620-EBB3-496D-85EC-A03C07E96393}"/>
                </a:ext>
              </a:extLst>
            </p:cNvPr>
            <p:cNvSpPr>
              <a:spLocks noChangeArrowheads="1"/>
            </p:cNvSpPr>
            <p:nvPr/>
          </p:nvSpPr>
          <p:spPr bwMode="auto">
            <a:xfrm>
              <a:off x="432" y="1032"/>
              <a:ext cx="489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buFontTx/>
                <a:buChar char="•"/>
              </a:pPr>
              <a:r>
                <a:rPr lang="en-US" altLang="zh-CN" sz="3200" b="0" dirty="0">
                  <a:ea typeface="华文中宋" panose="02010600040101010101" pitchFamily="2" charset="-122"/>
                </a:rPr>
                <a:t>S</a:t>
              </a:r>
              <a:r>
                <a:rPr lang="en-US" altLang="zh-CN" sz="3200" b="0" baseline="30000" dirty="0">
                  <a:ea typeface="华文中宋" panose="02010600040101010101" pitchFamily="2" charset="-122"/>
                </a:rPr>
                <a:t>’</a:t>
              </a:r>
              <a:r>
                <a:rPr lang="en-US" altLang="zh-CN" sz="3200" b="0" baseline="-25000" dirty="0">
                  <a:ea typeface="华文中宋" panose="02010600040101010101" pitchFamily="2" charset="-122"/>
                </a:rPr>
                <a:t>1</a:t>
              </a:r>
              <a:r>
                <a:rPr lang="en-US" altLang="zh-CN" sz="3200" b="0" dirty="0">
                  <a:ea typeface="华文中宋" panose="02010600040101010101" pitchFamily="2" charset="-122"/>
                </a:rPr>
                <a:t>=max</a:t>
              </a:r>
              <a:r>
                <a:rPr lang="en-US" altLang="zh-CN" sz="3200" b="0" baseline="-25000" dirty="0">
                  <a:ea typeface="华文中宋" panose="02010600040101010101" pitchFamily="2" charset="-122"/>
                </a:rPr>
                <a:t>{1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a:t>
              </a:r>
              <a:r>
                <a:rPr lang="en-US" altLang="zh-CN" sz="3200" b="0" baseline="-25000" dirty="0" err="1">
                  <a:ea typeface="华文中宋" panose="02010600040101010101" pitchFamily="2" charset="-122"/>
                </a:rPr>
                <a:t>i</a:t>
              </a:r>
              <a:r>
                <a:rPr lang="en-US" altLang="zh-CN" sz="3200" b="0" baseline="-25000" dirty="0">
                  <a:ea typeface="华文中宋" panose="02010600040101010101" pitchFamily="2" charset="-122"/>
                </a:rPr>
                <a:t>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n/2}</a:t>
              </a:r>
              <a:r>
                <a:rPr lang="en-US" altLang="zh-CN" sz="3200" b="0" dirty="0">
                  <a:ea typeface="华文中宋" panose="02010600040101010101" pitchFamily="2" charset="-122"/>
                </a:rPr>
                <a:t>{            }</a:t>
              </a:r>
            </a:p>
            <a:p>
              <a:pPr eaLnBrk="1" hangingPunct="1">
                <a:lnSpc>
                  <a:spcPct val="150000"/>
                </a:lnSpc>
                <a:spcBef>
                  <a:spcPct val="20000"/>
                </a:spcBef>
                <a:buFontTx/>
                <a:buChar char="•"/>
              </a:pPr>
              <a:r>
                <a:rPr lang="en-US" altLang="zh-CN" sz="3200" b="0" dirty="0">
                  <a:ea typeface="华文中宋" panose="02010600040101010101" pitchFamily="2" charset="-122"/>
                </a:rPr>
                <a:t>S</a:t>
              </a:r>
              <a:r>
                <a:rPr lang="en-US" altLang="zh-CN" sz="3200" b="0" baseline="30000" dirty="0">
                  <a:ea typeface="华文中宋" panose="02010600040101010101" pitchFamily="2" charset="-122"/>
                </a:rPr>
                <a:t>’</a:t>
              </a:r>
              <a:r>
                <a:rPr lang="en-US" altLang="zh-CN" sz="3200" b="0" baseline="-25000" dirty="0">
                  <a:ea typeface="华文中宋" panose="02010600040101010101" pitchFamily="2" charset="-122"/>
                </a:rPr>
                <a:t>2 </a:t>
              </a:r>
              <a:r>
                <a:rPr lang="en-US" altLang="zh-CN" sz="3200" b="0" dirty="0">
                  <a:ea typeface="华文中宋" panose="02010600040101010101" pitchFamily="2" charset="-122"/>
                </a:rPr>
                <a:t>=max</a:t>
              </a:r>
              <a:r>
                <a:rPr lang="en-US" altLang="zh-CN" sz="3200" b="0" baseline="-25000" dirty="0">
                  <a:ea typeface="华文中宋" panose="02010600040101010101" pitchFamily="2" charset="-122"/>
                </a:rPr>
                <a:t>{n/2+1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j </a:t>
              </a:r>
              <a:r>
                <a:rPr lang="en-US" altLang="zh-CN" sz="3200" b="0" baseline="-25000" dirty="0">
                  <a:ea typeface="华文中宋" panose="02010600040101010101" pitchFamily="2" charset="-122"/>
                  <a:sym typeface="Symbol" panose="05050102010706020507" pitchFamily="18" charset="2"/>
                </a:rPr>
                <a:t></a:t>
              </a:r>
              <a:r>
                <a:rPr lang="en-US" altLang="zh-CN" sz="3200" b="0" baseline="-25000" dirty="0">
                  <a:ea typeface="华文中宋" panose="02010600040101010101" pitchFamily="2" charset="-122"/>
                </a:rPr>
                <a:t> n}</a:t>
              </a:r>
              <a:r>
                <a:rPr lang="en-US" altLang="zh-CN" sz="3200" b="0" dirty="0">
                  <a:ea typeface="华文中宋" panose="02010600040101010101" pitchFamily="2" charset="-122"/>
                </a:rPr>
                <a:t>{             }</a:t>
              </a:r>
            </a:p>
          </p:txBody>
        </p:sp>
        <p:grpSp>
          <p:nvGrpSpPr>
            <p:cNvPr id="75794" name="Group 17">
              <a:extLst>
                <a:ext uri="{FF2B5EF4-FFF2-40B4-BE49-F238E27FC236}">
                  <a16:creationId xmlns:a16="http://schemas.microsoft.com/office/drawing/2014/main" id="{FA68A035-AA8F-4D5A-BFB8-248C56A74286}"/>
                </a:ext>
              </a:extLst>
            </p:cNvPr>
            <p:cNvGrpSpPr>
              <a:grpSpLocks/>
            </p:cNvGrpSpPr>
            <p:nvPr/>
          </p:nvGrpSpPr>
          <p:grpSpPr bwMode="auto">
            <a:xfrm>
              <a:off x="2688" y="1008"/>
              <a:ext cx="768" cy="600"/>
              <a:chOff x="2736" y="912"/>
              <a:chExt cx="768" cy="600"/>
            </a:xfrm>
          </p:grpSpPr>
          <p:sp>
            <p:nvSpPr>
              <p:cNvPr id="75799" name="Text Box 9">
                <a:extLst>
                  <a:ext uri="{FF2B5EF4-FFF2-40B4-BE49-F238E27FC236}">
                    <a16:creationId xmlns:a16="http://schemas.microsoft.com/office/drawing/2014/main" id="{95549E93-50C9-48C3-BB11-1D3F7398731F}"/>
                  </a:ext>
                </a:extLst>
              </p:cNvPr>
              <p:cNvSpPr txBox="1">
                <a:spLocks noChangeArrowheads="1"/>
              </p:cNvSpPr>
              <p:nvPr/>
            </p:nvSpPr>
            <p:spPr bwMode="auto">
              <a:xfrm>
                <a:off x="2736" y="1080"/>
                <a:ext cx="7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5800" name="Text Box 10">
                <a:extLst>
                  <a:ext uri="{FF2B5EF4-FFF2-40B4-BE49-F238E27FC236}">
                    <a16:creationId xmlns:a16="http://schemas.microsoft.com/office/drawing/2014/main" id="{B4714074-36D4-4339-99C7-9364DFF0A4FF}"/>
                  </a:ext>
                </a:extLst>
              </p:cNvPr>
              <p:cNvSpPr txBox="1">
                <a:spLocks noChangeArrowheads="1"/>
              </p:cNvSpPr>
              <p:nvPr/>
            </p:nvSpPr>
            <p:spPr bwMode="auto">
              <a:xfrm>
                <a:off x="2768" y="132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5801" name="Text Box 11">
                <a:extLst>
                  <a:ext uri="{FF2B5EF4-FFF2-40B4-BE49-F238E27FC236}">
                    <a16:creationId xmlns:a16="http://schemas.microsoft.com/office/drawing/2014/main" id="{EE230B0D-408A-48DB-B9A7-9DD899F08230}"/>
                  </a:ext>
                </a:extLst>
              </p:cNvPr>
              <p:cNvSpPr txBox="1">
                <a:spLocks noChangeArrowheads="1"/>
              </p:cNvSpPr>
              <p:nvPr/>
            </p:nvSpPr>
            <p:spPr bwMode="auto">
              <a:xfrm>
                <a:off x="2736" y="912"/>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n/2</a:t>
                </a:r>
              </a:p>
            </p:txBody>
          </p:sp>
        </p:grpSp>
        <p:grpSp>
          <p:nvGrpSpPr>
            <p:cNvPr id="75795" name="Group 16">
              <a:extLst>
                <a:ext uri="{FF2B5EF4-FFF2-40B4-BE49-F238E27FC236}">
                  <a16:creationId xmlns:a16="http://schemas.microsoft.com/office/drawing/2014/main" id="{362BC815-A0BA-480B-B508-22E6EF71B4B4}"/>
                </a:ext>
              </a:extLst>
            </p:cNvPr>
            <p:cNvGrpSpPr>
              <a:grpSpLocks/>
            </p:cNvGrpSpPr>
            <p:nvPr/>
          </p:nvGrpSpPr>
          <p:grpSpPr bwMode="auto">
            <a:xfrm>
              <a:off x="2880" y="1584"/>
              <a:ext cx="720" cy="600"/>
              <a:chOff x="2880" y="1584"/>
              <a:chExt cx="720" cy="600"/>
            </a:xfrm>
          </p:grpSpPr>
          <p:sp>
            <p:nvSpPr>
              <p:cNvPr id="75796" name="Text Box 13">
                <a:extLst>
                  <a:ext uri="{FF2B5EF4-FFF2-40B4-BE49-F238E27FC236}">
                    <a16:creationId xmlns:a16="http://schemas.microsoft.com/office/drawing/2014/main" id="{0DEE5943-41F9-4DD7-BFEF-4BC47DEE264B}"/>
                  </a:ext>
                </a:extLst>
              </p:cNvPr>
              <p:cNvSpPr txBox="1">
                <a:spLocks noChangeArrowheads="1"/>
              </p:cNvSpPr>
              <p:nvPr/>
            </p:nvSpPr>
            <p:spPr bwMode="auto">
              <a:xfrm>
                <a:off x="2928" y="1752"/>
                <a:ext cx="67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5797" name="Text Box 14">
                <a:extLst>
                  <a:ext uri="{FF2B5EF4-FFF2-40B4-BE49-F238E27FC236}">
                    <a16:creationId xmlns:a16="http://schemas.microsoft.com/office/drawing/2014/main" id="{15B76FEB-A0C1-4AA2-BEE4-98B8FAC025D8}"/>
                  </a:ext>
                </a:extLst>
              </p:cNvPr>
              <p:cNvSpPr txBox="1">
                <a:spLocks noChangeArrowheads="1"/>
              </p:cNvSpPr>
              <p:nvPr/>
            </p:nvSpPr>
            <p:spPr bwMode="auto">
              <a:xfrm>
                <a:off x="2880" y="1992"/>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k=n/2+1</a:t>
                </a:r>
              </a:p>
            </p:txBody>
          </p:sp>
          <p:sp>
            <p:nvSpPr>
              <p:cNvPr id="75798" name="Text Box 15">
                <a:extLst>
                  <a:ext uri="{FF2B5EF4-FFF2-40B4-BE49-F238E27FC236}">
                    <a16:creationId xmlns:a16="http://schemas.microsoft.com/office/drawing/2014/main" id="{FEE29410-95C6-4EBC-9D03-44ADD18361E3}"/>
                  </a:ext>
                </a:extLst>
              </p:cNvPr>
              <p:cNvSpPr txBox="1">
                <a:spLocks noChangeArrowheads="1"/>
              </p:cNvSpPr>
              <p:nvPr/>
            </p:nvSpPr>
            <p:spPr bwMode="auto">
              <a:xfrm>
                <a:off x="3008" y="1584"/>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grpSp>
      <p:sp>
        <p:nvSpPr>
          <p:cNvPr id="62483" name="Text Box 19">
            <a:extLst>
              <a:ext uri="{FF2B5EF4-FFF2-40B4-BE49-F238E27FC236}">
                <a16:creationId xmlns:a16="http://schemas.microsoft.com/office/drawing/2014/main" id="{BE320A83-FE60-410E-88E8-58B30DF8C4E9}"/>
              </a:ext>
            </a:extLst>
          </p:cNvPr>
          <p:cNvSpPr txBox="1">
            <a:spLocks noChangeArrowheads="1"/>
          </p:cNvSpPr>
          <p:nvPr/>
        </p:nvSpPr>
        <p:spPr bwMode="auto">
          <a:xfrm>
            <a:off x="914400" y="3267075"/>
            <a:ext cx="7010400"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ea typeface="华文中宋" panose="02010600040101010101" pitchFamily="2" charset="-122"/>
              </a:rPr>
              <a:t>确定</a:t>
            </a:r>
            <a:r>
              <a:rPr lang="en-US" altLang="zh-CN" sz="2800" dirty="0" err="1">
                <a:ea typeface="华文中宋" panose="02010600040101010101" pitchFamily="2" charset="-122"/>
              </a:rPr>
              <a:t>i</a:t>
            </a:r>
            <a:r>
              <a:rPr lang="zh-CN" altLang="en-US" sz="2800" dirty="0">
                <a:ea typeface="华文中宋" panose="02010600040101010101" pitchFamily="2" charset="-122"/>
              </a:rPr>
              <a:t>需</a:t>
            </a:r>
            <a:r>
              <a:rPr lang="en-US" altLang="zh-CN" sz="2800" dirty="0">
                <a:ea typeface="华文中宋" panose="02010600040101010101" pitchFamily="2" charset="-122"/>
              </a:rPr>
              <a:t>O(n)</a:t>
            </a:r>
            <a:r>
              <a:rPr lang="zh-CN" altLang="en-US" sz="2800" dirty="0">
                <a:ea typeface="华文中宋" panose="02010600040101010101" pitchFamily="2" charset="-122"/>
              </a:rPr>
              <a:t>，确定</a:t>
            </a:r>
            <a:r>
              <a:rPr lang="en-US" altLang="zh-CN" sz="2800" dirty="0">
                <a:ea typeface="华文中宋" panose="02010600040101010101" pitchFamily="2" charset="-122"/>
              </a:rPr>
              <a:t>j</a:t>
            </a:r>
            <a:r>
              <a:rPr lang="zh-CN" altLang="en-US" sz="2800" dirty="0">
                <a:ea typeface="华文中宋" panose="02010600040101010101" pitchFamily="2" charset="-122"/>
              </a:rPr>
              <a:t>需</a:t>
            </a:r>
            <a:r>
              <a:rPr lang="en-US" altLang="zh-CN" sz="2800" dirty="0">
                <a:ea typeface="华文中宋" panose="02010600040101010101" pitchFamily="2" charset="-122"/>
              </a:rPr>
              <a:t>O(n)</a:t>
            </a:r>
          </a:p>
          <a:p>
            <a:pPr eaLnBrk="1" hangingPunct="1">
              <a:lnSpc>
                <a:spcPct val="80000"/>
              </a:lnSpc>
              <a:spcBef>
                <a:spcPct val="50000"/>
              </a:spcBef>
            </a:pPr>
            <a:r>
              <a:rPr lang="en-US" altLang="zh-CN" sz="2800" dirty="0">
                <a:ea typeface="华文中宋" panose="02010600040101010101" pitchFamily="2" charset="-122"/>
              </a:rPr>
              <a:t>S=S’</a:t>
            </a:r>
            <a:r>
              <a:rPr lang="en-US" altLang="zh-CN" sz="2800" b="0" baseline="-25000" dirty="0">
                <a:ea typeface="华文中宋" panose="02010600040101010101" pitchFamily="2" charset="-122"/>
              </a:rPr>
              <a:t>1</a:t>
            </a:r>
            <a:r>
              <a:rPr lang="en-US" altLang="zh-CN" sz="2800" dirty="0">
                <a:ea typeface="华文中宋" panose="02010600040101010101" pitchFamily="2" charset="-122"/>
              </a:rPr>
              <a:t>+S’</a:t>
            </a:r>
            <a:r>
              <a:rPr lang="en-US" altLang="zh-CN" sz="2800" b="0" baseline="-25000" dirty="0">
                <a:ea typeface="华文中宋" panose="02010600040101010101" pitchFamily="2" charset="-122"/>
              </a:rPr>
              <a:t>2</a:t>
            </a:r>
          </a:p>
        </p:txBody>
      </p:sp>
      <p:grpSp>
        <p:nvGrpSpPr>
          <p:cNvPr id="5" name="Group 21">
            <a:extLst>
              <a:ext uri="{FF2B5EF4-FFF2-40B4-BE49-F238E27FC236}">
                <a16:creationId xmlns:a16="http://schemas.microsoft.com/office/drawing/2014/main" id="{84EDF36B-749B-4570-A88B-3920EE8B297C}"/>
              </a:ext>
            </a:extLst>
          </p:cNvPr>
          <p:cNvGrpSpPr>
            <a:grpSpLocks/>
          </p:cNvGrpSpPr>
          <p:nvPr/>
        </p:nvGrpSpPr>
        <p:grpSpPr bwMode="auto">
          <a:xfrm>
            <a:off x="6629400" y="304800"/>
            <a:ext cx="762000" cy="952500"/>
            <a:chOff x="2560" y="1152"/>
            <a:chExt cx="480" cy="600"/>
          </a:xfrm>
        </p:grpSpPr>
        <p:sp>
          <p:nvSpPr>
            <p:cNvPr id="75790" name="Text Box 22">
              <a:extLst>
                <a:ext uri="{FF2B5EF4-FFF2-40B4-BE49-F238E27FC236}">
                  <a16:creationId xmlns:a16="http://schemas.microsoft.com/office/drawing/2014/main" id="{43EBBD6C-A9A8-4FB7-AD37-39E9BEEBD9BD}"/>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5791" name="Text Box 23">
              <a:extLst>
                <a:ext uri="{FF2B5EF4-FFF2-40B4-BE49-F238E27FC236}">
                  <a16:creationId xmlns:a16="http://schemas.microsoft.com/office/drawing/2014/main" id="{AF3F3935-6948-4544-B2DC-3C1E2D93FFE4}"/>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5792" name="Text Box 24">
              <a:extLst>
                <a:ext uri="{FF2B5EF4-FFF2-40B4-BE49-F238E27FC236}">
                  <a16:creationId xmlns:a16="http://schemas.microsoft.com/office/drawing/2014/main" id="{372FC2EA-28C7-4E78-959E-EEAF0DA6CF8D}"/>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sp>
        <p:nvSpPr>
          <p:cNvPr id="62489" name="Rectangle 25">
            <a:extLst>
              <a:ext uri="{FF2B5EF4-FFF2-40B4-BE49-F238E27FC236}">
                <a16:creationId xmlns:a16="http://schemas.microsoft.com/office/drawing/2014/main" id="{ECC36481-17DE-4002-8CDE-490E5FB6EC92}"/>
              </a:ext>
            </a:extLst>
          </p:cNvPr>
          <p:cNvSpPr>
            <a:spLocks noGrp="1" noChangeArrowheads="1"/>
          </p:cNvSpPr>
          <p:nvPr>
            <p:ph type="body" idx="1"/>
          </p:nvPr>
        </p:nvSpPr>
        <p:spPr bwMode="auto">
          <a:xfrm>
            <a:off x="685800" y="4410075"/>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400" b="1" dirty="0">
                <a:solidFill>
                  <a:srgbClr val="FF0000"/>
                </a:solidFill>
              </a:rPr>
              <a:t>  </a:t>
            </a:r>
            <a:r>
              <a:rPr lang="zh-CN" altLang="en-US" sz="2400" b="1" dirty="0">
                <a:solidFill>
                  <a:srgbClr val="FF0000"/>
                </a:solidFill>
              </a:rPr>
              <a:t>时间复杂度递推式</a:t>
            </a:r>
          </a:p>
        </p:txBody>
      </p:sp>
      <p:sp>
        <p:nvSpPr>
          <p:cNvPr id="62490" name="Text Box 26">
            <a:extLst>
              <a:ext uri="{FF2B5EF4-FFF2-40B4-BE49-F238E27FC236}">
                <a16:creationId xmlns:a16="http://schemas.microsoft.com/office/drawing/2014/main" id="{6552E894-EADB-419B-995E-BD178C710D03}"/>
              </a:ext>
            </a:extLst>
          </p:cNvPr>
          <p:cNvSpPr txBox="1">
            <a:spLocks noChangeArrowheads="1"/>
          </p:cNvSpPr>
          <p:nvPr/>
        </p:nvSpPr>
        <p:spPr bwMode="auto">
          <a:xfrm>
            <a:off x="2386013" y="4930775"/>
            <a:ext cx="5157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 2 T(n/2)  +  O(n)        ( n &gt;C )</a:t>
            </a:r>
          </a:p>
        </p:txBody>
      </p:sp>
      <p:sp>
        <p:nvSpPr>
          <p:cNvPr id="62491" name="Text Box 27">
            <a:extLst>
              <a:ext uri="{FF2B5EF4-FFF2-40B4-BE49-F238E27FC236}">
                <a16:creationId xmlns:a16="http://schemas.microsoft.com/office/drawing/2014/main" id="{910074EC-DDB1-4DC6-A57A-EF0066C836DF}"/>
              </a:ext>
            </a:extLst>
          </p:cNvPr>
          <p:cNvSpPr txBox="1">
            <a:spLocks noChangeArrowheads="1"/>
          </p:cNvSpPr>
          <p:nvPr/>
        </p:nvSpPr>
        <p:spPr bwMode="auto">
          <a:xfrm>
            <a:off x="2309813" y="5464175"/>
            <a:ext cx="53101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  O(1)                            ( n </a:t>
            </a:r>
            <a:r>
              <a:rPr lang="en-US" altLang="zh-CN" sz="3200" b="0" dirty="0">
                <a:ea typeface="华文中宋" panose="02010600040101010101" pitchFamily="2" charset="-122"/>
                <a:sym typeface="Symbol" panose="05050102010706020507" pitchFamily="18" charset="2"/>
              </a:rPr>
              <a:t></a:t>
            </a:r>
            <a:r>
              <a:rPr lang="en-US" altLang="zh-CN" dirty="0">
                <a:ea typeface="华文中宋" panose="02010600040101010101" pitchFamily="2" charset="-122"/>
              </a:rPr>
              <a:t> C)</a:t>
            </a:r>
          </a:p>
        </p:txBody>
      </p:sp>
      <p:sp>
        <p:nvSpPr>
          <p:cNvPr id="62492" name="Text Box 28">
            <a:extLst>
              <a:ext uri="{FF2B5EF4-FFF2-40B4-BE49-F238E27FC236}">
                <a16:creationId xmlns:a16="http://schemas.microsoft.com/office/drawing/2014/main" id="{13B3D5E6-D15F-4ABA-9C83-6D79D62719E2}"/>
              </a:ext>
            </a:extLst>
          </p:cNvPr>
          <p:cNvSpPr txBox="1">
            <a:spLocks noChangeArrowheads="1"/>
          </p:cNvSpPr>
          <p:nvPr/>
        </p:nvSpPr>
        <p:spPr bwMode="auto">
          <a:xfrm>
            <a:off x="1143000" y="5211763"/>
            <a:ext cx="1066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T(n) = </a:t>
            </a:r>
          </a:p>
        </p:txBody>
      </p:sp>
      <p:sp>
        <p:nvSpPr>
          <p:cNvPr id="62493" name="Text Box 29">
            <a:extLst>
              <a:ext uri="{FF2B5EF4-FFF2-40B4-BE49-F238E27FC236}">
                <a16:creationId xmlns:a16="http://schemas.microsoft.com/office/drawing/2014/main" id="{62E1ECBE-A379-427A-8FF4-DCF542D11608}"/>
              </a:ext>
            </a:extLst>
          </p:cNvPr>
          <p:cNvSpPr txBox="1">
            <a:spLocks noChangeArrowheads="1"/>
          </p:cNvSpPr>
          <p:nvPr/>
        </p:nvSpPr>
        <p:spPr bwMode="auto">
          <a:xfrm>
            <a:off x="304800" y="5934075"/>
            <a:ext cx="777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       </a:t>
            </a:r>
            <a:r>
              <a:rPr lang="zh-CN" altLang="en-US" dirty="0">
                <a:ea typeface="华文中宋" panose="02010600040101010101" pitchFamily="2" charset="-122"/>
              </a:rPr>
              <a:t>解上述递推式，得：</a:t>
            </a:r>
            <a:r>
              <a:rPr lang="en-US" altLang="zh-CN" dirty="0">
                <a:ea typeface="华文中宋" panose="02010600040101010101" pitchFamily="2" charset="-122"/>
              </a:rPr>
              <a:t>T( n ) = O(n log n)</a:t>
            </a:r>
          </a:p>
        </p:txBody>
      </p:sp>
      <p:sp>
        <p:nvSpPr>
          <p:cNvPr id="62494" name="AutoShape 30">
            <a:extLst>
              <a:ext uri="{FF2B5EF4-FFF2-40B4-BE49-F238E27FC236}">
                <a16:creationId xmlns:a16="http://schemas.microsoft.com/office/drawing/2014/main" id="{2274851C-628F-4FCC-B751-6AD0FB91918F}"/>
              </a:ext>
            </a:extLst>
          </p:cNvPr>
          <p:cNvSpPr>
            <a:spLocks/>
          </p:cNvSpPr>
          <p:nvPr/>
        </p:nvSpPr>
        <p:spPr bwMode="auto">
          <a:xfrm>
            <a:off x="2133600" y="5019675"/>
            <a:ext cx="228600" cy="838200"/>
          </a:xfrm>
          <a:prstGeom prst="leftBrace">
            <a:avLst>
              <a:gd name="adj1" fmla="val 30556"/>
              <a:gd name="adj2" fmla="val 4469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2483"/>
                                        </p:tgtEl>
                                        <p:attrNameLst>
                                          <p:attrName>style.visibility</p:attrName>
                                        </p:attrNameLst>
                                      </p:cBhvr>
                                      <p:to>
                                        <p:strVal val="visible"/>
                                      </p:to>
                                    </p:set>
                                    <p:anim calcmode="lin" valueType="num">
                                      <p:cBhvr additive="base">
                                        <p:cTn id="19" dur="500" fill="hold"/>
                                        <p:tgtEl>
                                          <p:spTgt spid="62483"/>
                                        </p:tgtEl>
                                        <p:attrNameLst>
                                          <p:attrName>ppt_x</p:attrName>
                                        </p:attrNameLst>
                                      </p:cBhvr>
                                      <p:tavLst>
                                        <p:tav tm="0">
                                          <p:val>
                                            <p:strVal val="0-#ppt_w/2"/>
                                          </p:val>
                                        </p:tav>
                                        <p:tav tm="100000">
                                          <p:val>
                                            <p:strVal val="#ppt_x"/>
                                          </p:val>
                                        </p:tav>
                                      </p:tavLst>
                                    </p:anim>
                                    <p:anim calcmode="lin" valueType="num">
                                      <p:cBhvr additive="base">
                                        <p:cTn id="20" dur="500" fill="hold"/>
                                        <p:tgtEl>
                                          <p:spTgt spid="6248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2489">
                                            <p:txEl>
                                              <p:pRg st="0" end="0"/>
                                            </p:txEl>
                                          </p:spTgt>
                                        </p:tgtEl>
                                        <p:attrNameLst>
                                          <p:attrName>style.visibility</p:attrName>
                                        </p:attrNameLst>
                                      </p:cBhvr>
                                      <p:to>
                                        <p:strVal val="visible"/>
                                      </p:to>
                                    </p:set>
                                    <p:anim calcmode="lin" valueType="num">
                                      <p:cBhvr additive="base">
                                        <p:cTn id="25" dur="500" fill="hold"/>
                                        <p:tgtEl>
                                          <p:spTgt spid="62489">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24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2492"/>
                                        </p:tgtEl>
                                        <p:attrNameLst>
                                          <p:attrName>style.visibility</p:attrName>
                                        </p:attrNameLst>
                                      </p:cBhvr>
                                      <p:to>
                                        <p:strVal val="visible"/>
                                      </p:to>
                                    </p:set>
                                    <p:animEffect transition="in" filter="blinds(horizontal)">
                                      <p:cBhvr>
                                        <p:cTn id="31" dur="500"/>
                                        <p:tgtEl>
                                          <p:spTgt spid="6249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62494"/>
                                        </p:tgtEl>
                                        <p:attrNameLst>
                                          <p:attrName>style.visibility</p:attrName>
                                        </p:attrNameLst>
                                      </p:cBhvr>
                                      <p:to>
                                        <p:strVal val="visible"/>
                                      </p:to>
                                    </p:set>
                                    <p:anim calcmode="lin" valueType="num">
                                      <p:cBhvr additive="base">
                                        <p:cTn id="36" dur="500" fill="hold"/>
                                        <p:tgtEl>
                                          <p:spTgt spid="62494"/>
                                        </p:tgtEl>
                                        <p:attrNameLst>
                                          <p:attrName>ppt_x</p:attrName>
                                        </p:attrNameLst>
                                      </p:cBhvr>
                                      <p:tavLst>
                                        <p:tav tm="0">
                                          <p:val>
                                            <p:strVal val="0-#ppt_w/2"/>
                                          </p:val>
                                        </p:tav>
                                        <p:tav tm="100000">
                                          <p:val>
                                            <p:strVal val="#ppt_x"/>
                                          </p:val>
                                        </p:tav>
                                      </p:tavLst>
                                    </p:anim>
                                    <p:anim calcmode="lin" valueType="num">
                                      <p:cBhvr additive="base">
                                        <p:cTn id="37" dur="500" fill="hold"/>
                                        <p:tgtEl>
                                          <p:spTgt spid="62494"/>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2490"/>
                                        </p:tgtEl>
                                        <p:attrNameLst>
                                          <p:attrName>style.visibility</p:attrName>
                                        </p:attrNameLst>
                                      </p:cBhvr>
                                      <p:to>
                                        <p:strVal val="visible"/>
                                      </p:to>
                                    </p:set>
                                    <p:animEffect transition="in" filter="blinds(horizontal)">
                                      <p:cBhvr>
                                        <p:cTn id="42" dur="500"/>
                                        <p:tgtEl>
                                          <p:spTgt spid="624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2491"/>
                                        </p:tgtEl>
                                        <p:attrNameLst>
                                          <p:attrName>style.visibility</p:attrName>
                                        </p:attrNameLst>
                                      </p:cBhvr>
                                      <p:to>
                                        <p:strVal val="visible"/>
                                      </p:to>
                                    </p:set>
                                    <p:animEffect transition="in" filter="blinds(horizontal)">
                                      <p:cBhvr>
                                        <p:cTn id="47" dur="500"/>
                                        <p:tgtEl>
                                          <p:spTgt spid="6249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62493"/>
                                        </p:tgtEl>
                                        <p:attrNameLst>
                                          <p:attrName>style.visibility</p:attrName>
                                        </p:attrNameLst>
                                      </p:cBhvr>
                                      <p:to>
                                        <p:strVal val="visible"/>
                                      </p:to>
                                    </p:set>
                                    <p:animEffect transition="in" filter="blinds(horizontal)">
                                      <p:cBhvr>
                                        <p:cTn id="52" dur="500"/>
                                        <p:tgtEl>
                                          <p:spTgt spid="6249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62469"/>
                                        </p:tgtEl>
                                        <p:attrNameLst>
                                          <p:attrName>style.visibility</p:attrName>
                                        </p:attrNameLst>
                                      </p:cBhvr>
                                      <p:to>
                                        <p:strVal val="visible"/>
                                      </p:to>
                                    </p:set>
                                    <p:anim calcmode="lin" valueType="num">
                                      <p:cBhvr additive="base">
                                        <p:cTn id="57" dur="500" fill="hold"/>
                                        <p:tgtEl>
                                          <p:spTgt spid="62469"/>
                                        </p:tgtEl>
                                        <p:attrNameLst>
                                          <p:attrName>ppt_x</p:attrName>
                                        </p:attrNameLst>
                                      </p:cBhvr>
                                      <p:tavLst>
                                        <p:tav tm="0">
                                          <p:val>
                                            <p:strVal val="0-#ppt_w/2"/>
                                          </p:val>
                                        </p:tav>
                                        <p:tav tm="100000">
                                          <p:val>
                                            <p:strVal val="#ppt_x"/>
                                          </p:val>
                                        </p:tav>
                                      </p:tavLst>
                                    </p:anim>
                                    <p:anim calcmode="lin" valueType="num">
                                      <p:cBhvr additive="base">
                                        <p:cTn id="58" dur="500" fill="hold"/>
                                        <p:tgtEl>
                                          <p:spTgt spid="62469"/>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500"/>
                            </p:stCondLst>
                            <p:childTnLst>
                              <p:par>
                                <p:cTn id="60" presetID="2" presetClass="entr" presetSubtype="8" fill="hold" nodeType="afterEffect">
                                  <p:stCondLst>
                                    <p:cond delay="0"/>
                                  </p:stCondLst>
                                  <p:childTnLst>
                                    <p:set>
                                      <p:cBhvr>
                                        <p:cTn id="61" dur="1" fill="hold">
                                          <p:stCondLst>
                                            <p:cond delay="0"/>
                                          </p:stCondLst>
                                        </p:cTn>
                                        <p:tgtEl>
                                          <p:spTgt spid="62468"/>
                                        </p:tgtEl>
                                        <p:attrNameLst>
                                          <p:attrName>style.visibility</p:attrName>
                                        </p:attrNameLst>
                                      </p:cBhvr>
                                      <p:to>
                                        <p:strVal val="visible"/>
                                      </p:to>
                                    </p:set>
                                    <p:anim calcmode="lin" valueType="num">
                                      <p:cBhvr additive="base">
                                        <p:cTn id="62" dur="500" fill="hold"/>
                                        <p:tgtEl>
                                          <p:spTgt spid="62468"/>
                                        </p:tgtEl>
                                        <p:attrNameLst>
                                          <p:attrName>ppt_x</p:attrName>
                                        </p:attrNameLst>
                                      </p:cBhvr>
                                      <p:tavLst>
                                        <p:tav tm="0">
                                          <p:val>
                                            <p:strVal val="0-#ppt_w/2"/>
                                          </p:val>
                                        </p:tav>
                                        <p:tav tm="100000">
                                          <p:val>
                                            <p:strVal val="#ppt_x"/>
                                          </p:val>
                                        </p:tav>
                                      </p:tavLst>
                                    </p:anim>
                                    <p:anim calcmode="lin" valueType="num">
                                      <p:cBhvr additive="base">
                                        <p:cTn id="63" dur="500" fill="hold"/>
                                        <p:tgtEl>
                                          <p:spTgt spid="624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9" grpId="0" autoUpdateAnimBg="0"/>
      <p:bldP spid="62483" grpId="0" autoUpdateAnimBg="0"/>
      <p:bldP spid="62489" grpId="0" build="p" autoUpdateAnimBg="0"/>
      <p:bldP spid="62490" grpId="0" autoUpdateAnimBg="0"/>
      <p:bldP spid="62491" grpId="0" autoUpdateAnimBg="0"/>
      <p:bldP spid="62492" grpId="0" autoUpdateAnimBg="0"/>
      <p:bldP spid="62493" grpId="0" autoUpdateAnimBg="0"/>
      <p:bldP spid="62494"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B1EB56C-EFF2-454B-8B73-BF7E0DF98811}"/>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动态规划方法</a:t>
            </a:r>
          </a:p>
        </p:txBody>
      </p:sp>
      <p:sp>
        <p:nvSpPr>
          <p:cNvPr id="64515" name="Rectangle 3">
            <a:extLst>
              <a:ext uri="{FF2B5EF4-FFF2-40B4-BE49-F238E27FC236}">
                <a16:creationId xmlns:a16="http://schemas.microsoft.com/office/drawing/2014/main" id="{D2DC1752-8CEF-44BD-995D-50F336598C2C}"/>
              </a:ext>
            </a:extLst>
          </p:cNvPr>
          <p:cNvSpPr>
            <a:spLocks noGrp="1" noChangeArrowheads="1"/>
          </p:cNvSpPr>
          <p:nvPr>
            <p:ph type="body" idx="1"/>
          </p:nvPr>
        </p:nvSpPr>
        <p:spPr bwMode="auto">
          <a:xfrm>
            <a:off x="685800" y="15240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lang="zh-CN" altLang="en-US" sz="2800" dirty="0"/>
              <a:t>思想：对</a:t>
            </a:r>
            <a:r>
              <a:rPr lang="en-US" altLang="zh-CN" sz="2800" dirty="0"/>
              <a:t>a[1:j]</a:t>
            </a:r>
            <a:r>
              <a:rPr lang="zh-CN" altLang="en-US" sz="2800" dirty="0"/>
              <a:t>，记</a:t>
            </a:r>
            <a:r>
              <a:rPr lang="en-US" altLang="zh-CN" sz="2800" dirty="0"/>
              <a:t>b[j]</a:t>
            </a:r>
            <a:r>
              <a:rPr lang="zh-CN" altLang="en-US" sz="2800" dirty="0"/>
              <a:t>，</a:t>
            </a:r>
            <a:r>
              <a:rPr lang="en-US" altLang="zh-CN" sz="2800" dirty="0"/>
              <a:t>1 </a:t>
            </a:r>
            <a:r>
              <a:rPr lang="en-US" altLang="zh-CN" sz="2800" dirty="0">
                <a:sym typeface="Symbol" panose="05050102010706020507" pitchFamily="18" charset="2"/>
              </a:rPr>
              <a:t>j n</a:t>
            </a:r>
          </a:p>
        </p:txBody>
      </p:sp>
      <p:grpSp>
        <p:nvGrpSpPr>
          <p:cNvPr id="2" name="Group 9">
            <a:extLst>
              <a:ext uri="{FF2B5EF4-FFF2-40B4-BE49-F238E27FC236}">
                <a16:creationId xmlns:a16="http://schemas.microsoft.com/office/drawing/2014/main" id="{D684C56F-3B89-4722-B0D4-BF857958EA2D}"/>
              </a:ext>
            </a:extLst>
          </p:cNvPr>
          <p:cNvGrpSpPr>
            <a:grpSpLocks/>
          </p:cNvGrpSpPr>
          <p:nvPr/>
        </p:nvGrpSpPr>
        <p:grpSpPr bwMode="auto">
          <a:xfrm>
            <a:off x="2209800" y="1981200"/>
            <a:ext cx="3733800" cy="952500"/>
            <a:chOff x="384" y="2088"/>
            <a:chExt cx="2352" cy="600"/>
          </a:xfrm>
        </p:grpSpPr>
        <p:grpSp>
          <p:nvGrpSpPr>
            <p:cNvPr id="76814" name="Group 4">
              <a:extLst>
                <a:ext uri="{FF2B5EF4-FFF2-40B4-BE49-F238E27FC236}">
                  <a16:creationId xmlns:a16="http://schemas.microsoft.com/office/drawing/2014/main" id="{5377E7A4-1D2C-4754-9827-1C6B0C4F555B}"/>
                </a:ext>
              </a:extLst>
            </p:cNvPr>
            <p:cNvGrpSpPr>
              <a:grpSpLocks/>
            </p:cNvGrpSpPr>
            <p:nvPr/>
          </p:nvGrpSpPr>
          <p:grpSpPr bwMode="auto">
            <a:xfrm>
              <a:off x="2112" y="2088"/>
              <a:ext cx="480" cy="600"/>
              <a:chOff x="2560" y="1152"/>
              <a:chExt cx="480" cy="600"/>
            </a:xfrm>
          </p:grpSpPr>
          <p:sp>
            <p:nvSpPr>
              <p:cNvPr id="76816" name="Text Box 5">
                <a:extLst>
                  <a:ext uri="{FF2B5EF4-FFF2-40B4-BE49-F238E27FC236}">
                    <a16:creationId xmlns:a16="http://schemas.microsoft.com/office/drawing/2014/main" id="{C260B167-0C0A-45E4-9BEB-3E04C05E2115}"/>
                  </a:ext>
                </a:extLst>
              </p:cNvPr>
              <p:cNvSpPr txBox="1">
                <a:spLocks noChangeArrowheads="1"/>
              </p:cNvSpPr>
              <p:nvPr/>
            </p:nvSpPr>
            <p:spPr bwMode="auto">
              <a:xfrm>
                <a:off x="2560"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6817" name="Text Box 6">
                <a:extLst>
                  <a:ext uri="{FF2B5EF4-FFF2-40B4-BE49-F238E27FC236}">
                    <a16:creationId xmlns:a16="http://schemas.microsoft.com/office/drawing/2014/main" id="{B52233A8-5F22-4E63-AE61-AF7A92BE617E}"/>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6818" name="Text Box 7">
                <a:extLst>
                  <a:ext uri="{FF2B5EF4-FFF2-40B4-BE49-F238E27FC236}">
                    <a16:creationId xmlns:a16="http://schemas.microsoft.com/office/drawing/2014/main" id="{16256B9C-F33B-4AAA-8AC1-03B3B9B0EA66}"/>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sp>
          <p:nvSpPr>
            <p:cNvPr id="76815" name="Text Box 8">
              <a:extLst>
                <a:ext uri="{FF2B5EF4-FFF2-40B4-BE49-F238E27FC236}">
                  <a16:creationId xmlns:a16="http://schemas.microsoft.com/office/drawing/2014/main" id="{1C3473EC-C63D-4529-98B3-C7D4D54C03AD}"/>
                </a:ext>
              </a:extLst>
            </p:cNvPr>
            <p:cNvSpPr txBox="1">
              <a:spLocks noChangeArrowheads="1"/>
            </p:cNvSpPr>
            <p:nvPr/>
          </p:nvSpPr>
          <p:spPr bwMode="auto">
            <a:xfrm>
              <a:off x="384" y="2160"/>
              <a:ext cx="235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pPr>
              <a:r>
                <a:rPr lang="en-US" altLang="zh-CN" sz="2800" b="0" dirty="0">
                  <a:ea typeface="华文中宋" panose="02010600040101010101" pitchFamily="2" charset="-122"/>
                </a:rPr>
                <a:t>b[j]=max </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a:t>
              </a:r>
              <a:r>
                <a:rPr lang="en-US" altLang="zh-CN" sz="2800" b="0" baseline="-25000" dirty="0" err="1">
                  <a:ea typeface="华文中宋" panose="02010600040101010101" pitchFamily="2" charset="-122"/>
                  <a:sym typeface="Symbol" panose="05050102010706020507" pitchFamily="18" charset="2"/>
                </a:rPr>
                <a:t>i</a:t>
              </a:r>
              <a:r>
                <a:rPr lang="en-US" altLang="zh-CN" sz="2800" b="0" baseline="-25000" dirty="0">
                  <a:ea typeface="华文中宋" panose="02010600040101010101" pitchFamily="2" charset="-122"/>
                  <a:sym typeface="Symbol" panose="05050102010706020507" pitchFamily="18" charset="2"/>
                </a:rPr>
                <a:t> j</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        }</a:t>
              </a:r>
            </a:p>
          </p:txBody>
        </p:sp>
      </p:grpSp>
      <p:grpSp>
        <p:nvGrpSpPr>
          <p:cNvPr id="4" name="Group 17">
            <a:extLst>
              <a:ext uri="{FF2B5EF4-FFF2-40B4-BE49-F238E27FC236}">
                <a16:creationId xmlns:a16="http://schemas.microsoft.com/office/drawing/2014/main" id="{C4C9F035-0E73-40C3-B526-36FE99A41F20}"/>
              </a:ext>
            </a:extLst>
          </p:cNvPr>
          <p:cNvGrpSpPr>
            <a:grpSpLocks/>
          </p:cNvGrpSpPr>
          <p:nvPr/>
        </p:nvGrpSpPr>
        <p:grpSpPr bwMode="auto">
          <a:xfrm>
            <a:off x="642938" y="3009900"/>
            <a:ext cx="8272462" cy="952500"/>
            <a:chOff x="117" y="1704"/>
            <a:chExt cx="5211" cy="600"/>
          </a:xfrm>
        </p:grpSpPr>
        <p:sp>
          <p:nvSpPr>
            <p:cNvPr id="76809" name="Text Box 10">
              <a:extLst>
                <a:ext uri="{FF2B5EF4-FFF2-40B4-BE49-F238E27FC236}">
                  <a16:creationId xmlns:a16="http://schemas.microsoft.com/office/drawing/2014/main" id="{5A137DCE-9A55-498F-ADB8-3077FE87F1C2}"/>
                </a:ext>
              </a:extLst>
            </p:cNvPr>
            <p:cNvSpPr txBox="1">
              <a:spLocks noChangeArrowheads="1"/>
            </p:cNvSpPr>
            <p:nvPr/>
          </p:nvSpPr>
          <p:spPr bwMode="auto">
            <a:xfrm>
              <a:off x="117" y="1824"/>
              <a:ext cx="521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0" dirty="0">
                  <a:ea typeface="华文中宋" panose="02010600040101010101" pitchFamily="2" charset="-122"/>
                </a:rPr>
                <a:t>a[1:n]</a:t>
              </a:r>
              <a:r>
                <a:rPr lang="zh-CN" altLang="en-US" sz="2800" b="0" dirty="0">
                  <a:ea typeface="华文中宋" panose="02010600040101010101" pitchFamily="2" charset="-122"/>
                </a:rPr>
                <a:t>的最大</a:t>
              </a:r>
              <a:r>
                <a:rPr lang="zh-CN" altLang="en-US" sz="2800" dirty="0">
                  <a:ea typeface="华文中宋" panose="02010600040101010101" pitchFamily="2" charset="-122"/>
                </a:rPr>
                <a:t>子段</a:t>
              </a:r>
              <a:r>
                <a:rPr lang="zh-CN" altLang="en-US" sz="2800" b="0" dirty="0">
                  <a:ea typeface="华文中宋" panose="02010600040101010101" pitchFamily="2" charset="-122"/>
                </a:rPr>
                <a:t>和</a:t>
              </a:r>
              <a:r>
                <a:rPr lang="en-US" altLang="zh-CN" sz="2800" b="0" dirty="0">
                  <a:ea typeface="华文中宋" panose="02010600040101010101" pitchFamily="2" charset="-122"/>
                </a:rPr>
                <a:t>S= max </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j n</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max </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a:t>
              </a:r>
              <a:r>
                <a:rPr lang="en-US" altLang="zh-CN" sz="2800" b="0" baseline="-25000" dirty="0" err="1">
                  <a:ea typeface="华文中宋" panose="02010600040101010101" pitchFamily="2" charset="-122"/>
                  <a:sym typeface="Symbol" panose="05050102010706020507" pitchFamily="18" charset="2"/>
                </a:rPr>
                <a:t>i</a:t>
              </a:r>
              <a:r>
                <a:rPr lang="en-US" altLang="zh-CN" sz="2800" b="0" baseline="-25000" dirty="0">
                  <a:ea typeface="华文中宋" panose="02010600040101010101" pitchFamily="2" charset="-122"/>
                  <a:sym typeface="Symbol" panose="05050102010706020507" pitchFamily="18" charset="2"/>
                </a:rPr>
                <a:t> j</a:t>
              </a:r>
              <a:r>
                <a:rPr lang="en-US" altLang="zh-CN" sz="2800" b="0" baseline="-25000" dirty="0">
                  <a:ea typeface="华文中宋" panose="02010600040101010101" pitchFamily="2" charset="-122"/>
                </a:rPr>
                <a:t>}</a:t>
              </a:r>
            </a:p>
          </p:txBody>
        </p:sp>
        <p:grpSp>
          <p:nvGrpSpPr>
            <p:cNvPr id="76810" name="Group 12">
              <a:extLst>
                <a:ext uri="{FF2B5EF4-FFF2-40B4-BE49-F238E27FC236}">
                  <a16:creationId xmlns:a16="http://schemas.microsoft.com/office/drawing/2014/main" id="{180F27D4-2B6F-41A4-955D-613E24D35B63}"/>
                </a:ext>
              </a:extLst>
            </p:cNvPr>
            <p:cNvGrpSpPr>
              <a:grpSpLocks/>
            </p:cNvGrpSpPr>
            <p:nvPr/>
          </p:nvGrpSpPr>
          <p:grpSpPr bwMode="auto">
            <a:xfrm>
              <a:off x="4352" y="1704"/>
              <a:ext cx="520" cy="600"/>
              <a:chOff x="2592" y="1152"/>
              <a:chExt cx="520" cy="600"/>
            </a:xfrm>
          </p:grpSpPr>
          <p:sp>
            <p:nvSpPr>
              <p:cNvPr id="76811" name="Text Box 13">
                <a:extLst>
                  <a:ext uri="{FF2B5EF4-FFF2-40B4-BE49-F238E27FC236}">
                    <a16:creationId xmlns:a16="http://schemas.microsoft.com/office/drawing/2014/main" id="{5B563C1F-F9AB-46AA-AA36-595A0FDA1415}"/>
                  </a:ext>
                </a:extLst>
              </p:cNvPr>
              <p:cNvSpPr txBox="1">
                <a:spLocks noChangeArrowheads="1"/>
              </p:cNvSpPr>
              <p:nvPr/>
            </p:nvSpPr>
            <p:spPr bwMode="auto">
              <a:xfrm>
                <a:off x="2632" y="1320"/>
                <a:ext cx="4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k</a:t>
                </a:r>
                <a:endParaRPr lang="en-US" altLang="zh-CN" sz="2800" baseline="-25000" dirty="0">
                  <a:ea typeface="华文中宋" panose="02010600040101010101" pitchFamily="2" charset="-122"/>
                  <a:sym typeface="Symbol" panose="05050102010706020507" pitchFamily="18" charset="2"/>
                </a:endParaRPr>
              </a:p>
            </p:txBody>
          </p:sp>
          <p:sp>
            <p:nvSpPr>
              <p:cNvPr id="76812" name="Text Box 14">
                <a:extLst>
                  <a:ext uri="{FF2B5EF4-FFF2-40B4-BE49-F238E27FC236}">
                    <a16:creationId xmlns:a16="http://schemas.microsoft.com/office/drawing/2014/main" id="{B66745AC-0088-4062-A773-889F794BCBA6}"/>
                  </a:ext>
                </a:extLst>
              </p:cNvPr>
              <p:cNvSpPr txBox="1">
                <a:spLocks noChangeArrowheads="1"/>
              </p:cNvSpPr>
              <p:nvPr/>
            </p:nvSpPr>
            <p:spPr bwMode="auto">
              <a:xfrm>
                <a:off x="2592" y="1560"/>
                <a:ext cx="3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k=</a:t>
                </a:r>
                <a:r>
                  <a:rPr lang="en-US" altLang="zh-CN" sz="2000" dirty="0" err="1">
                    <a:ea typeface="华文中宋" panose="02010600040101010101" pitchFamily="2" charset="-122"/>
                  </a:rPr>
                  <a:t>i</a:t>
                </a:r>
                <a:endParaRPr lang="en-US" altLang="zh-CN" sz="2000" dirty="0">
                  <a:ea typeface="华文中宋" panose="02010600040101010101" pitchFamily="2" charset="-122"/>
                </a:endParaRPr>
              </a:p>
            </p:txBody>
          </p:sp>
          <p:sp>
            <p:nvSpPr>
              <p:cNvPr id="76813" name="Text Box 15">
                <a:extLst>
                  <a:ext uri="{FF2B5EF4-FFF2-40B4-BE49-F238E27FC236}">
                    <a16:creationId xmlns:a16="http://schemas.microsoft.com/office/drawing/2014/main" id="{F5E322A4-026F-4819-9765-D09387304C07}"/>
                  </a:ext>
                </a:extLst>
              </p:cNvPr>
              <p:cNvSpPr txBox="1">
                <a:spLocks noChangeArrowheads="1"/>
              </p:cNvSpPr>
              <p:nvPr/>
            </p:nvSpPr>
            <p:spPr bwMode="auto">
              <a:xfrm>
                <a:off x="2640" y="1152"/>
                <a:ext cx="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j</a:t>
                </a:r>
              </a:p>
            </p:txBody>
          </p:sp>
        </p:grpSp>
      </p:grpSp>
      <p:sp>
        <p:nvSpPr>
          <p:cNvPr id="64528" name="Text Box 16">
            <a:extLst>
              <a:ext uri="{FF2B5EF4-FFF2-40B4-BE49-F238E27FC236}">
                <a16:creationId xmlns:a16="http://schemas.microsoft.com/office/drawing/2014/main" id="{3C36DD18-12E0-4CC7-B1FF-3906535ACA96}"/>
              </a:ext>
            </a:extLst>
          </p:cNvPr>
          <p:cNvSpPr txBox="1">
            <a:spLocks noChangeArrowheads="1"/>
          </p:cNvSpPr>
          <p:nvPr/>
        </p:nvSpPr>
        <p:spPr bwMode="auto">
          <a:xfrm>
            <a:off x="2590800" y="4038600"/>
            <a:ext cx="37338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pPr>
            <a:r>
              <a:rPr lang="en-US" altLang="zh-CN" sz="2800" b="0" dirty="0">
                <a:ea typeface="华文中宋" panose="02010600040101010101" pitchFamily="2" charset="-122"/>
              </a:rPr>
              <a:t>=max </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j n</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{b[j]}</a:t>
            </a:r>
          </a:p>
        </p:txBody>
      </p:sp>
      <p:sp>
        <p:nvSpPr>
          <p:cNvPr id="64535" name="Text Box 23">
            <a:extLst>
              <a:ext uri="{FF2B5EF4-FFF2-40B4-BE49-F238E27FC236}">
                <a16:creationId xmlns:a16="http://schemas.microsoft.com/office/drawing/2014/main" id="{14D61877-9062-4B45-A443-848313B55018}"/>
              </a:ext>
            </a:extLst>
          </p:cNvPr>
          <p:cNvSpPr txBox="1">
            <a:spLocks noChangeArrowheads="1"/>
          </p:cNvSpPr>
          <p:nvPr/>
        </p:nvSpPr>
        <p:spPr bwMode="auto">
          <a:xfrm>
            <a:off x="1295400" y="4876800"/>
            <a:ext cx="47244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pPr>
            <a:r>
              <a:rPr lang="zh-CN" altLang="en-US" sz="2800" b="0" dirty="0">
                <a:ea typeface="华文中宋" panose="02010600040101010101" pitchFamily="2" charset="-122"/>
              </a:rPr>
              <a:t>而</a:t>
            </a:r>
            <a:r>
              <a:rPr lang="en-US" altLang="zh-CN" sz="2800" b="0" dirty="0">
                <a:ea typeface="华文中宋" panose="02010600040101010101" pitchFamily="2" charset="-122"/>
              </a:rPr>
              <a:t>b[j]=max{b[j-1]+a[j]</a:t>
            </a:r>
            <a:r>
              <a:rPr lang="zh-CN" altLang="en-US" sz="2800" b="0" dirty="0">
                <a:ea typeface="华文中宋" panose="02010600040101010101" pitchFamily="2" charset="-122"/>
              </a:rPr>
              <a:t>，</a:t>
            </a:r>
            <a:r>
              <a:rPr lang="en-US" altLang="zh-CN" sz="2800" b="0" dirty="0">
                <a:ea typeface="华文中宋" panose="02010600040101010101" pitchFamily="2" charset="-122"/>
              </a:rPr>
              <a:t>a[j]} </a:t>
            </a:r>
          </a:p>
        </p:txBody>
      </p:sp>
      <p:sp>
        <p:nvSpPr>
          <p:cNvPr id="64536" name="AutoShape 24">
            <a:extLst>
              <a:ext uri="{FF2B5EF4-FFF2-40B4-BE49-F238E27FC236}">
                <a16:creationId xmlns:a16="http://schemas.microsoft.com/office/drawing/2014/main" id="{D78BA688-13FC-43A1-B19B-8392384C4F28}"/>
              </a:ext>
            </a:extLst>
          </p:cNvPr>
          <p:cNvSpPr>
            <a:spLocks noChangeArrowheads="1"/>
          </p:cNvSpPr>
          <p:nvPr/>
        </p:nvSpPr>
        <p:spPr bwMode="auto">
          <a:xfrm>
            <a:off x="3505200" y="6019800"/>
            <a:ext cx="2209800" cy="533400"/>
          </a:xfrm>
          <a:prstGeom prst="wedgeRoundRectCallout">
            <a:avLst>
              <a:gd name="adj1" fmla="val -45259"/>
              <a:gd name="adj2" fmla="val -139287"/>
              <a:gd name="adj3" fmla="val 16667"/>
            </a:avLst>
          </a:prstGeom>
          <a:solidFill>
            <a:srgbClr val="FFFF00"/>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0" dirty="0">
                <a:ea typeface="华文中宋" panose="02010600040101010101" pitchFamily="2" charset="-122"/>
              </a:rPr>
              <a:t>b[j-1]&gt;0</a:t>
            </a:r>
            <a:r>
              <a:rPr lang="zh-CN" altLang="en-US" sz="2800" b="0" dirty="0">
                <a:ea typeface="华文中宋" panose="02010600040101010101" pitchFamily="2" charset="-122"/>
              </a:rPr>
              <a:t>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4528"/>
                                        </p:tgtEl>
                                        <p:attrNameLst>
                                          <p:attrName>style.visibility</p:attrName>
                                        </p:attrNameLst>
                                      </p:cBhvr>
                                      <p:to>
                                        <p:strVal val="visible"/>
                                      </p:to>
                                    </p:set>
                                    <p:anim calcmode="lin" valueType="num">
                                      <p:cBhvr additive="base">
                                        <p:cTn id="25" dur="500" fill="hold"/>
                                        <p:tgtEl>
                                          <p:spTgt spid="64528"/>
                                        </p:tgtEl>
                                        <p:attrNameLst>
                                          <p:attrName>ppt_x</p:attrName>
                                        </p:attrNameLst>
                                      </p:cBhvr>
                                      <p:tavLst>
                                        <p:tav tm="0">
                                          <p:val>
                                            <p:strVal val="0-#ppt_w/2"/>
                                          </p:val>
                                        </p:tav>
                                        <p:tav tm="100000">
                                          <p:val>
                                            <p:strVal val="#ppt_x"/>
                                          </p:val>
                                        </p:tav>
                                      </p:tavLst>
                                    </p:anim>
                                    <p:anim calcmode="lin" valueType="num">
                                      <p:cBhvr additive="base">
                                        <p:cTn id="26" dur="500" fill="hold"/>
                                        <p:tgtEl>
                                          <p:spTgt spid="6452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4535"/>
                                        </p:tgtEl>
                                        <p:attrNameLst>
                                          <p:attrName>style.visibility</p:attrName>
                                        </p:attrNameLst>
                                      </p:cBhvr>
                                      <p:to>
                                        <p:strVal val="visible"/>
                                      </p:to>
                                    </p:set>
                                    <p:anim calcmode="lin" valueType="num">
                                      <p:cBhvr additive="base">
                                        <p:cTn id="31" dur="500" fill="hold"/>
                                        <p:tgtEl>
                                          <p:spTgt spid="64535"/>
                                        </p:tgtEl>
                                        <p:attrNameLst>
                                          <p:attrName>ppt_x</p:attrName>
                                        </p:attrNameLst>
                                      </p:cBhvr>
                                      <p:tavLst>
                                        <p:tav tm="0">
                                          <p:val>
                                            <p:strVal val="0-#ppt_w/2"/>
                                          </p:val>
                                        </p:tav>
                                        <p:tav tm="100000">
                                          <p:val>
                                            <p:strVal val="#ppt_x"/>
                                          </p:val>
                                        </p:tav>
                                      </p:tavLst>
                                    </p:anim>
                                    <p:anim calcmode="lin" valueType="num">
                                      <p:cBhvr additive="base">
                                        <p:cTn id="32" dur="500" fill="hold"/>
                                        <p:tgtEl>
                                          <p:spTgt spid="6453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4536"/>
                                        </p:tgtEl>
                                        <p:attrNameLst>
                                          <p:attrName>style.visibility</p:attrName>
                                        </p:attrNameLst>
                                      </p:cBhvr>
                                      <p:to>
                                        <p:strVal val="visible"/>
                                      </p:to>
                                    </p:set>
                                    <p:anim calcmode="lin" valueType="num">
                                      <p:cBhvr additive="base">
                                        <p:cTn id="37" dur="500" fill="hold"/>
                                        <p:tgtEl>
                                          <p:spTgt spid="64536"/>
                                        </p:tgtEl>
                                        <p:attrNameLst>
                                          <p:attrName>ppt_x</p:attrName>
                                        </p:attrNameLst>
                                      </p:cBhvr>
                                      <p:tavLst>
                                        <p:tav tm="0">
                                          <p:val>
                                            <p:strVal val="0-#ppt_w/2"/>
                                          </p:val>
                                        </p:tav>
                                        <p:tav tm="100000">
                                          <p:val>
                                            <p:strVal val="#ppt_x"/>
                                          </p:val>
                                        </p:tav>
                                      </p:tavLst>
                                    </p:anim>
                                    <p:anim calcmode="lin" valueType="num">
                                      <p:cBhvr additive="base">
                                        <p:cTn id="38" dur="500" fill="hold"/>
                                        <p:tgtEl>
                                          <p:spTgt spid="645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build="p" autoUpdateAnimBg="0"/>
      <p:bldP spid="64528" grpId="0" autoUpdateAnimBg="0"/>
      <p:bldP spid="64535" grpId="0" autoUpdateAnimBg="0"/>
      <p:bldP spid="64536" grpId="0" animBg="1"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FD9A7F9-5547-43E6-8E0E-C23B8981223B}"/>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动态规划</a:t>
            </a:r>
            <a:r>
              <a:rPr lang="en-US" altLang="zh-CN" sz="4000" b="1" dirty="0"/>
              <a:t>-</a:t>
            </a:r>
            <a:r>
              <a:rPr lang="zh-CN" altLang="en-US" sz="4000" b="1" dirty="0"/>
              <a:t>程序</a:t>
            </a:r>
          </a:p>
        </p:txBody>
      </p:sp>
      <p:sp>
        <p:nvSpPr>
          <p:cNvPr id="61443" name="Rectangle 3">
            <a:extLst>
              <a:ext uri="{FF2B5EF4-FFF2-40B4-BE49-F238E27FC236}">
                <a16:creationId xmlns:a16="http://schemas.microsoft.com/office/drawing/2014/main" id="{A2F9E4FD-5C30-4726-BAA5-56BAE82858ED}"/>
              </a:ext>
            </a:extLst>
          </p:cNvPr>
          <p:cNvSpPr>
            <a:spLocks noGrp="1" noChangeArrowheads="1"/>
          </p:cNvSpPr>
          <p:nvPr>
            <p:ph type="body" idx="1"/>
          </p:nvPr>
        </p:nvSpPr>
        <p:spPr bwMode="auto">
          <a:xfrm>
            <a:off x="714375" y="1357313"/>
            <a:ext cx="7239000" cy="464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2800" b="1" dirty="0">
                <a:solidFill>
                  <a:srgbClr val="0000FF"/>
                </a:solidFill>
                <a:latin typeface="Input"/>
              </a:rPr>
              <a:t>int </a:t>
            </a:r>
            <a:r>
              <a:rPr lang="en-US" altLang="zh-CN" sz="2800" b="1" dirty="0" err="1">
                <a:solidFill>
                  <a:srgbClr val="0000FF"/>
                </a:solidFill>
                <a:latin typeface="Input"/>
              </a:rPr>
              <a:t>MaxSum</a:t>
            </a:r>
            <a:r>
              <a:rPr lang="en-US" altLang="zh-CN" sz="2800" b="1" dirty="0">
                <a:solidFill>
                  <a:srgbClr val="0000FF"/>
                </a:solidFill>
                <a:latin typeface="Input"/>
              </a:rPr>
              <a:t>(int n, int *a)</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int   s = 0, b = 0;</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for (int </a:t>
            </a:r>
            <a:r>
              <a:rPr lang="en-US" altLang="zh-CN" sz="2800" b="1" dirty="0" err="1">
                <a:solidFill>
                  <a:srgbClr val="0000FF"/>
                </a:solidFill>
                <a:latin typeface="Input"/>
              </a:rPr>
              <a:t>i</a:t>
            </a:r>
            <a:r>
              <a:rPr lang="en-US" altLang="zh-CN" sz="2800" b="1" dirty="0">
                <a:solidFill>
                  <a:srgbClr val="0000FF"/>
                </a:solidFill>
                <a:latin typeface="Input"/>
              </a:rPr>
              <a:t> = 1;i &lt;= </a:t>
            </a:r>
            <a:r>
              <a:rPr lang="en-US" altLang="zh-CN" sz="2800" b="1" dirty="0" err="1">
                <a:solidFill>
                  <a:srgbClr val="0000FF"/>
                </a:solidFill>
                <a:latin typeface="Input"/>
              </a:rPr>
              <a:t>n;i</a:t>
            </a:r>
            <a:r>
              <a:rPr lang="en-US" altLang="zh-CN" sz="2800" b="1" dirty="0">
                <a:solidFill>
                  <a:srgbClr val="0000FF"/>
                </a:solidFill>
                <a:latin typeface="Input"/>
              </a:rPr>
              <a:t> ++ ) {</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if (b &gt; 0) b += a[</a:t>
            </a:r>
            <a:r>
              <a:rPr lang="en-US" altLang="zh-CN" sz="2800" b="1" dirty="0" err="1">
                <a:solidFill>
                  <a:srgbClr val="0000FF"/>
                </a:solidFill>
                <a:latin typeface="Input"/>
              </a:rPr>
              <a:t>i</a:t>
            </a:r>
            <a:r>
              <a:rPr lang="en-US" altLang="zh-CN" sz="2800" b="1" dirty="0">
                <a:solidFill>
                  <a:srgbClr val="0000FF"/>
                </a:solidFill>
                <a:latin typeface="Input"/>
              </a:rPr>
              <a:t>];</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else b = a[</a:t>
            </a:r>
            <a:r>
              <a:rPr lang="en-US" altLang="zh-CN" sz="2800" b="1" dirty="0" err="1">
                <a:solidFill>
                  <a:srgbClr val="0000FF"/>
                </a:solidFill>
                <a:latin typeface="Input"/>
              </a:rPr>
              <a:t>i</a:t>
            </a:r>
            <a:r>
              <a:rPr lang="en-US" altLang="zh-CN" sz="2800" b="1" dirty="0">
                <a:solidFill>
                  <a:srgbClr val="0000FF"/>
                </a:solidFill>
                <a:latin typeface="Input"/>
              </a:rPr>
              <a:t>];</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if (b &gt; sum) sum = b;</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          return sum;</a:t>
            </a:r>
            <a:endParaRPr lang="en-US" altLang="zh-CN" sz="2800" b="1" dirty="0">
              <a:latin typeface="Input"/>
            </a:endParaRPr>
          </a:p>
          <a:p>
            <a:pPr algn="just" eaLnBrk="1" hangingPunct="1">
              <a:lnSpc>
                <a:spcPct val="90000"/>
              </a:lnSpc>
              <a:buFontTx/>
              <a:buNone/>
            </a:pPr>
            <a:r>
              <a:rPr lang="en-US" altLang="zh-CN" sz="2800" b="1" dirty="0">
                <a:solidFill>
                  <a:srgbClr val="0000FF"/>
                </a:solidFill>
                <a:latin typeface="Input"/>
              </a:rPr>
              <a:t>}</a:t>
            </a:r>
            <a:endParaRPr lang="en-US" altLang="zh-CN" sz="2800" b="1" dirty="0">
              <a:latin typeface="Input"/>
            </a:endParaRPr>
          </a:p>
        </p:txBody>
      </p:sp>
      <p:pic>
        <p:nvPicPr>
          <p:cNvPr id="61444" name="Picture 4" descr="BD15132_">
            <a:hlinkClick r:id="rId2" action="ppaction://hlinksldjump"/>
            <a:extLst>
              <a:ext uri="{FF2B5EF4-FFF2-40B4-BE49-F238E27FC236}">
                <a16:creationId xmlns:a16="http://schemas.microsoft.com/office/drawing/2014/main" id="{326D9CAA-8A5F-48A8-BBE1-B468B3E871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6096000"/>
            <a:ext cx="171450" cy="17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Text Box 5">
            <a:extLst>
              <a:ext uri="{FF2B5EF4-FFF2-40B4-BE49-F238E27FC236}">
                <a16:creationId xmlns:a16="http://schemas.microsoft.com/office/drawing/2014/main" id="{DFA9F8F0-394F-4E6B-944B-6B3445A591F7}"/>
              </a:ext>
            </a:extLst>
          </p:cNvPr>
          <p:cNvSpPr txBox="1">
            <a:spLocks noChangeArrowheads="1"/>
          </p:cNvSpPr>
          <p:nvPr/>
        </p:nvSpPr>
        <p:spPr bwMode="auto">
          <a:xfrm>
            <a:off x="6629400" y="59436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dirty="0">
                <a:ea typeface="华文中宋" panose="02010600040101010101" pitchFamily="2" charset="-122"/>
              </a:rPr>
              <a:t>返回</a:t>
            </a:r>
          </a:p>
        </p:txBody>
      </p:sp>
      <p:sp>
        <p:nvSpPr>
          <p:cNvPr id="61446" name="Rectangle 6">
            <a:extLst>
              <a:ext uri="{FF2B5EF4-FFF2-40B4-BE49-F238E27FC236}">
                <a16:creationId xmlns:a16="http://schemas.microsoft.com/office/drawing/2014/main" id="{AA16B96C-2F78-4635-9FE1-95E571FE0588}"/>
              </a:ext>
            </a:extLst>
          </p:cNvPr>
          <p:cNvSpPr>
            <a:spLocks noChangeArrowheads="1"/>
          </p:cNvSpPr>
          <p:nvPr/>
        </p:nvSpPr>
        <p:spPr bwMode="auto">
          <a:xfrm>
            <a:off x="5791200" y="5181600"/>
            <a:ext cx="2819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dirty="0">
                <a:solidFill>
                  <a:srgbClr val="FF0000"/>
                </a:solidFill>
                <a:ea typeface="华文中宋" panose="02010600040101010101" pitchFamily="2" charset="-122"/>
              </a:rPr>
              <a:t>复杂性</a:t>
            </a:r>
            <a:r>
              <a:rPr lang="en-US" altLang="zh-CN" sz="3200" dirty="0">
                <a:solidFill>
                  <a:srgbClr val="FF0000"/>
                </a:solidFill>
                <a:ea typeface="华文中宋" panose="02010600040101010101" pitchFamily="2" charset="-122"/>
              </a:rPr>
              <a:t>O(n)</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149BF041-00F3-8122-55DE-021385A26114}"/>
                  </a:ext>
                </a:extLst>
              </p14:cNvPr>
              <p14:cNvContentPartPr/>
              <p14:nvPr/>
            </p14:nvContentPartPr>
            <p14:xfrm>
              <a:off x="1826640" y="5420520"/>
              <a:ext cx="360" cy="360"/>
            </p14:xfrm>
          </p:contentPart>
        </mc:Choice>
        <mc:Fallback xmlns="">
          <p:pic>
            <p:nvPicPr>
              <p:cNvPr id="2" name="墨迹 1">
                <a:extLst>
                  <a:ext uri="{FF2B5EF4-FFF2-40B4-BE49-F238E27FC236}">
                    <a16:creationId xmlns:a16="http://schemas.microsoft.com/office/drawing/2014/main" id="{149BF041-00F3-8122-55DE-021385A26114}"/>
                  </a:ext>
                </a:extLst>
              </p:cNvPr>
              <p:cNvPicPr/>
              <p:nvPr/>
            </p:nvPicPr>
            <p:blipFill>
              <a:blip r:embed="rId5"/>
              <a:stretch>
                <a:fillRect/>
              </a:stretch>
            </p:blipFill>
            <p:spPr>
              <a:xfrm>
                <a:off x="1817280" y="5411160"/>
                <a:ext cx="19080" cy="19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 calcmode="lin" valueType="num">
                                      <p:cBhvr additive="base">
                                        <p:cTn id="7" dur="500" fill="hold"/>
                                        <p:tgtEl>
                                          <p:spTgt spid="614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14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1443">
                                            <p:txEl>
                                              <p:pRg st="1" end="1"/>
                                            </p:txEl>
                                          </p:spTgt>
                                        </p:tgtEl>
                                        <p:attrNameLst>
                                          <p:attrName>style.visibility</p:attrName>
                                        </p:attrNameLst>
                                      </p:cBhvr>
                                      <p:to>
                                        <p:strVal val="visible"/>
                                      </p:to>
                                    </p:set>
                                    <p:anim calcmode="lin" valueType="num">
                                      <p:cBhvr additive="base">
                                        <p:cTn id="13" dur="500" fill="hold"/>
                                        <p:tgtEl>
                                          <p:spTgt spid="614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144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1443">
                                            <p:txEl>
                                              <p:pRg st="2" end="2"/>
                                            </p:txEl>
                                          </p:spTgt>
                                        </p:tgtEl>
                                        <p:attrNameLst>
                                          <p:attrName>style.visibility</p:attrName>
                                        </p:attrNameLst>
                                      </p:cBhvr>
                                      <p:to>
                                        <p:strVal val="visible"/>
                                      </p:to>
                                    </p:set>
                                    <p:anim calcmode="lin" valueType="num">
                                      <p:cBhvr additive="base">
                                        <p:cTn id="19" dur="500" fill="hold"/>
                                        <p:tgtEl>
                                          <p:spTgt spid="614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14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1443">
                                            <p:txEl>
                                              <p:pRg st="3" end="3"/>
                                            </p:txEl>
                                          </p:spTgt>
                                        </p:tgtEl>
                                        <p:attrNameLst>
                                          <p:attrName>style.visibility</p:attrName>
                                        </p:attrNameLst>
                                      </p:cBhvr>
                                      <p:to>
                                        <p:strVal val="visible"/>
                                      </p:to>
                                    </p:set>
                                    <p:anim calcmode="lin" valueType="num">
                                      <p:cBhvr additive="base">
                                        <p:cTn id="25" dur="500" fill="hold"/>
                                        <p:tgtEl>
                                          <p:spTgt spid="614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14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1443">
                                            <p:txEl>
                                              <p:pRg st="4" end="4"/>
                                            </p:txEl>
                                          </p:spTgt>
                                        </p:tgtEl>
                                        <p:attrNameLst>
                                          <p:attrName>style.visibility</p:attrName>
                                        </p:attrNameLst>
                                      </p:cBhvr>
                                      <p:to>
                                        <p:strVal val="visible"/>
                                      </p:to>
                                    </p:set>
                                    <p:anim calcmode="lin" valueType="num">
                                      <p:cBhvr additive="base">
                                        <p:cTn id="31" dur="500" fill="hold"/>
                                        <p:tgtEl>
                                          <p:spTgt spid="614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14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1443">
                                            <p:txEl>
                                              <p:pRg st="5" end="5"/>
                                            </p:txEl>
                                          </p:spTgt>
                                        </p:tgtEl>
                                        <p:attrNameLst>
                                          <p:attrName>style.visibility</p:attrName>
                                        </p:attrNameLst>
                                      </p:cBhvr>
                                      <p:to>
                                        <p:strVal val="visible"/>
                                      </p:to>
                                    </p:set>
                                    <p:anim calcmode="lin" valueType="num">
                                      <p:cBhvr additive="base">
                                        <p:cTn id="37" dur="500" fill="hold"/>
                                        <p:tgtEl>
                                          <p:spTgt spid="614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14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1443">
                                            <p:txEl>
                                              <p:pRg st="6" end="6"/>
                                            </p:txEl>
                                          </p:spTgt>
                                        </p:tgtEl>
                                        <p:attrNameLst>
                                          <p:attrName>style.visibility</p:attrName>
                                        </p:attrNameLst>
                                      </p:cBhvr>
                                      <p:to>
                                        <p:strVal val="visible"/>
                                      </p:to>
                                    </p:set>
                                    <p:anim calcmode="lin" valueType="num">
                                      <p:cBhvr additive="base">
                                        <p:cTn id="43" dur="500" fill="hold"/>
                                        <p:tgtEl>
                                          <p:spTgt spid="614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14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1443">
                                            <p:txEl>
                                              <p:pRg st="7" end="7"/>
                                            </p:txEl>
                                          </p:spTgt>
                                        </p:tgtEl>
                                        <p:attrNameLst>
                                          <p:attrName>style.visibility</p:attrName>
                                        </p:attrNameLst>
                                      </p:cBhvr>
                                      <p:to>
                                        <p:strVal val="visible"/>
                                      </p:to>
                                    </p:set>
                                    <p:anim calcmode="lin" valueType="num">
                                      <p:cBhvr additive="base">
                                        <p:cTn id="49" dur="500" fill="hold"/>
                                        <p:tgtEl>
                                          <p:spTgt spid="614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14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1443">
                                            <p:txEl>
                                              <p:pRg st="8" end="8"/>
                                            </p:txEl>
                                          </p:spTgt>
                                        </p:tgtEl>
                                        <p:attrNameLst>
                                          <p:attrName>style.visibility</p:attrName>
                                        </p:attrNameLst>
                                      </p:cBhvr>
                                      <p:to>
                                        <p:strVal val="visible"/>
                                      </p:to>
                                    </p:set>
                                    <p:anim calcmode="lin" valueType="num">
                                      <p:cBhvr additive="base">
                                        <p:cTn id="55" dur="500" fill="hold"/>
                                        <p:tgtEl>
                                          <p:spTgt spid="614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14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1443">
                                            <p:txEl>
                                              <p:pRg st="9" end="9"/>
                                            </p:txEl>
                                          </p:spTgt>
                                        </p:tgtEl>
                                        <p:attrNameLst>
                                          <p:attrName>style.visibility</p:attrName>
                                        </p:attrNameLst>
                                      </p:cBhvr>
                                      <p:to>
                                        <p:strVal val="visible"/>
                                      </p:to>
                                    </p:set>
                                    <p:anim calcmode="lin" valueType="num">
                                      <p:cBhvr additive="base">
                                        <p:cTn id="61" dur="500" fill="hold"/>
                                        <p:tgtEl>
                                          <p:spTgt spid="61443">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61443">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61446">
                                            <p:txEl>
                                              <p:pRg st="0" end="0"/>
                                            </p:txEl>
                                          </p:spTgt>
                                        </p:tgtEl>
                                        <p:attrNameLst>
                                          <p:attrName>style.visibility</p:attrName>
                                        </p:attrNameLst>
                                      </p:cBhvr>
                                      <p:to>
                                        <p:strVal val="visible"/>
                                      </p:to>
                                    </p:set>
                                    <p:anim calcmode="lin" valueType="num">
                                      <p:cBhvr additive="base">
                                        <p:cTn id="67" dur="500" fill="hold"/>
                                        <p:tgtEl>
                                          <p:spTgt spid="61446">
                                            <p:txEl>
                                              <p:pRg st="0" end="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614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61445"/>
                                        </p:tgtEl>
                                        <p:attrNameLst>
                                          <p:attrName>style.visibility</p:attrName>
                                        </p:attrNameLst>
                                      </p:cBhvr>
                                      <p:to>
                                        <p:strVal val="visible"/>
                                      </p:to>
                                    </p:set>
                                    <p:anim calcmode="lin" valueType="num">
                                      <p:cBhvr additive="base">
                                        <p:cTn id="73" dur="500" fill="hold"/>
                                        <p:tgtEl>
                                          <p:spTgt spid="61445"/>
                                        </p:tgtEl>
                                        <p:attrNameLst>
                                          <p:attrName>ppt_x</p:attrName>
                                        </p:attrNameLst>
                                      </p:cBhvr>
                                      <p:tavLst>
                                        <p:tav tm="0">
                                          <p:val>
                                            <p:strVal val="0-#ppt_w/2"/>
                                          </p:val>
                                        </p:tav>
                                        <p:tav tm="100000">
                                          <p:val>
                                            <p:strVal val="#ppt_x"/>
                                          </p:val>
                                        </p:tav>
                                      </p:tavLst>
                                    </p:anim>
                                    <p:anim calcmode="lin" valueType="num">
                                      <p:cBhvr additive="base">
                                        <p:cTn id="74" dur="500" fill="hold"/>
                                        <p:tgtEl>
                                          <p:spTgt spid="61445"/>
                                        </p:tgtEl>
                                        <p:attrNameLst>
                                          <p:attrName>ppt_y</p:attrName>
                                        </p:attrNameLst>
                                      </p:cBhvr>
                                      <p:tavLst>
                                        <p:tav tm="0">
                                          <p:val>
                                            <p:strVal val="#ppt_y"/>
                                          </p:val>
                                        </p:tav>
                                        <p:tav tm="100000">
                                          <p:val>
                                            <p:strVal val="#ppt_y"/>
                                          </p:val>
                                        </p:tav>
                                      </p:tavLst>
                                    </p:anim>
                                  </p:childTnLst>
                                </p:cTn>
                              </p:par>
                            </p:childTnLst>
                          </p:cTn>
                        </p:par>
                        <p:par>
                          <p:cTn id="75" fill="hold" nodeType="afterGroup">
                            <p:stCondLst>
                              <p:cond delay="500"/>
                            </p:stCondLst>
                            <p:childTnLst>
                              <p:par>
                                <p:cTn id="76" presetID="2" presetClass="entr" presetSubtype="8" fill="hold" nodeType="afterEffect">
                                  <p:stCondLst>
                                    <p:cond delay="0"/>
                                  </p:stCondLst>
                                  <p:childTnLst>
                                    <p:set>
                                      <p:cBhvr>
                                        <p:cTn id="77" dur="1" fill="hold">
                                          <p:stCondLst>
                                            <p:cond delay="0"/>
                                          </p:stCondLst>
                                        </p:cTn>
                                        <p:tgtEl>
                                          <p:spTgt spid="61444"/>
                                        </p:tgtEl>
                                        <p:attrNameLst>
                                          <p:attrName>style.visibility</p:attrName>
                                        </p:attrNameLst>
                                      </p:cBhvr>
                                      <p:to>
                                        <p:strVal val="visible"/>
                                      </p:to>
                                    </p:set>
                                    <p:anim calcmode="lin" valueType="num">
                                      <p:cBhvr additive="base">
                                        <p:cTn id="78" dur="500" fill="hold"/>
                                        <p:tgtEl>
                                          <p:spTgt spid="61444"/>
                                        </p:tgtEl>
                                        <p:attrNameLst>
                                          <p:attrName>ppt_x</p:attrName>
                                        </p:attrNameLst>
                                      </p:cBhvr>
                                      <p:tavLst>
                                        <p:tav tm="0">
                                          <p:val>
                                            <p:strVal val="0-#ppt_w/2"/>
                                          </p:val>
                                        </p:tav>
                                        <p:tav tm="100000">
                                          <p:val>
                                            <p:strVal val="#ppt_x"/>
                                          </p:val>
                                        </p:tav>
                                      </p:tavLst>
                                    </p:anim>
                                    <p:anim calcmode="lin" valueType="num">
                                      <p:cBhvr additive="base">
                                        <p:cTn id="79" dur="500" fill="hold"/>
                                        <p:tgtEl>
                                          <p:spTgt spid="614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P spid="61445" grpId="0" autoUpdateAnimBg="0"/>
      <p:bldP spid="61446"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FA1C9747-C365-4D29-A3A7-A358B81D302B}"/>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最大子段和的推广</a:t>
            </a:r>
          </a:p>
        </p:txBody>
      </p:sp>
      <p:sp>
        <p:nvSpPr>
          <p:cNvPr id="78851" name="Rectangle 3">
            <a:extLst>
              <a:ext uri="{FF2B5EF4-FFF2-40B4-BE49-F238E27FC236}">
                <a16:creationId xmlns:a16="http://schemas.microsoft.com/office/drawing/2014/main" id="{B02AED88-330F-42C6-A1BC-D1D7AA9D9F9D}"/>
              </a:ext>
            </a:extLst>
          </p:cNvPr>
          <p:cNvSpPr>
            <a:spLocks noGrp="1" noChangeArrowheads="1"/>
          </p:cNvSpPr>
          <p:nvPr>
            <p:ph type="body" idx="1"/>
          </p:nvPr>
        </p:nvSpPr>
        <p:spPr bwMode="auto">
          <a:xfrm>
            <a:off x="685800" y="1981200"/>
            <a:ext cx="7772400" cy="144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lang="en-US" altLang="zh-CN" sz="2800" b="1" dirty="0"/>
              <a:t>2</a:t>
            </a:r>
            <a:r>
              <a:rPr lang="zh-CN" altLang="en-US" sz="2800" b="1" dirty="0"/>
              <a:t>维</a:t>
            </a:r>
            <a:r>
              <a:rPr lang="en-US" altLang="zh-CN" sz="2800" b="1" dirty="0"/>
              <a:t>--</a:t>
            </a:r>
            <a:r>
              <a:rPr lang="zh-CN" altLang="en-US" sz="2800" b="1" dirty="0"/>
              <a:t>最大子矩阵和问题的求解算法</a:t>
            </a:r>
          </a:p>
          <a:p>
            <a:pPr eaLnBrk="1" hangingPunct="1">
              <a:lnSpc>
                <a:spcPct val="130000"/>
              </a:lnSpc>
            </a:pPr>
            <a:r>
              <a:rPr lang="en-US" altLang="zh-CN" sz="2800" b="1" dirty="0"/>
              <a:t>1</a:t>
            </a:r>
            <a:r>
              <a:rPr lang="zh-CN" altLang="en-US" sz="2800" b="1" dirty="0"/>
              <a:t>维</a:t>
            </a:r>
            <a:r>
              <a:rPr lang="en-US" altLang="zh-CN" sz="2800" b="1" dirty="0"/>
              <a:t>--</a:t>
            </a:r>
            <a:r>
              <a:rPr lang="zh-CN" altLang="en-US" sz="2800" b="1" dirty="0"/>
              <a:t>最大</a:t>
            </a:r>
            <a:r>
              <a:rPr lang="en-US" altLang="zh-CN" sz="2800" b="1" dirty="0"/>
              <a:t>m</a:t>
            </a:r>
            <a:r>
              <a:rPr lang="zh-CN" altLang="en-US" sz="2800" b="1" dirty="0"/>
              <a:t>子段和问题的求解算法</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68AB1418-434C-4110-A845-1928B412A3EB}"/>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lang="zh-CN" altLang="en-US" sz="4000" b="1" dirty="0"/>
              <a:t>最大子矩阵和问题</a:t>
            </a:r>
          </a:p>
        </p:txBody>
      </p:sp>
      <p:sp>
        <p:nvSpPr>
          <p:cNvPr id="79875" name="Rectangle 3">
            <a:extLst>
              <a:ext uri="{FF2B5EF4-FFF2-40B4-BE49-F238E27FC236}">
                <a16:creationId xmlns:a16="http://schemas.microsoft.com/office/drawing/2014/main" id="{54DCA65C-EE35-4A2B-9058-2D10266DCFF9}"/>
              </a:ext>
            </a:extLst>
          </p:cNvPr>
          <p:cNvSpPr>
            <a:spLocks noGrp="1" noChangeArrowheads="1"/>
          </p:cNvSpPr>
          <p:nvPr>
            <p:ph type="body" idx="1"/>
          </p:nvPr>
        </p:nvSpPr>
        <p:spPr bwMode="auto">
          <a:xfrm>
            <a:off x="642938" y="1643063"/>
            <a:ext cx="7772400"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r>
              <a:rPr lang="zh-CN" altLang="en-US" sz="2800" b="1" dirty="0"/>
              <a:t>给定一个</a:t>
            </a:r>
            <a:r>
              <a:rPr lang="en-US" altLang="zh-CN" sz="2800" b="1" dirty="0"/>
              <a:t>m</a:t>
            </a:r>
            <a:r>
              <a:rPr lang="zh-CN" altLang="en-US" sz="2800" b="1" dirty="0"/>
              <a:t>行</a:t>
            </a:r>
            <a:r>
              <a:rPr lang="en-US" altLang="zh-CN" sz="2800" b="1" dirty="0"/>
              <a:t>n</a:t>
            </a:r>
            <a:r>
              <a:rPr lang="zh-CN" altLang="en-US" sz="2800" b="1" dirty="0"/>
              <a:t>列的整数矩阵</a:t>
            </a:r>
            <a:r>
              <a:rPr lang="en-US" altLang="zh-CN" sz="2800" b="1" dirty="0"/>
              <a:t>A</a:t>
            </a:r>
            <a:r>
              <a:rPr lang="zh-CN" altLang="en-US" sz="2800" b="1" dirty="0"/>
              <a:t>，试求矩阵</a:t>
            </a:r>
            <a:r>
              <a:rPr lang="en-US" altLang="zh-CN" sz="2800" b="1" dirty="0"/>
              <a:t>A</a:t>
            </a:r>
            <a:r>
              <a:rPr lang="zh-CN" altLang="en-US" sz="2800" b="1" dirty="0"/>
              <a:t>的一个子矩阵，使其各元素之和为最大。</a:t>
            </a:r>
          </a:p>
        </p:txBody>
      </p:sp>
      <p:grpSp>
        <p:nvGrpSpPr>
          <p:cNvPr id="79876" name="Group 8">
            <a:extLst>
              <a:ext uri="{FF2B5EF4-FFF2-40B4-BE49-F238E27FC236}">
                <a16:creationId xmlns:a16="http://schemas.microsoft.com/office/drawing/2014/main" id="{59554DF8-0FD3-4E9A-8F7B-D9CFCC17916A}"/>
              </a:ext>
            </a:extLst>
          </p:cNvPr>
          <p:cNvGrpSpPr>
            <a:grpSpLocks/>
          </p:cNvGrpSpPr>
          <p:nvPr/>
        </p:nvGrpSpPr>
        <p:grpSpPr bwMode="auto">
          <a:xfrm>
            <a:off x="2071688" y="3000375"/>
            <a:ext cx="3200400" cy="2133600"/>
            <a:chOff x="1296" y="2304"/>
            <a:chExt cx="2016" cy="1344"/>
          </a:xfrm>
        </p:grpSpPr>
        <p:grpSp>
          <p:nvGrpSpPr>
            <p:cNvPr id="79877" name="Group 6">
              <a:extLst>
                <a:ext uri="{FF2B5EF4-FFF2-40B4-BE49-F238E27FC236}">
                  <a16:creationId xmlns:a16="http://schemas.microsoft.com/office/drawing/2014/main" id="{E738D4A2-BE73-4167-BECC-C132C21F7DA9}"/>
                </a:ext>
              </a:extLst>
            </p:cNvPr>
            <p:cNvGrpSpPr>
              <a:grpSpLocks/>
            </p:cNvGrpSpPr>
            <p:nvPr/>
          </p:nvGrpSpPr>
          <p:grpSpPr bwMode="auto">
            <a:xfrm>
              <a:off x="1872" y="2304"/>
              <a:ext cx="1440" cy="1344"/>
              <a:chOff x="1440" y="2400"/>
              <a:chExt cx="1440" cy="1344"/>
            </a:xfrm>
          </p:grpSpPr>
          <p:sp>
            <p:nvSpPr>
              <p:cNvPr id="79879" name="AutoShape 4">
                <a:extLst>
                  <a:ext uri="{FF2B5EF4-FFF2-40B4-BE49-F238E27FC236}">
                    <a16:creationId xmlns:a16="http://schemas.microsoft.com/office/drawing/2014/main" id="{A7392D5D-4FC5-4F9A-BEE3-83D32CA93E34}"/>
                  </a:ext>
                </a:extLst>
              </p:cNvPr>
              <p:cNvSpPr>
                <a:spLocks noChangeArrowheads="1"/>
              </p:cNvSpPr>
              <p:nvPr/>
            </p:nvSpPr>
            <p:spPr bwMode="auto">
              <a:xfrm>
                <a:off x="1440" y="2448"/>
                <a:ext cx="1440" cy="1296"/>
              </a:xfrm>
              <a:prstGeom prst="bracketPair">
                <a:avLst>
                  <a:gd name="adj" fmla="val 517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79880" name="Text Box 5">
                <a:extLst>
                  <a:ext uri="{FF2B5EF4-FFF2-40B4-BE49-F238E27FC236}">
                    <a16:creationId xmlns:a16="http://schemas.microsoft.com/office/drawing/2014/main" id="{92525ABB-20C4-45D9-8094-75C31A72FA12}"/>
                  </a:ext>
                </a:extLst>
              </p:cNvPr>
              <p:cNvSpPr txBox="1">
                <a:spLocks noChangeArrowheads="1"/>
              </p:cNvSpPr>
              <p:nvPr/>
            </p:nvSpPr>
            <p:spPr bwMode="auto">
              <a:xfrm>
                <a:off x="1584" y="2400"/>
                <a:ext cx="1152" cy="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0   -2   -7   0</a:t>
                </a:r>
              </a:p>
              <a:p>
                <a:pPr eaLnBrk="1" hangingPunct="1">
                  <a:spcBef>
                    <a:spcPct val="50000"/>
                  </a:spcBef>
                  <a:buFontTx/>
                  <a:buAutoNum type="arabicPlain" startAt="9"/>
                </a:pPr>
                <a:r>
                  <a:rPr lang="en-US" altLang="zh-CN" b="0" dirty="0">
                    <a:ea typeface="华文中宋" panose="02010600040101010101" pitchFamily="2" charset="-122"/>
                  </a:rPr>
                  <a:t>2   -6   2</a:t>
                </a:r>
              </a:p>
              <a:p>
                <a:pPr eaLnBrk="1" hangingPunct="1">
                  <a:spcBef>
                    <a:spcPct val="50000"/>
                  </a:spcBef>
                </a:pPr>
                <a:r>
                  <a:rPr lang="en-US" altLang="zh-CN" b="0" dirty="0">
                    <a:ea typeface="华文中宋" panose="02010600040101010101" pitchFamily="2" charset="-122"/>
                  </a:rPr>
                  <a:t>-4   1   -4   1</a:t>
                </a:r>
              </a:p>
              <a:p>
                <a:pPr eaLnBrk="1" hangingPunct="1">
                  <a:spcBef>
                    <a:spcPct val="50000"/>
                  </a:spcBef>
                </a:pPr>
                <a:r>
                  <a:rPr lang="en-US" altLang="zh-CN" b="0" dirty="0">
                    <a:ea typeface="华文中宋" panose="02010600040101010101" pitchFamily="2" charset="-122"/>
                  </a:rPr>
                  <a:t>-1   8    0  -2</a:t>
                </a:r>
              </a:p>
            </p:txBody>
          </p:sp>
        </p:grpSp>
        <p:sp>
          <p:nvSpPr>
            <p:cNvPr id="79878" name="Text Box 7">
              <a:extLst>
                <a:ext uri="{FF2B5EF4-FFF2-40B4-BE49-F238E27FC236}">
                  <a16:creationId xmlns:a16="http://schemas.microsoft.com/office/drawing/2014/main" id="{D45FAB1F-FA70-4B30-9906-7AAAA72775C0}"/>
                </a:ext>
              </a:extLst>
            </p:cNvPr>
            <p:cNvSpPr txBox="1">
              <a:spLocks noChangeArrowheads="1"/>
            </p:cNvSpPr>
            <p:nvPr/>
          </p:nvSpPr>
          <p:spPr bwMode="auto">
            <a:xfrm>
              <a:off x="1296" y="28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A=</a:t>
              </a:r>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6161CE36-AA9F-4577-8F58-0BD313A364F7}"/>
              </a:ext>
            </a:extLst>
          </p:cNvPr>
          <p:cNvSpPr>
            <a:spLocks noGrp="1" noChangeArrowheads="1"/>
          </p:cNvSpPr>
          <p:nvPr>
            <p:ph type="title"/>
          </p:nvPr>
        </p:nvSpPr>
        <p:spPr bwMode="auto">
          <a:xfrm>
            <a:off x="685800" y="1524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dirty="0"/>
              <a:t>算法</a:t>
            </a:r>
          </a:p>
        </p:txBody>
      </p:sp>
      <p:sp>
        <p:nvSpPr>
          <p:cNvPr id="66563" name="Rectangle 3">
            <a:extLst>
              <a:ext uri="{FF2B5EF4-FFF2-40B4-BE49-F238E27FC236}">
                <a16:creationId xmlns:a16="http://schemas.microsoft.com/office/drawing/2014/main" id="{09390F06-D0E4-458A-91DA-0564EFD8FE85}"/>
              </a:ext>
            </a:extLst>
          </p:cNvPr>
          <p:cNvSpPr>
            <a:spLocks noGrp="1" noChangeArrowheads="1"/>
          </p:cNvSpPr>
          <p:nvPr>
            <p:ph type="body" idx="1"/>
          </p:nvPr>
        </p:nvSpPr>
        <p:spPr bwMode="auto">
          <a:xfrm>
            <a:off x="685800" y="990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dirty="0"/>
              <a:t>直接枚举：需</a:t>
            </a:r>
            <a:r>
              <a:rPr lang="en-US" altLang="zh-CN" dirty="0"/>
              <a:t>4</a:t>
            </a:r>
            <a:r>
              <a:rPr lang="zh-CN" altLang="en-US" dirty="0"/>
              <a:t>重循环，复杂性</a:t>
            </a:r>
            <a:r>
              <a:rPr lang="en-US" altLang="zh-CN" dirty="0"/>
              <a:t>O(m</a:t>
            </a:r>
            <a:r>
              <a:rPr lang="en-US" altLang="zh-CN" baseline="30000" dirty="0"/>
              <a:t>2</a:t>
            </a:r>
            <a:r>
              <a:rPr lang="en-US" altLang="zh-CN" dirty="0"/>
              <a:t>n</a:t>
            </a:r>
            <a:r>
              <a:rPr lang="en-US" altLang="zh-CN" baseline="30000" dirty="0"/>
              <a:t>2</a:t>
            </a:r>
            <a:r>
              <a:rPr lang="en-US" altLang="zh-CN" dirty="0"/>
              <a:t>)</a:t>
            </a:r>
          </a:p>
        </p:txBody>
      </p:sp>
      <p:grpSp>
        <p:nvGrpSpPr>
          <p:cNvPr id="2" name="Group 10">
            <a:extLst>
              <a:ext uri="{FF2B5EF4-FFF2-40B4-BE49-F238E27FC236}">
                <a16:creationId xmlns:a16="http://schemas.microsoft.com/office/drawing/2014/main" id="{0B25A661-6C7A-4283-8F22-81EC59C672E6}"/>
              </a:ext>
            </a:extLst>
          </p:cNvPr>
          <p:cNvGrpSpPr>
            <a:grpSpLocks/>
          </p:cNvGrpSpPr>
          <p:nvPr/>
        </p:nvGrpSpPr>
        <p:grpSpPr bwMode="auto">
          <a:xfrm>
            <a:off x="685800" y="1524000"/>
            <a:ext cx="7772400" cy="990600"/>
            <a:chOff x="432" y="1344"/>
            <a:chExt cx="4896" cy="624"/>
          </a:xfrm>
        </p:grpSpPr>
        <p:sp>
          <p:nvSpPr>
            <p:cNvPr id="80911" name="Rectangle 4">
              <a:extLst>
                <a:ext uri="{FF2B5EF4-FFF2-40B4-BE49-F238E27FC236}">
                  <a16:creationId xmlns:a16="http://schemas.microsoft.com/office/drawing/2014/main" id="{5524B445-8E01-4D46-853D-17EDA719E41B}"/>
                </a:ext>
              </a:extLst>
            </p:cNvPr>
            <p:cNvSpPr>
              <a:spLocks noChangeArrowheads="1"/>
            </p:cNvSpPr>
            <p:nvPr/>
          </p:nvSpPr>
          <p:spPr bwMode="auto">
            <a:xfrm>
              <a:off x="432" y="1488"/>
              <a:ext cx="489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Char char="•"/>
              </a:pPr>
              <a:r>
                <a:rPr lang="zh-CN" altLang="en-US" sz="2800" b="0" dirty="0">
                  <a:ea typeface="华文中宋" panose="02010600040101010101" pitchFamily="2" charset="-122"/>
                </a:rPr>
                <a:t>改进：记</a:t>
              </a:r>
              <a:r>
                <a:rPr lang="en-US" altLang="zh-CN" sz="2800" b="0" dirty="0">
                  <a:ea typeface="华文中宋" panose="02010600040101010101" pitchFamily="2" charset="-122"/>
                </a:rPr>
                <a:t>S(i</a:t>
              </a:r>
              <a:r>
                <a:rPr lang="en-US" altLang="zh-CN" sz="2800" baseline="-25000" dirty="0">
                  <a:ea typeface="华文中宋" panose="02010600040101010101" pitchFamily="2" charset="-122"/>
                </a:rPr>
                <a:t>1</a:t>
              </a:r>
              <a:r>
                <a:rPr lang="en-US" altLang="zh-CN" sz="2800" b="0" dirty="0">
                  <a:ea typeface="华文中宋" panose="02010600040101010101" pitchFamily="2" charset="-122"/>
                </a:rPr>
                <a:t>,i</a:t>
              </a:r>
              <a:r>
                <a:rPr lang="en-US" altLang="zh-CN" sz="2800" baseline="-25000" dirty="0">
                  <a:ea typeface="华文中宋" panose="02010600040101010101" pitchFamily="2" charset="-122"/>
                </a:rPr>
                <a:t>2</a:t>
              </a:r>
              <a:r>
                <a:rPr lang="en-US" altLang="zh-CN" sz="2800" b="0" dirty="0">
                  <a:ea typeface="华文中宋" panose="02010600040101010101" pitchFamily="2" charset="-122"/>
                </a:rPr>
                <a:t>,j</a:t>
              </a:r>
              <a:r>
                <a:rPr lang="en-US" altLang="zh-CN" sz="2800" baseline="-25000" dirty="0">
                  <a:ea typeface="华文中宋" panose="02010600040101010101" pitchFamily="2" charset="-122"/>
                </a:rPr>
                <a:t>1</a:t>
              </a:r>
              <a:r>
                <a:rPr lang="en-US" altLang="zh-CN" sz="2800" b="0" dirty="0">
                  <a:ea typeface="华文中宋" panose="02010600040101010101" pitchFamily="2" charset="-122"/>
                </a:rPr>
                <a:t>,j</a:t>
              </a:r>
              <a:r>
                <a:rPr lang="en-US" altLang="zh-CN" sz="2800" baseline="-25000" dirty="0">
                  <a:ea typeface="华文中宋" panose="02010600040101010101" pitchFamily="2" charset="-122"/>
                </a:rPr>
                <a:t>2</a:t>
              </a:r>
              <a:r>
                <a:rPr lang="en-US" altLang="zh-CN" sz="2800" b="0" dirty="0">
                  <a:ea typeface="华文中宋" panose="02010600040101010101" pitchFamily="2" charset="-122"/>
                </a:rPr>
                <a:t>)=              </a:t>
              </a:r>
            </a:p>
          </p:txBody>
        </p:sp>
        <p:grpSp>
          <p:nvGrpSpPr>
            <p:cNvPr id="80912" name="Group 9">
              <a:extLst>
                <a:ext uri="{FF2B5EF4-FFF2-40B4-BE49-F238E27FC236}">
                  <a16:creationId xmlns:a16="http://schemas.microsoft.com/office/drawing/2014/main" id="{1A9D1C00-5C2C-4F6C-A687-E83237F57365}"/>
                </a:ext>
              </a:extLst>
            </p:cNvPr>
            <p:cNvGrpSpPr>
              <a:grpSpLocks/>
            </p:cNvGrpSpPr>
            <p:nvPr/>
          </p:nvGrpSpPr>
          <p:grpSpPr bwMode="auto">
            <a:xfrm>
              <a:off x="2832" y="1344"/>
              <a:ext cx="816" cy="624"/>
              <a:chOff x="3984" y="1584"/>
              <a:chExt cx="816" cy="624"/>
            </a:xfrm>
          </p:grpSpPr>
          <p:sp>
            <p:nvSpPr>
              <p:cNvPr id="80913" name="Text Box 6">
                <a:extLst>
                  <a:ext uri="{FF2B5EF4-FFF2-40B4-BE49-F238E27FC236}">
                    <a16:creationId xmlns:a16="http://schemas.microsoft.com/office/drawing/2014/main" id="{8D71FBA5-7ECB-4B8D-BBC0-780CB6560453}"/>
                  </a:ext>
                </a:extLst>
              </p:cNvPr>
              <p:cNvSpPr txBox="1">
                <a:spLocks noChangeArrowheads="1"/>
              </p:cNvSpPr>
              <p:nvPr/>
            </p:nvSpPr>
            <p:spPr bwMode="auto">
              <a:xfrm>
                <a:off x="4080" y="1776"/>
                <a:ext cx="7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a</a:t>
                </a:r>
                <a:r>
                  <a:rPr lang="en-US" altLang="zh-CN" sz="2800" baseline="-25000" dirty="0" err="1">
                    <a:ea typeface="华文中宋" panose="02010600040101010101" pitchFamily="2" charset="-122"/>
                    <a:sym typeface="Symbol" panose="05050102010706020507" pitchFamily="18" charset="2"/>
                  </a:rPr>
                  <a:t>ij</a:t>
                </a:r>
                <a:endParaRPr lang="en-US" altLang="zh-CN" sz="2800" baseline="-25000" dirty="0">
                  <a:ea typeface="华文中宋" panose="02010600040101010101" pitchFamily="2" charset="-122"/>
                  <a:sym typeface="Symbol" panose="05050102010706020507" pitchFamily="18" charset="2"/>
                </a:endParaRPr>
              </a:p>
            </p:txBody>
          </p:sp>
          <p:sp>
            <p:nvSpPr>
              <p:cNvPr id="80914" name="Text Box 7">
                <a:extLst>
                  <a:ext uri="{FF2B5EF4-FFF2-40B4-BE49-F238E27FC236}">
                    <a16:creationId xmlns:a16="http://schemas.microsoft.com/office/drawing/2014/main" id="{E2230109-1B14-4B94-8FFC-40F99FD96C5C}"/>
                  </a:ext>
                </a:extLst>
              </p:cNvPr>
              <p:cNvSpPr txBox="1">
                <a:spLocks noChangeArrowheads="1"/>
              </p:cNvSpPr>
              <p:nvPr/>
            </p:nvSpPr>
            <p:spPr bwMode="auto">
              <a:xfrm>
                <a:off x="3984" y="2016"/>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err="1">
                    <a:ea typeface="华文中宋" panose="02010600040101010101" pitchFamily="2" charset="-122"/>
                  </a:rPr>
                  <a:t>i</a:t>
                </a:r>
                <a:r>
                  <a:rPr lang="en-US" altLang="zh-CN" sz="2000" dirty="0">
                    <a:ea typeface="华文中宋" panose="02010600040101010101" pitchFamily="2" charset="-122"/>
                  </a:rPr>
                  <a:t>=i</a:t>
                </a:r>
                <a:r>
                  <a:rPr lang="en-US" altLang="zh-CN" sz="2000" baseline="-25000" dirty="0">
                    <a:ea typeface="华文中宋" panose="02010600040101010101" pitchFamily="2" charset="-122"/>
                  </a:rPr>
                  <a:t>1</a:t>
                </a:r>
                <a:r>
                  <a:rPr lang="en-US" altLang="zh-CN" sz="2000" dirty="0">
                    <a:ea typeface="华文中宋" panose="02010600040101010101" pitchFamily="2" charset="-122"/>
                  </a:rPr>
                  <a:t>,j=j</a:t>
                </a:r>
                <a:r>
                  <a:rPr lang="en-US" altLang="zh-CN" sz="2000" baseline="-25000" dirty="0">
                    <a:ea typeface="华文中宋" panose="02010600040101010101" pitchFamily="2" charset="-122"/>
                  </a:rPr>
                  <a:t>1</a:t>
                </a:r>
              </a:p>
            </p:txBody>
          </p:sp>
          <p:sp>
            <p:nvSpPr>
              <p:cNvPr id="80915" name="Text Box 8">
                <a:extLst>
                  <a:ext uri="{FF2B5EF4-FFF2-40B4-BE49-F238E27FC236}">
                    <a16:creationId xmlns:a16="http://schemas.microsoft.com/office/drawing/2014/main" id="{562356C9-C949-45F6-9DE4-42DF57D02BFF}"/>
                  </a:ext>
                </a:extLst>
              </p:cNvPr>
              <p:cNvSpPr txBox="1">
                <a:spLocks noChangeArrowheads="1"/>
              </p:cNvSpPr>
              <p:nvPr/>
            </p:nvSpPr>
            <p:spPr bwMode="auto">
              <a:xfrm>
                <a:off x="4032" y="1584"/>
                <a:ext cx="4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i</a:t>
                </a:r>
                <a:r>
                  <a:rPr lang="en-US" altLang="zh-CN" sz="2000" baseline="-25000" dirty="0">
                    <a:ea typeface="华文中宋" panose="02010600040101010101" pitchFamily="2" charset="-122"/>
                  </a:rPr>
                  <a:t>2</a:t>
                </a:r>
                <a:r>
                  <a:rPr lang="en-US" altLang="zh-CN" sz="2000" dirty="0">
                    <a:ea typeface="华文中宋" panose="02010600040101010101" pitchFamily="2" charset="-122"/>
                  </a:rPr>
                  <a:t>,j</a:t>
                </a:r>
                <a:r>
                  <a:rPr lang="en-US" altLang="zh-CN" sz="2000" baseline="-25000" dirty="0">
                    <a:ea typeface="华文中宋" panose="02010600040101010101" pitchFamily="2" charset="-122"/>
                  </a:rPr>
                  <a:t>2</a:t>
                </a:r>
              </a:p>
            </p:txBody>
          </p:sp>
        </p:grpSp>
      </p:grpSp>
      <p:sp>
        <p:nvSpPr>
          <p:cNvPr id="66571" name="Text Box 11">
            <a:extLst>
              <a:ext uri="{FF2B5EF4-FFF2-40B4-BE49-F238E27FC236}">
                <a16:creationId xmlns:a16="http://schemas.microsoft.com/office/drawing/2014/main" id="{F4B547D6-4805-41D8-B8F0-22367654B589}"/>
              </a:ext>
            </a:extLst>
          </p:cNvPr>
          <p:cNvSpPr txBox="1">
            <a:spLocks noChangeArrowheads="1"/>
          </p:cNvSpPr>
          <p:nvPr/>
        </p:nvSpPr>
        <p:spPr bwMode="auto">
          <a:xfrm>
            <a:off x="762000" y="2514600"/>
            <a:ext cx="800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0" dirty="0">
                <a:ea typeface="华文中宋" panose="02010600040101010101" pitchFamily="2" charset="-122"/>
              </a:rPr>
              <a:t>要求  </a:t>
            </a:r>
            <a:r>
              <a:rPr lang="en-US" altLang="zh-CN" sz="2800" b="0" dirty="0">
                <a:ea typeface="华文中宋" panose="02010600040101010101" pitchFamily="2" charset="-122"/>
              </a:rPr>
              <a:t>S= max</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i</a:t>
            </a:r>
            <a:r>
              <a:rPr lang="en-US" altLang="zh-CN" sz="2800" b="0" baseline="-40000" dirty="0">
                <a:ea typeface="华文中宋" panose="02010600040101010101" pitchFamily="2" charset="-122"/>
                <a:sym typeface="Symbol" panose="05050102010706020507" pitchFamily="18" charset="2"/>
              </a:rPr>
              <a:t>1</a:t>
            </a:r>
            <a:r>
              <a:rPr lang="en-US" altLang="zh-CN" sz="2800" b="0" baseline="-25000" dirty="0">
                <a:ea typeface="华文中宋" panose="02010600040101010101" pitchFamily="2" charset="-122"/>
                <a:sym typeface="Symbol" panose="05050102010706020507" pitchFamily="18" charset="2"/>
              </a:rPr>
              <a:t> i</a:t>
            </a:r>
            <a:r>
              <a:rPr lang="en-US" altLang="zh-CN" sz="2800" b="0" baseline="-40000" dirty="0">
                <a:ea typeface="华文中宋" panose="02010600040101010101" pitchFamily="2" charset="-122"/>
                <a:sym typeface="Symbol" panose="05050102010706020507" pitchFamily="18" charset="2"/>
              </a:rPr>
              <a:t>2</a:t>
            </a:r>
            <a:r>
              <a:rPr lang="en-US" altLang="zh-CN" sz="2800" b="0" baseline="-25000" dirty="0">
                <a:ea typeface="华文中宋" panose="02010600040101010101" pitchFamily="2" charset="-122"/>
                <a:sym typeface="Symbol" panose="05050102010706020507" pitchFamily="18" charset="2"/>
              </a:rPr>
              <a:t>  m</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max</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j</a:t>
            </a:r>
            <a:r>
              <a:rPr lang="en-US" altLang="zh-CN" sz="2800" b="0" baseline="-40000" dirty="0">
                <a:ea typeface="华文中宋" panose="02010600040101010101" pitchFamily="2" charset="-122"/>
                <a:sym typeface="Symbol" panose="05050102010706020507" pitchFamily="18" charset="2"/>
              </a:rPr>
              <a:t>1</a:t>
            </a:r>
            <a:r>
              <a:rPr lang="en-US" altLang="zh-CN" sz="2800" b="0" baseline="-25000" dirty="0">
                <a:ea typeface="华文中宋" panose="02010600040101010101" pitchFamily="2" charset="-122"/>
                <a:sym typeface="Symbol" panose="05050102010706020507" pitchFamily="18" charset="2"/>
              </a:rPr>
              <a:t> j</a:t>
            </a:r>
            <a:r>
              <a:rPr lang="en-US" altLang="zh-CN" sz="2800" b="0" baseline="-40000" dirty="0">
                <a:ea typeface="华文中宋" panose="02010600040101010101" pitchFamily="2" charset="-122"/>
                <a:sym typeface="Symbol" panose="05050102010706020507" pitchFamily="18" charset="2"/>
              </a:rPr>
              <a:t>2</a:t>
            </a:r>
            <a:r>
              <a:rPr lang="en-US" altLang="zh-CN" sz="2800" b="0" baseline="-25000" dirty="0">
                <a:ea typeface="华文中宋" panose="02010600040101010101" pitchFamily="2" charset="-122"/>
                <a:sym typeface="Symbol" panose="05050102010706020507" pitchFamily="18" charset="2"/>
              </a:rPr>
              <a:t>  n</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S(i</a:t>
            </a:r>
            <a:r>
              <a:rPr lang="en-US" altLang="zh-CN" sz="2800" baseline="-25000" dirty="0">
                <a:ea typeface="华文中宋" panose="02010600040101010101" pitchFamily="2" charset="-122"/>
              </a:rPr>
              <a:t>1</a:t>
            </a:r>
            <a:r>
              <a:rPr lang="en-US" altLang="zh-CN" sz="2800" b="0" dirty="0">
                <a:ea typeface="华文中宋" panose="02010600040101010101" pitchFamily="2" charset="-122"/>
              </a:rPr>
              <a:t>,i</a:t>
            </a:r>
            <a:r>
              <a:rPr lang="en-US" altLang="zh-CN" sz="2800" baseline="-25000" dirty="0">
                <a:ea typeface="华文中宋" panose="02010600040101010101" pitchFamily="2" charset="-122"/>
              </a:rPr>
              <a:t>2</a:t>
            </a:r>
            <a:r>
              <a:rPr lang="en-US" altLang="zh-CN" sz="2800" b="0" dirty="0">
                <a:ea typeface="华文中宋" panose="02010600040101010101" pitchFamily="2" charset="-122"/>
              </a:rPr>
              <a:t>,j</a:t>
            </a:r>
            <a:r>
              <a:rPr lang="en-US" altLang="zh-CN" sz="2800" baseline="-25000" dirty="0">
                <a:ea typeface="华文中宋" panose="02010600040101010101" pitchFamily="2" charset="-122"/>
              </a:rPr>
              <a:t>1</a:t>
            </a:r>
            <a:r>
              <a:rPr lang="en-US" altLang="zh-CN" sz="2800" b="0" dirty="0">
                <a:ea typeface="华文中宋" panose="02010600040101010101" pitchFamily="2" charset="-122"/>
              </a:rPr>
              <a:t>,j</a:t>
            </a:r>
            <a:r>
              <a:rPr lang="en-US" altLang="zh-CN" sz="2800" baseline="-25000" dirty="0">
                <a:ea typeface="华文中宋" panose="02010600040101010101" pitchFamily="2" charset="-122"/>
              </a:rPr>
              <a:t>2</a:t>
            </a:r>
            <a:r>
              <a:rPr lang="en-US" altLang="zh-CN" sz="2800" b="0" dirty="0">
                <a:ea typeface="华文中宋" panose="02010600040101010101" pitchFamily="2" charset="-122"/>
              </a:rPr>
              <a:t>)</a:t>
            </a:r>
          </a:p>
        </p:txBody>
      </p:sp>
      <p:sp>
        <p:nvSpPr>
          <p:cNvPr id="66572" name="Text Box 12">
            <a:extLst>
              <a:ext uri="{FF2B5EF4-FFF2-40B4-BE49-F238E27FC236}">
                <a16:creationId xmlns:a16="http://schemas.microsoft.com/office/drawing/2014/main" id="{5C27F22A-6CD4-40C9-8189-FB77369DF5E8}"/>
              </a:ext>
            </a:extLst>
          </p:cNvPr>
          <p:cNvSpPr txBox="1">
            <a:spLocks noChangeArrowheads="1"/>
          </p:cNvSpPr>
          <p:nvPr/>
        </p:nvSpPr>
        <p:spPr bwMode="auto">
          <a:xfrm>
            <a:off x="2362200" y="3276600"/>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 </a:t>
            </a:r>
            <a:r>
              <a:rPr lang="en-US" altLang="zh-CN" sz="2800" b="0" dirty="0">
                <a:ea typeface="华文中宋" panose="02010600040101010101" pitchFamily="2" charset="-122"/>
              </a:rPr>
              <a:t>max</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i</a:t>
            </a:r>
            <a:r>
              <a:rPr lang="en-US" altLang="zh-CN" sz="2800" b="0" baseline="-40000" dirty="0">
                <a:ea typeface="华文中宋" panose="02010600040101010101" pitchFamily="2" charset="-122"/>
                <a:sym typeface="Symbol" panose="05050102010706020507" pitchFamily="18" charset="2"/>
              </a:rPr>
              <a:t>1</a:t>
            </a:r>
            <a:r>
              <a:rPr lang="en-US" altLang="zh-CN" sz="2800" b="0" baseline="-25000" dirty="0">
                <a:ea typeface="华文中宋" panose="02010600040101010101" pitchFamily="2" charset="-122"/>
                <a:sym typeface="Symbol" panose="05050102010706020507" pitchFamily="18" charset="2"/>
              </a:rPr>
              <a:t> i</a:t>
            </a:r>
            <a:r>
              <a:rPr lang="en-US" altLang="zh-CN" sz="2800" b="0" baseline="-40000" dirty="0">
                <a:ea typeface="华文中宋" panose="02010600040101010101" pitchFamily="2" charset="-122"/>
                <a:sym typeface="Symbol" panose="05050102010706020507" pitchFamily="18" charset="2"/>
              </a:rPr>
              <a:t>2</a:t>
            </a:r>
            <a:r>
              <a:rPr lang="en-US" altLang="zh-CN" sz="2800" b="0" baseline="-25000" dirty="0">
                <a:ea typeface="华文中宋" panose="02010600040101010101" pitchFamily="2" charset="-122"/>
                <a:sym typeface="Symbol" panose="05050102010706020507" pitchFamily="18" charset="2"/>
              </a:rPr>
              <a:t>  m</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t(i</a:t>
            </a:r>
            <a:r>
              <a:rPr lang="en-US" altLang="zh-CN" sz="2800" baseline="-25000" dirty="0">
                <a:ea typeface="华文中宋" panose="02010600040101010101" pitchFamily="2" charset="-122"/>
              </a:rPr>
              <a:t>1</a:t>
            </a:r>
            <a:r>
              <a:rPr lang="en-US" altLang="zh-CN" sz="2800" b="0" dirty="0">
                <a:ea typeface="华文中宋" panose="02010600040101010101" pitchFamily="2" charset="-122"/>
              </a:rPr>
              <a:t>,i</a:t>
            </a:r>
            <a:r>
              <a:rPr lang="en-US" altLang="zh-CN" sz="2800" baseline="-25000" dirty="0">
                <a:ea typeface="华文中宋" panose="02010600040101010101" pitchFamily="2" charset="-122"/>
              </a:rPr>
              <a:t>2</a:t>
            </a:r>
            <a:r>
              <a:rPr lang="en-US" altLang="zh-CN" sz="2800" b="0" dirty="0">
                <a:ea typeface="华文中宋" panose="02010600040101010101" pitchFamily="2" charset="-122"/>
              </a:rPr>
              <a:t>)</a:t>
            </a:r>
          </a:p>
        </p:txBody>
      </p:sp>
      <p:sp>
        <p:nvSpPr>
          <p:cNvPr id="66573" name="Text Box 13">
            <a:extLst>
              <a:ext uri="{FF2B5EF4-FFF2-40B4-BE49-F238E27FC236}">
                <a16:creationId xmlns:a16="http://schemas.microsoft.com/office/drawing/2014/main" id="{3D5D8169-DBB9-4A1A-AD09-C24C9E6D7610}"/>
              </a:ext>
            </a:extLst>
          </p:cNvPr>
          <p:cNvSpPr txBox="1">
            <a:spLocks noChangeArrowheads="1"/>
          </p:cNvSpPr>
          <p:nvPr/>
        </p:nvSpPr>
        <p:spPr bwMode="auto">
          <a:xfrm>
            <a:off x="685800" y="39624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solidFill>
                  <a:srgbClr val="FF0000"/>
                </a:solidFill>
                <a:ea typeface="华文中宋" panose="02010600040101010101" pitchFamily="2" charset="-122"/>
              </a:rPr>
              <a:t>其中    </a:t>
            </a:r>
            <a:r>
              <a:rPr lang="en-US" altLang="zh-CN" sz="2800" dirty="0">
                <a:solidFill>
                  <a:srgbClr val="FF0000"/>
                </a:solidFill>
                <a:ea typeface="华文中宋" panose="02010600040101010101" pitchFamily="2" charset="-122"/>
              </a:rPr>
              <a:t>t(i</a:t>
            </a:r>
            <a:r>
              <a:rPr lang="en-US" altLang="zh-CN" sz="2800" baseline="-25000" dirty="0">
                <a:solidFill>
                  <a:srgbClr val="FF0000"/>
                </a:solidFill>
                <a:ea typeface="华文中宋" panose="02010600040101010101" pitchFamily="2" charset="-122"/>
              </a:rPr>
              <a:t>1</a:t>
            </a:r>
            <a:r>
              <a:rPr lang="en-US" altLang="zh-CN" sz="2800" dirty="0">
                <a:solidFill>
                  <a:srgbClr val="FF0000"/>
                </a:solidFill>
                <a:ea typeface="华文中宋" panose="02010600040101010101" pitchFamily="2" charset="-122"/>
              </a:rPr>
              <a:t>,i</a:t>
            </a:r>
            <a:r>
              <a:rPr lang="en-US" altLang="zh-CN" sz="2800" baseline="-25000" dirty="0">
                <a:solidFill>
                  <a:srgbClr val="FF0000"/>
                </a:solidFill>
                <a:ea typeface="华文中宋" panose="02010600040101010101" pitchFamily="2" charset="-122"/>
              </a:rPr>
              <a:t>2</a:t>
            </a:r>
            <a:r>
              <a:rPr lang="en-US" altLang="zh-CN" sz="2800" dirty="0">
                <a:solidFill>
                  <a:srgbClr val="FF0000"/>
                </a:solidFill>
                <a:ea typeface="华文中宋" panose="02010600040101010101" pitchFamily="2" charset="-122"/>
              </a:rPr>
              <a:t>)= max</a:t>
            </a:r>
            <a:r>
              <a:rPr lang="en-US" altLang="zh-CN" sz="2800" baseline="-25000" dirty="0">
                <a:solidFill>
                  <a:srgbClr val="FF0000"/>
                </a:solidFill>
                <a:ea typeface="华文中宋" panose="02010600040101010101" pitchFamily="2" charset="-122"/>
              </a:rPr>
              <a:t>{1 </a:t>
            </a:r>
            <a:r>
              <a:rPr lang="en-US" altLang="zh-CN" sz="2800" baseline="-25000" dirty="0">
                <a:solidFill>
                  <a:srgbClr val="FF0000"/>
                </a:solidFill>
                <a:ea typeface="华文中宋" panose="02010600040101010101" pitchFamily="2" charset="-122"/>
                <a:sym typeface="Symbol" panose="05050102010706020507" pitchFamily="18" charset="2"/>
              </a:rPr>
              <a:t>j</a:t>
            </a:r>
            <a:r>
              <a:rPr lang="en-US" altLang="zh-CN" sz="2800" baseline="-40000" dirty="0">
                <a:solidFill>
                  <a:srgbClr val="FF0000"/>
                </a:solidFill>
                <a:ea typeface="华文中宋" panose="02010600040101010101" pitchFamily="2" charset="-122"/>
                <a:sym typeface="Symbol" panose="05050102010706020507" pitchFamily="18" charset="2"/>
              </a:rPr>
              <a:t>1</a:t>
            </a:r>
            <a:r>
              <a:rPr lang="en-US" altLang="zh-CN" sz="2800" baseline="-25000" dirty="0">
                <a:solidFill>
                  <a:srgbClr val="FF0000"/>
                </a:solidFill>
                <a:ea typeface="华文中宋" panose="02010600040101010101" pitchFamily="2" charset="-122"/>
                <a:sym typeface="Symbol" panose="05050102010706020507" pitchFamily="18" charset="2"/>
              </a:rPr>
              <a:t> j</a:t>
            </a:r>
            <a:r>
              <a:rPr lang="en-US" altLang="zh-CN" sz="2800" baseline="-40000" dirty="0">
                <a:solidFill>
                  <a:srgbClr val="FF0000"/>
                </a:solidFill>
                <a:ea typeface="华文中宋" panose="02010600040101010101" pitchFamily="2" charset="-122"/>
                <a:sym typeface="Symbol" panose="05050102010706020507" pitchFamily="18" charset="2"/>
              </a:rPr>
              <a:t>2</a:t>
            </a:r>
            <a:r>
              <a:rPr lang="en-US" altLang="zh-CN" sz="2800" baseline="-25000" dirty="0">
                <a:solidFill>
                  <a:srgbClr val="FF0000"/>
                </a:solidFill>
                <a:ea typeface="华文中宋" panose="02010600040101010101" pitchFamily="2" charset="-122"/>
                <a:sym typeface="Symbol" panose="05050102010706020507" pitchFamily="18" charset="2"/>
              </a:rPr>
              <a:t>  n</a:t>
            </a:r>
            <a:r>
              <a:rPr lang="en-US" altLang="zh-CN" sz="2800" baseline="-25000" dirty="0">
                <a:solidFill>
                  <a:srgbClr val="FF0000"/>
                </a:solidFill>
                <a:ea typeface="华文中宋" panose="02010600040101010101" pitchFamily="2" charset="-122"/>
              </a:rPr>
              <a:t>} </a:t>
            </a:r>
            <a:r>
              <a:rPr lang="en-US" altLang="zh-CN" sz="2800" dirty="0">
                <a:solidFill>
                  <a:srgbClr val="FF0000"/>
                </a:solidFill>
                <a:ea typeface="华文中宋" panose="02010600040101010101" pitchFamily="2" charset="-122"/>
              </a:rPr>
              <a:t>S(i</a:t>
            </a:r>
            <a:r>
              <a:rPr lang="en-US" altLang="zh-CN" sz="2800" baseline="-25000" dirty="0">
                <a:solidFill>
                  <a:srgbClr val="FF0000"/>
                </a:solidFill>
                <a:ea typeface="华文中宋" panose="02010600040101010101" pitchFamily="2" charset="-122"/>
              </a:rPr>
              <a:t>1</a:t>
            </a:r>
            <a:r>
              <a:rPr lang="en-US" altLang="zh-CN" sz="2800" dirty="0">
                <a:solidFill>
                  <a:srgbClr val="FF0000"/>
                </a:solidFill>
                <a:ea typeface="华文中宋" panose="02010600040101010101" pitchFamily="2" charset="-122"/>
              </a:rPr>
              <a:t>,i</a:t>
            </a:r>
            <a:r>
              <a:rPr lang="en-US" altLang="zh-CN" sz="2800" baseline="-25000" dirty="0">
                <a:solidFill>
                  <a:srgbClr val="FF0000"/>
                </a:solidFill>
                <a:ea typeface="华文中宋" panose="02010600040101010101" pitchFamily="2" charset="-122"/>
              </a:rPr>
              <a:t>2</a:t>
            </a:r>
            <a:r>
              <a:rPr lang="en-US" altLang="zh-CN" sz="2800" dirty="0">
                <a:solidFill>
                  <a:srgbClr val="FF0000"/>
                </a:solidFill>
                <a:ea typeface="华文中宋" panose="02010600040101010101" pitchFamily="2" charset="-122"/>
              </a:rPr>
              <a:t>,j</a:t>
            </a:r>
            <a:r>
              <a:rPr lang="en-US" altLang="zh-CN" sz="2800" baseline="-25000" dirty="0">
                <a:solidFill>
                  <a:srgbClr val="FF0000"/>
                </a:solidFill>
                <a:ea typeface="华文中宋" panose="02010600040101010101" pitchFamily="2" charset="-122"/>
              </a:rPr>
              <a:t>1</a:t>
            </a:r>
            <a:r>
              <a:rPr lang="en-US" altLang="zh-CN" sz="2800" dirty="0">
                <a:solidFill>
                  <a:srgbClr val="FF0000"/>
                </a:solidFill>
                <a:ea typeface="华文中宋" panose="02010600040101010101" pitchFamily="2" charset="-122"/>
              </a:rPr>
              <a:t>,j</a:t>
            </a:r>
            <a:r>
              <a:rPr lang="en-US" altLang="zh-CN" sz="2800" baseline="-25000" dirty="0">
                <a:solidFill>
                  <a:srgbClr val="FF0000"/>
                </a:solidFill>
                <a:ea typeface="华文中宋" panose="02010600040101010101" pitchFamily="2" charset="-122"/>
              </a:rPr>
              <a:t>2</a:t>
            </a:r>
            <a:r>
              <a:rPr lang="en-US" altLang="zh-CN" sz="2800" dirty="0">
                <a:solidFill>
                  <a:srgbClr val="FF0000"/>
                </a:solidFill>
                <a:ea typeface="华文中宋" panose="02010600040101010101" pitchFamily="2" charset="-122"/>
              </a:rPr>
              <a:t>)</a:t>
            </a:r>
          </a:p>
        </p:txBody>
      </p:sp>
      <p:grpSp>
        <p:nvGrpSpPr>
          <p:cNvPr id="4" name="Group 20">
            <a:extLst>
              <a:ext uri="{FF2B5EF4-FFF2-40B4-BE49-F238E27FC236}">
                <a16:creationId xmlns:a16="http://schemas.microsoft.com/office/drawing/2014/main" id="{E55713B8-57CA-4FBA-B756-679F0B64CAB6}"/>
              </a:ext>
            </a:extLst>
          </p:cNvPr>
          <p:cNvGrpSpPr>
            <a:grpSpLocks/>
          </p:cNvGrpSpPr>
          <p:nvPr/>
        </p:nvGrpSpPr>
        <p:grpSpPr bwMode="auto">
          <a:xfrm>
            <a:off x="1295400" y="4419600"/>
            <a:ext cx="7315200" cy="990600"/>
            <a:chOff x="816" y="2880"/>
            <a:chExt cx="4608" cy="624"/>
          </a:xfrm>
        </p:grpSpPr>
        <p:sp>
          <p:nvSpPr>
            <p:cNvPr id="80906" name="Rectangle 15">
              <a:extLst>
                <a:ext uri="{FF2B5EF4-FFF2-40B4-BE49-F238E27FC236}">
                  <a16:creationId xmlns:a16="http://schemas.microsoft.com/office/drawing/2014/main" id="{1275D0AD-19C7-4789-9947-A637A84AC7BE}"/>
                </a:ext>
              </a:extLst>
            </p:cNvPr>
            <p:cNvSpPr>
              <a:spLocks noChangeArrowheads="1"/>
            </p:cNvSpPr>
            <p:nvPr/>
          </p:nvSpPr>
          <p:spPr bwMode="auto">
            <a:xfrm>
              <a:off x="816" y="2976"/>
              <a:ext cx="460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b="0" dirty="0">
                  <a:ea typeface="华文中宋" panose="02010600040101010101" pitchFamily="2" charset="-122"/>
                </a:rPr>
                <a:t>               = max</a:t>
              </a:r>
              <a:r>
                <a:rPr lang="en-US" altLang="zh-CN" sz="2800" b="0" baseline="-25000" dirty="0">
                  <a:ea typeface="华文中宋" panose="02010600040101010101" pitchFamily="2" charset="-122"/>
                </a:rPr>
                <a:t>{1 </a:t>
              </a:r>
              <a:r>
                <a:rPr lang="en-US" altLang="zh-CN" sz="2800" b="0" baseline="-25000" dirty="0">
                  <a:ea typeface="华文中宋" panose="02010600040101010101" pitchFamily="2" charset="-122"/>
                  <a:sym typeface="Symbol" panose="05050102010706020507" pitchFamily="18" charset="2"/>
                </a:rPr>
                <a:t>j</a:t>
              </a:r>
              <a:r>
                <a:rPr lang="en-US" altLang="zh-CN" sz="2800" b="0" baseline="-40000" dirty="0">
                  <a:ea typeface="华文中宋" panose="02010600040101010101" pitchFamily="2" charset="-122"/>
                  <a:sym typeface="Symbol" panose="05050102010706020507" pitchFamily="18" charset="2"/>
                </a:rPr>
                <a:t>1</a:t>
              </a:r>
              <a:r>
                <a:rPr lang="en-US" altLang="zh-CN" sz="2800" b="0" baseline="-25000" dirty="0">
                  <a:ea typeface="华文中宋" panose="02010600040101010101" pitchFamily="2" charset="-122"/>
                  <a:sym typeface="Symbol" panose="05050102010706020507" pitchFamily="18" charset="2"/>
                </a:rPr>
                <a:t> j</a:t>
              </a:r>
              <a:r>
                <a:rPr lang="en-US" altLang="zh-CN" sz="2800" b="0" baseline="-40000" dirty="0">
                  <a:ea typeface="华文中宋" panose="02010600040101010101" pitchFamily="2" charset="-122"/>
                  <a:sym typeface="Symbol" panose="05050102010706020507" pitchFamily="18" charset="2"/>
                </a:rPr>
                <a:t>2</a:t>
              </a:r>
              <a:r>
                <a:rPr lang="en-US" altLang="zh-CN" sz="2800" b="0" baseline="-25000" dirty="0">
                  <a:ea typeface="华文中宋" panose="02010600040101010101" pitchFamily="2" charset="-122"/>
                  <a:sym typeface="Symbol" panose="05050102010706020507" pitchFamily="18" charset="2"/>
                </a:rPr>
                <a:t>  n</a:t>
              </a:r>
              <a:r>
                <a:rPr lang="en-US" altLang="zh-CN" sz="2800" b="0" baseline="-25000" dirty="0">
                  <a:ea typeface="华文中宋" panose="02010600040101010101" pitchFamily="2" charset="-122"/>
                </a:rPr>
                <a:t>} </a:t>
              </a:r>
              <a:r>
                <a:rPr lang="en-US" altLang="zh-CN" sz="2800" b="0" dirty="0">
                  <a:ea typeface="华文中宋" panose="02010600040101010101" pitchFamily="2" charset="-122"/>
                </a:rPr>
                <a:t>              </a:t>
              </a:r>
            </a:p>
          </p:txBody>
        </p:sp>
        <p:grpSp>
          <p:nvGrpSpPr>
            <p:cNvPr id="80907" name="Group 16">
              <a:extLst>
                <a:ext uri="{FF2B5EF4-FFF2-40B4-BE49-F238E27FC236}">
                  <a16:creationId xmlns:a16="http://schemas.microsoft.com/office/drawing/2014/main" id="{AA012103-FD56-455A-ADCE-FA131EC89E9C}"/>
                </a:ext>
              </a:extLst>
            </p:cNvPr>
            <p:cNvGrpSpPr>
              <a:grpSpLocks/>
            </p:cNvGrpSpPr>
            <p:nvPr/>
          </p:nvGrpSpPr>
          <p:grpSpPr bwMode="auto">
            <a:xfrm>
              <a:off x="3120" y="2880"/>
              <a:ext cx="816" cy="624"/>
              <a:chOff x="3984" y="1584"/>
              <a:chExt cx="816" cy="624"/>
            </a:xfrm>
          </p:grpSpPr>
          <p:sp>
            <p:nvSpPr>
              <p:cNvPr id="80908" name="Text Box 17">
                <a:extLst>
                  <a:ext uri="{FF2B5EF4-FFF2-40B4-BE49-F238E27FC236}">
                    <a16:creationId xmlns:a16="http://schemas.microsoft.com/office/drawing/2014/main" id="{7F2780D1-B82C-4C90-B5A9-2FB58DA35C8F}"/>
                  </a:ext>
                </a:extLst>
              </p:cNvPr>
              <p:cNvSpPr txBox="1">
                <a:spLocks noChangeArrowheads="1"/>
              </p:cNvSpPr>
              <p:nvPr/>
            </p:nvSpPr>
            <p:spPr bwMode="auto">
              <a:xfrm>
                <a:off x="4080" y="1776"/>
                <a:ext cx="7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ea typeface="华文中宋" panose="02010600040101010101" pitchFamily="2" charset="-122"/>
                    <a:sym typeface="Symbol" panose="05050102010706020507" pitchFamily="18" charset="2"/>
                  </a:rPr>
                  <a:t>   </a:t>
                </a:r>
                <a:r>
                  <a:rPr lang="en-US" altLang="zh-CN" sz="2800" dirty="0" err="1">
                    <a:ea typeface="华文中宋" panose="02010600040101010101" pitchFamily="2" charset="-122"/>
                    <a:sym typeface="Symbol" panose="05050102010706020507" pitchFamily="18" charset="2"/>
                  </a:rPr>
                  <a:t>b</a:t>
                </a:r>
                <a:r>
                  <a:rPr lang="en-US" altLang="zh-CN" sz="2800" baseline="-25000" dirty="0" err="1">
                    <a:ea typeface="华文中宋" panose="02010600040101010101" pitchFamily="2" charset="-122"/>
                    <a:sym typeface="Symbol" panose="05050102010706020507" pitchFamily="18" charset="2"/>
                  </a:rPr>
                  <a:t>j</a:t>
                </a:r>
                <a:endParaRPr lang="en-US" altLang="zh-CN" sz="2800" baseline="-25000" dirty="0">
                  <a:ea typeface="华文中宋" panose="02010600040101010101" pitchFamily="2" charset="-122"/>
                  <a:sym typeface="Symbol" panose="05050102010706020507" pitchFamily="18" charset="2"/>
                </a:endParaRPr>
              </a:p>
            </p:txBody>
          </p:sp>
          <p:sp>
            <p:nvSpPr>
              <p:cNvPr id="80909" name="Text Box 18">
                <a:extLst>
                  <a:ext uri="{FF2B5EF4-FFF2-40B4-BE49-F238E27FC236}">
                    <a16:creationId xmlns:a16="http://schemas.microsoft.com/office/drawing/2014/main" id="{559D7772-F6D9-4569-89E8-59155C16BC8B}"/>
                  </a:ext>
                </a:extLst>
              </p:cNvPr>
              <p:cNvSpPr txBox="1">
                <a:spLocks noChangeArrowheads="1"/>
              </p:cNvSpPr>
              <p:nvPr/>
            </p:nvSpPr>
            <p:spPr bwMode="auto">
              <a:xfrm>
                <a:off x="3984" y="2016"/>
                <a:ext cx="6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   j=j</a:t>
                </a:r>
                <a:r>
                  <a:rPr lang="en-US" altLang="zh-CN" sz="2000" baseline="-25000" dirty="0">
                    <a:ea typeface="华文中宋" panose="02010600040101010101" pitchFamily="2" charset="-122"/>
                  </a:rPr>
                  <a:t>1</a:t>
                </a:r>
              </a:p>
            </p:txBody>
          </p:sp>
          <p:sp>
            <p:nvSpPr>
              <p:cNvPr id="80910" name="Text Box 19">
                <a:extLst>
                  <a:ext uri="{FF2B5EF4-FFF2-40B4-BE49-F238E27FC236}">
                    <a16:creationId xmlns:a16="http://schemas.microsoft.com/office/drawing/2014/main" id="{9508D66F-DC88-4486-B606-9B0A3445CD4F}"/>
                  </a:ext>
                </a:extLst>
              </p:cNvPr>
              <p:cNvSpPr txBox="1">
                <a:spLocks noChangeArrowheads="1"/>
              </p:cNvSpPr>
              <p:nvPr/>
            </p:nvSpPr>
            <p:spPr bwMode="auto">
              <a:xfrm>
                <a:off x="4032" y="1584"/>
                <a:ext cx="4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dirty="0">
                    <a:ea typeface="华文中宋" panose="02010600040101010101" pitchFamily="2" charset="-122"/>
                  </a:rPr>
                  <a:t>  j</a:t>
                </a:r>
                <a:r>
                  <a:rPr lang="en-US" altLang="zh-CN" sz="2000" baseline="-25000" dirty="0">
                    <a:ea typeface="华文中宋" panose="02010600040101010101" pitchFamily="2" charset="-122"/>
                  </a:rPr>
                  <a:t>2</a:t>
                </a:r>
              </a:p>
            </p:txBody>
          </p:sp>
        </p:grpSp>
      </p:grpSp>
      <p:sp>
        <p:nvSpPr>
          <p:cNvPr id="66581" name="Rectangle 21">
            <a:extLst>
              <a:ext uri="{FF2B5EF4-FFF2-40B4-BE49-F238E27FC236}">
                <a16:creationId xmlns:a16="http://schemas.microsoft.com/office/drawing/2014/main" id="{142F8464-BC6A-4701-AEBF-A13808B58792}"/>
              </a:ext>
            </a:extLst>
          </p:cNvPr>
          <p:cNvSpPr>
            <a:spLocks noChangeArrowheads="1"/>
          </p:cNvSpPr>
          <p:nvPr/>
        </p:nvSpPr>
        <p:spPr bwMode="auto">
          <a:xfrm>
            <a:off x="381000" y="5562600"/>
            <a:ext cx="8305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err="1">
                <a:ea typeface="华文中宋" panose="02010600040101010101" pitchFamily="2" charset="-122"/>
                <a:sym typeface="Symbol" panose="05050102010706020507" pitchFamily="18" charset="2"/>
              </a:rPr>
              <a:t>b</a:t>
            </a:r>
            <a:r>
              <a:rPr lang="en-US" altLang="zh-CN" sz="2800" baseline="-25000" dirty="0" err="1">
                <a:ea typeface="华文中宋" panose="02010600040101010101" pitchFamily="2" charset="-122"/>
                <a:sym typeface="Symbol" panose="05050102010706020507" pitchFamily="18" charset="2"/>
              </a:rPr>
              <a:t>j</a:t>
            </a:r>
            <a:r>
              <a:rPr lang="zh-CN" altLang="en-US" sz="2800" dirty="0">
                <a:ea typeface="华文中宋" panose="02010600040101010101" pitchFamily="2" charset="-122"/>
                <a:sym typeface="Symbol" panose="05050102010706020507" pitchFamily="18" charset="2"/>
              </a:rPr>
              <a:t>是</a:t>
            </a:r>
            <a:r>
              <a:rPr lang="en-US" altLang="zh-CN" sz="2800" dirty="0">
                <a:ea typeface="华文中宋" panose="02010600040101010101" pitchFamily="2" charset="-122"/>
                <a:sym typeface="Symbol" panose="05050102010706020507" pitchFamily="18" charset="2"/>
              </a:rPr>
              <a:t>j</a:t>
            </a:r>
            <a:r>
              <a:rPr lang="zh-CN" altLang="en-US" sz="2800" dirty="0">
                <a:ea typeface="华文中宋" panose="02010600040101010101" pitchFamily="2" charset="-122"/>
                <a:sym typeface="Symbol" panose="05050102010706020507" pitchFamily="18" charset="2"/>
              </a:rPr>
              <a:t>列上从</a:t>
            </a:r>
            <a:r>
              <a:rPr lang="en-US" altLang="zh-CN" sz="2800" dirty="0">
                <a:ea typeface="华文中宋" panose="02010600040101010101" pitchFamily="2" charset="-122"/>
              </a:rPr>
              <a:t>i</a:t>
            </a:r>
            <a:r>
              <a:rPr lang="en-US" altLang="zh-CN" sz="2800" baseline="-25000" dirty="0">
                <a:ea typeface="华文中宋" panose="02010600040101010101" pitchFamily="2" charset="-122"/>
              </a:rPr>
              <a:t>1</a:t>
            </a:r>
            <a:r>
              <a:rPr lang="zh-CN" altLang="en-US" sz="2800" dirty="0">
                <a:ea typeface="华文中宋" panose="02010600040101010101" pitchFamily="2" charset="-122"/>
              </a:rPr>
              <a:t>行到</a:t>
            </a:r>
            <a:r>
              <a:rPr lang="en-US" altLang="zh-CN" sz="2800" dirty="0">
                <a:ea typeface="华文中宋" panose="02010600040101010101" pitchFamily="2" charset="-122"/>
              </a:rPr>
              <a:t>i</a:t>
            </a:r>
            <a:r>
              <a:rPr lang="en-US" altLang="zh-CN" sz="2800" baseline="-25000" dirty="0">
                <a:ea typeface="华文中宋" panose="02010600040101010101" pitchFamily="2" charset="-122"/>
              </a:rPr>
              <a:t>2</a:t>
            </a:r>
            <a:r>
              <a:rPr lang="zh-CN" altLang="en-US" sz="2800" dirty="0">
                <a:ea typeface="华文中宋" panose="02010600040101010101" pitchFamily="2" charset="-122"/>
              </a:rPr>
              <a:t>行的元素之和，显然</a:t>
            </a:r>
            <a:r>
              <a:rPr lang="en-US" altLang="zh-CN" sz="2800" dirty="0">
                <a:solidFill>
                  <a:srgbClr val="FF0000"/>
                </a:solidFill>
                <a:ea typeface="华文中宋" panose="02010600040101010101" pitchFamily="2" charset="-122"/>
              </a:rPr>
              <a:t>t(i</a:t>
            </a:r>
            <a:r>
              <a:rPr lang="en-US" altLang="zh-CN" sz="2800" baseline="-25000" dirty="0">
                <a:solidFill>
                  <a:srgbClr val="FF0000"/>
                </a:solidFill>
                <a:ea typeface="华文中宋" panose="02010600040101010101" pitchFamily="2" charset="-122"/>
              </a:rPr>
              <a:t>1</a:t>
            </a:r>
            <a:r>
              <a:rPr lang="en-US" altLang="zh-CN" sz="2800" dirty="0">
                <a:solidFill>
                  <a:srgbClr val="FF0000"/>
                </a:solidFill>
                <a:ea typeface="华文中宋" panose="02010600040101010101" pitchFamily="2" charset="-122"/>
              </a:rPr>
              <a:t>,i</a:t>
            </a:r>
            <a:r>
              <a:rPr lang="en-US" altLang="zh-CN" sz="2800" baseline="-25000" dirty="0">
                <a:solidFill>
                  <a:srgbClr val="FF0000"/>
                </a:solidFill>
                <a:ea typeface="华文中宋" panose="02010600040101010101" pitchFamily="2" charset="-122"/>
              </a:rPr>
              <a:t>2</a:t>
            </a:r>
            <a:r>
              <a:rPr lang="en-US" altLang="zh-CN" sz="2800" dirty="0">
                <a:solidFill>
                  <a:srgbClr val="FF0000"/>
                </a:solidFill>
                <a:ea typeface="华文中宋" panose="02010600040101010101" pitchFamily="2" charset="-122"/>
              </a:rPr>
              <a:t>)</a:t>
            </a:r>
            <a:r>
              <a:rPr lang="zh-CN" altLang="en-US" sz="2800" dirty="0">
                <a:ea typeface="华文中宋" panose="02010600040101010101" pitchFamily="2" charset="-122"/>
              </a:rPr>
              <a:t>是求</a:t>
            </a:r>
            <a:r>
              <a:rPr lang="en-US" altLang="zh-CN" sz="2800" dirty="0">
                <a:ea typeface="华文中宋" panose="02010600040101010101" pitchFamily="2" charset="-122"/>
                <a:sym typeface="Symbol" panose="05050102010706020507" pitchFamily="18" charset="2"/>
              </a:rPr>
              <a:t>b[1..n]</a:t>
            </a:r>
            <a:r>
              <a:rPr lang="zh-CN" altLang="en-US" sz="2800" dirty="0">
                <a:ea typeface="华文中宋" panose="02010600040101010101" pitchFamily="2" charset="-122"/>
                <a:sym typeface="Symbol" panose="05050102010706020507" pitchFamily="18" charset="2"/>
              </a:rPr>
              <a:t>的</a:t>
            </a:r>
            <a:r>
              <a:rPr lang="zh-CN" altLang="en-US" sz="2800" dirty="0">
                <a:ea typeface="华文中宋" panose="02010600040101010101" pitchFamily="2" charset="-122"/>
              </a:rPr>
              <a:t>最大子段和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3">
                                            <p:txEl>
                                              <p:pRg st="0" end="0"/>
                                            </p:txEl>
                                          </p:spTgt>
                                        </p:tgtEl>
                                        <p:attrNameLst>
                                          <p:attrName>style.visibility</p:attrName>
                                        </p:attrNameLst>
                                      </p:cBhvr>
                                      <p:to>
                                        <p:strVal val="visible"/>
                                      </p:to>
                                    </p:set>
                                    <p:anim calcmode="lin" valueType="num">
                                      <p:cBhvr additive="base">
                                        <p:cTn id="7" dur="500" fill="hold"/>
                                        <p:tgtEl>
                                          <p:spTgt spid="66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65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6571"/>
                                        </p:tgtEl>
                                        <p:attrNameLst>
                                          <p:attrName>style.visibility</p:attrName>
                                        </p:attrNameLst>
                                      </p:cBhvr>
                                      <p:to>
                                        <p:strVal val="visible"/>
                                      </p:to>
                                    </p:set>
                                    <p:anim calcmode="lin" valueType="num">
                                      <p:cBhvr additive="base">
                                        <p:cTn id="19" dur="500" fill="hold"/>
                                        <p:tgtEl>
                                          <p:spTgt spid="66571"/>
                                        </p:tgtEl>
                                        <p:attrNameLst>
                                          <p:attrName>ppt_x</p:attrName>
                                        </p:attrNameLst>
                                      </p:cBhvr>
                                      <p:tavLst>
                                        <p:tav tm="0">
                                          <p:val>
                                            <p:strVal val="0-#ppt_w/2"/>
                                          </p:val>
                                        </p:tav>
                                        <p:tav tm="100000">
                                          <p:val>
                                            <p:strVal val="#ppt_x"/>
                                          </p:val>
                                        </p:tav>
                                      </p:tavLst>
                                    </p:anim>
                                    <p:anim calcmode="lin" valueType="num">
                                      <p:cBhvr additive="base">
                                        <p:cTn id="20" dur="500" fill="hold"/>
                                        <p:tgtEl>
                                          <p:spTgt spid="6657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6572"/>
                                        </p:tgtEl>
                                        <p:attrNameLst>
                                          <p:attrName>style.visibility</p:attrName>
                                        </p:attrNameLst>
                                      </p:cBhvr>
                                      <p:to>
                                        <p:strVal val="visible"/>
                                      </p:to>
                                    </p:set>
                                    <p:anim calcmode="lin" valueType="num">
                                      <p:cBhvr additive="base">
                                        <p:cTn id="25" dur="500" fill="hold"/>
                                        <p:tgtEl>
                                          <p:spTgt spid="66572"/>
                                        </p:tgtEl>
                                        <p:attrNameLst>
                                          <p:attrName>ppt_x</p:attrName>
                                        </p:attrNameLst>
                                      </p:cBhvr>
                                      <p:tavLst>
                                        <p:tav tm="0">
                                          <p:val>
                                            <p:strVal val="0-#ppt_w/2"/>
                                          </p:val>
                                        </p:tav>
                                        <p:tav tm="100000">
                                          <p:val>
                                            <p:strVal val="#ppt_x"/>
                                          </p:val>
                                        </p:tav>
                                      </p:tavLst>
                                    </p:anim>
                                    <p:anim calcmode="lin" valueType="num">
                                      <p:cBhvr additive="base">
                                        <p:cTn id="26" dur="500" fill="hold"/>
                                        <p:tgtEl>
                                          <p:spTgt spid="6657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6573"/>
                                        </p:tgtEl>
                                        <p:attrNameLst>
                                          <p:attrName>style.visibility</p:attrName>
                                        </p:attrNameLst>
                                      </p:cBhvr>
                                      <p:to>
                                        <p:strVal val="visible"/>
                                      </p:to>
                                    </p:set>
                                    <p:anim calcmode="lin" valueType="num">
                                      <p:cBhvr additive="base">
                                        <p:cTn id="31" dur="500" fill="hold"/>
                                        <p:tgtEl>
                                          <p:spTgt spid="66573"/>
                                        </p:tgtEl>
                                        <p:attrNameLst>
                                          <p:attrName>ppt_x</p:attrName>
                                        </p:attrNameLst>
                                      </p:cBhvr>
                                      <p:tavLst>
                                        <p:tav tm="0">
                                          <p:val>
                                            <p:strVal val="0-#ppt_w/2"/>
                                          </p:val>
                                        </p:tav>
                                        <p:tav tm="100000">
                                          <p:val>
                                            <p:strVal val="#ppt_x"/>
                                          </p:val>
                                        </p:tav>
                                      </p:tavLst>
                                    </p:anim>
                                    <p:anim calcmode="lin" valueType="num">
                                      <p:cBhvr additive="base">
                                        <p:cTn id="32" dur="500" fill="hold"/>
                                        <p:tgtEl>
                                          <p:spTgt spid="66573"/>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0-#ppt_w/2"/>
                                          </p:val>
                                        </p:tav>
                                        <p:tav tm="100000">
                                          <p:val>
                                            <p:strVal val="#ppt_x"/>
                                          </p:val>
                                        </p:tav>
                                      </p:tavLst>
                                    </p:anim>
                                    <p:anim calcmode="lin" valueType="num">
                                      <p:cBhvr additive="base">
                                        <p:cTn id="3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6581"/>
                                        </p:tgtEl>
                                        <p:attrNameLst>
                                          <p:attrName>style.visibility</p:attrName>
                                        </p:attrNameLst>
                                      </p:cBhvr>
                                      <p:to>
                                        <p:strVal val="visible"/>
                                      </p:to>
                                    </p:set>
                                    <p:anim calcmode="lin" valueType="num">
                                      <p:cBhvr additive="base">
                                        <p:cTn id="43" dur="500" fill="hold"/>
                                        <p:tgtEl>
                                          <p:spTgt spid="66581"/>
                                        </p:tgtEl>
                                        <p:attrNameLst>
                                          <p:attrName>ppt_x</p:attrName>
                                        </p:attrNameLst>
                                      </p:cBhvr>
                                      <p:tavLst>
                                        <p:tav tm="0">
                                          <p:val>
                                            <p:strVal val="0-#ppt_w/2"/>
                                          </p:val>
                                        </p:tav>
                                        <p:tav tm="100000">
                                          <p:val>
                                            <p:strVal val="#ppt_x"/>
                                          </p:val>
                                        </p:tav>
                                      </p:tavLst>
                                    </p:anim>
                                    <p:anim calcmode="lin" valueType="num">
                                      <p:cBhvr additive="base">
                                        <p:cTn id="44" dur="500" fill="hold"/>
                                        <p:tgtEl>
                                          <p:spTgt spid="665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autoUpdateAnimBg="0"/>
      <p:bldP spid="66571" grpId="0" autoUpdateAnimBg="0"/>
      <p:bldP spid="66572" grpId="0" autoUpdateAnimBg="0"/>
      <p:bldP spid="66573" grpId="0" autoUpdateAnimBg="0"/>
      <p:bldP spid="66581"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00" name="Oval 16">
            <a:extLst>
              <a:ext uri="{FF2B5EF4-FFF2-40B4-BE49-F238E27FC236}">
                <a16:creationId xmlns:a16="http://schemas.microsoft.com/office/drawing/2014/main" id="{9D8D0B44-FCDD-4759-A475-F2850C9A16F5}"/>
              </a:ext>
            </a:extLst>
          </p:cNvPr>
          <p:cNvSpPr>
            <a:spLocks noChangeArrowheads="1"/>
          </p:cNvSpPr>
          <p:nvPr/>
        </p:nvSpPr>
        <p:spPr bwMode="auto">
          <a:xfrm>
            <a:off x="3733800" y="3276600"/>
            <a:ext cx="457200" cy="1676400"/>
          </a:xfrm>
          <a:prstGeom prst="ellipse">
            <a:avLst/>
          </a:prstGeom>
          <a:solidFill>
            <a:srgbClr val="CC99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603" name="Oval 19">
            <a:extLst>
              <a:ext uri="{FF2B5EF4-FFF2-40B4-BE49-F238E27FC236}">
                <a16:creationId xmlns:a16="http://schemas.microsoft.com/office/drawing/2014/main" id="{81B124F3-436B-4BBB-A41F-349C4C6BB78C}"/>
              </a:ext>
            </a:extLst>
          </p:cNvPr>
          <p:cNvSpPr>
            <a:spLocks noChangeArrowheads="1"/>
          </p:cNvSpPr>
          <p:nvPr/>
        </p:nvSpPr>
        <p:spPr bwMode="auto">
          <a:xfrm>
            <a:off x="6172200" y="3276600"/>
            <a:ext cx="457200" cy="1676400"/>
          </a:xfrm>
          <a:prstGeom prst="ellipse">
            <a:avLst/>
          </a:prstGeom>
          <a:solidFill>
            <a:srgbClr val="CC99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602" name="Oval 18">
            <a:extLst>
              <a:ext uri="{FF2B5EF4-FFF2-40B4-BE49-F238E27FC236}">
                <a16:creationId xmlns:a16="http://schemas.microsoft.com/office/drawing/2014/main" id="{1B0000C7-0B69-4E38-81BB-A891903B99F0}"/>
              </a:ext>
            </a:extLst>
          </p:cNvPr>
          <p:cNvSpPr>
            <a:spLocks noChangeArrowheads="1"/>
          </p:cNvSpPr>
          <p:nvPr/>
        </p:nvSpPr>
        <p:spPr bwMode="auto">
          <a:xfrm>
            <a:off x="5334000" y="3276600"/>
            <a:ext cx="457200" cy="1676400"/>
          </a:xfrm>
          <a:prstGeom prst="ellipse">
            <a:avLst/>
          </a:prstGeom>
          <a:solidFill>
            <a:srgbClr val="CC99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601" name="Oval 17">
            <a:extLst>
              <a:ext uri="{FF2B5EF4-FFF2-40B4-BE49-F238E27FC236}">
                <a16:creationId xmlns:a16="http://schemas.microsoft.com/office/drawing/2014/main" id="{14D58CEE-04C4-45EF-975C-E19DE72D8A58}"/>
              </a:ext>
            </a:extLst>
          </p:cNvPr>
          <p:cNvSpPr>
            <a:spLocks noChangeArrowheads="1"/>
          </p:cNvSpPr>
          <p:nvPr/>
        </p:nvSpPr>
        <p:spPr bwMode="auto">
          <a:xfrm>
            <a:off x="4343400" y="3276600"/>
            <a:ext cx="457200" cy="1676400"/>
          </a:xfrm>
          <a:prstGeom prst="ellipse">
            <a:avLst/>
          </a:prstGeom>
          <a:solidFill>
            <a:srgbClr val="CC99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5" name="Oval 11">
            <a:extLst>
              <a:ext uri="{FF2B5EF4-FFF2-40B4-BE49-F238E27FC236}">
                <a16:creationId xmlns:a16="http://schemas.microsoft.com/office/drawing/2014/main" id="{76453489-3DC1-44AD-B32B-25A0C91371EB}"/>
              </a:ext>
            </a:extLst>
          </p:cNvPr>
          <p:cNvSpPr>
            <a:spLocks noChangeArrowheads="1"/>
          </p:cNvSpPr>
          <p:nvPr/>
        </p:nvSpPr>
        <p:spPr bwMode="auto">
          <a:xfrm>
            <a:off x="3733800" y="3276600"/>
            <a:ext cx="457200" cy="1143000"/>
          </a:xfrm>
          <a:prstGeom prst="ellipse">
            <a:avLst/>
          </a:prstGeom>
          <a:solidFill>
            <a:schemeClr val="hlink"/>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9" name="Oval 15">
            <a:extLst>
              <a:ext uri="{FF2B5EF4-FFF2-40B4-BE49-F238E27FC236}">
                <a16:creationId xmlns:a16="http://schemas.microsoft.com/office/drawing/2014/main" id="{305ACD04-952D-4552-81A1-D1DB4FE83C7D}"/>
              </a:ext>
            </a:extLst>
          </p:cNvPr>
          <p:cNvSpPr>
            <a:spLocks noChangeArrowheads="1"/>
          </p:cNvSpPr>
          <p:nvPr/>
        </p:nvSpPr>
        <p:spPr bwMode="auto">
          <a:xfrm>
            <a:off x="3124200" y="3276600"/>
            <a:ext cx="457200" cy="1676400"/>
          </a:xfrm>
          <a:prstGeom prst="ellipse">
            <a:avLst/>
          </a:prstGeom>
          <a:solidFill>
            <a:srgbClr val="CC99FF"/>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4" name="Oval 10">
            <a:extLst>
              <a:ext uri="{FF2B5EF4-FFF2-40B4-BE49-F238E27FC236}">
                <a16:creationId xmlns:a16="http://schemas.microsoft.com/office/drawing/2014/main" id="{721553EB-6FCD-4790-A5A7-02DBF345425A}"/>
              </a:ext>
            </a:extLst>
          </p:cNvPr>
          <p:cNvSpPr>
            <a:spLocks noChangeArrowheads="1"/>
          </p:cNvSpPr>
          <p:nvPr/>
        </p:nvSpPr>
        <p:spPr bwMode="auto">
          <a:xfrm>
            <a:off x="3124200" y="3276600"/>
            <a:ext cx="457200" cy="1143000"/>
          </a:xfrm>
          <a:prstGeom prst="ellipse">
            <a:avLst/>
          </a:prstGeom>
          <a:solidFill>
            <a:schemeClr val="hlink"/>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6" name="Oval 12">
            <a:extLst>
              <a:ext uri="{FF2B5EF4-FFF2-40B4-BE49-F238E27FC236}">
                <a16:creationId xmlns:a16="http://schemas.microsoft.com/office/drawing/2014/main" id="{F234CFB6-A33D-45E1-BE79-4F1A7BC67941}"/>
              </a:ext>
            </a:extLst>
          </p:cNvPr>
          <p:cNvSpPr>
            <a:spLocks noChangeArrowheads="1"/>
          </p:cNvSpPr>
          <p:nvPr/>
        </p:nvSpPr>
        <p:spPr bwMode="auto">
          <a:xfrm>
            <a:off x="4343400" y="3276600"/>
            <a:ext cx="457200" cy="1143000"/>
          </a:xfrm>
          <a:prstGeom prst="ellipse">
            <a:avLst/>
          </a:prstGeom>
          <a:solidFill>
            <a:schemeClr val="hlink"/>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7" name="Oval 13">
            <a:extLst>
              <a:ext uri="{FF2B5EF4-FFF2-40B4-BE49-F238E27FC236}">
                <a16:creationId xmlns:a16="http://schemas.microsoft.com/office/drawing/2014/main" id="{1AF75FF0-CEA8-40E6-9502-2E2D71101B6E}"/>
              </a:ext>
            </a:extLst>
          </p:cNvPr>
          <p:cNvSpPr>
            <a:spLocks noChangeArrowheads="1"/>
          </p:cNvSpPr>
          <p:nvPr/>
        </p:nvSpPr>
        <p:spPr bwMode="auto">
          <a:xfrm>
            <a:off x="5334000" y="3276600"/>
            <a:ext cx="457200" cy="1143000"/>
          </a:xfrm>
          <a:prstGeom prst="ellipse">
            <a:avLst/>
          </a:prstGeom>
          <a:solidFill>
            <a:schemeClr val="hlink"/>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67598" name="Oval 14">
            <a:extLst>
              <a:ext uri="{FF2B5EF4-FFF2-40B4-BE49-F238E27FC236}">
                <a16:creationId xmlns:a16="http://schemas.microsoft.com/office/drawing/2014/main" id="{B6B5CF8B-51BC-4CED-8E3C-9EDB36E10996}"/>
              </a:ext>
            </a:extLst>
          </p:cNvPr>
          <p:cNvSpPr>
            <a:spLocks noChangeArrowheads="1"/>
          </p:cNvSpPr>
          <p:nvPr/>
        </p:nvSpPr>
        <p:spPr bwMode="auto">
          <a:xfrm>
            <a:off x="6172200" y="3276600"/>
            <a:ext cx="457200" cy="1143000"/>
          </a:xfrm>
          <a:prstGeom prst="ellipse">
            <a:avLst/>
          </a:prstGeom>
          <a:solidFill>
            <a:schemeClr val="hlink"/>
          </a:solidFill>
          <a:ln w="9525">
            <a:solidFill>
              <a:schemeClr val="tx1"/>
            </a:solidFill>
            <a:round/>
            <a:headEnd/>
            <a:tailEnd/>
          </a:ln>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nvGrpSpPr>
          <p:cNvPr id="2" name="Group 9">
            <a:extLst>
              <a:ext uri="{FF2B5EF4-FFF2-40B4-BE49-F238E27FC236}">
                <a16:creationId xmlns:a16="http://schemas.microsoft.com/office/drawing/2014/main" id="{89CA41F8-7C8E-4C1E-8027-5CC248777276}"/>
              </a:ext>
            </a:extLst>
          </p:cNvPr>
          <p:cNvGrpSpPr>
            <a:grpSpLocks/>
          </p:cNvGrpSpPr>
          <p:nvPr/>
        </p:nvGrpSpPr>
        <p:grpSpPr bwMode="auto">
          <a:xfrm>
            <a:off x="2743200" y="1676400"/>
            <a:ext cx="4467225" cy="4340225"/>
            <a:chOff x="1728" y="1056"/>
            <a:chExt cx="2814" cy="2734"/>
          </a:xfrm>
        </p:grpSpPr>
        <p:sp>
          <p:nvSpPr>
            <p:cNvPr id="81936" name="AutoShape 6">
              <a:extLst>
                <a:ext uri="{FF2B5EF4-FFF2-40B4-BE49-F238E27FC236}">
                  <a16:creationId xmlns:a16="http://schemas.microsoft.com/office/drawing/2014/main" id="{7C687A11-8866-4192-9736-1BD842804BED}"/>
                </a:ext>
              </a:extLst>
            </p:cNvPr>
            <p:cNvSpPr>
              <a:spLocks noChangeArrowheads="1"/>
            </p:cNvSpPr>
            <p:nvPr/>
          </p:nvSpPr>
          <p:spPr bwMode="auto">
            <a:xfrm>
              <a:off x="1728" y="1147"/>
              <a:ext cx="2814" cy="2445"/>
            </a:xfrm>
            <a:prstGeom prst="bracketPair">
              <a:avLst>
                <a:gd name="adj" fmla="val 5171"/>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81937" name="Text Box 7">
              <a:extLst>
                <a:ext uri="{FF2B5EF4-FFF2-40B4-BE49-F238E27FC236}">
                  <a16:creationId xmlns:a16="http://schemas.microsoft.com/office/drawing/2014/main" id="{3E0DE4C4-33E8-4EE9-80C6-001ED1F8DE16}"/>
                </a:ext>
              </a:extLst>
            </p:cNvPr>
            <p:cNvSpPr txBox="1">
              <a:spLocks noChangeArrowheads="1"/>
            </p:cNvSpPr>
            <p:nvPr/>
          </p:nvSpPr>
          <p:spPr bwMode="auto">
            <a:xfrm>
              <a:off x="1973" y="1056"/>
              <a:ext cx="2395" cy="2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11</a:t>
              </a:r>
              <a:r>
                <a:rPr lang="en-US" altLang="zh-CN" b="0" dirty="0">
                  <a:ea typeface="华文中宋" panose="02010600040101010101" pitchFamily="2" charset="-122"/>
                </a:rPr>
                <a:t>   a</a:t>
              </a:r>
              <a:r>
                <a:rPr lang="en-US" altLang="zh-CN" b="0" baseline="-25000" dirty="0">
                  <a:ea typeface="华文中宋" panose="02010600040101010101" pitchFamily="2" charset="-122"/>
                </a:rPr>
                <a:t>12</a:t>
              </a:r>
              <a:r>
                <a:rPr lang="en-US" altLang="zh-CN" b="0" dirty="0">
                  <a:ea typeface="华文中宋" panose="02010600040101010101" pitchFamily="2" charset="-122"/>
                </a:rPr>
                <a:t>   a</a:t>
              </a:r>
              <a:r>
                <a:rPr lang="en-US" altLang="zh-CN" b="0" baseline="-25000" dirty="0">
                  <a:ea typeface="华文中宋" panose="02010600040101010101" pitchFamily="2" charset="-122"/>
                </a:rPr>
                <a:t>13</a:t>
              </a:r>
              <a:r>
                <a:rPr lang="en-US" altLang="zh-CN" b="0" dirty="0">
                  <a:ea typeface="华文中宋" panose="02010600040101010101" pitchFamily="2" charset="-122"/>
                </a:rPr>
                <a:t>   …   a</a:t>
              </a:r>
              <a:r>
                <a:rPr lang="en-US" altLang="zh-CN" b="0" baseline="-25000" dirty="0">
                  <a:ea typeface="华文中宋" panose="02010600040101010101" pitchFamily="2" charset="-122"/>
                </a:rPr>
                <a:t>1k  …   </a:t>
              </a:r>
              <a:r>
                <a:rPr lang="en-US" altLang="zh-CN" b="0" dirty="0">
                  <a:ea typeface="华文中宋" panose="02010600040101010101" pitchFamily="2" charset="-122"/>
                </a:rPr>
                <a:t>a</a:t>
              </a:r>
              <a:r>
                <a:rPr lang="en-US" altLang="zh-CN" b="0" baseline="-25000" dirty="0">
                  <a:ea typeface="华文中宋" panose="02010600040101010101" pitchFamily="2" charset="-122"/>
                </a:rPr>
                <a:t>1n</a:t>
              </a:r>
              <a:endParaRPr lang="en-US" altLang="zh-CN" b="0" dirty="0">
                <a:ea typeface="华文中宋" panose="02010600040101010101" pitchFamily="2" charset="-122"/>
              </a:endParaRPr>
            </a:p>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21</a:t>
              </a:r>
              <a:r>
                <a:rPr lang="en-US" altLang="zh-CN" b="0" dirty="0">
                  <a:ea typeface="华文中宋" panose="02010600040101010101" pitchFamily="2" charset="-122"/>
                </a:rPr>
                <a:t>   a</a:t>
              </a:r>
              <a:r>
                <a:rPr lang="en-US" altLang="zh-CN" b="0" baseline="-25000" dirty="0">
                  <a:ea typeface="华文中宋" panose="02010600040101010101" pitchFamily="2" charset="-122"/>
                </a:rPr>
                <a:t>22</a:t>
              </a:r>
              <a:r>
                <a:rPr lang="en-US" altLang="zh-CN" b="0" dirty="0">
                  <a:ea typeface="华文中宋" panose="02010600040101010101" pitchFamily="2" charset="-122"/>
                </a:rPr>
                <a:t>   a</a:t>
              </a:r>
              <a:r>
                <a:rPr lang="en-US" altLang="zh-CN" b="0" baseline="-25000" dirty="0">
                  <a:ea typeface="华文中宋" panose="02010600040101010101" pitchFamily="2" charset="-122"/>
                </a:rPr>
                <a:t>23</a:t>
              </a:r>
              <a:r>
                <a:rPr lang="en-US" altLang="zh-CN" b="0" dirty="0">
                  <a:ea typeface="华文中宋" panose="02010600040101010101" pitchFamily="2" charset="-122"/>
                </a:rPr>
                <a:t>   …   a</a:t>
              </a:r>
              <a:r>
                <a:rPr lang="en-US" altLang="zh-CN" b="0" baseline="-25000" dirty="0">
                  <a:ea typeface="华文中宋" panose="02010600040101010101" pitchFamily="2" charset="-122"/>
                </a:rPr>
                <a:t>2k …   </a:t>
              </a:r>
              <a:r>
                <a:rPr lang="en-US" altLang="zh-CN" b="0" dirty="0">
                  <a:ea typeface="华文中宋" panose="02010600040101010101" pitchFamily="2" charset="-122"/>
                </a:rPr>
                <a:t>a</a:t>
              </a:r>
              <a:r>
                <a:rPr lang="en-US" altLang="zh-CN" b="0" baseline="-25000" dirty="0">
                  <a:ea typeface="华文中宋" panose="02010600040101010101" pitchFamily="2" charset="-122"/>
                </a:rPr>
                <a:t>2n</a:t>
              </a:r>
              <a:r>
                <a:rPr lang="en-US" altLang="zh-CN" b="0" dirty="0">
                  <a:ea typeface="华文中宋" panose="02010600040101010101" pitchFamily="2" charset="-122"/>
                </a:rPr>
                <a:t> </a:t>
              </a:r>
            </a:p>
            <a:p>
              <a:pPr eaLnBrk="1" hangingPunct="1">
                <a:spcBef>
                  <a:spcPct val="50000"/>
                </a:spcBef>
              </a:pPr>
              <a:r>
                <a:rPr lang="en-US" altLang="zh-CN" b="0" dirty="0">
                  <a:ea typeface="华文中宋" panose="02010600040101010101" pitchFamily="2" charset="-122"/>
                </a:rPr>
                <a:t>……………….</a:t>
              </a:r>
            </a:p>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i1</a:t>
              </a:r>
              <a:r>
                <a:rPr lang="en-US" altLang="zh-CN" b="0" dirty="0">
                  <a:ea typeface="华文中宋" panose="02010600040101010101" pitchFamily="2" charset="-122"/>
                </a:rPr>
                <a:t>   a</a:t>
              </a:r>
              <a:r>
                <a:rPr lang="en-US" altLang="zh-CN" b="0" baseline="-25000" dirty="0">
                  <a:ea typeface="华文中宋" panose="02010600040101010101" pitchFamily="2" charset="-122"/>
                </a:rPr>
                <a:t>i2</a:t>
              </a:r>
              <a:r>
                <a:rPr lang="en-US" altLang="zh-CN" b="0" dirty="0">
                  <a:ea typeface="华文中宋" panose="02010600040101010101" pitchFamily="2" charset="-122"/>
                </a:rPr>
                <a:t>    a</a:t>
              </a:r>
              <a:r>
                <a:rPr lang="en-US" altLang="zh-CN" b="0" baseline="-25000" dirty="0">
                  <a:ea typeface="华文中宋" panose="02010600040101010101" pitchFamily="2" charset="-122"/>
                </a:rPr>
                <a:t>i3</a:t>
              </a:r>
              <a:r>
                <a:rPr lang="en-US" altLang="zh-CN" b="0" dirty="0">
                  <a:ea typeface="华文中宋" panose="02010600040101010101" pitchFamily="2" charset="-122"/>
                </a:rPr>
                <a:t>    …  </a:t>
              </a:r>
              <a:r>
                <a:rPr lang="en-US" altLang="zh-CN" b="0" dirty="0" err="1">
                  <a:ea typeface="华文中宋" panose="02010600040101010101" pitchFamily="2" charset="-122"/>
                </a:rPr>
                <a:t>a</a:t>
              </a:r>
              <a:r>
                <a:rPr lang="en-US" altLang="zh-CN" b="0" baseline="-25000" dirty="0" err="1">
                  <a:ea typeface="华文中宋" panose="02010600040101010101" pitchFamily="2" charset="-122"/>
                </a:rPr>
                <a:t>ik</a:t>
              </a:r>
              <a:r>
                <a:rPr lang="en-US" altLang="zh-CN" b="0" baseline="-25000" dirty="0">
                  <a:ea typeface="华文中宋" panose="02010600040101010101" pitchFamily="2" charset="-122"/>
                </a:rPr>
                <a:t>    …   </a:t>
              </a:r>
              <a:r>
                <a:rPr lang="en-US" altLang="zh-CN" b="0" dirty="0" err="1">
                  <a:ea typeface="华文中宋" panose="02010600040101010101" pitchFamily="2" charset="-122"/>
                </a:rPr>
                <a:t>a</a:t>
              </a:r>
              <a:r>
                <a:rPr lang="en-US" altLang="zh-CN" b="0" baseline="-25000" dirty="0" err="1">
                  <a:ea typeface="华文中宋" panose="02010600040101010101" pitchFamily="2" charset="-122"/>
                </a:rPr>
                <a:t>in</a:t>
              </a:r>
              <a:r>
                <a:rPr lang="en-US" altLang="zh-CN" b="0" dirty="0">
                  <a:ea typeface="华文中宋" panose="02010600040101010101" pitchFamily="2" charset="-122"/>
                </a:rPr>
                <a:t> </a:t>
              </a:r>
            </a:p>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i+1</a:t>
              </a:r>
              <a:r>
                <a:rPr lang="en-US" altLang="zh-CN" b="0" dirty="0">
                  <a:ea typeface="华文中宋" panose="02010600040101010101" pitchFamily="2" charset="-122"/>
                </a:rPr>
                <a:t> a</a:t>
              </a:r>
              <a:r>
                <a:rPr lang="en-US" altLang="zh-CN" b="0" baseline="-25000" dirty="0">
                  <a:ea typeface="华文中宋" panose="02010600040101010101" pitchFamily="2" charset="-122"/>
                </a:rPr>
                <a:t>i+12</a:t>
              </a:r>
              <a:r>
                <a:rPr lang="en-US" altLang="zh-CN" b="0" dirty="0">
                  <a:ea typeface="华文中宋" panose="02010600040101010101" pitchFamily="2" charset="-122"/>
                </a:rPr>
                <a:t> a</a:t>
              </a:r>
              <a:r>
                <a:rPr lang="en-US" altLang="zh-CN" b="0" baseline="-25000" dirty="0">
                  <a:ea typeface="华文中宋" panose="02010600040101010101" pitchFamily="2" charset="-122"/>
                </a:rPr>
                <a:t>i+13</a:t>
              </a:r>
              <a:r>
                <a:rPr lang="en-US" altLang="zh-CN" b="0" dirty="0">
                  <a:ea typeface="华文中宋" panose="02010600040101010101" pitchFamily="2" charset="-122"/>
                </a:rPr>
                <a:t>  … a</a:t>
              </a:r>
              <a:r>
                <a:rPr lang="en-US" altLang="zh-CN" b="0" baseline="-25000" dirty="0">
                  <a:ea typeface="华文中宋" panose="02010600040101010101" pitchFamily="2" charset="-122"/>
                </a:rPr>
                <a:t>i+1k … </a:t>
              </a:r>
              <a:r>
                <a:rPr lang="en-US" altLang="zh-CN" b="0" dirty="0">
                  <a:ea typeface="华文中宋" panose="02010600040101010101" pitchFamily="2" charset="-122"/>
                </a:rPr>
                <a:t>a</a:t>
              </a:r>
              <a:r>
                <a:rPr lang="en-US" altLang="zh-CN" b="0" baseline="-25000" dirty="0">
                  <a:ea typeface="华文中宋" panose="02010600040101010101" pitchFamily="2" charset="-122"/>
                </a:rPr>
                <a:t>i+1n</a:t>
              </a:r>
              <a:r>
                <a:rPr lang="en-US" altLang="zh-CN" b="0" dirty="0">
                  <a:ea typeface="华文中宋" panose="02010600040101010101" pitchFamily="2" charset="-122"/>
                </a:rPr>
                <a:t> </a:t>
              </a:r>
            </a:p>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i+21</a:t>
              </a:r>
              <a:r>
                <a:rPr lang="en-US" altLang="zh-CN" b="0" dirty="0">
                  <a:ea typeface="华文中宋" panose="02010600040101010101" pitchFamily="2" charset="-122"/>
                </a:rPr>
                <a:t> a</a:t>
              </a:r>
              <a:r>
                <a:rPr lang="en-US" altLang="zh-CN" b="0" baseline="-25000" dirty="0">
                  <a:ea typeface="华文中宋" panose="02010600040101010101" pitchFamily="2" charset="-122"/>
                </a:rPr>
                <a:t>i+22</a:t>
              </a:r>
              <a:r>
                <a:rPr lang="en-US" altLang="zh-CN" b="0" dirty="0">
                  <a:ea typeface="华文中宋" panose="02010600040101010101" pitchFamily="2" charset="-122"/>
                </a:rPr>
                <a:t> a</a:t>
              </a:r>
              <a:r>
                <a:rPr lang="en-US" altLang="zh-CN" b="0" baseline="-25000" dirty="0">
                  <a:ea typeface="华文中宋" panose="02010600040101010101" pitchFamily="2" charset="-122"/>
                </a:rPr>
                <a:t>i+23</a:t>
              </a:r>
              <a:r>
                <a:rPr lang="en-US" altLang="zh-CN" b="0" dirty="0">
                  <a:ea typeface="华文中宋" panose="02010600040101010101" pitchFamily="2" charset="-122"/>
                </a:rPr>
                <a:t>  … a</a:t>
              </a:r>
              <a:r>
                <a:rPr lang="en-US" altLang="zh-CN" b="0" baseline="-25000" dirty="0">
                  <a:ea typeface="华文中宋" panose="02010600040101010101" pitchFamily="2" charset="-122"/>
                </a:rPr>
                <a:t>i+2k … </a:t>
              </a:r>
              <a:r>
                <a:rPr lang="en-US" altLang="zh-CN" b="0" dirty="0">
                  <a:ea typeface="华文中宋" panose="02010600040101010101" pitchFamily="2" charset="-122"/>
                </a:rPr>
                <a:t>a</a:t>
              </a:r>
              <a:r>
                <a:rPr lang="en-US" altLang="zh-CN" b="0" baseline="-25000" dirty="0">
                  <a:ea typeface="华文中宋" panose="02010600040101010101" pitchFamily="2" charset="-122"/>
                </a:rPr>
                <a:t>i+2n</a:t>
              </a:r>
              <a:r>
                <a:rPr lang="en-US" altLang="zh-CN" b="0" dirty="0">
                  <a:ea typeface="华文中宋" panose="02010600040101010101" pitchFamily="2" charset="-122"/>
                </a:rPr>
                <a:t> </a:t>
              </a:r>
            </a:p>
            <a:p>
              <a:pPr eaLnBrk="1" hangingPunct="1">
                <a:spcBef>
                  <a:spcPct val="50000"/>
                </a:spcBef>
              </a:pPr>
              <a:r>
                <a:rPr lang="en-US" altLang="zh-CN" b="0" dirty="0">
                  <a:ea typeface="华文中宋" panose="02010600040101010101" pitchFamily="2" charset="-122"/>
                </a:rPr>
                <a:t>………………………</a:t>
              </a:r>
            </a:p>
            <a:p>
              <a:pPr eaLnBrk="1" hangingPunct="1">
                <a:spcBef>
                  <a:spcPct val="50000"/>
                </a:spcBef>
              </a:pPr>
              <a:r>
                <a:rPr lang="en-US" altLang="zh-CN" b="0" dirty="0">
                  <a:ea typeface="华文中宋" panose="02010600040101010101" pitchFamily="2" charset="-122"/>
                </a:rPr>
                <a:t>a</a:t>
              </a:r>
              <a:r>
                <a:rPr lang="en-US" altLang="zh-CN" b="0" baseline="-25000" dirty="0">
                  <a:ea typeface="华文中宋" panose="02010600040101010101" pitchFamily="2" charset="-122"/>
                </a:rPr>
                <a:t>m1</a:t>
              </a:r>
              <a:r>
                <a:rPr lang="en-US" altLang="zh-CN" b="0" dirty="0">
                  <a:ea typeface="华文中宋" panose="02010600040101010101" pitchFamily="2" charset="-122"/>
                </a:rPr>
                <a:t>   a</a:t>
              </a:r>
              <a:r>
                <a:rPr lang="en-US" altLang="zh-CN" b="0" baseline="-25000" dirty="0">
                  <a:ea typeface="华文中宋" panose="02010600040101010101" pitchFamily="2" charset="-122"/>
                </a:rPr>
                <a:t>m2  </a:t>
              </a:r>
              <a:r>
                <a:rPr lang="en-US" altLang="zh-CN" b="0" dirty="0">
                  <a:ea typeface="华文中宋" panose="02010600040101010101" pitchFamily="2" charset="-122"/>
                </a:rPr>
                <a:t> a</a:t>
              </a:r>
              <a:r>
                <a:rPr lang="en-US" altLang="zh-CN" b="0" baseline="-25000" dirty="0">
                  <a:ea typeface="华文中宋" panose="02010600040101010101" pitchFamily="2" charset="-122"/>
                </a:rPr>
                <a:t>m3</a:t>
              </a:r>
              <a:r>
                <a:rPr lang="en-US" altLang="zh-CN" b="0" dirty="0">
                  <a:ea typeface="华文中宋" panose="02010600040101010101" pitchFamily="2" charset="-122"/>
                </a:rPr>
                <a:t>  …  </a:t>
              </a:r>
              <a:r>
                <a:rPr lang="en-US" altLang="zh-CN" b="0" dirty="0" err="1">
                  <a:ea typeface="华文中宋" panose="02010600040101010101" pitchFamily="2" charset="-122"/>
                </a:rPr>
                <a:t>a</a:t>
              </a:r>
              <a:r>
                <a:rPr lang="en-US" altLang="zh-CN" b="0" baseline="-25000" dirty="0" err="1">
                  <a:ea typeface="华文中宋" panose="02010600040101010101" pitchFamily="2" charset="-122"/>
                </a:rPr>
                <a:t>mk</a:t>
              </a:r>
              <a:r>
                <a:rPr lang="en-US" altLang="zh-CN" b="0" baseline="-25000" dirty="0">
                  <a:ea typeface="华文中宋" panose="02010600040101010101" pitchFamily="2" charset="-122"/>
                </a:rPr>
                <a:t> …   </a:t>
              </a:r>
              <a:r>
                <a:rPr lang="en-US" altLang="zh-CN" b="0" dirty="0" err="1">
                  <a:ea typeface="华文中宋" panose="02010600040101010101" pitchFamily="2" charset="-122"/>
                </a:rPr>
                <a:t>a</a:t>
              </a:r>
              <a:r>
                <a:rPr lang="en-US" altLang="zh-CN" b="0" baseline="-25000" dirty="0" err="1">
                  <a:ea typeface="华文中宋" panose="02010600040101010101" pitchFamily="2" charset="-122"/>
                </a:rPr>
                <a:t>mn</a:t>
              </a:r>
              <a:r>
                <a:rPr lang="en-US" altLang="zh-CN" b="0" dirty="0">
                  <a:ea typeface="华文中宋" panose="02010600040101010101" pitchFamily="2" charset="-122"/>
                </a:rPr>
                <a:t> </a:t>
              </a:r>
            </a:p>
          </p:txBody>
        </p:sp>
      </p:grpSp>
      <p:sp>
        <p:nvSpPr>
          <p:cNvPr id="81933" name="Rectangle 2">
            <a:extLst>
              <a:ext uri="{FF2B5EF4-FFF2-40B4-BE49-F238E27FC236}">
                <a16:creationId xmlns:a16="http://schemas.microsoft.com/office/drawing/2014/main" id="{1BEC6259-86F0-4AAB-AC81-6C9D2C4C74E6}"/>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4000" b="1" dirty="0"/>
              <a:t>算法图示</a:t>
            </a:r>
          </a:p>
        </p:txBody>
      </p:sp>
      <p:sp>
        <p:nvSpPr>
          <p:cNvPr id="67592" name="Text Box 8">
            <a:extLst>
              <a:ext uri="{FF2B5EF4-FFF2-40B4-BE49-F238E27FC236}">
                <a16:creationId xmlns:a16="http://schemas.microsoft.com/office/drawing/2014/main" id="{F38A3679-BE22-41A6-9811-471597E2FE35}"/>
              </a:ext>
            </a:extLst>
          </p:cNvPr>
          <p:cNvSpPr txBox="1">
            <a:spLocks noChangeArrowheads="1"/>
          </p:cNvSpPr>
          <p:nvPr/>
        </p:nvSpPr>
        <p:spPr bwMode="auto">
          <a:xfrm>
            <a:off x="1524000" y="33528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0" dirty="0">
                <a:ea typeface="华文中宋" panose="02010600040101010101" pitchFamily="2" charset="-122"/>
              </a:rPr>
              <a:t>A=</a:t>
            </a:r>
          </a:p>
        </p:txBody>
      </p:sp>
      <p:sp>
        <p:nvSpPr>
          <p:cNvPr id="67604" name="Rectangle 20">
            <a:extLst>
              <a:ext uri="{FF2B5EF4-FFF2-40B4-BE49-F238E27FC236}">
                <a16:creationId xmlns:a16="http://schemas.microsoft.com/office/drawing/2014/main" id="{BAB4FB67-7439-4CB9-8BD0-B324421C564D}"/>
              </a:ext>
            </a:extLst>
          </p:cNvPr>
          <p:cNvSpPr>
            <a:spLocks noChangeArrowheads="1"/>
          </p:cNvSpPr>
          <p:nvPr/>
        </p:nvSpPr>
        <p:spPr bwMode="auto">
          <a:xfrm>
            <a:off x="5791200" y="6096000"/>
            <a:ext cx="2819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dirty="0">
                <a:solidFill>
                  <a:srgbClr val="FF0000"/>
                </a:solidFill>
                <a:ea typeface="华文中宋" panose="02010600040101010101" pitchFamily="2" charset="-122"/>
              </a:rPr>
              <a:t>复杂性</a:t>
            </a:r>
            <a:r>
              <a:rPr lang="en-US" altLang="zh-CN" sz="3200" dirty="0">
                <a:solidFill>
                  <a:srgbClr val="FF0000"/>
                </a:solidFill>
                <a:ea typeface="华文中宋" panose="02010600040101010101" pitchFamily="2" charset="-122"/>
              </a:rPr>
              <a:t>O(m</a:t>
            </a:r>
            <a:r>
              <a:rPr lang="en-US" altLang="zh-CN" sz="3200" baseline="30000" dirty="0">
                <a:solidFill>
                  <a:srgbClr val="FF0000"/>
                </a:solidFill>
                <a:ea typeface="华文中宋" panose="02010600040101010101" pitchFamily="2" charset="-122"/>
              </a:rPr>
              <a:t>2</a:t>
            </a:r>
            <a:r>
              <a:rPr lang="en-US" altLang="zh-CN" sz="3200" dirty="0">
                <a:solidFill>
                  <a:srgbClr val="FF0000"/>
                </a:solidFill>
                <a:ea typeface="华文中宋" panose="02010600040101010101" pitchFamily="2" charset="-122"/>
              </a:rPr>
              <a:t>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592"/>
                                        </p:tgtEl>
                                        <p:attrNameLst>
                                          <p:attrName>style.visibility</p:attrName>
                                        </p:attrNameLst>
                                      </p:cBhvr>
                                      <p:to>
                                        <p:strVal val="visible"/>
                                      </p:to>
                                    </p:set>
                                    <p:anim calcmode="lin" valueType="num">
                                      <p:cBhvr additive="base">
                                        <p:cTn id="7" dur="500" fill="hold"/>
                                        <p:tgtEl>
                                          <p:spTgt spid="67592"/>
                                        </p:tgtEl>
                                        <p:attrNameLst>
                                          <p:attrName>ppt_x</p:attrName>
                                        </p:attrNameLst>
                                      </p:cBhvr>
                                      <p:tavLst>
                                        <p:tav tm="0">
                                          <p:val>
                                            <p:strVal val="0-#ppt_w/2"/>
                                          </p:val>
                                        </p:tav>
                                        <p:tav tm="100000">
                                          <p:val>
                                            <p:strVal val="#ppt_x"/>
                                          </p:val>
                                        </p:tav>
                                      </p:tavLst>
                                    </p:anim>
                                    <p:anim calcmode="lin" valueType="num">
                                      <p:cBhvr additive="base">
                                        <p:cTn id="8" dur="500" fill="hold"/>
                                        <p:tgtEl>
                                          <p:spTgt spid="6759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7604">
                                            <p:txEl>
                                              <p:pRg st="0" end="0"/>
                                            </p:txEl>
                                          </p:spTgt>
                                        </p:tgtEl>
                                        <p:attrNameLst>
                                          <p:attrName>style.visibility</p:attrName>
                                        </p:attrNameLst>
                                      </p:cBhvr>
                                      <p:to>
                                        <p:strVal val="visible"/>
                                      </p:to>
                                    </p:set>
                                    <p:anim calcmode="lin" valueType="num">
                                      <p:cBhvr additive="base">
                                        <p:cTn id="19" dur="500" fill="hold"/>
                                        <p:tgtEl>
                                          <p:spTgt spid="67604">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760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7594"/>
                                        </p:tgtEl>
                                        <p:attrNameLst>
                                          <p:attrName>style.visibility</p:attrName>
                                        </p:attrNameLst>
                                      </p:cBhvr>
                                      <p:to>
                                        <p:strVal val="visible"/>
                                      </p:to>
                                    </p:set>
                                    <p:anim calcmode="lin" valueType="num">
                                      <p:cBhvr additive="base">
                                        <p:cTn id="25" dur="500" fill="hold"/>
                                        <p:tgtEl>
                                          <p:spTgt spid="67594"/>
                                        </p:tgtEl>
                                        <p:attrNameLst>
                                          <p:attrName>ppt_x</p:attrName>
                                        </p:attrNameLst>
                                      </p:cBhvr>
                                      <p:tavLst>
                                        <p:tav tm="0">
                                          <p:val>
                                            <p:strVal val="0-#ppt_w/2"/>
                                          </p:val>
                                        </p:tav>
                                        <p:tav tm="100000">
                                          <p:val>
                                            <p:strVal val="#ppt_x"/>
                                          </p:val>
                                        </p:tav>
                                      </p:tavLst>
                                    </p:anim>
                                    <p:anim calcmode="lin" valueType="num">
                                      <p:cBhvr additive="base">
                                        <p:cTn id="26" dur="500" fill="hold"/>
                                        <p:tgtEl>
                                          <p:spTgt spid="67594"/>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grpId="0" nodeType="afterEffect">
                                  <p:stCondLst>
                                    <p:cond delay="1000"/>
                                  </p:stCondLst>
                                  <p:childTnLst>
                                    <p:set>
                                      <p:cBhvr>
                                        <p:cTn id="29" dur="1" fill="hold">
                                          <p:stCondLst>
                                            <p:cond delay="0"/>
                                          </p:stCondLst>
                                        </p:cTn>
                                        <p:tgtEl>
                                          <p:spTgt spid="67595"/>
                                        </p:tgtEl>
                                        <p:attrNameLst>
                                          <p:attrName>style.visibility</p:attrName>
                                        </p:attrNameLst>
                                      </p:cBhvr>
                                      <p:to>
                                        <p:strVal val="visible"/>
                                      </p:to>
                                    </p:set>
                                    <p:anim calcmode="lin" valueType="num">
                                      <p:cBhvr additive="base">
                                        <p:cTn id="30" dur="500" fill="hold"/>
                                        <p:tgtEl>
                                          <p:spTgt spid="67595"/>
                                        </p:tgtEl>
                                        <p:attrNameLst>
                                          <p:attrName>ppt_x</p:attrName>
                                        </p:attrNameLst>
                                      </p:cBhvr>
                                      <p:tavLst>
                                        <p:tav tm="0">
                                          <p:val>
                                            <p:strVal val="0-#ppt_w/2"/>
                                          </p:val>
                                        </p:tav>
                                        <p:tav tm="100000">
                                          <p:val>
                                            <p:strVal val="#ppt_x"/>
                                          </p:val>
                                        </p:tav>
                                      </p:tavLst>
                                    </p:anim>
                                    <p:anim calcmode="lin" valueType="num">
                                      <p:cBhvr additive="base">
                                        <p:cTn id="31" dur="500" fill="hold"/>
                                        <p:tgtEl>
                                          <p:spTgt spid="67595"/>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2000"/>
                            </p:stCondLst>
                            <p:childTnLst>
                              <p:par>
                                <p:cTn id="33" presetID="2" presetClass="entr" presetSubtype="8" fill="hold" grpId="0" nodeType="afterEffect">
                                  <p:stCondLst>
                                    <p:cond delay="1000"/>
                                  </p:stCondLst>
                                  <p:childTnLst>
                                    <p:set>
                                      <p:cBhvr>
                                        <p:cTn id="34" dur="1" fill="hold">
                                          <p:stCondLst>
                                            <p:cond delay="0"/>
                                          </p:stCondLst>
                                        </p:cTn>
                                        <p:tgtEl>
                                          <p:spTgt spid="67596"/>
                                        </p:tgtEl>
                                        <p:attrNameLst>
                                          <p:attrName>style.visibility</p:attrName>
                                        </p:attrNameLst>
                                      </p:cBhvr>
                                      <p:to>
                                        <p:strVal val="visible"/>
                                      </p:to>
                                    </p:set>
                                    <p:anim calcmode="lin" valueType="num">
                                      <p:cBhvr additive="base">
                                        <p:cTn id="35" dur="500" fill="hold"/>
                                        <p:tgtEl>
                                          <p:spTgt spid="67596"/>
                                        </p:tgtEl>
                                        <p:attrNameLst>
                                          <p:attrName>ppt_x</p:attrName>
                                        </p:attrNameLst>
                                      </p:cBhvr>
                                      <p:tavLst>
                                        <p:tav tm="0">
                                          <p:val>
                                            <p:strVal val="0-#ppt_w/2"/>
                                          </p:val>
                                        </p:tav>
                                        <p:tav tm="100000">
                                          <p:val>
                                            <p:strVal val="#ppt_x"/>
                                          </p:val>
                                        </p:tav>
                                      </p:tavLst>
                                    </p:anim>
                                    <p:anim calcmode="lin" valueType="num">
                                      <p:cBhvr additive="base">
                                        <p:cTn id="36" dur="500" fill="hold"/>
                                        <p:tgtEl>
                                          <p:spTgt spid="67596"/>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3500"/>
                            </p:stCondLst>
                            <p:childTnLst>
                              <p:par>
                                <p:cTn id="38" presetID="2" presetClass="entr" presetSubtype="8" fill="hold" grpId="0" nodeType="afterEffect">
                                  <p:stCondLst>
                                    <p:cond delay="1000"/>
                                  </p:stCondLst>
                                  <p:childTnLst>
                                    <p:set>
                                      <p:cBhvr>
                                        <p:cTn id="39" dur="1" fill="hold">
                                          <p:stCondLst>
                                            <p:cond delay="0"/>
                                          </p:stCondLst>
                                        </p:cTn>
                                        <p:tgtEl>
                                          <p:spTgt spid="67597"/>
                                        </p:tgtEl>
                                        <p:attrNameLst>
                                          <p:attrName>style.visibility</p:attrName>
                                        </p:attrNameLst>
                                      </p:cBhvr>
                                      <p:to>
                                        <p:strVal val="visible"/>
                                      </p:to>
                                    </p:set>
                                    <p:anim calcmode="lin" valueType="num">
                                      <p:cBhvr additive="base">
                                        <p:cTn id="40" dur="500" fill="hold"/>
                                        <p:tgtEl>
                                          <p:spTgt spid="67597"/>
                                        </p:tgtEl>
                                        <p:attrNameLst>
                                          <p:attrName>ppt_x</p:attrName>
                                        </p:attrNameLst>
                                      </p:cBhvr>
                                      <p:tavLst>
                                        <p:tav tm="0">
                                          <p:val>
                                            <p:strVal val="0-#ppt_w/2"/>
                                          </p:val>
                                        </p:tav>
                                        <p:tav tm="100000">
                                          <p:val>
                                            <p:strVal val="#ppt_x"/>
                                          </p:val>
                                        </p:tav>
                                      </p:tavLst>
                                    </p:anim>
                                    <p:anim calcmode="lin" valueType="num">
                                      <p:cBhvr additive="base">
                                        <p:cTn id="41" dur="500" fill="hold"/>
                                        <p:tgtEl>
                                          <p:spTgt spid="67597"/>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5000"/>
                            </p:stCondLst>
                            <p:childTnLst>
                              <p:par>
                                <p:cTn id="43" presetID="2" presetClass="entr" presetSubtype="8" fill="hold" grpId="0" nodeType="afterEffect">
                                  <p:stCondLst>
                                    <p:cond delay="1000"/>
                                  </p:stCondLst>
                                  <p:childTnLst>
                                    <p:set>
                                      <p:cBhvr>
                                        <p:cTn id="44" dur="1" fill="hold">
                                          <p:stCondLst>
                                            <p:cond delay="0"/>
                                          </p:stCondLst>
                                        </p:cTn>
                                        <p:tgtEl>
                                          <p:spTgt spid="67598"/>
                                        </p:tgtEl>
                                        <p:attrNameLst>
                                          <p:attrName>style.visibility</p:attrName>
                                        </p:attrNameLst>
                                      </p:cBhvr>
                                      <p:to>
                                        <p:strVal val="visible"/>
                                      </p:to>
                                    </p:set>
                                    <p:anim calcmode="lin" valueType="num">
                                      <p:cBhvr additive="base">
                                        <p:cTn id="45" dur="500" fill="hold"/>
                                        <p:tgtEl>
                                          <p:spTgt spid="67598"/>
                                        </p:tgtEl>
                                        <p:attrNameLst>
                                          <p:attrName>ppt_x</p:attrName>
                                        </p:attrNameLst>
                                      </p:cBhvr>
                                      <p:tavLst>
                                        <p:tav tm="0">
                                          <p:val>
                                            <p:strVal val="0-#ppt_w/2"/>
                                          </p:val>
                                        </p:tav>
                                        <p:tav tm="100000">
                                          <p:val>
                                            <p:strVal val="#ppt_x"/>
                                          </p:val>
                                        </p:tav>
                                      </p:tavLst>
                                    </p:anim>
                                    <p:anim calcmode="lin" valueType="num">
                                      <p:cBhvr additive="base">
                                        <p:cTn id="46" dur="500" fill="hold"/>
                                        <p:tgtEl>
                                          <p:spTgt spid="67598"/>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67599"/>
                                        </p:tgtEl>
                                        <p:attrNameLst>
                                          <p:attrName>style.visibility</p:attrName>
                                        </p:attrNameLst>
                                      </p:cBhvr>
                                      <p:to>
                                        <p:strVal val="visible"/>
                                      </p:to>
                                    </p:set>
                                    <p:anim calcmode="lin" valueType="num">
                                      <p:cBhvr additive="base">
                                        <p:cTn id="51" dur="500" fill="hold"/>
                                        <p:tgtEl>
                                          <p:spTgt spid="67599"/>
                                        </p:tgtEl>
                                        <p:attrNameLst>
                                          <p:attrName>ppt_x</p:attrName>
                                        </p:attrNameLst>
                                      </p:cBhvr>
                                      <p:tavLst>
                                        <p:tav tm="0">
                                          <p:val>
                                            <p:strVal val="0-#ppt_w/2"/>
                                          </p:val>
                                        </p:tav>
                                        <p:tav tm="100000">
                                          <p:val>
                                            <p:strVal val="#ppt_x"/>
                                          </p:val>
                                        </p:tav>
                                      </p:tavLst>
                                    </p:anim>
                                    <p:anim calcmode="lin" valueType="num">
                                      <p:cBhvr additive="base">
                                        <p:cTn id="52" dur="500" fill="hold"/>
                                        <p:tgtEl>
                                          <p:spTgt spid="67599"/>
                                        </p:tgtEl>
                                        <p:attrNameLst>
                                          <p:attrName>ppt_y</p:attrName>
                                        </p:attrNameLst>
                                      </p:cBhvr>
                                      <p:tavLst>
                                        <p:tav tm="0">
                                          <p:val>
                                            <p:strVal val="#ppt_y"/>
                                          </p:val>
                                        </p:tav>
                                        <p:tav tm="100000">
                                          <p:val>
                                            <p:strVal val="#ppt_y"/>
                                          </p:val>
                                        </p:tav>
                                      </p:tavLst>
                                    </p:anim>
                                  </p:childTnLst>
                                </p:cTn>
                              </p:par>
                            </p:childTnLst>
                          </p:cTn>
                        </p:par>
                        <p:par>
                          <p:cTn id="53" fill="hold" nodeType="afterGroup">
                            <p:stCondLst>
                              <p:cond delay="500"/>
                            </p:stCondLst>
                            <p:childTnLst>
                              <p:par>
                                <p:cTn id="54" presetID="2" presetClass="entr" presetSubtype="8" fill="hold" grpId="0" nodeType="afterEffect">
                                  <p:stCondLst>
                                    <p:cond delay="1000"/>
                                  </p:stCondLst>
                                  <p:childTnLst>
                                    <p:set>
                                      <p:cBhvr>
                                        <p:cTn id="55" dur="1" fill="hold">
                                          <p:stCondLst>
                                            <p:cond delay="0"/>
                                          </p:stCondLst>
                                        </p:cTn>
                                        <p:tgtEl>
                                          <p:spTgt spid="67600"/>
                                        </p:tgtEl>
                                        <p:attrNameLst>
                                          <p:attrName>style.visibility</p:attrName>
                                        </p:attrNameLst>
                                      </p:cBhvr>
                                      <p:to>
                                        <p:strVal val="visible"/>
                                      </p:to>
                                    </p:set>
                                    <p:anim calcmode="lin" valueType="num">
                                      <p:cBhvr additive="base">
                                        <p:cTn id="56" dur="500" fill="hold"/>
                                        <p:tgtEl>
                                          <p:spTgt spid="67600"/>
                                        </p:tgtEl>
                                        <p:attrNameLst>
                                          <p:attrName>ppt_x</p:attrName>
                                        </p:attrNameLst>
                                      </p:cBhvr>
                                      <p:tavLst>
                                        <p:tav tm="0">
                                          <p:val>
                                            <p:strVal val="0-#ppt_w/2"/>
                                          </p:val>
                                        </p:tav>
                                        <p:tav tm="100000">
                                          <p:val>
                                            <p:strVal val="#ppt_x"/>
                                          </p:val>
                                        </p:tav>
                                      </p:tavLst>
                                    </p:anim>
                                    <p:anim calcmode="lin" valueType="num">
                                      <p:cBhvr additive="base">
                                        <p:cTn id="57" dur="500" fill="hold"/>
                                        <p:tgtEl>
                                          <p:spTgt spid="67600"/>
                                        </p:tgtEl>
                                        <p:attrNameLst>
                                          <p:attrName>ppt_y</p:attrName>
                                        </p:attrNameLst>
                                      </p:cBhvr>
                                      <p:tavLst>
                                        <p:tav tm="0">
                                          <p:val>
                                            <p:strVal val="#ppt_y"/>
                                          </p:val>
                                        </p:tav>
                                        <p:tav tm="100000">
                                          <p:val>
                                            <p:strVal val="#ppt_y"/>
                                          </p:val>
                                        </p:tav>
                                      </p:tavLst>
                                    </p:anim>
                                  </p:childTnLst>
                                </p:cTn>
                              </p:par>
                            </p:childTnLst>
                          </p:cTn>
                        </p:par>
                        <p:par>
                          <p:cTn id="58" fill="hold" nodeType="afterGroup">
                            <p:stCondLst>
                              <p:cond delay="2000"/>
                            </p:stCondLst>
                            <p:childTnLst>
                              <p:par>
                                <p:cTn id="59" presetID="2" presetClass="entr" presetSubtype="8" fill="hold" grpId="0" nodeType="afterEffect">
                                  <p:stCondLst>
                                    <p:cond delay="1000"/>
                                  </p:stCondLst>
                                  <p:childTnLst>
                                    <p:set>
                                      <p:cBhvr>
                                        <p:cTn id="60" dur="1" fill="hold">
                                          <p:stCondLst>
                                            <p:cond delay="0"/>
                                          </p:stCondLst>
                                        </p:cTn>
                                        <p:tgtEl>
                                          <p:spTgt spid="67601"/>
                                        </p:tgtEl>
                                        <p:attrNameLst>
                                          <p:attrName>style.visibility</p:attrName>
                                        </p:attrNameLst>
                                      </p:cBhvr>
                                      <p:to>
                                        <p:strVal val="visible"/>
                                      </p:to>
                                    </p:set>
                                    <p:anim calcmode="lin" valueType="num">
                                      <p:cBhvr additive="base">
                                        <p:cTn id="61" dur="500" fill="hold"/>
                                        <p:tgtEl>
                                          <p:spTgt spid="67601"/>
                                        </p:tgtEl>
                                        <p:attrNameLst>
                                          <p:attrName>ppt_x</p:attrName>
                                        </p:attrNameLst>
                                      </p:cBhvr>
                                      <p:tavLst>
                                        <p:tav tm="0">
                                          <p:val>
                                            <p:strVal val="0-#ppt_w/2"/>
                                          </p:val>
                                        </p:tav>
                                        <p:tav tm="100000">
                                          <p:val>
                                            <p:strVal val="#ppt_x"/>
                                          </p:val>
                                        </p:tav>
                                      </p:tavLst>
                                    </p:anim>
                                    <p:anim calcmode="lin" valueType="num">
                                      <p:cBhvr additive="base">
                                        <p:cTn id="62" dur="500" fill="hold"/>
                                        <p:tgtEl>
                                          <p:spTgt spid="67601"/>
                                        </p:tgtEl>
                                        <p:attrNameLst>
                                          <p:attrName>ppt_y</p:attrName>
                                        </p:attrNameLst>
                                      </p:cBhvr>
                                      <p:tavLst>
                                        <p:tav tm="0">
                                          <p:val>
                                            <p:strVal val="#ppt_y"/>
                                          </p:val>
                                        </p:tav>
                                        <p:tav tm="100000">
                                          <p:val>
                                            <p:strVal val="#ppt_y"/>
                                          </p:val>
                                        </p:tav>
                                      </p:tavLst>
                                    </p:anim>
                                  </p:childTnLst>
                                </p:cTn>
                              </p:par>
                            </p:childTnLst>
                          </p:cTn>
                        </p:par>
                        <p:par>
                          <p:cTn id="63" fill="hold" nodeType="afterGroup">
                            <p:stCondLst>
                              <p:cond delay="3500"/>
                            </p:stCondLst>
                            <p:childTnLst>
                              <p:par>
                                <p:cTn id="64" presetID="2" presetClass="entr" presetSubtype="8" fill="hold" grpId="0" nodeType="afterEffect">
                                  <p:stCondLst>
                                    <p:cond delay="1000"/>
                                  </p:stCondLst>
                                  <p:childTnLst>
                                    <p:set>
                                      <p:cBhvr>
                                        <p:cTn id="65" dur="1" fill="hold">
                                          <p:stCondLst>
                                            <p:cond delay="0"/>
                                          </p:stCondLst>
                                        </p:cTn>
                                        <p:tgtEl>
                                          <p:spTgt spid="67602"/>
                                        </p:tgtEl>
                                        <p:attrNameLst>
                                          <p:attrName>style.visibility</p:attrName>
                                        </p:attrNameLst>
                                      </p:cBhvr>
                                      <p:to>
                                        <p:strVal val="visible"/>
                                      </p:to>
                                    </p:set>
                                    <p:anim calcmode="lin" valueType="num">
                                      <p:cBhvr additive="base">
                                        <p:cTn id="66" dur="500" fill="hold"/>
                                        <p:tgtEl>
                                          <p:spTgt spid="67602"/>
                                        </p:tgtEl>
                                        <p:attrNameLst>
                                          <p:attrName>ppt_x</p:attrName>
                                        </p:attrNameLst>
                                      </p:cBhvr>
                                      <p:tavLst>
                                        <p:tav tm="0">
                                          <p:val>
                                            <p:strVal val="0-#ppt_w/2"/>
                                          </p:val>
                                        </p:tav>
                                        <p:tav tm="100000">
                                          <p:val>
                                            <p:strVal val="#ppt_x"/>
                                          </p:val>
                                        </p:tav>
                                      </p:tavLst>
                                    </p:anim>
                                    <p:anim calcmode="lin" valueType="num">
                                      <p:cBhvr additive="base">
                                        <p:cTn id="67" dur="500" fill="hold"/>
                                        <p:tgtEl>
                                          <p:spTgt spid="67602"/>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5000"/>
                            </p:stCondLst>
                            <p:childTnLst>
                              <p:par>
                                <p:cTn id="69" presetID="2" presetClass="entr" presetSubtype="8" fill="hold" grpId="0" nodeType="afterEffect">
                                  <p:stCondLst>
                                    <p:cond delay="1000"/>
                                  </p:stCondLst>
                                  <p:childTnLst>
                                    <p:set>
                                      <p:cBhvr>
                                        <p:cTn id="70" dur="1" fill="hold">
                                          <p:stCondLst>
                                            <p:cond delay="0"/>
                                          </p:stCondLst>
                                        </p:cTn>
                                        <p:tgtEl>
                                          <p:spTgt spid="67603"/>
                                        </p:tgtEl>
                                        <p:attrNameLst>
                                          <p:attrName>style.visibility</p:attrName>
                                        </p:attrNameLst>
                                      </p:cBhvr>
                                      <p:to>
                                        <p:strVal val="visible"/>
                                      </p:to>
                                    </p:set>
                                    <p:anim calcmode="lin" valueType="num">
                                      <p:cBhvr additive="base">
                                        <p:cTn id="71" dur="500" fill="hold"/>
                                        <p:tgtEl>
                                          <p:spTgt spid="67603"/>
                                        </p:tgtEl>
                                        <p:attrNameLst>
                                          <p:attrName>ppt_x</p:attrName>
                                        </p:attrNameLst>
                                      </p:cBhvr>
                                      <p:tavLst>
                                        <p:tav tm="0">
                                          <p:val>
                                            <p:strVal val="0-#ppt_w/2"/>
                                          </p:val>
                                        </p:tav>
                                        <p:tav tm="100000">
                                          <p:val>
                                            <p:strVal val="#ppt_x"/>
                                          </p:val>
                                        </p:tav>
                                      </p:tavLst>
                                    </p:anim>
                                    <p:anim calcmode="lin" valueType="num">
                                      <p:cBhvr additive="base">
                                        <p:cTn id="72" dur="500" fill="hold"/>
                                        <p:tgtEl>
                                          <p:spTgt spid="676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00" grpId="0" animBg="1"/>
      <p:bldP spid="67603" grpId="0" animBg="1"/>
      <p:bldP spid="67602" grpId="0" animBg="1"/>
      <p:bldP spid="67601" grpId="0" animBg="1"/>
      <p:bldP spid="67595" grpId="0" animBg="1"/>
      <p:bldP spid="67599" grpId="0" animBg="1"/>
      <p:bldP spid="67594" grpId="0" animBg="1"/>
      <p:bldP spid="67596" grpId="0" animBg="1"/>
      <p:bldP spid="67597" grpId="0" animBg="1"/>
      <p:bldP spid="67598" grpId="0" animBg="1"/>
      <p:bldP spid="67592" grpId="0" autoUpdateAnimBg="0"/>
      <p:bldP spid="67604" grpId="0" build="p"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3">
            <a:extLst>
              <a:ext uri="{FF2B5EF4-FFF2-40B4-BE49-F238E27FC236}">
                <a16:creationId xmlns:a16="http://schemas.microsoft.com/office/drawing/2014/main" id="{2E57F95D-7633-49E6-B425-533B8A785637}"/>
              </a:ext>
            </a:extLst>
          </p:cNvPr>
          <p:cNvSpPr>
            <a:spLocks noGrp="1" noChangeArrowheads="1"/>
          </p:cNvSpPr>
          <p:nvPr>
            <p:ph type="body" idx="1"/>
          </p:nvPr>
        </p:nvSpPr>
        <p:spPr bwMode="auto">
          <a:xfrm>
            <a:off x="107505" y="836712"/>
            <a:ext cx="8807896" cy="5715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eaLnBrk="1" hangingPunct="1">
              <a:lnSpc>
                <a:spcPct val="90000"/>
              </a:lnSpc>
              <a:buFontTx/>
              <a:buNone/>
            </a:pPr>
            <a:r>
              <a:rPr lang="en-US" altLang="zh-CN" sz="2400" b="1" dirty="0">
                <a:solidFill>
                  <a:srgbClr val="0000FF"/>
                </a:solidFill>
                <a:latin typeface="Input"/>
              </a:rPr>
              <a:t>int </a:t>
            </a:r>
            <a:r>
              <a:rPr lang="en-US" altLang="zh-CN" sz="2400" b="1" dirty="0" err="1">
                <a:solidFill>
                  <a:srgbClr val="0000FF"/>
                </a:solidFill>
                <a:latin typeface="Input"/>
              </a:rPr>
              <a:t>MaxMatrixSum</a:t>
            </a:r>
            <a:r>
              <a:rPr lang="en-US" altLang="zh-CN" sz="2400" b="1" dirty="0">
                <a:solidFill>
                  <a:srgbClr val="0000FF"/>
                </a:solidFill>
                <a:latin typeface="Input"/>
              </a:rPr>
              <a:t>(int m, int n, int **a){</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int  sum = 0,  *b = new int [n + 1];</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a:t>
            </a:r>
            <a:r>
              <a:rPr lang="en-US" altLang="zh-CN" sz="2400" b="1" dirty="0">
                <a:solidFill>
                  <a:srgbClr val="FF0000"/>
                </a:solidFill>
                <a:latin typeface="Input"/>
              </a:rPr>
              <a:t>for (int </a:t>
            </a:r>
            <a:r>
              <a:rPr lang="en-US" altLang="zh-CN" sz="2400" b="1" dirty="0" err="1">
                <a:solidFill>
                  <a:srgbClr val="FF0000"/>
                </a:solidFill>
                <a:latin typeface="Input"/>
              </a:rPr>
              <a:t>i</a:t>
            </a:r>
            <a:r>
              <a:rPr lang="en-US" altLang="zh-CN" sz="2400" b="1" dirty="0">
                <a:solidFill>
                  <a:srgbClr val="FF0000"/>
                </a:solidFill>
                <a:latin typeface="Input"/>
              </a:rPr>
              <a:t> = 1;i &lt;= </a:t>
            </a:r>
            <a:r>
              <a:rPr lang="en-US" altLang="zh-CN" sz="2400" b="1" dirty="0" err="1">
                <a:solidFill>
                  <a:srgbClr val="FF0000"/>
                </a:solidFill>
                <a:latin typeface="Input"/>
              </a:rPr>
              <a:t>m;i</a:t>
            </a:r>
            <a:r>
              <a:rPr lang="en-US" altLang="zh-CN" sz="2400" b="1" dirty="0">
                <a:solidFill>
                  <a:srgbClr val="FF0000"/>
                </a:solidFill>
                <a:latin typeface="Input"/>
              </a:rPr>
              <a:t> ++) {</a:t>
            </a:r>
          </a:p>
          <a:p>
            <a:pPr algn="just" eaLnBrk="1" hangingPunct="1">
              <a:lnSpc>
                <a:spcPct val="90000"/>
              </a:lnSpc>
              <a:buFontTx/>
              <a:buNone/>
            </a:pPr>
            <a:r>
              <a:rPr lang="en-US" altLang="zh-CN" sz="2400" b="1" dirty="0">
                <a:solidFill>
                  <a:srgbClr val="0000FF"/>
                </a:solidFill>
                <a:latin typeface="Input"/>
              </a:rPr>
              <a:t>          for (int k = 1;k &lt;= </a:t>
            </a:r>
            <a:r>
              <a:rPr lang="en-US" altLang="zh-CN" sz="2400" b="1" dirty="0" err="1">
                <a:solidFill>
                  <a:srgbClr val="0000FF"/>
                </a:solidFill>
                <a:latin typeface="Input"/>
              </a:rPr>
              <a:t>n;k</a:t>
            </a:r>
            <a:r>
              <a:rPr lang="en-US" altLang="zh-CN" sz="2400" b="1" dirty="0">
                <a:solidFill>
                  <a:srgbClr val="0000FF"/>
                </a:solidFill>
                <a:latin typeface="Input"/>
              </a:rPr>
              <a:t> ++) </a:t>
            </a:r>
          </a:p>
          <a:p>
            <a:pPr algn="just" eaLnBrk="1" hangingPunct="1">
              <a:lnSpc>
                <a:spcPct val="90000"/>
              </a:lnSpc>
              <a:buFontTx/>
              <a:buNone/>
            </a:pPr>
            <a:r>
              <a:rPr lang="en-US" altLang="zh-CN" sz="2400" b="1" dirty="0">
                <a:solidFill>
                  <a:srgbClr val="0000FF"/>
                </a:solidFill>
                <a:latin typeface="Input"/>
              </a:rPr>
              <a:t>				b[k] = a[</a:t>
            </a:r>
            <a:r>
              <a:rPr lang="en-US" altLang="zh-CN" sz="2400" b="1" dirty="0" err="1">
                <a:solidFill>
                  <a:srgbClr val="0000FF"/>
                </a:solidFill>
                <a:latin typeface="Input"/>
              </a:rPr>
              <a:t>i</a:t>
            </a:r>
            <a:r>
              <a:rPr lang="en-US" altLang="zh-CN" sz="2400" b="1" dirty="0">
                <a:solidFill>
                  <a:srgbClr val="0000FF"/>
                </a:solidFill>
                <a:latin typeface="Input"/>
              </a:rPr>
              <a:t>][k];</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a:t>
            </a:r>
            <a:r>
              <a:rPr lang="en-US" altLang="zh-CN" sz="2400" b="1" dirty="0">
                <a:solidFill>
                  <a:srgbClr val="FF0000"/>
                </a:solidFill>
                <a:latin typeface="Input"/>
              </a:rPr>
              <a:t>for (int j = </a:t>
            </a:r>
            <a:r>
              <a:rPr lang="en-US" altLang="zh-CN" sz="2400" b="1" dirty="0" err="1">
                <a:solidFill>
                  <a:srgbClr val="FF0000"/>
                </a:solidFill>
                <a:latin typeface="Input"/>
              </a:rPr>
              <a:t>i</a:t>
            </a:r>
            <a:r>
              <a:rPr lang="en-US" altLang="zh-CN" sz="2400" b="1" dirty="0">
                <a:solidFill>
                  <a:srgbClr val="FF0000"/>
                </a:solidFill>
                <a:latin typeface="Input"/>
              </a:rPr>
              <a:t>+ </a:t>
            </a:r>
            <a:r>
              <a:rPr lang="en-US" altLang="zh-CN" sz="2400" b="1" dirty="0" err="1">
                <a:solidFill>
                  <a:srgbClr val="FF0000"/>
                </a:solidFill>
                <a:latin typeface="Input"/>
              </a:rPr>
              <a:t>l;j</a:t>
            </a:r>
            <a:r>
              <a:rPr lang="en-US" altLang="zh-CN" sz="2400" b="1" dirty="0">
                <a:solidFill>
                  <a:srgbClr val="FF0000"/>
                </a:solidFill>
                <a:latin typeface="Input"/>
              </a:rPr>
              <a:t> &lt;= </a:t>
            </a:r>
            <a:r>
              <a:rPr lang="en-US" altLang="zh-CN" sz="2400" b="1" dirty="0" err="1">
                <a:solidFill>
                  <a:srgbClr val="FF0000"/>
                </a:solidFill>
                <a:latin typeface="Input"/>
              </a:rPr>
              <a:t>m;j</a:t>
            </a:r>
            <a:r>
              <a:rPr lang="en-US" altLang="zh-CN" sz="2400" b="1" dirty="0">
                <a:solidFill>
                  <a:srgbClr val="FF0000"/>
                </a:solidFill>
                <a:latin typeface="Input"/>
              </a:rPr>
              <a:t> ++){</a:t>
            </a:r>
          </a:p>
          <a:p>
            <a:pPr algn="just" eaLnBrk="1" hangingPunct="1">
              <a:lnSpc>
                <a:spcPct val="90000"/>
              </a:lnSpc>
              <a:buFontTx/>
              <a:buNone/>
            </a:pPr>
            <a:r>
              <a:rPr lang="en-US" altLang="zh-CN" sz="2400" b="1" dirty="0">
                <a:solidFill>
                  <a:srgbClr val="0000FF"/>
                </a:solidFill>
                <a:latin typeface="Input"/>
              </a:rPr>
              <a:t>               </a:t>
            </a:r>
            <a:r>
              <a:rPr lang="en-US" altLang="zh-CN" sz="2400" b="1" dirty="0">
                <a:solidFill>
                  <a:srgbClr val="A50021"/>
                </a:solidFill>
                <a:latin typeface="Input"/>
              </a:rPr>
              <a:t>for (int k = </a:t>
            </a:r>
            <a:r>
              <a:rPr lang="en-US" altLang="zh-CN" sz="2400" b="1" dirty="0" err="1">
                <a:solidFill>
                  <a:srgbClr val="A50021"/>
                </a:solidFill>
                <a:latin typeface="Input"/>
              </a:rPr>
              <a:t>l;k</a:t>
            </a:r>
            <a:r>
              <a:rPr lang="en-US" altLang="zh-CN" sz="2400" b="1" dirty="0">
                <a:solidFill>
                  <a:srgbClr val="A50021"/>
                </a:solidFill>
                <a:latin typeface="Input"/>
              </a:rPr>
              <a:t> &lt;= </a:t>
            </a:r>
            <a:r>
              <a:rPr lang="en-US" altLang="zh-CN" sz="2400" b="1" dirty="0" err="1">
                <a:solidFill>
                  <a:srgbClr val="A50021"/>
                </a:solidFill>
                <a:latin typeface="Input"/>
              </a:rPr>
              <a:t>n;k</a:t>
            </a:r>
            <a:r>
              <a:rPr lang="en-US" altLang="zh-CN" sz="2400" b="1" dirty="0">
                <a:solidFill>
                  <a:srgbClr val="A50021"/>
                </a:solidFill>
                <a:latin typeface="Input"/>
              </a:rPr>
              <a:t> ++) </a:t>
            </a:r>
          </a:p>
          <a:p>
            <a:pPr algn="just" eaLnBrk="1" hangingPunct="1">
              <a:lnSpc>
                <a:spcPct val="90000"/>
              </a:lnSpc>
              <a:buFontTx/>
              <a:buNone/>
            </a:pPr>
            <a:r>
              <a:rPr lang="en-US" altLang="zh-CN" sz="2400" b="1" dirty="0">
                <a:solidFill>
                  <a:srgbClr val="A50021"/>
                </a:solidFill>
                <a:latin typeface="Input"/>
              </a:rPr>
              <a:t>				b[k] + = a[</a:t>
            </a:r>
            <a:r>
              <a:rPr lang="en-US" altLang="zh-CN" sz="2400" b="1" dirty="0" err="1">
                <a:solidFill>
                  <a:srgbClr val="A50021"/>
                </a:solidFill>
                <a:latin typeface="Input"/>
              </a:rPr>
              <a:t>i</a:t>
            </a:r>
            <a:r>
              <a:rPr lang="en-US" altLang="zh-CN" sz="2400" b="1" dirty="0">
                <a:solidFill>
                  <a:srgbClr val="A50021"/>
                </a:solidFill>
                <a:latin typeface="Input"/>
              </a:rPr>
              <a:t>][k];</a:t>
            </a:r>
          </a:p>
          <a:p>
            <a:pPr algn="just" eaLnBrk="1" hangingPunct="1">
              <a:lnSpc>
                <a:spcPct val="90000"/>
              </a:lnSpc>
              <a:buFontTx/>
              <a:buNone/>
            </a:pPr>
            <a:r>
              <a:rPr lang="en-US" altLang="zh-CN" sz="2400" b="1" dirty="0">
                <a:solidFill>
                  <a:srgbClr val="A50021"/>
                </a:solidFill>
                <a:latin typeface="Input"/>
              </a:rPr>
              <a:t>               int max = </a:t>
            </a:r>
            <a:r>
              <a:rPr lang="en-US" altLang="zh-CN" sz="2400" b="1" dirty="0" err="1">
                <a:solidFill>
                  <a:srgbClr val="A50021"/>
                </a:solidFill>
                <a:latin typeface="Input"/>
              </a:rPr>
              <a:t>MaxSum</a:t>
            </a:r>
            <a:r>
              <a:rPr lang="en-US" altLang="zh-CN" sz="2400" b="1" dirty="0">
                <a:solidFill>
                  <a:srgbClr val="A50021"/>
                </a:solidFill>
                <a:latin typeface="Input"/>
              </a:rPr>
              <a:t>(</a:t>
            </a:r>
            <a:r>
              <a:rPr lang="en-US" altLang="zh-CN" sz="2400" b="1" dirty="0" err="1">
                <a:solidFill>
                  <a:srgbClr val="A50021"/>
                </a:solidFill>
                <a:latin typeface="Input"/>
              </a:rPr>
              <a:t>n,b</a:t>
            </a:r>
            <a:r>
              <a:rPr lang="en-US" altLang="zh-CN" sz="2400" b="1" dirty="0">
                <a:solidFill>
                  <a:srgbClr val="A50021"/>
                </a:solidFill>
                <a:latin typeface="Input"/>
              </a:rPr>
              <a:t>);</a:t>
            </a:r>
          </a:p>
          <a:p>
            <a:pPr algn="just" eaLnBrk="1" hangingPunct="1">
              <a:lnSpc>
                <a:spcPct val="90000"/>
              </a:lnSpc>
              <a:buFontTx/>
              <a:buNone/>
            </a:pPr>
            <a:r>
              <a:rPr lang="en-US" altLang="zh-CN" sz="2400" b="1" dirty="0">
                <a:solidFill>
                  <a:srgbClr val="0000FF"/>
                </a:solidFill>
                <a:latin typeface="Input"/>
              </a:rPr>
              <a:t>               if (max &gt; sum) sum = max;</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a:t>
            </a:r>
            <a:endParaRPr lang="en-US" altLang="zh-CN" sz="2400" b="1" dirty="0">
              <a:latin typeface="Input"/>
            </a:endParaRPr>
          </a:p>
          <a:p>
            <a:pPr algn="just" eaLnBrk="1" hangingPunct="1">
              <a:lnSpc>
                <a:spcPct val="90000"/>
              </a:lnSpc>
              <a:buFontTx/>
              <a:buNone/>
            </a:pPr>
            <a:r>
              <a:rPr lang="en-US" altLang="zh-CN" sz="2400" b="1" dirty="0">
                <a:solidFill>
                  <a:srgbClr val="0000FF"/>
                </a:solidFill>
                <a:latin typeface="Input"/>
              </a:rPr>
              <a:t>      return sum;</a:t>
            </a:r>
          </a:p>
          <a:p>
            <a:pPr algn="just" eaLnBrk="1" hangingPunct="1">
              <a:lnSpc>
                <a:spcPct val="90000"/>
              </a:lnSpc>
              <a:buFontTx/>
              <a:buNone/>
            </a:pPr>
            <a:r>
              <a:rPr lang="en-US" altLang="zh-CN" sz="2400" b="1" dirty="0">
                <a:solidFill>
                  <a:srgbClr val="0000FF"/>
                </a:solidFill>
                <a:latin typeface="Input"/>
              </a:rPr>
              <a:t>}</a:t>
            </a:r>
            <a:endParaRPr lang="en-US" altLang="zh-CN" sz="2400" b="1" dirty="0">
              <a:latin typeface="Input"/>
            </a:endParaRPr>
          </a:p>
        </p:txBody>
      </p:sp>
      <p:sp>
        <p:nvSpPr>
          <p:cNvPr id="82948" name="AutoShape 4">
            <a:extLst>
              <a:ext uri="{FF2B5EF4-FFF2-40B4-BE49-F238E27FC236}">
                <a16:creationId xmlns:a16="http://schemas.microsoft.com/office/drawing/2014/main" id="{ABA0CA93-C31C-4A95-A405-F602D95C1EA3}"/>
              </a:ext>
            </a:extLst>
          </p:cNvPr>
          <p:cNvSpPr>
            <a:spLocks noChangeArrowheads="1"/>
          </p:cNvSpPr>
          <p:nvPr/>
        </p:nvSpPr>
        <p:spPr bwMode="auto">
          <a:xfrm>
            <a:off x="7167813" y="3775194"/>
            <a:ext cx="1976187" cy="609600"/>
          </a:xfrm>
          <a:prstGeom prst="wedgeRoundRectCallout">
            <a:avLst>
              <a:gd name="adj1" fmla="val -57718"/>
              <a:gd name="adj2" fmla="val 35521"/>
              <a:gd name="adj3" fmla="val 16667"/>
            </a:avLst>
          </a:prstGeom>
          <a:solidFill>
            <a:schemeClr val="accent1"/>
          </a:solidFill>
          <a:ln w="9525">
            <a:solidFill>
              <a:schemeClr val="tx1"/>
            </a:solidFill>
            <a:miter lim="800000"/>
            <a:headEnd/>
            <a:tailEnd/>
          </a:ln>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dirty="0">
                <a:solidFill>
                  <a:srgbClr val="FF0000"/>
                </a:solidFill>
                <a:ea typeface="华文中宋" panose="02010600040101010101" pitchFamily="2" charset="-122"/>
              </a:rPr>
              <a:t>复杂性</a:t>
            </a:r>
            <a:r>
              <a:rPr lang="en-US" altLang="zh-CN" sz="2800" dirty="0">
                <a:solidFill>
                  <a:srgbClr val="FF0000"/>
                </a:solidFill>
                <a:ea typeface="华文中宋" panose="02010600040101010101" pitchFamily="2" charset="-122"/>
              </a:rPr>
              <a:t>O(n)</a:t>
            </a:r>
          </a:p>
        </p:txBody>
      </p:sp>
      <p:sp>
        <p:nvSpPr>
          <p:cNvPr id="82949" name="Rectangle 5">
            <a:extLst>
              <a:ext uri="{FF2B5EF4-FFF2-40B4-BE49-F238E27FC236}">
                <a16:creationId xmlns:a16="http://schemas.microsoft.com/office/drawing/2014/main" id="{E7145C63-E68D-4426-878D-F0F2DA1C5535}"/>
              </a:ext>
            </a:extLst>
          </p:cNvPr>
          <p:cNvSpPr>
            <a:spLocks noChangeArrowheads="1"/>
          </p:cNvSpPr>
          <p:nvPr/>
        </p:nvSpPr>
        <p:spPr bwMode="auto">
          <a:xfrm>
            <a:off x="5791200" y="5181600"/>
            <a:ext cx="312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3200" dirty="0">
                <a:solidFill>
                  <a:srgbClr val="FF0000"/>
                </a:solidFill>
                <a:ea typeface="华文中宋" panose="02010600040101010101" pitchFamily="2" charset="-122"/>
              </a:rPr>
              <a:t>总复杂性</a:t>
            </a:r>
            <a:r>
              <a:rPr lang="en-US" altLang="zh-CN" sz="3200" dirty="0">
                <a:solidFill>
                  <a:srgbClr val="FF0000"/>
                </a:solidFill>
                <a:ea typeface="华文中宋" panose="02010600040101010101" pitchFamily="2" charset="-122"/>
              </a:rPr>
              <a:t>O(m</a:t>
            </a:r>
            <a:r>
              <a:rPr lang="en-US" altLang="zh-CN" sz="3200" baseline="30000" dirty="0">
                <a:solidFill>
                  <a:srgbClr val="FF0000"/>
                </a:solidFill>
                <a:ea typeface="华文中宋" panose="02010600040101010101" pitchFamily="2" charset="-122"/>
              </a:rPr>
              <a:t>2</a:t>
            </a:r>
            <a:r>
              <a:rPr lang="en-US" altLang="zh-CN" sz="3200" dirty="0">
                <a:solidFill>
                  <a:srgbClr val="FF0000"/>
                </a:solidFill>
                <a:ea typeface="华文中宋" panose="02010600040101010101" pitchFamily="2" charset="-122"/>
              </a:rPr>
              <a:t>n)</a:t>
            </a:r>
          </a:p>
        </p:txBody>
      </p:sp>
    </p:spTree>
  </p:cSld>
  <p:clrMapOvr>
    <a:masterClrMapping/>
  </p:clrMapOvr>
</p:sld>
</file>

<file path=ppt/theme/theme1.xml><?xml version="1.0" encoding="utf-8"?>
<a:theme xmlns:a="http://schemas.openxmlformats.org/drawingml/2006/main" name="cloudbkgd">
  <a:themeElements>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bkgd">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cloudbkg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bkg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bkg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bkg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bkg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bkg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Data\Microsoft\Templates\cloudbkgd.pot</Template>
  <TotalTime>4910</TotalTime>
  <Words>6391</Words>
  <Application>Microsoft Office PowerPoint</Application>
  <PresentationFormat>全屏显示(4:3)</PresentationFormat>
  <Paragraphs>572</Paragraphs>
  <Slides>72</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72</vt:i4>
      </vt:variant>
    </vt:vector>
  </HeadingPairs>
  <TitlesOfParts>
    <vt:vector size="88" baseType="lpstr">
      <vt:lpstr>Input</vt:lpstr>
      <vt:lpstr>等线</vt:lpstr>
      <vt:lpstr>黑体</vt:lpstr>
      <vt:lpstr>华文中宋</vt:lpstr>
      <vt:lpstr>Arial</vt:lpstr>
      <vt:lpstr>Cambria Math</vt:lpstr>
      <vt:lpstr>Palatino Linotype</vt:lpstr>
      <vt:lpstr>Symbol</vt:lpstr>
      <vt:lpstr>Times New Roman</vt:lpstr>
      <vt:lpstr>Verdana</vt:lpstr>
      <vt:lpstr>Wingdings</vt:lpstr>
      <vt:lpstr>cloudbkgd</vt:lpstr>
      <vt:lpstr>数式</vt:lpstr>
      <vt:lpstr>位图图像</vt:lpstr>
      <vt:lpstr>公式</vt:lpstr>
      <vt:lpstr>Equation.3</vt:lpstr>
      <vt:lpstr>PowerPoint 演示文稿</vt:lpstr>
      <vt:lpstr>学习要点</vt:lpstr>
      <vt:lpstr>引言 几个典型问题</vt:lpstr>
      <vt:lpstr>问题1：最短路径</vt:lpstr>
      <vt:lpstr>问题2：最短路径</vt:lpstr>
      <vt:lpstr>问题3：背包问题</vt:lpstr>
      <vt:lpstr>问题4：最长公共子序列问题</vt:lpstr>
      <vt:lpstr>3.1 矩阵连乘问题</vt:lpstr>
      <vt:lpstr>3.1 矩阵连乘问题</vt:lpstr>
      <vt:lpstr>矩阵乘法</vt:lpstr>
      <vt:lpstr>矩阵连乘方法数与添括号方式数一一对应</vt:lpstr>
      <vt:lpstr>矩阵连乘积与加括号</vt:lpstr>
      <vt:lpstr>二、算法分析--穷举法行吗？</vt:lpstr>
      <vt:lpstr>二、算法分析--新思路</vt:lpstr>
      <vt:lpstr>二、算法分析--新思路</vt:lpstr>
      <vt:lpstr>分析最优解的特征和结构</vt:lpstr>
      <vt:lpstr>矩阵链问题的一般递推关系</vt:lpstr>
      <vt:lpstr>（3）计算最优值</vt:lpstr>
      <vt:lpstr>计算最优值程序</vt:lpstr>
      <vt:lpstr>算法过程</vt:lpstr>
      <vt:lpstr>算法复杂度分析</vt:lpstr>
      <vt:lpstr>（4）算法分析--构造最优解</vt:lpstr>
      <vt:lpstr>3.2  动态规划算法的基本要素</vt:lpstr>
      <vt:lpstr>动态规划的基本思想</vt:lpstr>
      <vt:lpstr>求解方法</vt:lpstr>
      <vt:lpstr>动态规划中的概念、名词术语(1)</vt:lpstr>
      <vt:lpstr>动态规划中的概念、名词术语(2)</vt:lpstr>
      <vt:lpstr>最佳原理</vt:lpstr>
      <vt:lpstr>动态规划的求解步骤</vt:lpstr>
      <vt:lpstr>动态规划的求解方法</vt:lpstr>
      <vt:lpstr>PowerPoint 演示文稿</vt:lpstr>
      <vt:lpstr>动态规划算法的基本要素</vt:lpstr>
      <vt:lpstr>动态规划算法的基本要素</vt:lpstr>
      <vt:lpstr>重叠子结构性质</vt:lpstr>
      <vt:lpstr>动态规划法与分治策略</vt:lpstr>
      <vt:lpstr>动态规划法与分治策略（续）</vt:lpstr>
      <vt:lpstr>备忘录方法</vt:lpstr>
      <vt:lpstr>动态规划小结</vt:lpstr>
      <vt:lpstr>上机题</vt:lpstr>
      <vt:lpstr>动态规划解题举例1</vt:lpstr>
      <vt:lpstr>分析</vt:lpstr>
      <vt:lpstr>动态规划解题举例2</vt:lpstr>
      <vt:lpstr>分析</vt:lpstr>
      <vt:lpstr>3.3 最长公共子序列</vt:lpstr>
      <vt:lpstr>概念</vt:lpstr>
      <vt:lpstr>2、公共子序列</vt:lpstr>
      <vt:lpstr>最长公共子序问题</vt:lpstr>
      <vt:lpstr>一、算法分析</vt:lpstr>
      <vt:lpstr>最长公共子序列的结构</vt:lpstr>
      <vt:lpstr>结论</vt:lpstr>
      <vt:lpstr>二、子问题的递归结构</vt:lpstr>
      <vt:lpstr>三、计算最优值</vt:lpstr>
      <vt:lpstr>举例</vt:lpstr>
      <vt:lpstr>算法的改进</vt:lpstr>
      <vt:lpstr>银币问题—补充</vt:lpstr>
      <vt:lpstr>补充：银币问题-续 </vt:lpstr>
      <vt:lpstr>3.4 最大子段和</vt:lpstr>
      <vt:lpstr>心情愉快指数</vt:lpstr>
      <vt:lpstr>最大子段和问题</vt:lpstr>
      <vt:lpstr>举例</vt:lpstr>
      <vt:lpstr>算法分析</vt:lpstr>
      <vt:lpstr>简单算法--枚举</vt:lpstr>
      <vt:lpstr>改进算法—递推</vt:lpstr>
      <vt:lpstr>分治策略</vt:lpstr>
      <vt:lpstr>第三种情况的处理：S=</vt:lpstr>
      <vt:lpstr>动态规划方法</vt:lpstr>
      <vt:lpstr>动态规划-程序</vt:lpstr>
      <vt:lpstr>最大子段和的推广</vt:lpstr>
      <vt:lpstr>最大子矩阵和问题</vt:lpstr>
      <vt:lpstr>算法</vt:lpstr>
      <vt:lpstr>算法图示</vt:lpstr>
      <vt:lpstr>PowerPoint 演示文稿</vt:lpstr>
    </vt:vector>
  </TitlesOfParts>
  <Company>shu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动态规划 </dc:title>
  <dc:creator>csshu</dc:creator>
  <cp:lastModifiedBy>江豪 汪</cp:lastModifiedBy>
  <cp:revision>244</cp:revision>
  <dcterms:created xsi:type="dcterms:W3CDTF">2003-11-20T14:35:38Z</dcterms:created>
  <dcterms:modified xsi:type="dcterms:W3CDTF">2024-10-30T02:58:23Z</dcterms:modified>
</cp:coreProperties>
</file>