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0"/>
  </p:notesMasterIdLst>
  <p:sldIdLst>
    <p:sldId id="256" r:id="rId2"/>
    <p:sldId id="290" r:id="rId3"/>
    <p:sldId id="362" r:id="rId4"/>
    <p:sldId id="288" r:id="rId5"/>
    <p:sldId id="289" r:id="rId6"/>
    <p:sldId id="291" r:id="rId7"/>
    <p:sldId id="257" r:id="rId8"/>
    <p:sldId id="292" r:id="rId9"/>
    <p:sldId id="258" r:id="rId10"/>
    <p:sldId id="259" r:id="rId11"/>
    <p:sldId id="366" r:id="rId12"/>
    <p:sldId id="260" r:id="rId13"/>
    <p:sldId id="261" r:id="rId14"/>
    <p:sldId id="293" r:id="rId15"/>
    <p:sldId id="294" r:id="rId16"/>
    <p:sldId id="295" r:id="rId17"/>
    <p:sldId id="363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14" r:id="rId26"/>
    <p:sldId id="303" r:id="rId27"/>
    <p:sldId id="305" r:id="rId28"/>
    <p:sldId id="306" r:id="rId29"/>
    <p:sldId id="312" r:id="rId30"/>
    <p:sldId id="307" r:id="rId31"/>
    <p:sldId id="308" r:id="rId32"/>
    <p:sldId id="309" r:id="rId33"/>
    <p:sldId id="310" r:id="rId34"/>
    <p:sldId id="311" r:id="rId35"/>
    <p:sldId id="304" r:id="rId36"/>
    <p:sldId id="315" r:id="rId37"/>
    <p:sldId id="316" r:id="rId38"/>
    <p:sldId id="317" r:id="rId39"/>
    <p:sldId id="318" r:id="rId40"/>
    <p:sldId id="319" r:id="rId41"/>
    <p:sldId id="365" r:id="rId42"/>
    <p:sldId id="371" r:id="rId43"/>
    <p:sldId id="320" r:id="rId44"/>
    <p:sldId id="321" r:id="rId45"/>
    <p:sldId id="313" r:id="rId46"/>
    <p:sldId id="367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1" r:id="rId56"/>
    <p:sldId id="334" r:id="rId57"/>
    <p:sldId id="343" r:id="rId58"/>
    <p:sldId id="333" r:id="rId59"/>
    <p:sldId id="336" r:id="rId60"/>
    <p:sldId id="338" r:id="rId61"/>
    <p:sldId id="339" r:id="rId62"/>
    <p:sldId id="337" r:id="rId63"/>
    <p:sldId id="340" r:id="rId64"/>
    <p:sldId id="342" r:id="rId65"/>
    <p:sldId id="341" r:id="rId66"/>
    <p:sldId id="344" r:id="rId67"/>
    <p:sldId id="345" r:id="rId68"/>
    <p:sldId id="346" r:id="rId69"/>
    <p:sldId id="347" r:id="rId70"/>
    <p:sldId id="348" r:id="rId71"/>
    <p:sldId id="349" r:id="rId72"/>
    <p:sldId id="350" r:id="rId73"/>
    <p:sldId id="351" r:id="rId74"/>
    <p:sldId id="352" r:id="rId75"/>
    <p:sldId id="353" r:id="rId76"/>
    <p:sldId id="354" r:id="rId77"/>
    <p:sldId id="355" r:id="rId78"/>
    <p:sldId id="370" r:id="rId7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2F36"/>
    <a:srgbClr val="FF00FF"/>
    <a:srgbClr val="00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30" autoAdjust="0"/>
    <p:restoredTop sz="86340" autoAdjust="0"/>
  </p:normalViewPr>
  <p:slideViewPr>
    <p:cSldViewPr>
      <p:cViewPr varScale="1">
        <p:scale>
          <a:sx n="77" d="100"/>
          <a:sy n="77" d="100"/>
        </p:scale>
        <p:origin x="750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149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760" units="cm"/>
          <inkml:channel name="Y" type="integer" max="1824" units="cm"/>
          <inkml:channel name="T" type="integer" max="2.14748E9" units="dev"/>
        </inkml:traceFormat>
        <inkml:channelProperties>
          <inkml:channelProperty channel="X" name="resolution" value="144.61539" units="1/cm"/>
          <inkml:channelProperty channel="Y" name="resolution" value="105.43353" units="1/cm"/>
          <inkml:channelProperty channel="T" name="resolution" value="1" units="1/dev"/>
        </inkml:channelProperties>
      </inkml:inkSource>
      <inkml:timestamp xml:id="ts0" timeString="2022-10-24T11:11:40.1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23465 4983 0</inkml:trace>
  <inkml:trace contextRef="#ctx0" brushRef="#br0" timeOffset="2174.53">6460 9159 0</inkml:trace>
  <inkml:trace contextRef="#ctx0" brushRef="#br0" timeOffset="3029.27">6857 6157 0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760" units="cm"/>
          <inkml:channel name="Y" type="integer" max="1824" units="cm"/>
          <inkml:channel name="T" type="integer" max="2.14748E9" units="dev"/>
        </inkml:traceFormat>
        <inkml:channelProperties>
          <inkml:channelProperty channel="X" name="resolution" value="144.61539" units="1/cm"/>
          <inkml:channelProperty channel="Y" name="resolution" value="105.43353" units="1/cm"/>
          <inkml:channelProperty channel="T" name="resolution" value="1" units="1/dev"/>
        </inkml:channelProperties>
      </inkml:inkSource>
      <inkml:timestamp xml:id="ts0" timeString="2022-10-24T11:36:38.1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19397 5654 0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10-24T12:06:29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18284 6604 7359 0,'0'0'656'0,"0"0"-528"0,0 0-128 0,0 0 0 15,0 0 832-15,0 0 128 0,0 0 16 0,0 0 16 16,-8-2 496-16,0-1 112 0,0-2 0 0,1 2 16 15,7 3-352-15,0 0-80 0,0 0-16 0,0 0 0 16,-6-8-64-16,1 0-16 0,0 0 0 0,2 2 0 16,0-1-368-16,0-2-80 0,-2-3 0 0,0 4-16 15,-1 4-176-15,-1-1-16 0,7 5-16 0,-8-7 0 16,0 2-96-16,0-1 0 0,-2 1-16 0,2 0 0 16,-1 2 48-16,-1-2 16 0,-1 5 0 0,0-3 0 15,-1 2 16-15,1-3 16 0,-2 4 0 0,1 0 0 16,-1 0 0-16,0 0 0 0,-2 0 0 0,1 5 0 15,0 2-160-15,-1 1-48 0,1 1 0 0,-2-1 0 16,0 4-192-16,0-3 0 0,-2 6 128 0,2-1-128 0,-2 0 0 16,2 1 0-16,0-1 0 0,0-1 0 0,0 3 0 15,2 2 0-15,-1-2 0 0,2 5 0 0,0-4 0 0,1 4 0 16,-1-3 0-16,2 3 0 0,1 1 0 0,0-1-128 16,2 0 128-16,2 0 0 0,-1 3-128 0,3 0 128 15,-1 0 0-15,0 2 0 0,2-2 0 0,1 2-128 16,1-2 128-16,1 0 0 0,0 5 0 0,1-2 0 15,1-6 0-15,3 0 0 0,1 3 0 0,0 0 0 16,2 0 0-16,2 0 0 0,0-2 0 0,1-1 128 16,2-1-128-16,4 0 192 0,1 1-192 0,0 0 144 15,-4-10-144-15,2 5 128 0,0-4 32 0,2-3 0 16,1-1 0-16,0 0 0 0,2-1-32 0,0-1 0 16,0 1 0-16,6-3 0 0,-1 1-128 0,-2 2 192 0,-2-6-192 0,1 4 192 15,-2-3-64-15,-2-2 0 0,-1 0 0 0,-1-2 0 16,1 1 128-16,0-3 0 0,-2 3 16 0,0-6 0 15,-2-1-16-15,2 0-16 0,0-5 0 0,2 2 0 16,0-3-64-16,-1-2-16 0,1-4 0 0,1 0 0 16,0 4-160-16,1-2 192 0,1-1-192 0,-2 3 192 15,0-5-192-15,-1 3 0 0,-1-1 0 0,-1-1 0 16,0 6 0-16,-1-2 0 0,-4 0 0 0,2 1 0 16,-2 1 0-16,7-5 0 0,-2 3 128 0,-5 4-128 15,-3-2 0-15,0 0 0 0,-1-1 144 0,1 1-144 16,0-2 0-16,1 3 0 0,-1-3 0 0,-3 0 128 15,0 0-128-15,-2 0 0 0,-1-2 0 0,-2-1 0 16,-2-2 128-16,-3-10-128 0,-4-1 160 0,4 13-160 0,0-2 224 16,-1 0-48-16,-2 0-16 0,-2-3 0 0,-1 0-160 0,-5-5 192 15,1 2-192-15,4 14 192 0,-2-3-192 0,-1 3 0 16,-2-3 144-16,-2 3-144 0,-1 2 0 0,-2 3 128 16,-1 0-128-16,-3 3 0 0,0 2 0 0,-1-2 144 15,-1 0-144-15,-2 2 0 0,2 8 128 0,-1-2-128 16,3 2 0-16,2-2 0 0,-1-3 0 0,3 0 0 15,2 5 0-15,3-2 0 0,2-3 0 0,-4 0 0 16,3-3 0-16,7 3 0 0,8 0 0 0,0 0 0 16,0 0 0-16,0 0 0 0,0 0 0 0,0 0-176 15,0 0 176-15,0 0-208 16,0 0-672-16,0 0-128 0,0 0-16 0,0 0-16 16,0 0-1072-16,0 0-192 0,-6 3-64 0,6-3-11904 0</inkml:trace>
  <inkml:trace contextRef="#ctx0" brushRef="#br0" timeOffset="1429.16">15387 6774 9215 0,'0'0'816'0,"0"0"-656"0,-5-3-160 0,5 3 0 16,0 0 832-16,-6 0 128 0,6 0 16 0,-8-5 16 15,-2 2 448-15,2-2 96 0,0 2 0 0,2-2 16 16,6 5-736-16,0 0-160 0,-7-2-16 0,1-1-16 15,-1-2-144-15,7 5-32 0,0 0 0 0,0 0 0 16,-8-6 192-16,2 3 48 0,-2-2 0 0,2 0 0 16,6 5 0-16,-7 0 0 0,7 0 0 0,-8 0 0 15,-1-3-144-15,1 3-32 0,-1-2 0 0,1 2 0 0,0 0-208 0,0 0-48 16,-1-3-16-16,-2 6 0 0,3-1-112 0,-2 1 0 16,2 2-128-16,-3 3 192 0,-1-3-192 0,0 1 176 15,-1-1-176-15,0 3 160 0,0 3 0 0,0-1 0 16,0 3 0-16,-1-2 0 0,-1 2-32 0,1 3 0 15,1 0 0-15,2 0 0 0,-2-3-128 0,0 3 0 16,-1-3 144-16,3 3-144 0,3 0 0 0,0 0 0 16,0 3 0-16,1-1 0 0,1 1 0 0,-1 2 0 15,1 3 0-15,-1 0 0 0,1-1 0 0,1 1 0 16,2 0 0-16,1 1 128 0,1 3-128 0,2 1 0 16,4-1 0-16,2-3 0 0,-1-6 0 0,2-2 0 15,3 3 0-15,4-3 0 0,1-1 288 0,1 0 32 16,4-3 16-16,3-1 0 0,4-4 16 0,2-4 0 0,4 1 0 0,1-3 0 15,2-2-160-15,2-2-48 0,-1-3 0 0,4 2 0 16,1-2-144-16,1 1 160 0,-3-3-160 0,1 1 160 16,-2-6-160-16,-1 1 0 0,-3-2 144 0,0 4-144 15,-2-6 128-15,-2 3-128 0,-2 0 160 0,9-5-160 16,-7 1 128-16,-7 4-128 0,-4-1 0 0,-5 4 144 16,-3-4-16-16,-3-1-128 0,-5 1 192 0,-2 1-64 15,0 3 256-15,-3-4 64 0,-3-1 0 0,0-2 0 16,-4 3-48-16,1 0 0 0,-2 0 0 0,1 2 0 15,-2 0-192-15,-1-4-32 0,-1-1-16 0,-2 0 0 16,-3 0-160-16,-2 0 192 0,-1 0-192 0,0 0 192 16,-2 0-192-16,-2 0 192 0,-1 0-192 0,0 1 192 15,0 1-192-15,-1-1 192 0,-3 1-192 0,3 1 192 16,0 0-192-16,3 2 0 0,1 1 144 0,0-1-144 0,0 3 0 16,2-2 0-16,2 2 0 0,0 2 0 0,1 1 0 0,2 0 0 15,0-1 0-15,-1 6 0 0,2 0 0 16,0 0 0-16,1 3 0 0,-1 2 0 0,2-2-336 0,-1 0-48 15,1-1 0-15,-2 1 0 16,4 5-1616-16,1 0-336 0</inkml:trace>
  <inkml:trace contextRef="#ctx0" brushRef="#br0" timeOffset="3590.93">19863 6468 7359 0,'0'0'656'0,"0"0"-528"15,0 0-128-15,0 0 0 0,-3-5 864 0,3 5 144 16,0 0 16-16,-7-7 16 0,1-1 176 0,1 0 16 0,0 0 16 0,0 3 0 16,5 5-288-16,-6-3-48 0,0-3-16 0,-1-1 0 15,1 4-192-15,1-2-64 0,5 5 0 0,-6-8 0 16,-1 3-64-16,1-3 0 0,1 4-16 0,0-3 0 16,5 7-176-16,-6-5-16 0,6 5-16 0,0 0 0 15,-8-8-176-15,1 7-48 0,1-2 0 0,6 3 0 16,0 0-128-16,-8 1 0 0,0 2 0 0,0 2 0 15,0-2 160-15,1 5-160 0,1 0 192 0,-2 0-192 16,0 2 160-16,0 0-160 0,-2-1 128 0,2 3-128 16,0 2 0-16,0 1 0 0,-2-3 0 0,1 6 0 15,-2-2 0-15,-1 3 0 0,1 2-128 0,-2 0 128 16,-1 3 0-16,-2-1 0 0,-2-1 0 0,2 2 0 16,2 5 320-16,-1 0 0 0,1 1-16 0,-1-1 0 15,-1 0 96-15,2-3 32 0,1 3 0 0,2-2 0 16,0-1-208-16,-1 3-32 0,1-5-16 0,3 3 0 0,2-3-176 0,2 0 0 15,4-1 0-15,0 1 0 0,0-8 0 0,2 3 0 16,1-3 0-16,4-1 0 0,2 4 192 0,2-6 16 16,2-1 0-16,3 0 0 0,4-3 192 0,2-1 48 15,4 0 0-15,3-1 0 0,1-2 144 0,2-5 48 16,0 0 0-16,0-4 0 0,1 4-64 0,-1-4-16 16,-2 2 0-16,-1-4 0 0,-2-2-176 0,-1 0-16 15,0-5-16-15,-2 1 0 0,0 0-160 0,-2-4-16 16,1-2-16-16,-1-1 0 0,1 3-160 0,-1 3 160 15,-1-5-160-15,-2-1 160 0,-3 0-160 0,0-2 0 16,-3 0 0-16,-2 0 0 0,-1 0 0 0,-4-1 128 16,-2-4-128-16,-3 2 0 0,-2-2 320 0,-3-1 0 0,1-2-16 0,-5-3 0 15,-3-5-32-15,-3 0 0 0,-2 0 0 0,-2 0 0 16,0 5-112-16,1 3-32 0,-4 5 0 0,0 2 0 16,-2 2 0-16,-1 4-128 0,0 4 192 0,0 4-64 15,-2 1-128-15,1 2 0 0,-2 5 144 0,1 0-144 16,0 5 0-16,4-2 0 0,-1 5 0 0,4-1 0 15,-4-1 0-15,4 1 0 0,2 1 0 0,1 1 0 16,3-1 0-16,5 4-240 0,-2-4 64 0,0 1 16 31,4 4-800-31,3-2-176 0,1 5-16 0,2-3-16 16,0 3-1808-16,2-3-352 0</inkml:trace>
  <inkml:trace contextRef="#ctx0" brushRef="#br0" timeOffset="6449.13">16589 4707 6447 0,'0'0'576'0,"0"0"-576"0,0 0 0 0,0 0 0 16,0 0 528-16,0 0 0 0,0 0 0 0,0 0 0 15,0 0 112-15,0 0 0 0,0 0 16 0,0 0 0 16,8-5-208-16,2-3-32 0,1 0-16 0,2 1 0 0,1 1 208 0,-2 1 32 16,0-1 16-16,1-1 0 15,2-1-16-15,1 2-16 0,1 1 0 0,1-3 0 0,-2 0-384 0,5 0-80 16,-2 0-16-16,4 0 0 0,1 6-144 0,0-1 0 16,0 0-160-16,-2-2 160 0,1 2 0 0,-1-2 0 15,-1 5 0-15,-2-2 0 0,-1-4 0 0,-2 4 0 16,-1-4 0-16,-3 6 0 0,0 0 192 0,-3 5 128 15,-9-5 16-15,10 3 16 0,-10-3 96 0,0 0 32 16,0 0 0-16,8 5 0 0,-8-5 32 0,0 0 0 16,0 0 0-16,0 0 0 0,0 0-64 0,3 10-16 15,-3-10 0-15,0 0 0 0,0 0 16 0,0 0 0 16,-8 6 0-16,0 2 0 0,-3 0-32 0,-2 3 0 16,-1-3 0-16,-3 0 0 0,1 0-96 0,-1 2-32 0,-1-2 0 0,-1 0 0 15,0-2-96-15,-2-1 0 0,-2 0-16 0,1 0 0 16,3-2-32-16,1 2 0 0,2 3 0 0,1-5 0 15,-2-6-144-15,1 3 128 0,0 0-128 0,1 0 128 16,2 0-128-16,1-2 160 0,-1-1-160 0,0 3 160 16,2-3-160-16,1 3 0 0,2-2 0 0,0-1 0 15,0 0 0-15,1-2 0 0,1 3 0 0,6 2 0 16,0 0 0-16,0 0 0 0,0 0 0 0,0 0 128 16,0 0-128-16,0 0 0 0,0 0 0 0,0 0-176 15,0 0 176-15,11-1-208 0,1-1 80 0,0-1 128 16,4 3-192-16,2 0 192 0,0 0-160 0,3 0 160 15,-1 0-128-15,3-2 128 0,1 2 0 0,0-1-144 16,0-4 144-16,2 3 0 0,-1-1 0 0,3 0 0 16,1-2 0-16,1 2 0 0,1 3 0 0,-1-5 0 15,1-3 0-15,-2 0 0 0,-2 3 0 0,-3 0 0 0,-2 5 0 16,-2 0 0-16,-4 2 0 0,-4-2-128 0,-2 0 128 0,-10 0 0 16,8 8 0-16,-1 0 0 0,-7-8 0 0,0 0 0 15,0 0 0-15,0 0 0 0,-7 8 176 0,1 3-48 16,-4-1 0-16,0-2 0 0,-1-3 192 0,-2-2 48 15,-1 5 0-15,-1-3 0 0,-1-2-96 0,-1 0-16 16,-2-3 0-16,-1 2 0 0,-1 4-48 0,1-1-16 16,-3 0 0-16,1 1 0 0,-1-4-48 0,-1-2-16 15,0 3 0-15,2-3 0 0,-1 0 0 0,1 0-128 16,-1-3 192-16,2 1-64 0,2 1 0 0,1-1-128 16,2-1 192-16,0 1-64 0,2-1-128 0,1-2 128 0,3-1-128 15,2 1 128-15,8 5-128 0,0 0 160 0,0 0-160 0,0 0 160 16,-3-8-160-16,3 8 0 0,0 0 0 0,0 0 0 15,10-5 0-15,1-1-144 0,0-1 144 0,2 1-160 16,3 6 160-16,2 0 0 0,1 0-144 0,0 0 144 16,1-5 0-16,-1 2 0 0,2-2-144 0,0 2 144 15,3 1 0-15,0-4 0 0,0 1-128 0,0-3 128 16,0 3 0-16,0-1-160 0,0 1 160 0,0-3-128 16,-3 3 128-16,0-3 0 0,-4 0 0 0,-2 5 0 15,1-2 0-15,-3 3 0 0,-2 1 0 0,-11 1-128 16,0 0 128-16,0 0 0 0,0 0 0 0,0 0 0 15,0 0 0-15,0 0 0 0,-10 6 0 0,-2 4 128 16,-6-2-128-16,-3 6 128 0,-3 1-128 0,-3-4 128 16,-2 0-128-16,0-1 0 0,-2 3 0 0,3-2 0 15,0-3 0-15,3-3 128 0,1 1-128 0,3-1 0 0,3 0 0 16,4 0 0-16,4-2 0 0,2 2 0 0,0-7 0 0,8 2 0 16,-5-6-128-16,5 6 128 15,0 0-688-15,0 0-48 0,15-5-16 16,2 0 0-16,1-3-656 0,3 0-144 0,1 3-32 0,2-1 0 15,2-7 176-15,0 3 16 0,-1-4 16 0,1 6 0 16,0 1 496-16,-1 4 112 0,1 0 0 0,0 0 16 16,-2-2 240-16,0 2 64 0,0 3 0 0,-5 1-6464 0</inkml:trace>
  <inkml:trace contextRef="#ctx0" brushRef="#br0" timeOffset="21413.08">20957 6634 10127 0,'0'0'896'0,"0"0"-704"16,0 0-192-16,0 0 0 0,-9-3 208 0,9 3 16 16,0 0 0-16,-11-8 0 0,1 3 752 0,2-3 160 15,-2-3 16-15,4 6 16 0,6 5-448 0,0 0-80 0,0 0-32 0,0 0 0 16,-7-16-480-16,3 3-128 0,-1 2 0 0,5 11 0 16,-5-11 0-16,5 11 0 0,-5-13 0 0,5 13 0 15,-3-13 384-15,3 13 0 0,0 0 0 0,0 0 0 16,-6-11 96-16,-1 1 32 0,1 2 0 0,6 8 0 15,0 0-144-15,0 0-32 0,0 0 0 0,0 0 0 16,-10-11 240-16,10 11 64 0,0 0 0 0,0 0 0 16,-11-9 32-16,3-3 16 0,1 4 0 0,7 8 0 15,0 0-96-15,0 0-16 0,0 0 0 0,0 0 0 16,-8-9-352-16,8 9-80 0,-6-8-16 0,6 8 0 16,-11-7-128-16,11 7 0 0,-12-5 0 0,3 4 0 15,-2 2-208-15,11-1 16 0,-13 8 16 0,2 0 0 16,-2 0-112-16,-2-3-32 0,-1 3 0 0,3 0 0 15,1 5 320-15,0 0 0 0,-2-2 128 0,-1 4-128 16,1-1 272-16,1 1-32 0,0-1-16 0,0 2 0 16,1 0-224-16,-1-1 128 0,-2-3-128 0,3 1 0 0,0 5 0 0,1-2 0 15,0 0 0-15,1 0 0 0,-1-1 0 0,1-1 0 16,1 0 0-16,-1 1 0 0,0 1 0 0,1 0 0 16,-1 0 0-16,2 0 0 0,-1 3 0 0,-1-1 0 15,0 1 0-15,1-1 0 0,-3-2 0 0,3 2 0 16,-1-2 0-16,2 0 0 0,0 0 0 0,2-2 0 15,-1 1 0-15,4-4 0 0,3-11 0 0,0 18 0 16,2-2 0-16,1-2 144 0,0-1 144 0,2 0 32 16,-5-13 0-16,10 19 0 0,1-1-64 0,0 3-16 15,3-2 0-15,-1 0 0 0,-1-5-96 0,0 1-16 0,1-1 0 0,0 2 0 16,0-1 0-16,1-2 0 0,1-4 0 0,-1 1 0 16,2-4 64-16,2 2 16 0,1 0 0 0,-1-1 0 15,1-6 80-15,0 3 16 0,1-4 0 0,2 1 0 16,2 1 32-16,0 0 16 0,0-2 0 0,0-2 0 15,2-5-48-15,1 4-16 0,1-3 0 0,0-2 0 16,1-3-48-16,-1-2-16 0,-1-7 0 0,0 8 0 16,0 2-224-16,-1-1 176 0,-2 0-176 0,-3-2 160 15,-3-3-160-15,-2 0 0 0,-2 0 0 0,-1 3 128 16,-2 0-128-16,-1-3 0 0,0 0 0 0,-4 0 0 16,-1 0 0-16,-2 0 0 0,-1-2 0 0,-4-3 128 15,-1-1-128-15,-4-4 0 0,-2 0 0 0,-2-1 0 16,-2 3 192-16,0 0-64 0,-3-2 0 0,0-1 0 15,-2 3 48-15,0-2 0 0,1 2 0 0,-1 3 0 0,-1-5-48 16,0 2 0-16,-1-3 0 0,4 5 0 16,2 4-128-16,-1 0 128 0,1 7-128 0,1-3 128 0,-5-2-128 0,2 1 0 15,0 2 0-15,2 5 0 0,1 3 0 0,0-1 0 16,-1-4-128-16,-1 7 128 0,-1-2-160 0,2 5 160 16,-1 5-208-16,3-5 80 15,-4 0-384-15,-2 0-80 0,3 0-16 0,3 3 0 16,2 5-544-16,10-8-96 0,-10 5-32 0,10-5-13440 0</inkml:trace>
  <inkml:trace contextRef="#ctx0" brushRef="#br0" timeOffset="27259.76">11032 14620 5519 0,'0'0'496'0,"0"0"-496"16,0 0 0-16,-8 2 0 0,0 1 704 0,8-3 64 0,-8-3 0 0,0-1 0 15,0 3-240-15,1-4-32 0,1-1-16 0,1 1 0 16,0 2-240-16,5 3-48 0,-5-5-16 0,0-3 0 16,1 0-176-16,0 0 0 0,4 8 0 0,0 0 0 15,-4-4 0-15,0 0 0 0,1-1 0 0,-2-3 0 16,2 0 576-16,3 8 16 0,0 0 16 0,0 0 0 15,-5-3-608-15,2-2 0 0,-2 2 0 0,5 3 0 16,0 0 0-16,-5-7 176 0,1 1-48 0,-1-2 0 16,0-5 320-16,2 5 48 0,3 8 16 0,0 0 0 15,0 0 272-15,0 0 64 0,0 0 16 0,0 0 0 16,0 0-352-16,0 0-80 0,0 0-16 0,0 0 0 16,-7-8-160-16,3 3-48 0,4 5 0 0,0 0 0 15,0 0-16-15,0 0 0 0,-8-8 0 0,1 5 0 16,-1 6 96-16,8-3 16 0,0 0 0 0,-6 5 0 15,-1-2 192-15,1 0 32 0,-1-1 16 0,7-2 0 16,0 0-400-16,-4 5-144 0,-1 1 0 0,0-1 144 0,5-5 48 0,-5 5 16 16,0 1 0-16,2 0 0 0,3-6 0 0,-5 9 0 15,1-1 0-15,0 0 0 0,1 3-208 0,0 0 144 16,1 2-144-16,1 0 128 0,-3 3-128 0,1 0 0 16,0 1 0-16,1 0 0 0,1 2 0 0,-1-2 0 15,1 8 0-15,-1-5 0 0,0 3 0 0,2-1 0 16,2 6 0-16,-2-3 0 0,0 3 0 0,0-3 0 15,2-2-144-15,-2 2 144 0,4 3 0 0,0-1 0 16,-1-1 0-16,2-1 0 0,-2 1 0 0,0-2 0 16,2 5 0-16,0-2 0 0,-2-1 0 0,0 4 0 15,0-1 128-15,2 8-128 0,0-8 0 0,0 0 0 0,0 0 0 16,-1 3 0-16,1 2 0 0,0-2 0 0,2-3 0 0,-1 0 0 16,0-5 144-16,2-3-144 0,0 3 128 0,0 0-128 15,-1-3 336-15,2 0-16 0,-1-1 0 0,1 3 0 16,-3-1-128-16,0-4-16 0,-1-8-16 0,0 6 0 15,0 3-160-15,-2-5 160 0,-3-14-160 0,0 0 160 16,3 8 0-16,-3-8 0 0,2 8 0 0,-1 0 0 16,-1-8 96-16,0 0 32 0,0 0 0 0,0 0 0 15,0 0-112-15,5 7-32 0,0-1 0 0,-2 2 0 16,0 0 112-16,-3-8 0 0,0 0 16 0,0 0 0 16,8-1-272-16,1 2 0 0,-3 3 0 0,-6-4 0 15,8-4 128-15,0 4-128 0,0 4 192 0,2-4-192 16,-1-5 192-16,1 2-192 0,0 6 192 0,1-3-192 15,2-5 144-15,-1-2-144 0,3 4 0 0,-1 3 144 0,2 3-144 16,2-3 0-16,0-4 0 0,1-1 0 0,0-2 0 0,2 6 0 16,0-2 144-16,1-1-144 0,2 0 256 0,4-1-32 15,-1 2 0-15,4-2 0 0,-1 0 176 0,4 2 48 16,-1 3 0-16,3-3 0 0,-1-7-128 0,2-1-32 16,1 3 0-16,1 4 0 0,-2 8-96 0,0-8-32 15,0 0 0-15,0 2 0 0,-2 4-160 0,0 2 128 16,1-4-128-16,-1 0 128 0,0-1-128 0,0-2 0 15,-1 3 144-15,0 3-144 0,0-2 0 0,-2-1 128 16,-2 0-128-16,1 0 0 0,-1 0 128 0,1 0-128 16,-3 0 128-16,1 0-128 0,0 4 192 0,0-4-48 15,0 3 0-15,-2 2 0 0,1 3 128 0,-1-4 32 0,-1-4 0 16,-1 4 0-16,1 4-304 0,0-3-272 0,-2-5 48 0,0 0 16 16,0 0 208-16,0 4 0 0,0 0 0 0,-2 0 0 15,-2-4 0-15,-1 4 0 0,0 0 0 0,0 1 0 16,-1-2 0-16,1 2 0 0,-1 2 0 0,0-3 0 15,-1 1 0-15,1-3 0 0,0-4 0 0,-1 4 0 16,-1 3 0-16,0-4 0 0,0-1 0 0,0-1 0 16,1 1 0-16,-1 1 0 0,0 6 0 0,0-6 0 15,0-1 176-15,0 4-32 0,0 0 0 0,0 1 0 16,0-5-144-16,2 2-176 0,-2-1 48 0,4 4 0 16,-3 2 128-16,0-3 0 0,2-4 0 0,-3 0 0 15,1 5 0-15,-1 2 0 0,0-6 0 0,0 3 0 16,1-1 0-16,1-2 0 0,0 4 0 0,-1-3 0 15,-1-1 0-15,0-1 0 0,2-3 0 0,0 3 0 0,-2 3 0 0,0 1 0 16,0-1 0-16,0-3 0 0,2-7 0 0,-1 6 0 16,1 1 0-16,-1 0 0 0,1-2 0 0,0-3 0 15,-1-3 0-15,3 0 0 0,-3 7 0 0,1-4 0 16,0-6 0-16,-2-1 128 0,0 0-128 0,0 4 0 16,-2 8 0-16,1-4 0 0,-2-4 0 0,-2 0 0 15,0 2 0-15,0-1 128 0,0-1-128 0,1 0 0 16,-3 0 0-16,1 0 0 0,-2-1 0 0,0-4 0 15,0-6 0-15,2 1 0 0,-4 11 0 0,-1-2 0 16,0-7 0-16,0 1 0 0,-1 3 0 0,1 2 0 16,-2 5 0-16,1-1 0 0,-1-4 0 0,-3-1 0 15,0-2 0-15,0-1 0 0,0-7 0 0,0 3 0 16,0-1 0-16,0 1 0 0,-2-3 0 0,1-1 0 0,-1-2 0 16,0-2 0-16,-1 2 0 0,0 0 0 0,-2 0 0 0,2-2 0 15,0 7 0-15,-1-2 0 0,1 0 0 0,0-3 0 16,-2 0 0-16,2 1 0 0,0 4 0 0,1 3 0 15,-1-2 0-15,1-1 0 0,1 2 0 0,-1-3 0 16,2 1 0-16,0 1 0 0,-1-1 0 0,-1 3 128 16,0-6-128-16,1 2 0 0,-1 3-128 0,1 1 128 15,-1 1 0-15,0 1 0 0,1-1 0 0,-1 6 0 16,-1-4 0-16,1-2 0 0,1 6 0 0,-1-6 0 16,1 2 0-16,-1 2 0 0,0-3 0 0,1-1 176 15,-1 1-176-15,1-1 0 0,-1-1 0 0,0 4-176 16,1 0 176-16,-1-1 0 0,2 5 0 0,-2-4 128 15,1 2-128-15,-1 0 0 0,1 1 0 0,-1 4 0 0,2 5 0 16,0 0 0-16,0 0 0 0,0 0 0 16,-6-7 0-16,1 3 0 0,0-1 0 0,5 5 0 0,0 0 0 0,0 0 0 15,-8-3 0-15,2 1 0 0,-1-4 0 0,7 6 0 16,0 0 0-16,-6 0 0 0,-1-5 240 0,7 5 16 16,-8 0 16-16,2-3 0 0,-1-2-272 0,1 2 0 15,0 3 0-15,-2 0 0 0,0 3 0 0,0-3 0 16,-2-3 128-16,-1 3-128 0,1 3 0 0,-3 2-272 15,-1-5 48-15,-2 0 16 0,-2 3 336 0,0 2 64 16,-1 1 0-16,-2 0 16 0,-4-2-208 0,-3 0 0 16,-2 4 0-16,-1 1 0 0,-1-1 0 0,-1 0 0 15,-3 0 0-15,-9 4 0 0,12 0-192 0,-3-1 32 16,1-1 0-16,-2 2 0 0,0 0 160 0,0 0-160 0,-3 0 160 16,2-1-160-16,-1-1 16 0,-1 1 0 0,-2-2 0 0,-1-1 0 15,-4-1-96-15,2-1-16 0,1 2 0 0,-1-1 0 16,-13-1 80-16,6 1 16 0,3-3 0 0,1 3 0 15,3-6 0-15,0 3 0 0,11-8 0 0,-1 4 0 16,-1 4 160-16,-1-3 0 0,-1-1 0 0,-1 0-128 16,1 3 128-16,-1-3 0 0,1 0 0 0,1 0 0 15,2-3 0-15,1 3 0 0,0-1 0 0,2-3 128 16,2 3-128-16,-9-6 0 0,4-1 0 0,3 0 128 16,5 0-128-16,1 0 0 0,7 3 0 0,-1 1 0 15,-1-3 0-15,1-1-160 0,-1 0 160 0,0-1 0 16,-2 1-384-16,1-2 48 0,-1 0 0 0,3 1 0 15,-1 1-16-15,-2 0 0 0,1 0 0 0,-1 0 0 16,1-4 208-16,-1-1 144 0,-1 5-192 0,2 0 192 16,-1-4-144-16,1 4 144 0,-1 3 0 0,1 0-144 0,0-2 16 0,-1 3 0 15,1 0 0-15,1 3 0 0,0 2 128 0,0-1 0 16,0-1 0-16,0 1 0 0,0 1 0 0,2 3 0 16,0 0 128-16,0-4-128 0,-1 0 0 0,3 0 128 15,-1 0-128-15,0 0 0 0,1 0 0 0,-1 4 0 16,-1-1 0-16,-4 2 0 0,6-2 0 0,1-1 0 15,0-2 0-15,-2 0 0 0,0 4 0 0,1 0 0 16,-1-1 0-16,0 2 0 0,1-1 0 0,-1 0 0 16,0 4-176-16,1-4 176 0,-1 4 0 0,0-1 0 15,2-1 0-15,0 1 0 0,0-2-192 0,0 3 0 16,0-4 0-16,2 0 0 0,-1 0-96 0,2 0-16 0,2-1 0 16,2-2 0-1,-1 4-768-15,2-2-144 0,2 1-48 0,6-4-11216 0</inkml:trace>
  <inkml:trace contextRef="#ctx0" brushRef="#br0" timeOffset="40874.91">14326 14553 2751 0,'0'0'256'16,"-6"0"-256"-16,-2 3 0 0,0-2 0 16,1 1 432-16,1 0 32 0,-2-2 16 0,-2 3 0 0,1-3 304 0,-1 0 64 15,0 1 16-15,1-1 0 0,-1-1-384 0,-1 1-80 16,0 0-16-16,1 0 0 16,-1-3 80-16,1 3 16 0,1 3 0 0,-1-2 0 0,0-1 320 0,2 0 64 15,8 0 16-15,-8 0 0 0,0 0 144 0,0 2 16 16,0 0 16-16,0-2 0 0,0 3-352 0,8-3-64 15,-8 1 0-15,0 1-16 0,-1 0-208 0,1-2-32 16,1 3-16-16,-1-1 0 0,8-2-48 0,-8 0 0 16,0 0 0-16,8 0 0 0,-8 0 80 0,8 0 16 15,0 0 0-15,0 0 0 0,-8 3 112 0,0-3 32 16,2 0 0-16,6 0 0 0,0 0 16 0,0 0 16 16,0 0 0-16,0 0 0 0,-9 0-304 0,9 0-64 0,-8 0-16 0,8 0 0 15,0 0-64-15,-8 0-16 16,8 0 0-16,0 0 0 0,0 0 48 0,-8 5 0 0,8-5 0 0,0 0 0 15,-8 3-176-15,8-3 160 0,-6 5-160 0,6-5 160 16,0 0-160-16,0 0 0 0,-5 6 0 0,5-6 0 16,0 0 0-16,-3 6 0 0,0 1 0 0,1-2 0 15,1 3 0-15,-1-4 0 0,0 5 0 0,1-1 0 16,1 0 0-16,0 3 0 0,-2-2 0 0,2-1 0 16,-1 5 0-16,1-3 0 0,0 0 0 0,0 1 0 15,0 3 0-15,0 1 0 0,0-2 0 0,1-1 0 16,1 3 0-16,-1-2 0 0,3-1 0 0,-1 1 0 15,-2 2-128-15,3 2 128 0,-1 4 0 0,0 2 0 16,0-1 240-16,2-1 112 0,-2-6 32 0,0 2 0 16,-1 6-384-16,1-2 0 0,0-12 0 0,1 4 128 15,-1-2-128-15,0 2 0 0,-1 2 0 0,1-1 128 0,0 2-128 0,2 3 0 16,-2-3 0-16,2 2 0 0,-2 1 0 0,0-3 0 16,1-3 0-16,-1 0 0 0,0-2 0 0,0 2 0 15,0 3 0-15,1-3-128 0,-1 0 128 0,0-2 0 16,0 2 0-16,0 1 128 0,-1-1-128 0,0 0 0 15,-1 0 0-15,1 0 0 0,1 1 0 0,0 1 0 16,1-4 0-16,-1 2 0 0,-2-5 0 0,3 5 0 16,-1-2 0-16,0 0 0 0,0-1 144 0,0-2 64 15,-1 3 16-15,1 0 0 0,0 2-224 0,2-3 0 16,-2-2 128-16,1 0-128 0,-1 0 144 0,0 0-16 16,0 0 0-16,0 0 0 0,1-3-128 0,-4-5 0 15,0 0 144-15,0 0-144 0,4 8 0 0,1 0 0 0,0-2 0 0,0 0 128 16,-5-6 0-16,0 0 16 0,0 0 0 0,5 9 0 15,0-3-144-15,-1-1 0 0,1 0 144 0,-5-5-144 16,0 0 0-16,7 8 0 0,-3-2 0 0,1 2 128 16,0-2-128-16,0-2 144 0,-5-4-144 0,6 4 160 15,1 3-160-15,1-2 0 0,0 0 144 0,0-1-144 16,-8-4 0-16,8 4 0 0,1-4 0 0,1 3 128 16,0-2-128-16,1 1 192 0,-1-2-64 0,1 0 0 15,0 0-128-15,0 0 192 0,2 0-64 0,0 0 0 16,-2-2-128-16,0 1 144 0,2-2-144 0,0 3 160 15,0-2-160-15,0 0 0 0,0 1 144 0,-1 1-144 16,1 0 0-16,0 0 0 0,0 0 0 0,0 0 0 16,0 0 0-16,-1 0 0 0,1 0 0 0,2-3 0 15,-1 3 0-15,1-2 0 0,1 0 0 0,0 1 0 16,0-3 0-16,0 0 0 0,0 0 0 0,2 3 128 0,-1-2-128 0,1-1 0 16,-1 0 0-16,1 2 128 0,0-1-128 0,-1 0 176 15,1 3-176-15,0 0 192 0,-2 0-192 0,-2 0 0 16,1 0 0-16,-1 0-176 0,1 0 176 0,-1 0 0 15,0 0 0-15,-1 0 0 0,0 0 0 0,0 0 0 16,0 3 128-16,0-2-128 0,-1-1 160 0,1-1-32 16,0-2-128-16,0 3 192 0,1-2-192 0,1 0 0 15,-2 1 0-15,0-2 0 0,1 1 128 0,0-1-128 16,1 0 0-16,-1 3 0 0,-1 0 0 0,2 0 128 16,-3-2-128-16,1-1 0 0,0 3 0 0,0 0 0 0,1 0 0 15,-1 0 0-15,0 3 0 0,0-3 0 0,0-3 0 0,1 3-160 16,1 0 160-16,-1 0 128 0,1 0-128 15,-3 0 176-15,1 0-48 0,0 0-128 0,2 0 192 0,-1 3-64 16,2-3-128-16,-2 0 0 0,1 0 0 0,3 0 0 16,-1-3 0-16,1 3 128 0,-5 3-128 0,1-1 0 15,-1-2 0-15,1 3 0 0,1-3 128 0,-1 0-128 16,1 3 0-16,1-1 0 0,0-2 0 0,0 0 0 16,0 0 0-16,0 0 0 0,0 3 0 0,2-2 128 15,-1-1-128-15,1 0 192 0,-2-1-192 0,2 1 192 16,-1 3-192-16,3-1 0 0,0 4 144 0,0-1-144 15,-1-2 0-15,0-1 0 0,0 2 0 0,2 3 128 16,0-2-128-16,2 0 0 0,-1 3 0 0,1-2 0 16,-1 0 0-16,2 1 0 0,0-2 0 0,0 3 0 15,-1 0 0-15,-1 0 0 0,1 0 0 0,1-3 0 16,-2-1 0-16,1 3 0 0,-2-2 0 0,4 3 0 0,-5-7 0 16,-1 1 0-16,0-2 0 0,0 1 0 0,-1-1 256 0,0 0-32 15,-2 0 0-15,0-1 0 0,0-2-32 0,-2-1 0 16,1 3 0-16,-3-2 0 0,0-1-64 0,-1 0-128 15,-1 0 176-15,-1 3-176 0,1-6 144 0,-1 1-144 16,-1-1 0-16,0 3 144 0,1 0-144 0,-1 0 0 16,0-1 0-16,0-2 128 0,-2-1-128 0,0-1 0 15,1-4 0-15,1 2 0 0,0 3 0 0,0-2 0 16,0-1 0-16,2-5 0 0,-1 0 0 0,-1 0 0 16,0 0 0-16,0 0 0 0,0 1 0 0,0 1 0 15,0-2 0-15,0 3 0 0,2 3 0 0,-2-1 0 16,-2 3 0-16,1 3 0 0,-1-3 0 0,1 0 0 15,-1 0 0-15,2 2 0 0,0-1 0 0,0-1 0 0,0 0 0 0,0 0 0 16,0 0 0-16,0 0 0 0,0 0 0 0,0 0 0 16,0 0 0-16,-1-2 0 0,-2 1 0 0,1-1 0 15,0-1 0-15,1-2 0 0,-2 3 0 0,-1-1 0 16,1-2 0-16,0 0 0 0,0-1 0 0,0 1 0 16,0 2 0-16,-1-2 0 0,0 2 0 0,-1-2 0 15,0 3 0-15,0-1 0 0,2-5 0 0,-3 6 0 16,-1 4 0-16,-1-2 0 0,0-2 0 0,2-1 0 15,-1 1 0-15,1-1 0 0,0 3 0 0,-1 0 0 16,-1 8 0-16,3-9 0 0,-1-6 0 0,1 2 0 16,0 5 0-16,1 0 0 0,-3 0 0 0,3-8 0 15,-3 0 0-15,1-2 0 0,-1 2 0 0,-1 5 0 16,0 5 0-16,0-2 0 0,0-4 0 0,2 4 0 16,-2 8 0-16,0 0 0 0,2-11 0 0,-1 5 0 0,-1 6 0 0,0 0 0 15,0 0 0-15,0 0 0 0,3-11 0 0,-1-1 0 16,0 7 0-16,-2 1 0 0,0 4 0 0,0-7 0 15,0 2 0-15,1 2 0 0,-2-3 0 0,1 6 0 16,0 0 0-16,0 0 0 0,-2-7 0 0,0-1 0 16,1-1 0-16,-1 1 0 0,-1 0 0 0,1 1 0 15,1-1 0-15,-2 2 0 0,-1-1 0 0,1 4 0 16,0-3 0-16,-2-2 0 0,2 1 0 0,-2 2 0 16,0 1 0-16,0-1 0 0,1-2 0 0,-1 4 0 15,0-2 0-15,-1 4 0 0,-2-6 0 0,-1 6 0 16,1-6 0-16,0 3 0 0,-1 2 0 0,-1-1 0 15,1 0 0-15,-3-1 0 0,1-1 0 0,-2 2 0 0,-1-2 0 0,-1 1 0 16,1-4 0-16,-2 3 0 0,0-2 0 16,0 1 0-16,1 0 0 0,-1 2 0 0,0 0 0 0,0 0 0 15,0 0 0-15,0 2 0 0,0-1 0 0,0-1 0 16,0 4 0-16,0-1 0 0,0 1 0 0,-2 0 0 16,1 1 0-16,-1-1 0 0,0 4 0 0,1-1 0 15,-3-1 0-15,1 2 0 0,-3 0 0 0,1 0 128 16,-5 0-128-16,2 2 128 0,5-1-128 0,-2 0 128 15,-2-2-128-15,1-2 0 0,1 3 0 0,-1 0 128 16,-2 0-128-16,-1-1 0 0,1-2 0 0,0 4 0 16,2-2 0-16,1 2 0 0,-1-1 0 0,1 0 0 15,-2-2 0-15,2 0 0 0,0 1 0 0,2-2 0 16,0 3 0-16,1-1 0 0,-1-2 0 0,1-1 0 16,-2 4 0-16,2-4 0 0,-1 4 0 0,1-4 0 15,-1 4 0-15,-1-4 0 0,1 0 0 0,0 0 0 0,0 0 0 0,-1 0 0 16,1-4 0-16,0 4 0 0,-2 0 0 15,0 0 0-15,-1-1 0 0,1 1 0 0,0 0 0 0,-1-3 0 16,-3 3 0-16,3-4 0 0,0 4 0 0,-1 0 0 16,1 0 0-16,1-1 0 0,-3-2 0 0,3 3 0 15,0 0 0-15,0-4 0 0,0 4-128 0,0 4 128 16,0-4 0-16,-1 0 0 0,0 4-128 0,-1 0 128 16,1-1-160-16,1-2 160 0,-2 3-224 0,1-3 48 15,-1 1 16-15,1-1 0 0,1 4 160 0,0-2-160 16,0 1 160-16,0-1-160 0,1-2 160 0,-1 3 0 15,1-1 0-15,1-1 0 0,0 2 0 0,0 0-128 0,-1 0 128 0,1 3 0 16,0-2-160-16,0-2 160 0,-1-2-192 16,1-1 192-16,-2 4-304 0,0-3 48 0,1 1 16 0,-1-1 0 15,0 3 240-15,2-1-192 0,-2-2 192 0,1 3-192 16,1 0 192-16,-2 1-144 0,2-5 144 0,1 4-128 16,1-4 128-16,1 3 0 0,0-2 0 0,1 4 0 15,1 3 208-15,1 0 128 0,0-1 32 0,2-6 0 31,-2-1-672-31,2 3-128 0,0 1-16 0,-1 0-16 16,3 1 0-16,-3-2 0 0,1-6 0 0,-3 3 0 16,1 8-80-16,0-1-16 0,3-2 0 0,1-4 0 0,-4-6-64 15,0 5-16-15,-1 0 0 0,-1 0 0 0,2 0-208 16,1 4-48-16,-1 4-16 0,-2 0 0 0,2-8-192 0,2 1-48 0,3 7 0 16,2-5-6400-16,-1-6-1280 0</inkml:trace>
  <inkml:trace contextRef="#ctx0" brushRef="#br0" timeOffset="44256">21994 6350 3855 0,'-16'7'336'0,"-2"-2"-336"15,2-1 128-15,0 3-128 0,0-2 128 0,-3-1-128 16,-2 4 0-16,-3 5 0 0,-2-1 0 0,-1-3 128 16,-2 2-128-16,-3-3-128 0</inkml:trace>
  <inkml:trace contextRef="#ctx0" brushRef="#br0" timeOffset="44581.3">22090 6928 1839 0,'36'-19'160'0,"4"0"-160"16,2-7 0-16,-1-1 0 0,1-2 432 0,-3 5 48 15,-3-2 16-15,-2 2 0 0,-5 0-48 0,-3 0 0 16,-5 3 0-16,-7 3 0 0,0 2-176 0,-6 5-32 16,-3-2-16-16,-3 0 0 0,-4 1-64 0,-4 0-16 15,-4 4 0-15,-3-1 0 0,-3-3 112 0,-4 1 0 16,-5-2 16-16,-3 5 0 0,-1 0 176 0,0 3 16 16,-5-1 16-16,-3 0 0 0,-1-6 48 0,-2 3 16 15,-2-3 0-15,3 1 0 0,1 6-544 0,1 2 0 0,-2 2 0 16,1-3-144-1,1 4-416-15,2 5-80 0,1 2 0 0,0-1-16 16,1 2 128-16,0 0 16 0,1 0 16 0,3 3 0 0,1 7 496 0,3 0 0 0,5-1 0 0,-4-4 0 16</inkml:trace>
  <inkml:trace contextRef="#ctx0" brushRef="#br0" timeOffset="48910.37">18157 13357 4607 0,'31'-5'0'16,"1"0"-160"-1,0-3 160-15,0 0 0 0,-2 0 0 0,-1-3 128 16,-2 1-128-16,-2-1 0 0,-3-2 0 0</inkml:trace>
  <inkml:trace contextRef="#ctx0" brushRef="#br0" timeOffset="49111.32">18526 13593 911 0,'2'13'0'0,"-1"-1"0"0,-1 4 0 0,4 1 0 0,-1-1 0 0,0 3 0 15,2 2 0-15,1 0 0 0,1-1 0 0,-1 1 0 16,0 3 0-16,2 0 0 0,1-3 0 0,0 3 0 16,1-3 0-16,1 3 0 0,-1 0 176 0,1 1-48 15,0-1-128-15,0-2 192 0,-1 2 32 0,-2-3 0 16,0 1 0-16,-2-4 0 0,1 1-224 0,1-1 0 0</inkml:trace>
  <inkml:trace contextRef="#ctx0" brushRef="#br0" timeOffset="60634.18">17339 11447 6447 0,'0'0'576'0,"0"0"-576"0,0 0 0 0,0 0 0 16,0 0 720-16,0 0 48 0,0 0 0 0,0 0 0 15,0 0-64-15,-5-4 0 0,-2 0 0 0,1 0 0 16,6 4 208-16,0 0 48 0,0 0 0 0,0 0 0 16,-7-4-48-16,7 4 0 0,-4-2 0 0,4 2 0 0,0 0 16 0,0 0 0 15,0 0 0-15,0 0 0 0,0 0-80 0,0 0-16 16,0 0 0-16,0 0 0 0,0 0-112 0,0 0-16 16,0 0-16-16,0 0 0 0,0 0-288 0,0 0-48 15,0 0-16-15,0 0 0 0,0 0-176 0,0 0-32 16,0 0-128-16,0 0 192 0,0 0-192 0,0 0 0 15,0 0 0-15,0 0 0 0,1 10 192 0,-1-10-64 16,3 8-128-16,1 3 192 0,1-1-48 0,-1-2-16 16,-4-8 0-16,5 8 0 0,0 3-128 0,0-2 160 15,-2-1-160-15,0 4 160 0,0-3-32 0,-1 3-128 16,0 0 192-16,-1 1-64 0,-1 2 144 0,0-2 32 16,0-1 0-16,-1 4 0 0,-1 1 80 0,0 0 32 0,2-2 0 0,-1 1 0 15,-1 0-160-15,1-2-48 0,-1 1 0 0,0 1 0 16,2 0-80-16,0-2 0 0,-1 2-128 0,1 7 192 15,0-6-192-15,0 1 0 0,3-2 0 0,-1 0 0 16,1 3 0-16,0-1 0 0,0-2 0 0,2 3 0 16,-2-1 128-16,0-2-128 0,1 0 0 0,-1 0 0 15,-2 0 224-15,1 0-48 0,-2 0-16 0,0 2 0 16,0-2 16-16,0 3 0 0,-2-3 0 0,1 2 0 16,-2 3 0-16,-1 0 0 0,3-2 0 0,-1 2 0 15,-1-5-176-15,1 0 160 0,1 0-160 0,-1 2 160 16,1-2-160-16,-1 3 128 0,2-6-128 0,0 3 128 15,0 1-128-15,0 0 128 0,0-1-128 0,0 0 128 16,0 0 80-16,0 0 16 0,0 1 0 0,-2 3 0 16,1-3-32-16,-1 1 0 0,2 0 0 0,-1-2 0 15,-1-3-64-15,0-1 0 0,1 0-128 0,1-1 192 0,-2-2-16 0,2 0-16 16,0-1 0-16,0-4 0 0,0 4-32 0,0-1-128 16,0-1 192-16,0 1-64 0,0-7-128 0,2 4 128 15,-2-4-128-15,0 8 128 0,0-8-128 0,0 8 0 16,0-8 0-16,0 0 0 0,0 0 0 0,0 0 0 15,0 0 128-15,0 0-128 0,0 5 0 0,0-5 0 16,0 0 0-16,0 0 0 0,-2 8 0 0,1 0 0 16,1-8 0-16,-2 7 0 0,2-7 0 0,-3 6 0 15,0 1 0-15,3-7 0 0,-4 4 0 0,1 4 0 16,0-3 0-16,3-5 0 0,-5 7 0 0,5-7 0 16,0 0 0-16,0 0 0 15,0 0-736-15,0 0-128 0</inkml:trace>
  <inkml:trace contextRef="#ctx0" brushRef="#br0" timeOffset="61401.89">18674 12671 10127 0,'0'0'896'0,"-2"-8"-704"0,-3 4-192 0,1-4 0 15,-1-2 1152-15,0 0 192 0,0 1 32 0,2-3 16 16,-2 4 656-16,0 0 128 0,0 0 16 0,1 2 16 16,-1-1-544-16,0-1-128 0,0 4 0 0,5 4-16 15,-6-4-544-15,6 4-96 0,-7-4-32 0,3 0 0 16,4 4-272-16,0 0-64 0,0 0-16 0,0 0 0 15,0 0 0-15,0 0 0 0,-7 7 0 0,2 1 0 16,2 1-96-16,1 6-16 0,1-1 0 0,-1 7 0 16,2 2 0-16,2 6-16 0,-1 4 0 0,1 7 0 15,-2 5-112-15,2 5-32 0,-1 3 0 0,1 3 0 16,0 2-80-16,-1 3-16 0,2-2 0 0,1 4 0 0,-3-18-128 16,2 5 0-16,1-2 144 0,0 0-144 0,1 2 192 0,-2-5-48 15,1 0 0-15,-1-4 0 0,0 3-16 0,2-2-128 16,1-2 192-16,-3-3-64 0,-1 8-128 0,-2-4 160 15,0-1-160-15,2-4 160 0,-1-11 16 0,1 3 0 16,-1-3 0-16,1 1 0 0,0-7-176 0,-1 2 160 16,1 0-160-16,0-5 160 0,-1 0-160 0,1 0 0 15,-2-5 0-15,0-1 128 0,1-2-128 0,1-2 0 16,-2-6 0-16,0 0 0 0,0 0 0 0,0 0 0 16,0 0 0-16,0 0 0 0,0 0 0 0,0 0 0 15,-2-9-144-15,1-4 144 16,1 3-1344-16,1-2-176 0,1-3-16 0,0 4-15280 0</inkml:trace>
  <inkml:trace contextRef="#ctx0" brushRef="#br0" timeOffset="62270.67">17085 13997 9215 0,'0'0'816'0,"0"0"-656"15,0 0-160-15,2-8 0 0,-2 8 1088 0,0-8 176 16,0 8 32-16,1-8 16 0,-2 0 640 0,1 8 128 15,0 0 32-15,0 0 0 0,0 0-512 0,0 0-112 16,-5-5-16-16,5 5 0 0,0 0-304 0,-8 0-64 16,8 0-16-16,-8 4 0 0,1-3-416 0,1 7-96 15,-1 0 0-15,3 3-16 0,0-1-304 0,1 1-64 16,0 7-16-16,1 1 0 0,-2 5 16 0,0 2 0 16,1 4 0-16,2 7 0 0,-1 8-192 0,2 2 192 15,0 4-192-15,0 2 192 0,0 0-192 0,2 2 0 16,-1-2 0-16,1 0 128 0,1 0-128 0,0-4 0 15,0 0 0-15,2-1 0 0,0-3 0 0,0-4 0 0,-2 3 0 0,0-6 0 16,1-1 128-16,-3 0-128 0,1-6 0 0,1-3 128 16,-1-2-128-16,2 1 0 0,-2-2 0 0,0 2 0 15,-1-3 0-15,1-3 0 0,-1-7 0 0,-1-1 0 16,0 0 0-16,0 0 0 0,-1-4 0 0,-1-1 0 16,1-1-288-16,1-7-32 0,0 0-16 0,0 0 0 31,0 0-752-31,0 0-128 0,0 0-48 0,-4-8-12368 0</inkml:trace>
  <inkml:trace contextRef="#ctx0" brushRef="#br0" timeOffset="64008.56">17026 13866 11967 0,'0'0'1072'0,"0"0"-864"0,0 0-208 0,0 0 0 16,0 0 784-16,0 0 112 0,0 0 32 0,0 0 0 16,0 0-16-16,0 0 0 0,-2-12 0 0,2 12 0 15,0 0-464-15,0 0-80 0,0 0-32 0,0 0 0 0,0 0-160 0,0 0-48 16,0 0 0-16,0 0 0 0,0 0 128 0,0 0 0 15,0 0 16-15,0 0 0 0,0 0 400 16,0 0 80-16,0 0 16 0,5 12 0 0,-2-8-320 0,2 8-64 16,-2 2-16-16,2 2 0 0,-2 7 48 0,0 2 16 15,1 4 0-15,-1 3 0 0,0 2-176 0,0 6-48 16,-1 0 0-16,-1 0 0 0,3 2-208 0,-3-2 0 16,-1-1 0-16,0 1 0 0,0 2 0 0,0-4 0 15,0-1 0-15,0-3 0 0,-1 1 0 0,-1-4 0 16,0 1 0-16,1-3 0 0,-1-2 0 0,1-1 0 15,-1-2 0-15,0-3 0 0,1-1 0 0,-1 1 144 16,1-5-144-16,1-1 128 0,-2-6 160 0,0 3 32 0,-1-8 0 0,3-4 0 16,0 0 160-16,0 0 32 0,0 0 16 0,0 0 0 15,0 0-96-15,-5-8-32 0,0-4 0 0,4-6 0 16,-1-5-400-16,1-1 0 0,-1-5 0 0,2-4 0 16,0-4 0-16,0-3 0 0,0 8 0 0,-2-2 0 15,1-3 0-15,-1-3 0 0,1 0 0 0,-1 3 0 16,0-2 0-16,1 4 0 0,-1 1 0 0,1 2 0 15,-3 0 0-15,1 6 0 0,2-1 0 0,-1 6 0 16,-1 2 0-16,1 3 128 0,1 1-128 0,-1 1 0 16,0 4 192-16,1 2-32 0,1 2-16 0,0 6 0 15,0 0 256-15,0 0 48 0,0 0 16 0,0 0 0 16,0 10-80-16,1 4-32 0,3 2 0 0,-1 8 0 16,0 2-352-16,2 4 0 0,0 4 0 0,-1 0 0 15,3-2 0-15,-1 3 0 0,1 4-128 0,-1-1 128 16,1-4 0-16,-1 3 0 0,-1-2 0 0,0-4 0 0,-2 1 0 15,0-3 0-15,-1-2 0 0,-1-1 0 0,1-6 0 0,-2 3 0 16,0-5 0-16,0-2 0 0,-2-4 0 0,2 1 0 16,0-5 0-16,2 0 128 0,-2-8-128 0,0 0 128 15,0 0-128-15,0 0 128 0,0-4-352 0,1-8-64 16,3-4-16-16,-1-6 0 16,0-7-112-16,2-3-32 0,0-3 0 0,-1-2 0 0,1-8 256 0,0 0 32 15,-2-3 16-15,1-2 0 0,-1 5 144 0,-2 0 0 16,1 5 0-16,0 3 128 0,-1 3-128 0,-1 5 0 15,0 2 128-15,-1 4-128 0,-1-4 128 0,0 6-128 16,1 5 160-16,-1 3-160 0,1 2 272 0,1 11-32 0,0 0-16 16,0 0 0-16,0 0 192 0,0 0 32 15,-5 13 16-15,1 3 0 0,1 3-96 0,2 5-32 0,-3 5 0 0,3 3 0 16,-2 2-336-16,1 3 0 0,0 3 0 0,1 0-192 16,-1-1 192-16,1 1 0 0,-1-3 0 0,2 0 0 15,0-3 0-15,0-2 0 0,-2 0 0 0,2-3 0 16,-1 0 0-16,-1-2 0 0,1-3 0 0,-1-2 0 15,2-2 0-15,2 0 0 0,-2-3 0 0,0-5 0 16,-2 0 0-16,2-1 144 0,0-5-144 0,0-6 160 16,0 0-160-16,0 0 0 0,0 0-192 0,-3-5 192 15,-2 1-320-15,2-8 48 0,0 0 16 0,-1-8 0 16,0-2-32-16,0-5 0 0,0-6 0 0,0-3 0 16,3-6 288-16,-1-6 0 0,0-2 0 0,1-11 0 15,-1 6 0-15,1 4 0 0,1 14 0 0,0 5 0 16,-2 0 0-16,0 3 0 0,2 3 0 0,0 5 144 15,0 2-144-15,0 3 0 0,0 3 0 0,0 5 0 0,0 0 240 0,0 8 16 16,0 0 0-16,0 0 0 0,0 13-256 0,0 8 144 16,0 3-144-16,2 6 128 0,0 4-128 0,-1 3 128 15,2 0-128-15,1 5 128 0,-1-2-128 0,0-3 0 16,0 0 0-16,1 1 0 0,-1-4 0 0,2 0 0 16,-2-4 0-16,0-1 0 0,0-3 0 0,-1 1 0 15,-1-5 0-15,1 1 0 0,1-5 0 0,-3-2 0 16,0-4 0-16,-1 1 0 0,1-3 0 0,-2-4 128 15,2-6-128-15,0 0 0 0,0 0 0 0,0 0 128 16,-5-4-128-16,2-4 0 0,0-9 0 0,1 1 0 16,1-6-192-16,-1-5 192 0,-1-2-288 0,1-5 64 0,1-3 16 15,-1-14 0-15,-1 4 208 0,0-4 0 0,1 11 0 16,0 3-144-16,1 0 144 0,-1 6 0 0,0 1 0 0,1 6 0 16,-1 1 0-16,2 4 144 0,0 3-144 15,0 3 160-15,0 2-160 0,0 5 0 0,0 6 0 0,0 0-176 16,0 0 384-16,0 0 80 0,0 0 16 0,2 9 0 15,-1 9 96-15,3 1 32 0,-1 8 0 0,0-1 0 16,2 3-432-16,0 8 128 0,0 3-128 0,-1 2 0 16,1-2 128-16,0 3-128 0,0 1 128 0,0-4-128 15,-1 3 304-15,1-4-32 0,0-3 0 0,0 3 0 16,0-4-272-16,0-3-144 0,1 0 16 0,0-3 0 16,-1 0 128-16,0-5 0 0,0 0 0 0,1 5 0 15,-1-13 0-15,-2 4 0 0,0-6 0 0,1-3 0 16,-1 2 0-16,0-5 0 0,0 3 0 0,0-6 0 0,-3-5 0 15,0 0 0-15,0 0 0 0,0 0 0 0,0 0 0 16,0 0 144-16,4-8-144 0,-3-1 0 0,1-6 192 0,0 2-192 16,-2-3 192-16,0 3-192 0,0 1 0 0,0-1 0 15,-2-2 0-15,2 6 0 0,0 1 0 0,-2 0 0 16,1-4 0-16,-1 4 0 16,0-1-480-16,2-3-48 0,0 3-16 0,0-2 0 15,0-1-1168-15,0 0-224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EF6E4-BB22-4473-A416-DF207A7B4694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EBFCA-1386-4E81-8BFF-034EC6B97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406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BFCA-1386-4E81-8BFF-034EC6B9773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880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BFCA-1386-4E81-8BFF-034EC6B9773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626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BFCA-1386-4E81-8BFF-034EC6B97734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14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BFCA-1386-4E81-8BFF-034EC6B97734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390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467DDA-D781-4DAD-B8CE-7646F1BD69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8982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F7F5-25F2-46BD-86EC-5DAFA54B64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541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4CBB67-84F3-48BE-8EF7-66F7DB3920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24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C79F950-D618-4F4D-9F41-698F896B50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521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78DA3DA-588E-40C2-B0EC-33D6531F4D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6391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79C3333-17AC-4BFD-BBCE-046B3FF56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24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818D008-8623-4107-B115-7F14A17F27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748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F22CC5E-CD8B-4568-AC07-2649A9A991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6222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11590AC-CF13-4705-8E36-2EA07D1FDF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4817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304E8-20DC-40CC-97CB-5F2CD27552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5605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A23E73-C87E-4AF1-940F-353AD7E05A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042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算法设计与分析\cdbkgnd.jpg">
            <a:extLst>
              <a:ext uri="{FF2B5EF4-FFF2-40B4-BE49-F238E27FC236}">
                <a16:creationId xmlns:a16="http://schemas.microsoft.com/office/drawing/2014/main" id="{39E96273-C1F2-4CA6-BA62-1316248FF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>
            <a:extLst>
              <a:ext uri="{FF2B5EF4-FFF2-40B4-BE49-F238E27FC236}">
                <a16:creationId xmlns:a16="http://schemas.microsoft.com/office/drawing/2014/main" id="{66D3DC2A-88FE-42EE-82E1-D3B9B6679C0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 dirty="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06878F78-4773-43F4-8524-CD51342F3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565400"/>
            <a:ext cx="7772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8" tIns="45719" rIns="91438" bIns="45719">
            <a:normAutofit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800" kern="0" dirty="0">
                <a:solidFill>
                  <a:schemeClr val="bg2"/>
                </a:solidFill>
                <a:latin typeface="华文中宋" panose="02010600040101010101" pitchFamily="2" charset="-122"/>
              </a:rPr>
              <a:t>算法设计与分析</a:t>
            </a:r>
            <a:br>
              <a:rPr lang="zh-CN" altLang="en-US" sz="4800" kern="0" dirty="0">
                <a:solidFill>
                  <a:schemeClr val="bg2"/>
                </a:solidFill>
              </a:rPr>
            </a:br>
            <a:r>
              <a:rPr lang="zh-CN" altLang="en-US" kern="0" dirty="0">
                <a:solidFill>
                  <a:schemeClr val="bg2"/>
                </a:solidFill>
              </a:rPr>
              <a:t>    </a:t>
            </a:r>
            <a:endParaRPr lang="zh-CN" altLang="en-US" sz="3200" kern="0" dirty="0">
              <a:solidFill>
                <a:schemeClr val="bg2"/>
              </a:solidFill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B80AFD1-D20C-416D-88E3-12042D09B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44900"/>
            <a:ext cx="7772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8" tIns="45719" rIns="91438" bIns="45719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000" kern="0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4. </a:t>
            </a:r>
            <a:r>
              <a:rPr lang="zh-CN" altLang="en-US" sz="4000" kern="0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贪心算法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53F3A7C-1988-4AD4-8678-FA5CC1E45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>
                <a:latin typeface="华文中宋" panose="02010600040101010101" pitchFamily="2" charset="-122"/>
              </a:rPr>
              <a:t>本章主要知识点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489606A-2F9C-4014-9B4A-AB8E9C252C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</a:rPr>
              <a:t>4.1 </a:t>
            </a:r>
            <a:r>
              <a:rPr lang="zh-CN" altLang="en-US" sz="2800" b="1" dirty="0">
                <a:latin typeface="华文中宋" panose="02010600040101010101" pitchFamily="2" charset="-122"/>
              </a:rPr>
              <a:t>活动安排问题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</a:rPr>
              <a:t>4.2 </a:t>
            </a:r>
            <a:r>
              <a:rPr lang="zh-CN" altLang="en-US" sz="2800" b="1" dirty="0">
                <a:latin typeface="华文中宋" panose="02010600040101010101" pitchFamily="2" charset="-122"/>
              </a:rPr>
              <a:t>贪心算法的基本要素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</a:rPr>
              <a:t>4.3 </a:t>
            </a:r>
            <a:r>
              <a:rPr lang="zh-CN" altLang="en-US" sz="2800" b="1" dirty="0">
                <a:latin typeface="华文中宋" panose="02010600040101010101" pitchFamily="2" charset="-122"/>
              </a:rPr>
              <a:t>最优装载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</a:rPr>
              <a:t>4.4 </a:t>
            </a:r>
            <a:r>
              <a:rPr lang="zh-CN" altLang="en-US" sz="2800" b="1" dirty="0">
                <a:latin typeface="华文中宋" panose="02010600040101010101" pitchFamily="2" charset="-122"/>
              </a:rPr>
              <a:t>哈夫曼编码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4.5 </a:t>
            </a:r>
            <a:r>
              <a:rPr lang="zh-CN" altLang="en-US" sz="28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单源最短路径</a:t>
            </a:r>
            <a:r>
              <a:rPr lang="en-US" altLang="zh-CN" sz="28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—</a:t>
            </a:r>
            <a:r>
              <a:rPr lang="zh-CN" altLang="en-US" sz="28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自学</a:t>
            </a: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</a:rPr>
              <a:t>4.6 </a:t>
            </a:r>
            <a:r>
              <a:rPr lang="zh-CN" altLang="en-US" sz="2800" b="1" dirty="0">
                <a:latin typeface="华文中宋" panose="02010600040101010101" pitchFamily="2" charset="-122"/>
              </a:rPr>
              <a:t>最小生成树</a:t>
            </a:r>
            <a:endParaRPr lang="en-US" altLang="zh-CN" sz="2800" b="1" dirty="0">
              <a:latin typeface="华文中宋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</a:rPr>
              <a:t>4.7 </a:t>
            </a:r>
            <a:r>
              <a:rPr lang="zh-CN" altLang="en-US" sz="2800" b="1" dirty="0">
                <a:latin typeface="华文中宋" panose="02010600040101010101" pitchFamily="2" charset="-122"/>
              </a:rPr>
              <a:t>多机调度问题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17E83D9-4B8A-48F0-A18C-59259AAE0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600" b="1">
                <a:solidFill>
                  <a:srgbClr val="C00000"/>
                </a:solidFill>
              </a:rPr>
              <a:t>学习要点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27651850-F0CF-4B7E-BF09-38AA6EE437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8" y="1357313"/>
            <a:ext cx="7772400" cy="480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800" b="1"/>
              <a:t>理解贪心算法的概念</a:t>
            </a: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800" b="1"/>
              <a:t>掌握贪心算法的基本要素 </a:t>
            </a: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）最优子结构性质</a:t>
            </a: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）贪心选择性质</a:t>
            </a:r>
            <a:endParaRPr lang="zh-CN" altLang="en-US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800" b="1"/>
              <a:t>理解贪心算法与动态规划算法的差异</a:t>
            </a:r>
            <a:endParaRPr lang="zh-CN" altLang="en-US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800" b="1"/>
              <a:t>理解贪心算法的一般理论</a:t>
            </a:r>
            <a:endParaRPr lang="zh-CN" altLang="en-US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800" b="1"/>
              <a:t>通过应用范例学习贪心设计策略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D3D044B-905D-4DC3-A9F9-BECFD06A9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/>
              <a:t>引言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65C60F5-B5CF-442F-8E06-386C66450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668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/>
              <a:t>当一个问题具有最优子结构性质时，如何求解？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B6784D82-E29A-4A24-837A-7E3D11A39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2200"/>
            <a:ext cx="777240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假设有四种硬币，它们的面值分别为</a:t>
            </a:r>
            <a:r>
              <a:rPr lang="en-US" altLang="zh-CN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0.25</a:t>
            </a:r>
            <a:r>
              <a:rPr lang="zh-CN" altLang="en-US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元、</a:t>
            </a:r>
            <a:r>
              <a:rPr lang="en-US" altLang="zh-CN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0.10</a:t>
            </a:r>
            <a:r>
              <a:rPr lang="zh-CN" altLang="en-US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元、</a:t>
            </a:r>
            <a:r>
              <a:rPr lang="en-US" altLang="zh-CN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0.05</a:t>
            </a:r>
            <a:r>
              <a:rPr lang="zh-CN" altLang="en-US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元、</a:t>
            </a:r>
            <a:r>
              <a:rPr lang="en-US" altLang="zh-CN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0.01</a:t>
            </a:r>
            <a:r>
              <a:rPr lang="zh-CN" altLang="en-US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元，现在要给某顾客</a:t>
            </a:r>
            <a:r>
              <a:rPr lang="en-US" altLang="zh-CN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0.63</a:t>
            </a:r>
            <a:r>
              <a:rPr lang="zh-CN" altLang="en-US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元。如何找，使所拿出的硬币个数是最少？</a:t>
            </a: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241BAE7E-336E-41DD-9701-A34A72041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114800"/>
            <a:ext cx="7772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假设有四种硬币，它们的面值分别为一元、五角、一角、五分，去给顾客</a:t>
            </a:r>
            <a:r>
              <a:rPr lang="en-US" altLang="zh-CN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元</a:t>
            </a:r>
            <a:r>
              <a:rPr lang="en-US" altLang="zh-CN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7</a:t>
            </a:r>
            <a:r>
              <a:rPr lang="zh-CN" altLang="en-US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角</a:t>
            </a:r>
            <a:r>
              <a:rPr lang="en-US" altLang="zh-CN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5</a:t>
            </a:r>
            <a:r>
              <a:rPr lang="zh-CN" altLang="en-US" sz="2800" b="0">
                <a:latin typeface="Palatino Linotype" panose="02040502050505030304" pitchFamily="18" charset="0"/>
                <a:ea typeface="华文中宋" panose="02010600040101010101" pitchFamily="2" charset="-122"/>
              </a:rPr>
              <a:t>分，又如何找钱？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  <p:bldP spid="36868" grpId="0" autoUpdateAnimBg="0"/>
      <p:bldP spid="3686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2F324BE-6BF6-46DE-A0AB-2491D50CAA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/>
              <a:t>贪心策略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D1AF0DA-DE19-469B-B80D-B265F0885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2971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贪心策略不从整体最优考虑，而总是某种意义上是局部最优的方面作出选择。</a:t>
            </a:r>
          </a:p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即：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贪心策略总是作出在当前看来最好的选择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目标：得到的最终结果也是整体最优的。</a:t>
            </a:r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09597384-2170-4B26-AB60-54469F863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86200"/>
            <a:ext cx="7848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局限性：贪心算法未必能对所有问题都得到整体最优解</a:t>
            </a: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9ACA952B-AF04-489F-BF42-E0BC0E11E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105400"/>
            <a:ext cx="7772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贪心算法对许多问题能产生整体最优解，且效率较高。如单源最短路径问题，最小生成树问题等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autoUpdateAnimBg="0"/>
      <p:bldP spid="37892" grpId="0" autoUpdateAnimBg="0"/>
      <p:bldP spid="3789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40FDBA0-EF21-46B8-91CB-68A132700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5908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>
                <a:solidFill>
                  <a:srgbClr val="AC2F36"/>
                </a:solidFill>
                <a:latin typeface="华文中宋" panose="02010600040101010101" pitchFamily="2" charset="-122"/>
              </a:rPr>
              <a:t>4.1 </a:t>
            </a:r>
            <a:r>
              <a:rPr lang="zh-CN" altLang="en-US" b="1">
                <a:solidFill>
                  <a:srgbClr val="AC2F36"/>
                </a:solidFill>
                <a:latin typeface="华文中宋" panose="02010600040101010101" pitchFamily="2" charset="-122"/>
              </a:rPr>
              <a:t>活动安排问题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D84C055-864E-4B40-906D-1CA5FBF6B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>
                <a:latin typeface="黑体" panose="02010609060101010101" pitchFamily="49" charset="-122"/>
                <a:ea typeface="黑体" panose="02010609060101010101" pitchFamily="49" charset="-122"/>
              </a:rPr>
              <a:t>问题描述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A7DCF95-EEBF-4EFD-BBDE-4B46E98FF4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219200"/>
            <a:ext cx="8115300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2800" b="1"/>
              <a:t>设有</a:t>
            </a:r>
            <a:r>
              <a:rPr kumimoji="0" lang="en-US" altLang="zh-CN" sz="2800" b="1"/>
              <a:t>n</a:t>
            </a:r>
            <a:r>
              <a:rPr kumimoji="0" lang="zh-CN" altLang="en-US" sz="2800" b="1"/>
              <a:t>个活动的集合</a:t>
            </a:r>
            <a:r>
              <a:rPr kumimoji="0" lang="en-US" altLang="zh-CN" sz="2800" b="1"/>
              <a:t>E={1,2,…,n}</a:t>
            </a:r>
            <a:r>
              <a:rPr kumimoji="0" lang="zh-CN" altLang="en-US" sz="2800" b="1"/>
              <a:t>，其中每个活动都要求使用同一资源，如会场、教室等，而在同一时间内只有一个活动能使用这一资源。</a:t>
            </a:r>
          </a:p>
          <a:p>
            <a:pPr eaLnBrk="1" hangingPunct="1"/>
            <a:r>
              <a:rPr kumimoji="0" lang="zh-CN" altLang="en-US" sz="2800" b="1"/>
              <a:t>每个活动</a:t>
            </a:r>
            <a:r>
              <a:rPr kumimoji="0" lang="en-US" altLang="zh-CN" sz="2800" b="1"/>
              <a:t>i</a:t>
            </a:r>
            <a:r>
              <a:rPr kumimoji="0" lang="zh-CN" altLang="en-US" sz="2800" b="1"/>
              <a:t>都有一个要求使用该资源的起始时间</a:t>
            </a:r>
            <a:r>
              <a:rPr kumimoji="0" lang="en-US" altLang="zh-CN" sz="2800" b="1"/>
              <a:t>s</a:t>
            </a:r>
            <a:r>
              <a:rPr kumimoji="0" lang="en-US" altLang="zh-CN" sz="2800" b="1" baseline="-25000"/>
              <a:t>i</a:t>
            </a:r>
            <a:r>
              <a:rPr kumimoji="0" lang="zh-CN" altLang="en-US" sz="2800" b="1"/>
              <a:t>和一个结束时间</a:t>
            </a:r>
            <a:r>
              <a:rPr kumimoji="0" lang="en-US" altLang="zh-CN" sz="2800" b="1"/>
              <a:t>f</a:t>
            </a:r>
            <a:r>
              <a:rPr kumimoji="0" lang="en-US" altLang="zh-CN" sz="2800" b="1" baseline="-25000"/>
              <a:t>i</a:t>
            </a:r>
            <a:r>
              <a:rPr kumimoji="0" lang="en-US" altLang="zh-CN" sz="2800" b="1"/>
              <a:t>,</a:t>
            </a:r>
            <a:r>
              <a:rPr kumimoji="0" lang="zh-CN" altLang="en-US" sz="2800" b="1"/>
              <a:t>且</a:t>
            </a:r>
            <a:r>
              <a:rPr kumimoji="0" lang="en-US" altLang="zh-CN" sz="2800" b="1"/>
              <a:t>s</a:t>
            </a:r>
            <a:r>
              <a:rPr kumimoji="0" lang="en-US" altLang="zh-CN" sz="2800" b="1" baseline="-25000"/>
              <a:t>i</a:t>
            </a:r>
            <a:r>
              <a:rPr kumimoji="0" lang="en-US" altLang="zh-CN" sz="2800" b="1"/>
              <a:t>&lt;f</a:t>
            </a:r>
            <a:r>
              <a:rPr kumimoji="0" lang="en-US" altLang="zh-CN" sz="2800" b="1" baseline="-25000"/>
              <a:t>i</a:t>
            </a:r>
            <a:r>
              <a:rPr kumimoji="0" lang="zh-CN" altLang="en-US" sz="2800" b="1"/>
              <a:t>。</a:t>
            </a:r>
          </a:p>
          <a:p>
            <a:pPr eaLnBrk="1" hangingPunct="1"/>
            <a:r>
              <a:rPr kumimoji="0" lang="zh-CN" altLang="en-US" sz="2800" b="1"/>
              <a:t>如果选择了活动</a:t>
            </a:r>
            <a:r>
              <a:rPr kumimoji="0" lang="en-US" altLang="zh-CN" sz="2800" b="1"/>
              <a:t>i</a:t>
            </a:r>
            <a:r>
              <a:rPr kumimoji="0" lang="zh-CN" altLang="en-US" sz="2800" b="1"/>
              <a:t>，则它在半开时间区间</a:t>
            </a:r>
            <a:r>
              <a:rPr kumimoji="0" lang="en-US" altLang="zh-CN" sz="2800" b="1"/>
              <a:t>[s</a:t>
            </a:r>
            <a:r>
              <a:rPr kumimoji="0" lang="en-US" altLang="zh-CN" sz="2800" b="1" baseline="-25000"/>
              <a:t>i</a:t>
            </a:r>
            <a:r>
              <a:rPr kumimoji="0" lang="en-US" altLang="zh-CN" sz="2800" b="1"/>
              <a:t>, f</a:t>
            </a:r>
            <a:r>
              <a:rPr kumimoji="0" lang="en-US" altLang="zh-CN" sz="2800" b="1" baseline="-25000"/>
              <a:t>i</a:t>
            </a:r>
            <a:r>
              <a:rPr kumimoji="0" lang="en-US" altLang="zh-CN" sz="2800" b="1"/>
              <a:t>)</a:t>
            </a:r>
            <a:r>
              <a:rPr kumimoji="0" lang="zh-CN" altLang="en-US" sz="2800" b="1"/>
              <a:t>内占用资源。若区间</a:t>
            </a:r>
            <a:r>
              <a:rPr kumimoji="0" lang="en-US" altLang="zh-CN" sz="2800" b="1"/>
              <a:t>[s</a:t>
            </a:r>
            <a:r>
              <a:rPr kumimoji="0" lang="en-US" altLang="zh-CN" sz="2800" b="1" baseline="-25000"/>
              <a:t>i</a:t>
            </a:r>
            <a:r>
              <a:rPr kumimoji="0" lang="en-US" altLang="zh-CN" sz="2800" b="1"/>
              <a:t>, f</a:t>
            </a:r>
            <a:r>
              <a:rPr kumimoji="0" lang="en-US" altLang="zh-CN" sz="2800" b="1" baseline="-25000"/>
              <a:t>i</a:t>
            </a:r>
            <a:r>
              <a:rPr kumimoji="0" lang="en-US" altLang="zh-CN" sz="2800" b="1"/>
              <a:t>)</a:t>
            </a:r>
            <a:r>
              <a:rPr kumimoji="0" lang="zh-CN" altLang="en-US" sz="2800" b="1"/>
              <a:t>与区间</a:t>
            </a:r>
            <a:r>
              <a:rPr kumimoji="0" lang="en-US" altLang="zh-CN" sz="2800" b="1"/>
              <a:t>[s</a:t>
            </a:r>
            <a:r>
              <a:rPr kumimoji="0" lang="en-US" altLang="zh-CN" sz="2800" b="1" baseline="-25000"/>
              <a:t>j</a:t>
            </a:r>
            <a:r>
              <a:rPr kumimoji="0" lang="en-US" altLang="zh-CN" sz="2800" b="1"/>
              <a:t>, f</a:t>
            </a:r>
            <a:r>
              <a:rPr kumimoji="0" lang="en-US" altLang="zh-CN" sz="2800" b="1" baseline="-25000"/>
              <a:t>j</a:t>
            </a:r>
            <a:r>
              <a:rPr kumimoji="0" lang="en-US" altLang="zh-CN" sz="2800" b="1"/>
              <a:t>)</a:t>
            </a:r>
            <a:r>
              <a:rPr kumimoji="0" lang="zh-CN" altLang="en-US" sz="2800" b="1"/>
              <a:t>不相交，则称活动</a:t>
            </a:r>
            <a:r>
              <a:rPr kumimoji="0" lang="en-US" altLang="zh-CN" sz="2800" b="1"/>
              <a:t>i</a:t>
            </a:r>
            <a:r>
              <a:rPr kumimoji="0" lang="zh-CN" altLang="en-US" sz="2800" b="1"/>
              <a:t>与活动</a:t>
            </a:r>
            <a:r>
              <a:rPr kumimoji="0" lang="en-US" altLang="zh-CN" sz="2800" b="1"/>
              <a:t>j</a:t>
            </a:r>
            <a:r>
              <a:rPr kumimoji="0" lang="zh-CN" altLang="en-US" sz="2800" b="1"/>
              <a:t>是相容的。</a:t>
            </a:r>
          </a:p>
        </p:txBody>
      </p:sp>
      <p:grpSp>
        <p:nvGrpSpPr>
          <p:cNvPr id="2" name="Group 71">
            <a:extLst>
              <a:ext uri="{FF2B5EF4-FFF2-40B4-BE49-F238E27FC236}">
                <a16:creationId xmlns:a16="http://schemas.microsoft.com/office/drawing/2014/main" id="{EA722896-A508-4CD8-978B-116E444C8C18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5029200"/>
            <a:ext cx="3276600" cy="457200"/>
            <a:chOff x="3264" y="3264"/>
            <a:chExt cx="2064" cy="288"/>
          </a:xfrm>
        </p:grpSpPr>
        <p:sp>
          <p:nvSpPr>
            <p:cNvPr id="19462" name="Line 61">
              <a:extLst>
                <a:ext uri="{FF2B5EF4-FFF2-40B4-BE49-F238E27FC236}">
                  <a16:creationId xmlns:a16="http://schemas.microsoft.com/office/drawing/2014/main" id="{B270FB98-8A45-4A02-B81B-EF80FF065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291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3" name="Oval 62">
              <a:extLst>
                <a:ext uri="{FF2B5EF4-FFF2-40B4-BE49-F238E27FC236}">
                  <a16:creationId xmlns:a16="http://schemas.microsoft.com/office/drawing/2014/main" id="{60F4AB05-C909-4E48-B2C8-7A5E44219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264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9464" name="Oval 63">
              <a:extLst>
                <a:ext uri="{FF2B5EF4-FFF2-40B4-BE49-F238E27FC236}">
                  <a16:creationId xmlns:a16="http://schemas.microsoft.com/office/drawing/2014/main" id="{DD74C7E5-90A6-43BA-BA68-A129C0BDE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264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9465" name="Oval 64">
              <a:extLst>
                <a:ext uri="{FF2B5EF4-FFF2-40B4-BE49-F238E27FC236}">
                  <a16:creationId xmlns:a16="http://schemas.microsoft.com/office/drawing/2014/main" id="{639BE11C-43F9-4F60-8D7F-6EDFB05B5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264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9466" name="Oval 65">
              <a:extLst>
                <a:ext uri="{FF2B5EF4-FFF2-40B4-BE49-F238E27FC236}">
                  <a16:creationId xmlns:a16="http://schemas.microsoft.com/office/drawing/2014/main" id="{1A0DAC01-5890-45D8-A31B-DFD10B954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3264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9467" name="Text Box 67">
              <a:extLst>
                <a:ext uri="{FF2B5EF4-FFF2-40B4-BE49-F238E27FC236}">
                  <a16:creationId xmlns:a16="http://schemas.microsoft.com/office/drawing/2014/main" id="{EBA30CE3-9604-4223-83FC-C76EEEC794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269"/>
              <a:ext cx="24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>
                  <a:latin typeface="华文中宋" panose="02010600040101010101" pitchFamily="2" charset="-122"/>
                  <a:ea typeface="华文中宋" panose="02010600040101010101" pitchFamily="2" charset="-122"/>
                </a:rPr>
                <a:t>s</a:t>
              </a:r>
              <a:r>
                <a:rPr kumimoji="0" lang="en-US" altLang="zh-CN" sz="2800" baseline="-25000">
                  <a:latin typeface="华文中宋" panose="02010600040101010101" pitchFamily="2" charset="-122"/>
                  <a:ea typeface="华文中宋" panose="02010600040101010101" pitchFamily="2" charset="-122"/>
                </a:rPr>
                <a:t>i</a:t>
              </a:r>
            </a:p>
          </p:txBody>
        </p:sp>
        <p:sp>
          <p:nvSpPr>
            <p:cNvPr id="19468" name="Text Box 68">
              <a:extLst>
                <a:ext uri="{FF2B5EF4-FFF2-40B4-BE49-F238E27FC236}">
                  <a16:creationId xmlns:a16="http://schemas.microsoft.com/office/drawing/2014/main" id="{92C68597-B6F4-4D44-B619-AECD6B440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269"/>
              <a:ext cx="24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>
                  <a:latin typeface="华文中宋" panose="02010600040101010101" pitchFamily="2" charset="-122"/>
                  <a:ea typeface="华文中宋" panose="02010600040101010101" pitchFamily="2" charset="-122"/>
                </a:rPr>
                <a:t>f</a:t>
              </a:r>
              <a:r>
                <a:rPr kumimoji="0" lang="en-US" altLang="zh-CN" sz="2800" baseline="-25000">
                  <a:latin typeface="华文中宋" panose="02010600040101010101" pitchFamily="2" charset="-122"/>
                  <a:ea typeface="华文中宋" panose="02010600040101010101" pitchFamily="2" charset="-122"/>
                </a:rPr>
                <a:t>i</a:t>
              </a:r>
            </a:p>
          </p:txBody>
        </p:sp>
        <p:sp>
          <p:nvSpPr>
            <p:cNvPr id="19469" name="Text Box 69">
              <a:extLst>
                <a:ext uri="{FF2B5EF4-FFF2-40B4-BE49-F238E27FC236}">
                  <a16:creationId xmlns:a16="http://schemas.microsoft.com/office/drawing/2014/main" id="{2FE71D16-15C0-41CB-A2C7-95F5F3CC1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269"/>
              <a:ext cx="24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>
                  <a:latin typeface="华文中宋" panose="02010600040101010101" pitchFamily="2" charset="-122"/>
                  <a:ea typeface="华文中宋" panose="02010600040101010101" pitchFamily="2" charset="-122"/>
                </a:rPr>
                <a:t>s</a:t>
              </a:r>
              <a:r>
                <a:rPr kumimoji="0" lang="en-US" altLang="zh-CN" sz="2800" baseline="-25000">
                  <a:latin typeface="华文中宋" panose="02010600040101010101" pitchFamily="2" charset="-122"/>
                  <a:ea typeface="华文中宋" panose="02010600040101010101" pitchFamily="2" charset="-122"/>
                </a:rPr>
                <a:t>j</a:t>
              </a:r>
            </a:p>
          </p:txBody>
        </p:sp>
        <p:sp>
          <p:nvSpPr>
            <p:cNvPr id="19470" name="Text Box 70">
              <a:extLst>
                <a:ext uri="{FF2B5EF4-FFF2-40B4-BE49-F238E27FC236}">
                  <a16:creationId xmlns:a16="http://schemas.microsoft.com/office/drawing/2014/main" id="{7E215D78-650A-4AD0-BB58-97DA51F47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3269"/>
              <a:ext cx="24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2800">
                  <a:latin typeface="华文中宋" panose="02010600040101010101" pitchFamily="2" charset="-122"/>
                  <a:ea typeface="华文中宋" panose="02010600040101010101" pitchFamily="2" charset="-122"/>
                </a:rPr>
                <a:t>f</a:t>
              </a:r>
              <a:r>
                <a:rPr kumimoji="0" lang="en-US" altLang="zh-CN" sz="2800" baseline="-25000">
                  <a:latin typeface="华文中宋" panose="02010600040101010101" pitchFamily="2" charset="-122"/>
                  <a:ea typeface="华文中宋" panose="02010600040101010101" pitchFamily="2" charset="-122"/>
                </a:rPr>
                <a:t>j</a:t>
              </a:r>
            </a:p>
          </p:txBody>
        </p:sp>
      </p:grpSp>
      <p:sp>
        <p:nvSpPr>
          <p:cNvPr id="4168" name="Rectangle 72">
            <a:extLst>
              <a:ext uri="{FF2B5EF4-FFF2-40B4-BE49-F238E27FC236}">
                <a16:creationId xmlns:a16="http://schemas.microsoft.com/office/drawing/2014/main" id="{BD03EBCC-0373-4DFE-B9CB-D3C9BBCFE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5715000"/>
            <a:ext cx="6727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即：当</a:t>
            </a:r>
            <a:r>
              <a:rPr kumimoji="0"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kumimoji="0"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kumimoji="0"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≥f</a:t>
            </a:r>
            <a:r>
              <a:rPr kumimoji="0"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j</a:t>
            </a:r>
            <a:r>
              <a:rPr kumimoji="0"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或</a:t>
            </a:r>
            <a:r>
              <a:rPr kumimoji="0"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kumimoji="0"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j</a:t>
            </a:r>
            <a:r>
              <a:rPr kumimoji="0"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≥f</a:t>
            </a:r>
            <a:r>
              <a:rPr kumimoji="0"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kumimoji="0"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时，活动</a:t>
            </a:r>
            <a:r>
              <a:rPr kumimoji="0"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kumimoji="0"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与活动</a:t>
            </a:r>
            <a:r>
              <a:rPr kumimoji="0"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j</a:t>
            </a:r>
            <a:r>
              <a:rPr kumimoji="0"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相容。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utoUpdateAnimBg="0" advAuto="0"/>
      <p:bldP spid="416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D985C06-05D5-46C5-BD5B-4D24951032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en-US" altLang="zh-CN" sz="4000" b="1">
                <a:latin typeface="华文中宋" panose="02010600040101010101" pitchFamily="2" charset="-122"/>
              </a:rPr>
              <a:t>1</a:t>
            </a:r>
            <a:r>
              <a:rPr kumimoji="0" lang="zh-CN" altLang="en-US" sz="4000" b="1">
                <a:latin typeface="华文中宋" panose="02010600040101010101" pitchFamily="2" charset="-122"/>
              </a:rPr>
              <a:t>、求解策略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B4790DB-3586-4BFE-BB6C-076BDE65D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8" y="2071688"/>
            <a:ext cx="7772400" cy="2743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预备：将输入的活动以其完成时间的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非减序</a:t>
            </a:r>
            <a:r>
              <a:rPr lang="zh-CN" altLang="en-US" sz="2800" b="1">
                <a:latin typeface="华文中宋" panose="02010600040101010101" pitchFamily="2" charset="-122"/>
              </a:rPr>
              <a:t>排列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（即升序排列）</a:t>
            </a:r>
            <a:endParaRPr lang="zh-CN" altLang="en-US" sz="2800" b="1">
              <a:latin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策略：从队列中每次总是选择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具有最早完成时间</a:t>
            </a:r>
            <a:r>
              <a:rPr lang="zh-CN" altLang="en-US" sz="2800" b="1">
                <a:latin typeface="华文中宋" panose="02010600040101010101" pitchFamily="2" charset="-122"/>
              </a:rPr>
              <a:t>的相容活动加入活动集合</a:t>
            </a:r>
            <a:r>
              <a:rPr lang="en-US" altLang="zh-CN" sz="2800" b="1">
                <a:latin typeface="华文中宋" panose="02010600040101010101" pitchFamily="2" charset="-122"/>
              </a:rPr>
              <a:t>A</a:t>
            </a:r>
            <a:r>
              <a:rPr lang="zh-CN" altLang="en-US" sz="2800" b="1">
                <a:latin typeface="华文中宋" panose="02010600040101010101" pitchFamily="2" charset="-122"/>
              </a:rPr>
              <a:t>中</a:t>
            </a:r>
          </a:p>
          <a:p>
            <a:pPr eaLnBrk="1" hangingPunct="1"/>
            <a:endParaRPr lang="en-US" altLang="zh-CN" sz="2800" b="1">
              <a:latin typeface="华文中宋" panose="02010600040101010101" pitchFamily="2" charset="-122"/>
            </a:endParaRP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021CD66E-14DA-4652-A5C5-5C8A12874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42875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如何求解？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build="p" autoUpdateAnimBg="0"/>
      <p:bldP spid="4096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9BA19F8-40CD-4C23-8FEB-DA1891505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、贪心算法</a:t>
            </a:r>
            <a:r>
              <a:rPr lang="en-US" altLang="zh-CN" sz="3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GreedySelector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B238E59-5457-49E2-BC2D-0CCBA1920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901700"/>
            <a:ext cx="8077200" cy="541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</a:rPr>
              <a:t>在下面所给出的解活动安排问题的贪心算法</a:t>
            </a:r>
            <a:r>
              <a:rPr lang="en-US" altLang="zh-CN" sz="2400" b="1">
                <a:solidFill>
                  <a:schemeClr val="accent2"/>
                </a:solidFill>
              </a:rPr>
              <a:t>greedySelector</a:t>
            </a:r>
            <a:r>
              <a:rPr lang="en-US" altLang="zh-CN" sz="2400" b="1"/>
              <a:t> 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int </a:t>
            </a:r>
            <a:r>
              <a:rPr lang="en-US" altLang="zh-CN" sz="2400" b="1">
                <a:solidFill>
                  <a:srgbClr val="7030A0"/>
                </a:solidFill>
                <a:latin typeface="Input" panose="02000506020000090004" pitchFamily="2" charset="0"/>
              </a:rPr>
              <a:t>GreedySelector</a:t>
            </a:r>
            <a:r>
              <a:rPr lang="en-US" altLang="zh-CN" sz="2400" b="1">
                <a:latin typeface="Input" panose="02000506020000090004" pitchFamily="2" charset="0"/>
              </a:rPr>
              <a:t>(int </a:t>
            </a:r>
            <a:r>
              <a:rPr lang="en-US" altLang="zh-CN" sz="2400" b="1">
                <a:solidFill>
                  <a:srgbClr val="00B050"/>
                </a:solidFill>
                <a:latin typeface="Input" panose="02000506020000090004" pitchFamily="2" charset="0"/>
              </a:rPr>
              <a:t>n</a:t>
            </a:r>
            <a:r>
              <a:rPr lang="en-US" altLang="zh-CN" sz="2400" b="1">
                <a:latin typeface="Input" panose="02000506020000090004" pitchFamily="2" charset="0"/>
              </a:rPr>
              <a:t>, int  </a:t>
            </a:r>
            <a:r>
              <a:rPr lang="en-US" altLang="zh-CN" sz="2400" b="1">
                <a:solidFill>
                  <a:srgbClr val="00B050"/>
                </a:solidFill>
                <a:latin typeface="Input" panose="02000506020000090004" pitchFamily="2" charset="0"/>
              </a:rPr>
              <a:t>s</a:t>
            </a:r>
            <a:r>
              <a:rPr lang="en-US" altLang="zh-CN" sz="2400" b="1">
                <a:latin typeface="Input" panose="02000506020000090004" pitchFamily="2" charset="0"/>
              </a:rPr>
              <a:t>[], int  </a:t>
            </a:r>
            <a:r>
              <a:rPr lang="en-US" altLang="zh-CN" sz="2400" b="1">
                <a:solidFill>
                  <a:srgbClr val="00B050"/>
                </a:solidFill>
                <a:latin typeface="Input" panose="02000506020000090004" pitchFamily="2" charset="0"/>
              </a:rPr>
              <a:t>f</a:t>
            </a:r>
            <a:r>
              <a:rPr lang="en-US" altLang="zh-CN" sz="2400" b="1">
                <a:latin typeface="Input" panose="02000506020000090004" pitchFamily="2" charset="0"/>
              </a:rPr>
              <a:t>[], bool </a:t>
            </a:r>
            <a:r>
              <a:rPr lang="en-US" altLang="zh-CN" sz="2400" b="1">
                <a:solidFill>
                  <a:srgbClr val="00B050"/>
                </a:solidFill>
                <a:latin typeface="Input" panose="02000506020000090004" pitchFamily="2" charset="0"/>
              </a:rPr>
              <a:t>A</a:t>
            </a:r>
            <a:r>
              <a:rPr lang="en-US" altLang="zh-CN" sz="2400" b="1">
                <a:latin typeface="Input" panose="02000506020000090004" pitchFamily="2" charset="0"/>
              </a:rPr>
              <a:t>[]){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      A[1]=true;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      int j=1, count=1;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      for (int i=2;i&lt;=n;i++)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          if (s[i]&gt;=f[j])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              A[i]=true;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              j=i;   count++;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     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          else A[i]=false;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 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      return count;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latin typeface="Input" panose="02000506020000090004" pitchFamily="2" charset="0"/>
              </a:rPr>
              <a:t>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AF52ED0-A510-40AF-B0FC-90A887B93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FF0000"/>
                </a:solidFill>
              </a:rPr>
              <a:t>3</a:t>
            </a:r>
            <a:r>
              <a:rPr lang="zh-CN" altLang="en-US" sz="4000" b="1">
                <a:solidFill>
                  <a:srgbClr val="FF0000"/>
                </a:solidFill>
              </a:rPr>
              <a:t>、复杂性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435241D-E772-4732-82DC-8ED12CF4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763000" cy="541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indent="-533400" eaLnBrk="1" hangingPunct="1">
              <a:lnSpc>
                <a:spcPct val="11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先对活动的完成时间作从小到大排列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算法</a:t>
            </a:r>
            <a:r>
              <a:rPr lang="en-US" altLang="zh-CN" sz="2800" b="1">
                <a:latin typeface="Input" panose="02000506020000090004" pitchFamily="2" charset="0"/>
              </a:rPr>
              <a:t>GreedySelector</a:t>
            </a:r>
            <a:r>
              <a:rPr lang="zh-CN" altLang="en-US" sz="2800" b="1">
                <a:latin typeface="华文中宋" panose="02010600040101010101" pitchFamily="2" charset="-122"/>
              </a:rPr>
              <a:t>每次总是选择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具有最早完成时间</a:t>
            </a:r>
            <a:r>
              <a:rPr lang="zh-CN" altLang="en-US" sz="2800" b="1">
                <a:latin typeface="华文中宋" panose="02010600040101010101" pitchFamily="2" charset="-122"/>
              </a:rPr>
              <a:t>的相容活动加入集合</a:t>
            </a:r>
            <a:r>
              <a:rPr lang="en-US" altLang="zh-CN" sz="2800" b="1">
                <a:latin typeface="华文中宋" panose="02010600040101010101" pitchFamily="2" charset="-122"/>
              </a:rPr>
              <a:t>A</a:t>
            </a:r>
            <a:r>
              <a:rPr lang="zh-CN" altLang="en-US" sz="2800" b="1">
                <a:latin typeface="华文中宋" panose="02010600040101010101" pitchFamily="2" charset="-122"/>
              </a:rPr>
              <a:t>中。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算法的贪心选择目的：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使剩余可安排时间段尽量大</a:t>
            </a:r>
            <a:r>
              <a:rPr lang="zh-CN" altLang="en-US" sz="2800" b="1">
                <a:latin typeface="华文中宋" panose="02010600040101010101" pitchFamily="2" charset="-122"/>
              </a:rPr>
              <a:t>，以便安排尽可能多的相容活动。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算法</a:t>
            </a:r>
            <a:r>
              <a:rPr lang="en-US" altLang="zh-CN" sz="2800" b="1">
                <a:latin typeface="Input" panose="02000506020000090004" pitchFamily="2" charset="0"/>
              </a:rPr>
              <a:t>GreedySelector</a:t>
            </a:r>
            <a:r>
              <a:rPr lang="zh-CN" altLang="en-US" sz="2800" b="1">
                <a:latin typeface="华文中宋" panose="02010600040101010101" pitchFamily="2" charset="-122"/>
              </a:rPr>
              <a:t>的效率：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O(nlogn)</a:t>
            </a:r>
          </a:p>
          <a:p>
            <a:pPr marL="914400" lvl="1" indent="-457200" eaLnBrk="1" hangingPunct="1">
              <a:lnSpc>
                <a:spcPct val="110000"/>
              </a:lnSpc>
              <a:buFontTx/>
              <a:buAutoNum type="arabicPeriod"/>
            </a:pPr>
            <a:r>
              <a:rPr lang="zh-CN" altLang="en-US" b="1">
                <a:latin typeface="华文中宋" panose="02010600040101010101" pitchFamily="2" charset="-122"/>
              </a:rPr>
              <a:t>对给出的活动按非减序排列，可用</a:t>
            </a:r>
            <a:r>
              <a:rPr lang="en-US" altLang="zh-CN" b="1">
                <a:solidFill>
                  <a:schemeClr val="accent2"/>
                </a:solidFill>
                <a:latin typeface="华文中宋" panose="02010600040101010101" pitchFamily="2" charset="-122"/>
              </a:rPr>
              <a:t>O(nlogn)</a:t>
            </a:r>
            <a:r>
              <a:rPr lang="zh-CN" altLang="en-US" b="1">
                <a:latin typeface="华文中宋" panose="02010600040101010101" pitchFamily="2" charset="-122"/>
              </a:rPr>
              <a:t>时间</a:t>
            </a:r>
          </a:p>
          <a:p>
            <a:pPr marL="914400" lvl="1" indent="-457200" eaLnBrk="1" hangingPunct="1">
              <a:lnSpc>
                <a:spcPct val="110000"/>
              </a:lnSpc>
              <a:buFontTx/>
              <a:buAutoNum type="arabicPeriod"/>
            </a:pPr>
            <a:r>
              <a:rPr lang="zh-CN" altLang="en-US" b="1">
                <a:latin typeface="华文中宋" panose="02010600040101010101" pitchFamily="2" charset="-122"/>
              </a:rPr>
              <a:t>对已按结束时间作非减序排列的活动，只需</a:t>
            </a:r>
            <a:r>
              <a:rPr lang="en-US" altLang="zh-CN" b="1">
                <a:solidFill>
                  <a:schemeClr val="accent2"/>
                </a:solidFill>
                <a:latin typeface="华文中宋" panose="02010600040101010101" pitchFamily="2" charset="-122"/>
              </a:rPr>
              <a:t>O(n)</a:t>
            </a:r>
            <a:r>
              <a:rPr lang="zh-CN" altLang="en-US" b="1">
                <a:latin typeface="华文中宋" panose="02010600040101010101" pitchFamily="2" charset="-122"/>
              </a:rPr>
              <a:t>的时间安排</a:t>
            </a:r>
            <a:r>
              <a:rPr lang="en-US" altLang="zh-CN" b="1">
                <a:latin typeface="华文中宋" panose="02010600040101010101" pitchFamily="2" charset="-122"/>
              </a:rPr>
              <a:t>n</a:t>
            </a:r>
            <a:r>
              <a:rPr lang="zh-CN" altLang="en-US" b="1">
                <a:latin typeface="华文中宋" panose="02010600040101010101" pitchFamily="2" charset="-122"/>
              </a:rPr>
              <a:t>个活动，使最多的活动能相容地使用公共资源。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814A4EE-DD1D-4F77-8F64-E2A75BFA6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latin typeface="华文中宋" panose="02010600040101010101" pitchFamily="2" charset="-122"/>
              </a:rPr>
              <a:t>活动安排问题求解启示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5F83D90-D743-4B90-B43E-BC787D0F8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活动安排问题要求在所给的活动集合中选出最大的相容活动子集合。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贪心算法可提供一个简单、漂亮的方法，使得尽可能多的活动能兼容地使用公共资源。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1CD0708-D7A9-44C4-8634-5DF1605CD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FF0000"/>
                </a:solidFill>
              </a:rPr>
              <a:t>4</a:t>
            </a:r>
            <a:r>
              <a:rPr lang="zh-CN" altLang="en-US" sz="4000" b="1">
                <a:solidFill>
                  <a:srgbClr val="FF0000"/>
                </a:solidFill>
              </a:rPr>
              <a:t>、举例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259A750-97D3-4A9D-8462-3EE8DE759B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924800" cy="121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例：</a:t>
            </a:r>
            <a:r>
              <a:rPr lang="zh-CN" altLang="en-US" sz="2800" b="1">
                <a:latin typeface="华文中宋" panose="02010600040101010101" pitchFamily="2" charset="-122"/>
              </a:rPr>
              <a:t>设待安排的</a:t>
            </a:r>
            <a:r>
              <a:rPr lang="en-US" altLang="zh-CN" sz="2800" b="1">
                <a:latin typeface="华文中宋" panose="02010600040101010101" pitchFamily="2" charset="-122"/>
              </a:rPr>
              <a:t>11</a:t>
            </a:r>
            <a:r>
              <a:rPr lang="zh-CN" altLang="en-US" sz="2800" b="1">
                <a:latin typeface="华文中宋" panose="02010600040101010101" pitchFamily="2" charset="-122"/>
              </a:rPr>
              <a:t>个活动的开始时间和结束时间按结束时间的非减序排列如下：</a:t>
            </a:r>
          </a:p>
        </p:txBody>
      </p:sp>
      <p:graphicFrame>
        <p:nvGraphicFramePr>
          <p:cNvPr id="7173" name="Group 5">
            <a:extLst>
              <a:ext uri="{FF2B5EF4-FFF2-40B4-BE49-F238E27FC236}">
                <a16:creationId xmlns:a16="http://schemas.microsoft.com/office/drawing/2014/main" id="{ED6966DF-ECDC-43BD-AF4E-A6746846905A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539750" y="3200400"/>
          <a:ext cx="7918450" cy="2176463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213488197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978696187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19768209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94961138"/>
                    </a:ext>
                  </a:extLst>
                </a:gridCol>
                <a:gridCol w="658812">
                  <a:extLst>
                    <a:ext uri="{9D8B030D-6E8A-4147-A177-3AD203B41FA5}">
                      <a16:colId xmlns:a16="http://schemas.microsoft.com/office/drawing/2014/main" val="315368797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7101136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689294815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1415828218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3499446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784001280"/>
                    </a:ext>
                  </a:extLst>
                </a:gridCol>
                <a:gridCol w="658812">
                  <a:extLst>
                    <a:ext uri="{9D8B030D-6E8A-4147-A177-3AD203B41FA5}">
                      <a16:colId xmlns:a16="http://schemas.microsoft.com/office/drawing/2014/main" val="3909376388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854544267"/>
                    </a:ext>
                  </a:extLst>
                </a:gridCol>
              </a:tblGrid>
              <a:tr h="7334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i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104457"/>
                  </a:ext>
                </a:extLst>
              </a:tr>
              <a:tr h="7223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S[</a:t>
                      </a:r>
                      <a:r>
                        <a:rPr kumimoji="1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i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232321"/>
                  </a:ext>
                </a:extLst>
              </a:tr>
              <a:tr h="720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f[</a:t>
                      </a:r>
                      <a:r>
                        <a:rPr kumimoji="1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i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32536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0F8D435-9F5A-4E73-AC5C-BBD505FB34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04800"/>
            <a:ext cx="86106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600" b="1">
                <a:latin typeface="华文中宋" panose="02010600040101010101" pitchFamily="2" charset="-122"/>
              </a:rPr>
              <a:t>活动安排问题贪心算法小结及正确性证明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F8D9F41-773A-4914-9FBE-A42F8FDE3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143000"/>
            <a:ext cx="8763000" cy="2438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zh-CN" altLang="en-US" sz="2800" b="1">
                <a:latin typeface="华文中宋" panose="02010600040101010101" pitchFamily="2" charset="-122"/>
              </a:rPr>
              <a:t>结论：活动安排问题的贪心算法可求得整体最优解</a:t>
            </a:r>
            <a:endParaRPr lang="zh-CN" altLang="en-US" sz="2800" b="1">
              <a:solidFill>
                <a:srgbClr val="FF0000"/>
              </a:solidFill>
              <a:latin typeface="华文中宋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策略：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1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、将输入的活动以其完成时间的非减序排列</a:t>
            </a:r>
          </a:p>
          <a:p>
            <a:pPr eaLnBrk="1" hangingPunct="1"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      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、若被检查的活动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的开始时间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S</a:t>
            </a:r>
            <a:r>
              <a:rPr lang="en-US" altLang="zh-CN" sz="2800" b="1" baseline="-25000">
                <a:solidFill>
                  <a:srgbClr val="FF0000"/>
                </a:solidFill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小于最近选择的活动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j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的结束时间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，则不选择活动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，否则选择活动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加入集合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中。</a:t>
            </a:r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FCFB8063-CD76-44A7-B8B8-86879EC48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651250"/>
            <a:ext cx="85344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正确性证明步骤：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    该结论可用数学归纳法证明，</a:t>
            </a: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最优性证明：须分两步进行：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     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、开始时的贪心选择      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、剩下的活动可继续作贪心选择（实际上证最优子结构性质）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  <p:bldP spid="819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C32FE83-181B-4E5F-9CC0-A91DEBD1A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4478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4.2 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贪心算法的基本要素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F84822DB-B03B-4A98-9169-07012DA3D14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14375" y="2571750"/>
            <a:ext cx="8001000" cy="2057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120000"/>
              </a:lnSpc>
              <a:buFontTx/>
              <a:buNone/>
            </a:pPr>
            <a:r>
              <a:rPr lang="zh-CN" altLang="en-US" sz="2800" b="1">
                <a:latin typeface="华文中宋" panose="02010600040101010101" pitchFamily="2" charset="-122"/>
              </a:rPr>
              <a:t>对一般的其它问题，贪心算法未必总能求得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整体最优解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  <a:p>
            <a:pPr marL="0" indent="0" eaLnBrk="1" hangingPunct="1">
              <a:lnSpc>
                <a:spcPct val="120000"/>
              </a:lnSpc>
              <a:buFontTx/>
              <a:buNone/>
            </a:pPr>
            <a:r>
              <a:rPr lang="zh-CN" altLang="en-US" sz="2800" b="1">
                <a:latin typeface="华文中宋" panose="02010600040101010101" pitchFamily="2" charset="-122"/>
              </a:rPr>
              <a:t>具有什么性质的问题可用贪心算法？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EED0A2C-373B-44A5-84FB-4E5F82A9E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latin typeface="华文中宋" panose="02010600040101010101" pitchFamily="2" charset="-122"/>
              </a:rPr>
              <a:t>1</a:t>
            </a:r>
            <a:r>
              <a:rPr lang="zh-CN" altLang="en-US" sz="4000" b="1">
                <a:latin typeface="华文中宋" panose="02010600040101010101" pitchFamily="2" charset="-122"/>
              </a:rPr>
              <a:t>、贪心算法的基本要素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2D748FC-41C8-4C7D-BD73-7F6275BF6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7772400" cy="2438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华文中宋" panose="02010600040101010101" pitchFamily="2" charset="-122"/>
              </a:rPr>
              <a:t>1.</a:t>
            </a:r>
            <a:r>
              <a:rPr lang="zh-CN" altLang="en-US" sz="2800" b="1">
                <a:solidFill>
                  <a:srgbClr val="0000CC"/>
                </a:solidFill>
                <a:latin typeface="华文中宋" panose="02010600040101010101" pitchFamily="2" charset="-122"/>
              </a:rPr>
              <a:t>贪心选择性质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800" b="1">
                <a:solidFill>
                  <a:srgbClr val="0000CC"/>
                </a:solidFill>
                <a:latin typeface="华文中宋" panose="02010600040101010101" pitchFamily="2" charset="-122"/>
              </a:rPr>
              <a:t>2.</a:t>
            </a:r>
            <a:r>
              <a:rPr kumimoji="0" lang="zh-CN" altLang="en-US" sz="2800" b="1">
                <a:solidFill>
                  <a:srgbClr val="0000CC"/>
                </a:solidFill>
                <a:latin typeface="华文中宋" panose="02010600040101010101" pitchFamily="2" charset="-122"/>
              </a:rPr>
              <a:t>最优子结构性质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5507014-31BD-43FC-9B4C-C8B7F5E3E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5750" y="609600"/>
            <a:ext cx="8429625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latin typeface="华文中宋" panose="02010600040101010101" pitchFamily="2" charset="-122"/>
              </a:rPr>
              <a:t>2</a:t>
            </a:r>
            <a:r>
              <a:rPr lang="zh-CN" altLang="en-US" sz="4000" b="1">
                <a:latin typeface="华文中宋" panose="02010600040101010101" pitchFamily="2" charset="-122"/>
              </a:rPr>
              <a:t>、贪心选择性质与最优子结构性质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50B6AB1-FC84-4AAF-9473-C13D25260D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8153400" cy="1752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贪心选择性质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华文中宋" panose="02010600040101010101" pitchFamily="2" charset="-122"/>
              </a:rPr>
              <a:t>      指所求问题的</a:t>
            </a:r>
            <a:r>
              <a:rPr kumimoji="0"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整体最优解</a:t>
            </a:r>
            <a:r>
              <a:rPr kumimoji="0" lang="zh-CN" altLang="en-US" sz="2800" b="1">
                <a:solidFill>
                  <a:srgbClr val="000000"/>
                </a:solidFill>
                <a:latin typeface="华文中宋" panose="02010600040101010101" pitchFamily="2" charset="-122"/>
              </a:rPr>
              <a:t>可以通过一系列</a:t>
            </a:r>
            <a:r>
              <a:rPr kumimoji="0"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局部最优</a:t>
            </a:r>
            <a:r>
              <a:rPr kumimoji="0" lang="zh-CN" altLang="en-US" sz="2800" b="1">
                <a:solidFill>
                  <a:srgbClr val="000000"/>
                </a:solidFill>
                <a:latin typeface="华文中宋" panose="02010600040101010101" pitchFamily="2" charset="-122"/>
              </a:rPr>
              <a:t>的选择，即贪心选择来达到。这是贪心算法可行的第一个基本要素。每一步都可通过局部最优达到。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3393EE05-38DB-4423-BEA6-A8804B609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770313"/>
            <a:ext cx="7772400" cy="232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最优子结构性质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    当一个问题的最优解包含其子问题的最优解时，称此问题具有</a:t>
            </a:r>
            <a:r>
              <a:rPr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最优子结构性质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  <p:bldP spid="4403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>
            <a:extLst>
              <a:ext uri="{FF2B5EF4-FFF2-40B4-BE49-F238E27FC236}">
                <a16:creationId xmlns:a16="http://schemas.microsoft.com/office/drawing/2014/main" id="{0EECEC5B-E196-4D2E-9881-B131C6DEF3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09600"/>
            <a:ext cx="84582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latin typeface="华文中宋" panose="02010600040101010101" pitchFamily="2" charset="-122"/>
              </a:rPr>
              <a:t>问题具有贪心选择性质的证明方法 </a:t>
            </a:r>
          </a:p>
        </p:txBody>
      </p:sp>
      <p:sp>
        <p:nvSpPr>
          <p:cNvPr id="113667" name="Rectangle 1027">
            <a:extLst>
              <a:ext uri="{FF2B5EF4-FFF2-40B4-BE49-F238E27FC236}">
                <a16:creationId xmlns:a16="http://schemas.microsoft.com/office/drawing/2014/main" id="{E9714095-3D22-4698-9B88-8EA843F12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zh-CN" altLang="en-US" sz="2800" b="1"/>
              <a:t>明确所说的贪心选择策略</a:t>
            </a:r>
            <a:r>
              <a:rPr lang="en-US" altLang="zh-CN" sz="2800" b="1"/>
              <a:t>S</a:t>
            </a:r>
            <a:endParaRPr lang="zh-CN" altLang="en-US" sz="2800" b="1"/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zh-CN" altLang="en-US" sz="2800" b="1"/>
              <a:t>按该贪心选择策略，可选择一个局部最优解，确定第一步选择（假定有一个最优解</a:t>
            </a:r>
            <a:r>
              <a:rPr lang="en-US" altLang="zh-CN" sz="2800" b="1"/>
              <a:t>A</a:t>
            </a:r>
            <a:r>
              <a:rPr lang="zh-CN" altLang="en-US" sz="2800" b="1"/>
              <a:t>）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zh-CN" altLang="en-US" sz="2800" b="1"/>
              <a:t>考察问题的最优解</a:t>
            </a:r>
            <a:r>
              <a:rPr lang="en-US" altLang="zh-CN" sz="2800" b="1"/>
              <a:t>A</a:t>
            </a:r>
            <a:r>
              <a:rPr lang="zh-CN" altLang="en-US" sz="2800" b="1"/>
              <a:t>，并证明它的第一步必可通过贪心选择策略开始（或通过</a:t>
            </a:r>
            <a:r>
              <a:rPr lang="en-US" altLang="zh-CN" sz="2800" b="1"/>
              <a:t>A</a:t>
            </a:r>
            <a:r>
              <a:rPr lang="zh-CN" altLang="en-US" sz="2800" b="1"/>
              <a:t>构造的一个最优解</a:t>
            </a:r>
            <a:r>
              <a:rPr lang="en-US" altLang="zh-CN" sz="2800" b="1"/>
              <a:t>B</a:t>
            </a:r>
            <a:r>
              <a:rPr lang="zh-CN" altLang="en-US" sz="2800" b="1"/>
              <a:t>的第一步必可通过贪心选择策略开始）。注：两个最优解</a:t>
            </a:r>
            <a:r>
              <a:rPr lang="en-US" altLang="zh-CN" sz="2800" b="1"/>
              <a:t>A</a:t>
            </a:r>
            <a:r>
              <a:rPr lang="zh-CN" altLang="en-US" sz="2800" b="1"/>
              <a:t>和</a:t>
            </a:r>
            <a:r>
              <a:rPr lang="en-US" altLang="zh-CN" sz="2800" b="1"/>
              <a:t>B</a:t>
            </a:r>
            <a:r>
              <a:rPr lang="zh-CN" altLang="en-US" sz="2800" b="1"/>
              <a:t>对最优性应一致，否则矛盾。</a:t>
            </a:r>
          </a:p>
          <a:p>
            <a:pPr marL="609600" indent="-609600" eaLnBrk="1" hangingPunct="1">
              <a:buFontTx/>
              <a:buAutoNum type="arabicPeriod"/>
            </a:pP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042C98D-919B-4F5E-BF12-0055DED79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817245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latin typeface="华文中宋" panose="02010600040101010101" pitchFamily="2" charset="-122"/>
              </a:rPr>
              <a:t>3</a:t>
            </a:r>
            <a:r>
              <a:rPr lang="zh-CN" altLang="en-US" sz="4000" b="1">
                <a:latin typeface="华文中宋" panose="02010600040101010101" pitchFamily="2" charset="-122"/>
              </a:rPr>
              <a:t>、贪心算法与动态规划算法的差异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A095508-C3B4-4C0D-A2C6-611C79AF2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447800"/>
            <a:ext cx="8077200" cy="2209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kumimoji="0"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贪心选择：问题</a:t>
            </a:r>
            <a:r>
              <a:rPr kumimoji="0" lang="zh-CN" altLang="en-US" sz="2800" b="1">
                <a:solidFill>
                  <a:srgbClr val="000000"/>
                </a:solidFill>
                <a:latin typeface="华文中宋" panose="02010600040101010101" pitchFamily="2" charset="-122"/>
              </a:rPr>
              <a:t>的</a:t>
            </a:r>
            <a:r>
              <a:rPr kumimoji="0"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整体最优解</a:t>
            </a:r>
            <a:r>
              <a:rPr kumimoji="0" lang="zh-CN" altLang="en-US" sz="2800" b="1">
                <a:solidFill>
                  <a:srgbClr val="000000"/>
                </a:solidFill>
                <a:latin typeface="华文中宋" panose="02010600040101010101" pitchFamily="2" charset="-122"/>
              </a:rPr>
              <a:t>可以通过一系列</a:t>
            </a:r>
            <a:r>
              <a:rPr kumimoji="0"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局部最优</a:t>
            </a:r>
            <a:r>
              <a:rPr kumimoji="0" lang="zh-CN" altLang="en-US" sz="2800" b="1">
                <a:solidFill>
                  <a:srgbClr val="000000"/>
                </a:solidFill>
                <a:latin typeface="华文中宋" panose="02010600040101010101" pitchFamily="2" charset="-122"/>
              </a:rPr>
              <a:t>的选择求得</a:t>
            </a:r>
          </a:p>
          <a:p>
            <a:pPr eaLnBrk="1" hangingPunct="1">
              <a:lnSpc>
                <a:spcPct val="110000"/>
              </a:lnSpc>
            </a:pPr>
            <a:r>
              <a:rPr kumimoji="0"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动态规划：</a:t>
            </a:r>
            <a:r>
              <a:rPr kumimoji="0" lang="zh-CN" altLang="en-US" sz="2800" b="1">
                <a:solidFill>
                  <a:srgbClr val="000000"/>
                </a:solidFill>
                <a:latin typeface="华文中宋" panose="02010600040101010101" pitchFamily="2" charset="-122"/>
              </a:rPr>
              <a:t>每步选择依赖与相关子问题，待子问题求解后，才作出选择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CFADC43D-E60D-47AB-8ABB-AB3B57DF3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63963"/>
            <a:ext cx="8458200" cy="248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共同点：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    贪心算法和动态规划算法都要求问题具有最优子结构性质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    都通过求解一系列子问题的解求得原问题的解</a:t>
            </a:r>
          </a:p>
          <a:p>
            <a:pPr eaLnBrk="1" hangingPunct="1">
              <a:spcBef>
                <a:spcPct val="20000"/>
              </a:spcBef>
            </a:pPr>
            <a:endParaRPr kumimoji="0" lang="en-US" altLang="zh-CN" sz="280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  <p:bldP spid="4506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6B45226-C512-4096-856F-4BEC6007B8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8382000" cy="890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en-US" altLang="zh-CN" sz="4000">
                <a:solidFill>
                  <a:srgbClr val="AC2F36"/>
                </a:solidFill>
                <a:latin typeface="华文中宋" panose="02010600040101010101" pitchFamily="2" charset="-122"/>
              </a:rPr>
              <a:t>4</a:t>
            </a:r>
            <a:r>
              <a:rPr kumimoji="0" lang="zh-CN" altLang="en-US" sz="4000">
                <a:solidFill>
                  <a:srgbClr val="AC2F36"/>
                </a:solidFill>
                <a:latin typeface="华文中宋" panose="02010600040101010101" pitchFamily="2" charset="-122"/>
              </a:rPr>
              <a:t>、贪心算法与动态规划算法的差异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241FBCEE-3CCE-4B81-8E0C-74379BBD1E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3820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lnSpc>
                <a:spcPct val="110000"/>
              </a:lnSpc>
              <a:buFontTx/>
              <a:buNone/>
            </a:pPr>
            <a:r>
              <a:rPr kumimoji="0" lang="zh-CN" altLang="en-US" sz="2800" b="1">
                <a:solidFill>
                  <a:srgbClr val="AC2F36"/>
                </a:solidFill>
                <a:latin typeface="华文中宋" panose="02010600040101010101" pitchFamily="2" charset="-122"/>
              </a:rPr>
              <a:t>动态规划：</a:t>
            </a:r>
            <a:r>
              <a:rPr kumimoji="0" lang="zh-CN" altLang="en-US" sz="2800" b="1">
                <a:solidFill>
                  <a:srgbClr val="000000"/>
                </a:solidFill>
                <a:latin typeface="华文中宋" panose="02010600040101010101" pitchFamily="2" charset="-122"/>
              </a:rPr>
              <a:t>通常以</a:t>
            </a:r>
            <a:r>
              <a:rPr kumimoji="0"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自底向上</a:t>
            </a:r>
            <a:r>
              <a:rPr kumimoji="0" lang="zh-CN" altLang="en-US" sz="2800" b="1">
                <a:solidFill>
                  <a:srgbClr val="000000"/>
                </a:solidFill>
                <a:latin typeface="华文中宋" panose="02010600040101010101" pitchFamily="2" charset="-122"/>
              </a:rPr>
              <a:t>的方式解各子问题</a:t>
            </a:r>
          </a:p>
          <a:p>
            <a:pPr marL="609600" indent="-609600" eaLnBrk="1" hangingPunct="1">
              <a:lnSpc>
                <a:spcPct val="110000"/>
              </a:lnSpc>
              <a:buFontTx/>
              <a:buNone/>
            </a:pPr>
            <a:r>
              <a:rPr kumimoji="0" lang="zh-CN" altLang="en-US" sz="2800" b="1">
                <a:solidFill>
                  <a:srgbClr val="AC2F36"/>
                </a:solidFill>
                <a:latin typeface="华文中宋" panose="02010600040101010101" pitchFamily="2" charset="-122"/>
              </a:rPr>
              <a:t>贪心算法：</a:t>
            </a:r>
            <a:r>
              <a:rPr kumimoji="0" lang="zh-CN" altLang="en-US" sz="2800" b="1">
                <a:solidFill>
                  <a:srgbClr val="000000"/>
                </a:solidFill>
                <a:latin typeface="华文中宋" panose="02010600040101010101" pitchFamily="2" charset="-122"/>
              </a:rPr>
              <a:t>通常以</a:t>
            </a:r>
            <a:r>
              <a:rPr kumimoji="0"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自顶向下</a:t>
            </a:r>
            <a:r>
              <a:rPr kumimoji="0" lang="zh-CN" altLang="en-US" sz="2800" b="1">
                <a:solidFill>
                  <a:srgbClr val="000000"/>
                </a:solidFill>
                <a:latin typeface="华文中宋" panose="02010600040101010101" pitchFamily="2" charset="-122"/>
              </a:rPr>
              <a:t>的方式进行，以迭代的方式作出相继的贪心选择，每作一次贪心选择就将所求问题简化为规模更小的子问题。</a:t>
            </a:r>
            <a:endParaRPr lang="zh-CN" altLang="en-US" sz="2800" b="1">
              <a:latin typeface="华文中宋" panose="02010600040101010101" pitchFamily="2" charset="-122"/>
            </a:endParaRPr>
          </a:p>
          <a:p>
            <a:pPr marL="609600" indent="-609600" eaLnBrk="1" hangingPunct="1">
              <a:lnSpc>
                <a:spcPct val="110000"/>
              </a:lnSpc>
              <a:buFontTx/>
              <a:buNone/>
            </a:pPr>
            <a:r>
              <a:rPr lang="zh-CN" altLang="en-US" sz="2800" b="1">
                <a:latin typeface="华文中宋" panose="02010600040101010101" pitchFamily="2" charset="-122"/>
              </a:rPr>
              <a:t>两个问题：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对于具有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最优子结构</a:t>
            </a:r>
            <a:r>
              <a:rPr lang="zh-CN" altLang="en-US" sz="2800" b="1">
                <a:latin typeface="华文中宋" panose="02010600040101010101" pitchFamily="2" charset="-122"/>
              </a:rPr>
              <a:t>的问题应该选用贪心算法还是动态规划算法求解</a:t>
            </a:r>
            <a:r>
              <a:rPr lang="en-US" altLang="zh-CN" sz="2800" b="1">
                <a:latin typeface="华文中宋" panose="02010600040101010101" pitchFamily="2" charset="-122"/>
              </a:rPr>
              <a:t>?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是否能用动态规划算法求解的问题也能用贪心算法求解</a:t>
            </a:r>
            <a:r>
              <a:rPr lang="en-US" altLang="zh-CN" sz="2800" b="1">
                <a:latin typeface="华文中宋" panose="02010600040101010101" pitchFamily="2" charset="-122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2B73C45-62D4-4076-A76E-75484AA8CA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5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、举例</a:t>
            </a:r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—0-1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背包问题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8C225EF1-3CFD-4867-9C19-7896721A64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8" y="1428750"/>
            <a:ext cx="7772400" cy="2286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0-1</a:t>
            </a:r>
            <a:r>
              <a:rPr lang="zh-CN" altLang="en-US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背包问题：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华文中宋" panose="02010600040101010101" pitchFamily="2" charset="-122"/>
              </a:rPr>
              <a:t>    给定</a:t>
            </a:r>
            <a:r>
              <a:rPr lang="en-US" altLang="zh-CN" sz="2800" b="1">
                <a:latin typeface="华文中宋" panose="02010600040101010101" pitchFamily="2" charset="-122"/>
              </a:rPr>
              <a:t>n</a:t>
            </a:r>
            <a:r>
              <a:rPr lang="zh-CN" altLang="en-US" sz="2800" b="1">
                <a:latin typeface="华文中宋" panose="02010600040101010101" pitchFamily="2" charset="-122"/>
              </a:rPr>
              <a:t>种物品和一个背包。物品</a:t>
            </a:r>
            <a:r>
              <a:rPr lang="en-US" altLang="zh-CN" sz="2800" b="1"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latin typeface="华文中宋" panose="02010600040101010101" pitchFamily="2" charset="-122"/>
              </a:rPr>
              <a:t>的重量是</a:t>
            </a:r>
            <a:r>
              <a:rPr lang="en-US" altLang="zh-CN" sz="2800" b="1">
                <a:latin typeface="华文中宋" panose="02010600040101010101" pitchFamily="2" charset="-122"/>
              </a:rPr>
              <a:t>Wi</a:t>
            </a:r>
            <a:r>
              <a:rPr lang="zh-CN" altLang="en-US" sz="2800" b="1">
                <a:latin typeface="华文中宋" panose="02010600040101010101" pitchFamily="2" charset="-122"/>
              </a:rPr>
              <a:t>，其价值为</a:t>
            </a:r>
            <a:r>
              <a:rPr lang="en-US" altLang="zh-CN" sz="2800" b="1">
                <a:latin typeface="华文中宋" panose="02010600040101010101" pitchFamily="2" charset="-122"/>
              </a:rPr>
              <a:t>Vi</a:t>
            </a:r>
            <a:r>
              <a:rPr lang="zh-CN" altLang="en-US" sz="2800" b="1">
                <a:latin typeface="华文中宋" panose="02010600040101010101" pitchFamily="2" charset="-122"/>
              </a:rPr>
              <a:t>，背包的容量为</a:t>
            </a:r>
            <a:r>
              <a:rPr lang="en-US" altLang="zh-CN" sz="2800" b="1">
                <a:latin typeface="华文中宋" panose="02010600040101010101" pitchFamily="2" charset="-122"/>
              </a:rPr>
              <a:t>C</a:t>
            </a:r>
            <a:r>
              <a:rPr lang="zh-CN" altLang="en-US" sz="2800" b="1">
                <a:latin typeface="华文中宋" panose="02010600040101010101" pitchFamily="2" charset="-122"/>
              </a:rPr>
              <a:t>。应如何选择装入背包的物品，使得装入背包中物品的总价值最大</a:t>
            </a:r>
            <a:r>
              <a:rPr lang="en-US" altLang="zh-CN" sz="2800" b="1">
                <a:latin typeface="华文中宋" panose="02010600040101010101" pitchFamily="2" charset="-122"/>
              </a:rPr>
              <a:t>?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F2BA744A-0FE1-4455-87FF-D7E59245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857625"/>
            <a:ext cx="8077200" cy="1423988"/>
          </a:xfrm>
          <a:prstGeom prst="rect">
            <a:avLst/>
          </a:prstGeom>
          <a:solidFill>
            <a:schemeClr val="hlink"/>
          </a:solidFill>
          <a:ln w="50800">
            <a:solidFill>
              <a:srgbClr val="FF66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kumimoji="0"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在选择装入背包的物品时，对每种物品</a:t>
            </a:r>
            <a:r>
              <a:rPr kumimoji="0" lang="en-US" altLang="zh-CN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kumimoji="0"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只有</a:t>
            </a:r>
            <a:r>
              <a:rPr kumimoji="0" lang="en-US" altLang="zh-CN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kumimoji="0"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种选择，即装入背包或不装入背包。不能将物品</a:t>
            </a:r>
            <a:r>
              <a:rPr kumimoji="0" lang="en-US" altLang="zh-CN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kumimoji="0"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装入背包多次，也不能只装入部分的物品</a:t>
            </a:r>
            <a:r>
              <a:rPr kumimoji="0" lang="en-US" altLang="zh-CN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kumimoji="0"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  <p:bldP spid="47108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BFF92AD3-F8ED-4ECD-87CC-97A2DE493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6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、举例</a:t>
            </a:r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—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一般背包问题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F7BC1E3-DAB8-4A7D-84B4-CDF9E66C0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8" y="1571625"/>
            <a:ext cx="7772400" cy="160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与</a:t>
            </a:r>
            <a:r>
              <a:rPr lang="en-US" altLang="zh-CN" sz="2800" b="1">
                <a:latin typeface="华文中宋" panose="02010600040101010101" pitchFamily="2" charset="-122"/>
              </a:rPr>
              <a:t>0-1</a:t>
            </a:r>
            <a:r>
              <a:rPr lang="zh-CN" altLang="en-US" sz="2800" b="1">
                <a:latin typeface="华文中宋" panose="02010600040101010101" pitchFamily="2" charset="-122"/>
              </a:rPr>
              <a:t>背包问题类似，所不同的是在选择物品</a:t>
            </a:r>
            <a:r>
              <a:rPr lang="en-US" altLang="zh-CN" sz="2800" b="1"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latin typeface="华文中宋" panose="02010600040101010101" pitchFamily="2" charset="-122"/>
              </a:rPr>
              <a:t>装入背包时，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可以选择物品</a:t>
            </a:r>
            <a:r>
              <a:rPr lang="en-US" altLang="zh-CN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的一部分</a:t>
            </a:r>
            <a:r>
              <a:rPr lang="zh-CN" altLang="en-US" sz="2800" b="1">
                <a:latin typeface="华文中宋" panose="02010600040101010101" pitchFamily="2" charset="-122"/>
              </a:rPr>
              <a:t>，而不一定要全部装入背包，</a:t>
            </a:r>
            <a:r>
              <a:rPr lang="en-US" altLang="zh-CN" sz="2800" b="1">
                <a:latin typeface="华文中宋" panose="02010600040101010101" pitchFamily="2" charset="-122"/>
              </a:rPr>
              <a:t>1≤i≤n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99BAF120-DAC6-4C1A-B0EF-E5A4D0FF6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3143250"/>
            <a:ext cx="771842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kumimoji="0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这</a:t>
            </a:r>
            <a:r>
              <a:rPr kumimoji="0"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kumimoji="0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类背包问题都具有</a:t>
            </a:r>
            <a:r>
              <a:rPr kumimoji="0"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最优子结构</a:t>
            </a:r>
            <a:r>
              <a:rPr kumimoji="0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性质，极为相似。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一般背包问题可以用贪心算法求解。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0"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0-1</a:t>
            </a:r>
            <a:r>
              <a:rPr kumimoji="0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背包问题不能用贪心算法求解。</a:t>
            </a:r>
            <a:r>
              <a:rPr kumimoji="0"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11E0975-DDD1-465E-BCCA-41B2677B3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一般背包问题的贪心算法求解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4DB0430D-7CD8-40F9-9A65-7A34C5967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382000" cy="472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用贪心算法解背包问题的基本步骤：</a:t>
            </a:r>
            <a:endParaRPr lang="zh-CN" altLang="en-US" sz="2800" b="1">
              <a:latin typeface="华文中宋" panose="020106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计算每种物品单位重量的价值</a:t>
            </a:r>
            <a:r>
              <a:rPr lang="en-US" altLang="zh-CN" sz="2800" b="1">
                <a:latin typeface="华文中宋" panose="02010600040101010101" pitchFamily="2" charset="-122"/>
              </a:rPr>
              <a:t>Vi/Wi</a:t>
            </a:r>
            <a:r>
              <a:rPr lang="zh-CN" altLang="en-US" sz="2800" b="1">
                <a:latin typeface="华文中宋" panose="02010600040101010101" pitchFamily="2" charset="-122"/>
              </a:rPr>
              <a:t>，</a:t>
            </a:r>
          </a:p>
          <a:p>
            <a:pPr marL="609600" indent="-6096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确定贪心选择策略：</a:t>
            </a:r>
            <a:r>
              <a:rPr lang="zh-CN" altLang="en-US" sz="2800" b="1">
                <a:latin typeface="华文中宋" panose="02010600040101010101" pitchFamily="2" charset="-122"/>
              </a:rPr>
              <a:t>尽可能多地将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单位重量价值最高</a:t>
            </a:r>
            <a:r>
              <a:rPr lang="zh-CN" altLang="en-US" sz="2800" b="1">
                <a:latin typeface="华文中宋" panose="02010600040101010101" pitchFamily="2" charset="-122"/>
              </a:rPr>
              <a:t>的物品装入背包。</a:t>
            </a:r>
          </a:p>
          <a:p>
            <a:pPr marL="609600" indent="-6096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若将一物品全部装入背包后，背包内的物品总重量未超过</a:t>
            </a:r>
            <a:r>
              <a:rPr lang="en-US" altLang="zh-CN" sz="2800" b="1">
                <a:latin typeface="华文中宋" panose="02010600040101010101" pitchFamily="2" charset="-122"/>
              </a:rPr>
              <a:t>C</a:t>
            </a:r>
            <a:r>
              <a:rPr lang="zh-CN" altLang="en-US" sz="2800" b="1">
                <a:latin typeface="华文中宋" panose="02010600040101010101" pitchFamily="2" charset="-122"/>
              </a:rPr>
              <a:t>，则选择单位重量价值次高的物品并尽可能多地装入背包。依此策略一直进行下去，直到背包装满为止。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E219E48-A32D-44A7-86B6-3379E38AE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600" b="1">
                <a:solidFill>
                  <a:srgbClr val="AC2F36"/>
                </a:solidFill>
                <a:latin typeface="华文中宋" panose="02010600040101010101" pitchFamily="2" charset="-122"/>
              </a:rPr>
              <a:t>0-1</a:t>
            </a:r>
            <a:r>
              <a:rPr lang="zh-CN" altLang="en-US" sz="3600" b="1">
                <a:solidFill>
                  <a:srgbClr val="AC2F36"/>
                </a:solidFill>
                <a:latin typeface="华文中宋" panose="02010600040101010101" pitchFamily="2" charset="-122"/>
              </a:rPr>
              <a:t>背包问题不能用贪心选择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E58045E-E3A8-41B7-97BD-8982F4BF2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95400"/>
            <a:ext cx="8382000" cy="2819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在考虑</a:t>
            </a:r>
            <a:r>
              <a:rPr lang="en-US" altLang="zh-CN" sz="2800" b="1">
                <a:latin typeface="华文中宋" panose="02010600040101010101" pitchFamily="2" charset="-122"/>
              </a:rPr>
              <a:t>0-1</a:t>
            </a:r>
            <a:r>
              <a:rPr lang="zh-CN" altLang="en-US" sz="2800" b="1">
                <a:latin typeface="华文中宋" panose="02010600040101010101" pitchFamily="2" charset="-122"/>
              </a:rPr>
              <a:t>背包问题时，要么选择、要么不选择该物品，然后作出最好选择。</a:t>
            </a:r>
          </a:p>
          <a:p>
            <a:pPr eaLnBrk="1" hangingPunct="1"/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对</a:t>
            </a:r>
            <a:r>
              <a:rPr lang="en-US" altLang="zh-CN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0-1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背包问题</a:t>
            </a:r>
            <a:r>
              <a:rPr lang="zh-CN" altLang="en-US" sz="2800" b="1">
                <a:latin typeface="华文中宋" panose="02010600040101010101" pitchFamily="2" charset="-122"/>
              </a:rPr>
              <a:t>，贪心选择不能得到最优解的原因是在这种情况下，它无法保证最终能将背包装满，部分闲置的背包空间使每公斤背包空间的价值降低了。需用事例说明，见后。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B4D8D07E-6A65-4733-88A2-CF0256BE0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19600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动态规划算法的确可有效地解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0-1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背包问题。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autoUpdateAnimBg="0"/>
      <p:bldP spid="5018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A50AAB0-C96E-444A-8072-4D7802B58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2938" y="500063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7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、实例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9C686ED-D736-443A-A89E-5ACCC5A4E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8" y="1285875"/>
            <a:ext cx="7772400" cy="457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indent="-533400" eaLnBrk="1" hangingPunct="1"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设   </a:t>
            </a:r>
            <a:r>
              <a:rPr lang="en-US" altLang="zh-CN" sz="2800" b="1">
                <a:latin typeface="华文中宋" panose="02010600040101010101" pitchFamily="2" charset="-122"/>
              </a:rPr>
              <a:t>v:  2  4  5  2      </a:t>
            </a:r>
            <a:r>
              <a:rPr lang="zh-CN" altLang="en-US" sz="2800" b="1">
                <a:latin typeface="华文中宋" panose="02010600040101010101" pitchFamily="2" charset="-122"/>
              </a:rPr>
              <a:t>取</a:t>
            </a:r>
            <a:r>
              <a:rPr lang="en-US" altLang="zh-CN" sz="2800" b="1">
                <a:latin typeface="华文中宋" panose="02010600040101010101" pitchFamily="2" charset="-122"/>
              </a:rPr>
              <a:t>c=5</a:t>
            </a:r>
          </a:p>
          <a:p>
            <a:pPr marL="533400" indent="-533400" eaLnBrk="1" hangingPunct="1">
              <a:buFontTx/>
              <a:buNone/>
            </a:pPr>
            <a:r>
              <a:rPr lang="en-US" altLang="zh-CN" sz="2800" b="1">
                <a:latin typeface="华文中宋" panose="02010600040101010101" pitchFamily="2" charset="-122"/>
              </a:rPr>
              <a:t>        w:  2  3  4  7</a:t>
            </a:r>
          </a:p>
          <a:p>
            <a:pPr marL="533400" indent="-533400" eaLnBrk="1" hangingPunct="1">
              <a:buFontTx/>
              <a:buNone/>
            </a:pPr>
            <a:r>
              <a:rPr lang="zh-CN" altLang="en-US" sz="2800" b="1">
                <a:latin typeface="华文中宋" panose="02010600040101010101" pitchFamily="2" charset="-122"/>
              </a:rPr>
              <a:t>其</a:t>
            </a:r>
            <a:r>
              <a:rPr kumimoji="0"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0-1</a:t>
            </a:r>
            <a:r>
              <a:rPr kumimoji="0"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背包问题</a:t>
            </a:r>
            <a:r>
              <a:rPr kumimoji="0" lang="zh-CN" altLang="en-US" sz="2800" b="1">
                <a:latin typeface="华文中宋" panose="02010600040101010101" pitchFamily="2" charset="-122"/>
              </a:rPr>
              <a:t>不能用贪心算法求解。</a:t>
            </a:r>
          </a:p>
          <a:p>
            <a:pPr marL="533400" indent="-533400" eaLnBrk="1" hangingPunct="1">
              <a:buFontTx/>
              <a:buNone/>
            </a:pPr>
            <a:r>
              <a:rPr kumimoji="0" lang="zh-CN" altLang="en-US" sz="2800" b="1">
                <a:latin typeface="华文中宋" panose="02010600040101010101" pitchFamily="2" charset="-122"/>
              </a:rPr>
              <a:t>但显然，可选物品</a:t>
            </a:r>
            <a:r>
              <a:rPr kumimoji="0" lang="en-US" altLang="zh-CN" sz="2800" b="1">
                <a:latin typeface="华文中宋" panose="02010600040101010101" pitchFamily="2" charset="-122"/>
              </a:rPr>
              <a:t>1</a:t>
            </a:r>
            <a:r>
              <a:rPr kumimoji="0" lang="zh-CN" altLang="en-US" sz="2800" b="1">
                <a:latin typeface="华文中宋" panose="02010600040101010101" pitchFamily="2" charset="-122"/>
              </a:rPr>
              <a:t>、</a:t>
            </a:r>
            <a:r>
              <a:rPr kumimoji="0" lang="en-US" altLang="zh-CN" sz="2800" b="1">
                <a:latin typeface="华文中宋" panose="02010600040101010101" pitchFamily="2" charset="-122"/>
              </a:rPr>
              <a:t>2</a:t>
            </a:r>
            <a:r>
              <a:rPr kumimoji="0" lang="zh-CN" altLang="en-US" sz="2800" b="1">
                <a:latin typeface="华文中宋" panose="02010600040101010101" pitchFamily="2" charset="-122"/>
              </a:rPr>
              <a:t>，对应的价值为</a:t>
            </a:r>
            <a:r>
              <a:rPr kumimoji="0" lang="en-US" altLang="zh-CN" sz="2800" b="1">
                <a:latin typeface="华文中宋" panose="02010600040101010101" pitchFamily="2" charset="-122"/>
              </a:rPr>
              <a:t>6</a:t>
            </a:r>
          </a:p>
          <a:p>
            <a:pPr marL="533400" indent="-533400" eaLnBrk="1" hangingPunct="1">
              <a:buFontTx/>
              <a:buAutoNum type="arabicPeriod" startAt="2"/>
            </a:pPr>
            <a:r>
              <a:rPr kumimoji="0" lang="zh-CN" altLang="en-US" sz="2800" b="1">
                <a:latin typeface="华文中宋" panose="02010600040101010101" pitchFamily="2" charset="-122"/>
              </a:rPr>
              <a:t>再</a:t>
            </a:r>
            <a:r>
              <a:rPr lang="zh-CN" altLang="en-US" sz="2800" b="1">
                <a:latin typeface="华文中宋" panose="02010600040101010101" pitchFamily="2" charset="-122"/>
              </a:rPr>
              <a:t>设     </a:t>
            </a:r>
            <a:r>
              <a:rPr lang="en-US" altLang="zh-CN" sz="2800" b="1">
                <a:latin typeface="华文中宋" panose="02010600040101010101" pitchFamily="2" charset="-122"/>
              </a:rPr>
              <a:t>v:  60  100  120 </a:t>
            </a:r>
          </a:p>
          <a:p>
            <a:pPr marL="533400" indent="-533400" eaLnBrk="1" hangingPunct="1">
              <a:buFontTx/>
              <a:buNone/>
            </a:pPr>
            <a:r>
              <a:rPr lang="en-US" altLang="zh-CN" sz="2800" b="1">
                <a:latin typeface="华文中宋" panose="02010600040101010101" pitchFamily="2" charset="-122"/>
              </a:rPr>
              <a:t>            w:  10   20   30</a:t>
            </a:r>
          </a:p>
          <a:p>
            <a:pPr marL="533400" indent="-533400" eaLnBrk="1" hangingPunct="1">
              <a:buFontTx/>
              <a:buNone/>
            </a:pPr>
            <a:r>
              <a:rPr lang="zh-CN" altLang="en-US" sz="2800" b="1">
                <a:latin typeface="华文中宋" panose="02010600040101010101" pitchFamily="2" charset="-122"/>
              </a:rPr>
              <a:t>现 </a:t>
            </a:r>
            <a:r>
              <a:rPr lang="en-US" altLang="zh-CN" sz="2800" b="1">
                <a:latin typeface="华文中宋" panose="02010600040101010101" pitchFamily="2" charset="-122"/>
              </a:rPr>
              <a:t>c=50</a:t>
            </a:r>
            <a:r>
              <a:rPr lang="zh-CN" altLang="en-US" sz="2800" b="1">
                <a:latin typeface="华文中宋" panose="02010600040101010101" pitchFamily="2" charset="-122"/>
              </a:rPr>
              <a:t>，其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一般</a:t>
            </a:r>
            <a:r>
              <a:rPr kumimoji="0"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背包问题</a:t>
            </a:r>
            <a:r>
              <a:rPr kumimoji="0" lang="zh-CN" altLang="en-US" sz="2800" b="1">
                <a:latin typeface="华文中宋" panose="02010600040101010101" pitchFamily="2" charset="-122"/>
              </a:rPr>
              <a:t>能用贪心算法求解。</a:t>
            </a:r>
          </a:p>
          <a:p>
            <a:pPr marL="533400" indent="-533400" eaLnBrk="1" hangingPunct="1">
              <a:buFontTx/>
              <a:buNone/>
            </a:pPr>
            <a:r>
              <a:rPr kumimoji="0" lang="zh-CN" altLang="en-US" sz="2800" b="1">
                <a:latin typeface="华文中宋" panose="02010600040101010101" pitchFamily="2" charset="-122"/>
              </a:rPr>
              <a:t>显然，可选物品</a:t>
            </a:r>
            <a:r>
              <a:rPr kumimoji="0" lang="en-US" altLang="zh-CN" sz="2800" b="1">
                <a:latin typeface="华文中宋" panose="02010600040101010101" pitchFamily="2" charset="-122"/>
              </a:rPr>
              <a:t>1</a:t>
            </a:r>
            <a:r>
              <a:rPr kumimoji="0" lang="zh-CN" altLang="en-US" sz="2800" b="1">
                <a:latin typeface="华文中宋" panose="02010600040101010101" pitchFamily="2" charset="-122"/>
              </a:rPr>
              <a:t>、</a:t>
            </a:r>
            <a:r>
              <a:rPr kumimoji="0" lang="en-US" altLang="zh-CN" sz="2800" b="1">
                <a:latin typeface="华文中宋" panose="02010600040101010101" pitchFamily="2" charset="-122"/>
              </a:rPr>
              <a:t>2</a:t>
            </a:r>
            <a:r>
              <a:rPr kumimoji="0" lang="zh-CN" altLang="en-US" sz="2800" b="1">
                <a:latin typeface="华文中宋" panose="02010600040101010101" pitchFamily="2" charset="-122"/>
              </a:rPr>
              <a:t>全部，物品</a:t>
            </a:r>
            <a:r>
              <a:rPr kumimoji="0" lang="en-US" altLang="zh-CN" sz="2800" b="1">
                <a:latin typeface="华文中宋" panose="02010600040101010101" pitchFamily="2" charset="-122"/>
              </a:rPr>
              <a:t>3</a:t>
            </a:r>
            <a:r>
              <a:rPr kumimoji="0" lang="zh-CN" altLang="en-US" sz="2800" b="1">
                <a:latin typeface="华文中宋" panose="02010600040101010101" pitchFamily="2" charset="-122"/>
              </a:rPr>
              <a:t>部分，对应的价值为</a:t>
            </a:r>
            <a:r>
              <a:rPr kumimoji="0" lang="en-US" altLang="zh-CN" sz="2800" b="1">
                <a:latin typeface="华文中宋" panose="02010600040101010101" pitchFamily="2" charset="-122"/>
              </a:rPr>
              <a:t>240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1C4F4FE-E366-442D-95D7-C6BD945B9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600" b="1">
                <a:solidFill>
                  <a:srgbClr val="AC2F36"/>
                </a:solidFill>
                <a:latin typeface="华文中宋" panose="02010600040101010101" pitchFamily="2" charset="-122"/>
              </a:rPr>
              <a:t>一般</a:t>
            </a:r>
            <a:r>
              <a:rPr kumimoji="0" lang="zh-CN" altLang="en-US" sz="3600" b="1">
                <a:solidFill>
                  <a:srgbClr val="AC2F36"/>
                </a:solidFill>
                <a:latin typeface="华文中宋" panose="02010600040101010101" pitchFamily="2" charset="-122"/>
              </a:rPr>
              <a:t>背包问题的选择策略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4451B717-D080-4552-B706-3DE711F15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286000"/>
            <a:ext cx="7772400" cy="1295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1.  </a:t>
            </a:r>
            <a:r>
              <a:rPr lang="zh-CN" altLang="en-US" sz="2800" b="1"/>
              <a:t>以“</a:t>
            </a:r>
            <a:r>
              <a:rPr lang="en-US" altLang="zh-CN" sz="2800" b="1">
                <a:solidFill>
                  <a:srgbClr val="FF0000"/>
                </a:solidFill>
              </a:rPr>
              <a:t>v</a:t>
            </a:r>
            <a:r>
              <a:rPr lang="en-US" altLang="zh-CN" sz="2800" b="1" baseline="-25000">
                <a:solidFill>
                  <a:srgbClr val="FF0000"/>
                </a:solidFill>
              </a:rPr>
              <a:t>i</a:t>
            </a:r>
            <a:r>
              <a:rPr lang="zh-CN" altLang="en-US" sz="2800" b="1">
                <a:solidFill>
                  <a:srgbClr val="FF0000"/>
                </a:solidFill>
              </a:rPr>
              <a:t>从大到小排列输入</a:t>
            </a:r>
            <a:r>
              <a:rPr lang="zh-CN" altLang="en-US" sz="2800" b="1"/>
              <a:t>”为选择标准：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         </a:t>
            </a:r>
            <a:r>
              <a:rPr lang="en-US" altLang="zh-CN" sz="2800" b="1"/>
              <a:t>( 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 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  x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 ) = (2/15, 0,  1)     v = 28.2 </a:t>
            </a: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B035BF78-6DCD-49C0-A231-5ABD96C1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92538"/>
            <a:ext cx="85344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  2.  </a:t>
            </a: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以“</a:t>
            </a:r>
            <a:r>
              <a:rPr lang="en-US" altLang="zh-CN" sz="280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w</a:t>
            </a:r>
            <a:r>
              <a:rPr lang="en-US" altLang="zh-CN" sz="2800" baseline="-2500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 sz="280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从小到大排列输入</a:t>
            </a: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”为选择标准：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         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( x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,  x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,  x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3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 ) = (10/15, 1,  0 )    v = 31</a:t>
            </a:r>
          </a:p>
        </p:txBody>
      </p:sp>
      <p:sp>
        <p:nvSpPr>
          <p:cNvPr id="63493" name="Text Box 5">
            <a:extLst>
              <a:ext uri="{FF2B5EF4-FFF2-40B4-BE49-F238E27FC236}">
                <a16:creationId xmlns:a16="http://schemas.microsoft.com/office/drawing/2014/main" id="{9918C5F6-2975-4D13-BFA3-58F5CB2F8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087938"/>
            <a:ext cx="85344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  3.  </a:t>
            </a: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以“</a:t>
            </a:r>
            <a:r>
              <a:rPr lang="en-US" altLang="zh-CN" sz="280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v</a:t>
            </a:r>
            <a:r>
              <a:rPr lang="en-US" altLang="zh-CN" sz="2800" baseline="-2500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80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/w</a:t>
            </a:r>
            <a:r>
              <a:rPr lang="en-US" altLang="zh-CN" sz="2800" baseline="-2500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 sz="280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从大到小排列输入</a:t>
            </a: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”为选择标准：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         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( x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,  x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,  x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3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 ) = ( 1, 5/10, 0 )        v = 31.5</a:t>
            </a:r>
          </a:p>
        </p:txBody>
      </p:sp>
      <p:sp>
        <p:nvSpPr>
          <p:cNvPr id="63494" name="Text Box 6">
            <a:extLst>
              <a:ext uri="{FF2B5EF4-FFF2-40B4-BE49-F238E27FC236}">
                <a16:creationId xmlns:a16="http://schemas.microsoft.com/office/drawing/2014/main" id="{BE3A97FE-3E48-4208-899B-0420FA9AE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73138"/>
            <a:ext cx="8763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例：设       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n = 3,      c = 20   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 (v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,  v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,  v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3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) = ( 24, 15,  25 ) ,  (w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, w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, w</a:t>
            </a:r>
            <a:r>
              <a:rPr lang="en-US" altLang="zh-CN" sz="280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3</a:t>
            </a:r>
            <a:r>
              <a:rPr lang="en-US" altLang="zh-CN" sz="2800">
                <a:latin typeface="Palatino Linotype" panose="02040502050505030304" pitchFamily="18" charset="0"/>
                <a:ea typeface="华文中宋" panose="02010600040101010101" pitchFamily="2" charset="-122"/>
              </a:rPr>
              <a:t>) = ( 15, 10,  18 )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  <p:bldP spid="63492" grpId="0" autoUpdateAnimBg="0"/>
      <p:bldP spid="63493" grpId="0" autoUpdateAnimBg="0"/>
      <p:bldP spid="6349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085E4A1-98D0-4F82-8D90-61873CC37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latin typeface="华文中宋" panose="02010600040101010101" pitchFamily="2" charset="-122"/>
              </a:rPr>
              <a:t>一般</a:t>
            </a:r>
            <a:r>
              <a:rPr kumimoji="0" lang="zh-CN" altLang="en-US" sz="4000" b="1">
                <a:latin typeface="华文中宋" panose="02010600040101010101" pitchFamily="2" charset="-122"/>
              </a:rPr>
              <a:t>背包问题的贪心算法复杂性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F230208-C2A3-4E28-A466-6C23196A9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/>
              <a:t>算法：</a:t>
            </a:r>
            <a:r>
              <a:rPr lang="en-US" altLang="zh-CN" b="1"/>
              <a:t>knapsack</a:t>
            </a:r>
          </a:p>
          <a:p>
            <a:pPr eaLnBrk="1" hangingPunct="1"/>
            <a:r>
              <a:rPr lang="zh-CN" altLang="en-US" b="1"/>
              <a:t>复杂性：</a:t>
            </a:r>
            <a:r>
              <a:rPr lang="en-US" altLang="zh-CN" b="1"/>
              <a:t>O(n log n)</a:t>
            </a:r>
            <a:r>
              <a:rPr lang="zh-CN" altLang="en-US" b="1"/>
              <a:t>，排序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1B0FB91-3F00-49BD-B83E-067656542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4384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>
                <a:solidFill>
                  <a:srgbClr val="AC2F36"/>
                </a:solidFill>
                <a:latin typeface="华文中宋" panose="02010600040101010101" pitchFamily="2" charset="-122"/>
              </a:rPr>
              <a:t>4.3 </a:t>
            </a:r>
            <a:r>
              <a:rPr lang="zh-CN" altLang="en-US" b="1">
                <a:solidFill>
                  <a:srgbClr val="AC2F36"/>
                </a:solidFill>
                <a:latin typeface="华文中宋" panose="02010600040101010101" pitchFamily="2" charset="-122"/>
              </a:rPr>
              <a:t>最优装载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34DD7CD-3359-438B-B88B-A51A4A0A6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1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、最优装载问题描述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E42EDD53-97FA-4F5B-8862-1E22CD8E0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8001000" cy="3886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000000"/>
                </a:solidFill>
              </a:rPr>
              <a:t>问题描述：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       有一批集装箱要装上一艘载重量为</a:t>
            </a:r>
            <a:r>
              <a:rPr lang="en-US" altLang="zh-CN" sz="2800" b="1">
                <a:solidFill>
                  <a:srgbClr val="000000"/>
                </a:solidFill>
              </a:rPr>
              <a:t>c</a:t>
            </a:r>
            <a:r>
              <a:rPr lang="zh-CN" altLang="en-US" sz="2800" b="1">
                <a:solidFill>
                  <a:srgbClr val="000000"/>
                </a:solidFill>
              </a:rPr>
              <a:t>的轮船。其中集装箱</a:t>
            </a:r>
            <a:r>
              <a:rPr lang="en-US" altLang="zh-CN" sz="2800" b="1">
                <a:solidFill>
                  <a:srgbClr val="000000"/>
                </a:solidFill>
              </a:rPr>
              <a:t>i</a:t>
            </a:r>
            <a:r>
              <a:rPr lang="zh-CN" altLang="en-US" sz="2800" b="1">
                <a:solidFill>
                  <a:srgbClr val="000000"/>
                </a:solidFill>
              </a:rPr>
              <a:t>的重量为</a:t>
            </a:r>
            <a:r>
              <a:rPr lang="en-US" altLang="zh-CN" sz="2800" b="1">
                <a:solidFill>
                  <a:srgbClr val="000000"/>
                </a:solidFill>
              </a:rPr>
              <a:t>w</a:t>
            </a:r>
            <a:r>
              <a:rPr lang="en-US" altLang="zh-CN" sz="2800" b="1" baseline="-25000">
                <a:solidFill>
                  <a:srgbClr val="000000"/>
                </a:solidFill>
              </a:rPr>
              <a:t>i</a:t>
            </a:r>
            <a:r>
              <a:rPr lang="zh-CN" altLang="en-US" sz="2800" b="1">
                <a:solidFill>
                  <a:srgbClr val="000000"/>
                </a:solidFill>
              </a:rPr>
              <a:t>。最优装载问题要求确定在装载体积不受限制的情况下，将尽可能多的集装箱装上轮船。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A2815677-F16B-4337-86DB-3A686FDA8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2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、算法描述</a:t>
            </a:r>
            <a:endParaRPr lang="zh-CN" altLang="en-US">
              <a:solidFill>
                <a:srgbClr val="AC2F36"/>
              </a:solidFill>
              <a:latin typeface="华文中宋" panose="02010600040101010101" pitchFamily="2" charset="-122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587F60D-20FB-4D15-AA88-0951F686FC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/>
            <a:r>
              <a:rPr lang="zh-CN" altLang="en-US" sz="2800" b="1">
                <a:latin typeface="华文中宋" panose="02010600040101010101" pitchFamily="2" charset="-122"/>
              </a:rPr>
              <a:t>如果用</a:t>
            </a:r>
            <a:r>
              <a:rPr lang="en-US" altLang="zh-CN" sz="2800" b="1">
                <a:latin typeface="华文中宋" panose="02010600040101010101" pitchFamily="2" charset="-122"/>
              </a:rPr>
              <a:t>x</a:t>
            </a:r>
            <a:r>
              <a:rPr lang="en-US" altLang="zh-CN" sz="2800" b="1" baseline="-25000">
                <a:latin typeface="华文中宋" panose="02010600040101010101" pitchFamily="2" charset="-122"/>
              </a:rPr>
              <a:t>i</a:t>
            </a:r>
            <a:r>
              <a:rPr lang="en-US" altLang="zh-CN" sz="2800" b="1">
                <a:latin typeface="华文中宋" panose="02010600040101010101" pitchFamily="2" charset="-122"/>
              </a:rPr>
              <a:t>=1</a:t>
            </a:r>
            <a:r>
              <a:rPr lang="zh-CN" altLang="en-US" sz="2800" b="1">
                <a:latin typeface="华文中宋" panose="02010600040101010101" pitchFamily="2" charset="-122"/>
              </a:rPr>
              <a:t>表示将第</a:t>
            </a:r>
            <a:r>
              <a:rPr lang="en-US" altLang="zh-CN" sz="2800" b="1"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latin typeface="华文中宋" panose="02010600040101010101" pitchFamily="2" charset="-122"/>
              </a:rPr>
              <a:t>件集装箱装入船，用</a:t>
            </a:r>
            <a:r>
              <a:rPr lang="en-US" altLang="zh-CN" sz="2800" b="1">
                <a:latin typeface="华文中宋" panose="02010600040101010101" pitchFamily="2" charset="-122"/>
              </a:rPr>
              <a:t>x</a:t>
            </a:r>
            <a:r>
              <a:rPr lang="en-US" altLang="zh-CN" sz="2800" b="1" baseline="-25000">
                <a:latin typeface="华文中宋" panose="02010600040101010101" pitchFamily="2" charset="-122"/>
              </a:rPr>
              <a:t>i</a:t>
            </a:r>
            <a:r>
              <a:rPr lang="en-US" altLang="zh-CN" sz="2800" b="1">
                <a:latin typeface="华文中宋" panose="02010600040101010101" pitchFamily="2" charset="-122"/>
              </a:rPr>
              <a:t>=0</a:t>
            </a:r>
            <a:r>
              <a:rPr lang="zh-CN" altLang="en-US" sz="2800" b="1">
                <a:latin typeface="华文中宋" panose="02010600040101010101" pitchFamily="2" charset="-122"/>
              </a:rPr>
              <a:t>表示未放入，则问题变为选择一组</a:t>
            </a:r>
            <a:r>
              <a:rPr lang="en-US" altLang="zh-CN" sz="2800" b="1">
                <a:latin typeface="华文中宋" panose="02010600040101010101" pitchFamily="2" charset="-122"/>
              </a:rPr>
              <a:t>x</a:t>
            </a:r>
            <a:r>
              <a:rPr lang="en-US" altLang="zh-CN" sz="2800" b="1" baseline="-25000"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latin typeface="华文中宋" panose="02010600040101010101" pitchFamily="2" charset="-122"/>
              </a:rPr>
              <a:t>（</a:t>
            </a:r>
            <a:r>
              <a:rPr lang="en-US" altLang="zh-CN" sz="2800" b="1">
                <a:latin typeface="华文中宋" panose="02010600040101010101" pitchFamily="2" charset="-122"/>
              </a:rPr>
              <a:t>i=0,1</a:t>
            </a:r>
            <a:r>
              <a:rPr lang="zh-CN" altLang="en-US" sz="2800" b="1">
                <a:latin typeface="华文中宋" panose="02010600040101010101" pitchFamily="2" charset="-122"/>
              </a:rPr>
              <a:t>）使得</a:t>
            </a:r>
            <a:endParaRPr lang="zh-CN" altLang="en-US"/>
          </a:p>
        </p:txBody>
      </p:sp>
      <p:sp>
        <p:nvSpPr>
          <p:cNvPr id="41988" name="Rectangle 7">
            <a:extLst>
              <a:ext uri="{FF2B5EF4-FFF2-40B4-BE49-F238E27FC236}">
                <a16:creationId xmlns:a16="http://schemas.microsoft.com/office/drawing/2014/main" id="{69BCAEB3-6F7A-410D-86EF-589FDD96E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3316288"/>
            <a:ext cx="1063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0">
                <a:solidFill>
                  <a:srgbClr val="000000"/>
                </a:solidFill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endParaRPr lang="en-US" altLang="zh-CN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41989" name="Rectangle 9">
            <a:extLst>
              <a:ext uri="{FF2B5EF4-FFF2-40B4-BE49-F238E27FC236}">
                <a16:creationId xmlns:a16="http://schemas.microsoft.com/office/drawing/2014/main" id="{FCB446C9-3319-4A63-B43C-B1E5D88C5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338513"/>
            <a:ext cx="523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b="0" i="1">
                <a:solidFill>
                  <a:srgbClr val="0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endParaRPr lang="en-US" altLang="zh-CN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41990" name="Group 16">
            <a:extLst>
              <a:ext uri="{FF2B5EF4-FFF2-40B4-BE49-F238E27FC236}">
                <a16:creationId xmlns:a16="http://schemas.microsoft.com/office/drawing/2014/main" id="{A671805B-A7C4-4B42-A648-D9D08AE2BE06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681288"/>
            <a:ext cx="1295400" cy="885825"/>
            <a:chOff x="2016" y="1689"/>
            <a:chExt cx="816" cy="558"/>
          </a:xfrm>
        </p:grpSpPr>
        <p:sp>
          <p:nvSpPr>
            <p:cNvPr id="41993" name="Rectangle 6">
              <a:extLst>
                <a:ext uri="{FF2B5EF4-FFF2-40B4-BE49-F238E27FC236}">
                  <a16:creationId xmlns:a16="http://schemas.microsoft.com/office/drawing/2014/main" id="{D24C362F-E5C7-4F3E-9321-D53A5D811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0" y="1824"/>
              <a:ext cx="15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</a:t>
              </a:r>
              <a:endParaRPr lang="en-US" altLang="zh-CN" sz="320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1994" name="Rectangle 8">
              <a:extLst>
                <a:ext uri="{FF2B5EF4-FFF2-40B4-BE49-F238E27FC236}">
                  <a16:creationId xmlns:a16="http://schemas.microsoft.com/office/drawing/2014/main" id="{FFC383B5-F274-470F-B644-B20897EA4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1" y="1689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500" b="0" i="1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n</a:t>
              </a:r>
              <a:endParaRPr lang="en-US" altLang="zh-CN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1995" name="Rectangle 12">
              <a:extLst>
                <a:ext uri="{FF2B5EF4-FFF2-40B4-BE49-F238E27FC236}">
                  <a16:creationId xmlns:a16="http://schemas.microsoft.com/office/drawing/2014/main" id="{3D14970C-223E-48D0-AED5-5C953EDDB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824"/>
              <a:ext cx="1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600" b="0" i="1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x</a:t>
              </a:r>
              <a:r>
                <a:rPr lang="en-US" altLang="zh-CN" sz="2600" b="0" i="1" baseline="-2500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i</a:t>
              </a:r>
            </a:p>
          </p:txBody>
        </p:sp>
        <p:sp>
          <p:nvSpPr>
            <p:cNvPr id="41996" name="Rectangle 14">
              <a:extLst>
                <a:ext uri="{FF2B5EF4-FFF2-40B4-BE49-F238E27FC236}">
                  <a16:creationId xmlns:a16="http://schemas.microsoft.com/office/drawing/2014/main" id="{8C9746F7-91F2-48AA-9551-D9E257277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102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500" b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  <a:endParaRPr lang="en-US" altLang="zh-CN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1997" name="Rectangle 15">
              <a:extLst>
                <a:ext uri="{FF2B5EF4-FFF2-40B4-BE49-F238E27FC236}">
                  <a16:creationId xmlns:a16="http://schemas.microsoft.com/office/drawing/2014/main" id="{67CF8DB8-CCF4-4E9E-9C92-F6F14B70E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824"/>
              <a:ext cx="39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600" b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max</a:t>
              </a:r>
              <a:endParaRPr lang="en-US" altLang="zh-CN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graphicFrame>
        <p:nvGraphicFramePr>
          <p:cNvPr id="61445" name="Object 5">
            <a:extLst>
              <a:ext uri="{FF2B5EF4-FFF2-40B4-BE49-F238E27FC236}">
                <a16:creationId xmlns:a16="http://schemas.microsoft.com/office/drawing/2014/main" id="{FD1A7CE9-2B0E-4B43-AB81-3D86B646E5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3688" y="3597275"/>
          <a:ext cx="3452812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18671" imgH="634725" progId="Equation.3">
                  <p:embed/>
                </p:oleObj>
              </mc:Choice>
              <mc:Fallback>
                <p:oleObj name="公式" r:id="rId2" imgW="1218671" imgH="63472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3597275"/>
                        <a:ext cx="3452812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7" name="Text Box 17">
            <a:extLst>
              <a:ext uri="{FF2B5EF4-FFF2-40B4-BE49-F238E27FC236}">
                <a16:creationId xmlns:a16="http://schemas.microsoft.com/office/drawing/2014/main" id="{E3EFD026-9A9B-43C9-91D8-D98FE24AD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94360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与</a:t>
            </a:r>
            <a:r>
              <a:rPr lang="en-US" altLang="zh-CN" sz="280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0-1</a:t>
            </a:r>
            <a:r>
              <a:rPr lang="zh-CN" altLang="en-US" sz="280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背包问题的差异在哪儿？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5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4173BC6-40F9-477A-B48B-2CD7EA7B4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3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、策略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C3EC1A4-ED41-40A0-824D-8D64891BC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3429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indent="-533400" eaLnBrk="1" hangingPunct="1"/>
            <a:r>
              <a:rPr lang="zh-CN" altLang="en-US" sz="2800" b="1"/>
              <a:t>最优装载问题可用贪心算法求解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sz="2800" b="1">
                <a:solidFill>
                  <a:srgbClr val="FF0000"/>
                </a:solidFill>
              </a:rPr>
              <a:t>确定贪心选择策略：</a:t>
            </a:r>
            <a:r>
              <a:rPr lang="zh-CN" altLang="en-US" sz="2800" b="1"/>
              <a:t>采用重量最轻者先装，可产生最优装载问题的最优解。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sz="2800" b="1"/>
              <a:t>步骤：</a:t>
            </a:r>
          </a:p>
          <a:p>
            <a:pPr marL="533400" indent="-533400" eaLnBrk="1" hangingPunct="1"/>
            <a:r>
              <a:rPr lang="zh-CN" altLang="en-US" sz="2800" b="1">
                <a:solidFill>
                  <a:srgbClr val="FF0000"/>
                </a:solidFill>
              </a:rPr>
              <a:t>预备：</a:t>
            </a:r>
            <a:r>
              <a:rPr lang="zh-CN" altLang="en-US" sz="2800" b="1"/>
              <a:t>先对货物按重量从轻到重排序</a:t>
            </a:r>
          </a:p>
          <a:p>
            <a:pPr marL="533400" indent="-533400" eaLnBrk="1" hangingPunct="1"/>
            <a:r>
              <a:rPr lang="zh-CN" altLang="en-US" sz="2800" b="1">
                <a:solidFill>
                  <a:srgbClr val="FF0000"/>
                </a:solidFill>
              </a:rPr>
              <a:t>策略：</a:t>
            </a:r>
            <a:r>
              <a:rPr lang="zh-CN" altLang="en-US" sz="2800" b="1"/>
              <a:t>依次按最轻者装入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F8DC164-A528-4FB7-AB2A-28FFBF985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AC2F36"/>
                </a:solidFill>
              </a:rPr>
              <a:t>4</a:t>
            </a:r>
            <a:r>
              <a:rPr lang="zh-CN" altLang="en-US" sz="4000" b="1">
                <a:solidFill>
                  <a:srgbClr val="AC2F36"/>
                </a:solidFill>
              </a:rPr>
              <a:t>、两个性质需证明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5961EF0-4B09-429F-9901-9EC9123DD1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3119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贪心选择性质</a:t>
            </a:r>
          </a:p>
          <a:p>
            <a:pPr eaLnBrk="1" hangingPunct="1">
              <a:buFontTx/>
              <a:buNone/>
            </a:pPr>
            <a:r>
              <a:rPr lang="zh-CN" altLang="en-US" sz="2800">
                <a:latin typeface="华文中宋" panose="02010600040101010101" pitchFamily="2" charset="-122"/>
              </a:rPr>
              <a:t>  	可以证明最优装载问题具有贪心选择性质</a:t>
            </a:r>
            <a:r>
              <a:rPr lang="zh-CN" altLang="en-US" sz="2400">
                <a:latin typeface="华文中宋" panose="02010600040101010101" pitchFamily="2" charset="-122"/>
              </a:rPr>
              <a:t>。</a:t>
            </a:r>
          </a:p>
          <a:p>
            <a:pPr eaLnBrk="1" hangingPunct="1">
              <a:buFontTx/>
              <a:buNone/>
            </a:pPr>
            <a:r>
              <a:rPr lang="zh-CN" altLang="en-US" sz="2400">
                <a:latin typeface="华文中宋" panose="02010600040101010101" pitchFamily="2" charset="-122"/>
              </a:rPr>
              <a:t> </a:t>
            </a:r>
          </a:p>
          <a:p>
            <a:pPr eaLnBrk="1" hangingPunct="1">
              <a:buFontTx/>
              <a:buNone/>
            </a:pPr>
            <a:r>
              <a:rPr lang="en-US" altLang="zh-CN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最优子结构性质</a:t>
            </a:r>
          </a:p>
          <a:p>
            <a:pPr eaLnBrk="1" hangingPunct="1">
              <a:buFontTx/>
              <a:buNone/>
            </a:pPr>
            <a:r>
              <a:rPr lang="zh-CN" altLang="en-US" sz="2400"/>
              <a:t>	</a:t>
            </a:r>
            <a:r>
              <a:rPr lang="zh-CN" altLang="en-US" sz="2800"/>
              <a:t>最优装载问题具有最优子结构性质。</a:t>
            </a:r>
          </a:p>
          <a:p>
            <a:pPr eaLnBrk="1" hangingPunct="1">
              <a:buFontTx/>
              <a:buNone/>
            </a:pPr>
            <a:r>
              <a:rPr lang="zh-CN" altLang="en-US" sz="2800">
                <a:latin typeface="华文中宋" panose="02010600040101010101" pitchFamily="2" charset="-122"/>
              </a:rPr>
              <a:t>	</a:t>
            </a:r>
          </a:p>
        </p:txBody>
      </p:sp>
      <p:sp>
        <p:nvSpPr>
          <p:cNvPr id="44036" name="TextBox 4">
            <a:extLst>
              <a:ext uri="{FF2B5EF4-FFF2-40B4-BE49-F238E27FC236}">
                <a16:creationId xmlns:a16="http://schemas.microsoft.com/office/drawing/2014/main" id="{7226F587-4D03-4D21-8186-7CFC67390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4572000"/>
            <a:ext cx="4857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证明需掌握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BB1EB0A-3865-4A49-88F2-950D7BBC3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5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、最优算法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04B32C26-505C-4677-A800-DA1822BA23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12875"/>
            <a:ext cx="7772400" cy="480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void  </a:t>
            </a:r>
            <a:r>
              <a:rPr lang="en-US" altLang="zh-CN" sz="2000" b="1">
                <a:solidFill>
                  <a:srgbClr val="7030A0"/>
                </a:solidFill>
                <a:latin typeface="Input" panose="02000506020000090004" pitchFamily="2" charset="0"/>
              </a:rPr>
              <a:t>Loading</a:t>
            </a:r>
            <a:r>
              <a:rPr lang="en-US" altLang="zh-CN" sz="2000" b="1">
                <a:latin typeface="Input" panose="02000506020000090004" pitchFamily="2" charset="0"/>
              </a:rPr>
              <a:t>(int </a:t>
            </a:r>
            <a:r>
              <a:rPr lang="en-US" altLang="zh-CN" sz="2000" b="1">
                <a:solidFill>
                  <a:schemeClr val="accent1"/>
                </a:solidFill>
                <a:latin typeface="Input" panose="02000506020000090004" pitchFamily="2" charset="0"/>
              </a:rPr>
              <a:t>x</a:t>
            </a:r>
            <a:r>
              <a:rPr lang="en-US" altLang="zh-CN" sz="2000" b="1">
                <a:latin typeface="Input" panose="02000506020000090004" pitchFamily="2" charset="0"/>
              </a:rPr>
              <a:t>[],  int </a:t>
            </a:r>
            <a:r>
              <a:rPr lang="en-US" altLang="zh-CN" sz="2000" b="1">
                <a:solidFill>
                  <a:schemeClr val="accent1"/>
                </a:solidFill>
                <a:latin typeface="Input" panose="02000506020000090004" pitchFamily="2" charset="0"/>
              </a:rPr>
              <a:t>w</a:t>
            </a:r>
            <a:r>
              <a:rPr lang="en-US" altLang="zh-CN" sz="2000" b="1">
                <a:latin typeface="Input" panose="02000506020000090004" pitchFamily="2" charset="0"/>
              </a:rPr>
              <a:t>[], int </a:t>
            </a:r>
            <a:r>
              <a:rPr lang="en-US" altLang="zh-CN" sz="2000" b="1">
                <a:solidFill>
                  <a:schemeClr val="accent1"/>
                </a:solidFill>
                <a:latin typeface="Input" panose="02000506020000090004" pitchFamily="2" charset="0"/>
              </a:rPr>
              <a:t>c</a:t>
            </a:r>
            <a:r>
              <a:rPr lang="en-US" altLang="zh-CN" sz="2000" b="1">
                <a:latin typeface="Input" panose="02000506020000090004" pitchFamily="2" charset="0"/>
              </a:rPr>
              <a:t>, int </a:t>
            </a:r>
            <a:r>
              <a:rPr lang="en-US" altLang="zh-CN" sz="2000" b="1">
                <a:solidFill>
                  <a:schemeClr val="accent1"/>
                </a:solidFill>
                <a:latin typeface="Input" panose="02000506020000090004" pitchFamily="2" charset="0"/>
              </a:rPr>
              <a:t>n</a:t>
            </a:r>
            <a:r>
              <a:rPr lang="en-US" altLang="zh-CN" sz="2000" b="1">
                <a:latin typeface="Input" panose="02000506020000090004" pitchFamily="2" charset="0"/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  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      int *t=new int [n+1],  val;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      Sort(w, t, n); val=0;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      for (int i = 1; i &lt;= n; i++)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          x[i] =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      for (int i = 1; i &lt;= n&amp;&amp;w[t[i]]&lt;=c;  i++)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          x[t[i]] = 1;val=val+ v[t[i]];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          c - = w[t[i]];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      return val;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Input" panose="02000506020000090004" pitchFamily="2" charset="0"/>
              </a:rPr>
              <a:t>   }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F41C1583-21D6-48D4-BF59-F4CDBC3FB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445125"/>
            <a:ext cx="6781800" cy="977900"/>
          </a:xfrm>
          <a:prstGeom prst="rect">
            <a:avLst/>
          </a:prstGeom>
          <a:solidFill>
            <a:srgbClr val="FFFF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lIns="18000" rIns="180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0">
                <a:latin typeface="华文中宋" panose="02010600040101010101" pitchFamily="2" charset="-122"/>
                <a:ea typeface="华文中宋" panose="02010600040101010101" pitchFamily="2" charset="-122"/>
              </a:rPr>
              <a:t>由最优装载问题的贪心选择性质和最优子结构性质，证明算法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loading</a:t>
            </a:r>
            <a:r>
              <a:rPr lang="zh-CN" altLang="en-US" sz="2800" b="0">
                <a:latin typeface="华文中宋" panose="02010600040101010101" pitchFamily="2" charset="-122"/>
                <a:ea typeface="华文中宋" panose="02010600040101010101" pitchFamily="2" charset="-122"/>
              </a:rPr>
              <a:t>的正确性。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autoUpdateAnimBg="0"/>
      <p:bldP spid="58372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A8C13C5-0C1B-4CA2-AE24-4E88A58B1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600" b="1"/>
              <a:t>6</a:t>
            </a:r>
            <a:r>
              <a:rPr lang="zh-CN" altLang="en-US" sz="3600" b="1"/>
              <a:t>、复杂性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A58DC01-695A-4CEF-8B15-575838642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算法</a:t>
            </a:r>
            <a:r>
              <a:rPr lang="en-US" altLang="zh-CN" sz="2800" b="1">
                <a:latin typeface="Input" panose="02000506020000090004" pitchFamily="2" charset="0"/>
              </a:rPr>
              <a:t>loading</a:t>
            </a:r>
            <a:r>
              <a:rPr lang="zh-CN" altLang="en-US" sz="2800" b="1">
                <a:latin typeface="华文中宋" panose="02010600040101010101" pitchFamily="2" charset="-122"/>
              </a:rPr>
              <a:t>的主要计算量在于将集装箱依其重量从小到大排序，故算法所需的计算时间为 </a:t>
            </a:r>
            <a:r>
              <a:rPr lang="en-US" altLang="zh-CN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O(nlog n)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800" b="1"/>
              <a:t> </a:t>
            </a:r>
          </a:p>
          <a:p>
            <a:pPr eaLnBrk="1" hangingPunct="1">
              <a:lnSpc>
                <a:spcPct val="120000"/>
              </a:lnSpc>
            </a:pPr>
            <a:endParaRPr lang="en-US" altLang="zh-CN" sz="28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D13E3F88-060E-483F-B7FE-41A351D99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0574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>
                <a:solidFill>
                  <a:srgbClr val="AC2F36"/>
                </a:solidFill>
                <a:latin typeface="华文中宋" panose="02010600040101010101" pitchFamily="2" charset="-122"/>
              </a:rPr>
              <a:t>4.4 </a:t>
            </a:r>
            <a:r>
              <a:rPr lang="zh-CN" altLang="en-US" b="1">
                <a:solidFill>
                  <a:srgbClr val="AC2F36"/>
                </a:solidFill>
                <a:latin typeface="华文中宋" panose="02010600040101010101" pitchFamily="2" charset="-122"/>
              </a:rPr>
              <a:t>哈夫曼编码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309474-9EA6-4F02-8B6E-0F45E3B02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3571875"/>
            <a:ext cx="7772400" cy="2524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sz="2800">
                <a:latin typeface="华文中宋" panose="02010600040101010101" pitchFamily="2" charset="-122"/>
              </a:rPr>
              <a:t>	</a:t>
            </a:r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71166F1-6ED1-47D4-A204-083B282992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/>
              <a:t>问    题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8EB4240D-7235-40BB-A57C-D8CE930027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2438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/>
              <a:t>一个文件含</a:t>
            </a:r>
            <a:r>
              <a:rPr lang="en-US" altLang="zh-CN" sz="2800" b="1"/>
              <a:t>100,000</a:t>
            </a:r>
            <a:r>
              <a:rPr lang="zh-CN" altLang="en-US" sz="2800" b="1"/>
              <a:t>个字符，共有</a:t>
            </a:r>
            <a:r>
              <a:rPr lang="en-US" altLang="zh-CN" sz="2800" b="1"/>
              <a:t>6</a:t>
            </a:r>
            <a:r>
              <a:rPr lang="zh-CN" altLang="en-US" sz="2800" b="1"/>
              <a:t>个字母</a:t>
            </a:r>
            <a:r>
              <a:rPr lang="en-US" altLang="zh-CN" sz="2800" b="1"/>
              <a:t>a,b,c,d,e,f</a:t>
            </a:r>
            <a:r>
              <a:rPr lang="zh-CN" altLang="en-US" sz="2800" b="1"/>
              <a:t>出现，频率如下：</a:t>
            </a:r>
          </a:p>
          <a:p>
            <a:pPr eaLnBrk="1" hangingPunct="1">
              <a:buFontTx/>
              <a:buNone/>
            </a:pPr>
            <a:r>
              <a:rPr lang="zh-CN" altLang="en-US" sz="2800" b="1"/>
              <a:t>       </a:t>
            </a:r>
            <a:r>
              <a:rPr lang="en-US" altLang="zh-CN" sz="2800" b="1"/>
              <a:t>45  13  12  16  9  5</a:t>
            </a:r>
          </a:p>
          <a:p>
            <a:pPr eaLnBrk="1" hangingPunct="1">
              <a:buFontTx/>
              <a:buNone/>
            </a:pPr>
            <a:r>
              <a:rPr lang="zh-CN" altLang="en-US" sz="2800" b="1"/>
              <a:t>现用</a:t>
            </a:r>
            <a:r>
              <a:rPr lang="en-US" altLang="zh-CN" sz="2800" b="1"/>
              <a:t>0</a:t>
            </a:r>
            <a:r>
              <a:rPr lang="zh-CN" altLang="en-US" sz="2800" b="1"/>
              <a:t>、</a:t>
            </a:r>
            <a:r>
              <a:rPr lang="en-US" altLang="zh-CN" sz="2800" b="1"/>
              <a:t>1</a:t>
            </a:r>
            <a:r>
              <a:rPr lang="zh-CN" altLang="en-US" sz="2800" b="1"/>
              <a:t>串表示字母对文件进行压缩</a:t>
            </a:r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19325F2B-7B83-4A4E-9721-C0500C622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7338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Palatino Linotype" panose="02040502050505030304" pitchFamily="18" charset="0"/>
                <a:ea typeface="华文中宋" panose="02010600040101010101" pitchFamily="2" charset="-122"/>
              </a:rPr>
              <a:t>用定长码：需</a:t>
            </a:r>
            <a:r>
              <a:rPr lang="en-US" altLang="zh-CN">
                <a:latin typeface="Palatino Linotype" panose="02040502050505030304" pitchFamily="18" charset="0"/>
                <a:ea typeface="华文中宋" panose="02010600040101010101" pitchFamily="2" charset="-122"/>
              </a:rPr>
              <a:t>300,000</a:t>
            </a:r>
            <a:r>
              <a:rPr lang="zh-CN" altLang="en-US">
                <a:latin typeface="Palatino Linotype" panose="02040502050505030304" pitchFamily="18" charset="0"/>
                <a:ea typeface="华文中宋" panose="02010600040101010101" pitchFamily="2" charset="-122"/>
              </a:rPr>
              <a:t>位</a:t>
            </a:r>
          </a:p>
        </p:txBody>
      </p:sp>
      <p:sp>
        <p:nvSpPr>
          <p:cNvPr id="53253" name="Text Box 5">
            <a:extLst>
              <a:ext uri="{FF2B5EF4-FFF2-40B4-BE49-F238E27FC236}">
                <a16:creationId xmlns:a16="http://schemas.microsoft.com/office/drawing/2014/main" id="{BBC6F1F2-7A7D-4710-8AA1-9E53E122E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267200"/>
            <a:ext cx="7010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Palatino Linotype" panose="02040502050505030304" pitchFamily="18" charset="0"/>
                <a:ea typeface="华文中宋" panose="02010600040101010101" pitchFamily="2" charset="-122"/>
              </a:rPr>
              <a:t>用变长码：</a:t>
            </a:r>
            <a:r>
              <a:rPr lang="en-US" altLang="zh-CN">
                <a:latin typeface="Palatino Linotype" panose="02040502050505030304" pitchFamily="18" charset="0"/>
                <a:ea typeface="华文中宋" panose="02010600040101010101" pitchFamily="2" charset="-122"/>
              </a:rPr>
              <a:t>a       b       c        d         e          f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    0    101   100    111   1101   1100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Palatino Linotype" panose="02040502050505030304" pitchFamily="18" charset="0"/>
                <a:ea typeface="华文中宋" panose="02010600040101010101" pitchFamily="2" charset="-122"/>
              </a:rPr>
              <a:t>需</a:t>
            </a:r>
            <a:r>
              <a:rPr lang="en-US" altLang="zh-CN">
                <a:latin typeface="Palatino Linotype" panose="02040502050505030304" pitchFamily="18" charset="0"/>
                <a:ea typeface="华文中宋" panose="02010600040101010101" pitchFamily="2" charset="-122"/>
              </a:rPr>
              <a:t>224,000</a:t>
            </a:r>
            <a:r>
              <a:rPr lang="zh-CN" altLang="en-US">
                <a:latin typeface="Palatino Linotype" panose="02040502050505030304" pitchFamily="18" charset="0"/>
                <a:ea typeface="华文中宋" panose="02010600040101010101" pitchFamily="2" charset="-122"/>
              </a:rPr>
              <a:t>位</a:t>
            </a:r>
          </a:p>
        </p:txBody>
      </p:sp>
      <p:sp>
        <p:nvSpPr>
          <p:cNvPr id="53254" name="Text Box 6">
            <a:extLst>
              <a:ext uri="{FF2B5EF4-FFF2-40B4-BE49-F238E27FC236}">
                <a16:creationId xmlns:a16="http://schemas.microsoft.com/office/drawing/2014/main" id="{CD006D0D-D523-4DA1-BC35-19EE4BDA4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9436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Palatino Linotype" panose="02040502050505030304" pitchFamily="18" charset="0"/>
                <a:ea typeface="华文中宋" panose="02010600040101010101" pitchFamily="2" charset="-122"/>
              </a:rPr>
              <a:t>编码：</a:t>
            </a:r>
            <a:r>
              <a:rPr lang="en-US" altLang="zh-CN">
                <a:latin typeface="Palatino Linotype" panose="02040502050505030304" pitchFamily="18" charset="0"/>
                <a:ea typeface="华文中宋" panose="02010600040101010101" pitchFamily="2" charset="-122"/>
              </a:rPr>
              <a:t>cad  </a:t>
            </a:r>
            <a:r>
              <a:rPr lang="en-US" altLang="zh-CN">
                <a:latin typeface="Palatino Linotype" panose="02040502050505030304" pitchFamily="18" charset="0"/>
                <a:ea typeface="华文中宋" panose="02010600040101010101" pitchFamily="2" charset="-122"/>
                <a:sym typeface="Wingdings" panose="05000000000000000000" pitchFamily="2" charset="2"/>
              </a:rPr>
              <a:t> 1000111</a:t>
            </a:r>
            <a:endParaRPr lang="en-US" altLang="zh-CN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autoUpdateAnimBg="0"/>
      <p:bldP spid="53252" grpId="0" autoUpdateAnimBg="0"/>
      <p:bldP spid="53253" grpId="0" autoUpdateAnimBg="0"/>
      <p:bldP spid="5325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A01E5D8B-D09E-4DEB-BC4A-A21040D494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1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、哈夫曼编码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BE70787-FCD2-4522-B62A-66351F769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144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哈夫曼编码</a:t>
            </a:r>
            <a:r>
              <a:rPr lang="en-US" altLang="zh-CN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:</a:t>
            </a:r>
            <a:r>
              <a:rPr lang="zh-CN" altLang="en-US" sz="2800" b="1">
                <a:latin typeface="华文中宋" panose="02010600040101010101" pitchFamily="2" charset="-122"/>
              </a:rPr>
              <a:t>用于数据文件压缩</a:t>
            </a:r>
            <a:r>
              <a:rPr lang="en-US" altLang="zh-CN" sz="2800" b="1">
                <a:latin typeface="华文中宋" panose="02010600040101010101" pitchFamily="2" charset="-122"/>
              </a:rPr>
              <a:t>,</a:t>
            </a:r>
            <a:r>
              <a:rPr lang="zh-CN" altLang="en-US" sz="2800" b="1">
                <a:latin typeface="华文中宋" panose="02010600040101010101" pitchFamily="2" charset="-122"/>
              </a:rPr>
              <a:t>其压缩率在</a:t>
            </a:r>
            <a:r>
              <a:rPr lang="en-US" altLang="zh-CN" sz="2800" b="1">
                <a:latin typeface="华文中宋" panose="02010600040101010101" pitchFamily="2" charset="-122"/>
              </a:rPr>
              <a:t>20%</a:t>
            </a:r>
            <a:r>
              <a:rPr lang="zh-CN" altLang="en-US" sz="2800" b="1">
                <a:latin typeface="华文中宋" panose="02010600040101010101" pitchFamily="2" charset="-122"/>
              </a:rPr>
              <a:t>～</a:t>
            </a:r>
            <a:r>
              <a:rPr lang="en-US" altLang="zh-CN" sz="2800" b="1">
                <a:latin typeface="华文中宋" panose="02010600040101010101" pitchFamily="2" charset="-122"/>
              </a:rPr>
              <a:t>90%</a:t>
            </a:r>
            <a:r>
              <a:rPr lang="zh-CN" altLang="en-US" sz="2800" b="1">
                <a:latin typeface="华文中宋" panose="02010600040101010101" pitchFamily="2" charset="-122"/>
              </a:rPr>
              <a:t>之间。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73BE8A3E-1E95-4B56-90BB-F0583499F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971800"/>
            <a:ext cx="7772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哈夫曼编码特点：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给出现频率高的字符较短的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编码，出现频率较低的字符以较长的编码，可以大大缩短总码长。   	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9F990D61-4BE4-4B90-B1DB-3B26AA01B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编码方法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A10A6891-4E16-45E6-88DD-6EA1E2EB9C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2286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b="1">
                <a:solidFill>
                  <a:schemeClr val="accent2"/>
                </a:solidFill>
                <a:latin typeface="华文中宋" panose="02010600040101010101" pitchFamily="2" charset="-122"/>
              </a:rPr>
              <a:t>1</a:t>
            </a:r>
            <a:r>
              <a:rPr lang="zh-CN" altLang="en-US" b="1">
                <a:solidFill>
                  <a:schemeClr val="accent2"/>
                </a:solidFill>
                <a:latin typeface="华文中宋" panose="02010600040101010101" pitchFamily="2" charset="-122"/>
              </a:rPr>
              <a:t>）前缀码</a:t>
            </a:r>
          </a:p>
          <a:p>
            <a:pPr eaLnBrk="1" hangingPunct="1">
              <a:buFontTx/>
              <a:buNone/>
            </a:pPr>
            <a:r>
              <a:rPr lang="zh-CN" altLang="en-US" sz="2800">
                <a:latin typeface="华文中宋" panose="02010600040101010101" pitchFamily="2" charset="-122"/>
              </a:rPr>
              <a:t>		</a:t>
            </a:r>
            <a:r>
              <a:rPr lang="zh-CN" altLang="en-US" sz="2800" b="1">
                <a:latin typeface="华文中宋" panose="02010600040101010101" pitchFamily="2" charset="-122"/>
              </a:rPr>
              <a:t>对每一个字符规定一个</a:t>
            </a:r>
            <a:r>
              <a:rPr lang="en-US" altLang="zh-CN" sz="2800" b="1">
                <a:latin typeface="华文中宋" panose="02010600040101010101" pitchFamily="2" charset="-122"/>
              </a:rPr>
              <a:t>0,1</a:t>
            </a:r>
            <a:r>
              <a:rPr lang="zh-CN" altLang="en-US" sz="2800" b="1">
                <a:latin typeface="华文中宋" panose="02010600040101010101" pitchFamily="2" charset="-122"/>
              </a:rPr>
              <a:t>串作为其代码，并要求任一字符的代码都不是其他字符代码的前缀。这种编码称为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前缀码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</p:txBody>
      </p:sp>
      <p:sp>
        <p:nvSpPr>
          <p:cNvPr id="65540" name="Text Box 4">
            <a:extLst>
              <a:ext uri="{FF2B5EF4-FFF2-40B4-BE49-F238E27FC236}">
                <a16:creationId xmlns:a16="http://schemas.microsoft.com/office/drawing/2014/main" id="{98BB4FDA-9E45-4209-9A23-42D0F33E3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7600"/>
            <a:ext cx="754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32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）译码方式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：取</a:t>
            </a:r>
            <a:r>
              <a:rPr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前缀码</a:t>
            </a:r>
          </a:p>
        </p:txBody>
      </p:sp>
      <p:sp>
        <p:nvSpPr>
          <p:cNvPr id="65541" name="Text Box 5">
            <a:extLst>
              <a:ext uri="{FF2B5EF4-FFF2-40B4-BE49-F238E27FC236}">
                <a16:creationId xmlns:a16="http://schemas.microsoft.com/office/drawing/2014/main" id="{A5ECF9C4-724B-4DF1-895B-E05671DF2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357688"/>
            <a:ext cx="7543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32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）编码方法：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构造二叉树</a:t>
            </a:r>
            <a:endParaRPr lang="zh-CN" altLang="en-US" sz="2800">
              <a:solidFill>
                <a:schemeClr val="accent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autoUpdateAnimBg="0"/>
      <p:bldP spid="65540" grpId="0" autoUpdateAnimBg="0"/>
      <p:bldP spid="6554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6541DB1-589F-44A6-B71A-F33B646DF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600" b="1">
                <a:solidFill>
                  <a:schemeClr val="accent2"/>
                </a:solidFill>
                <a:latin typeface="华文中宋" panose="02010600040101010101" pitchFamily="2" charset="-122"/>
              </a:rPr>
              <a:t>最优前缀码、平均码长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FDC92B3-78F4-46C5-AE73-3C9156658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24000"/>
            <a:ext cx="7772400" cy="3581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</a:rPr>
              <a:t>		</a:t>
            </a:r>
            <a:r>
              <a:rPr lang="zh-CN" altLang="en-US" sz="2800" b="1" dirty="0">
                <a:latin typeface="华文中宋" panose="02010600040101010101" pitchFamily="2" charset="-122"/>
              </a:rPr>
              <a:t>表示</a:t>
            </a:r>
            <a:r>
              <a:rPr lang="zh-CN" altLang="en-US" sz="2800" b="1" dirty="0">
                <a:solidFill>
                  <a:schemeClr val="accent2"/>
                </a:solidFill>
                <a:latin typeface="华文中宋" panose="02010600040101010101" pitchFamily="2" charset="-122"/>
              </a:rPr>
              <a:t>最优前缀码</a:t>
            </a:r>
            <a:r>
              <a:rPr lang="zh-CN" altLang="en-US" sz="2800" b="1" dirty="0">
                <a:latin typeface="华文中宋" panose="02010600040101010101" pitchFamily="2" charset="-122"/>
              </a:rPr>
              <a:t>的二叉树总是一棵</a:t>
            </a:r>
            <a:r>
              <a:rPr lang="zh-CN" altLang="en-US" sz="2800" b="1" dirty="0">
                <a:solidFill>
                  <a:schemeClr val="accent2"/>
                </a:solidFill>
                <a:highlight>
                  <a:srgbClr val="FFFF00"/>
                </a:highlight>
                <a:latin typeface="华文中宋" panose="02010600040101010101" pitchFamily="2" charset="-122"/>
              </a:rPr>
              <a:t>满二叉树</a:t>
            </a:r>
            <a:r>
              <a:rPr lang="zh-CN" altLang="en-US" sz="2800" b="1" dirty="0">
                <a:latin typeface="华文中宋" panose="02010600040101010101" pitchFamily="2" charset="-122"/>
              </a:rPr>
              <a:t>，即树中任一非叶结点都有</a:t>
            </a:r>
            <a:r>
              <a:rPr lang="en-US" altLang="zh-CN" sz="2800" b="1" dirty="0">
                <a:latin typeface="华文中宋" panose="02010600040101010101" pitchFamily="2" charset="-122"/>
              </a:rPr>
              <a:t>2</a:t>
            </a:r>
            <a:r>
              <a:rPr lang="zh-CN" altLang="en-US" sz="2800" b="1" dirty="0">
                <a:latin typeface="华文中宋" panose="02010600040101010101" pitchFamily="2" charset="-122"/>
              </a:rPr>
              <a:t>个儿子结点。</a:t>
            </a: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</a:rPr>
              <a:t>	</a:t>
            </a:r>
            <a:r>
              <a:rPr lang="en-US" altLang="zh-CN" sz="2800" b="1" dirty="0">
                <a:latin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华文中宋" panose="02010600040101010101" pitchFamily="2" charset="-122"/>
              </a:rPr>
              <a:t>）	</a:t>
            </a:r>
            <a:r>
              <a:rPr lang="zh-CN" altLang="en-US" sz="2800" b="1" dirty="0">
                <a:solidFill>
                  <a:schemeClr val="accent2"/>
                </a:solidFill>
                <a:latin typeface="华文中宋" panose="02010600040101010101" pitchFamily="2" charset="-122"/>
              </a:rPr>
              <a:t>平均码长</a:t>
            </a:r>
            <a:r>
              <a:rPr lang="zh-CN" altLang="en-US" sz="2800" b="1" dirty="0">
                <a:latin typeface="华文中宋" panose="02010600040101010101" pitchFamily="2" charset="-122"/>
              </a:rPr>
              <a:t>定义为：</a:t>
            </a:r>
          </a:p>
          <a:p>
            <a:pPr eaLnBrk="1" hangingPunct="1">
              <a:buFontTx/>
              <a:buNone/>
            </a:pPr>
            <a:endParaRPr lang="zh-CN" altLang="en-US" sz="2800" b="1" dirty="0">
              <a:latin typeface="华文中宋" panose="0201060004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2800" b="1" dirty="0">
              <a:latin typeface="华文中宋" panose="0201060004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</a:rPr>
              <a:t>		</a:t>
            </a:r>
            <a:r>
              <a:rPr lang="en-US" altLang="zh-CN" sz="2800" b="1" dirty="0">
                <a:latin typeface="华文中宋" panose="02010600040101010101" pitchFamily="2" charset="-122"/>
              </a:rPr>
              <a:t>C</a:t>
            </a:r>
            <a:r>
              <a:rPr lang="zh-CN" altLang="en-US" sz="2800" b="1" dirty="0">
                <a:latin typeface="华文中宋" panose="02010600040101010101" pitchFamily="2" charset="-122"/>
              </a:rPr>
              <a:t>为字符集，</a:t>
            </a:r>
            <a:r>
              <a:rPr lang="en-US" altLang="zh-CN" sz="2800" b="1" dirty="0">
                <a:latin typeface="华文中宋" panose="02010600040101010101" pitchFamily="2" charset="-122"/>
              </a:rPr>
              <a:t>f(c)</a:t>
            </a:r>
            <a:r>
              <a:rPr lang="zh-CN" altLang="en-US" sz="2800" b="1" dirty="0">
                <a:latin typeface="华文中宋" panose="02010600040101010101" pitchFamily="2" charset="-122"/>
              </a:rPr>
              <a:t>为字符</a:t>
            </a:r>
            <a:r>
              <a:rPr lang="en-US" altLang="zh-CN" sz="2800" b="1" dirty="0">
                <a:latin typeface="华文中宋" panose="02010600040101010101" pitchFamily="2" charset="-122"/>
              </a:rPr>
              <a:t>c</a:t>
            </a:r>
            <a:r>
              <a:rPr lang="zh-CN" altLang="en-US" sz="2800" b="1" dirty="0">
                <a:latin typeface="华文中宋" panose="02010600040101010101" pitchFamily="2" charset="-122"/>
              </a:rPr>
              <a:t>在文件中出现的频率，</a:t>
            </a:r>
            <a:r>
              <a:rPr lang="en-US" altLang="zh-CN" sz="2800" b="1" dirty="0">
                <a:latin typeface="华文中宋" panose="02010600040101010101" pitchFamily="2" charset="-122"/>
              </a:rPr>
              <a:t>d</a:t>
            </a:r>
            <a:r>
              <a:rPr lang="en-US" altLang="zh-CN" sz="2800" b="1" baseline="-25000" dirty="0">
                <a:latin typeface="华文中宋" panose="02010600040101010101" pitchFamily="2" charset="-122"/>
              </a:rPr>
              <a:t>T</a:t>
            </a:r>
            <a:r>
              <a:rPr lang="en-US" altLang="zh-CN" sz="2800" b="1" dirty="0">
                <a:latin typeface="华文中宋" panose="02010600040101010101" pitchFamily="2" charset="-122"/>
              </a:rPr>
              <a:t>(c)</a:t>
            </a:r>
            <a:r>
              <a:rPr lang="zh-CN" altLang="en-US" sz="2800" b="1" dirty="0">
                <a:latin typeface="华文中宋" panose="02010600040101010101" pitchFamily="2" charset="-122"/>
              </a:rPr>
              <a:t>为深度。</a:t>
            </a:r>
          </a:p>
        </p:txBody>
      </p:sp>
      <p:graphicFrame>
        <p:nvGraphicFramePr>
          <p:cNvPr id="66564" name="Object 4">
            <a:extLst>
              <a:ext uri="{FF2B5EF4-FFF2-40B4-BE49-F238E27FC236}">
                <a16:creationId xmlns:a16="http://schemas.microsoft.com/office/drawing/2014/main" id="{320F07F6-890C-4F8D-B6EA-29AC4C37D7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6488" y="3284538"/>
          <a:ext cx="2779712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400" imgH="342900" progId="Equation.3">
                  <p:embed/>
                </p:oleObj>
              </mc:Choice>
              <mc:Fallback>
                <p:oleObj name="Equation" r:id="rId2" imgW="1295400" imgH="342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3284538"/>
                        <a:ext cx="2779712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5" name="Text Box 5">
            <a:extLst>
              <a:ext uri="{FF2B5EF4-FFF2-40B4-BE49-F238E27FC236}">
                <a16:creationId xmlns:a16="http://schemas.microsoft.com/office/drawing/2014/main" id="{44205101-19D8-475C-950B-326E5A6E2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105400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最优前缀码：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使平均码长达到最小的前缀码编码方案称为给定编码字符集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最优前缀码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 autoUpdateAnimBg="0"/>
      <p:bldP spid="66565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1C48090D-C7A1-4E03-8BC4-2EAB4A729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chemeClr val="accent2"/>
                </a:solidFill>
                <a:latin typeface="华文中宋" panose="02010600040101010101" pitchFamily="2" charset="-122"/>
              </a:rPr>
              <a:t>2</a:t>
            </a:r>
            <a:r>
              <a:rPr lang="zh-CN" altLang="en-US" sz="4000" b="1">
                <a:solidFill>
                  <a:schemeClr val="accent2"/>
                </a:solidFill>
                <a:latin typeface="华文中宋" panose="02010600040101010101" pitchFamily="2" charset="-122"/>
              </a:rPr>
              <a:t>、构造哈夫曼编码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597AB8CD-C5B2-4CA0-8237-0EFEBD1280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哈夫曼提出构造最优前缀码的贪心算法，由此产生的编码方案称为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哈夫曼编码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FB4FDE55-0D80-47B8-9CEE-8CE9733A4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895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哈夫曼算法以自底向上的方式构造表示最优前缀码的二叉树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F28BCB46-91C6-4BBB-8ABE-C93F00101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343400"/>
            <a:ext cx="8001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算法思想：算法以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|C|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个叶结点开始，执行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|C|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－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次的</a:t>
            </a: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“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合并</a:t>
            </a: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”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运算后产生最终所要求的树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r>
              <a:rPr lang="zh-CN" altLang="en-US" sz="280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 autoUpdateAnimBg="0"/>
      <p:bldP spid="67588" grpId="0" autoUpdateAnimBg="0"/>
      <p:bldP spid="67589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CBFD12C-CC80-44A5-B0E7-16638F59A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620713"/>
            <a:ext cx="8207375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600" b="1">
                <a:latin typeface="华文中宋" panose="02010600040101010101" pitchFamily="2" charset="-122"/>
              </a:rPr>
              <a:t>3</a:t>
            </a:r>
            <a:r>
              <a:rPr lang="zh-CN" altLang="en-US" sz="3600" b="1">
                <a:latin typeface="华文中宋" panose="02010600040101010101" pitchFamily="2" charset="-122"/>
              </a:rPr>
              <a:t>、哈夫曼树</a:t>
            </a:r>
            <a:r>
              <a:rPr lang="en-US" altLang="zh-CN" sz="3600" b="1">
                <a:latin typeface="华文中宋" panose="02010600040101010101" pitchFamily="2" charset="-122"/>
              </a:rPr>
              <a:t>-</a:t>
            </a:r>
            <a:r>
              <a:rPr lang="zh-CN" altLang="en-US" sz="3600" b="1">
                <a:latin typeface="华文中宋" panose="02010600040101010101" pitchFamily="2" charset="-122"/>
              </a:rPr>
              <a:t>算法实现</a:t>
            </a:r>
            <a:r>
              <a:rPr lang="en-US" altLang="zh-CN" sz="3600" b="1"/>
              <a:t>HuffmanTree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B0C64190-23DD-4F9D-A20F-25BAD6F33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49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/>
            <a:r>
              <a:rPr lang="zh-CN" altLang="en-US" sz="2800" b="1">
                <a:latin typeface="华文中宋" panose="02010600040101010101" pitchFamily="2" charset="-122"/>
              </a:rPr>
              <a:t>算法步骤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用</a:t>
            </a:r>
            <a:r>
              <a:rPr lang="en-US" altLang="zh-CN" sz="2800" b="1">
                <a:latin typeface="华文中宋" panose="02010600040101010101" pitchFamily="2" charset="-122"/>
              </a:rPr>
              <a:t>C</a:t>
            </a:r>
            <a:r>
              <a:rPr lang="zh-CN" altLang="en-US" sz="2800" b="1">
                <a:latin typeface="华文中宋" panose="02010600040101010101" pitchFamily="2" charset="-122"/>
              </a:rPr>
              <a:t>中每一字符</a:t>
            </a:r>
            <a:r>
              <a:rPr lang="en-US" altLang="zh-CN" sz="2800" b="1">
                <a:latin typeface="华文中宋" panose="02010600040101010101" pitchFamily="2" charset="-122"/>
              </a:rPr>
              <a:t>c</a:t>
            </a:r>
            <a:r>
              <a:rPr lang="zh-CN" altLang="en-US" sz="2800" b="1">
                <a:latin typeface="华文中宋" panose="02010600040101010101" pitchFamily="2" charset="-122"/>
              </a:rPr>
              <a:t>的频率</a:t>
            </a:r>
            <a:r>
              <a:rPr lang="en-US" altLang="zh-CN" sz="2800" b="1">
                <a:latin typeface="华文中宋" panose="02010600040101010101" pitchFamily="2" charset="-122"/>
              </a:rPr>
              <a:t>f(c)</a:t>
            </a:r>
            <a:r>
              <a:rPr lang="zh-CN" altLang="en-US" sz="2800" b="1">
                <a:latin typeface="华文中宋" panose="02010600040101010101" pitchFamily="2" charset="-122"/>
              </a:rPr>
              <a:t>初始化一个队列</a:t>
            </a:r>
            <a:r>
              <a:rPr lang="en-US" altLang="zh-CN" sz="2800" b="1">
                <a:latin typeface="华文中宋" panose="02010600040101010101" pitchFamily="2" charset="-122"/>
              </a:rPr>
              <a:t>Q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对优先队列</a:t>
            </a:r>
            <a:r>
              <a:rPr lang="en-US" altLang="zh-CN" sz="2800" b="1">
                <a:latin typeface="华文中宋" panose="02010600040101010101" pitchFamily="2" charset="-122"/>
              </a:rPr>
              <a:t>Q</a:t>
            </a:r>
            <a:r>
              <a:rPr lang="zh-CN" altLang="en-US" sz="2800" b="1">
                <a:latin typeface="华文中宋" panose="02010600040101010101" pitchFamily="2" charset="-122"/>
              </a:rPr>
              <a:t>用贪心选择：取出具有最小频率的</a:t>
            </a:r>
            <a:r>
              <a:rPr lang="en-US" altLang="zh-CN" sz="2800" b="1">
                <a:latin typeface="华文中宋" panose="02010600040101010101" pitchFamily="2" charset="-122"/>
              </a:rPr>
              <a:t>2</a:t>
            </a:r>
            <a:r>
              <a:rPr lang="zh-CN" altLang="en-US" sz="2800" b="1">
                <a:latin typeface="华文中宋" panose="02010600040101010101" pitchFamily="2" charset="-122"/>
              </a:rPr>
              <a:t>棵树</a:t>
            </a:r>
            <a:r>
              <a:rPr lang="en-US" altLang="zh-CN" sz="2800" b="1">
                <a:latin typeface="华文中宋" panose="02010600040101010101" pitchFamily="2" charset="-122"/>
              </a:rPr>
              <a:t>x,y,</a:t>
            </a:r>
            <a:r>
              <a:rPr lang="zh-CN" altLang="en-US" sz="2800" b="1">
                <a:latin typeface="华文中宋" panose="02010600040101010101" pitchFamily="2" charset="-122"/>
              </a:rPr>
              <a:t>并将这</a:t>
            </a:r>
            <a:r>
              <a:rPr lang="en-US" altLang="zh-CN" sz="2800" b="1">
                <a:latin typeface="华文中宋" panose="02010600040101010101" pitchFamily="2" charset="-122"/>
              </a:rPr>
              <a:t>2</a:t>
            </a:r>
            <a:r>
              <a:rPr lang="zh-CN" altLang="en-US" sz="2800" b="1">
                <a:latin typeface="华文中宋" panose="02010600040101010101" pitchFamily="2" charset="-122"/>
              </a:rPr>
              <a:t>棵树合并为新树</a:t>
            </a:r>
            <a:r>
              <a:rPr lang="en-US" altLang="zh-CN" sz="2800" b="1">
                <a:latin typeface="华文中宋" panose="02010600040101010101" pitchFamily="2" charset="-122"/>
              </a:rPr>
              <a:t>z</a:t>
            </a:r>
            <a:r>
              <a:rPr lang="zh-CN" altLang="en-US" sz="2800" b="1">
                <a:latin typeface="华文中宋" panose="02010600040101010101" pitchFamily="2" charset="-122"/>
              </a:rPr>
              <a:t>，其频率为合并的</a:t>
            </a:r>
            <a:r>
              <a:rPr lang="en-US" altLang="zh-CN" sz="2800" b="1">
                <a:latin typeface="华文中宋" panose="02010600040101010101" pitchFamily="2" charset="-122"/>
              </a:rPr>
              <a:t>2</a:t>
            </a:r>
            <a:r>
              <a:rPr lang="zh-CN" altLang="en-US" sz="2800" b="1">
                <a:latin typeface="华文中宋" panose="02010600040101010101" pitchFamily="2" charset="-122"/>
              </a:rPr>
              <a:t>棵树的频率之和，并将新树插入优先队列</a:t>
            </a:r>
            <a:r>
              <a:rPr lang="en-US" altLang="zh-CN" sz="2800" b="1">
                <a:latin typeface="华文中宋" panose="02010600040101010101" pitchFamily="2" charset="-122"/>
              </a:rPr>
              <a:t>Q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sz="2800" b="1">
                <a:latin typeface="华文中宋" panose="02010600040101010101" pitchFamily="2" charset="-122"/>
              </a:rPr>
              <a:t>作</a:t>
            </a:r>
            <a:r>
              <a:rPr lang="en-US" altLang="zh-CN" sz="2800" b="1">
                <a:latin typeface="华文中宋" panose="02010600040101010101" pitchFamily="2" charset="-122"/>
              </a:rPr>
              <a:t>n</a:t>
            </a:r>
            <a:r>
              <a:rPr lang="zh-CN" altLang="en-US" sz="2800" b="1">
                <a:latin typeface="华文中宋" panose="02010600040101010101" pitchFamily="2" charset="-122"/>
              </a:rPr>
              <a:t>－</a:t>
            </a:r>
            <a:r>
              <a:rPr lang="en-US" altLang="zh-CN" sz="2800" b="1">
                <a:latin typeface="华文中宋" panose="02010600040101010101" pitchFamily="2" charset="-122"/>
              </a:rPr>
              <a:t>1</a:t>
            </a:r>
            <a:r>
              <a:rPr lang="zh-CN" altLang="en-US" sz="2800" b="1">
                <a:latin typeface="华文中宋" panose="02010600040101010101" pitchFamily="2" charset="-122"/>
              </a:rPr>
              <a:t>次类似的合并。优先队列中只剩下一棵树，即所要求的树</a:t>
            </a:r>
            <a:r>
              <a:rPr lang="en-US" altLang="zh-CN" sz="2800" b="1">
                <a:latin typeface="华文中宋" panose="02010600040101010101" pitchFamily="2" charset="-122"/>
              </a:rPr>
              <a:t>T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DA7F91A1-B3DA-46D6-830B-21AC50AD9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 b="1"/>
              <a:t>举例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9251D8ED-03F0-4160-9B54-735F736CD6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9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例：在由</a:t>
            </a:r>
            <a:r>
              <a:rPr lang="en-US" altLang="zh-CN" sz="2800" b="1"/>
              <a:t>8</a:t>
            </a:r>
            <a:r>
              <a:rPr lang="zh-CN" altLang="en-US" sz="2800" b="1"/>
              <a:t>个字母</a:t>
            </a:r>
            <a:r>
              <a:rPr lang="en-US" altLang="zh-CN" sz="2800" b="1"/>
              <a:t>a,e,i,o,u,t,h,b</a:t>
            </a:r>
            <a:r>
              <a:rPr lang="zh-CN" altLang="en-US" sz="2800" b="1"/>
              <a:t>构成的文件中，频率分别为：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 b="1"/>
          </a:p>
          <a:p>
            <a:pPr eaLnBrk="1" hangingPunct="1">
              <a:buFontTx/>
              <a:buNone/>
            </a:pPr>
            <a:r>
              <a:rPr lang="zh-CN" altLang="en-US" sz="2800" b="1"/>
              <a:t>       </a:t>
            </a:r>
          </a:p>
          <a:p>
            <a:pPr eaLnBrk="1" hangingPunct="1">
              <a:buFontTx/>
              <a:buNone/>
            </a:pPr>
            <a:endParaRPr lang="zh-CN" altLang="en-US" sz="2800" b="1"/>
          </a:p>
          <a:p>
            <a:pPr eaLnBrk="1" hangingPunct="1">
              <a:buFontTx/>
              <a:buNone/>
            </a:pPr>
            <a:r>
              <a:rPr lang="zh-CN" altLang="en-US" sz="2800" b="1"/>
              <a:t>求对应的</a:t>
            </a:r>
            <a:r>
              <a:rPr lang="en-US" altLang="zh-CN" sz="2800" b="1"/>
              <a:t>Huffman</a:t>
            </a:r>
            <a:r>
              <a:rPr lang="zh-CN" altLang="en-US" sz="2800" b="1"/>
              <a:t>树</a:t>
            </a:r>
          </a:p>
        </p:txBody>
      </p:sp>
      <p:graphicFrame>
        <p:nvGraphicFramePr>
          <p:cNvPr id="115716" name="Group 4">
            <a:extLst>
              <a:ext uri="{FF2B5EF4-FFF2-40B4-BE49-F238E27FC236}">
                <a16:creationId xmlns:a16="http://schemas.microsoft.com/office/drawing/2014/main" id="{3E074081-2B4A-4220-A567-76E21FF1E0D4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2971800"/>
          <a:ext cx="6096000" cy="10668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81953264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08901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4814113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4300326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6253315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8917967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8537422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63470697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i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58408"/>
                  </a:ext>
                </a:extLst>
              </a:tr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0.6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0.03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0.03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0.03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19452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BACBD-720E-E81C-A69C-32FE55304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B81638-A56B-F582-EAB9-5A6902376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5353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CA149E49-C568-4E0F-AE2D-959DECFAE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</a:rPr>
              <a:t>、哈夫曼树的实现方式与复杂性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894E9A08-2646-42AE-8289-299F74567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用最小堆实现优先队列</a:t>
            </a:r>
            <a:r>
              <a:rPr lang="en-US" altLang="zh-CN" sz="2800" b="1">
                <a:latin typeface="华文中宋" panose="02010600040101010101" pitchFamily="2" charset="-122"/>
              </a:rPr>
              <a:t>Q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初始化优先队列需要</a:t>
            </a:r>
            <a:r>
              <a:rPr lang="en-US" altLang="zh-CN" sz="2800" b="1">
                <a:latin typeface="华文中宋" panose="02010600040101010101" pitchFamily="2" charset="-122"/>
              </a:rPr>
              <a:t>O(n)</a:t>
            </a:r>
            <a:r>
              <a:rPr lang="zh-CN" altLang="en-US" sz="2800" b="1">
                <a:latin typeface="华文中宋" panose="02010600040101010101" pitchFamily="2" charset="-122"/>
              </a:rPr>
              <a:t>计算时间，由于最小堆的</a:t>
            </a:r>
            <a:r>
              <a:rPr lang="en-US" altLang="zh-CN" sz="2800" b="1">
                <a:latin typeface="华文中宋" panose="02010600040101010101" pitchFamily="2" charset="-122"/>
              </a:rPr>
              <a:t>DeleteMin</a:t>
            </a:r>
            <a:r>
              <a:rPr lang="zh-CN" altLang="en-US" sz="2800" b="1">
                <a:latin typeface="华文中宋" panose="02010600040101010101" pitchFamily="2" charset="-122"/>
              </a:rPr>
              <a:t>和</a:t>
            </a:r>
            <a:r>
              <a:rPr lang="en-US" altLang="zh-CN" sz="2800" b="1">
                <a:latin typeface="华文中宋" panose="02010600040101010101" pitchFamily="2" charset="-122"/>
              </a:rPr>
              <a:t>Insert</a:t>
            </a:r>
            <a:r>
              <a:rPr lang="zh-CN" altLang="en-US" sz="2800" b="1">
                <a:latin typeface="华文中宋" panose="02010600040101010101" pitchFamily="2" charset="-122"/>
              </a:rPr>
              <a:t>运算均需</a:t>
            </a:r>
            <a:r>
              <a:rPr lang="en-US" altLang="zh-CN" sz="2800" b="1">
                <a:latin typeface="华文中宋" panose="02010600040101010101" pitchFamily="2" charset="-122"/>
              </a:rPr>
              <a:t>O(log n)</a:t>
            </a:r>
            <a:r>
              <a:rPr lang="zh-CN" altLang="en-US" sz="2800" b="1">
                <a:latin typeface="华文中宋" panose="02010600040101010101" pitchFamily="2" charset="-122"/>
              </a:rPr>
              <a:t>时间，</a:t>
            </a:r>
            <a:r>
              <a:rPr lang="en-US" altLang="zh-CN" sz="2800" b="1">
                <a:latin typeface="华文中宋" panose="02010600040101010101" pitchFamily="2" charset="-122"/>
              </a:rPr>
              <a:t>n</a:t>
            </a:r>
            <a:r>
              <a:rPr lang="zh-CN" altLang="en-US" sz="2800" b="1">
                <a:latin typeface="华文中宋" panose="02010600040101010101" pitchFamily="2" charset="-122"/>
              </a:rPr>
              <a:t>－</a:t>
            </a:r>
            <a:r>
              <a:rPr lang="en-US" altLang="zh-CN" sz="2800" b="1">
                <a:latin typeface="华文中宋" panose="02010600040101010101" pitchFamily="2" charset="-122"/>
              </a:rPr>
              <a:t>1</a:t>
            </a:r>
            <a:r>
              <a:rPr lang="zh-CN" altLang="en-US" sz="2800" b="1">
                <a:latin typeface="华文中宋" panose="02010600040101010101" pitchFamily="2" charset="-122"/>
              </a:rPr>
              <a:t>次的合并总共需要</a:t>
            </a:r>
            <a:r>
              <a:rPr lang="en-US" altLang="zh-CN" sz="2800" b="1">
                <a:latin typeface="华文中宋" panose="02010600040101010101" pitchFamily="2" charset="-122"/>
              </a:rPr>
              <a:t>O(nlog n)</a:t>
            </a:r>
            <a:r>
              <a:rPr lang="zh-CN" altLang="en-US" sz="2800" b="1">
                <a:latin typeface="华文中宋" panose="02010600040101010101" pitchFamily="2" charset="-122"/>
              </a:rPr>
              <a:t>计算时间。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latin typeface="华文中宋" panose="02010600040101010101" pitchFamily="2" charset="-122"/>
              </a:rPr>
              <a:t>n</a:t>
            </a:r>
            <a:r>
              <a:rPr lang="zh-CN" altLang="en-US" sz="2800" b="1">
                <a:latin typeface="华文中宋" panose="02010600040101010101" pitchFamily="2" charset="-122"/>
              </a:rPr>
              <a:t>个字符的哈夫曼算法的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计算时间</a:t>
            </a:r>
            <a:r>
              <a:rPr lang="zh-CN" altLang="en-US" sz="2800" b="1">
                <a:latin typeface="华文中宋" panose="02010600040101010101" pitchFamily="2" charset="-122"/>
              </a:rPr>
              <a:t>为</a:t>
            </a:r>
            <a:r>
              <a:rPr lang="en-US" altLang="zh-CN" sz="2800" b="1">
                <a:latin typeface="华文中宋" panose="02010600040101010101" pitchFamily="2" charset="-122"/>
              </a:rPr>
              <a:t>O(nlog n)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（或简单取最小数，复杂性增加）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50BC11A-4DAC-48E7-A503-3EB229BF3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rgbClr val="AC2F36"/>
                </a:solidFill>
                <a:latin typeface="华文中宋" panose="02010600040101010101" pitchFamily="2" charset="-122"/>
              </a:rPr>
              <a:t>5</a:t>
            </a:r>
            <a:r>
              <a:rPr lang="zh-CN" altLang="en-US" sz="4000" b="1">
                <a:solidFill>
                  <a:srgbClr val="AC2F36"/>
                </a:solidFill>
                <a:latin typeface="华文中宋" panose="02010600040101010101" pitchFamily="2" charset="-122"/>
              </a:rPr>
              <a:t>、哈夫曼算法的正确性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23FEE7C-E5C1-4D73-AE7B-95D86B111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115300" cy="2971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b="1">
                <a:latin typeface="华文中宋" panose="02010600040101010101" pitchFamily="2" charset="-122"/>
              </a:rPr>
              <a:t>		</a:t>
            </a:r>
            <a:r>
              <a:rPr lang="zh-CN" altLang="en-US" sz="2800" b="1">
                <a:latin typeface="华文中宋" panose="02010600040101010101" pitchFamily="2" charset="-122"/>
              </a:rPr>
              <a:t>要证明哈夫曼算法的正确性，需证明最优前缀码问题具有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贪心选择性质</a:t>
            </a:r>
            <a:r>
              <a:rPr lang="zh-CN" altLang="en-US" sz="2800" b="1">
                <a:latin typeface="华文中宋" panose="02010600040101010101" pitchFamily="2" charset="-122"/>
              </a:rPr>
              <a:t>和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最优子结构性质：</a:t>
            </a:r>
            <a:endParaRPr lang="zh-CN" altLang="en-US" sz="2800" b="1">
              <a:latin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lang="en-US" altLang="zh-CN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(1)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贪心选择性质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		</a:t>
            </a:r>
            <a:r>
              <a:rPr lang="en-US" altLang="zh-CN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(2)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最优子结构性质</a:t>
            </a:r>
            <a:endParaRPr lang="zh-CN" altLang="en-US" sz="2800" b="1">
              <a:latin typeface="华文中宋" panose="02010600040101010101" pitchFamily="2" charset="-122"/>
            </a:endParaRPr>
          </a:p>
        </p:txBody>
      </p:sp>
      <p:sp>
        <p:nvSpPr>
          <p:cNvPr id="70660" name="Text Box 4">
            <a:extLst>
              <a:ext uri="{FF2B5EF4-FFF2-40B4-BE49-F238E27FC236}">
                <a16:creationId xmlns:a16="http://schemas.microsoft.com/office/drawing/2014/main" id="{3AB7E60E-EFA4-4A08-8922-C24DFD591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6200"/>
            <a:ext cx="708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800" b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utoUpdateAnimBg="0"/>
      <p:bldP spid="7066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088CA0AA-2886-4411-9634-4B07DA02D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>
                <a:solidFill>
                  <a:srgbClr val="AC2F36"/>
                </a:solidFill>
                <a:latin typeface="华文中宋" panose="02010600040101010101" pitchFamily="2" charset="-122"/>
              </a:rPr>
              <a:t>上机实验题</a:t>
            </a:r>
            <a:r>
              <a:rPr lang="en-US" altLang="zh-CN" b="1">
                <a:solidFill>
                  <a:srgbClr val="AC2F36"/>
                </a:solidFill>
                <a:latin typeface="华文中宋" panose="02010600040101010101" pitchFamily="2" charset="-122"/>
              </a:rPr>
              <a:t>4</a:t>
            </a:r>
            <a:endParaRPr lang="zh-CN" altLang="en-US" b="1">
              <a:solidFill>
                <a:srgbClr val="AC2F36"/>
              </a:solidFill>
              <a:latin typeface="华文中宋" panose="02010600040101010101" pitchFamily="2" charset="-122"/>
            </a:endParaRP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CAF2BEB-6CCF-4E5E-AC74-0D0255087F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b="1">
                <a:latin typeface="华文中宋" panose="02010600040101010101" pitchFamily="2" charset="-122"/>
              </a:rPr>
              <a:t>哈夫曼编码问题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b="1">
                <a:latin typeface="华文中宋" panose="02010600040101010101" pitchFamily="2" charset="-122"/>
              </a:rPr>
              <a:t>      任意输入若干个字母（或字）的频率值，输出对应的</a:t>
            </a:r>
            <a:r>
              <a:rPr lang="en-US" altLang="zh-CN" b="1">
                <a:latin typeface="华文中宋" panose="02010600040101010101" pitchFamily="2" charset="-122"/>
              </a:rPr>
              <a:t>Huffman</a:t>
            </a:r>
            <a:r>
              <a:rPr lang="zh-CN" altLang="en-US" b="1">
                <a:latin typeface="华文中宋" panose="02010600040101010101" pitchFamily="2" charset="-122"/>
              </a:rPr>
              <a:t>编码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b="1">
                <a:latin typeface="华文中宋" panose="02010600040101010101" pitchFamily="2" charset="-122"/>
              </a:rPr>
              <a:t>具体内容见 </a:t>
            </a:r>
            <a:r>
              <a:rPr lang="zh-CN" altLang="en-US" b="1">
                <a:solidFill>
                  <a:srgbClr val="FF0000"/>
                </a:solidFill>
                <a:latin typeface="华文中宋" panose="02010600040101010101" pitchFamily="2" charset="-122"/>
              </a:rPr>
              <a:t>实验四 哈夫曼编码</a:t>
            </a:r>
            <a:endParaRPr lang="en-US" altLang="zh-CN" b="1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42E56E0-C7B2-2D2D-162A-5DA9B9DE42A3}"/>
                  </a:ext>
                </a:extLst>
              </p14:cNvPr>
              <p14:cNvContentPartPr/>
              <p14:nvPr/>
            </p14:nvContentPartPr>
            <p14:xfrm>
              <a:off x="2325600" y="1793880"/>
              <a:ext cx="6122160" cy="1503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42E56E0-C7B2-2D2D-162A-5DA9B9DE42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6240" y="1784520"/>
                <a:ext cx="6140880" cy="152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A887F444-618F-4CDB-96CF-AE7E1F442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0668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>
                <a:solidFill>
                  <a:srgbClr val="AC2F36"/>
                </a:solidFill>
                <a:latin typeface="华文中宋" panose="02010600040101010101" pitchFamily="2" charset="-122"/>
              </a:rPr>
              <a:t>4.5 </a:t>
            </a:r>
            <a:r>
              <a:rPr lang="zh-CN" altLang="en-US" b="1">
                <a:solidFill>
                  <a:srgbClr val="AC2F36"/>
                </a:solidFill>
                <a:latin typeface="华文中宋" panose="02010600040101010101" pitchFamily="2" charset="-122"/>
              </a:rPr>
              <a:t>单源最短路径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05E8B218-9867-4470-8E9C-552E6F381B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1336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/>
              <a:t>自学计算原理</a:t>
            </a:r>
          </a:p>
          <a:p>
            <a:pPr eaLnBrk="1" hangingPunct="1"/>
            <a:r>
              <a:rPr lang="zh-CN" altLang="en-US"/>
              <a:t>会求并编程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6A05F6B4-FE95-481B-B29B-4CF1A72DD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600" b="1">
                <a:solidFill>
                  <a:schemeClr val="accent2"/>
                </a:solidFill>
                <a:latin typeface="华文中宋" panose="02010600040101010101" pitchFamily="2" charset="-122"/>
              </a:rPr>
              <a:t>单源最短路径问题描述</a:t>
            </a:r>
            <a:endParaRPr lang="zh-CN" altLang="en-US" sz="3600">
              <a:latin typeface="华文中宋" panose="02010600040101010101" pitchFamily="2" charset="-122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B5F36A5-0B31-453E-B406-D4EC0B11E5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3820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给定带权有向图</a:t>
            </a:r>
            <a:r>
              <a:rPr lang="en-US" altLang="zh-CN" sz="2800" b="1">
                <a:latin typeface="华文中宋" panose="02010600040101010101" pitchFamily="2" charset="-122"/>
              </a:rPr>
              <a:t>G =(V,E)</a:t>
            </a:r>
            <a:r>
              <a:rPr lang="zh-CN" altLang="en-US" sz="2800" b="1">
                <a:latin typeface="华文中宋" panose="02010600040101010101" pitchFamily="2" charset="-122"/>
              </a:rPr>
              <a:t>，其中每条边的权是非负实数。给定</a:t>
            </a:r>
            <a:r>
              <a:rPr lang="en-US" altLang="zh-CN" sz="2800" b="1">
                <a:latin typeface="华文中宋" panose="02010600040101010101" pitchFamily="2" charset="-122"/>
              </a:rPr>
              <a:t>V</a:t>
            </a:r>
            <a:r>
              <a:rPr lang="zh-CN" altLang="en-US" sz="2800" b="1">
                <a:latin typeface="华文中宋" panose="02010600040101010101" pitchFamily="2" charset="-122"/>
              </a:rPr>
              <a:t>中的一个顶点</a:t>
            </a:r>
            <a:r>
              <a:rPr lang="en-US" altLang="zh-CN" sz="2800" b="1">
                <a:latin typeface="华文中宋" panose="02010600040101010101" pitchFamily="2" charset="-122"/>
              </a:rPr>
              <a:t>v</a:t>
            </a:r>
            <a:r>
              <a:rPr lang="zh-CN" altLang="en-US" sz="2800" b="1">
                <a:latin typeface="华文中宋" panose="02010600040101010101" pitchFamily="2" charset="-122"/>
              </a:rPr>
              <a:t>，称为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源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  <a:p>
            <a:pPr eaLnBrk="1" hangingPunct="1"/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单源最短路径问题：</a:t>
            </a:r>
            <a:r>
              <a:rPr lang="zh-CN" altLang="en-US" sz="2800" b="1">
                <a:latin typeface="华文中宋" panose="02010600040101010101" pitchFamily="2" charset="-122"/>
              </a:rPr>
              <a:t>计算从源</a:t>
            </a:r>
            <a:r>
              <a:rPr lang="en-US" altLang="zh-CN" sz="2800" b="1">
                <a:latin typeface="华文中宋" panose="02010600040101010101" pitchFamily="2" charset="-122"/>
              </a:rPr>
              <a:t>v</a:t>
            </a:r>
            <a:r>
              <a:rPr lang="zh-CN" altLang="en-US" sz="2800" b="1">
                <a:latin typeface="华文中宋" panose="02010600040101010101" pitchFamily="2" charset="-122"/>
              </a:rPr>
              <a:t>到所有其他各顶点</a:t>
            </a:r>
            <a:r>
              <a:rPr lang="en-US" altLang="zh-CN" sz="2800" b="1">
                <a:latin typeface="华文中宋" panose="02010600040101010101" pitchFamily="2" charset="-122"/>
              </a:rPr>
              <a:t>u</a:t>
            </a:r>
            <a:r>
              <a:rPr lang="zh-CN" altLang="en-US" sz="2800" b="1">
                <a:latin typeface="华文中宋" panose="02010600040101010101" pitchFamily="2" charset="-122"/>
              </a:rPr>
              <a:t>的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最短路长度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d[u]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  <a:p>
            <a:pPr eaLnBrk="1" hangingPunct="1">
              <a:buFontTx/>
              <a:buNone/>
            </a:pPr>
            <a:r>
              <a:rPr lang="zh-CN" altLang="en-US" sz="2800" b="1">
                <a:latin typeface="华文中宋" panose="02010600040101010101" pitchFamily="2" charset="-122"/>
              </a:rPr>
              <a:t>  这里路径的长度是指路上各边权之和。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EF387FA3-D16C-4380-A170-F2DCE368E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657600"/>
            <a:ext cx="830580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特殊路径</a:t>
            </a:r>
          </a:p>
          <a:p>
            <a:pPr eaLnBrk="1" hangingPunct="1"/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   设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S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为顶点集合，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v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S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eaLnBrk="1" hangingPunct="1"/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   设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u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V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，把从源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v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到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u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且中间只经过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S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中顶点的路径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称为从源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v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到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u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的特殊路径。</a:t>
            </a:r>
          </a:p>
          <a:p>
            <a:pPr eaLnBrk="1" hangingPunct="1"/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dist[u]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：记顶点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u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所对应的最短特殊路径长度。</a:t>
            </a:r>
          </a:p>
          <a:p>
            <a:pPr eaLnBrk="1" hangingPunct="1"/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注：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从源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到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的最短路径长度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dist[u]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E1E2C12-5793-43F5-BA04-8F5788D9EC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6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算法基本思想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4B0DFED-CFAC-4646-937D-EF74139386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668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采用</a:t>
            </a:r>
            <a:r>
              <a:rPr lang="en-US" altLang="zh-CN" sz="2800" b="1">
                <a:latin typeface="华文中宋" panose="02010600040101010101" pitchFamily="2" charset="-122"/>
              </a:rPr>
              <a:t>Dijkstra</a:t>
            </a:r>
            <a:r>
              <a:rPr lang="zh-CN" altLang="en-US" sz="2800" b="1">
                <a:latin typeface="华文中宋" panose="02010600040101010101" pitchFamily="2" charset="-122"/>
              </a:rPr>
              <a:t>提出的解单源最短路径问题算法</a:t>
            </a:r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B67967FF-C64A-4C35-BA91-8F2DD4887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52600"/>
            <a:ext cx="8382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	 Dijkstra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算法基本思想：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设置顶点集合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S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并不断地作</a:t>
            </a:r>
            <a:r>
              <a:rPr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贪心选择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来扩充这个集合。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u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S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，当且仅当，从源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v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到该顶点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u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的最短路径长度已知。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Dijkstra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算法策略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     初始时，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S={v}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     算法每次从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V-S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中取出具有最短特殊路长度的顶点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u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，将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u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添加到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S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中，同时对数组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dist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作必要的修改。若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S=V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，则算法完成。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  <p:bldP spid="73732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A9D3C638-68E6-4F6A-99EC-34428C3BE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000">
                <a:latin typeface="华文中宋" panose="02010600040101010101" pitchFamily="2" charset="-122"/>
              </a:rPr>
              <a:t>算法举例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3FE8AAC8-4B9F-4915-ABF8-5FB93BF60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3505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应用</a:t>
            </a:r>
            <a:r>
              <a:rPr lang="en-US" altLang="zh-CN" sz="2800" b="1">
                <a:latin typeface="华文中宋" panose="02010600040101010101" pitchFamily="2" charset="-122"/>
              </a:rPr>
              <a:t>Dijkstra</a:t>
            </a:r>
            <a:r>
              <a:rPr lang="zh-CN" altLang="en-US" sz="2800" b="1">
                <a:latin typeface="华文中宋" panose="02010600040101010101" pitchFamily="2" charset="-122"/>
              </a:rPr>
              <a:t>算法计算从源顶点</a:t>
            </a:r>
            <a:r>
              <a:rPr lang="en-US" altLang="zh-CN" sz="2800" b="1">
                <a:latin typeface="华文中宋" panose="02010600040101010101" pitchFamily="2" charset="-122"/>
              </a:rPr>
              <a:t>1</a:t>
            </a:r>
            <a:r>
              <a:rPr lang="zh-CN" altLang="en-US" sz="2800" b="1">
                <a:latin typeface="华文中宋" panose="02010600040101010101" pitchFamily="2" charset="-122"/>
              </a:rPr>
              <a:t>到其他顶点间最短路径</a:t>
            </a:r>
          </a:p>
        </p:txBody>
      </p:sp>
      <p:pic>
        <p:nvPicPr>
          <p:cNvPr id="61444" name="Picture 4" descr="t44">
            <a:extLst>
              <a:ext uri="{FF2B5EF4-FFF2-40B4-BE49-F238E27FC236}">
                <a16:creationId xmlns:a16="http://schemas.microsoft.com/office/drawing/2014/main" id="{E5004BF1-F7FE-4AD3-B11D-65F9BE49D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905000"/>
            <a:ext cx="3805238" cy="36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0B90B9CE-6AC6-4139-8B0D-6E975C2303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09600"/>
            <a:ext cx="5486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kumimoji="0" lang="en-US" altLang="zh-CN" sz="3600" b="1">
                <a:solidFill>
                  <a:srgbClr val="000000"/>
                </a:solidFill>
                <a:latin typeface="华文中宋" panose="02010600040101010101" pitchFamily="2" charset="-122"/>
              </a:rPr>
              <a:t>Dijkstra</a:t>
            </a:r>
            <a:r>
              <a:rPr kumimoji="0" lang="zh-CN" altLang="en-US" sz="3600" b="1">
                <a:solidFill>
                  <a:srgbClr val="000000"/>
                </a:solidFill>
                <a:latin typeface="华文中宋" panose="02010600040101010101" pitchFamily="2" charset="-122"/>
              </a:rPr>
              <a:t>算法的迭代过程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41D030D8-F571-4D51-8D8D-27A64432C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  <p:graphicFrame>
        <p:nvGraphicFramePr>
          <p:cNvPr id="75780" name="Group 4">
            <a:extLst>
              <a:ext uri="{FF2B5EF4-FFF2-40B4-BE49-F238E27FC236}">
                <a16:creationId xmlns:a16="http://schemas.microsoft.com/office/drawing/2014/main" id="{7DBD247D-CAC2-43FC-BF74-5BDBA7AB15D3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323850" y="3259138"/>
          <a:ext cx="8569325" cy="3622681"/>
        </p:xfrm>
        <a:graphic>
          <a:graphicData uri="http://schemas.openxmlformats.org/drawingml/2006/table">
            <a:tbl>
              <a:tblPr/>
              <a:tblGrid>
                <a:gridCol w="1249363">
                  <a:extLst>
                    <a:ext uri="{9D8B030D-6E8A-4147-A177-3AD203B41FA5}">
                      <a16:colId xmlns:a16="http://schemas.microsoft.com/office/drawing/2014/main" val="3912772238"/>
                    </a:ext>
                  </a:extLst>
                </a:gridCol>
                <a:gridCol w="1776412">
                  <a:extLst>
                    <a:ext uri="{9D8B030D-6E8A-4147-A177-3AD203B41FA5}">
                      <a16:colId xmlns:a16="http://schemas.microsoft.com/office/drawing/2014/main" val="2751956576"/>
                    </a:ext>
                  </a:extLst>
                </a:gridCol>
                <a:gridCol w="858838">
                  <a:extLst>
                    <a:ext uri="{9D8B030D-6E8A-4147-A177-3AD203B41FA5}">
                      <a16:colId xmlns:a16="http://schemas.microsoft.com/office/drawing/2014/main" val="3793646974"/>
                    </a:ext>
                  </a:extLst>
                </a:gridCol>
                <a:gridCol w="1173162">
                  <a:extLst>
                    <a:ext uri="{9D8B030D-6E8A-4147-A177-3AD203B41FA5}">
                      <a16:colId xmlns:a16="http://schemas.microsoft.com/office/drawing/2014/main" val="2018394263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3649770345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3394994900"/>
                    </a:ext>
                  </a:extLst>
                </a:gridCol>
                <a:gridCol w="1169987">
                  <a:extLst>
                    <a:ext uri="{9D8B030D-6E8A-4147-A177-3AD203B41FA5}">
                      <a16:colId xmlns:a16="http://schemas.microsoft.com/office/drawing/2014/main" val="852432747"/>
                    </a:ext>
                  </a:extLst>
                </a:gridCol>
              </a:tblGrid>
              <a:tr h="522173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迭代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u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dist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dist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dist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[4]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dist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[5]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763416"/>
                  </a:ext>
                </a:extLst>
              </a:tr>
              <a:tr h="822934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初始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{1}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-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maxint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503739"/>
                  </a:ext>
                </a:extLst>
              </a:tr>
              <a:tr h="569789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{1,2}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60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699526"/>
                  </a:ext>
                </a:extLst>
              </a:tr>
              <a:tr h="568201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{1,2,4}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50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90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557053"/>
                  </a:ext>
                </a:extLst>
              </a:tr>
              <a:tr h="569789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{1,2,4,3}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50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60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573556"/>
                  </a:ext>
                </a:extLst>
              </a:tr>
              <a:tr h="569789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{1,2,4,3,5}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50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60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775503"/>
                  </a:ext>
                </a:extLst>
              </a:tr>
            </a:tbl>
          </a:graphicData>
        </a:graphic>
      </p:graphicFrame>
      <p:pic>
        <p:nvPicPr>
          <p:cNvPr id="62526" name="Picture 62" descr="t44">
            <a:extLst>
              <a:ext uri="{FF2B5EF4-FFF2-40B4-BE49-F238E27FC236}">
                <a16:creationId xmlns:a16="http://schemas.microsoft.com/office/drawing/2014/main" id="{C172FFDC-D9D1-49AD-8587-5DF44A058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28600"/>
            <a:ext cx="2895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1E8A5119-6B0A-4B30-B6B8-4E3192D1E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kumimoji="0" lang="zh-CN" altLang="en-US" sz="3600" b="1">
                <a:solidFill>
                  <a:srgbClr val="000000"/>
                </a:solidFill>
                <a:latin typeface="华文中宋" panose="02010600040101010101" pitchFamily="2" charset="-122"/>
              </a:rPr>
              <a:t>练习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9771A3FC-8E35-4DEB-84EE-0C5EC577E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526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从源顶点</a:t>
            </a:r>
            <a:r>
              <a:rPr lang="en-US" altLang="zh-CN" sz="2800" b="1">
                <a:latin typeface="华文中宋" panose="02010600040101010101" pitchFamily="2" charset="-122"/>
              </a:rPr>
              <a:t>O</a:t>
            </a:r>
            <a:r>
              <a:rPr lang="zh-CN" altLang="en-US" sz="2800" b="1">
                <a:latin typeface="华文中宋" panose="02010600040101010101" pitchFamily="2" charset="-122"/>
              </a:rPr>
              <a:t>到其他顶点间最短路径</a:t>
            </a:r>
          </a:p>
        </p:txBody>
      </p:sp>
      <p:graphicFrame>
        <p:nvGraphicFramePr>
          <p:cNvPr id="76834" name="Group 34">
            <a:extLst>
              <a:ext uri="{FF2B5EF4-FFF2-40B4-BE49-F238E27FC236}">
                <a16:creationId xmlns:a16="http://schemas.microsoft.com/office/drawing/2014/main" id="{54070493-4CC0-47FA-9BC9-C7A933BD4699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909888"/>
          <a:ext cx="6324600" cy="2732087"/>
        </p:xfrm>
        <a:graphic>
          <a:graphicData uri="http://schemas.openxmlformats.org/drawingml/2006/table">
            <a:tbl>
              <a:tblPr/>
              <a:tblGrid>
                <a:gridCol w="210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5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    3</a:t>
                      </a:r>
                    </a:p>
                  </a:txBody>
                  <a:tcPr marL="57150" marR="57150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    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  2</a:t>
                      </a:r>
                    </a:p>
                  </a:txBody>
                  <a:tcPr marL="57150" marR="57150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  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2                    4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    2</a:t>
                      </a:r>
                    </a:p>
                  </a:txBody>
                  <a:tcPr marL="57150" marR="57150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    1</a:t>
                      </a:r>
                    </a:p>
                  </a:txBody>
                  <a:tcPr marL="57150" marR="57150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   2 </a:t>
                      </a:r>
                    </a:p>
                  </a:txBody>
                  <a:tcPr marL="57150" marR="57150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lain" startAt="2"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        2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    3   </a:t>
                      </a:r>
                    </a:p>
                  </a:txBody>
                  <a:tcPr marL="57150" marR="57150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3506" name="Text Box 35">
            <a:extLst>
              <a:ext uri="{FF2B5EF4-FFF2-40B4-BE49-F238E27FC236}">
                <a16:creationId xmlns:a16="http://schemas.microsoft.com/office/drawing/2014/main" id="{DBCC69A0-6750-4D25-97B0-29F24C13E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638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Palatino Linotype" panose="02040502050505030304" pitchFamily="18" charset="0"/>
                <a:ea typeface="华文中宋" panose="02010600040101010101" pitchFamily="2" charset="-122"/>
              </a:rPr>
              <a:t>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FC61393-3821-4026-872B-96E776432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latin typeface="华文中宋" panose="02010600040101010101" pitchFamily="2" charset="-122"/>
              </a:rPr>
              <a:t>2.</a:t>
            </a:r>
            <a:r>
              <a:rPr lang="zh-CN" altLang="en-US" sz="4000" b="1">
                <a:latin typeface="华文中宋" panose="02010600040101010101" pitchFamily="2" charset="-122"/>
              </a:rPr>
              <a:t>算法过程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76C4758-C5CE-4CD7-9F0F-B573A166B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4582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2800" b="1">
                <a:latin typeface="华文中宋" panose="02010600040101010101" pitchFamily="2" charset="-122"/>
              </a:rPr>
              <a:t>  </a:t>
            </a:r>
            <a:r>
              <a:rPr lang="zh-CN" altLang="en-US" sz="2800" b="1">
                <a:latin typeface="华文中宋" panose="02010600040101010101" pitchFamily="2" charset="-122"/>
              </a:rPr>
              <a:t>用</a:t>
            </a:r>
            <a:r>
              <a:rPr lang="en-US" altLang="zh-CN" sz="2800" b="1">
                <a:latin typeface="华文中宋" panose="02010600040101010101" pitchFamily="2" charset="-122"/>
              </a:rPr>
              <a:t>a[i][j]</a:t>
            </a:r>
            <a:r>
              <a:rPr lang="zh-CN" altLang="en-US" sz="2800" b="1">
                <a:latin typeface="华文中宋" panose="02010600040101010101" pitchFamily="2" charset="-122"/>
              </a:rPr>
              <a:t>记边（</a:t>
            </a:r>
            <a:r>
              <a:rPr lang="en-US" altLang="zh-CN" sz="2800" b="1">
                <a:latin typeface="华文中宋" panose="02010600040101010101" pitchFamily="2" charset="-122"/>
              </a:rPr>
              <a:t>i,j</a:t>
            </a:r>
            <a:r>
              <a:rPr lang="zh-CN" altLang="en-US" sz="2800" b="1">
                <a:latin typeface="华文中宋" panose="02010600040101010101" pitchFamily="2" charset="-122"/>
              </a:rPr>
              <a:t>）的权，数组</a:t>
            </a:r>
            <a:r>
              <a:rPr lang="en-US" altLang="zh-CN" sz="2800" b="1">
                <a:latin typeface="华文中宋" panose="02010600040101010101" pitchFamily="2" charset="-122"/>
              </a:rPr>
              <a:t>dist[u]</a:t>
            </a:r>
            <a:r>
              <a:rPr lang="zh-CN" altLang="en-US" sz="2800" b="1">
                <a:latin typeface="华文中宋" panose="02010600040101010101" pitchFamily="2" charset="-122"/>
              </a:rPr>
              <a:t>记从源</a:t>
            </a:r>
            <a:r>
              <a:rPr lang="en-US" altLang="zh-CN" sz="2800" b="1">
                <a:latin typeface="华文中宋" panose="02010600040101010101" pitchFamily="2" charset="-122"/>
              </a:rPr>
              <a:t>v</a:t>
            </a:r>
            <a:r>
              <a:rPr lang="zh-CN" altLang="en-US" sz="2800" b="1">
                <a:latin typeface="华文中宋" panose="02010600040101010101" pitchFamily="2" charset="-122"/>
              </a:rPr>
              <a:t>到顶点</a:t>
            </a:r>
            <a:r>
              <a:rPr lang="en-US" altLang="zh-CN" sz="2800" b="1">
                <a:latin typeface="华文中宋" panose="02010600040101010101" pitchFamily="2" charset="-122"/>
              </a:rPr>
              <a:t>u</a:t>
            </a:r>
            <a:r>
              <a:rPr lang="zh-CN" altLang="en-US" sz="2800" b="1">
                <a:latin typeface="华文中宋" panose="02010600040101010101" pitchFamily="2" charset="-122"/>
              </a:rPr>
              <a:t>所对应的最短特殊路径长度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2800" b="1">
                <a:latin typeface="华文中宋" panose="02010600040101010101" pitchFamily="2" charset="-122"/>
              </a:rPr>
              <a:t>S1:</a:t>
            </a:r>
            <a:r>
              <a:rPr lang="zh-CN" altLang="en-US" sz="2800" b="1">
                <a:latin typeface="华文中宋" panose="02010600040101010101" pitchFamily="2" charset="-122"/>
              </a:rPr>
              <a:t>初始化，</a:t>
            </a:r>
            <a:r>
              <a:rPr lang="en-US" altLang="zh-CN" sz="2800" b="1">
                <a:latin typeface="华文中宋" panose="02010600040101010101" pitchFamily="2" charset="-122"/>
              </a:rPr>
              <a:t>S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, T,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对每个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yS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{  dist[y]=a[v][y];prev[y]=nil;  }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S2: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若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S=V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，则输出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dist,prev,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结束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S3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uV\S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中有最小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dist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值的点，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SS{u}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S4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：对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u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的每个相邻顶点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x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，调整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dist[x]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：即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       若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dist[x]&gt;dist[u]+a[u][x],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{ dist[x]=dist[u]+a[u][x];prev[x]=u },</a:t>
            </a:r>
            <a:r>
              <a:rPr lang="zh-CN" altLang="en-US" sz="2800" b="1">
                <a:latin typeface="华文中宋" panose="02010600040101010101" pitchFamily="2" charset="-122"/>
                <a:sym typeface="Symbol" panose="05050102010706020507" pitchFamily="18" charset="2"/>
              </a:rPr>
              <a:t>转</a:t>
            </a:r>
            <a:r>
              <a:rPr lang="en-US" altLang="zh-CN" sz="2800" b="1">
                <a:latin typeface="华文中宋" panose="02010600040101010101" pitchFamily="2" charset="-122"/>
                <a:sym typeface="Symbol" panose="05050102010706020507" pitchFamily="18" charset="2"/>
              </a:rPr>
              <a:t>S2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E4467AD-39D8-4B8B-A43C-6B7CC16724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算法的正确性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91DC5EF-D6E1-43F9-96B5-5F53F5077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4724400" cy="1828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贪心选择性质</a:t>
            </a:r>
          </a:p>
          <a:p>
            <a:pPr eaLnBrk="1" hangingPunct="1"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从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S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外具有最短特殊路径的点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u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必定使</a:t>
            </a: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dist[u]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最短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4748E96D-AB93-4FF3-8B32-DD078378A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95600"/>
            <a:ext cx="4724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800" b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最优子结构性质</a:t>
            </a:r>
            <a:endParaRPr lang="zh-CN" altLang="en-US" sz="280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	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添加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后其它外部点的距离调整仅与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有关</a:t>
            </a: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B3BD08B7-F7F2-45C7-878F-82E3F4C2D6A0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752600"/>
            <a:ext cx="3352800" cy="2019300"/>
            <a:chOff x="2976" y="1104"/>
            <a:chExt cx="2112" cy="1272"/>
          </a:xfrm>
        </p:grpSpPr>
        <p:sp>
          <p:nvSpPr>
            <p:cNvPr id="65569" name="Freeform 5">
              <a:extLst>
                <a:ext uri="{FF2B5EF4-FFF2-40B4-BE49-F238E27FC236}">
                  <a16:creationId xmlns:a16="http://schemas.microsoft.com/office/drawing/2014/main" id="{AAF1389F-D90B-437C-9CE1-CB9BA45B1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104"/>
              <a:ext cx="1616" cy="1272"/>
            </a:xfrm>
            <a:custGeom>
              <a:avLst/>
              <a:gdLst>
                <a:gd name="T0" fmla="*/ 448 w 1616"/>
                <a:gd name="T1" fmla="*/ 256 h 1272"/>
                <a:gd name="T2" fmla="*/ 64 w 1616"/>
                <a:gd name="T3" fmla="*/ 352 h 1272"/>
                <a:gd name="T4" fmla="*/ 64 w 1616"/>
                <a:gd name="T5" fmla="*/ 592 h 1272"/>
                <a:gd name="T6" fmla="*/ 112 w 1616"/>
                <a:gd name="T7" fmla="*/ 880 h 1272"/>
                <a:gd name="T8" fmla="*/ 640 w 1616"/>
                <a:gd name="T9" fmla="*/ 1216 h 1272"/>
                <a:gd name="T10" fmla="*/ 1168 w 1616"/>
                <a:gd name="T11" fmla="*/ 1216 h 1272"/>
                <a:gd name="T12" fmla="*/ 1552 w 1616"/>
                <a:gd name="T13" fmla="*/ 880 h 1272"/>
                <a:gd name="T14" fmla="*/ 1552 w 1616"/>
                <a:gd name="T15" fmla="*/ 352 h 1272"/>
                <a:gd name="T16" fmla="*/ 1216 w 1616"/>
                <a:gd name="T17" fmla="*/ 448 h 1272"/>
                <a:gd name="T18" fmla="*/ 976 w 1616"/>
                <a:gd name="T19" fmla="*/ 208 h 1272"/>
                <a:gd name="T20" fmla="*/ 928 w 1616"/>
                <a:gd name="T21" fmla="*/ 16 h 1272"/>
                <a:gd name="T22" fmla="*/ 784 w 1616"/>
                <a:gd name="T23" fmla="*/ 112 h 1272"/>
                <a:gd name="T24" fmla="*/ 784 w 1616"/>
                <a:gd name="T25" fmla="*/ 256 h 1272"/>
                <a:gd name="T26" fmla="*/ 544 w 1616"/>
                <a:gd name="T27" fmla="*/ 16 h 1272"/>
                <a:gd name="T28" fmla="*/ 448 w 1616"/>
                <a:gd name="T29" fmla="*/ 256 h 12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616"/>
                <a:gd name="T46" fmla="*/ 0 h 1272"/>
                <a:gd name="T47" fmla="*/ 1616 w 1616"/>
                <a:gd name="T48" fmla="*/ 1272 h 127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616" h="1272">
                  <a:moveTo>
                    <a:pt x="448" y="256"/>
                  </a:moveTo>
                  <a:cubicBezTo>
                    <a:pt x="368" y="312"/>
                    <a:pt x="128" y="296"/>
                    <a:pt x="64" y="352"/>
                  </a:cubicBezTo>
                  <a:cubicBezTo>
                    <a:pt x="0" y="408"/>
                    <a:pt x="56" y="504"/>
                    <a:pt x="64" y="592"/>
                  </a:cubicBezTo>
                  <a:cubicBezTo>
                    <a:pt x="72" y="680"/>
                    <a:pt x="16" y="776"/>
                    <a:pt x="112" y="880"/>
                  </a:cubicBezTo>
                  <a:cubicBezTo>
                    <a:pt x="208" y="984"/>
                    <a:pt x="464" y="1160"/>
                    <a:pt x="640" y="1216"/>
                  </a:cubicBezTo>
                  <a:cubicBezTo>
                    <a:pt x="816" y="1272"/>
                    <a:pt x="1016" y="1272"/>
                    <a:pt x="1168" y="1216"/>
                  </a:cubicBezTo>
                  <a:cubicBezTo>
                    <a:pt x="1320" y="1160"/>
                    <a:pt x="1488" y="1024"/>
                    <a:pt x="1552" y="880"/>
                  </a:cubicBezTo>
                  <a:cubicBezTo>
                    <a:pt x="1616" y="736"/>
                    <a:pt x="1608" y="424"/>
                    <a:pt x="1552" y="352"/>
                  </a:cubicBezTo>
                  <a:cubicBezTo>
                    <a:pt x="1496" y="280"/>
                    <a:pt x="1312" y="472"/>
                    <a:pt x="1216" y="448"/>
                  </a:cubicBezTo>
                  <a:cubicBezTo>
                    <a:pt x="1120" y="424"/>
                    <a:pt x="1024" y="280"/>
                    <a:pt x="976" y="208"/>
                  </a:cubicBezTo>
                  <a:cubicBezTo>
                    <a:pt x="928" y="136"/>
                    <a:pt x="960" y="32"/>
                    <a:pt x="928" y="16"/>
                  </a:cubicBezTo>
                  <a:cubicBezTo>
                    <a:pt x="896" y="0"/>
                    <a:pt x="808" y="72"/>
                    <a:pt x="784" y="112"/>
                  </a:cubicBezTo>
                  <a:cubicBezTo>
                    <a:pt x="760" y="152"/>
                    <a:pt x="824" y="272"/>
                    <a:pt x="784" y="256"/>
                  </a:cubicBezTo>
                  <a:cubicBezTo>
                    <a:pt x="744" y="240"/>
                    <a:pt x="592" y="16"/>
                    <a:pt x="544" y="16"/>
                  </a:cubicBezTo>
                  <a:cubicBezTo>
                    <a:pt x="496" y="16"/>
                    <a:pt x="528" y="200"/>
                    <a:pt x="448" y="25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0" name="Text Box 6">
              <a:extLst>
                <a:ext uri="{FF2B5EF4-FFF2-40B4-BE49-F238E27FC236}">
                  <a16:creationId xmlns:a16="http://schemas.microsoft.com/office/drawing/2014/main" id="{A1231103-46F9-4085-8ECB-5AB3446D5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10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u</a:t>
              </a:r>
            </a:p>
          </p:txBody>
        </p:sp>
        <p:sp>
          <p:nvSpPr>
            <p:cNvPr id="65571" name="Text Box 7">
              <a:extLst>
                <a:ext uri="{FF2B5EF4-FFF2-40B4-BE49-F238E27FC236}">
                  <a16:creationId xmlns:a16="http://schemas.microsoft.com/office/drawing/2014/main" id="{0C63C8FA-5019-493F-B08E-ACB09C3D8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S</a:t>
              </a:r>
            </a:p>
          </p:txBody>
        </p:sp>
        <p:sp>
          <p:nvSpPr>
            <p:cNvPr id="65572" name="Text Box 8">
              <a:extLst>
                <a:ext uri="{FF2B5EF4-FFF2-40B4-BE49-F238E27FC236}">
                  <a16:creationId xmlns:a16="http://schemas.microsoft.com/office/drawing/2014/main" id="{7CCC54A0-B10C-4910-870A-923564C76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9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x</a:t>
              </a:r>
            </a:p>
          </p:txBody>
        </p:sp>
        <p:sp>
          <p:nvSpPr>
            <p:cNvPr id="65573" name="Text Box 9">
              <a:extLst>
                <a:ext uri="{FF2B5EF4-FFF2-40B4-BE49-F238E27FC236}">
                  <a16:creationId xmlns:a16="http://schemas.microsoft.com/office/drawing/2014/main" id="{C63BC550-AE0A-4502-AE68-541DD3274F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4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v</a:t>
              </a:r>
            </a:p>
          </p:txBody>
        </p:sp>
        <p:sp>
          <p:nvSpPr>
            <p:cNvPr id="65574" name="Oval 10">
              <a:extLst>
                <a:ext uri="{FF2B5EF4-FFF2-40B4-BE49-F238E27FC236}">
                  <a16:creationId xmlns:a16="http://schemas.microsoft.com/office/drawing/2014/main" id="{0B3536BE-7C5A-49E7-A763-9FBEE3D1B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680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5575" name="Oval 11">
              <a:extLst>
                <a:ext uri="{FF2B5EF4-FFF2-40B4-BE49-F238E27FC236}">
                  <a16:creationId xmlns:a16="http://schemas.microsoft.com/office/drawing/2014/main" id="{C1D8E38A-BD1F-4FC6-9C1F-5C80F2F37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248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5576" name="Oval 12">
              <a:extLst>
                <a:ext uri="{FF2B5EF4-FFF2-40B4-BE49-F238E27FC236}">
                  <a16:creationId xmlns:a16="http://schemas.microsoft.com/office/drawing/2014/main" id="{5F9F45B6-9576-4CD2-87E2-AD57145F1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112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cxnSp>
          <p:nvCxnSpPr>
            <p:cNvPr id="65577" name="AutoShape 13">
              <a:extLst>
                <a:ext uri="{FF2B5EF4-FFF2-40B4-BE49-F238E27FC236}">
                  <a16:creationId xmlns:a16="http://schemas.microsoft.com/office/drawing/2014/main" id="{88A6F20B-CD18-44A9-809F-1407DD1B6869}"/>
                </a:ext>
              </a:extLst>
            </p:cNvPr>
            <p:cNvCxnSpPr>
              <a:cxnSpLocks noChangeShapeType="1"/>
              <a:stCxn id="65574" idx="6"/>
              <a:endCxn id="65575" idx="2"/>
            </p:cNvCxnSpPr>
            <p:nvPr/>
          </p:nvCxnSpPr>
          <p:spPr bwMode="auto">
            <a:xfrm flipV="1">
              <a:off x="3792" y="1272"/>
              <a:ext cx="912" cy="432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78" name="AutoShape 14">
              <a:extLst>
                <a:ext uri="{FF2B5EF4-FFF2-40B4-BE49-F238E27FC236}">
                  <a16:creationId xmlns:a16="http://schemas.microsoft.com/office/drawing/2014/main" id="{E795403C-5F57-4C7C-B359-EDB7DE622832}"/>
                </a:ext>
              </a:extLst>
            </p:cNvPr>
            <p:cNvCxnSpPr>
              <a:cxnSpLocks noChangeShapeType="1"/>
              <a:stCxn id="65574" idx="5"/>
            </p:cNvCxnSpPr>
            <p:nvPr/>
          </p:nvCxnSpPr>
          <p:spPr bwMode="auto">
            <a:xfrm rot="16200000" flipH="1">
              <a:off x="4013" y="1493"/>
              <a:ext cx="415" cy="87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79" name="AutoShape 16">
              <a:extLst>
                <a:ext uri="{FF2B5EF4-FFF2-40B4-BE49-F238E27FC236}">
                  <a16:creationId xmlns:a16="http://schemas.microsoft.com/office/drawing/2014/main" id="{6DD2189A-C887-4CFB-ACE5-B8530C811AE0}"/>
                </a:ext>
              </a:extLst>
            </p:cNvPr>
            <p:cNvCxnSpPr>
              <a:cxnSpLocks noChangeShapeType="1"/>
              <a:stCxn id="65576" idx="2"/>
              <a:endCxn id="65575" idx="5"/>
            </p:cNvCxnSpPr>
            <p:nvPr/>
          </p:nvCxnSpPr>
          <p:spPr bwMode="auto">
            <a:xfrm rot="10800000" flipH="1">
              <a:off x="4656" y="1289"/>
              <a:ext cx="89" cy="847"/>
            </a:xfrm>
            <a:prstGeom prst="curvedConnector4">
              <a:avLst>
                <a:gd name="adj1" fmla="val -161796"/>
                <a:gd name="adj2" fmla="val 51005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43">
            <a:extLst>
              <a:ext uri="{FF2B5EF4-FFF2-40B4-BE49-F238E27FC236}">
                <a16:creationId xmlns:a16="http://schemas.microsoft.com/office/drawing/2014/main" id="{AD66FFDD-F8AE-4C17-A92E-259098088E1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533900"/>
            <a:ext cx="3352800" cy="2019300"/>
            <a:chOff x="480" y="2808"/>
            <a:chExt cx="2112" cy="1272"/>
          </a:xfrm>
        </p:grpSpPr>
        <p:sp>
          <p:nvSpPr>
            <p:cNvPr id="65558" name="Freeform 19">
              <a:extLst>
                <a:ext uri="{FF2B5EF4-FFF2-40B4-BE49-F238E27FC236}">
                  <a16:creationId xmlns:a16="http://schemas.microsoft.com/office/drawing/2014/main" id="{51577072-82EC-4C63-B249-B3EF1ED24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808"/>
              <a:ext cx="1616" cy="1272"/>
            </a:xfrm>
            <a:custGeom>
              <a:avLst/>
              <a:gdLst>
                <a:gd name="T0" fmla="*/ 448 w 1616"/>
                <a:gd name="T1" fmla="*/ 256 h 1272"/>
                <a:gd name="T2" fmla="*/ 64 w 1616"/>
                <a:gd name="T3" fmla="*/ 352 h 1272"/>
                <a:gd name="T4" fmla="*/ 64 w 1616"/>
                <a:gd name="T5" fmla="*/ 592 h 1272"/>
                <a:gd name="T6" fmla="*/ 112 w 1616"/>
                <a:gd name="T7" fmla="*/ 880 h 1272"/>
                <a:gd name="T8" fmla="*/ 640 w 1616"/>
                <a:gd name="T9" fmla="*/ 1216 h 1272"/>
                <a:gd name="T10" fmla="*/ 1168 w 1616"/>
                <a:gd name="T11" fmla="*/ 1216 h 1272"/>
                <a:gd name="T12" fmla="*/ 1552 w 1616"/>
                <a:gd name="T13" fmla="*/ 880 h 1272"/>
                <a:gd name="T14" fmla="*/ 1552 w 1616"/>
                <a:gd name="T15" fmla="*/ 352 h 1272"/>
                <a:gd name="T16" fmla="*/ 1216 w 1616"/>
                <a:gd name="T17" fmla="*/ 448 h 1272"/>
                <a:gd name="T18" fmla="*/ 976 w 1616"/>
                <a:gd name="T19" fmla="*/ 208 h 1272"/>
                <a:gd name="T20" fmla="*/ 928 w 1616"/>
                <a:gd name="T21" fmla="*/ 16 h 1272"/>
                <a:gd name="T22" fmla="*/ 784 w 1616"/>
                <a:gd name="T23" fmla="*/ 112 h 1272"/>
                <a:gd name="T24" fmla="*/ 784 w 1616"/>
                <a:gd name="T25" fmla="*/ 256 h 1272"/>
                <a:gd name="T26" fmla="*/ 544 w 1616"/>
                <a:gd name="T27" fmla="*/ 16 h 1272"/>
                <a:gd name="T28" fmla="*/ 448 w 1616"/>
                <a:gd name="T29" fmla="*/ 256 h 12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616"/>
                <a:gd name="T46" fmla="*/ 0 h 1272"/>
                <a:gd name="T47" fmla="*/ 1616 w 1616"/>
                <a:gd name="T48" fmla="*/ 1272 h 127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616" h="1272">
                  <a:moveTo>
                    <a:pt x="448" y="256"/>
                  </a:moveTo>
                  <a:cubicBezTo>
                    <a:pt x="368" y="312"/>
                    <a:pt x="128" y="296"/>
                    <a:pt x="64" y="352"/>
                  </a:cubicBezTo>
                  <a:cubicBezTo>
                    <a:pt x="0" y="408"/>
                    <a:pt x="56" y="504"/>
                    <a:pt x="64" y="592"/>
                  </a:cubicBezTo>
                  <a:cubicBezTo>
                    <a:pt x="72" y="680"/>
                    <a:pt x="16" y="776"/>
                    <a:pt x="112" y="880"/>
                  </a:cubicBezTo>
                  <a:cubicBezTo>
                    <a:pt x="208" y="984"/>
                    <a:pt x="464" y="1160"/>
                    <a:pt x="640" y="1216"/>
                  </a:cubicBezTo>
                  <a:cubicBezTo>
                    <a:pt x="816" y="1272"/>
                    <a:pt x="1016" y="1272"/>
                    <a:pt x="1168" y="1216"/>
                  </a:cubicBezTo>
                  <a:cubicBezTo>
                    <a:pt x="1320" y="1160"/>
                    <a:pt x="1488" y="1024"/>
                    <a:pt x="1552" y="880"/>
                  </a:cubicBezTo>
                  <a:cubicBezTo>
                    <a:pt x="1616" y="736"/>
                    <a:pt x="1608" y="424"/>
                    <a:pt x="1552" y="352"/>
                  </a:cubicBezTo>
                  <a:cubicBezTo>
                    <a:pt x="1496" y="280"/>
                    <a:pt x="1312" y="472"/>
                    <a:pt x="1216" y="448"/>
                  </a:cubicBezTo>
                  <a:cubicBezTo>
                    <a:pt x="1120" y="424"/>
                    <a:pt x="1024" y="280"/>
                    <a:pt x="976" y="208"/>
                  </a:cubicBezTo>
                  <a:cubicBezTo>
                    <a:pt x="928" y="136"/>
                    <a:pt x="960" y="32"/>
                    <a:pt x="928" y="16"/>
                  </a:cubicBezTo>
                  <a:cubicBezTo>
                    <a:pt x="896" y="0"/>
                    <a:pt x="808" y="72"/>
                    <a:pt x="784" y="112"/>
                  </a:cubicBezTo>
                  <a:cubicBezTo>
                    <a:pt x="760" y="152"/>
                    <a:pt x="824" y="272"/>
                    <a:pt x="784" y="256"/>
                  </a:cubicBezTo>
                  <a:cubicBezTo>
                    <a:pt x="744" y="240"/>
                    <a:pt x="592" y="16"/>
                    <a:pt x="544" y="16"/>
                  </a:cubicBezTo>
                  <a:cubicBezTo>
                    <a:pt x="496" y="16"/>
                    <a:pt x="528" y="200"/>
                    <a:pt x="448" y="25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9" name="Text Box 20">
              <a:extLst>
                <a:ext uri="{FF2B5EF4-FFF2-40B4-BE49-F238E27FC236}">
                  <a16:creationId xmlns:a16="http://schemas.microsoft.com/office/drawing/2014/main" id="{F05C78C3-D6C1-45FC-82DC-6F73F4798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80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i</a:t>
              </a:r>
            </a:p>
          </p:txBody>
        </p:sp>
        <p:sp>
          <p:nvSpPr>
            <p:cNvPr id="65560" name="Text Box 21">
              <a:extLst>
                <a:ext uri="{FF2B5EF4-FFF2-40B4-BE49-F238E27FC236}">
                  <a16:creationId xmlns:a16="http://schemas.microsoft.com/office/drawing/2014/main" id="{C5C4DDAD-782F-4501-B97C-6632F1283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43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latin typeface="Palatino Linotype" panose="02040502050505030304" pitchFamily="18" charset="0"/>
                  <a:ea typeface="华文中宋" panose="02010600040101010101" pitchFamily="2" charset="-122"/>
                </a:rPr>
                <a:t>老</a:t>
              </a: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S</a:t>
              </a:r>
            </a:p>
          </p:txBody>
        </p:sp>
        <p:sp>
          <p:nvSpPr>
            <p:cNvPr id="65561" name="Text Box 22">
              <a:extLst>
                <a:ext uri="{FF2B5EF4-FFF2-40B4-BE49-F238E27FC236}">
                  <a16:creationId xmlns:a16="http://schemas.microsoft.com/office/drawing/2014/main" id="{329C0967-3568-48E6-88D6-7626920B3A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6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u</a:t>
              </a:r>
            </a:p>
          </p:txBody>
        </p:sp>
        <p:sp>
          <p:nvSpPr>
            <p:cNvPr id="65562" name="Text Box 23">
              <a:extLst>
                <a:ext uri="{FF2B5EF4-FFF2-40B4-BE49-F238E27FC236}">
                  <a16:creationId xmlns:a16="http://schemas.microsoft.com/office/drawing/2014/main" id="{D5AFF5EF-DE20-4157-8A29-1B3D64C80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1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v</a:t>
              </a:r>
            </a:p>
          </p:txBody>
        </p:sp>
        <p:sp>
          <p:nvSpPr>
            <p:cNvPr id="65563" name="Oval 24">
              <a:extLst>
                <a:ext uri="{FF2B5EF4-FFF2-40B4-BE49-F238E27FC236}">
                  <a16:creationId xmlns:a16="http://schemas.microsoft.com/office/drawing/2014/main" id="{D183E9A5-1DBE-4855-A82F-BB3739688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384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5564" name="Oval 25">
              <a:extLst>
                <a:ext uri="{FF2B5EF4-FFF2-40B4-BE49-F238E27FC236}">
                  <a16:creationId xmlns:a16="http://schemas.microsoft.com/office/drawing/2014/main" id="{056B8980-C5FF-4792-BFBD-E3717A012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952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5565" name="Oval 26">
              <a:extLst>
                <a:ext uri="{FF2B5EF4-FFF2-40B4-BE49-F238E27FC236}">
                  <a16:creationId xmlns:a16="http://schemas.microsoft.com/office/drawing/2014/main" id="{DBA69BEB-3E74-4395-95B3-11BF46E27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16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cxnSp>
          <p:nvCxnSpPr>
            <p:cNvPr id="65566" name="AutoShape 27">
              <a:extLst>
                <a:ext uri="{FF2B5EF4-FFF2-40B4-BE49-F238E27FC236}">
                  <a16:creationId xmlns:a16="http://schemas.microsoft.com/office/drawing/2014/main" id="{995E940F-0CAF-48C3-84E1-0AE85978C1EC}"/>
                </a:ext>
              </a:extLst>
            </p:cNvPr>
            <p:cNvCxnSpPr>
              <a:cxnSpLocks noChangeShapeType="1"/>
              <a:stCxn id="65563" idx="6"/>
              <a:endCxn id="65564" idx="2"/>
            </p:cNvCxnSpPr>
            <p:nvPr/>
          </p:nvCxnSpPr>
          <p:spPr bwMode="auto">
            <a:xfrm flipV="1">
              <a:off x="1296" y="2976"/>
              <a:ext cx="912" cy="432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7" name="AutoShape 28">
              <a:extLst>
                <a:ext uri="{FF2B5EF4-FFF2-40B4-BE49-F238E27FC236}">
                  <a16:creationId xmlns:a16="http://schemas.microsoft.com/office/drawing/2014/main" id="{939CFE19-3F2E-45D7-92B8-31AA7F4435C1}"/>
                </a:ext>
              </a:extLst>
            </p:cNvPr>
            <p:cNvCxnSpPr>
              <a:cxnSpLocks noChangeShapeType="1"/>
              <a:stCxn id="65563" idx="5"/>
            </p:cNvCxnSpPr>
            <p:nvPr/>
          </p:nvCxnSpPr>
          <p:spPr bwMode="auto">
            <a:xfrm rot="16200000" flipH="1">
              <a:off x="1517" y="3197"/>
              <a:ext cx="415" cy="87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68" name="AutoShape 42">
              <a:extLst>
                <a:ext uri="{FF2B5EF4-FFF2-40B4-BE49-F238E27FC236}">
                  <a16:creationId xmlns:a16="http://schemas.microsoft.com/office/drawing/2014/main" id="{2353BE8F-D975-483A-8C16-BE776A77CBAB}"/>
                </a:ext>
              </a:extLst>
            </p:cNvPr>
            <p:cNvCxnSpPr>
              <a:cxnSpLocks noChangeShapeType="1"/>
              <a:stCxn id="65565" idx="7"/>
              <a:endCxn id="65564" idx="4"/>
            </p:cNvCxnSpPr>
            <p:nvPr/>
          </p:nvCxnSpPr>
          <p:spPr bwMode="auto">
            <a:xfrm flipV="1">
              <a:off x="2201" y="3000"/>
              <a:ext cx="31" cy="82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47">
            <a:extLst>
              <a:ext uri="{FF2B5EF4-FFF2-40B4-BE49-F238E27FC236}">
                <a16:creationId xmlns:a16="http://schemas.microsoft.com/office/drawing/2014/main" id="{A5A1F6D7-76E3-40CD-8219-B9653F4E5E9D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4267200"/>
            <a:ext cx="3352800" cy="2019300"/>
            <a:chOff x="3072" y="2688"/>
            <a:chExt cx="2112" cy="1272"/>
          </a:xfrm>
        </p:grpSpPr>
        <p:sp>
          <p:nvSpPr>
            <p:cNvPr id="65544" name="Freeform 31">
              <a:extLst>
                <a:ext uri="{FF2B5EF4-FFF2-40B4-BE49-F238E27FC236}">
                  <a16:creationId xmlns:a16="http://schemas.microsoft.com/office/drawing/2014/main" id="{6E3BFF87-BD65-4FF5-A1A9-91396AE74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2688"/>
              <a:ext cx="1616" cy="1272"/>
            </a:xfrm>
            <a:custGeom>
              <a:avLst/>
              <a:gdLst>
                <a:gd name="T0" fmla="*/ 448 w 1616"/>
                <a:gd name="T1" fmla="*/ 256 h 1272"/>
                <a:gd name="T2" fmla="*/ 64 w 1616"/>
                <a:gd name="T3" fmla="*/ 352 h 1272"/>
                <a:gd name="T4" fmla="*/ 64 w 1616"/>
                <a:gd name="T5" fmla="*/ 592 h 1272"/>
                <a:gd name="T6" fmla="*/ 112 w 1616"/>
                <a:gd name="T7" fmla="*/ 880 h 1272"/>
                <a:gd name="T8" fmla="*/ 640 w 1616"/>
                <a:gd name="T9" fmla="*/ 1216 h 1272"/>
                <a:gd name="T10" fmla="*/ 1168 w 1616"/>
                <a:gd name="T11" fmla="*/ 1216 h 1272"/>
                <a:gd name="T12" fmla="*/ 1552 w 1616"/>
                <a:gd name="T13" fmla="*/ 880 h 1272"/>
                <a:gd name="T14" fmla="*/ 1552 w 1616"/>
                <a:gd name="T15" fmla="*/ 352 h 1272"/>
                <a:gd name="T16" fmla="*/ 1216 w 1616"/>
                <a:gd name="T17" fmla="*/ 448 h 1272"/>
                <a:gd name="T18" fmla="*/ 976 w 1616"/>
                <a:gd name="T19" fmla="*/ 208 h 1272"/>
                <a:gd name="T20" fmla="*/ 928 w 1616"/>
                <a:gd name="T21" fmla="*/ 16 h 1272"/>
                <a:gd name="T22" fmla="*/ 784 w 1616"/>
                <a:gd name="T23" fmla="*/ 112 h 1272"/>
                <a:gd name="T24" fmla="*/ 784 w 1616"/>
                <a:gd name="T25" fmla="*/ 256 h 1272"/>
                <a:gd name="T26" fmla="*/ 544 w 1616"/>
                <a:gd name="T27" fmla="*/ 16 h 1272"/>
                <a:gd name="T28" fmla="*/ 448 w 1616"/>
                <a:gd name="T29" fmla="*/ 256 h 12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616"/>
                <a:gd name="T46" fmla="*/ 0 h 1272"/>
                <a:gd name="T47" fmla="*/ 1616 w 1616"/>
                <a:gd name="T48" fmla="*/ 1272 h 127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616" h="1272">
                  <a:moveTo>
                    <a:pt x="448" y="256"/>
                  </a:moveTo>
                  <a:cubicBezTo>
                    <a:pt x="368" y="312"/>
                    <a:pt x="128" y="296"/>
                    <a:pt x="64" y="352"/>
                  </a:cubicBezTo>
                  <a:cubicBezTo>
                    <a:pt x="0" y="408"/>
                    <a:pt x="56" y="504"/>
                    <a:pt x="64" y="592"/>
                  </a:cubicBezTo>
                  <a:cubicBezTo>
                    <a:pt x="72" y="680"/>
                    <a:pt x="16" y="776"/>
                    <a:pt x="112" y="880"/>
                  </a:cubicBezTo>
                  <a:cubicBezTo>
                    <a:pt x="208" y="984"/>
                    <a:pt x="464" y="1160"/>
                    <a:pt x="640" y="1216"/>
                  </a:cubicBezTo>
                  <a:cubicBezTo>
                    <a:pt x="816" y="1272"/>
                    <a:pt x="1016" y="1272"/>
                    <a:pt x="1168" y="1216"/>
                  </a:cubicBezTo>
                  <a:cubicBezTo>
                    <a:pt x="1320" y="1160"/>
                    <a:pt x="1488" y="1024"/>
                    <a:pt x="1552" y="880"/>
                  </a:cubicBezTo>
                  <a:cubicBezTo>
                    <a:pt x="1616" y="736"/>
                    <a:pt x="1608" y="424"/>
                    <a:pt x="1552" y="352"/>
                  </a:cubicBezTo>
                  <a:cubicBezTo>
                    <a:pt x="1496" y="280"/>
                    <a:pt x="1312" y="472"/>
                    <a:pt x="1216" y="448"/>
                  </a:cubicBezTo>
                  <a:cubicBezTo>
                    <a:pt x="1120" y="424"/>
                    <a:pt x="1024" y="280"/>
                    <a:pt x="976" y="208"/>
                  </a:cubicBezTo>
                  <a:cubicBezTo>
                    <a:pt x="928" y="136"/>
                    <a:pt x="960" y="32"/>
                    <a:pt x="928" y="16"/>
                  </a:cubicBezTo>
                  <a:cubicBezTo>
                    <a:pt x="896" y="0"/>
                    <a:pt x="808" y="72"/>
                    <a:pt x="784" y="112"/>
                  </a:cubicBezTo>
                  <a:cubicBezTo>
                    <a:pt x="760" y="152"/>
                    <a:pt x="824" y="272"/>
                    <a:pt x="784" y="256"/>
                  </a:cubicBezTo>
                  <a:cubicBezTo>
                    <a:pt x="744" y="240"/>
                    <a:pt x="592" y="16"/>
                    <a:pt x="544" y="16"/>
                  </a:cubicBezTo>
                  <a:cubicBezTo>
                    <a:pt x="496" y="16"/>
                    <a:pt x="528" y="200"/>
                    <a:pt x="448" y="25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5" name="Text Box 32">
              <a:extLst>
                <a:ext uri="{FF2B5EF4-FFF2-40B4-BE49-F238E27FC236}">
                  <a16:creationId xmlns:a16="http://schemas.microsoft.com/office/drawing/2014/main" id="{7EBDC7C4-ABBC-4D53-AEDE-78E7824BE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71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i</a:t>
              </a:r>
            </a:p>
          </p:txBody>
        </p:sp>
        <p:sp>
          <p:nvSpPr>
            <p:cNvPr id="65546" name="Text Box 33">
              <a:extLst>
                <a:ext uri="{FF2B5EF4-FFF2-40B4-BE49-F238E27FC236}">
                  <a16:creationId xmlns:a16="http://schemas.microsoft.com/office/drawing/2014/main" id="{0AA44416-7C28-460E-A6C8-823E22700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336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latin typeface="Palatino Linotype" panose="02040502050505030304" pitchFamily="18" charset="0"/>
                  <a:ea typeface="华文中宋" panose="02010600040101010101" pitchFamily="2" charset="-122"/>
                </a:rPr>
                <a:t>老</a:t>
              </a: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S</a:t>
              </a:r>
            </a:p>
          </p:txBody>
        </p:sp>
        <p:sp>
          <p:nvSpPr>
            <p:cNvPr id="65547" name="Text Box 34">
              <a:extLst>
                <a:ext uri="{FF2B5EF4-FFF2-40B4-BE49-F238E27FC236}">
                  <a16:creationId xmlns:a16="http://schemas.microsoft.com/office/drawing/2014/main" id="{0823B046-791D-47D0-8311-ED450FFF3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57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u</a:t>
              </a:r>
            </a:p>
          </p:txBody>
        </p:sp>
        <p:sp>
          <p:nvSpPr>
            <p:cNvPr id="65548" name="Text Box 35">
              <a:extLst>
                <a:ext uri="{FF2B5EF4-FFF2-40B4-BE49-F238E27FC236}">
                  <a16:creationId xmlns:a16="http://schemas.microsoft.com/office/drawing/2014/main" id="{19FDBE0C-232F-4F4B-ADA2-74852FAF1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09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v</a:t>
              </a:r>
            </a:p>
          </p:txBody>
        </p:sp>
        <p:sp>
          <p:nvSpPr>
            <p:cNvPr id="65549" name="Oval 36">
              <a:extLst>
                <a:ext uri="{FF2B5EF4-FFF2-40B4-BE49-F238E27FC236}">
                  <a16:creationId xmlns:a16="http://schemas.microsoft.com/office/drawing/2014/main" id="{F73A0711-2255-4C34-8021-BE147E965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288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5550" name="Oval 37">
              <a:extLst>
                <a:ext uri="{FF2B5EF4-FFF2-40B4-BE49-F238E27FC236}">
                  <a16:creationId xmlns:a16="http://schemas.microsoft.com/office/drawing/2014/main" id="{1D99DACE-3849-4CDC-949A-69EF6FC78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856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5551" name="Oval 38">
              <a:extLst>
                <a:ext uri="{FF2B5EF4-FFF2-40B4-BE49-F238E27FC236}">
                  <a16:creationId xmlns:a16="http://schemas.microsoft.com/office/drawing/2014/main" id="{B8E1BF71-6718-4359-A94F-1B17E4F11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3720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cxnSp>
          <p:nvCxnSpPr>
            <p:cNvPr id="65552" name="AutoShape 39">
              <a:extLst>
                <a:ext uri="{FF2B5EF4-FFF2-40B4-BE49-F238E27FC236}">
                  <a16:creationId xmlns:a16="http://schemas.microsoft.com/office/drawing/2014/main" id="{4F3E1FE7-B21F-4995-BA1E-58AFBD7D6887}"/>
                </a:ext>
              </a:extLst>
            </p:cNvPr>
            <p:cNvCxnSpPr>
              <a:cxnSpLocks noChangeShapeType="1"/>
              <a:stCxn id="65549" idx="6"/>
              <a:endCxn id="65557" idx="3"/>
            </p:cNvCxnSpPr>
            <p:nvPr/>
          </p:nvCxnSpPr>
          <p:spPr bwMode="auto">
            <a:xfrm>
              <a:off x="3888" y="3312"/>
              <a:ext cx="624" cy="48"/>
            </a:xfrm>
            <a:prstGeom prst="curvedConnector5">
              <a:avLst>
                <a:gd name="adj1" fmla="val 23079"/>
                <a:gd name="adj2" fmla="val -441667"/>
                <a:gd name="adj3" fmla="val 5176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3" name="AutoShape 40">
              <a:extLst>
                <a:ext uri="{FF2B5EF4-FFF2-40B4-BE49-F238E27FC236}">
                  <a16:creationId xmlns:a16="http://schemas.microsoft.com/office/drawing/2014/main" id="{9710573A-6726-4B08-B773-176C039C91A5}"/>
                </a:ext>
              </a:extLst>
            </p:cNvPr>
            <p:cNvCxnSpPr>
              <a:cxnSpLocks noChangeShapeType="1"/>
              <a:stCxn id="65549" idx="5"/>
            </p:cNvCxnSpPr>
            <p:nvPr/>
          </p:nvCxnSpPr>
          <p:spPr bwMode="auto">
            <a:xfrm rot="16200000" flipH="1">
              <a:off x="4109" y="3101"/>
              <a:ext cx="415" cy="87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4" name="AutoShape 41">
              <a:extLst>
                <a:ext uri="{FF2B5EF4-FFF2-40B4-BE49-F238E27FC236}">
                  <a16:creationId xmlns:a16="http://schemas.microsoft.com/office/drawing/2014/main" id="{E150E124-5A10-40C0-952F-B0436C781247}"/>
                </a:ext>
              </a:extLst>
            </p:cNvPr>
            <p:cNvCxnSpPr>
              <a:cxnSpLocks noChangeShapeType="1"/>
              <a:stCxn id="65547" idx="1"/>
              <a:endCxn id="65555" idx="5"/>
            </p:cNvCxnSpPr>
            <p:nvPr/>
          </p:nvCxnSpPr>
          <p:spPr bwMode="auto">
            <a:xfrm rot="10800000">
              <a:off x="4457" y="3353"/>
              <a:ext cx="343" cy="36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5555" name="Oval 44">
              <a:extLst>
                <a:ext uri="{FF2B5EF4-FFF2-40B4-BE49-F238E27FC236}">
                  <a16:creationId xmlns:a16="http://schemas.microsoft.com/office/drawing/2014/main" id="{8F3F51C9-C358-4169-B141-918B764CD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312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cxnSp>
          <p:nvCxnSpPr>
            <p:cNvPr id="65556" name="AutoShape 45">
              <a:extLst>
                <a:ext uri="{FF2B5EF4-FFF2-40B4-BE49-F238E27FC236}">
                  <a16:creationId xmlns:a16="http://schemas.microsoft.com/office/drawing/2014/main" id="{0491DC35-D0B1-4C26-A54A-F2C86BD6F90E}"/>
                </a:ext>
              </a:extLst>
            </p:cNvPr>
            <p:cNvCxnSpPr>
              <a:cxnSpLocks noChangeShapeType="1"/>
              <a:stCxn id="65555" idx="4"/>
              <a:endCxn id="65550" idx="3"/>
            </p:cNvCxnSpPr>
            <p:nvPr/>
          </p:nvCxnSpPr>
          <p:spPr bwMode="auto">
            <a:xfrm flipV="1">
              <a:off x="4440" y="2897"/>
              <a:ext cx="367" cy="4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5557" name="Text Box 46">
              <a:extLst>
                <a:ext uri="{FF2B5EF4-FFF2-40B4-BE49-F238E27FC236}">
                  <a16:creationId xmlns:a16="http://schemas.microsoft.com/office/drawing/2014/main" id="{A762EADB-D81D-4A43-9369-038BCF6E9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21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Palatino Linotype" panose="02040502050505030304" pitchFamily="18" charset="0"/>
                  <a:ea typeface="华文中宋" panose="02010600040101010101" pitchFamily="2" charset="-122"/>
                </a:rPr>
                <a:t>x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 autoUpdateAnimBg="0"/>
      <p:bldP spid="78852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2697B09E-CDDA-4B6E-B389-07AA726E94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计算复杂性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55633689-5500-4705-98A2-3826A7C0B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153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sz="2800" b="1">
                <a:latin typeface="华文中宋" panose="02010600040101010101" pitchFamily="2" charset="-122"/>
              </a:rPr>
              <a:t>	</a:t>
            </a:r>
            <a:r>
              <a:rPr lang="zh-CN" altLang="en-US" sz="2800" b="1">
                <a:latin typeface="华文中宋" panose="02010600040101010101" pitchFamily="2" charset="-122"/>
              </a:rPr>
              <a:t>对于具有</a:t>
            </a:r>
            <a:r>
              <a:rPr lang="en-US" altLang="zh-CN" sz="2800" b="1">
                <a:latin typeface="华文中宋" panose="02010600040101010101" pitchFamily="2" charset="-122"/>
              </a:rPr>
              <a:t>n</a:t>
            </a:r>
            <a:r>
              <a:rPr lang="zh-CN" altLang="en-US" sz="2800" b="1">
                <a:latin typeface="华文中宋" panose="02010600040101010101" pitchFamily="2" charset="-122"/>
              </a:rPr>
              <a:t>个顶点和</a:t>
            </a:r>
            <a:r>
              <a:rPr lang="en-US" altLang="zh-CN" sz="2800" b="1">
                <a:latin typeface="华文中宋" panose="02010600040101010101" pitchFamily="2" charset="-122"/>
              </a:rPr>
              <a:t>e</a:t>
            </a:r>
            <a:r>
              <a:rPr lang="zh-CN" altLang="en-US" sz="2800" b="1">
                <a:latin typeface="华文中宋" panose="02010600040101010101" pitchFamily="2" charset="-122"/>
              </a:rPr>
              <a:t>条边的带权有向图，如果用带权邻接矩阵表示这个图，那么</a:t>
            </a:r>
            <a:r>
              <a:rPr lang="en-US" altLang="zh-CN" sz="2800" b="1">
                <a:latin typeface="华文中宋" panose="02010600040101010101" pitchFamily="2" charset="-122"/>
              </a:rPr>
              <a:t>Dijkstra</a:t>
            </a:r>
            <a:r>
              <a:rPr lang="zh-CN" altLang="en-US" sz="2800" b="1">
                <a:latin typeface="华文中宋" panose="02010600040101010101" pitchFamily="2" charset="-122"/>
              </a:rPr>
              <a:t>算法的主循环体需要</a:t>
            </a:r>
            <a:r>
              <a:rPr lang="en-US" altLang="zh-CN" sz="2800" b="1">
                <a:latin typeface="华文中宋" panose="02010600040101010101" pitchFamily="2" charset="-122"/>
              </a:rPr>
              <a:t>O(n)</a:t>
            </a:r>
            <a:r>
              <a:rPr lang="zh-CN" altLang="en-US" sz="2800" b="1">
                <a:latin typeface="华文中宋" panose="02010600040101010101" pitchFamily="2" charset="-122"/>
              </a:rPr>
              <a:t>时间。这个循环需要执行</a:t>
            </a:r>
            <a:r>
              <a:rPr lang="en-US" altLang="zh-CN" sz="2800" b="1">
                <a:latin typeface="华文中宋" panose="02010600040101010101" pitchFamily="2" charset="-122"/>
              </a:rPr>
              <a:t>n-1</a:t>
            </a:r>
            <a:r>
              <a:rPr lang="zh-CN" altLang="en-US" sz="2800" b="1">
                <a:latin typeface="华文中宋" panose="02010600040101010101" pitchFamily="2" charset="-122"/>
              </a:rPr>
              <a:t>次，所以完成循环需要</a:t>
            </a:r>
            <a:r>
              <a:rPr lang="en-US" altLang="zh-CN" sz="2800" b="1">
                <a:latin typeface="华文中宋" panose="02010600040101010101" pitchFamily="2" charset="-122"/>
              </a:rPr>
              <a:t>O(n</a:t>
            </a:r>
            <a:r>
              <a:rPr lang="en-US" altLang="zh-CN" sz="2800" b="1" baseline="30000">
                <a:latin typeface="华文中宋" panose="02010600040101010101" pitchFamily="2" charset="-122"/>
              </a:rPr>
              <a:t>2</a:t>
            </a:r>
            <a:r>
              <a:rPr lang="en-US" altLang="zh-CN" sz="2800" b="1">
                <a:latin typeface="华文中宋" panose="02010600040101010101" pitchFamily="2" charset="-122"/>
              </a:rPr>
              <a:t>)</a:t>
            </a:r>
            <a:r>
              <a:rPr lang="zh-CN" altLang="en-US" sz="2800" b="1">
                <a:latin typeface="华文中宋" panose="02010600040101010101" pitchFamily="2" charset="-122"/>
              </a:rPr>
              <a:t>时间。算法的其余部分所需要时间不超过</a:t>
            </a:r>
            <a:r>
              <a:rPr lang="en-US" altLang="zh-CN" sz="2800" b="1">
                <a:latin typeface="华文中宋" panose="02010600040101010101" pitchFamily="2" charset="-122"/>
              </a:rPr>
              <a:t>O(n</a:t>
            </a:r>
            <a:r>
              <a:rPr lang="en-US" altLang="zh-CN" sz="2800" b="1" baseline="30000">
                <a:latin typeface="华文中宋" panose="02010600040101010101" pitchFamily="2" charset="-122"/>
              </a:rPr>
              <a:t>2</a:t>
            </a:r>
            <a:r>
              <a:rPr lang="en-US" altLang="zh-CN" sz="2800" b="1">
                <a:latin typeface="华文中宋" panose="02010600040101010101" pitchFamily="2" charset="-122"/>
              </a:rPr>
              <a:t>)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B34A1485-DC38-46BD-AACB-1965F603D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 dirty="0">
                <a:solidFill>
                  <a:srgbClr val="AC2F36"/>
                </a:solidFill>
                <a:latin typeface="华文中宋" panose="02010600040101010101" pitchFamily="2" charset="-122"/>
              </a:rPr>
              <a:t>4.6 </a:t>
            </a:r>
            <a:r>
              <a:rPr lang="zh-CN" altLang="en-US" b="1" dirty="0">
                <a:solidFill>
                  <a:srgbClr val="AC2F36"/>
                </a:solidFill>
                <a:latin typeface="华文中宋" panose="02010600040101010101" pitchFamily="2" charset="-122"/>
              </a:rPr>
              <a:t>最小生成树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C630BD7-3231-8A23-8128-321A1DB4B9B2}"/>
                  </a:ext>
                </a:extLst>
              </p14:cNvPr>
              <p14:cNvContentPartPr/>
              <p14:nvPr/>
            </p14:nvContentPartPr>
            <p14:xfrm>
              <a:off x="6982920" y="203544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C630BD7-3231-8A23-8128-321A1DB4B9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3560" y="20260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E48EB3AE-0AFA-4EDC-83A4-770B9C0F2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>
                <a:solidFill>
                  <a:srgbClr val="AC2F36"/>
                </a:solidFill>
                <a:latin typeface="华文中宋" panose="02010600040101010101" pitchFamily="2" charset="-122"/>
              </a:rPr>
              <a:t>概  念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85FDD3C-EDCF-4B30-BE5A-4DDDBFB1D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066800"/>
            <a:ext cx="8382000" cy="2971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buFontTx/>
              <a:buNone/>
            </a:pPr>
            <a:r>
              <a:rPr lang="zh-CN" altLang="en-US" sz="2800" b="1">
                <a:latin typeface="华文中宋" panose="02010600040101010101" pitchFamily="2" charset="-122"/>
              </a:rPr>
              <a:t>设</a:t>
            </a:r>
            <a:r>
              <a:rPr lang="en-US" altLang="zh-CN" sz="2800" b="1">
                <a:latin typeface="华文中宋" panose="02010600040101010101" pitchFamily="2" charset="-122"/>
              </a:rPr>
              <a:t>G =(V,E)</a:t>
            </a:r>
            <a:r>
              <a:rPr lang="zh-CN" altLang="en-US" sz="2800" b="1">
                <a:latin typeface="华文中宋" panose="02010600040101010101" pitchFamily="2" charset="-122"/>
              </a:rPr>
              <a:t>是无向连通带权图， </a:t>
            </a:r>
            <a:r>
              <a:rPr lang="en-US" altLang="zh-CN" sz="2800" b="1">
                <a:latin typeface="华文中宋" panose="02010600040101010101" pitchFamily="2" charset="-122"/>
              </a:rPr>
              <a:t>|V|</a:t>
            </a:r>
            <a:r>
              <a:rPr lang="zh-CN" altLang="en-US" sz="2800" b="1">
                <a:latin typeface="华文中宋" panose="02010600040101010101" pitchFamily="2" charset="-122"/>
              </a:rPr>
              <a:t>＝</a:t>
            </a:r>
            <a:r>
              <a:rPr lang="en-US" altLang="zh-CN" sz="2800" b="1">
                <a:latin typeface="华文中宋" panose="02010600040101010101" pitchFamily="2" charset="-122"/>
              </a:rPr>
              <a:t>n</a:t>
            </a:r>
            <a:r>
              <a:rPr lang="zh-CN" altLang="en-US" sz="2800" b="1">
                <a:latin typeface="华文中宋" panose="02010600040101010101" pitchFamily="2" charset="-122"/>
              </a:rPr>
              <a:t>，</a:t>
            </a:r>
            <a:r>
              <a:rPr lang="en-US" altLang="zh-CN" sz="2800" b="1">
                <a:latin typeface="华文中宋" panose="02010600040101010101" pitchFamily="2" charset="-122"/>
              </a:rPr>
              <a:t>|E|=m</a:t>
            </a:r>
            <a:r>
              <a:rPr lang="zh-CN" altLang="en-US" sz="2800" b="1">
                <a:latin typeface="华文中宋" panose="02010600040101010101" pitchFamily="2" charset="-122"/>
              </a:rPr>
              <a:t>， </a:t>
            </a:r>
            <a:r>
              <a:rPr lang="en-US" altLang="zh-CN" sz="2800" b="1">
                <a:latin typeface="华文中宋" panose="02010600040101010101" pitchFamily="2" charset="-122"/>
              </a:rPr>
              <a:t>E</a:t>
            </a:r>
            <a:r>
              <a:rPr lang="zh-CN" altLang="en-US" sz="2800" b="1">
                <a:latin typeface="华文中宋" panose="02010600040101010101" pitchFamily="2" charset="-122"/>
              </a:rPr>
              <a:t>中每条边</a:t>
            </a:r>
            <a:r>
              <a:rPr lang="en-US" altLang="zh-CN" sz="2800" b="1">
                <a:latin typeface="华文中宋" panose="02010600040101010101" pitchFamily="2" charset="-122"/>
              </a:rPr>
              <a:t>e</a:t>
            </a:r>
            <a:r>
              <a:rPr lang="en-US" altLang="zh-CN" sz="2800" b="1" baseline="-25000">
                <a:latin typeface="华文中宋" panose="02010600040101010101" pitchFamily="2" charset="-122"/>
              </a:rPr>
              <a:t>i</a:t>
            </a:r>
            <a:r>
              <a:rPr lang="en-US" altLang="zh-CN" sz="2800" b="1">
                <a:latin typeface="华文中宋" panose="02010600040101010101" pitchFamily="2" charset="-122"/>
              </a:rPr>
              <a:t>=(v,w)</a:t>
            </a:r>
            <a:r>
              <a:rPr lang="zh-CN" altLang="en-US" sz="2800" b="1">
                <a:latin typeface="华文中宋" panose="02010600040101010101" pitchFamily="2" charset="-122"/>
              </a:rPr>
              <a:t>的权为</a:t>
            </a:r>
            <a:r>
              <a:rPr lang="en-US" altLang="zh-CN" sz="2800" b="1">
                <a:latin typeface="华文中宋" panose="02010600040101010101" pitchFamily="2" charset="-122"/>
              </a:rPr>
              <a:t>c[v][w]</a:t>
            </a:r>
            <a:r>
              <a:rPr lang="zh-CN" altLang="en-US" sz="2800" b="1">
                <a:latin typeface="华文中宋" panose="02010600040101010101" pitchFamily="2" charset="-122"/>
              </a:rPr>
              <a:t>，</a:t>
            </a:r>
            <a:r>
              <a:rPr lang="en-US" altLang="zh-CN" sz="2800" b="1">
                <a:latin typeface="华文中宋" panose="02010600040101010101" pitchFamily="2" charset="-122"/>
              </a:rPr>
              <a:t>(</a:t>
            </a:r>
            <a:r>
              <a:rPr lang="zh-CN" altLang="en-US" sz="2800" b="1">
                <a:latin typeface="华文中宋" panose="02010600040101010101" pitchFamily="2" charset="-122"/>
              </a:rPr>
              <a:t>在不引起混淆的条件下，为简单起见，用</a:t>
            </a:r>
            <a:r>
              <a:rPr lang="en-US" altLang="zh-CN" sz="2800" b="1">
                <a:latin typeface="华文中宋" panose="02010600040101010101" pitchFamily="2" charset="-122"/>
              </a:rPr>
              <a:t>e</a:t>
            </a:r>
            <a:r>
              <a:rPr lang="en-US" altLang="zh-CN" sz="2800" b="1" baseline="-25000"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latin typeface="华文中宋" panose="02010600040101010101" pitchFamily="2" charset="-122"/>
              </a:rPr>
              <a:t>表示</a:t>
            </a:r>
            <a:r>
              <a:rPr lang="en-US" altLang="zh-CN" sz="2800" b="1">
                <a:latin typeface="华文中宋" panose="02010600040101010101" pitchFamily="2" charset="-122"/>
              </a:rPr>
              <a:t>|e</a:t>
            </a:r>
            <a:r>
              <a:rPr lang="en-US" altLang="zh-CN" sz="2800" b="1" baseline="-25000">
                <a:latin typeface="华文中宋" panose="02010600040101010101" pitchFamily="2" charset="-122"/>
              </a:rPr>
              <a:t>i</a:t>
            </a:r>
            <a:r>
              <a:rPr lang="en-US" altLang="zh-CN" sz="2800" b="1">
                <a:latin typeface="华文中宋" panose="02010600040101010101" pitchFamily="2" charset="-122"/>
              </a:rPr>
              <a:t>|)</a:t>
            </a:r>
            <a:r>
              <a:rPr lang="zh-CN" altLang="en-US" sz="2800" b="1">
                <a:latin typeface="华文中宋" panose="02010600040101010101" pitchFamily="2" charset="-122"/>
              </a:rPr>
              <a:t>。 </a:t>
            </a:r>
          </a:p>
          <a:p>
            <a:pPr algn="just" eaLnBrk="1" hangingPunct="1"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华文中宋" panose="02010600040101010101" pitchFamily="2" charset="-122"/>
              </a:rPr>
              <a:t>1</a:t>
            </a:r>
            <a:r>
              <a:rPr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）生成树：</a:t>
            </a:r>
            <a:r>
              <a:rPr lang="zh-CN" altLang="en-US" sz="2800" b="1">
                <a:latin typeface="华文中宋" panose="02010600040101010101" pitchFamily="2" charset="-122"/>
              </a:rPr>
              <a:t>如果</a:t>
            </a:r>
            <a:r>
              <a:rPr lang="en-US" altLang="zh-CN" sz="2800" b="1">
                <a:latin typeface="华文中宋" panose="02010600040101010101" pitchFamily="2" charset="-122"/>
              </a:rPr>
              <a:t>G</a:t>
            </a:r>
            <a:r>
              <a:rPr lang="zh-CN" altLang="en-US" sz="2800" b="1">
                <a:latin typeface="华文中宋" panose="02010600040101010101" pitchFamily="2" charset="-122"/>
              </a:rPr>
              <a:t>的一个子图</a:t>
            </a:r>
            <a:r>
              <a:rPr lang="en-US" altLang="zh-CN" sz="2800" b="1">
                <a:latin typeface="华文中宋" panose="02010600040101010101" pitchFamily="2" charset="-122"/>
              </a:rPr>
              <a:t>G</a:t>
            </a:r>
            <a:r>
              <a:rPr lang="en-US" altLang="zh-CN" sz="2800" b="1"/>
              <a:t>’</a:t>
            </a:r>
            <a:r>
              <a:rPr lang="zh-CN" altLang="en-US" sz="2800" b="1">
                <a:latin typeface="华文中宋" panose="02010600040101010101" pitchFamily="2" charset="-122"/>
              </a:rPr>
              <a:t>是一棵包含</a:t>
            </a:r>
            <a:r>
              <a:rPr lang="en-US" altLang="zh-CN" sz="2800" b="1">
                <a:latin typeface="华文中宋" panose="02010600040101010101" pitchFamily="2" charset="-122"/>
              </a:rPr>
              <a:t>G</a:t>
            </a:r>
            <a:r>
              <a:rPr lang="zh-CN" altLang="en-US" sz="2800" b="1">
                <a:latin typeface="华文中宋" panose="02010600040101010101" pitchFamily="2" charset="-122"/>
              </a:rPr>
              <a:t>的所有顶点的树，则称</a:t>
            </a:r>
            <a:r>
              <a:rPr lang="en-US" altLang="zh-CN" sz="2800" b="1">
                <a:latin typeface="华文中宋" panose="02010600040101010101" pitchFamily="2" charset="-122"/>
              </a:rPr>
              <a:t>G</a:t>
            </a:r>
            <a:r>
              <a:rPr lang="en-US" altLang="zh-CN" sz="2800" b="1"/>
              <a:t>’</a:t>
            </a:r>
            <a:r>
              <a:rPr lang="zh-CN" altLang="en-US" sz="2800" b="1">
                <a:latin typeface="华文中宋" panose="02010600040101010101" pitchFamily="2" charset="-122"/>
              </a:rPr>
              <a:t>为</a:t>
            </a:r>
            <a:r>
              <a:rPr lang="en-US" altLang="zh-CN" sz="2800" b="1">
                <a:latin typeface="华文中宋" panose="02010600040101010101" pitchFamily="2" charset="-122"/>
              </a:rPr>
              <a:t>G</a:t>
            </a:r>
            <a:r>
              <a:rPr lang="zh-CN" altLang="en-US" sz="2800" b="1">
                <a:latin typeface="华文中宋" panose="02010600040101010101" pitchFamily="2" charset="-122"/>
              </a:rPr>
              <a:t>的生成树。生成树上各边权的总和称为该生成树的耗费。</a:t>
            </a:r>
          </a:p>
        </p:txBody>
      </p:sp>
      <p:sp>
        <p:nvSpPr>
          <p:cNvPr id="68612" name="Text Box 4">
            <a:extLst>
              <a:ext uri="{FF2B5EF4-FFF2-40B4-BE49-F238E27FC236}">
                <a16:creationId xmlns:a16="http://schemas.microsoft.com/office/drawing/2014/main" id="{26CEC640-1BAA-48D6-9220-A57D492CE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86200"/>
            <a:ext cx="838200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）最小生成树：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G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的所有生成树中，耗费最小的生成树称为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G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的最小生成树。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8613" name="Text Box 5">
            <a:extLst>
              <a:ext uri="{FF2B5EF4-FFF2-40B4-BE49-F238E27FC236}">
                <a16:creationId xmlns:a16="http://schemas.microsoft.com/office/drawing/2014/main" id="{2AC0B6FA-1840-4658-8BC8-166D97CFF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876800"/>
            <a:ext cx="85344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）最短树：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是最小生成树问题的特例，指从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G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的边集合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E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中寻求一子集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E</a:t>
            </a:r>
            <a:r>
              <a:rPr lang="en-US" altLang="zh-CN" sz="2800" baseline="-30000"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，使得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＝（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V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E</a:t>
            </a:r>
            <a:r>
              <a:rPr lang="en-US" altLang="zh-CN" sz="2800" baseline="-30000"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）是一连通图，而且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E</a:t>
            </a:r>
            <a:r>
              <a:rPr lang="en-US" altLang="zh-CN" sz="2800" baseline="-30000"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边的长度之和最小。此时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必成一棵树．</a:t>
            </a:r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7DCF0B1-6291-44B1-AC1D-D66EFA83C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0574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>
                <a:solidFill>
                  <a:srgbClr val="0000CC"/>
                </a:solidFill>
              </a:rPr>
              <a:t>Prim</a:t>
            </a:r>
            <a:r>
              <a:rPr lang="zh-CN" altLang="en-US" b="1">
                <a:solidFill>
                  <a:srgbClr val="0000CC"/>
                </a:solidFill>
              </a:rPr>
              <a:t>算法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5AB8E3F-7A80-4EAB-818B-1471861A8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8153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600" b="1" dirty="0">
                <a:solidFill>
                  <a:srgbClr val="AC2F36"/>
                </a:solidFill>
              </a:rPr>
              <a:t>1.</a:t>
            </a:r>
            <a:r>
              <a:rPr lang="zh-CN" altLang="en-US" sz="3600" b="1" dirty="0">
                <a:solidFill>
                  <a:srgbClr val="AC2F36"/>
                </a:solidFill>
              </a:rPr>
              <a:t>求最小生成树的</a:t>
            </a:r>
            <a:r>
              <a:rPr lang="en-US" altLang="zh-CN" sz="3600" b="1" dirty="0">
                <a:solidFill>
                  <a:srgbClr val="AC2F36"/>
                </a:solidFill>
              </a:rPr>
              <a:t>Prim</a:t>
            </a:r>
            <a:r>
              <a:rPr lang="zh-CN" altLang="en-US" sz="3600" b="1" dirty="0">
                <a:solidFill>
                  <a:srgbClr val="AC2F36"/>
                </a:solidFill>
              </a:rPr>
              <a:t>算法的基本思想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ABCEF463-08C4-43E6-9D81-9A547CA1F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458200" cy="434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800" b="1"/>
              <a:t>            </a:t>
            </a:r>
            <a:r>
              <a:rPr lang="zh-CN" altLang="en-US" sz="2800" b="1"/>
              <a:t>任取一顶点，设为</a:t>
            </a:r>
            <a:r>
              <a:rPr lang="en-US" altLang="zh-CN" sz="2800" b="1"/>
              <a:t>V</a:t>
            </a:r>
            <a:r>
              <a:rPr lang="en-US" altLang="zh-CN" sz="2800" b="1" baseline="-30000"/>
              <a:t>1</a:t>
            </a:r>
            <a:r>
              <a:rPr lang="zh-CN" altLang="en-US" sz="2800" b="1"/>
              <a:t>，作为起始点，让它进入集合</a:t>
            </a:r>
            <a:r>
              <a:rPr lang="en-US" altLang="zh-CN" sz="2800" b="1"/>
              <a:t>S</a:t>
            </a:r>
            <a:r>
              <a:rPr lang="zh-CN" altLang="en-US" sz="2800" b="1"/>
              <a:t>。只要</a:t>
            </a:r>
            <a:r>
              <a:rPr lang="en-US" altLang="zh-CN" sz="2800" b="1"/>
              <a:t>S</a:t>
            </a:r>
            <a:r>
              <a:rPr lang="zh-CN" altLang="en-US" sz="2800" b="1"/>
              <a:t>是</a:t>
            </a:r>
            <a:r>
              <a:rPr lang="en-US" altLang="zh-CN" sz="2800" b="1"/>
              <a:t>V</a:t>
            </a:r>
            <a:r>
              <a:rPr lang="zh-CN" altLang="en-US" sz="2800" b="1"/>
              <a:t>的真子集，就作如下的贪心选择：</a:t>
            </a: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800" b="1"/>
              <a:t>            每一次总选择一不属于</a:t>
            </a:r>
            <a:r>
              <a:rPr lang="en-US" altLang="zh-CN" sz="2800" b="1"/>
              <a:t>S</a:t>
            </a:r>
            <a:r>
              <a:rPr lang="zh-CN" altLang="en-US" sz="2800" b="1"/>
              <a:t>，但和</a:t>
            </a:r>
            <a:r>
              <a:rPr lang="en-US" altLang="zh-CN" sz="2800" b="1"/>
              <a:t>S</a:t>
            </a:r>
            <a:r>
              <a:rPr lang="zh-CN" altLang="en-US" sz="2800" b="1"/>
              <a:t>中顶点最为接近的顶点，设为</a:t>
            </a:r>
            <a:r>
              <a:rPr lang="en-US" altLang="zh-CN" sz="2800" b="1"/>
              <a:t>v</a:t>
            </a:r>
            <a:r>
              <a:rPr lang="zh-CN" altLang="en-US" sz="2800" b="1"/>
              <a:t>，即选择（</a:t>
            </a:r>
            <a:r>
              <a:rPr lang="en-US" altLang="zh-CN" sz="2800" b="1"/>
              <a:t>u</a:t>
            </a:r>
            <a:r>
              <a:rPr lang="zh-CN" altLang="en-US" sz="2800" b="1"/>
              <a:t>，</a:t>
            </a:r>
            <a:r>
              <a:rPr lang="en-US" altLang="zh-CN" sz="2800" b="1"/>
              <a:t>v</a:t>
            </a:r>
            <a:r>
              <a:rPr lang="zh-CN" altLang="en-US" sz="2800" b="1"/>
              <a:t>）</a:t>
            </a:r>
            <a:r>
              <a:rPr lang="zh-CN" altLang="en-US" sz="2800" b="1">
                <a:latin typeface="华文中宋" panose="02010600040101010101" pitchFamily="2" charset="-122"/>
              </a:rPr>
              <a:t>∈</a:t>
            </a:r>
            <a:r>
              <a:rPr lang="en-US" altLang="zh-CN" sz="2800" b="1"/>
              <a:t>L</a:t>
            </a:r>
            <a:r>
              <a:rPr lang="zh-CN" altLang="en-US" sz="2800" b="1"/>
              <a:t>，使得</a:t>
            </a:r>
            <a:r>
              <a:rPr lang="en-US" altLang="zh-CN" sz="2800" b="1"/>
              <a:t>v</a:t>
            </a:r>
            <a:r>
              <a:rPr lang="en-US" altLang="zh-CN" sz="2800" b="1">
                <a:sym typeface="Symbol" panose="05050102010706020507" pitchFamily="18" charset="2"/>
              </a:rPr>
              <a:t></a:t>
            </a:r>
            <a:r>
              <a:rPr lang="en-US" altLang="zh-CN" sz="2800" b="1"/>
              <a:t>S</a:t>
            </a:r>
            <a:r>
              <a:rPr lang="zh-CN" altLang="en-US" sz="2800" b="1"/>
              <a:t>，</a:t>
            </a:r>
            <a:r>
              <a:rPr lang="en-US" altLang="zh-CN" sz="2800" b="1"/>
              <a:t>u</a:t>
            </a:r>
            <a:r>
              <a:rPr lang="en-US" altLang="zh-CN" sz="2800" b="1">
                <a:latin typeface="华文中宋" panose="02010600040101010101" pitchFamily="2" charset="-122"/>
              </a:rPr>
              <a:t>∈</a:t>
            </a:r>
            <a:r>
              <a:rPr lang="en-US" altLang="zh-CN" sz="2800" b="1"/>
              <a:t>S</a:t>
            </a:r>
            <a:r>
              <a:rPr lang="zh-CN" altLang="en-US" sz="2800" b="1"/>
              <a:t>，且（</a:t>
            </a:r>
            <a:r>
              <a:rPr lang="en-US" altLang="zh-CN" sz="2800" b="1"/>
              <a:t>u</a:t>
            </a:r>
            <a:r>
              <a:rPr lang="zh-CN" altLang="en-US" sz="2800" b="1"/>
              <a:t>，</a:t>
            </a:r>
            <a:r>
              <a:rPr lang="en-US" altLang="zh-CN" sz="2800" b="1"/>
              <a:t>v</a:t>
            </a:r>
            <a:r>
              <a:rPr lang="zh-CN" altLang="en-US" sz="2800" b="1"/>
              <a:t>）达到最小。将（</a:t>
            </a:r>
            <a:r>
              <a:rPr lang="en-US" altLang="zh-CN" sz="2800" b="1"/>
              <a:t>u</a:t>
            </a:r>
            <a:r>
              <a:rPr lang="zh-CN" altLang="en-US" sz="2800" b="1"/>
              <a:t>，</a:t>
            </a:r>
            <a:r>
              <a:rPr lang="en-US" altLang="zh-CN" sz="2800" b="1"/>
              <a:t>v</a:t>
            </a:r>
            <a:r>
              <a:rPr lang="zh-CN" altLang="en-US" sz="2800" b="1"/>
              <a:t>）作为一树枝，如此反复连续进行</a:t>
            </a:r>
            <a:r>
              <a:rPr lang="en-US" altLang="zh-CN" sz="2800" b="1"/>
              <a:t>n-1</a:t>
            </a:r>
            <a:r>
              <a:rPr lang="zh-CN" altLang="en-US" sz="2800" b="1"/>
              <a:t>次（此时</a:t>
            </a:r>
            <a:r>
              <a:rPr lang="en-US" altLang="zh-CN" sz="2800" b="1"/>
              <a:t>S=V</a:t>
            </a:r>
            <a:r>
              <a:rPr lang="zh-CN" altLang="en-US" sz="2800" b="1"/>
              <a:t>）。</a:t>
            </a: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800" b="1"/>
              <a:t>            在这个过程中选取到的所有边恰好构成</a:t>
            </a:r>
            <a:r>
              <a:rPr lang="en-US" altLang="zh-CN" sz="2800" b="1"/>
              <a:t>G</a:t>
            </a:r>
            <a:r>
              <a:rPr lang="zh-CN" altLang="en-US" sz="2800" b="1"/>
              <a:t>的一棵最小生成树</a:t>
            </a:r>
            <a:r>
              <a:rPr lang="en-US" altLang="zh-CN" sz="2800" b="1"/>
              <a:t>T</a:t>
            </a:r>
            <a:r>
              <a:rPr lang="zh-CN" altLang="en-US" sz="2800" b="1"/>
              <a:t>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A5B503EE-5A67-4073-8396-20913F885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2286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3600" b="1" dirty="0">
                <a:solidFill>
                  <a:srgbClr val="AC2F36"/>
                </a:solidFill>
              </a:rPr>
              <a:t>2. Prim</a:t>
            </a:r>
            <a:r>
              <a:rPr lang="zh-CN" altLang="en-US" sz="3600" b="1" dirty="0">
                <a:solidFill>
                  <a:srgbClr val="AC2F36"/>
                </a:solidFill>
              </a:rPr>
              <a:t>算法过程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C458D25-F8D3-45EF-8E3B-7DD76FDCC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1" y="990600"/>
            <a:ext cx="5867400" cy="5638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S1</a:t>
            </a:r>
            <a:r>
              <a:rPr lang="zh-CN" altLang="en-US" sz="2400" b="1" dirty="0"/>
              <a:t>．</a:t>
            </a:r>
            <a:r>
              <a:rPr lang="en-US" altLang="zh-CN" sz="2400" b="1" dirty="0"/>
              <a:t>T</a:t>
            </a:r>
            <a:r>
              <a:rPr lang="en-US" altLang="zh-CN" sz="2400" b="1" dirty="0">
                <a:sym typeface="Wingdings" panose="05000000000000000000" pitchFamily="2" charset="2"/>
              </a:rPr>
              <a:t></a:t>
            </a:r>
            <a:r>
              <a:rPr lang="en-US" altLang="zh-CN" sz="2400" b="1" dirty="0"/>
              <a:t> Ø</a:t>
            </a:r>
            <a:r>
              <a:rPr lang="zh-CN" altLang="en-US" sz="2400" b="1" dirty="0"/>
              <a:t>；</a:t>
            </a:r>
            <a:r>
              <a:rPr lang="en-US" altLang="zh-CN" sz="2400" b="1" dirty="0"/>
              <a:t>q[1]</a:t>
            </a:r>
            <a:r>
              <a:rPr lang="en-US" altLang="zh-CN" sz="2400" b="1" dirty="0">
                <a:sym typeface="Wingdings" panose="05000000000000000000" pitchFamily="2" charset="2"/>
              </a:rPr>
              <a:t></a:t>
            </a:r>
            <a:r>
              <a:rPr lang="en-US" altLang="zh-CN" sz="2400" b="1" dirty="0"/>
              <a:t> -1.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S2</a:t>
            </a:r>
            <a:r>
              <a:rPr lang="zh-CN" altLang="en-US" sz="2400" b="1" dirty="0"/>
              <a:t>．对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从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到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做       </a:t>
            </a:r>
            <a:r>
              <a:rPr lang="en-US" altLang="zh-CN" sz="2400" b="1" dirty="0">
                <a:solidFill>
                  <a:srgbClr val="FF0000"/>
                </a:solidFill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</a:rPr>
              <a:t>赋初值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     始 </a:t>
            </a:r>
            <a:r>
              <a:rPr lang="en-US" altLang="zh-CN" sz="2400" b="1" dirty="0"/>
              <a:t>p[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</a:t>
            </a:r>
            <a:r>
              <a:rPr lang="en-US" altLang="zh-CN" sz="2400" b="1" dirty="0">
                <a:sym typeface="Wingdings" panose="05000000000000000000" pitchFamily="2" charset="2"/>
              </a:rPr>
              <a:t>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；</a:t>
            </a:r>
            <a:r>
              <a:rPr lang="en-US" altLang="zh-CN" sz="2400" b="1" dirty="0"/>
              <a:t>q[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</a:t>
            </a:r>
            <a:r>
              <a:rPr lang="en-US" altLang="zh-CN" sz="2400" b="1" dirty="0">
                <a:sym typeface="Wingdings" panose="05000000000000000000" pitchFamily="2" charset="2"/>
              </a:rPr>
              <a:t></a:t>
            </a:r>
            <a:r>
              <a:rPr lang="en-US" altLang="zh-CN" sz="2400" b="1" dirty="0"/>
              <a:t> d</a:t>
            </a:r>
            <a:r>
              <a:rPr lang="en-US" altLang="zh-CN" sz="2400" b="1" baseline="-30000" dirty="0"/>
              <a:t>i1</a:t>
            </a:r>
            <a:r>
              <a:rPr lang="zh-CN" altLang="en-US" sz="2400" b="1" dirty="0"/>
              <a:t>；终；</a:t>
            </a:r>
            <a:r>
              <a:rPr lang="en-US" altLang="zh-CN" sz="2400" b="1" dirty="0"/>
              <a:t>k</a:t>
            </a:r>
            <a:r>
              <a:rPr lang="en-US" altLang="zh-CN" sz="2400" b="1" dirty="0">
                <a:sym typeface="Wingdings" panose="05000000000000000000" pitchFamily="2" charset="2"/>
              </a:rPr>
              <a:t></a:t>
            </a:r>
            <a:r>
              <a:rPr lang="en-US" altLang="zh-CN" sz="2400" b="1" dirty="0"/>
              <a:t>1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S3</a:t>
            </a:r>
            <a:r>
              <a:rPr lang="zh-CN" altLang="en-US" sz="2400" b="1" dirty="0"/>
              <a:t>．若</a:t>
            </a:r>
            <a:r>
              <a:rPr lang="en-US" altLang="zh-CN" sz="2400" b="1" dirty="0"/>
              <a:t>k</a:t>
            </a:r>
            <a:r>
              <a:rPr lang="zh-CN" altLang="en-US" sz="2400" b="1" dirty="0"/>
              <a:t>＞</a:t>
            </a:r>
            <a:r>
              <a:rPr lang="en-US" altLang="zh-CN" sz="2400" b="1" dirty="0"/>
              <a:t>n  </a:t>
            </a:r>
            <a:r>
              <a:rPr lang="zh-CN" altLang="en-US" sz="2400" b="1" dirty="0"/>
              <a:t>转</a:t>
            </a:r>
            <a:r>
              <a:rPr lang="en-US" altLang="zh-CN" sz="2400" b="1" dirty="0"/>
              <a:t>S5</a:t>
            </a:r>
            <a:r>
              <a:rPr lang="zh-CN" altLang="en-US" sz="2400" b="1" dirty="0"/>
              <a:t>，否则</a:t>
            </a:r>
            <a:r>
              <a:rPr lang="en-US" altLang="zh-CN" sz="2400" b="1" dirty="0"/>
              <a:t>min</a:t>
            </a:r>
            <a:r>
              <a:rPr lang="en-US" altLang="zh-CN" sz="2400" b="1" dirty="0">
                <a:sym typeface="Wingdings" panose="05000000000000000000" pitchFamily="2" charset="2"/>
              </a:rPr>
              <a:t></a:t>
            </a:r>
            <a:r>
              <a:rPr lang="en-US" altLang="zh-CN" sz="2400" b="1" dirty="0"/>
              <a:t>∞</a:t>
            </a:r>
            <a:r>
              <a:rPr lang="zh-CN" altLang="en-US" sz="2400" b="1" dirty="0"/>
              <a:t>；转</a:t>
            </a:r>
            <a:r>
              <a:rPr lang="en-US" altLang="zh-CN" sz="2400" b="1" dirty="0"/>
              <a:t>S4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S4</a:t>
            </a:r>
            <a:r>
              <a:rPr lang="zh-CN" altLang="en-US" sz="2400" b="1" dirty="0"/>
              <a:t>．对</a:t>
            </a:r>
            <a:r>
              <a:rPr lang="en-US" altLang="zh-CN" sz="2400" b="1" dirty="0"/>
              <a:t>j</a:t>
            </a:r>
            <a:r>
              <a:rPr lang="zh-CN" altLang="en-US" sz="2400" b="1" dirty="0"/>
              <a:t>从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到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做      </a:t>
            </a:r>
            <a:r>
              <a:rPr lang="en-US" altLang="zh-CN" sz="2400" b="1" dirty="0">
                <a:solidFill>
                  <a:srgbClr val="FF0000"/>
                </a:solidFill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</a:rPr>
              <a:t>找最短距离的点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     若 </a:t>
            </a:r>
            <a:r>
              <a:rPr lang="en-US" altLang="zh-CN" sz="2400" b="1" dirty="0"/>
              <a:t>0&lt;q[j]&lt;min  </a:t>
            </a:r>
            <a:r>
              <a:rPr lang="zh-CN" altLang="en-US" sz="2400" b="1" dirty="0"/>
              <a:t>则做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     始 </a:t>
            </a:r>
            <a:r>
              <a:rPr lang="en-US" altLang="zh-CN" sz="2400" b="1" dirty="0" err="1"/>
              <a:t>min</a:t>
            </a:r>
            <a:r>
              <a:rPr lang="en-US" altLang="zh-CN" sz="2400" b="1" dirty="0" err="1">
                <a:sym typeface="Wingdings" panose="05000000000000000000" pitchFamily="2" charset="2"/>
              </a:rPr>
              <a:t></a:t>
            </a:r>
            <a:r>
              <a:rPr lang="en-US" altLang="zh-CN" sz="2400" b="1" dirty="0" err="1"/>
              <a:t>q</a:t>
            </a:r>
            <a:r>
              <a:rPr lang="en-US" altLang="zh-CN" sz="2400" b="1" dirty="0"/>
              <a:t>[j]</a:t>
            </a:r>
            <a:r>
              <a:rPr lang="zh-CN" altLang="en-US" sz="2400" b="1" dirty="0"/>
              <a:t>；</a:t>
            </a:r>
            <a:r>
              <a:rPr lang="en-US" altLang="zh-CN" sz="2400" b="1" dirty="0" err="1"/>
              <a:t>h</a:t>
            </a:r>
            <a:r>
              <a:rPr lang="en-US" altLang="zh-CN" sz="2400" b="1" dirty="0" err="1">
                <a:sym typeface="Wingdings" panose="05000000000000000000" pitchFamily="2" charset="2"/>
              </a:rPr>
              <a:t></a:t>
            </a:r>
            <a:r>
              <a:rPr lang="en-US" altLang="zh-CN" sz="2400" b="1" dirty="0" err="1"/>
              <a:t>j</a:t>
            </a:r>
            <a:r>
              <a:rPr lang="en-US" altLang="zh-CN" sz="2400" b="1" dirty="0"/>
              <a:t>  </a:t>
            </a:r>
            <a:r>
              <a:rPr lang="zh-CN" altLang="en-US" sz="2400" b="1" dirty="0"/>
              <a:t>终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S5</a:t>
            </a:r>
            <a:r>
              <a:rPr lang="zh-CN" altLang="en-US" sz="2400" b="1" dirty="0"/>
              <a:t>．</a:t>
            </a:r>
            <a:r>
              <a:rPr lang="en-US" altLang="zh-CN" sz="2400" b="1" dirty="0"/>
              <a:t>T</a:t>
            </a:r>
            <a:r>
              <a:rPr lang="en-US" altLang="zh-CN" sz="2400" b="1" dirty="0">
                <a:sym typeface="Wingdings" panose="05000000000000000000" pitchFamily="2" charset="2"/>
              </a:rPr>
              <a:t></a:t>
            </a:r>
            <a:r>
              <a:rPr lang="en-US" altLang="zh-CN" sz="2400" b="1" dirty="0"/>
              <a:t>T</a:t>
            </a:r>
            <a:r>
              <a:rPr lang="en-US" altLang="zh-CN" sz="2400" b="1" dirty="0">
                <a:latin typeface="华文中宋" panose="02010600040101010101" pitchFamily="2" charset="-122"/>
              </a:rPr>
              <a:t>∪{(</a:t>
            </a:r>
            <a:r>
              <a:rPr lang="en-US" altLang="zh-CN" sz="2400" b="1" dirty="0"/>
              <a:t>h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p(h))}</a:t>
            </a:r>
            <a:r>
              <a:rPr lang="zh-CN" altLang="en-US" sz="2400" b="1" dirty="0"/>
              <a:t>；</a:t>
            </a:r>
            <a:r>
              <a:rPr lang="en-US" altLang="zh-CN" sz="2400" b="1" dirty="0"/>
              <a:t>q[h]</a:t>
            </a:r>
            <a:r>
              <a:rPr lang="en-US" altLang="zh-CN" sz="2400" b="1" dirty="0">
                <a:sym typeface="Wingdings" panose="05000000000000000000" pitchFamily="2" charset="2"/>
              </a:rPr>
              <a:t></a:t>
            </a:r>
            <a:r>
              <a:rPr lang="en-US" altLang="zh-CN" sz="2400" b="1" dirty="0"/>
              <a:t> -1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S6</a:t>
            </a:r>
            <a:r>
              <a:rPr lang="zh-CN" altLang="en-US" sz="2400" b="1" dirty="0"/>
              <a:t>．</a:t>
            </a:r>
            <a:r>
              <a:rPr lang="en-US" altLang="zh-CN" sz="2400" b="1" dirty="0"/>
              <a:t>j</a:t>
            </a:r>
            <a:r>
              <a:rPr lang="zh-CN" altLang="en-US" sz="2400" b="1" dirty="0"/>
              <a:t>从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到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做      </a:t>
            </a:r>
            <a:r>
              <a:rPr lang="en-US" altLang="zh-CN" sz="2400" b="1" dirty="0">
                <a:solidFill>
                  <a:srgbClr val="FF0000"/>
                </a:solidFill>
              </a:rPr>
              <a:t>//</a:t>
            </a:r>
            <a:r>
              <a:rPr lang="zh-CN" altLang="en-US" sz="2400" b="1" dirty="0">
                <a:solidFill>
                  <a:srgbClr val="FF0000"/>
                </a:solidFill>
              </a:rPr>
              <a:t>只调整与</a:t>
            </a:r>
            <a:r>
              <a:rPr lang="en-US" altLang="zh-CN" sz="2400" b="1" dirty="0">
                <a:solidFill>
                  <a:srgbClr val="FF0000"/>
                </a:solidFill>
              </a:rPr>
              <a:t>h</a:t>
            </a:r>
            <a:r>
              <a:rPr lang="zh-CN" altLang="en-US" sz="2400" b="1" dirty="0">
                <a:solidFill>
                  <a:srgbClr val="FF0000"/>
                </a:solidFill>
              </a:rPr>
              <a:t>有关的距离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     若</a:t>
            </a:r>
            <a:r>
              <a:rPr lang="en-US" altLang="zh-CN" sz="2400" b="1" dirty="0" err="1"/>
              <a:t>d</a:t>
            </a:r>
            <a:r>
              <a:rPr lang="en-US" altLang="zh-CN" sz="2400" b="1" baseline="-30000" dirty="0" err="1"/>
              <a:t>hj</a:t>
            </a:r>
            <a:r>
              <a:rPr lang="en-US" altLang="zh-CN" sz="2400" b="1" dirty="0"/>
              <a:t>&lt;q[j]  </a:t>
            </a:r>
            <a:r>
              <a:rPr lang="zh-CN" altLang="en-US" sz="2400" b="1" dirty="0"/>
              <a:t>则做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        始 </a:t>
            </a:r>
            <a:r>
              <a:rPr lang="en-US" altLang="zh-CN" sz="2400" b="1" dirty="0"/>
              <a:t>q[j]</a:t>
            </a:r>
            <a:r>
              <a:rPr lang="en-US" altLang="zh-CN" sz="2400" b="1" dirty="0">
                <a:sym typeface="Wingdings" panose="05000000000000000000" pitchFamily="2" charset="2"/>
              </a:rPr>
              <a:t></a:t>
            </a:r>
            <a:r>
              <a:rPr lang="en-US" altLang="zh-CN" sz="2400" b="1" dirty="0" err="1"/>
              <a:t>d</a:t>
            </a:r>
            <a:r>
              <a:rPr lang="en-US" altLang="zh-CN" sz="2400" b="1" baseline="-30000" dirty="0" err="1"/>
              <a:t>hj</a:t>
            </a:r>
            <a:r>
              <a:rPr lang="zh-CN" altLang="en-US" sz="2400" b="1" dirty="0"/>
              <a:t>；</a:t>
            </a:r>
            <a:r>
              <a:rPr lang="en-US" altLang="zh-CN" sz="2400" b="1" dirty="0"/>
              <a:t>p[j]</a:t>
            </a:r>
            <a:r>
              <a:rPr lang="en-US" altLang="zh-CN" sz="2400" b="1" dirty="0">
                <a:sym typeface="Wingdings" panose="05000000000000000000" pitchFamily="2" charset="2"/>
              </a:rPr>
              <a:t></a:t>
            </a:r>
            <a:r>
              <a:rPr lang="en-US" altLang="zh-CN" sz="2400" b="1" dirty="0"/>
              <a:t>h </a:t>
            </a:r>
            <a:r>
              <a:rPr lang="zh-CN" altLang="en-US" sz="2400" b="1" dirty="0"/>
              <a:t>终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S7</a:t>
            </a:r>
            <a:r>
              <a:rPr lang="zh-CN" altLang="en-US" sz="2400" b="1" dirty="0"/>
              <a:t>．</a:t>
            </a:r>
            <a:r>
              <a:rPr lang="en-US" altLang="zh-CN" sz="2400" b="1" dirty="0"/>
              <a:t>k</a:t>
            </a:r>
            <a:r>
              <a:rPr lang="en-US" altLang="zh-CN" sz="2400" b="1" dirty="0">
                <a:sym typeface="Wingdings" panose="05000000000000000000" pitchFamily="2" charset="2"/>
              </a:rPr>
              <a:t></a:t>
            </a:r>
            <a:r>
              <a:rPr lang="en-US" altLang="zh-CN" sz="2400" b="1" dirty="0"/>
              <a:t>k+1</a:t>
            </a:r>
            <a:r>
              <a:rPr lang="zh-CN" altLang="en-US" sz="2400" b="1" dirty="0"/>
              <a:t>；转</a:t>
            </a:r>
            <a:r>
              <a:rPr lang="en-US" altLang="zh-CN" sz="2400" b="1" dirty="0"/>
              <a:t>S3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 dirty="0"/>
              <a:t>S8</a:t>
            </a:r>
            <a:r>
              <a:rPr lang="zh-CN" altLang="en-US" sz="2400" b="1" dirty="0">
                <a:latin typeface="华文中宋" panose="02010600040101010101" pitchFamily="2" charset="-122"/>
              </a:rPr>
              <a:t>．输出</a:t>
            </a:r>
            <a:r>
              <a:rPr lang="en-US" altLang="zh-CN" sz="2400" b="1" dirty="0"/>
              <a:t>T</a:t>
            </a:r>
            <a:r>
              <a:rPr lang="zh-CN" altLang="en-US" sz="2400" b="1" dirty="0">
                <a:latin typeface="华文中宋" panose="02010600040101010101" pitchFamily="2" charset="-122"/>
              </a:rPr>
              <a:t>；终止</a:t>
            </a:r>
          </a:p>
        </p:txBody>
      </p:sp>
      <p:sp>
        <p:nvSpPr>
          <p:cNvPr id="72708" name="Text Box 4">
            <a:extLst>
              <a:ext uri="{FF2B5EF4-FFF2-40B4-BE49-F238E27FC236}">
                <a16:creationId xmlns:a16="http://schemas.microsoft.com/office/drawing/2014/main" id="{112D1704-5BD3-4714-A79C-7D3D1E59E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743200"/>
            <a:ext cx="2971800" cy="3233738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算法中</a:t>
            </a: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,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p[i]</a:t>
            </a:r>
            <a:r>
              <a:rPr lang="zh-CN" altLang="en-US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：记录和</a:t>
            </a: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点最接近的属于</a:t>
            </a: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的点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q[i]</a:t>
            </a:r>
            <a:r>
              <a:rPr lang="zh-CN" altLang="en-US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：记录</a:t>
            </a: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且与</a:t>
            </a: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中点的最短距离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q[i]</a:t>
            </a: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Wingdings" panose="05000000000000000000" pitchFamily="2" charset="2"/>
              </a:rPr>
              <a:t></a:t>
            </a: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-1</a:t>
            </a:r>
            <a:r>
              <a:rPr lang="zh-CN" altLang="en-US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：用以表示</a:t>
            </a: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点已进入集合</a:t>
            </a:r>
            <a:r>
              <a:rPr lang="en-US" altLang="zh-CN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9">
            <a:extLst>
              <a:ext uri="{FF2B5EF4-FFF2-40B4-BE49-F238E27FC236}">
                <a16:creationId xmlns:a16="http://schemas.microsoft.com/office/drawing/2014/main" id="{4CAF08F1-2B8F-4807-9656-B3A043065E98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267200"/>
            <a:ext cx="2971800" cy="2209800"/>
            <a:chOff x="1488" y="2688"/>
            <a:chExt cx="1872" cy="1392"/>
          </a:xfrm>
        </p:grpSpPr>
        <p:grpSp>
          <p:nvGrpSpPr>
            <p:cNvPr id="73757" name="Group 31">
              <a:extLst>
                <a:ext uri="{FF2B5EF4-FFF2-40B4-BE49-F238E27FC236}">
                  <a16:creationId xmlns:a16="http://schemas.microsoft.com/office/drawing/2014/main" id="{1E76D370-9BD0-47D2-A1F4-2929416B4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2688"/>
              <a:ext cx="1872" cy="1392"/>
              <a:chOff x="1488" y="2688"/>
              <a:chExt cx="1872" cy="1392"/>
            </a:xfrm>
          </p:grpSpPr>
          <p:grpSp>
            <p:nvGrpSpPr>
              <p:cNvPr id="73759" name="Group 28">
                <a:extLst>
                  <a:ext uri="{FF2B5EF4-FFF2-40B4-BE49-F238E27FC236}">
                    <a16:creationId xmlns:a16="http://schemas.microsoft.com/office/drawing/2014/main" id="{37DF3177-01EF-435B-A6CE-3C322EDBEE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2688"/>
                <a:ext cx="1648" cy="1392"/>
                <a:chOff x="1488" y="2688"/>
                <a:chExt cx="1648" cy="1392"/>
              </a:xfrm>
            </p:grpSpPr>
            <p:sp>
              <p:nvSpPr>
                <p:cNvPr id="73761" name="Freeform 5">
                  <a:extLst>
                    <a:ext uri="{FF2B5EF4-FFF2-40B4-BE49-F238E27FC236}">
                      <a16:creationId xmlns:a16="http://schemas.microsoft.com/office/drawing/2014/main" id="{90DB41B8-DB1F-4D53-8ADF-8EC94A1612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8" y="2688"/>
                  <a:ext cx="1648" cy="1392"/>
                </a:xfrm>
                <a:custGeom>
                  <a:avLst/>
                  <a:gdLst>
                    <a:gd name="T0" fmla="*/ 528 w 1648"/>
                    <a:gd name="T1" fmla="*/ 0 h 1392"/>
                    <a:gd name="T2" fmla="*/ 768 w 1648"/>
                    <a:gd name="T3" fmla="*/ 48 h 1392"/>
                    <a:gd name="T4" fmla="*/ 1008 w 1648"/>
                    <a:gd name="T5" fmla="*/ 48 h 1392"/>
                    <a:gd name="T6" fmla="*/ 1104 w 1648"/>
                    <a:gd name="T7" fmla="*/ 48 h 1392"/>
                    <a:gd name="T8" fmla="*/ 1344 w 1648"/>
                    <a:gd name="T9" fmla="*/ 288 h 1392"/>
                    <a:gd name="T10" fmla="*/ 1632 w 1648"/>
                    <a:gd name="T11" fmla="*/ 624 h 1392"/>
                    <a:gd name="T12" fmla="*/ 1440 w 1648"/>
                    <a:gd name="T13" fmla="*/ 912 h 1392"/>
                    <a:gd name="T14" fmla="*/ 1296 w 1648"/>
                    <a:gd name="T15" fmla="*/ 1200 h 1392"/>
                    <a:gd name="T16" fmla="*/ 864 w 1648"/>
                    <a:gd name="T17" fmla="*/ 1344 h 1392"/>
                    <a:gd name="T18" fmla="*/ 816 w 1648"/>
                    <a:gd name="T19" fmla="*/ 1392 h 1392"/>
                    <a:gd name="T20" fmla="*/ 528 w 1648"/>
                    <a:gd name="T21" fmla="*/ 1344 h 1392"/>
                    <a:gd name="T22" fmla="*/ 240 w 1648"/>
                    <a:gd name="T23" fmla="*/ 1152 h 1392"/>
                    <a:gd name="T24" fmla="*/ 96 w 1648"/>
                    <a:gd name="T25" fmla="*/ 768 h 1392"/>
                    <a:gd name="T26" fmla="*/ 192 w 1648"/>
                    <a:gd name="T27" fmla="*/ 624 h 1392"/>
                    <a:gd name="T28" fmla="*/ 0 w 1648"/>
                    <a:gd name="T29" fmla="*/ 96 h 1392"/>
                    <a:gd name="T30" fmla="*/ 192 w 1648"/>
                    <a:gd name="T31" fmla="*/ 144 h 1392"/>
                    <a:gd name="T32" fmla="*/ 432 w 1648"/>
                    <a:gd name="T33" fmla="*/ 288 h 1392"/>
                    <a:gd name="T34" fmla="*/ 432 w 1648"/>
                    <a:gd name="T35" fmla="*/ 48 h 1392"/>
                    <a:gd name="T36" fmla="*/ 528 w 1648"/>
                    <a:gd name="T37" fmla="*/ 0 h 1392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648"/>
                    <a:gd name="T58" fmla="*/ 0 h 1392"/>
                    <a:gd name="T59" fmla="*/ 1648 w 1648"/>
                    <a:gd name="T60" fmla="*/ 1392 h 1392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648" h="1392">
                      <a:moveTo>
                        <a:pt x="528" y="0"/>
                      </a:moveTo>
                      <a:cubicBezTo>
                        <a:pt x="584" y="0"/>
                        <a:pt x="688" y="40"/>
                        <a:pt x="768" y="48"/>
                      </a:cubicBezTo>
                      <a:cubicBezTo>
                        <a:pt x="848" y="56"/>
                        <a:pt x="952" y="48"/>
                        <a:pt x="1008" y="48"/>
                      </a:cubicBezTo>
                      <a:cubicBezTo>
                        <a:pt x="1064" y="48"/>
                        <a:pt x="1048" y="8"/>
                        <a:pt x="1104" y="48"/>
                      </a:cubicBezTo>
                      <a:cubicBezTo>
                        <a:pt x="1160" y="88"/>
                        <a:pt x="1256" y="192"/>
                        <a:pt x="1344" y="288"/>
                      </a:cubicBezTo>
                      <a:cubicBezTo>
                        <a:pt x="1432" y="384"/>
                        <a:pt x="1616" y="520"/>
                        <a:pt x="1632" y="624"/>
                      </a:cubicBezTo>
                      <a:cubicBezTo>
                        <a:pt x="1648" y="728"/>
                        <a:pt x="1496" y="816"/>
                        <a:pt x="1440" y="912"/>
                      </a:cubicBezTo>
                      <a:cubicBezTo>
                        <a:pt x="1384" y="1008"/>
                        <a:pt x="1392" y="1128"/>
                        <a:pt x="1296" y="1200"/>
                      </a:cubicBezTo>
                      <a:cubicBezTo>
                        <a:pt x="1200" y="1272"/>
                        <a:pt x="944" y="1312"/>
                        <a:pt x="864" y="1344"/>
                      </a:cubicBezTo>
                      <a:cubicBezTo>
                        <a:pt x="784" y="1376"/>
                        <a:pt x="872" y="1392"/>
                        <a:pt x="816" y="1392"/>
                      </a:cubicBezTo>
                      <a:cubicBezTo>
                        <a:pt x="760" y="1392"/>
                        <a:pt x="624" y="1384"/>
                        <a:pt x="528" y="1344"/>
                      </a:cubicBezTo>
                      <a:cubicBezTo>
                        <a:pt x="432" y="1304"/>
                        <a:pt x="312" y="1248"/>
                        <a:pt x="240" y="1152"/>
                      </a:cubicBezTo>
                      <a:cubicBezTo>
                        <a:pt x="168" y="1056"/>
                        <a:pt x="104" y="856"/>
                        <a:pt x="96" y="768"/>
                      </a:cubicBezTo>
                      <a:cubicBezTo>
                        <a:pt x="88" y="680"/>
                        <a:pt x="208" y="736"/>
                        <a:pt x="192" y="624"/>
                      </a:cubicBezTo>
                      <a:cubicBezTo>
                        <a:pt x="176" y="512"/>
                        <a:pt x="0" y="176"/>
                        <a:pt x="0" y="96"/>
                      </a:cubicBezTo>
                      <a:cubicBezTo>
                        <a:pt x="0" y="16"/>
                        <a:pt x="120" y="112"/>
                        <a:pt x="192" y="144"/>
                      </a:cubicBezTo>
                      <a:cubicBezTo>
                        <a:pt x="264" y="176"/>
                        <a:pt x="392" y="304"/>
                        <a:pt x="432" y="288"/>
                      </a:cubicBezTo>
                      <a:cubicBezTo>
                        <a:pt x="472" y="272"/>
                        <a:pt x="416" y="96"/>
                        <a:pt x="432" y="48"/>
                      </a:cubicBezTo>
                      <a:cubicBezTo>
                        <a:pt x="448" y="0"/>
                        <a:pt x="472" y="0"/>
                        <a:pt x="52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62" name="Text Box 9">
                  <a:extLst>
                    <a:ext uri="{FF2B5EF4-FFF2-40B4-BE49-F238E27FC236}">
                      <a16:creationId xmlns:a16="http://schemas.microsoft.com/office/drawing/2014/main" id="{CEF3B4F8-A071-41FE-80D5-73A8BF10AB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64" y="2928"/>
                  <a:ext cx="288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200">
                      <a:latin typeface="Palatino Linotype" panose="02040502050505030304" pitchFamily="18" charset="0"/>
                      <a:ea typeface="华文中宋" panose="02010600040101010101" pitchFamily="2" charset="-122"/>
                    </a:rPr>
                    <a:t>U</a:t>
                  </a:r>
                </a:p>
              </p:txBody>
            </p:sp>
          </p:grpSp>
          <p:sp>
            <p:nvSpPr>
              <p:cNvPr id="73760" name="Text Box 11">
                <a:extLst>
                  <a:ext uri="{FF2B5EF4-FFF2-40B4-BE49-F238E27FC236}">
                    <a16:creationId xmlns:a16="http://schemas.microsoft.com/office/drawing/2014/main" id="{F486365C-339B-438C-8393-27238D7312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3024"/>
                <a:ext cx="28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u</a:t>
                </a:r>
              </a:p>
            </p:txBody>
          </p:sp>
        </p:grpSp>
        <p:sp>
          <p:nvSpPr>
            <p:cNvPr id="73758" name="Oval 36">
              <a:extLst>
                <a:ext uri="{FF2B5EF4-FFF2-40B4-BE49-F238E27FC236}">
                  <a16:creationId xmlns:a16="http://schemas.microsoft.com/office/drawing/2014/main" id="{8636C15A-D86E-46A3-9A0C-F7FEF12AC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3282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5" name="Group 40">
            <a:extLst>
              <a:ext uri="{FF2B5EF4-FFF2-40B4-BE49-F238E27FC236}">
                <a16:creationId xmlns:a16="http://schemas.microsoft.com/office/drawing/2014/main" id="{58A3B14F-C572-4432-A13E-70A32997C8A5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038600"/>
            <a:ext cx="2476500" cy="2222500"/>
            <a:chOff x="3456" y="2544"/>
            <a:chExt cx="1560" cy="1400"/>
          </a:xfrm>
        </p:grpSpPr>
        <p:grpSp>
          <p:nvGrpSpPr>
            <p:cNvPr id="73751" name="Group 32">
              <a:extLst>
                <a:ext uri="{FF2B5EF4-FFF2-40B4-BE49-F238E27FC236}">
                  <a16:creationId xmlns:a16="http://schemas.microsoft.com/office/drawing/2014/main" id="{EB197F2A-572B-4535-9799-4336949D17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544"/>
              <a:ext cx="1560" cy="1400"/>
              <a:chOff x="3456" y="2544"/>
              <a:chExt cx="1560" cy="1400"/>
            </a:xfrm>
          </p:grpSpPr>
          <p:grpSp>
            <p:nvGrpSpPr>
              <p:cNvPr id="73753" name="Group 29">
                <a:extLst>
                  <a:ext uri="{FF2B5EF4-FFF2-40B4-BE49-F238E27FC236}">
                    <a16:creationId xmlns:a16="http://schemas.microsoft.com/office/drawing/2014/main" id="{90ED25C8-9D93-4A65-99B7-734534527E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0" y="2544"/>
                <a:ext cx="1416" cy="1400"/>
                <a:chOff x="3600" y="2544"/>
                <a:chExt cx="1416" cy="1400"/>
              </a:xfrm>
            </p:grpSpPr>
            <p:sp>
              <p:nvSpPr>
                <p:cNvPr id="73755" name="Freeform 4">
                  <a:extLst>
                    <a:ext uri="{FF2B5EF4-FFF2-40B4-BE49-F238E27FC236}">
                      <a16:creationId xmlns:a16="http://schemas.microsoft.com/office/drawing/2014/main" id="{BC387662-D7C0-4D0C-BDEC-4642AF9E03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0" y="2544"/>
                  <a:ext cx="1416" cy="1400"/>
                </a:xfrm>
                <a:custGeom>
                  <a:avLst/>
                  <a:gdLst>
                    <a:gd name="T0" fmla="*/ 216 w 1416"/>
                    <a:gd name="T1" fmla="*/ 320 h 1400"/>
                    <a:gd name="T2" fmla="*/ 648 w 1416"/>
                    <a:gd name="T3" fmla="*/ 32 h 1400"/>
                    <a:gd name="T4" fmla="*/ 888 w 1416"/>
                    <a:gd name="T5" fmla="*/ 128 h 1400"/>
                    <a:gd name="T6" fmla="*/ 1176 w 1416"/>
                    <a:gd name="T7" fmla="*/ 80 h 1400"/>
                    <a:gd name="T8" fmla="*/ 1320 w 1416"/>
                    <a:gd name="T9" fmla="*/ 224 h 1400"/>
                    <a:gd name="T10" fmla="*/ 1416 w 1416"/>
                    <a:gd name="T11" fmla="*/ 464 h 1400"/>
                    <a:gd name="T12" fmla="*/ 1320 w 1416"/>
                    <a:gd name="T13" fmla="*/ 656 h 1400"/>
                    <a:gd name="T14" fmla="*/ 1224 w 1416"/>
                    <a:gd name="T15" fmla="*/ 944 h 1400"/>
                    <a:gd name="T16" fmla="*/ 1080 w 1416"/>
                    <a:gd name="T17" fmla="*/ 1136 h 1400"/>
                    <a:gd name="T18" fmla="*/ 1032 w 1416"/>
                    <a:gd name="T19" fmla="*/ 1280 h 1400"/>
                    <a:gd name="T20" fmla="*/ 744 w 1416"/>
                    <a:gd name="T21" fmla="*/ 1328 h 1400"/>
                    <a:gd name="T22" fmla="*/ 504 w 1416"/>
                    <a:gd name="T23" fmla="*/ 1376 h 1400"/>
                    <a:gd name="T24" fmla="*/ 312 w 1416"/>
                    <a:gd name="T25" fmla="*/ 1184 h 1400"/>
                    <a:gd name="T26" fmla="*/ 216 w 1416"/>
                    <a:gd name="T27" fmla="*/ 1088 h 1400"/>
                    <a:gd name="T28" fmla="*/ 24 w 1416"/>
                    <a:gd name="T29" fmla="*/ 800 h 1400"/>
                    <a:gd name="T30" fmla="*/ 72 w 1416"/>
                    <a:gd name="T31" fmla="*/ 752 h 1400"/>
                    <a:gd name="T32" fmla="*/ 168 w 1416"/>
                    <a:gd name="T33" fmla="*/ 512 h 1400"/>
                    <a:gd name="T34" fmla="*/ 72 w 1416"/>
                    <a:gd name="T35" fmla="*/ 464 h 1400"/>
                    <a:gd name="T36" fmla="*/ 120 w 1416"/>
                    <a:gd name="T37" fmla="*/ 368 h 1400"/>
                    <a:gd name="T38" fmla="*/ 216 w 1416"/>
                    <a:gd name="T39" fmla="*/ 320 h 1400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416"/>
                    <a:gd name="T61" fmla="*/ 0 h 1400"/>
                    <a:gd name="T62" fmla="*/ 1416 w 1416"/>
                    <a:gd name="T63" fmla="*/ 1400 h 1400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416" h="1400">
                      <a:moveTo>
                        <a:pt x="216" y="320"/>
                      </a:moveTo>
                      <a:cubicBezTo>
                        <a:pt x="304" y="264"/>
                        <a:pt x="536" y="64"/>
                        <a:pt x="648" y="32"/>
                      </a:cubicBezTo>
                      <a:cubicBezTo>
                        <a:pt x="760" y="0"/>
                        <a:pt x="800" y="120"/>
                        <a:pt x="888" y="128"/>
                      </a:cubicBezTo>
                      <a:cubicBezTo>
                        <a:pt x="976" y="136"/>
                        <a:pt x="1104" y="64"/>
                        <a:pt x="1176" y="80"/>
                      </a:cubicBezTo>
                      <a:cubicBezTo>
                        <a:pt x="1248" y="96"/>
                        <a:pt x="1280" y="160"/>
                        <a:pt x="1320" y="224"/>
                      </a:cubicBezTo>
                      <a:cubicBezTo>
                        <a:pt x="1360" y="288"/>
                        <a:pt x="1416" y="392"/>
                        <a:pt x="1416" y="464"/>
                      </a:cubicBezTo>
                      <a:cubicBezTo>
                        <a:pt x="1416" y="536"/>
                        <a:pt x="1352" y="576"/>
                        <a:pt x="1320" y="656"/>
                      </a:cubicBezTo>
                      <a:cubicBezTo>
                        <a:pt x="1288" y="736"/>
                        <a:pt x="1264" y="864"/>
                        <a:pt x="1224" y="944"/>
                      </a:cubicBezTo>
                      <a:cubicBezTo>
                        <a:pt x="1184" y="1024"/>
                        <a:pt x="1112" y="1080"/>
                        <a:pt x="1080" y="1136"/>
                      </a:cubicBezTo>
                      <a:cubicBezTo>
                        <a:pt x="1048" y="1192"/>
                        <a:pt x="1088" y="1248"/>
                        <a:pt x="1032" y="1280"/>
                      </a:cubicBezTo>
                      <a:cubicBezTo>
                        <a:pt x="976" y="1312"/>
                        <a:pt x="832" y="1312"/>
                        <a:pt x="744" y="1328"/>
                      </a:cubicBezTo>
                      <a:cubicBezTo>
                        <a:pt x="656" y="1344"/>
                        <a:pt x="576" y="1400"/>
                        <a:pt x="504" y="1376"/>
                      </a:cubicBezTo>
                      <a:cubicBezTo>
                        <a:pt x="432" y="1352"/>
                        <a:pt x="360" y="1232"/>
                        <a:pt x="312" y="1184"/>
                      </a:cubicBezTo>
                      <a:cubicBezTo>
                        <a:pt x="264" y="1136"/>
                        <a:pt x="264" y="1152"/>
                        <a:pt x="216" y="1088"/>
                      </a:cubicBezTo>
                      <a:cubicBezTo>
                        <a:pt x="168" y="1024"/>
                        <a:pt x="48" y="856"/>
                        <a:pt x="24" y="800"/>
                      </a:cubicBezTo>
                      <a:cubicBezTo>
                        <a:pt x="0" y="744"/>
                        <a:pt x="48" y="800"/>
                        <a:pt x="72" y="752"/>
                      </a:cubicBezTo>
                      <a:cubicBezTo>
                        <a:pt x="96" y="704"/>
                        <a:pt x="168" y="560"/>
                        <a:pt x="168" y="512"/>
                      </a:cubicBezTo>
                      <a:cubicBezTo>
                        <a:pt x="168" y="464"/>
                        <a:pt x="80" y="488"/>
                        <a:pt x="72" y="464"/>
                      </a:cubicBezTo>
                      <a:cubicBezTo>
                        <a:pt x="64" y="440"/>
                        <a:pt x="104" y="392"/>
                        <a:pt x="120" y="368"/>
                      </a:cubicBezTo>
                      <a:cubicBezTo>
                        <a:pt x="136" y="344"/>
                        <a:pt x="128" y="376"/>
                        <a:pt x="216" y="320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56" name="Text Box 10">
                  <a:extLst>
                    <a:ext uri="{FF2B5EF4-FFF2-40B4-BE49-F238E27FC236}">
                      <a16:creationId xmlns:a16="http://schemas.microsoft.com/office/drawing/2014/main" id="{C25FD447-7BD6-4DEA-A4E3-74C238746F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4" y="2832"/>
                  <a:ext cx="672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200">
                      <a:latin typeface="Palatino Linotype" panose="02040502050505030304" pitchFamily="18" charset="0"/>
                      <a:ea typeface="华文中宋" panose="02010600040101010101" pitchFamily="2" charset="-122"/>
                    </a:rPr>
                    <a:t>V\U</a:t>
                  </a:r>
                </a:p>
              </p:txBody>
            </p:sp>
          </p:grpSp>
          <p:sp>
            <p:nvSpPr>
              <p:cNvPr id="73754" name="Text Box 12">
                <a:extLst>
                  <a:ext uri="{FF2B5EF4-FFF2-40B4-BE49-F238E27FC236}">
                    <a16:creationId xmlns:a16="http://schemas.microsoft.com/office/drawing/2014/main" id="{A3F4C828-736F-43F0-A525-ACD3CFEEE7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3072"/>
                <a:ext cx="28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v</a:t>
                </a:r>
              </a:p>
            </p:txBody>
          </p:sp>
        </p:grpSp>
        <p:sp>
          <p:nvSpPr>
            <p:cNvPr id="73752" name="Oval 37">
              <a:extLst>
                <a:ext uri="{FF2B5EF4-FFF2-40B4-BE49-F238E27FC236}">
                  <a16:creationId xmlns:a16="http://schemas.microsoft.com/office/drawing/2014/main" id="{318B0DD5-99FD-4CA6-A3BD-F265EB90D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312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73732" name="Rectangle 2">
            <a:extLst>
              <a:ext uri="{FF2B5EF4-FFF2-40B4-BE49-F238E27FC236}">
                <a16:creationId xmlns:a16="http://schemas.microsoft.com/office/drawing/2014/main" id="{0C386713-1B0C-4561-BA77-DD17EB59A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最小生成树性质</a:t>
            </a:r>
            <a:r>
              <a:rPr lang="en-US" altLang="zh-CN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 </a:t>
            </a:r>
            <a:r>
              <a:rPr lang="en-US" altLang="zh-CN" sz="4000" b="1">
                <a:solidFill>
                  <a:schemeClr val="accent2"/>
                </a:solidFill>
                <a:latin typeface="华文中宋" panose="02010600040101010101" pitchFamily="2" charset="-122"/>
              </a:rPr>
              <a:t>MST</a:t>
            </a:r>
            <a:r>
              <a:rPr lang="zh-CN" altLang="en-US" sz="4000" b="1">
                <a:solidFill>
                  <a:schemeClr val="accent2"/>
                </a:solidFill>
                <a:latin typeface="华文中宋" panose="02010600040101010101" pitchFamily="2" charset="-122"/>
              </a:rPr>
              <a:t>性质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445BD0F9-A1B2-403C-9F10-559E90381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524000"/>
            <a:ext cx="8305800" cy="2209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</a:rPr>
              <a:t>		 </a:t>
            </a:r>
            <a:r>
              <a:rPr lang="zh-CN" altLang="en-US" sz="2800" b="1" dirty="0">
                <a:latin typeface="华文中宋" panose="02010600040101010101" pitchFamily="2" charset="-122"/>
              </a:rPr>
              <a:t>设</a:t>
            </a:r>
            <a:r>
              <a:rPr lang="en-US" altLang="zh-CN" sz="2800" b="1" dirty="0">
                <a:latin typeface="华文中宋" panose="02010600040101010101" pitchFamily="2" charset="-122"/>
              </a:rPr>
              <a:t>G=(V,E)</a:t>
            </a:r>
            <a:r>
              <a:rPr lang="zh-CN" altLang="en-US" sz="2800" b="1" dirty="0">
                <a:latin typeface="华文中宋" panose="02010600040101010101" pitchFamily="2" charset="-122"/>
              </a:rPr>
              <a:t>是连通带权图，</a:t>
            </a:r>
            <a:r>
              <a:rPr lang="en-US" altLang="zh-CN" sz="2800" b="1" dirty="0">
                <a:latin typeface="华文中宋" panose="02010600040101010101" pitchFamily="2" charset="-122"/>
              </a:rPr>
              <a:t>U</a:t>
            </a:r>
            <a:r>
              <a:rPr lang="zh-CN" altLang="en-US" sz="2800" b="1" dirty="0">
                <a:latin typeface="华文中宋" panose="02010600040101010101" pitchFamily="2" charset="-122"/>
              </a:rPr>
              <a:t>是</a:t>
            </a:r>
            <a:r>
              <a:rPr lang="en-US" altLang="zh-CN" sz="2800" b="1" dirty="0">
                <a:latin typeface="华文中宋" panose="02010600040101010101" pitchFamily="2" charset="-122"/>
              </a:rPr>
              <a:t>V</a:t>
            </a:r>
            <a:r>
              <a:rPr lang="zh-CN" altLang="en-US" sz="2800" b="1" dirty="0">
                <a:latin typeface="华文中宋" panose="02010600040101010101" pitchFamily="2" charset="-122"/>
              </a:rPr>
              <a:t>的真子集。如果</a:t>
            </a:r>
            <a:r>
              <a:rPr lang="en-US" altLang="zh-CN" sz="2800" b="1" dirty="0">
                <a:latin typeface="华文中宋" panose="02010600040101010101" pitchFamily="2" charset="-122"/>
              </a:rPr>
              <a:t>(</a:t>
            </a:r>
            <a:r>
              <a:rPr lang="en-US" altLang="zh-CN" sz="2800" b="1" dirty="0" err="1">
                <a:latin typeface="华文中宋" panose="02010600040101010101" pitchFamily="2" charset="-122"/>
              </a:rPr>
              <a:t>u,v</a:t>
            </a:r>
            <a:r>
              <a:rPr lang="en-US" altLang="zh-CN" sz="2800" b="1" dirty="0">
                <a:latin typeface="华文中宋" panose="02010600040101010101" pitchFamily="2" charset="-122"/>
              </a:rPr>
              <a:t>)</a:t>
            </a:r>
            <a:r>
              <a:rPr lang="en-US" altLang="zh-CN" sz="2800" b="1" dirty="0">
                <a:latin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latin typeface="华文中宋" panose="02010600040101010101" pitchFamily="2" charset="-122"/>
              </a:rPr>
              <a:t>E</a:t>
            </a:r>
            <a:r>
              <a:rPr lang="zh-CN" altLang="en-US" sz="2800" b="1" dirty="0">
                <a:latin typeface="华文中宋" panose="02010600040101010101" pitchFamily="2" charset="-122"/>
              </a:rPr>
              <a:t>，且</a:t>
            </a:r>
            <a:r>
              <a:rPr lang="en-US" altLang="zh-CN" sz="2800" b="1" dirty="0" err="1">
                <a:latin typeface="华文中宋" panose="02010600040101010101" pitchFamily="2" charset="-122"/>
              </a:rPr>
              <a:t>u</a:t>
            </a:r>
            <a:r>
              <a:rPr lang="en-US" altLang="zh-CN" sz="2800" b="1" dirty="0" err="1">
                <a:latin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latin typeface="华文中宋" panose="02010600040101010101" pitchFamily="2" charset="-122"/>
              </a:rPr>
              <a:t>U</a:t>
            </a:r>
            <a:r>
              <a:rPr lang="zh-CN" altLang="en-US" sz="2800" b="1" dirty="0">
                <a:latin typeface="华文中宋" panose="02010600040101010101" pitchFamily="2" charset="-122"/>
              </a:rPr>
              <a:t>，</a:t>
            </a:r>
            <a:r>
              <a:rPr lang="en-US" altLang="zh-CN" sz="2800" b="1" dirty="0" err="1">
                <a:latin typeface="华文中宋" panose="02010600040101010101" pitchFamily="2" charset="-122"/>
              </a:rPr>
              <a:t>v</a:t>
            </a:r>
            <a:r>
              <a:rPr lang="en-US" altLang="zh-CN" sz="2800" b="1" dirty="0" err="1">
                <a:latin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latin typeface="华文中宋" panose="02010600040101010101" pitchFamily="2" charset="-122"/>
              </a:rPr>
              <a:t>V-U</a:t>
            </a:r>
            <a:r>
              <a:rPr lang="zh-CN" altLang="en-US" sz="2800" b="1" dirty="0">
                <a:latin typeface="华文中宋" panose="02010600040101010101" pitchFamily="2" charset="-122"/>
              </a:rPr>
              <a:t>，且在所有这样的边中，</a:t>
            </a:r>
            <a:r>
              <a:rPr lang="en-US" altLang="zh-CN" sz="2800" b="1" dirty="0">
                <a:latin typeface="华文中宋" panose="02010600040101010101" pitchFamily="2" charset="-122"/>
              </a:rPr>
              <a:t>(</a:t>
            </a:r>
            <a:r>
              <a:rPr lang="en-US" altLang="zh-CN" sz="2800" b="1" dirty="0" err="1">
                <a:latin typeface="华文中宋" panose="02010600040101010101" pitchFamily="2" charset="-122"/>
              </a:rPr>
              <a:t>u,v</a:t>
            </a:r>
            <a:r>
              <a:rPr lang="en-US" altLang="zh-CN" sz="2800" b="1" dirty="0">
                <a:latin typeface="华文中宋" panose="02010600040101010101" pitchFamily="2" charset="-122"/>
              </a:rPr>
              <a:t>)</a:t>
            </a:r>
            <a:r>
              <a:rPr lang="zh-CN" altLang="en-US" sz="2800" b="1" dirty="0">
                <a:latin typeface="华文中宋" panose="02010600040101010101" pitchFamily="2" charset="-122"/>
              </a:rPr>
              <a:t>的权</a:t>
            </a:r>
            <a:r>
              <a:rPr lang="en-US" altLang="zh-CN" sz="2800" b="1" dirty="0">
                <a:latin typeface="华文中宋" panose="02010600040101010101" pitchFamily="2" charset="-122"/>
              </a:rPr>
              <a:t>c[u][v]</a:t>
            </a:r>
            <a:r>
              <a:rPr lang="zh-CN" altLang="en-US" sz="2800" b="1" dirty="0">
                <a:latin typeface="华文中宋" panose="02010600040101010101" pitchFamily="2" charset="-122"/>
              </a:rPr>
              <a:t>最小，那么一定存在</a:t>
            </a:r>
            <a:r>
              <a:rPr lang="en-US" altLang="zh-CN" sz="2800" b="1" dirty="0">
                <a:latin typeface="华文中宋" panose="02010600040101010101" pitchFamily="2" charset="-122"/>
              </a:rPr>
              <a:t>G</a:t>
            </a:r>
            <a:r>
              <a:rPr lang="zh-CN" altLang="en-US" sz="2800" b="1" dirty="0">
                <a:latin typeface="华文中宋" panose="02010600040101010101" pitchFamily="2" charset="-122"/>
              </a:rPr>
              <a:t>的一棵最小生成树，它以</a:t>
            </a:r>
            <a:r>
              <a:rPr lang="en-US" altLang="zh-CN" sz="2800" b="1" dirty="0">
                <a:latin typeface="华文中宋" panose="02010600040101010101" pitchFamily="2" charset="-122"/>
              </a:rPr>
              <a:t>(</a:t>
            </a:r>
            <a:r>
              <a:rPr lang="en-US" altLang="zh-CN" sz="2800" b="1" dirty="0" err="1">
                <a:latin typeface="华文中宋" panose="02010600040101010101" pitchFamily="2" charset="-122"/>
              </a:rPr>
              <a:t>u,v</a:t>
            </a:r>
            <a:r>
              <a:rPr lang="en-US" altLang="zh-CN" sz="2800" b="1" dirty="0">
                <a:latin typeface="华文中宋" panose="02010600040101010101" pitchFamily="2" charset="-122"/>
              </a:rPr>
              <a:t>)</a:t>
            </a:r>
            <a:r>
              <a:rPr lang="zh-CN" altLang="en-US" sz="2800" b="1" dirty="0">
                <a:latin typeface="华文中宋" panose="02010600040101010101" pitchFamily="2" charset="-122"/>
              </a:rPr>
              <a:t>为其中一条边。这一性质有时也称为</a:t>
            </a:r>
            <a:r>
              <a:rPr lang="en-US" altLang="zh-CN" sz="2800" b="1" dirty="0">
                <a:solidFill>
                  <a:schemeClr val="accent2"/>
                </a:solidFill>
                <a:latin typeface="华文中宋" panose="02010600040101010101" pitchFamily="2" charset="-122"/>
              </a:rPr>
              <a:t>MST</a:t>
            </a:r>
            <a:r>
              <a:rPr lang="zh-CN" altLang="en-US" sz="2800" b="1" dirty="0">
                <a:solidFill>
                  <a:schemeClr val="accent2"/>
                </a:solidFill>
                <a:latin typeface="华文中宋" panose="02010600040101010101" pitchFamily="2" charset="-122"/>
              </a:rPr>
              <a:t>性质</a:t>
            </a:r>
            <a:r>
              <a:rPr lang="zh-CN" altLang="en-US" sz="2800" b="1" dirty="0">
                <a:latin typeface="华文中宋" panose="02010600040101010101" pitchFamily="2" charset="-122"/>
              </a:rPr>
              <a:t>。</a:t>
            </a:r>
          </a:p>
        </p:txBody>
      </p:sp>
      <p:cxnSp>
        <p:nvCxnSpPr>
          <p:cNvPr id="88072" name="AutoShape 8">
            <a:extLst>
              <a:ext uri="{FF2B5EF4-FFF2-40B4-BE49-F238E27FC236}">
                <a16:creationId xmlns:a16="http://schemas.microsoft.com/office/drawing/2014/main" id="{44C6CEF0-9AF2-430B-AC54-7D4350C8F83D}"/>
              </a:ext>
            </a:extLst>
          </p:cNvPr>
          <p:cNvCxnSpPr>
            <a:cxnSpLocks noChangeShapeType="1"/>
            <a:stCxn id="73758" idx="2"/>
            <a:endCxn id="73755" idx="14"/>
          </p:cNvCxnSpPr>
          <p:nvPr/>
        </p:nvCxnSpPr>
        <p:spPr bwMode="auto">
          <a:xfrm>
            <a:off x="4938713" y="5248275"/>
            <a:ext cx="814387" cy="60325"/>
          </a:xfrm>
          <a:prstGeom prst="straightConnector1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" name="Group 30">
            <a:extLst>
              <a:ext uri="{FF2B5EF4-FFF2-40B4-BE49-F238E27FC236}">
                <a16:creationId xmlns:a16="http://schemas.microsoft.com/office/drawing/2014/main" id="{72B20F35-0490-4E4C-9916-180CA416CE5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724400"/>
            <a:ext cx="4572000" cy="1447800"/>
            <a:chOff x="1824" y="2976"/>
            <a:chExt cx="2880" cy="912"/>
          </a:xfrm>
        </p:grpSpPr>
        <p:sp>
          <p:nvSpPr>
            <p:cNvPr id="73739" name="Line 17">
              <a:extLst>
                <a:ext uri="{FF2B5EF4-FFF2-40B4-BE49-F238E27FC236}">
                  <a16:creationId xmlns:a16="http://schemas.microsoft.com/office/drawing/2014/main" id="{5532CBE1-1B18-4013-8C88-0091A3A287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3168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73740" name="AutoShape 13">
              <a:extLst>
                <a:ext uri="{FF2B5EF4-FFF2-40B4-BE49-F238E27FC236}">
                  <a16:creationId xmlns:a16="http://schemas.microsoft.com/office/drawing/2014/main" id="{B3FB63E7-45E0-4FAD-B79E-F4C41AE2A3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32" y="2976"/>
              <a:ext cx="840" cy="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3741" name="Line 16">
              <a:extLst>
                <a:ext uri="{FF2B5EF4-FFF2-40B4-BE49-F238E27FC236}">
                  <a16:creationId xmlns:a16="http://schemas.microsoft.com/office/drawing/2014/main" id="{ED8F1F3A-98C3-4A9F-8E29-363012A0E1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3312"/>
              <a:ext cx="62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2" name="Line 18">
              <a:extLst>
                <a:ext uri="{FF2B5EF4-FFF2-40B4-BE49-F238E27FC236}">
                  <a16:creationId xmlns:a16="http://schemas.microsoft.com/office/drawing/2014/main" id="{5890AFBB-706D-4002-B374-A30E68EF4B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2" y="3216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3" name="Line 19">
              <a:extLst>
                <a:ext uri="{FF2B5EF4-FFF2-40B4-BE49-F238E27FC236}">
                  <a16:creationId xmlns:a16="http://schemas.microsoft.com/office/drawing/2014/main" id="{D060D8F8-0255-482C-8E4A-5A70564AA9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2976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4" name="Line 20">
              <a:extLst>
                <a:ext uri="{FF2B5EF4-FFF2-40B4-BE49-F238E27FC236}">
                  <a16:creationId xmlns:a16="http://schemas.microsoft.com/office/drawing/2014/main" id="{976290B4-2511-449A-8225-5701CDCA8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024"/>
              <a:ext cx="38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5" name="Line 21">
              <a:extLst>
                <a:ext uri="{FF2B5EF4-FFF2-40B4-BE49-F238E27FC236}">
                  <a16:creationId xmlns:a16="http://schemas.microsoft.com/office/drawing/2014/main" id="{FD67E084-3699-4176-B50B-AB48F20F6C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3216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6" name="Line 22">
              <a:extLst>
                <a:ext uri="{FF2B5EF4-FFF2-40B4-BE49-F238E27FC236}">
                  <a16:creationId xmlns:a16="http://schemas.microsoft.com/office/drawing/2014/main" id="{2013735C-875F-4CC3-B939-5163CCC1C2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45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7" name="Line 23">
              <a:extLst>
                <a:ext uri="{FF2B5EF4-FFF2-40B4-BE49-F238E27FC236}">
                  <a16:creationId xmlns:a16="http://schemas.microsoft.com/office/drawing/2014/main" id="{5A6D8F14-697D-4737-B774-8D865F033F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168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8" name="Line 24">
              <a:extLst>
                <a:ext uri="{FF2B5EF4-FFF2-40B4-BE49-F238E27FC236}">
                  <a16:creationId xmlns:a16="http://schemas.microsoft.com/office/drawing/2014/main" id="{5054BD81-9A6B-4912-B91D-F1E3A458D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264"/>
              <a:ext cx="2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9" name="Line 25">
              <a:extLst>
                <a:ext uri="{FF2B5EF4-FFF2-40B4-BE49-F238E27FC236}">
                  <a16:creationId xmlns:a16="http://schemas.microsoft.com/office/drawing/2014/main" id="{66EA8C91-4841-41B3-B194-060CFB929E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321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0" name="Line 26">
              <a:extLst>
                <a:ext uri="{FF2B5EF4-FFF2-40B4-BE49-F238E27FC236}">
                  <a16:creationId xmlns:a16="http://schemas.microsoft.com/office/drawing/2014/main" id="{827C28C3-AA2D-4B8E-BA22-749D18CCD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6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8097" name="Text Box 33">
            <a:extLst>
              <a:ext uri="{FF2B5EF4-FFF2-40B4-BE49-F238E27FC236}">
                <a16:creationId xmlns:a16="http://schemas.microsoft.com/office/drawing/2014/main" id="{602A66BA-9302-4211-B62E-8ABCE6BA5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267200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>
                <a:latin typeface="Palatino Linotype" panose="02040502050505030304" pitchFamily="18" charset="0"/>
                <a:ea typeface="华文中宋" panose="02010600040101010101" pitchFamily="2" charset="-122"/>
              </a:rPr>
              <a:t>u’</a:t>
            </a:r>
          </a:p>
        </p:txBody>
      </p:sp>
      <p:sp>
        <p:nvSpPr>
          <p:cNvPr id="88098" name="Text Box 34">
            <a:extLst>
              <a:ext uri="{FF2B5EF4-FFF2-40B4-BE49-F238E27FC236}">
                <a16:creationId xmlns:a16="http://schemas.microsoft.com/office/drawing/2014/main" id="{6204FB24-0A56-4DEA-AF88-B5E66DE59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267200"/>
            <a:ext cx="457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200">
                <a:latin typeface="Palatino Linotype" panose="02040502050505030304" pitchFamily="18" charset="0"/>
                <a:ea typeface="华文中宋" panose="02010600040101010101" pitchFamily="2" charset="-122"/>
              </a:rPr>
              <a:t>v’</a:t>
            </a:r>
          </a:p>
        </p:txBody>
      </p:sp>
      <p:sp>
        <p:nvSpPr>
          <p:cNvPr id="88099" name="Line 35">
            <a:extLst>
              <a:ext uri="{FF2B5EF4-FFF2-40B4-BE49-F238E27FC236}">
                <a16:creationId xmlns:a16="http://schemas.microsoft.com/office/drawing/2014/main" id="{111347B8-03CB-475E-A542-532D50E261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724400"/>
            <a:ext cx="1371600" cy="762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8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8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8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8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8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utoUpdateAnimBg="0"/>
      <p:bldP spid="88097" grpId="0" autoUpdateAnimBg="0"/>
      <p:bldP spid="88098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79CE55B-BA1D-4ABD-AA44-D123D9DD5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/>
              <a:t>贪心选择举例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4AD3163E-568C-4A91-9E4E-B688A953730C}"/>
              </a:ext>
            </a:extLst>
          </p:cNvPr>
          <p:cNvGrpSpPr>
            <a:grpSpLocks/>
          </p:cNvGrpSpPr>
          <p:nvPr/>
        </p:nvGrpSpPr>
        <p:grpSpPr bwMode="auto">
          <a:xfrm>
            <a:off x="404813" y="1282700"/>
            <a:ext cx="3586162" cy="2455863"/>
            <a:chOff x="2928" y="2640"/>
            <a:chExt cx="2259" cy="1547"/>
          </a:xfrm>
        </p:grpSpPr>
        <p:sp>
          <p:nvSpPr>
            <p:cNvPr id="74814" name="Oval 5">
              <a:extLst>
                <a:ext uri="{FF2B5EF4-FFF2-40B4-BE49-F238E27FC236}">
                  <a16:creationId xmlns:a16="http://schemas.microsoft.com/office/drawing/2014/main" id="{21BBBD8F-5BE1-4AED-A99C-DF35D7528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6" y="2792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74815" name="Oval 6">
              <a:extLst>
                <a:ext uri="{FF2B5EF4-FFF2-40B4-BE49-F238E27FC236}">
                  <a16:creationId xmlns:a16="http://schemas.microsoft.com/office/drawing/2014/main" id="{BD4A4D10-16BE-49A5-B8A9-26AC4222A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3704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3</a:t>
              </a:r>
            </a:p>
          </p:txBody>
        </p:sp>
        <p:sp>
          <p:nvSpPr>
            <p:cNvPr id="74816" name="Oval 7">
              <a:extLst>
                <a:ext uri="{FF2B5EF4-FFF2-40B4-BE49-F238E27FC236}">
                  <a16:creationId xmlns:a16="http://schemas.microsoft.com/office/drawing/2014/main" id="{2A8386F5-2F69-4013-9D72-DB561510C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6" y="3704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4</a:t>
              </a:r>
            </a:p>
          </p:txBody>
        </p:sp>
        <p:sp>
          <p:nvSpPr>
            <p:cNvPr id="74817" name="Line 8">
              <a:extLst>
                <a:ext uri="{FF2B5EF4-FFF2-40B4-BE49-F238E27FC236}">
                  <a16:creationId xmlns:a16="http://schemas.microsoft.com/office/drawing/2014/main" id="{66EBC653-6E7F-427A-A7AB-2CD9C4CC7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8" y="3128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8" name="Line 9">
              <a:extLst>
                <a:ext uri="{FF2B5EF4-FFF2-40B4-BE49-F238E27FC236}">
                  <a16:creationId xmlns:a16="http://schemas.microsoft.com/office/drawing/2014/main" id="{332799E0-2FBB-4A69-85D9-5A625FA2A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7" y="3128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9" name="Line 10">
              <a:extLst>
                <a:ext uri="{FF2B5EF4-FFF2-40B4-BE49-F238E27FC236}">
                  <a16:creationId xmlns:a16="http://schemas.microsoft.com/office/drawing/2014/main" id="{B1CFC7CA-7820-4338-B419-08DC43ADE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4" y="2984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20" name="Line 11">
              <a:extLst>
                <a:ext uri="{FF2B5EF4-FFF2-40B4-BE49-F238E27FC236}">
                  <a16:creationId xmlns:a16="http://schemas.microsoft.com/office/drawing/2014/main" id="{E364AD9C-C770-40D8-BF07-58F9F014B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4" y="3896"/>
              <a:ext cx="1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21" name="Line 12">
              <a:extLst>
                <a:ext uri="{FF2B5EF4-FFF2-40B4-BE49-F238E27FC236}">
                  <a16:creationId xmlns:a16="http://schemas.microsoft.com/office/drawing/2014/main" id="{62037B61-DEF7-4ADA-AEF0-601E512E9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3080"/>
              <a:ext cx="124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22" name="Text Box 13">
              <a:extLst>
                <a:ext uri="{FF2B5EF4-FFF2-40B4-BE49-F238E27FC236}">
                  <a16:creationId xmlns:a16="http://schemas.microsoft.com/office/drawing/2014/main" id="{7ED60212-E214-47A4-A526-C0DD18C73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2" y="2699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74823" name="Text Box 14">
              <a:extLst>
                <a:ext uri="{FF2B5EF4-FFF2-40B4-BE49-F238E27FC236}">
                  <a16:creationId xmlns:a16="http://schemas.microsoft.com/office/drawing/2014/main" id="{50EA5797-5B8C-4AA8-8C77-D7C70BE07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8" y="3272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74824" name="Text Box 15">
              <a:extLst>
                <a:ext uri="{FF2B5EF4-FFF2-40B4-BE49-F238E27FC236}">
                  <a16:creationId xmlns:a16="http://schemas.microsoft.com/office/drawing/2014/main" id="{A53FD27E-0A4D-404F-8152-559287D93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3" y="3179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3</a:t>
              </a:r>
            </a:p>
          </p:txBody>
        </p:sp>
        <p:sp>
          <p:nvSpPr>
            <p:cNvPr id="74825" name="Text Box 16">
              <a:extLst>
                <a:ext uri="{FF2B5EF4-FFF2-40B4-BE49-F238E27FC236}">
                  <a16:creationId xmlns:a16="http://schemas.microsoft.com/office/drawing/2014/main" id="{07B8FA4A-64CF-4271-AC5A-F95986ADE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3" y="3251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3</a:t>
              </a:r>
            </a:p>
          </p:txBody>
        </p:sp>
        <p:sp>
          <p:nvSpPr>
            <p:cNvPr id="74826" name="Text Box 17">
              <a:extLst>
                <a:ext uri="{FF2B5EF4-FFF2-40B4-BE49-F238E27FC236}">
                  <a16:creationId xmlns:a16="http://schemas.microsoft.com/office/drawing/2014/main" id="{52AB4514-4632-4EC4-8A5C-25999A1D2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936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4</a:t>
              </a:r>
            </a:p>
          </p:txBody>
        </p:sp>
        <p:sp>
          <p:nvSpPr>
            <p:cNvPr id="74827" name="Text Box 18">
              <a:extLst>
                <a:ext uri="{FF2B5EF4-FFF2-40B4-BE49-F238E27FC236}">
                  <a16:creationId xmlns:a16="http://schemas.microsoft.com/office/drawing/2014/main" id="{B8B5F52C-FA53-471F-8967-4B13D3A97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4" y="3877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74828" name="Freeform 19">
              <a:extLst>
                <a:ext uri="{FF2B5EF4-FFF2-40B4-BE49-F238E27FC236}">
                  <a16:creationId xmlns:a16="http://schemas.microsoft.com/office/drawing/2014/main" id="{C0B5D435-92D9-44BF-80C2-4BD0B3EA3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2640"/>
              <a:ext cx="1786" cy="1171"/>
            </a:xfrm>
            <a:custGeom>
              <a:avLst/>
              <a:gdLst>
                <a:gd name="T0" fmla="*/ 1786 w 1786"/>
                <a:gd name="T1" fmla="*/ 173 h 1171"/>
                <a:gd name="T2" fmla="*/ 1645 w 1786"/>
                <a:gd name="T3" fmla="*/ 107 h 1171"/>
                <a:gd name="T4" fmla="*/ 1464 w 1786"/>
                <a:gd name="T5" fmla="*/ 57 h 1171"/>
                <a:gd name="T6" fmla="*/ 1237 w 1786"/>
                <a:gd name="T7" fmla="*/ 19 h 1171"/>
                <a:gd name="T8" fmla="*/ 954 w 1786"/>
                <a:gd name="T9" fmla="*/ 0 h 1171"/>
                <a:gd name="T10" fmla="*/ 567 w 1786"/>
                <a:gd name="T11" fmla="*/ 0 h 1171"/>
                <a:gd name="T12" fmla="*/ 359 w 1786"/>
                <a:gd name="T13" fmla="*/ 28 h 1171"/>
                <a:gd name="T14" fmla="*/ 189 w 1786"/>
                <a:gd name="T15" fmla="*/ 85 h 1171"/>
                <a:gd name="T16" fmla="*/ 104 w 1786"/>
                <a:gd name="T17" fmla="*/ 189 h 1171"/>
                <a:gd name="T18" fmla="*/ 38 w 1786"/>
                <a:gd name="T19" fmla="*/ 312 h 1171"/>
                <a:gd name="T20" fmla="*/ 0 w 1786"/>
                <a:gd name="T21" fmla="*/ 604 h 1171"/>
                <a:gd name="T22" fmla="*/ 29 w 1786"/>
                <a:gd name="T23" fmla="*/ 897 h 1171"/>
                <a:gd name="T24" fmla="*/ 95 w 1786"/>
                <a:gd name="T25" fmla="*/ 1039 h 1171"/>
                <a:gd name="T26" fmla="*/ 208 w 1786"/>
                <a:gd name="T27" fmla="*/ 1171 h 117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786"/>
                <a:gd name="T43" fmla="*/ 0 h 1171"/>
                <a:gd name="T44" fmla="*/ 1786 w 1786"/>
                <a:gd name="T45" fmla="*/ 1171 h 117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786" h="1171">
                  <a:moveTo>
                    <a:pt x="1786" y="173"/>
                  </a:moveTo>
                  <a:lnTo>
                    <a:pt x="1645" y="107"/>
                  </a:lnTo>
                  <a:lnTo>
                    <a:pt x="1464" y="57"/>
                  </a:lnTo>
                  <a:lnTo>
                    <a:pt x="1237" y="19"/>
                  </a:lnTo>
                  <a:lnTo>
                    <a:pt x="954" y="0"/>
                  </a:lnTo>
                  <a:lnTo>
                    <a:pt x="567" y="0"/>
                  </a:lnTo>
                  <a:lnTo>
                    <a:pt x="359" y="28"/>
                  </a:lnTo>
                  <a:lnTo>
                    <a:pt x="189" y="85"/>
                  </a:lnTo>
                  <a:lnTo>
                    <a:pt x="104" y="189"/>
                  </a:lnTo>
                  <a:lnTo>
                    <a:pt x="38" y="312"/>
                  </a:lnTo>
                  <a:lnTo>
                    <a:pt x="0" y="604"/>
                  </a:lnTo>
                  <a:lnTo>
                    <a:pt x="29" y="897"/>
                  </a:lnTo>
                  <a:lnTo>
                    <a:pt x="95" y="1039"/>
                  </a:lnTo>
                  <a:lnTo>
                    <a:pt x="208" y="1171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29" name="Oval 20">
              <a:extLst>
                <a:ext uri="{FF2B5EF4-FFF2-40B4-BE49-F238E27FC236}">
                  <a16:creationId xmlns:a16="http://schemas.microsoft.com/office/drawing/2014/main" id="{0E4211C1-9D73-4888-A1C2-D23E5BEE8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784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</p:grpSp>
      <p:grpSp>
        <p:nvGrpSpPr>
          <p:cNvPr id="3" name="Group 21">
            <a:extLst>
              <a:ext uri="{FF2B5EF4-FFF2-40B4-BE49-F238E27FC236}">
                <a16:creationId xmlns:a16="http://schemas.microsoft.com/office/drawing/2014/main" id="{EF8BF967-E6C0-426A-BDFA-81DEA15F7BF2}"/>
              </a:ext>
            </a:extLst>
          </p:cNvPr>
          <p:cNvGrpSpPr>
            <a:grpSpLocks/>
          </p:cNvGrpSpPr>
          <p:nvPr/>
        </p:nvGrpSpPr>
        <p:grpSpPr bwMode="auto">
          <a:xfrm>
            <a:off x="4795838" y="1076325"/>
            <a:ext cx="3733800" cy="2428875"/>
            <a:chOff x="144" y="453"/>
            <a:chExt cx="2352" cy="1530"/>
          </a:xfrm>
        </p:grpSpPr>
        <p:sp>
          <p:nvSpPr>
            <p:cNvPr id="74800" name="Oval 22">
              <a:extLst>
                <a:ext uri="{FF2B5EF4-FFF2-40B4-BE49-F238E27FC236}">
                  <a16:creationId xmlns:a16="http://schemas.microsoft.com/office/drawing/2014/main" id="{192B479C-E436-42C3-9B20-7F332FE2E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528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74801" name="Oval 23">
              <a:extLst>
                <a:ext uri="{FF2B5EF4-FFF2-40B4-BE49-F238E27FC236}">
                  <a16:creationId xmlns:a16="http://schemas.microsoft.com/office/drawing/2014/main" id="{C280BD33-7DB7-4A0D-BAEA-2C86C924D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53"/>
              <a:ext cx="1392" cy="4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4802" name="Oval 24">
              <a:extLst>
                <a:ext uri="{FF2B5EF4-FFF2-40B4-BE49-F238E27FC236}">
                  <a16:creationId xmlns:a16="http://schemas.microsoft.com/office/drawing/2014/main" id="{89D71F86-2269-4A74-BD87-869CE8A5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1551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74803" name="Oval 25">
              <a:extLst>
                <a:ext uri="{FF2B5EF4-FFF2-40B4-BE49-F238E27FC236}">
                  <a16:creationId xmlns:a16="http://schemas.microsoft.com/office/drawing/2014/main" id="{14FE8946-2CC5-4773-87FD-BAF042489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" y="1551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3</a:t>
              </a:r>
            </a:p>
          </p:txBody>
        </p:sp>
        <p:sp>
          <p:nvSpPr>
            <p:cNvPr id="74804" name="Oval 26">
              <a:extLst>
                <a:ext uri="{FF2B5EF4-FFF2-40B4-BE49-F238E27FC236}">
                  <a16:creationId xmlns:a16="http://schemas.microsoft.com/office/drawing/2014/main" id="{E71A48AE-99D8-48F4-8680-676E1F196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1551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4</a:t>
              </a:r>
            </a:p>
          </p:txBody>
        </p:sp>
        <p:sp>
          <p:nvSpPr>
            <p:cNvPr id="74805" name="Oval 27">
              <a:extLst>
                <a:ext uri="{FF2B5EF4-FFF2-40B4-BE49-F238E27FC236}">
                  <a16:creationId xmlns:a16="http://schemas.microsoft.com/office/drawing/2014/main" id="{944C7924-71C8-4607-850C-5930BFC4D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455"/>
              <a:ext cx="1872" cy="5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4806" name="Line 28">
              <a:extLst>
                <a:ext uri="{FF2B5EF4-FFF2-40B4-BE49-F238E27FC236}">
                  <a16:creationId xmlns:a16="http://schemas.microsoft.com/office/drawing/2014/main" id="{BEDD2C15-84AE-401B-8443-F82EDC617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3" y="864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7" name="Text Box 29">
              <a:extLst>
                <a:ext uri="{FF2B5EF4-FFF2-40B4-BE49-F238E27FC236}">
                  <a16:creationId xmlns:a16="http://schemas.microsoft.com/office/drawing/2014/main" id="{88A08281-299C-4D4E-8FBA-C954B2B22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008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74808" name="Line 30">
              <a:extLst>
                <a:ext uri="{FF2B5EF4-FFF2-40B4-BE49-F238E27FC236}">
                  <a16:creationId xmlns:a16="http://schemas.microsoft.com/office/drawing/2014/main" id="{AA9BA73E-30A4-4854-8D1D-127C249551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816"/>
              <a:ext cx="336" cy="72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9" name="Text Box 31">
              <a:extLst>
                <a:ext uri="{FF2B5EF4-FFF2-40B4-BE49-F238E27FC236}">
                  <a16:creationId xmlns:a16="http://schemas.microsoft.com/office/drawing/2014/main" id="{6E70264A-AA6B-406A-B521-0313B7DC5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008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74810" name="Line 32">
              <a:extLst>
                <a:ext uri="{FF2B5EF4-FFF2-40B4-BE49-F238E27FC236}">
                  <a16:creationId xmlns:a16="http://schemas.microsoft.com/office/drawing/2014/main" id="{6929428A-2DBB-45BC-ACEB-93D680FA12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816"/>
              <a:ext cx="432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1" name="Text Box 33">
              <a:extLst>
                <a:ext uri="{FF2B5EF4-FFF2-40B4-BE49-F238E27FC236}">
                  <a16:creationId xmlns:a16="http://schemas.microsoft.com/office/drawing/2014/main" id="{32936960-E3A1-488D-B821-487617970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008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3</a:t>
              </a:r>
            </a:p>
          </p:txBody>
        </p:sp>
        <p:sp>
          <p:nvSpPr>
            <p:cNvPr id="74812" name="Text Box 34">
              <a:extLst>
                <a:ext uri="{FF2B5EF4-FFF2-40B4-BE49-F238E27FC236}">
                  <a16:creationId xmlns:a16="http://schemas.microsoft.com/office/drawing/2014/main" id="{73B0F575-06C9-405B-AF94-87E849FB8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584"/>
              <a:ext cx="4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Palatino Linotype" panose="02040502050505030304" pitchFamily="18" charset="0"/>
                  <a:ea typeface="华文中宋" panose="02010600040101010101" pitchFamily="2" charset="-122"/>
                </a:rPr>
                <a:t>V-U</a:t>
              </a:r>
            </a:p>
          </p:txBody>
        </p:sp>
        <p:sp>
          <p:nvSpPr>
            <p:cNvPr id="74813" name="Text Box 35">
              <a:extLst>
                <a:ext uri="{FF2B5EF4-FFF2-40B4-BE49-F238E27FC236}">
                  <a16:creationId xmlns:a16="http://schemas.microsoft.com/office/drawing/2014/main" id="{9043EC5B-EE08-43B5-832F-755556F1B9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528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Palatino Linotype" panose="02040502050505030304" pitchFamily="18" charset="0"/>
                  <a:ea typeface="华文中宋" panose="02010600040101010101" pitchFamily="2" charset="-122"/>
                </a:rPr>
                <a:t>U</a:t>
              </a:r>
            </a:p>
          </p:txBody>
        </p:sp>
      </p:grpSp>
      <p:grpSp>
        <p:nvGrpSpPr>
          <p:cNvPr id="4" name="Group 39">
            <a:extLst>
              <a:ext uri="{FF2B5EF4-FFF2-40B4-BE49-F238E27FC236}">
                <a16:creationId xmlns:a16="http://schemas.microsoft.com/office/drawing/2014/main" id="{E60744A9-E928-41D1-813D-A513D04C0E8A}"/>
              </a:ext>
            </a:extLst>
          </p:cNvPr>
          <p:cNvGrpSpPr>
            <a:grpSpLocks/>
          </p:cNvGrpSpPr>
          <p:nvPr/>
        </p:nvGrpSpPr>
        <p:grpSpPr bwMode="auto">
          <a:xfrm>
            <a:off x="3038475" y="4692650"/>
            <a:ext cx="292100" cy="1066800"/>
            <a:chOff x="1914" y="2743"/>
            <a:chExt cx="184" cy="672"/>
          </a:xfrm>
        </p:grpSpPr>
        <p:sp>
          <p:nvSpPr>
            <p:cNvPr id="74798" name="Line 40">
              <a:extLst>
                <a:ext uri="{FF2B5EF4-FFF2-40B4-BE49-F238E27FC236}">
                  <a16:creationId xmlns:a16="http://schemas.microsoft.com/office/drawing/2014/main" id="{A315E567-1C61-4D8B-A943-6522967BE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4" y="2743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9" name="Text Box 41">
              <a:extLst>
                <a:ext uri="{FF2B5EF4-FFF2-40B4-BE49-F238E27FC236}">
                  <a16:creationId xmlns:a16="http://schemas.microsoft.com/office/drawing/2014/main" id="{3093FB37-AF53-451E-B23A-1CA939F786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" y="2894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3</a:t>
              </a:r>
            </a:p>
          </p:txBody>
        </p:sp>
      </p:grpSp>
      <p:grpSp>
        <p:nvGrpSpPr>
          <p:cNvPr id="5" name="Group 42">
            <a:extLst>
              <a:ext uri="{FF2B5EF4-FFF2-40B4-BE49-F238E27FC236}">
                <a16:creationId xmlns:a16="http://schemas.microsoft.com/office/drawing/2014/main" id="{CEE3988D-2EEB-4287-9CA7-B95887F86F92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4659313"/>
            <a:ext cx="838200" cy="1143000"/>
            <a:chOff x="1248" y="2715"/>
            <a:chExt cx="528" cy="720"/>
          </a:xfrm>
        </p:grpSpPr>
        <p:sp>
          <p:nvSpPr>
            <p:cNvPr id="74796" name="Line 43">
              <a:extLst>
                <a:ext uri="{FF2B5EF4-FFF2-40B4-BE49-F238E27FC236}">
                  <a16:creationId xmlns:a16="http://schemas.microsoft.com/office/drawing/2014/main" id="{3E73E358-A944-455C-B3AB-68173C8BFD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2715"/>
              <a:ext cx="528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7" name="Text Box 44">
              <a:extLst>
                <a:ext uri="{FF2B5EF4-FFF2-40B4-BE49-F238E27FC236}">
                  <a16:creationId xmlns:a16="http://schemas.microsoft.com/office/drawing/2014/main" id="{7A12D635-D9C6-4150-9EC1-DFDBC6BDE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024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4</a:t>
              </a:r>
            </a:p>
          </p:txBody>
        </p:sp>
      </p:grpSp>
      <p:grpSp>
        <p:nvGrpSpPr>
          <p:cNvPr id="6" name="Group 45">
            <a:extLst>
              <a:ext uri="{FF2B5EF4-FFF2-40B4-BE49-F238E27FC236}">
                <a16:creationId xmlns:a16="http://schemas.microsoft.com/office/drawing/2014/main" id="{8BE3BBE0-E5DB-4B8A-80ED-F38C38564E0E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919538"/>
            <a:ext cx="3733800" cy="2481262"/>
            <a:chOff x="576" y="2256"/>
            <a:chExt cx="2352" cy="1563"/>
          </a:xfrm>
        </p:grpSpPr>
        <p:sp>
          <p:nvSpPr>
            <p:cNvPr id="74781" name="Oval 46">
              <a:extLst>
                <a:ext uri="{FF2B5EF4-FFF2-40B4-BE49-F238E27FC236}">
                  <a16:creationId xmlns:a16="http://schemas.microsoft.com/office/drawing/2014/main" id="{0C6C8D78-1763-430B-A0E5-EA3E90856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403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74782" name="Oval 47">
              <a:extLst>
                <a:ext uri="{FF2B5EF4-FFF2-40B4-BE49-F238E27FC236}">
                  <a16:creationId xmlns:a16="http://schemas.microsoft.com/office/drawing/2014/main" id="{5914BC78-47E4-4D8D-B1EB-71B044459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325"/>
              <a:ext cx="1728" cy="4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4783" name="Oval 48">
              <a:extLst>
                <a:ext uri="{FF2B5EF4-FFF2-40B4-BE49-F238E27FC236}">
                  <a16:creationId xmlns:a16="http://schemas.microsoft.com/office/drawing/2014/main" id="{38603EC0-85F2-4EC3-92FF-6A710DF94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74784" name="Oval 49">
              <a:extLst>
                <a:ext uri="{FF2B5EF4-FFF2-40B4-BE49-F238E27FC236}">
                  <a16:creationId xmlns:a16="http://schemas.microsoft.com/office/drawing/2014/main" id="{F8A564C8-A7AB-4135-B7DC-ACFED1243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408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3</a:t>
              </a:r>
            </a:p>
          </p:txBody>
        </p:sp>
        <p:sp>
          <p:nvSpPr>
            <p:cNvPr id="74785" name="Oval 50">
              <a:extLst>
                <a:ext uri="{FF2B5EF4-FFF2-40B4-BE49-F238E27FC236}">
                  <a16:creationId xmlns:a16="http://schemas.microsoft.com/office/drawing/2014/main" id="{1887BA77-BA4F-4F31-BF75-44619F1A5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423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4</a:t>
              </a:r>
            </a:p>
          </p:txBody>
        </p:sp>
        <p:sp>
          <p:nvSpPr>
            <p:cNvPr id="74786" name="Line 51">
              <a:extLst>
                <a:ext uri="{FF2B5EF4-FFF2-40B4-BE49-F238E27FC236}">
                  <a16:creationId xmlns:a16="http://schemas.microsoft.com/office/drawing/2014/main" id="{B397F484-6553-42FD-8234-D7C296517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" y="2736"/>
              <a:ext cx="0" cy="67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7" name="Text Box 52">
              <a:extLst>
                <a:ext uri="{FF2B5EF4-FFF2-40B4-BE49-F238E27FC236}">
                  <a16:creationId xmlns:a16="http://schemas.microsoft.com/office/drawing/2014/main" id="{A22FA88E-9E69-41C1-BBFC-53DB9795A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2" y="2901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74788" name="Line 53">
              <a:extLst>
                <a:ext uri="{FF2B5EF4-FFF2-40B4-BE49-F238E27FC236}">
                  <a16:creationId xmlns:a16="http://schemas.microsoft.com/office/drawing/2014/main" id="{ACD0EC9A-9B91-4CA7-B30E-5400144A1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7" y="2556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9" name="Text Box 54">
              <a:extLst>
                <a:ext uri="{FF2B5EF4-FFF2-40B4-BE49-F238E27FC236}">
                  <a16:creationId xmlns:a16="http://schemas.microsoft.com/office/drawing/2014/main" id="{70BCAD9B-4F67-4E5A-B182-AF57811B6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256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74790" name="Line 55">
              <a:extLst>
                <a:ext uri="{FF2B5EF4-FFF2-40B4-BE49-F238E27FC236}">
                  <a16:creationId xmlns:a16="http://schemas.microsoft.com/office/drawing/2014/main" id="{BEFDBAC3-1FFC-47A6-853A-32841F5B4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6" y="2695"/>
              <a:ext cx="576" cy="7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1" name="Text Box 56">
              <a:extLst>
                <a:ext uri="{FF2B5EF4-FFF2-40B4-BE49-F238E27FC236}">
                  <a16:creationId xmlns:a16="http://schemas.microsoft.com/office/drawing/2014/main" id="{0EC6AF22-8F4B-45A7-8BEA-F3D9FF586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5" y="2643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3</a:t>
              </a:r>
            </a:p>
          </p:txBody>
        </p:sp>
        <p:sp>
          <p:nvSpPr>
            <p:cNvPr id="74792" name="Text Box 57">
              <a:extLst>
                <a:ext uri="{FF2B5EF4-FFF2-40B4-BE49-F238E27FC236}">
                  <a16:creationId xmlns:a16="http://schemas.microsoft.com/office/drawing/2014/main" id="{D9BFF95D-73AD-4B72-8ABA-6DCE1A503B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408"/>
              <a:ext cx="4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Palatino Linotype" panose="02040502050505030304" pitchFamily="18" charset="0"/>
                  <a:ea typeface="华文中宋" panose="02010600040101010101" pitchFamily="2" charset="-122"/>
                </a:rPr>
                <a:t>V-U</a:t>
              </a:r>
            </a:p>
          </p:txBody>
        </p:sp>
        <p:sp>
          <p:nvSpPr>
            <p:cNvPr id="74793" name="Text Box 58">
              <a:extLst>
                <a:ext uri="{FF2B5EF4-FFF2-40B4-BE49-F238E27FC236}">
                  <a16:creationId xmlns:a16="http://schemas.microsoft.com/office/drawing/2014/main" id="{0EB4F3BE-F8E9-4DAC-AD62-B1F28A7BD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400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Palatino Linotype" panose="02040502050505030304" pitchFamily="18" charset="0"/>
                  <a:ea typeface="华文中宋" panose="02010600040101010101" pitchFamily="2" charset="-122"/>
                </a:rPr>
                <a:t>U</a:t>
              </a:r>
            </a:p>
          </p:txBody>
        </p:sp>
        <p:sp>
          <p:nvSpPr>
            <p:cNvPr id="74794" name="Oval 59">
              <a:extLst>
                <a:ext uri="{FF2B5EF4-FFF2-40B4-BE49-F238E27FC236}">
                  <a16:creationId xmlns:a16="http://schemas.microsoft.com/office/drawing/2014/main" id="{D38DBA01-769F-487A-9859-ED6ED3DA0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" y="3339"/>
              <a:ext cx="1728" cy="4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4795" name="Line 60">
              <a:extLst>
                <a:ext uri="{FF2B5EF4-FFF2-40B4-BE49-F238E27FC236}">
                  <a16:creationId xmlns:a16="http://schemas.microsoft.com/office/drawing/2014/main" id="{2D707F67-4DB7-45CF-93E4-FDD39C2B4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600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61">
            <a:extLst>
              <a:ext uri="{FF2B5EF4-FFF2-40B4-BE49-F238E27FC236}">
                <a16:creationId xmlns:a16="http://schemas.microsoft.com/office/drawing/2014/main" id="{EE0AE64A-6853-4BAF-8B62-7C6B6091B542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627563"/>
            <a:ext cx="609600" cy="1295400"/>
            <a:chOff x="4272" y="2727"/>
            <a:chExt cx="384" cy="816"/>
          </a:xfrm>
        </p:grpSpPr>
        <p:sp>
          <p:nvSpPr>
            <p:cNvPr id="74779" name="Line 62">
              <a:extLst>
                <a:ext uri="{FF2B5EF4-FFF2-40B4-BE49-F238E27FC236}">
                  <a16:creationId xmlns:a16="http://schemas.microsoft.com/office/drawing/2014/main" id="{52C37297-2BF2-4516-A819-57A4B66B20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2727"/>
              <a:ext cx="384" cy="81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0" name="Text Box 63">
              <a:extLst>
                <a:ext uri="{FF2B5EF4-FFF2-40B4-BE49-F238E27FC236}">
                  <a16:creationId xmlns:a16="http://schemas.microsoft.com/office/drawing/2014/main" id="{1BC97DEE-4637-4EAA-A88B-914F3EF16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967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</p:grpSp>
      <p:grpSp>
        <p:nvGrpSpPr>
          <p:cNvPr id="8" name="Group 64">
            <a:extLst>
              <a:ext uri="{FF2B5EF4-FFF2-40B4-BE49-F238E27FC236}">
                <a16:creationId xmlns:a16="http://schemas.microsoft.com/office/drawing/2014/main" id="{91E0ACD1-F70A-461C-9289-A73E6835F608}"/>
              </a:ext>
            </a:extLst>
          </p:cNvPr>
          <p:cNvGrpSpPr>
            <a:grpSpLocks/>
          </p:cNvGrpSpPr>
          <p:nvPr/>
        </p:nvGrpSpPr>
        <p:grpSpPr bwMode="auto">
          <a:xfrm>
            <a:off x="5043488" y="3852863"/>
            <a:ext cx="3643312" cy="2624137"/>
            <a:chOff x="3177" y="2247"/>
            <a:chExt cx="2295" cy="1653"/>
          </a:xfrm>
        </p:grpSpPr>
        <p:sp>
          <p:nvSpPr>
            <p:cNvPr id="74763" name="Oval 65">
              <a:extLst>
                <a:ext uri="{FF2B5EF4-FFF2-40B4-BE49-F238E27FC236}">
                  <a16:creationId xmlns:a16="http://schemas.microsoft.com/office/drawing/2014/main" id="{1B0CA2F5-7569-4E8C-AB5A-7DAC4EDB7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7" y="2391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74764" name="Oval 66">
              <a:extLst>
                <a:ext uri="{FF2B5EF4-FFF2-40B4-BE49-F238E27FC236}">
                  <a16:creationId xmlns:a16="http://schemas.microsoft.com/office/drawing/2014/main" id="{92FD677C-F0F4-4EFA-9064-AC216B74E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" y="2391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74765" name="Oval 67">
              <a:extLst>
                <a:ext uri="{FF2B5EF4-FFF2-40B4-BE49-F238E27FC236}">
                  <a16:creationId xmlns:a16="http://schemas.microsoft.com/office/drawing/2014/main" id="{B70C6D33-832E-414F-B922-E3CEDA32F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391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3</a:t>
              </a:r>
            </a:p>
          </p:txBody>
        </p:sp>
        <p:sp>
          <p:nvSpPr>
            <p:cNvPr id="74766" name="Oval 68">
              <a:extLst>
                <a:ext uri="{FF2B5EF4-FFF2-40B4-BE49-F238E27FC236}">
                  <a16:creationId xmlns:a16="http://schemas.microsoft.com/office/drawing/2014/main" id="{F3768B46-B1F0-4FF2-B62B-D68DA170E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7" y="2295"/>
              <a:ext cx="1872" cy="5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4767" name="Text Box 69">
              <a:extLst>
                <a:ext uri="{FF2B5EF4-FFF2-40B4-BE49-F238E27FC236}">
                  <a16:creationId xmlns:a16="http://schemas.microsoft.com/office/drawing/2014/main" id="{758BBD4A-D955-47EA-BD62-7A841D11C9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591"/>
              <a:ext cx="4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Palatino Linotype" panose="02040502050505030304" pitchFamily="18" charset="0"/>
                  <a:ea typeface="华文中宋" panose="02010600040101010101" pitchFamily="2" charset="-122"/>
                </a:rPr>
                <a:t>V-U</a:t>
              </a:r>
            </a:p>
          </p:txBody>
        </p:sp>
        <p:sp>
          <p:nvSpPr>
            <p:cNvPr id="74768" name="Oval 70">
              <a:extLst>
                <a:ext uri="{FF2B5EF4-FFF2-40B4-BE49-F238E27FC236}">
                  <a16:creationId xmlns:a16="http://schemas.microsoft.com/office/drawing/2014/main" id="{6F1C22BA-7003-4E30-A18C-EC7855E07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495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4</a:t>
              </a:r>
            </a:p>
          </p:txBody>
        </p:sp>
        <p:sp>
          <p:nvSpPr>
            <p:cNvPr id="74769" name="Oval 71">
              <a:extLst>
                <a:ext uri="{FF2B5EF4-FFF2-40B4-BE49-F238E27FC236}">
                  <a16:creationId xmlns:a16="http://schemas.microsoft.com/office/drawing/2014/main" id="{BDBB4CE7-002E-46D1-8C7B-00EB6BB4D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420"/>
              <a:ext cx="1392" cy="4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4770" name="Text Box 72">
              <a:extLst>
                <a:ext uri="{FF2B5EF4-FFF2-40B4-BE49-F238E27FC236}">
                  <a16:creationId xmlns:a16="http://schemas.microsoft.com/office/drawing/2014/main" id="{B665E23C-7DDD-455E-8A70-A501C2336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2391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>
                  <a:latin typeface="Palatino Linotype" panose="02040502050505030304" pitchFamily="18" charset="0"/>
                  <a:ea typeface="华文中宋" panose="02010600040101010101" pitchFamily="2" charset="-122"/>
                </a:rPr>
                <a:t>U</a:t>
              </a:r>
            </a:p>
          </p:txBody>
        </p:sp>
        <p:sp>
          <p:nvSpPr>
            <p:cNvPr id="74771" name="Line 73">
              <a:extLst>
                <a:ext uri="{FF2B5EF4-FFF2-40B4-BE49-F238E27FC236}">
                  <a16:creationId xmlns:a16="http://schemas.microsoft.com/office/drawing/2014/main" id="{636CA4D2-8E56-4B9A-B1BD-93A12B8A4D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3" y="2544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2" name="Line 74">
              <a:extLst>
                <a:ext uri="{FF2B5EF4-FFF2-40B4-BE49-F238E27FC236}">
                  <a16:creationId xmlns:a16="http://schemas.microsoft.com/office/drawing/2014/main" id="{BF22173B-8F57-429F-93F4-C8926FC61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55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3" name="Text Box 75">
              <a:extLst>
                <a:ext uri="{FF2B5EF4-FFF2-40B4-BE49-F238E27FC236}">
                  <a16:creationId xmlns:a16="http://schemas.microsoft.com/office/drawing/2014/main" id="{B6CC2DCE-4B3D-4F10-8031-3F3F86CEB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47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74774" name="Text Box 76">
              <a:extLst>
                <a:ext uri="{FF2B5EF4-FFF2-40B4-BE49-F238E27FC236}">
                  <a16:creationId xmlns:a16="http://schemas.microsoft.com/office/drawing/2014/main" id="{62318D53-6A70-4CA5-807B-2973B16F07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4" y="2277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chemeClr val="tx2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74775" name="Line 77">
              <a:extLst>
                <a:ext uri="{FF2B5EF4-FFF2-40B4-BE49-F238E27FC236}">
                  <a16:creationId xmlns:a16="http://schemas.microsoft.com/office/drawing/2014/main" id="{2722AD2B-3504-4BB2-A599-AD83D657E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727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6" name="Line 78">
              <a:extLst>
                <a:ext uri="{FF2B5EF4-FFF2-40B4-BE49-F238E27FC236}">
                  <a16:creationId xmlns:a16="http://schemas.microsoft.com/office/drawing/2014/main" id="{0A1301DE-6420-4A9F-AA18-B8048D65FD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9" y="2717"/>
              <a:ext cx="358" cy="8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77" name="Text Box 79">
              <a:extLst>
                <a:ext uri="{FF2B5EF4-FFF2-40B4-BE49-F238E27FC236}">
                  <a16:creationId xmlns:a16="http://schemas.microsoft.com/office/drawing/2014/main" id="{59E2F9AA-4F0E-489A-8BAF-5E8EA5B58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946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3</a:t>
              </a:r>
            </a:p>
          </p:txBody>
        </p:sp>
        <p:sp>
          <p:nvSpPr>
            <p:cNvPr id="74778" name="Text Box 80">
              <a:extLst>
                <a:ext uri="{FF2B5EF4-FFF2-40B4-BE49-F238E27FC236}">
                  <a16:creationId xmlns:a16="http://schemas.microsoft.com/office/drawing/2014/main" id="{0E929523-F9E0-4AC8-B9D4-A91CDD9CA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6" y="2955"/>
              <a:ext cx="14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>
                  <a:latin typeface="Palatino Linotype" panose="02040502050505030304" pitchFamily="18" charset="0"/>
                  <a:ea typeface="华文中宋" panose="02010600040101010101" pitchFamily="2" charset="-122"/>
                </a:rPr>
                <a:t>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0EFFC823-DBE6-4769-9B2F-022F0B59C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/>
              <a:t>4.Prim</a:t>
            </a:r>
            <a:r>
              <a:rPr lang="zh-CN" altLang="en-US" sz="4000" b="1"/>
              <a:t>算法的应用</a:t>
            </a:r>
            <a:endParaRPr lang="zh-CN" altLang="en-US" sz="4000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C84AFD63-59A7-48D8-8B81-2A22CC96F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8382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>
                <a:latin typeface="华文中宋" panose="02010600040101010101" pitchFamily="2" charset="-122"/>
              </a:rPr>
              <a:t>用</a:t>
            </a:r>
            <a:r>
              <a:rPr lang="en-US" altLang="zh-CN" sz="2800"/>
              <a:t>Prim</a:t>
            </a:r>
            <a:r>
              <a:rPr lang="zh-CN" altLang="en-US" sz="2800">
                <a:latin typeface="华文中宋" panose="02010600040101010101" pitchFamily="2" charset="-122"/>
              </a:rPr>
              <a:t>算法求</a:t>
            </a:r>
            <a:r>
              <a:rPr lang="en-US" altLang="zh-CN" sz="2800"/>
              <a:t>G</a:t>
            </a:r>
            <a:r>
              <a:rPr lang="zh-CN" altLang="en-US" sz="2800">
                <a:latin typeface="华文中宋" panose="02010600040101010101" pitchFamily="2" charset="-122"/>
              </a:rPr>
              <a:t>的最短树</a:t>
            </a:r>
          </a:p>
        </p:txBody>
      </p:sp>
      <p:pic>
        <p:nvPicPr>
          <p:cNvPr id="87044" name="Picture 4">
            <a:extLst>
              <a:ext uri="{FF2B5EF4-FFF2-40B4-BE49-F238E27FC236}">
                <a16:creationId xmlns:a16="http://schemas.microsoft.com/office/drawing/2014/main" id="{AD680EF0-0BF2-4BFC-AD9D-18F5D3DCA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143000"/>
            <a:ext cx="2590800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6" name="Picture 6">
            <a:extLst>
              <a:ext uri="{FF2B5EF4-FFF2-40B4-BE49-F238E27FC236}">
                <a16:creationId xmlns:a16="http://schemas.microsoft.com/office/drawing/2014/main" id="{46F24B4F-DA91-4259-AAF2-A63AEDD5EE5E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810000"/>
            <a:ext cx="2516188" cy="251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8" name="Picture 8" descr="03.TIF">
            <a:extLst>
              <a:ext uri="{FF2B5EF4-FFF2-40B4-BE49-F238E27FC236}">
                <a16:creationId xmlns:a16="http://schemas.microsoft.com/office/drawing/2014/main" id="{6A5DB5A7-4DF2-4363-958C-F680F7A60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5867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DC3D0984-F093-4F4D-AEAB-A0117A8DE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/>
              <a:t> 5.</a:t>
            </a:r>
            <a:r>
              <a:rPr lang="zh-CN" altLang="en-US" sz="4000" b="1"/>
              <a:t>程序实现与复杂性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477E0A35-8E48-44CB-931C-49C3E2C1C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49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solidFill>
                  <a:srgbClr val="0000CC"/>
                </a:solidFill>
              </a:rPr>
              <a:t>程序实现：略</a:t>
            </a:r>
          </a:p>
          <a:p>
            <a:pPr eaLnBrk="1" hangingPunct="1"/>
            <a:r>
              <a:rPr lang="zh-CN" altLang="en-US" sz="2800" b="1">
                <a:solidFill>
                  <a:srgbClr val="0000CC"/>
                </a:solidFill>
              </a:rPr>
              <a:t>复杂性：</a:t>
            </a:r>
            <a:r>
              <a:rPr lang="en-US" altLang="zh-CN" sz="2800" b="1">
                <a:solidFill>
                  <a:srgbClr val="0000CC"/>
                </a:solidFill>
              </a:rPr>
              <a:t>O(n</a:t>
            </a:r>
            <a:r>
              <a:rPr lang="en-US" altLang="zh-CN" sz="2800" b="1" baseline="30000">
                <a:solidFill>
                  <a:srgbClr val="0000CC"/>
                </a:solidFill>
              </a:rPr>
              <a:t>2</a:t>
            </a:r>
            <a:r>
              <a:rPr lang="en-US" altLang="zh-CN" sz="2800" b="1">
                <a:solidFill>
                  <a:srgbClr val="0000CC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8A7CDD3F-FC50-4472-90F9-C8CDEC1C1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0574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800" b="1" dirty="0">
                <a:solidFill>
                  <a:srgbClr val="AC2F36"/>
                </a:solidFill>
              </a:rPr>
              <a:t>Kruskal</a:t>
            </a:r>
            <a:r>
              <a:rPr lang="zh-CN" altLang="en-US" sz="48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算法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764D7329-4379-41AE-8F43-43206049E1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 dirty="0">
                <a:solidFill>
                  <a:schemeClr val="accent2"/>
                </a:solidFill>
                <a:latin typeface="华文中宋" panose="02010600040101010101" pitchFamily="2" charset="-122"/>
              </a:rPr>
              <a:t>1.Kruskal</a:t>
            </a:r>
            <a:r>
              <a:rPr lang="zh-CN" altLang="en-US" sz="4000" b="1" dirty="0">
                <a:solidFill>
                  <a:schemeClr val="accent2"/>
                </a:solidFill>
                <a:latin typeface="华文中宋" panose="02010600040101010101" pitchFamily="2" charset="-122"/>
              </a:rPr>
              <a:t>算法基本思想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BB7B345F-1192-4DB2-898A-0D030FC5B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3058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400" b="1">
                <a:latin typeface="华文中宋" panose="02010600040101010101" pitchFamily="2" charset="-122"/>
              </a:rPr>
              <a:t>1</a:t>
            </a:r>
            <a:r>
              <a:rPr lang="zh-CN" altLang="en-US" sz="2400" b="1">
                <a:latin typeface="华文中宋" panose="02010600040101010101" pitchFamily="2" charset="-122"/>
              </a:rPr>
              <a:t>）首先将</a:t>
            </a:r>
            <a:r>
              <a:rPr lang="en-US" altLang="zh-CN" sz="2400" b="1">
                <a:latin typeface="华文中宋" panose="02010600040101010101" pitchFamily="2" charset="-122"/>
              </a:rPr>
              <a:t>G</a:t>
            </a:r>
            <a:r>
              <a:rPr lang="zh-CN" altLang="en-US" sz="2400" b="1">
                <a:latin typeface="华文中宋" panose="02010600040101010101" pitchFamily="2" charset="-122"/>
              </a:rPr>
              <a:t>的</a:t>
            </a:r>
            <a:r>
              <a:rPr lang="en-US" altLang="zh-CN" sz="2400" b="1">
                <a:latin typeface="华文中宋" panose="02010600040101010101" pitchFamily="2" charset="-122"/>
              </a:rPr>
              <a:t>n</a:t>
            </a:r>
            <a:r>
              <a:rPr lang="zh-CN" altLang="en-US" sz="2400" b="1">
                <a:latin typeface="华文中宋" panose="02010600040101010101" pitchFamily="2" charset="-122"/>
              </a:rPr>
              <a:t>个顶点看成</a:t>
            </a:r>
            <a:r>
              <a:rPr lang="en-US" altLang="zh-CN" sz="2400" b="1">
                <a:latin typeface="华文中宋" panose="02010600040101010101" pitchFamily="2" charset="-122"/>
              </a:rPr>
              <a:t>n</a:t>
            </a:r>
            <a:r>
              <a:rPr lang="zh-CN" altLang="en-US" sz="2400" b="1">
                <a:latin typeface="华文中宋" panose="02010600040101010101" pitchFamily="2" charset="-122"/>
              </a:rPr>
              <a:t>个孤立的连通分支，将所有的边按权（或边长）从小到大排序。</a:t>
            </a: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en-US" altLang="zh-CN" sz="2400" b="1">
                <a:latin typeface="华文中宋" panose="02010600040101010101" pitchFamily="2" charset="-122"/>
              </a:rPr>
              <a:t>2</a:t>
            </a:r>
            <a:r>
              <a:rPr lang="zh-CN" altLang="en-US" sz="2400" b="1">
                <a:latin typeface="华文中宋" panose="02010600040101010101" pitchFamily="2" charset="-122"/>
              </a:rPr>
              <a:t>）从第一条边开始，依边权递增的顺序查看每一条边，并按下述方法连接两个不同的连通分支：</a:t>
            </a: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b="1">
                <a:latin typeface="华文中宋" panose="02010600040101010101" pitchFamily="2" charset="-122"/>
              </a:rPr>
              <a:t>    当查看到第</a:t>
            </a:r>
            <a:r>
              <a:rPr lang="en-US" altLang="zh-CN" sz="2400" b="1">
                <a:latin typeface="华文中宋" panose="02010600040101010101" pitchFamily="2" charset="-122"/>
              </a:rPr>
              <a:t>k</a:t>
            </a:r>
            <a:r>
              <a:rPr lang="zh-CN" altLang="en-US" sz="2400" b="1">
                <a:latin typeface="华文中宋" panose="02010600040101010101" pitchFamily="2" charset="-122"/>
              </a:rPr>
              <a:t>条边（</a:t>
            </a:r>
            <a:r>
              <a:rPr lang="en-US" altLang="zh-CN" sz="2400" b="1">
                <a:latin typeface="华文中宋" panose="02010600040101010101" pitchFamily="2" charset="-122"/>
              </a:rPr>
              <a:t>v</a:t>
            </a:r>
            <a:r>
              <a:rPr lang="zh-CN" altLang="en-US" sz="2400" b="1">
                <a:latin typeface="华文中宋" panose="02010600040101010101" pitchFamily="2" charset="-122"/>
              </a:rPr>
              <a:t>，</a:t>
            </a:r>
            <a:r>
              <a:rPr lang="en-US" altLang="zh-CN" sz="2400" b="1">
                <a:latin typeface="华文中宋" panose="02010600040101010101" pitchFamily="2" charset="-122"/>
              </a:rPr>
              <a:t>w</a:t>
            </a:r>
            <a:r>
              <a:rPr lang="zh-CN" altLang="en-US" sz="2400" b="1">
                <a:latin typeface="华文中宋" panose="02010600040101010101" pitchFamily="2" charset="-122"/>
              </a:rPr>
              <a:t>）时，若</a:t>
            </a:r>
            <a:r>
              <a:rPr lang="en-US" altLang="zh-CN" sz="2400" b="1">
                <a:latin typeface="华文中宋" panose="02010600040101010101" pitchFamily="2" charset="-122"/>
              </a:rPr>
              <a:t>v</a:t>
            </a:r>
            <a:r>
              <a:rPr lang="zh-CN" altLang="en-US" sz="2400" b="1">
                <a:latin typeface="华文中宋" panose="02010600040101010101" pitchFamily="2" charset="-122"/>
              </a:rPr>
              <a:t>和</a:t>
            </a:r>
            <a:r>
              <a:rPr lang="en-US" altLang="zh-CN" sz="2400" b="1">
                <a:latin typeface="华文中宋" panose="02010600040101010101" pitchFamily="2" charset="-122"/>
              </a:rPr>
              <a:t>w</a:t>
            </a:r>
            <a:r>
              <a:rPr lang="zh-CN" altLang="en-US" sz="2400" b="1">
                <a:latin typeface="华文中宋" panose="02010600040101010101" pitchFamily="2" charset="-122"/>
              </a:rPr>
              <a:t>分别在两个不同的连通分支</a:t>
            </a:r>
            <a:r>
              <a:rPr lang="en-US" altLang="zh-CN" sz="2400" b="1">
                <a:latin typeface="华文中宋" panose="02010600040101010101" pitchFamily="2" charset="-122"/>
              </a:rPr>
              <a:t>T1</a:t>
            </a:r>
            <a:r>
              <a:rPr lang="zh-CN" altLang="en-US" sz="2400" b="1">
                <a:latin typeface="华文中宋" panose="02010600040101010101" pitchFamily="2" charset="-122"/>
              </a:rPr>
              <a:t>和</a:t>
            </a:r>
            <a:r>
              <a:rPr lang="en-US" altLang="zh-CN" sz="2400" b="1">
                <a:latin typeface="华文中宋" panose="02010600040101010101" pitchFamily="2" charset="-122"/>
              </a:rPr>
              <a:t>T2</a:t>
            </a:r>
            <a:r>
              <a:rPr lang="zh-CN" altLang="en-US" sz="2400" b="1">
                <a:latin typeface="华文中宋" panose="02010600040101010101" pitchFamily="2" charset="-122"/>
              </a:rPr>
              <a:t>中，用边（</a:t>
            </a:r>
            <a:r>
              <a:rPr lang="en-US" altLang="zh-CN" sz="2400" b="1">
                <a:latin typeface="华文中宋" panose="02010600040101010101" pitchFamily="2" charset="-122"/>
              </a:rPr>
              <a:t>v</a:t>
            </a:r>
            <a:r>
              <a:rPr lang="zh-CN" altLang="en-US" sz="2400" b="1">
                <a:latin typeface="华文中宋" panose="02010600040101010101" pitchFamily="2" charset="-122"/>
              </a:rPr>
              <a:t>，</a:t>
            </a:r>
            <a:r>
              <a:rPr lang="en-US" altLang="zh-CN" sz="2400" b="1">
                <a:latin typeface="华文中宋" panose="02010600040101010101" pitchFamily="2" charset="-122"/>
              </a:rPr>
              <a:t>w</a:t>
            </a:r>
            <a:r>
              <a:rPr lang="zh-CN" altLang="en-US" sz="2400" b="1">
                <a:latin typeface="华文中宋" panose="02010600040101010101" pitchFamily="2" charset="-122"/>
              </a:rPr>
              <a:t>）将</a:t>
            </a:r>
            <a:r>
              <a:rPr lang="en-US" altLang="zh-CN" sz="2400" b="1">
                <a:latin typeface="华文中宋" panose="02010600040101010101" pitchFamily="2" charset="-122"/>
              </a:rPr>
              <a:t>T1</a:t>
            </a:r>
            <a:r>
              <a:rPr lang="zh-CN" altLang="en-US" sz="2400" b="1">
                <a:latin typeface="华文中宋" panose="02010600040101010101" pitchFamily="2" charset="-122"/>
              </a:rPr>
              <a:t>和</a:t>
            </a:r>
            <a:r>
              <a:rPr lang="en-US" altLang="zh-CN" sz="2400" b="1">
                <a:latin typeface="华文中宋" panose="02010600040101010101" pitchFamily="2" charset="-122"/>
              </a:rPr>
              <a:t>T2</a:t>
            </a:r>
            <a:r>
              <a:rPr lang="zh-CN" altLang="en-US" sz="2400" b="1">
                <a:latin typeface="华文中宋" panose="02010600040101010101" pitchFamily="2" charset="-122"/>
              </a:rPr>
              <a:t>连接成一个连通分支，然后继续查看第</a:t>
            </a:r>
            <a:r>
              <a:rPr lang="en-US" altLang="zh-CN" sz="2400" b="1">
                <a:latin typeface="华文中宋" panose="02010600040101010101" pitchFamily="2" charset="-122"/>
              </a:rPr>
              <a:t>k+1</a:t>
            </a:r>
            <a:r>
              <a:rPr lang="zh-CN" altLang="en-US" sz="2400" b="1">
                <a:latin typeface="华文中宋" panose="02010600040101010101" pitchFamily="2" charset="-122"/>
              </a:rPr>
              <a:t>条边；</a:t>
            </a: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400" b="1">
                <a:latin typeface="华文中宋" panose="02010600040101010101" pitchFamily="2" charset="-122"/>
              </a:rPr>
              <a:t>    若</a:t>
            </a:r>
            <a:r>
              <a:rPr lang="en-US" altLang="zh-CN" sz="2400" b="1">
                <a:latin typeface="华文中宋" panose="02010600040101010101" pitchFamily="2" charset="-122"/>
              </a:rPr>
              <a:t>v</a:t>
            </a:r>
            <a:r>
              <a:rPr lang="zh-CN" altLang="en-US" sz="2400" b="1">
                <a:latin typeface="华文中宋" panose="02010600040101010101" pitchFamily="2" charset="-122"/>
              </a:rPr>
              <a:t>和</a:t>
            </a:r>
            <a:r>
              <a:rPr lang="en-US" altLang="zh-CN" sz="2400" b="1">
                <a:latin typeface="华文中宋" panose="02010600040101010101" pitchFamily="2" charset="-122"/>
              </a:rPr>
              <a:t>w</a:t>
            </a:r>
            <a:r>
              <a:rPr lang="zh-CN" altLang="en-US" sz="2400" b="1">
                <a:latin typeface="华文中宋" panose="02010600040101010101" pitchFamily="2" charset="-122"/>
              </a:rPr>
              <a:t>在当前的同一个连通分支</a:t>
            </a:r>
            <a:r>
              <a:rPr lang="en-US" altLang="zh-CN" sz="2400" b="1">
                <a:latin typeface="华文中宋" panose="02010600040101010101" pitchFamily="2" charset="-122"/>
              </a:rPr>
              <a:t>T</a:t>
            </a:r>
            <a:r>
              <a:rPr lang="en-US" altLang="zh-CN" sz="2400" b="1"/>
              <a:t>’</a:t>
            </a:r>
            <a:r>
              <a:rPr lang="zh-CN" altLang="en-US" sz="2400" b="1">
                <a:latin typeface="华文中宋" panose="02010600040101010101" pitchFamily="2" charset="-122"/>
              </a:rPr>
              <a:t>中，就直接查看第</a:t>
            </a:r>
            <a:r>
              <a:rPr lang="en-US" altLang="zh-CN" sz="2400" b="1">
                <a:latin typeface="华文中宋" panose="02010600040101010101" pitchFamily="2" charset="-122"/>
              </a:rPr>
              <a:t>k+1</a:t>
            </a:r>
            <a:r>
              <a:rPr lang="zh-CN" altLang="en-US" sz="2400" b="1">
                <a:latin typeface="华文中宋" panose="02010600040101010101" pitchFamily="2" charset="-122"/>
              </a:rPr>
              <a:t>条边（即构成圈，就放弃）。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400" b="1">
                <a:latin typeface="华文中宋" panose="02010600040101010101" pitchFamily="2" charset="-122"/>
              </a:rPr>
              <a:t>      这个过程一直进行到只剩下一个连通分支时为止。此时，这个连通分支就是</a:t>
            </a:r>
            <a:r>
              <a:rPr lang="en-US" altLang="zh-CN" sz="2400" b="1">
                <a:latin typeface="华文中宋" panose="02010600040101010101" pitchFamily="2" charset="-122"/>
              </a:rPr>
              <a:t>G</a:t>
            </a:r>
            <a:r>
              <a:rPr lang="zh-CN" altLang="en-US" sz="2400" b="1">
                <a:latin typeface="华文中宋" panose="02010600040101010101" pitchFamily="2" charset="-122"/>
              </a:rPr>
              <a:t>的一棵最小生成树。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58AB7CC9-D808-4433-B3B9-081A58FF2C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>
                <a:latin typeface="华文中宋" panose="02010600040101010101" pitchFamily="2" charset="-122"/>
              </a:rPr>
              <a:t>2.</a:t>
            </a:r>
            <a:r>
              <a:rPr lang="zh-CN" altLang="en-US" sz="4000" b="1">
                <a:latin typeface="华文中宋" panose="02010600040101010101" pitchFamily="2" charset="-122"/>
              </a:rPr>
              <a:t>实  例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0F6C57AB-68DC-431B-B860-2D5B14685F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2800"/>
              <a:t>求下面带权图</a:t>
            </a:r>
            <a:r>
              <a:rPr kumimoji="0" lang="en-US" altLang="zh-CN" sz="2800"/>
              <a:t>G</a:t>
            </a:r>
            <a:r>
              <a:rPr kumimoji="0" lang="zh-CN" altLang="en-US" sz="2800"/>
              <a:t>中的最小生成树</a:t>
            </a:r>
          </a:p>
        </p:txBody>
      </p:sp>
      <p:pic>
        <p:nvPicPr>
          <p:cNvPr id="94212" name="Picture 4" descr="02.TIF">
            <a:extLst>
              <a:ext uri="{FF2B5EF4-FFF2-40B4-BE49-F238E27FC236}">
                <a16:creationId xmlns:a16="http://schemas.microsoft.com/office/drawing/2014/main" id="{41D394B8-EF74-40FC-94ED-8EBDCA05F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t="10219" r="5263"/>
          <a:stretch>
            <a:fillRect/>
          </a:stretch>
        </p:blipFill>
        <p:spPr bwMode="auto">
          <a:xfrm>
            <a:off x="2598738" y="2286000"/>
            <a:ext cx="2582862" cy="231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3" name="Text Box 5">
            <a:extLst>
              <a:ext uri="{FF2B5EF4-FFF2-40B4-BE49-F238E27FC236}">
                <a16:creationId xmlns:a16="http://schemas.microsoft.com/office/drawing/2014/main" id="{1B3BA191-F2E9-40C6-ABBC-E7590086D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800600"/>
            <a:ext cx="7010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>
                <a:latin typeface="Palatino Linotype" panose="02040502050505030304" pitchFamily="18" charset="0"/>
                <a:ea typeface="华文中宋" panose="02010600040101010101" pitchFamily="2" charset="-122"/>
              </a:rPr>
              <a:t>各边按权值排序为：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13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=1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46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=2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25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=3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36=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4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14 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5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34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=5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23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=5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=6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35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=6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56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autoUpdateAnimBg="0"/>
      <p:bldP spid="94213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336199FC-D952-4B2B-B76B-7CB08E317E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71800" y="381000"/>
            <a:ext cx="37338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4000"/>
              <a:t>求解过程</a:t>
            </a:r>
          </a:p>
        </p:txBody>
      </p:sp>
      <p:pic>
        <p:nvPicPr>
          <p:cNvPr id="95236" name="Picture 4" descr="04.TIF">
            <a:extLst>
              <a:ext uri="{FF2B5EF4-FFF2-40B4-BE49-F238E27FC236}">
                <a16:creationId xmlns:a16="http://schemas.microsoft.com/office/drawing/2014/main" id="{2696DC80-F0B7-4B3B-B307-FBD8CA8119CA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371600"/>
            <a:ext cx="620077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7" name="Picture 5" descr="02.TIF">
            <a:extLst>
              <a:ext uri="{FF2B5EF4-FFF2-40B4-BE49-F238E27FC236}">
                <a16:creationId xmlns:a16="http://schemas.microsoft.com/office/drawing/2014/main" id="{6363FC12-F9F3-419C-9C06-1B62638E3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t="10219" r="5263"/>
          <a:stretch>
            <a:fillRect/>
          </a:stretch>
        </p:blipFill>
        <p:spPr bwMode="auto">
          <a:xfrm>
            <a:off x="0" y="1371600"/>
            <a:ext cx="2582863" cy="231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8" name="Text Box 6">
            <a:extLst>
              <a:ext uri="{FF2B5EF4-FFF2-40B4-BE49-F238E27FC236}">
                <a16:creationId xmlns:a16="http://schemas.microsoft.com/office/drawing/2014/main" id="{91CB82B1-1B15-42E2-9BC4-C8C6ED9E1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783013"/>
            <a:ext cx="243840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>
                <a:latin typeface="Palatino Linotype" panose="02040502050505030304" pitchFamily="18" charset="0"/>
                <a:ea typeface="华文中宋" panose="02010600040101010101" pitchFamily="2" charset="-122"/>
              </a:rPr>
              <a:t>各边按权值排序：</a:t>
            </a:r>
          </a:p>
          <a:p>
            <a:pPr eaLnBrk="1" hangingPunct="1">
              <a:spcBef>
                <a:spcPct val="50000"/>
              </a:spcBef>
            </a:pP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13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=1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46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=2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25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=3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36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=4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14 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5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34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=5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23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=5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=6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35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=6      d</a:t>
            </a:r>
            <a:r>
              <a:rPr kumimoji="0" lang="en-US" altLang="zh-CN" b="0" baseline="-25000">
                <a:latin typeface="Palatino Linotype" panose="02040502050505030304" pitchFamily="18" charset="0"/>
                <a:ea typeface="华文中宋" panose="02010600040101010101" pitchFamily="2" charset="-122"/>
              </a:rPr>
              <a:t>56</a:t>
            </a:r>
            <a:r>
              <a:rPr kumimoji="0" lang="en-US" altLang="zh-CN" b="0">
                <a:latin typeface="Palatino Linotype" panose="02040502050505030304" pitchFamily="18" charset="0"/>
                <a:ea typeface="华文中宋" panose="02010600040101010101" pitchFamily="2" charset="-122"/>
              </a:rPr>
              <a:t>=6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8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228EFDA9-D3B8-42C1-A131-077B039DE8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/>
              <a:t>3. Kruskal</a:t>
            </a:r>
            <a:r>
              <a:rPr lang="zh-CN" altLang="en-US" sz="4000" b="1"/>
              <a:t>算法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6AE0026-C3A3-4349-87B6-2C2612C96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4582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buFontTx/>
              <a:buNone/>
            </a:pPr>
            <a:r>
              <a:rPr lang="en-US" altLang="zh-CN" sz="3000" b="1"/>
              <a:t>    S1</a:t>
            </a:r>
            <a:r>
              <a:rPr lang="zh-CN" altLang="en-US" sz="3000" b="1"/>
              <a:t>．对属干</a:t>
            </a:r>
            <a:r>
              <a:rPr lang="en-US" altLang="zh-CN" sz="3000" b="1"/>
              <a:t>E</a:t>
            </a:r>
            <a:r>
              <a:rPr lang="zh-CN" altLang="en-US" sz="3000" b="1"/>
              <a:t>的边按长度进行排序，不失一般性，设</a:t>
            </a:r>
            <a:r>
              <a:rPr lang="en-US" altLang="zh-CN" sz="3000" b="1"/>
              <a:t>e</a:t>
            </a:r>
            <a:r>
              <a:rPr lang="en-US" altLang="zh-CN" sz="3000" b="1" baseline="-30000"/>
              <a:t>1</a:t>
            </a:r>
            <a:r>
              <a:rPr lang="zh-CN" altLang="en-US" sz="3000" b="1"/>
              <a:t>＜</a:t>
            </a:r>
            <a:r>
              <a:rPr lang="en-US" altLang="zh-CN" sz="3000" b="1"/>
              <a:t>=e</a:t>
            </a:r>
            <a:r>
              <a:rPr lang="en-US" altLang="zh-CN" sz="3000" b="1" baseline="-30000"/>
              <a:t>2</a:t>
            </a:r>
            <a:r>
              <a:rPr lang="zh-CN" altLang="en-US" sz="3000" b="1"/>
              <a:t>＜</a:t>
            </a:r>
            <a:r>
              <a:rPr lang="en-US" altLang="zh-CN" sz="3000" b="1"/>
              <a:t>=…</a:t>
            </a:r>
            <a:r>
              <a:rPr lang="zh-CN" altLang="en-US" sz="3000" b="1"/>
              <a:t>＜</a:t>
            </a:r>
            <a:r>
              <a:rPr lang="en-US" altLang="zh-CN" sz="3000" b="1"/>
              <a:t>=e</a:t>
            </a:r>
            <a:r>
              <a:rPr lang="en-US" altLang="zh-CN" sz="3000" b="1" baseline="-30000"/>
              <a:t>m</a:t>
            </a:r>
            <a:r>
              <a:rPr lang="zh-CN" altLang="en-US" sz="3000" b="1"/>
              <a:t>。</a:t>
            </a:r>
          </a:p>
          <a:p>
            <a:pPr algn="just" eaLnBrk="1" hangingPunct="1">
              <a:buFontTx/>
              <a:buNone/>
            </a:pPr>
            <a:r>
              <a:rPr lang="zh-CN" altLang="en-US" sz="3000" b="1"/>
              <a:t>    </a:t>
            </a:r>
            <a:r>
              <a:rPr lang="en-US" altLang="zh-CN" sz="3000" b="1"/>
              <a:t>S2</a:t>
            </a:r>
            <a:r>
              <a:rPr lang="zh-CN" altLang="en-US" sz="3000" b="1"/>
              <a:t>．</a:t>
            </a:r>
            <a:r>
              <a:rPr lang="en-US" altLang="zh-CN" sz="3000" b="1"/>
              <a:t>S</a:t>
            </a:r>
            <a:r>
              <a:rPr lang="en-US" altLang="zh-CN" sz="3000" b="1">
                <a:sym typeface="Wingdings" panose="05000000000000000000" pitchFamily="2" charset="2"/>
              </a:rPr>
              <a:t></a:t>
            </a:r>
            <a:r>
              <a:rPr lang="en-US" altLang="zh-CN" sz="3000" b="1"/>
              <a:t>0</a:t>
            </a:r>
            <a:r>
              <a:rPr lang="zh-CN" altLang="en-US" sz="3000" b="1"/>
              <a:t>；</a:t>
            </a:r>
            <a:r>
              <a:rPr lang="en-US" altLang="zh-CN" sz="3000" b="1"/>
              <a:t>T</a:t>
            </a:r>
            <a:r>
              <a:rPr lang="en-US" altLang="zh-CN" sz="3000" b="1">
                <a:sym typeface="Wingdings" panose="05000000000000000000" pitchFamily="2" charset="2"/>
              </a:rPr>
              <a:t></a:t>
            </a:r>
            <a:r>
              <a:rPr lang="en-US" altLang="zh-CN" sz="3000" b="1"/>
              <a:t> Ø </a:t>
            </a:r>
            <a:r>
              <a:rPr lang="zh-CN" altLang="en-US" sz="3000" b="1"/>
              <a:t>；</a:t>
            </a:r>
            <a:r>
              <a:rPr lang="en-US" altLang="zh-CN" sz="3000" b="1"/>
              <a:t>i</a:t>
            </a:r>
            <a:r>
              <a:rPr lang="en-US" altLang="zh-CN" sz="3000" b="1">
                <a:sym typeface="Wingdings" panose="05000000000000000000" pitchFamily="2" charset="2"/>
              </a:rPr>
              <a:t></a:t>
            </a:r>
            <a:r>
              <a:rPr lang="en-US" altLang="zh-CN" sz="3000" b="1"/>
              <a:t>1</a:t>
            </a:r>
            <a:r>
              <a:rPr lang="zh-CN" altLang="en-US" sz="3000" b="1"/>
              <a:t>；</a:t>
            </a:r>
            <a:r>
              <a:rPr lang="en-US" altLang="zh-CN" sz="3000" b="1"/>
              <a:t>t</a:t>
            </a:r>
            <a:r>
              <a:rPr lang="en-US" altLang="zh-CN" sz="3000" b="1">
                <a:sym typeface="Wingdings" panose="05000000000000000000" pitchFamily="2" charset="2"/>
              </a:rPr>
              <a:t></a:t>
            </a:r>
            <a:r>
              <a:rPr lang="en-US" altLang="zh-CN" sz="3000" b="1"/>
              <a:t>0</a:t>
            </a:r>
            <a:r>
              <a:rPr lang="zh-CN" altLang="en-US" sz="3000" b="1"/>
              <a:t>。</a:t>
            </a:r>
          </a:p>
          <a:p>
            <a:pPr algn="just" eaLnBrk="1" hangingPunct="1">
              <a:buFontTx/>
              <a:buNone/>
            </a:pPr>
            <a:r>
              <a:rPr lang="zh-CN" altLang="en-US" sz="3000" b="1"/>
              <a:t>    </a:t>
            </a:r>
            <a:r>
              <a:rPr lang="en-US" altLang="zh-CN" sz="3000" b="1"/>
              <a:t>S3</a:t>
            </a:r>
            <a:r>
              <a:rPr lang="zh-CN" altLang="en-US" sz="3000" b="1"/>
              <a:t>．若</a:t>
            </a:r>
            <a:r>
              <a:rPr lang="en-US" altLang="zh-CN" sz="3000" b="1"/>
              <a:t>t= n-1</a:t>
            </a:r>
            <a:r>
              <a:rPr lang="zh-CN" altLang="en-US" sz="3000" b="1"/>
              <a:t>，则转</a:t>
            </a:r>
            <a:r>
              <a:rPr lang="en-US" altLang="zh-CN" sz="3000" b="1"/>
              <a:t>S6</a:t>
            </a:r>
            <a:r>
              <a:rPr lang="zh-CN" altLang="en-US" sz="3000" b="1"/>
              <a:t>，否则转</a:t>
            </a:r>
            <a:r>
              <a:rPr lang="en-US" altLang="zh-CN" sz="3000" b="1"/>
              <a:t>S4</a:t>
            </a:r>
            <a:r>
              <a:rPr lang="zh-CN" altLang="en-US" sz="3000" b="1"/>
              <a:t>。</a:t>
            </a:r>
          </a:p>
          <a:p>
            <a:pPr algn="just" eaLnBrk="1" hangingPunct="1">
              <a:buFontTx/>
              <a:buNone/>
            </a:pPr>
            <a:r>
              <a:rPr lang="zh-CN" altLang="en-US" sz="3000" b="1"/>
              <a:t>    </a:t>
            </a:r>
            <a:r>
              <a:rPr lang="en-US" altLang="zh-CN" sz="3000" b="1"/>
              <a:t>S4</a:t>
            </a:r>
            <a:r>
              <a:rPr lang="zh-CN" altLang="en-US" sz="3000" b="1"/>
              <a:t>．若</a:t>
            </a:r>
            <a:r>
              <a:rPr lang="en-US" altLang="zh-CN" sz="3000" b="1"/>
              <a:t>T</a:t>
            </a:r>
            <a:r>
              <a:rPr lang="en-US" altLang="zh-CN" sz="3000" b="1">
                <a:latin typeface="华文中宋" panose="02010600040101010101" pitchFamily="2" charset="-122"/>
              </a:rPr>
              <a:t>∪{</a:t>
            </a:r>
            <a:r>
              <a:rPr lang="en-US" altLang="zh-CN" sz="3000" b="1"/>
              <a:t>e</a:t>
            </a:r>
            <a:r>
              <a:rPr lang="en-US" altLang="zh-CN" sz="3000" b="1" baseline="-30000"/>
              <a:t>i</a:t>
            </a:r>
            <a:r>
              <a:rPr lang="en-US" altLang="zh-CN" sz="3000" b="1"/>
              <a:t>}</a:t>
            </a:r>
            <a:r>
              <a:rPr lang="zh-CN" altLang="en-US" sz="3000" b="1"/>
              <a:t>构成一回路，则做</a:t>
            </a:r>
          </a:p>
          <a:p>
            <a:pPr algn="just" eaLnBrk="1" hangingPunct="1">
              <a:buFontTx/>
              <a:buNone/>
            </a:pPr>
            <a:r>
              <a:rPr lang="zh-CN" altLang="en-US" sz="3000" b="1"/>
              <a:t>             始</a:t>
            </a:r>
            <a:r>
              <a:rPr lang="en-US" altLang="zh-CN" sz="3000" b="1"/>
              <a:t>i</a:t>
            </a:r>
            <a:r>
              <a:rPr lang="en-US" altLang="zh-CN" sz="3000" b="1">
                <a:sym typeface="Wingdings" panose="05000000000000000000" pitchFamily="2" charset="2"/>
              </a:rPr>
              <a:t></a:t>
            </a:r>
            <a:r>
              <a:rPr lang="en-US" altLang="zh-CN" sz="3000" b="1"/>
              <a:t>i+l</a:t>
            </a:r>
            <a:r>
              <a:rPr lang="zh-CN" altLang="en-US" sz="3000" b="1"/>
              <a:t>；转</a:t>
            </a:r>
            <a:r>
              <a:rPr lang="en-US" altLang="zh-CN" sz="3000" b="1"/>
              <a:t>S4 </a:t>
            </a:r>
            <a:r>
              <a:rPr lang="zh-CN" altLang="en-US" sz="3000" b="1"/>
              <a:t>终，否则转</a:t>
            </a:r>
            <a:r>
              <a:rPr lang="en-US" altLang="zh-CN" sz="3000" b="1"/>
              <a:t>S5</a:t>
            </a:r>
            <a:r>
              <a:rPr lang="zh-CN" altLang="en-US" sz="3000" b="1"/>
              <a:t>。</a:t>
            </a:r>
          </a:p>
          <a:p>
            <a:pPr algn="just" eaLnBrk="1" hangingPunct="1">
              <a:buFontTx/>
              <a:buNone/>
            </a:pPr>
            <a:r>
              <a:rPr lang="zh-CN" altLang="en-US" sz="3000" b="1"/>
              <a:t>    </a:t>
            </a:r>
            <a:r>
              <a:rPr lang="en-US" altLang="zh-CN" sz="3000" b="1"/>
              <a:t>S5</a:t>
            </a:r>
            <a:r>
              <a:rPr lang="zh-CN" altLang="en-US" sz="3000" b="1"/>
              <a:t>．</a:t>
            </a:r>
            <a:r>
              <a:rPr lang="en-US" altLang="zh-CN" sz="3000" b="1"/>
              <a:t>T</a:t>
            </a:r>
            <a:r>
              <a:rPr lang="en-US" altLang="zh-CN" sz="3000" b="1">
                <a:sym typeface="Wingdings" panose="05000000000000000000" pitchFamily="2" charset="2"/>
              </a:rPr>
              <a:t></a:t>
            </a:r>
            <a:r>
              <a:rPr lang="en-US" altLang="zh-CN" sz="3000" b="1"/>
              <a:t>T</a:t>
            </a:r>
            <a:r>
              <a:rPr lang="en-US" altLang="zh-CN" sz="3000" b="1">
                <a:latin typeface="华文中宋" panose="02010600040101010101" pitchFamily="2" charset="-122"/>
              </a:rPr>
              <a:t>∪{</a:t>
            </a:r>
            <a:r>
              <a:rPr lang="en-US" altLang="zh-CN" sz="3000" b="1"/>
              <a:t>e</a:t>
            </a:r>
            <a:r>
              <a:rPr lang="en-US" altLang="zh-CN" sz="3000" b="1" baseline="-30000"/>
              <a:t>i</a:t>
            </a:r>
            <a:r>
              <a:rPr lang="en-US" altLang="zh-CN" sz="3000" b="1"/>
              <a:t>}</a:t>
            </a:r>
            <a:r>
              <a:rPr lang="zh-CN" altLang="en-US" sz="3000" b="1"/>
              <a:t>；</a:t>
            </a:r>
            <a:r>
              <a:rPr lang="en-US" altLang="zh-CN" sz="3000" b="1"/>
              <a:t>S</a:t>
            </a:r>
            <a:r>
              <a:rPr lang="en-US" altLang="zh-CN" sz="3000" b="1">
                <a:sym typeface="Wingdings" panose="05000000000000000000" pitchFamily="2" charset="2"/>
              </a:rPr>
              <a:t></a:t>
            </a:r>
            <a:r>
              <a:rPr lang="en-US" altLang="zh-CN" sz="3000" b="1"/>
              <a:t>S+e</a:t>
            </a:r>
            <a:r>
              <a:rPr lang="en-US" altLang="zh-CN" sz="3000" b="1" baseline="-30000"/>
              <a:t>i</a:t>
            </a:r>
            <a:r>
              <a:rPr lang="zh-CN" altLang="en-US" sz="3000" b="1"/>
              <a:t>；</a:t>
            </a:r>
            <a:r>
              <a:rPr lang="en-US" altLang="zh-CN" sz="3000" b="1"/>
              <a:t>t</a:t>
            </a:r>
            <a:r>
              <a:rPr lang="en-US" altLang="zh-CN" sz="3000" b="1">
                <a:sym typeface="Wingdings" panose="05000000000000000000" pitchFamily="2" charset="2"/>
              </a:rPr>
              <a:t></a:t>
            </a:r>
            <a:r>
              <a:rPr lang="en-US" altLang="zh-CN" sz="3000" b="1"/>
              <a:t>t+1</a:t>
            </a:r>
            <a:r>
              <a:rPr lang="zh-CN" altLang="en-US" sz="3000" b="1"/>
              <a:t>；</a:t>
            </a:r>
            <a:r>
              <a:rPr lang="en-US" altLang="zh-CN" sz="3000" b="1"/>
              <a:t>i</a:t>
            </a:r>
            <a:r>
              <a:rPr lang="en-US" altLang="zh-CN" sz="3000" b="1">
                <a:sym typeface="Wingdings" panose="05000000000000000000" pitchFamily="2" charset="2"/>
              </a:rPr>
              <a:t>i</a:t>
            </a:r>
            <a:r>
              <a:rPr lang="en-US" altLang="zh-CN" sz="3000" b="1"/>
              <a:t>+1</a:t>
            </a:r>
            <a:r>
              <a:rPr lang="zh-CN" altLang="en-US" sz="3000" b="1"/>
              <a:t>；转</a:t>
            </a:r>
            <a:r>
              <a:rPr lang="en-US" altLang="zh-CN" sz="3000" b="1"/>
              <a:t>S3</a:t>
            </a:r>
            <a:r>
              <a:rPr lang="zh-CN" altLang="en-US" sz="3000" b="1"/>
              <a:t>。</a:t>
            </a:r>
          </a:p>
          <a:p>
            <a:pPr algn="just" eaLnBrk="1" hangingPunct="1">
              <a:buFontTx/>
              <a:buNone/>
            </a:pPr>
            <a:r>
              <a:rPr lang="zh-CN" altLang="en-US" sz="3000" b="1"/>
              <a:t>    </a:t>
            </a:r>
            <a:r>
              <a:rPr lang="en-US" altLang="zh-CN" sz="3000" b="1"/>
              <a:t>S6</a:t>
            </a:r>
            <a:r>
              <a:rPr lang="zh-CN" altLang="en-US" sz="3000" b="1"/>
              <a:t>．输出</a:t>
            </a:r>
            <a:r>
              <a:rPr lang="en-US" altLang="zh-CN" sz="3000" b="1"/>
              <a:t>T</a:t>
            </a:r>
            <a:r>
              <a:rPr lang="zh-CN" altLang="en-US" sz="3000" b="1"/>
              <a:t>，</a:t>
            </a:r>
            <a:r>
              <a:rPr lang="en-US" altLang="zh-CN" sz="3000" b="1"/>
              <a:t>S</a:t>
            </a:r>
            <a:r>
              <a:rPr lang="zh-CN" altLang="en-US" sz="3000" b="1"/>
              <a:t>；终止。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3EB6DE7C-C749-4A71-8A13-FE997C2C92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153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600" b="1"/>
              <a:t>练习：用</a:t>
            </a:r>
            <a:r>
              <a:rPr lang="en-US" altLang="zh-CN" sz="3600" b="1"/>
              <a:t>kruskal</a:t>
            </a:r>
            <a:r>
              <a:rPr lang="zh-CN" altLang="en-US" sz="3600" b="1"/>
              <a:t>算法</a:t>
            </a:r>
            <a:r>
              <a:rPr kumimoji="0" lang="zh-CN" altLang="en-US" sz="3600" b="1"/>
              <a:t>求</a:t>
            </a:r>
            <a:r>
              <a:rPr kumimoji="0" lang="en-US" altLang="zh-CN" sz="3600" b="1"/>
              <a:t>G</a:t>
            </a:r>
            <a:r>
              <a:rPr kumimoji="0" lang="zh-CN" altLang="en-US" sz="3600" b="1"/>
              <a:t>的最小生成树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596F0711-44C5-424D-A514-A20E55BF0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1336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  <p:sp>
        <p:nvSpPr>
          <p:cNvPr id="82948" name="Rectangle 5">
            <a:extLst>
              <a:ext uri="{FF2B5EF4-FFF2-40B4-BE49-F238E27FC236}">
                <a16:creationId xmlns:a16="http://schemas.microsoft.com/office/drawing/2014/main" id="{6813D6D3-B519-4CC2-A07B-E3E0AD268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188" y="275272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82949" name="Picture 4">
            <a:extLst>
              <a:ext uri="{FF2B5EF4-FFF2-40B4-BE49-F238E27FC236}">
                <a16:creationId xmlns:a16="http://schemas.microsoft.com/office/drawing/2014/main" id="{1DFD42C0-EDCC-4610-A38B-C4BAB43B7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57400"/>
            <a:ext cx="76962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C2E41E95-E2B0-4810-A8FE-5ED597A41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en-US" altLang="zh-CN" sz="3600" b="1"/>
              <a:t>4. Kruskal</a:t>
            </a:r>
            <a:r>
              <a:rPr kumimoji="0" lang="zh-CN" altLang="en-US" sz="3600" b="1"/>
              <a:t>算法的实现</a:t>
            </a:r>
            <a:endParaRPr kumimoji="0" lang="zh-CN" altLang="en-US" sz="3600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CDE74BAE-1CE3-48B0-B7ED-1F115E4C76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447800"/>
            <a:ext cx="7772400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b="1">
                <a:solidFill>
                  <a:srgbClr val="FF0000"/>
                </a:solidFill>
                <a:latin typeface="华文中宋" panose="02010600040101010101" pitchFamily="2" charset="-122"/>
              </a:rPr>
              <a:t>问题：如何判断一些边构成了圈？</a:t>
            </a:r>
            <a:endParaRPr lang="zh-CN" altLang="en-US" b="1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4300644F-6BCE-4ADA-A58D-5699C1E1E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86000"/>
            <a:ext cx="7772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按权（边长）的递增顺序对边序列作优先队列。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用</a:t>
            </a:r>
            <a:r>
              <a:rPr lang="zh-CN" altLang="en-US" sz="280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堆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实现这个优先队列</a:t>
            </a:r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981A9CBB-B29B-44BC-929F-655A8F1F5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81400"/>
            <a:ext cx="79248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按权的递增顺序查看等价于对优先队列执行</a:t>
            </a:r>
            <a:r>
              <a:rPr kumimoji="0"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DeleteMin</a:t>
            </a:r>
            <a:r>
              <a:rPr kumimoji="0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运算，可以用堆实现。 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对一个由连通分支组成的集合不断进行修改，需要用到抽象数据类型</a:t>
            </a:r>
            <a:r>
              <a:rPr kumimoji="0"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并查集</a:t>
            </a:r>
            <a:r>
              <a:rPr kumimoji="0" lang="en-US" altLang="zh-CN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UnionFind</a:t>
            </a:r>
            <a:r>
              <a:rPr kumimoji="0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所支持的基本运算。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20F0D41-7946-4CF7-B5E0-8AF6B2AE5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/>
              <a:t>5. Prim</a:t>
            </a:r>
            <a:r>
              <a:rPr lang="zh-CN" altLang="en-US" sz="4000" b="1"/>
              <a:t>算法与</a:t>
            </a:r>
            <a:r>
              <a:rPr lang="en-US" altLang="zh-CN" sz="4000" b="1"/>
              <a:t>Kruskal</a:t>
            </a:r>
            <a:r>
              <a:rPr lang="zh-CN" altLang="en-US" sz="4000" b="1"/>
              <a:t>算法的优劣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5C727A9-EF68-418E-B331-CF35A2E83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24000"/>
            <a:ext cx="8153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algn="just" eaLnBrk="1" hangingPunct="1">
              <a:buFontTx/>
              <a:buAutoNum type="arabicPeriod"/>
            </a:pPr>
            <a:r>
              <a:rPr lang="en-US" altLang="zh-CN" sz="2800" b="1"/>
              <a:t>Prim</a:t>
            </a:r>
            <a:r>
              <a:rPr lang="zh-CN" altLang="en-US" sz="2800" b="1"/>
              <a:t>算法无需对边进行从小到大的排序，而</a:t>
            </a:r>
            <a:r>
              <a:rPr lang="en-US" altLang="zh-CN" sz="2800" b="1"/>
              <a:t>Kruskal</a:t>
            </a:r>
            <a:r>
              <a:rPr lang="zh-CN" altLang="en-US" sz="2800" b="1"/>
              <a:t>算法先要对图</a:t>
            </a:r>
            <a:r>
              <a:rPr lang="en-US" altLang="zh-CN" sz="2800" b="1"/>
              <a:t>G</a:t>
            </a:r>
            <a:r>
              <a:rPr lang="zh-CN" altLang="en-US" sz="2800" b="1"/>
              <a:t>的边进行排序。</a:t>
            </a:r>
          </a:p>
          <a:p>
            <a:pPr marL="609600" indent="-609600" algn="just" eaLnBrk="1" hangingPunct="1">
              <a:buFontTx/>
              <a:buAutoNum type="arabicPeriod"/>
            </a:pPr>
            <a:r>
              <a:rPr lang="zh-CN" altLang="en-US" sz="2800" b="1"/>
              <a:t>设</a:t>
            </a:r>
            <a:r>
              <a:rPr lang="en-US" altLang="zh-CN" sz="2800" b="1"/>
              <a:t>|E|=m</a:t>
            </a:r>
            <a:r>
              <a:rPr lang="zh-CN" altLang="en-US" sz="2800" b="1"/>
              <a:t>，</a:t>
            </a:r>
          </a:p>
          <a:p>
            <a:pPr marL="609600" indent="-609600" algn="just" eaLnBrk="1" hangingPunct="1">
              <a:buFontTx/>
              <a:buNone/>
            </a:pPr>
            <a:r>
              <a:rPr lang="zh-CN" altLang="en-US" sz="2800" b="1"/>
              <a:t>    </a:t>
            </a:r>
            <a:r>
              <a:rPr lang="en-US" altLang="zh-CN" sz="2800" b="1"/>
              <a:t>Kruskal</a:t>
            </a:r>
            <a:r>
              <a:rPr lang="zh-CN" altLang="en-US" sz="2800" b="1"/>
              <a:t>算法的时间复杂性为</a:t>
            </a:r>
            <a:r>
              <a:rPr lang="en-US" altLang="zh-CN" sz="2800" b="1"/>
              <a:t>O</a:t>
            </a:r>
            <a:r>
              <a:rPr lang="zh-CN" altLang="en-US" sz="2800" b="1"/>
              <a:t>（</a:t>
            </a:r>
            <a:r>
              <a:rPr lang="en-US" altLang="zh-CN" sz="2800" b="1"/>
              <a:t>m*log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 m</a:t>
            </a:r>
            <a:r>
              <a:rPr lang="zh-CN" altLang="en-US" sz="2800" b="1"/>
              <a:t>）</a:t>
            </a:r>
          </a:p>
          <a:p>
            <a:pPr marL="609600" indent="-609600" algn="just" eaLnBrk="1" hangingPunct="1">
              <a:buFontTx/>
              <a:buNone/>
            </a:pPr>
            <a:r>
              <a:rPr lang="zh-CN" altLang="en-US" sz="2800" b="1"/>
              <a:t>    </a:t>
            </a:r>
            <a:r>
              <a:rPr lang="en-US" altLang="zh-CN" sz="2800" b="1"/>
              <a:t>Prim</a:t>
            </a:r>
            <a:r>
              <a:rPr lang="zh-CN" altLang="en-US" sz="2800" b="1"/>
              <a:t>算法的时间复杂性为</a:t>
            </a:r>
            <a:r>
              <a:rPr lang="en-US" altLang="zh-CN" sz="2800" b="1"/>
              <a:t>O</a:t>
            </a:r>
            <a:r>
              <a:rPr lang="zh-CN" altLang="en-US" sz="2800" b="1"/>
              <a:t>（</a:t>
            </a:r>
            <a:r>
              <a:rPr lang="en-US" altLang="zh-CN" sz="2800" b="1"/>
              <a:t>n</a:t>
            </a:r>
            <a:r>
              <a:rPr lang="en-US" altLang="zh-CN" sz="2800" b="1" baseline="30000"/>
              <a:t>2</a:t>
            </a:r>
            <a:r>
              <a:rPr lang="zh-CN" altLang="en-US" sz="2800" b="1"/>
              <a:t>）。</a:t>
            </a:r>
          </a:p>
          <a:p>
            <a:pPr marL="609600" indent="-609600" algn="just" eaLnBrk="1" hangingPunct="1">
              <a:buFontTx/>
              <a:buAutoNum type="arabicPeriod" startAt="3"/>
            </a:pPr>
            <a:r>
              <a:rPr lang="zh-CN" altLang="en-US" sz="2800" b="1">
                <a:latin typeface="华文中宋" panose="02010600040101010101" pitchFamily="2" charset="-122"/>
              </a:rPr>
              <a:t>当</a:t>
            </a:r>
            <a:r>
              <a:rPr lang="en-US" altLang="zh-CN" sz="2800" b="1"/>
              <a:t>m</a:t>
            </a:r>
            <a:r>
              <a:rPr lang="en-US" altLang="zh-CN" sz="2800" b="1">
                <a:latin typeface="华文中宋" panose="02010600040101010101" pitchFamily="2" charset="-122"/>
              </a:rPr>
              <a:t>=</a:t>
            </a:r>
            <a:r>
              <a:rPr lang="en-US" altLang="zh-CN" sz="2800" b="1"/>
              <a:t>Ω(n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)</a:t>
            </a:r>
            <a:r>
              <a:rPr lang="zh-CN" altLang="en-US" sz="2800" b="1">
                <a:latin typeface="华文中宋" panose="02010600040101010101" pitchFamily="2" charset="-122"/>
              </a:rPr>
              <a:t>时，</a:t>
            </a:r>
            <a:r>
              <a:rPr lang="en-US" altLang="zh-CN" sz="2800" b="1"/>
              <a:t>Kruskal</a:t>
            </a:r>
            <a:r>
              <a:rPr lang="zh-CN" altLang="en-US" sz="2800" b="1">
                <a:latin typeface="华文中宋" panose="02010600040101010101" pitchFamily="2" charset="-122"/>
              </a:rPr>
              <a:t>算法比</a:t>
            </a:r>
            <a:r>
              <a:rPr lang="en-US" altLang="zh-CN" sz="2800" b="1"/>
              <a:t>Prim</a:t>
            </a:r>
            <a:r>
              <a:rPr lang="zh-CN" altLang="en-US" sz="2800" b="1">
                <a:latin typeface="华文中宋" panose="02010600040101010101" pitchFamily="2" charset="-122"/>
              </a:rPr>
              <a:t>算法差；</a:t>
            </a:r>
          </a:p>
          <a:p>
            <a:pPr marL="609600" indent="-609600" algn="just" eaLnBrk="1" hangingPunct="1">
              <a:buFontTx/>
              <a:buNone/>
            </a:pPr>
            <a:r>
              <a:rPr lang="zh-CN" altLang="en-US" sz="2800" b="1">
                <a:latin typeface="华文中宋" panose="02010600040101010101" pitchFamily="2" charset="-122"/>
              </a:rPr>
              <a:t>   但当</a:t>
            </a:r>
            <a:r>
              <a:rPr lang="en-US" altLang="zh-CN" sz="2800" b="1"/>
              <a:t>m=</a:t>
            </a:r>
            <a:r>
              <a:rPr lang="en-US" altLang="zh-CN" sz="2800" b="1">
                <a:latin typeface="华文中宋" panose="02010600040101010101" pitchFamily="2" charset="-122"/>
              </a:rPr>
              <a:t>O</a:t>
            </a:r>
            <a:r>
              <a:rPr lang="en-US" altLang="zh-CN" sz="2800" b="1"/>
              <a:t>(n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)</a:t>
            </a:r>
            <a:r>
              <a:rPr lang="zh-CN" altLang="en-US" sz="2800" b="1">
                <a:latin typeface="华文中宋" panose="02010600040101010101" pitchFamily="2" charset="-122"/>
              </a:rPr>
              <a:t>时，</a:t>
            </a:r>
            <a:r>
              <a:rPr lang="en-US" altLang="zh-CN" sz="2800" b="1"/>
              <a:t>Kruskal</a:t>
            </a:r>
            <a:r>
              <a:rPr lang="zh-CN" altLang="en-US" sz="2800" b="1">
                <a:latin typeface="华文中宋" panose="02010600040101010101" pitchFamily="2" charset="-122"/>
              </a:rPr>
              <a:t>算法却比</a:t>
            </a:r>
            <a:r>
              <a:rPr lang="en-US" altLang="zh-CN" sz="2800" b="1"/>
              <a:t>Prim</a:t>
            </a:r>
            <a:r>
              <a:rPr lang="zh-CN" altLang="en-US" sz="2800" b="1">
                <a:latin typeface="华文中宋" panose="02010600040101010101" pitchFamily="2" charset="-122"/>
              </a:rPr>
              <a:t>算法好得多。</a:t>
            </a:r>
            <a:r>
              <a:rPr lang="zh-CN" altLang="en-US" sz="2800" b="1"/>
              <a:t> 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B89C29AE-7798-4F46-BF16-0A26EF304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9050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AC2F36"/>
                </a:solidFill>
                <a:latin typeface="华文中宋" panose="02010600040101010101" pitchFamily="2" charset="-122"/>
              </a:rPr>
              <a:t>4.7 </a:t>
            </a:r>
            <a:r>
              <a:rPr lang="zh-CN" altLang="en-US" b="1" dirty="0">
                <a:solidFill>
                  <a:srgbClr val="AC2F36"/>
                </a:solidFill>
                <a:latin typeface="华文中宋" panose="02010600040101010101" pitchFamily="2" charset="-122"/>
              </a:rPr>
              <a:t>多机调度问题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5BD4203B-8055-4AE1-B402-974672C33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4000" b="1"/>
              <a:t>1. </a:t>
            </a:r>
            <a:r>
              <a:rPr lang="zh-CN" altLang="en-US" sz="4000" b="1"/>
              <a:t>多机调度问题描述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E7EB900F-94BF-4ACB-A195-E4A2787E6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9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kumimoji="0" lang="zh-CN" altLang="en-US" sz="2800" b="1">
                <a:latin typeface="华文中宋" panose="02010600040101010101" pitchFamily="2" charset="-122"/>
              </a:rPr>
              <a:t>设有</a:t>
            </a:r>
            <a:r>
              <a:rPr kumimoji="0" lang="en-US" altLang="zh-CN" sz="2800" b="1">
                <a:latin typeface="华文中宋" panose="02010600040101010101" pitchFamily="2" charset="-122"/>
              </a:rPr>
              <a:t>n</a:t>
            </a:r>
            <a:r>
              <a:rPr kumimoji="0" lang="zh-CN" altLang="en-US" sz="2800" b="1">
                <a:latin typeface="华文中宋" panose="02010600040101010101" pitchFamily="2" charset="-122"/>
              </a:rPr>
              <a:t>个独立的作业</a:t>
            </a:r>
            <a:r>
              <a:rPr kumimoji="0" lang="en-US" altLang="zh-CN" sz="2800" b="1">
                <a:latin typeface="华文中宋" panose="02010600040101010101" pitchFamily="2" charset="-122"/>
              </a:rPr>
              <a:t>{1,2,</a:t>
            </a:r>
            <a:r>
              <a:rPr kumimoji="0" lang="en-US" altLang="zh-CN" sz="2800" b="1">
                <a:latin typeface="Courier New" panose="02070309020205020404" pitchFamily="49" charset="0"/>
              </a:rPr>
              <a:t>…</a:t>
            </a:r>
            <a:r>
              <a:rPr kumimoji="0" lang="en-US" altLang="zh-CN" sz="2800" b="1">
                <a:latin typeface="华文中宋" panose="02010600040101010101" pitchFamily="2" charset="-122"/>
              </a:rPr>
              <a:t>,n}</a:t>
            </a:r>
            <a:r>
              <a:rPr kumimoji="0" lang="zh-CN" altLang="en-US" sz="2800" b="1">
                <a:latin typeface="华文中宋" panose="02010600040101010101" pitchFamily="2" charset="-122"/>
              </a:rPr>
              <a:t>，由</a:t>
            </a:r>
            <a:r>
              <a:rPr kumimoji="0" lang="en-US" altLang="zh-CN" sz="2800" b="1">
                <a:latin typeface="华文中宋" panose="02010600040101010101" pitchFamily="2" charset="-122"/>
              </a:rPr>
              <a:t>m</a:t>
            </a:r>
            <a:r>
              <a:rPr kumimoji="0" lang="zh-CN" altLang="en-US" sz="2800" b="1">
                <a:latin typeface="华文中宋" panose="02010600040101010101" pitchFamily="2" charset="-122"/>
              </a:rPr>
              <a:t>台相同的机器进行加工处理。作业</a:t>
            </a:r>
            <a:r>
              <a:rPr kumimoji="0" lang="en-US" altLang="zh-CN" sz="2800" b="1">
                <a:latin typeface="华文中宋" panose="02010600040101010101" pitchFamily="2" charset="-122"/>
              </a:rPr>
              <a:t>i</a:t>
            </a:r>
            <a:r>
              <a:rPr kumimoji="0" lang="zh-CN" altLang="en-US" sz="2800" b="1">
                <a:latin typeface="华文中宋" panose="02010600040101010101" pitchFamily="2" charset="-122"/>
              </a:rPr>
              <a:t>所需的处理时间为</a:t>
            </a:r>
            <a:r>
              <a:rPr kumimoji="0" lang="en-US" altLang="zh-CN" sz="2800" b="1">
                <a:latin typeface="华文中宋" panose="02010600040101010101" pitchFamily="2" charset="-122"/>
              </a:rPr>
              <a:t>t</a:t>
            </a:r>
            <a:r>
              <a:rPr kumimoji="0" lang="en-US" altLang="zh-CN" sz="2800" b="1" baseline="-25000">
                <a:latin typeface="华文中宋" panose="02010600040101010101" pitchFamily="2" charset="-122"/>
              </a:rPr>
              <a:t>i</a:t>
            </a:r>
            <a:r>
              <a:rPr kumimoji="0" lang="zh-CN" altLang="en-US" sz="2800" b="1">
                <a:latin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kumimoji="0"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约定：</a:t>
            </a:r>
            <a:r>
              <a:rPr kumimoji="0" lang="zh-CN" altLang="en-US" sz="2800" b="1">
                <a:latin typeface="华文中宋" panose="02010600040101010101" pitchFamily="2" charset="-122"/>
              </a:rPr>
              <a:t>任何作业可以在任何一台机器上加工处理，但未完工前不允许中断处理。任何作业不能拆分成更小的子作业。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kumimoji="0" lang="zh-CN" altLang="en-US" sz="2800" b="1">
                <a:solidFill>
                  <a:srgbClr val="FF0000"/>
                </a:solidFill>
                <a:latin typeface="华文中宋" panose="02010600040101010101" pitchFamily="2" charset="-122"/>
              </a:rPr>
              <a:t>多机调度问题</a:t>
            </a:r>
            <a:r>
              <a:rPr kumimoji="0" lang="zh-CN" altLang="en-US" sz="2800" b="1">
                <a:latin typeface="华文中宋" panose="02010600040101010101" pitchFamily="2" charset="-122"/>
              </a:rPr>
              <a:t>要求给出一种作业调度方案，使所给的</a:t>
            </a:r>
            <a:r>
              <a:rPr kumimoji="0" lang="en-US" altLang="zh-CN" sz="2800" b="1">
                <a:latin typeface="华文中宋" panose="02010600040101010101" pitchFamily="2" charset="-122"/>
              </a:rPr>
              <a:t>n</a:t>
            </a:r>
            <a:r>
              <a:rPr kumimoji="0" lang="zh-CN" altLang="en-US" sz="2800" b="1">
                <a:latin typeface="华文中宋" panose="02010600040101010101" pitchFamily="2" charset="-122"/>
              </a:rPr>
              <a:t>个作业在尽可能短的时间内由</a:t>
            </a:r>
            <a:r>
              <a:rPr kumimoji="0" lang="en-US" altLang="zh-CN" sz="2800" b="1">
                <a:latin typeface="华文中宋" panose="02010600040101010101" pitchFamily="2" charset="-122"/>
              </a:rPr>
              <a:t>m</a:t>
            </a:r>
            <a:r>
              <a:rPr kumimoji="0" lang="zh-CN" altLang="en-US" sz="2800" b="1">
                <a:latin typeface="华文中宋" panose="02010600040101010101" pitchFamily="2" charset="-122"/>
              </a:rPr>
              <a:t>台机器加工处理完成。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B7A9101-6700-45D5-AA65-75DFC68FB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r>
              <a:rPr lang="zh-CN" altLang="en-US" sz="4000" b="1"/>
              <a:t>多机调度问题是</a:t>
            </a:r>
            <a:r>
              <a:rPr lang="en-US" altLang="zh-CN" sz="4000" b="1"/>
              <a:t>NP</a:t>
            </a:r>
            <a:r>
              <a:rPr lang="zh-CN" altLang="en-US" sz="4000" b="1"/>
              <a:t>完全问题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7FA469E-3BED-49CF-AA5F-7DC17CEC3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多机调度问题是</a:t>
            </a:r>
            <a:r>
              <a:rPr lang="en-US" altLang="zh-CN" sz="2800" b="1">
                <a:latin typeface="华文中宋" panose="02010600040101010101" pitchFamily="2" charset="-122"/>
              </a:rPr>
              <a:t>NP</a:t>
            </a:r>
            <a:r>
              <a:rPr lang="zh-CN" altLang="en-US" sz="2800" b="1">
                <a:latin typeface="华文中宋" panose="02010600040101010101" pitchFamily="2" charset="-122"/>
              </a:rPr>
              <a:t>完全问题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尚没有有效的解法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华文中宋" panose="02010600040101010101" pitchFamily="2" charset="-122"/>
              </a:rPr>
              <a:t>处理方式：近似算法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>
                <a:latin typeface="华文中宋" panose="02010600040101010101" pitchFamily="2" charset="-122"/>
              </a:rPr>
              <a:t>对于这一类问题</a:t>
            </a:r>
            <a:r>
              <a:rPr lang="en-US" altLang="zh-CN" b="1">
                <a:latin typeface="华文中宋" panose="02010600040101010101" pitchFamily="2" charset="-122"/>
              </a:rPr>
              <a:t>,</a:t>
            </a:r>
            <a:r>
              <a:rPr lang="zh-CN" altLang="en-US" b="1">
                <a:latin typeface="华文中宋" panose="02010600040101010101" pitchFamily="2" charset="-122"/>
              </a:rPr>
              <a:t>可用</a:t>
            </a:r>
            <a:r>
              <a:rPr lang="zh-CN" altLang="en-US" b="1">
                <a:solidFill>
                  <a:schemeClr val="accent2"/>
                </a:solidFill>
                <a:latin typeface="华文中宋" panose="02010600040101010101" pitchFamily="2" charset="-122"/>
              </a:rPr>
              <a:t>贪心选择策略</a:t>
            </a:r>
            <a:r>
              <a:rPr lang="zh-CN" altLang="en-US" b="1">
                <a:latin typeface="华文中宋" panose="02010600040101010101" pitchFamily="2" charset="-122"/>
              </a:rPr>
              <a:t>有时可以设计出较好的近似算法。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416B114-A626-48B8-9CEA-F38A52B84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600" b="1"/>
              <a:t>贪心选择策略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8CDF0938-C2DA-4642-93B4-661FD0C006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8001000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spcBef>
                <a:spcPct val="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贪心选择策略：</a:t>
            </a:r>
            <a:r>
              <a:rPr kumimoji="0" lang="zh-CN" altLang="en-US" sz="2800" b="1">
                <a:latin typeface="华文中宋" panose="02010600040101010101" pitchFamily="2" charset="-122"/>
              </a:rPr>
              <a:t>最长处理时间作业优先</a:t>
            </a:r>
          </a:p>
          <a:p>
            <a:pPr algn="just">
              <a:spcBef>
                <a:spcPct val="0"/>
              </a:spcBef>
            </a:pPr>
            <a:r>
              <a:rPr kumimoji="0" lang="zh-CN" altLang="en-US" sz="2800" b="1">
                <a:latin typeface="华文中宋" panose="02010600040101010101" pitchFamily="2" charset="-122"/>
              </a:rPr>
              <a:t>按此策略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kumimoji="0" lang="zh-CN" altLang="en-US" b="1">
                <a:latin typeface="华文中宋" panose="02010600040101010101" pitchFamily="2" charset="-122"/>
              </a:rPr>
              <a:t>当</a:t>
            </a:r>
            <a:r>
              <a:rPr kumimoji="0" lang="en-US" altLang="zh-CN" b="1">
                <a:latin typeface="华文中宋" panose="02010600040101010101" pitchFamily="2" charset="-122"/>
              </a:rPr>
              <a:t>n≤m</a:t>
            </a:r>
            <a:r>
              <a:rPr kumimoji="0" lang="zh-CN" altLang="en-US" b="1">
                <a:latin typeface="华文中宋" panose="02010600040101010101" pitchFamily="2" charset="-122"/>
              </a:rPr>
              <a:t>时，机器多，作业少，只要将机器</a:t>
            </a:r>
            <a:r>
              <a:rPr kumimoji="0" lang="en-US" altLang="zh-CN" b="1">
                <a:latin typeface="华文中宋" panose="02010600040101010101" pitchFamily="2" charset="-122"/>
              </a:rPr>
              <a:t>i</a:t>
            </a:r>
            <a:r>
              <a:rPr kumimoji="0" lang="zh-CN" altLang="en-US" b="1">
                <a:latin typeface="华文中宋" panose="02010600040101010101" pitchFamily="2" charset="-122"/>
              </a:rPr>
              <a:t>的</a:t>
            </a:r>
            <a:r>
              <a:rPr kumimoji="0" lang="en-US" altLang="zh-CN" b="1">
                <a:latin typeface="华文中宋" panose="02010600040101010101" pitchFamily="2" charset="-122"/>
              </a:rPr>
              <a:t>[0,t</a:t>
            </a:r>
            <a:r>
              <a:rPr kumimoji="0" lang="en-US" altLang="zh-CN" b="1" baseline="-25000">
                <a:latin typeface="华文中宋" panose="02010600040101010101" pitchFamily="2" charset="-122"/>
              </a:rPr>
              <a:t>i</a:t>
            </a:r>
            <a:r>
              <a:rPr kumimoji="0" lang="en-US" altLang="zh-CN" b="1">
                <a:latin typeface="华文中宋" panose="02010600040101010101" pitchFamily="2" charset="-122"/>
              </a:rPr>
              <a:t>]</a:t>
            </a:r>
            <a:r>
              <a:rPr kumimoji="0" lang="zh-CN" altLang="en-US" b="1">
                <a:latin typeface="华文中宋" panose="02010600040101010101" pitchFamily="2" charset="-122"/>
              </a:rPr>
              <a:t>时间区间分配给作业</a:t>
            </a:r>
            <a:r>
              <a:rPr kumimoji="0" lang="en-US" altLang="zh-CN" b="1">
                <a:latin typeface="华文中宋" panose="02010600040101010101" pitchFamily="2" charset="-122"/>
              </a:rPr>
              <a:t>i</a:t>
            </a:r>
            <a:r>
              <a:rPr kumimoji="0" lang="zh-CN" altLang="en-US" b="1">
                <a:latin typeface="华文中宋" panose="02010600040101010101" pitchFamily="2" charset="-122"/>
              </a:rPr>
              <a:t>即可。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kumimoji="0" lang="zh-CN" altLang="en-US" b="1"/>
              <a:t>当</a:t>
            </a:r>
            <a:r>
              <a:rPr kumimoji="0" lang="en-US" altLang="zh-CN" b="1"/>
              <a:t>n</a:t>
            </a:r>
            <a:r>
              <a:rPr kumimoji="0" lang="zh-CN" altLang="en-US" b="1"/>
              <a:t>＞</a:t>
            </a:r>
            <a:r>
              <a:rPr kumimoji="0" lang="en-US" altLang="zh-CN" b="1"/>
              <a:t>m</a:t>
            </a:r>
            <a:r>
              <a:rPr kumimoji="0" lang="zh-CN" altLang="en-US" b="1"/>
              <a:t>时，首先将</a:t>
            </a:r>
            <a:r>
              <a:rPr kumimoji="0" lang="en-US" altLang="zh-CN" b="1"/>
              <a:t>n</a:t>
            </a:r>
            <a:r>
              <a:rPr kumimoji="0" lang="zh-CN" altLang="en-US" b="1"/>
              <a:t>个作业依其所需的处理时间从大到小排序。然后依此顺序将作业分配给空闲的处理机。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361CDD83-1F5C-43EB-9629-0519892D3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lnSpc>
                <a:spcPct val="120000"/>
              </a:lnSpc>
            </a:pPr>
            <a:r>
              <a:rPr kumimoji="0" lang="zh-CN" altLang="en-US" b="1"/>
              <a:t>实例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1E424D2B-5A03-46C0-BCE8-2BA60F28C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2590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zh-CN" altLang="en-US" b="1">
                <a:solidFill>
                  <a:schemeClr val="accent2"/>
                </a:solidFill>
                <a:latin typeface="华文中宋" panose="02010600040101010101" pitchFamily="2" charset="-122"/>
              </a:rPr>
              <a:t>例：</a:t>
            </a:r>
            <a:r>
              <a:rPr lang="zh-CN" altLang="en-US" b="1">
                <a:latin typeface="华文中宋" panose="02010600040101010101" pitchFamily="2" charset="-122"/>
              </a:rPr>
              <a:t>设</a:t>
            </a:r>
            <a:r>
              <a:rPr lang="en-US" altLang="zh-CN" b="1">
                <a:latin typeface="华文中宋" panose="02010600040101010101" pitchFamily="2" charset="-122"/>
              </a:rPr>
              <a:t>7</a:t>
            </a:r>
            <a:r>
              <a:rPr lang="zh-CN" altLang="en-US" b="1">
                <a:latin typeface="华文中宋" panose="02010600040101010101" pitchFamily="2" charset="-122"/>
              </a:rPr>
              <a:t>个独立作业</a:t>
            </a:r>
            <a:r>
              <a:rPr lang="en-US" altLang="zh-CN" b="1">
                <a:latin typeface="华文中宋" panose="02010600040101010101" pitchFamily="2" charset="-122"/>
              </a:rPr>
              <a:t>{1,2,3,4,5,6,7}</a:t>
            </a:r>
            <a:r>
              <a:rPr lang="zh-CN" altLang="en-US" b="1">
                <a:latin typeface="华文中宋" panose="02010600040101010101" pitchFamily="2" charset="-122"/>
              </a:rPr>
              <a:t>由</a:t>
            </a:r>
            <a:r>
              <a:rPr lang="en-US" altLang="zh-CN" b="1">
                <a:latin typeface="华文中宋" panose="02010600040101010101" pitchFamily="2" charset="-122"/>
              </a:rPr>
              <a:t>3</a:t>
            </a:r>
            <a:r>
              <a:rPr lang="zh-CN" altLang="en-US" b="1">
                <a:latin typeface="华文中宋" panose="02010600040101010101" pitchFamily="2" charset="-122"/>
              </a:rPr>
              <a:t>台机器</a:t>
            </a:r>
            <a:r>
              <a:rPr lang="en-US" altLang="zh-CN" b="1">
                <a:latin typeface="华文中宋" panose="02010600040101010101" pitchFamily="2" charset="-122"/>
              </a:rPr>
              <a:t>M1</a:t>
            </a:r>
            <a:r>
              <a:rPr lang="zh-CN" altLang="en-US" b="1">
                <a:latin typeface="华文中宋" panose="02010600040101010101" pitchFamily="2" charset="-122"/>
              </a:rPr>
              <a:t>，</a:t>
            </a:r>
            <a:r>
              <a:rPr lang="en-US" altLang="zh-CN" b="1">
                <a:latin typeface="华文中宋" panose="02010600040101010101" pitchFamily="2" charset="-122"/>
              </a:rPr>
              <a:t>M2</a:t>
            </a:r>
            <a:r>
              <a:rPr lang="zh-CN" altLang="en-US" b="1">
                <a:latin typeface="华文中宋" panose="02010600040101010101" pitchFamily="2" charset="-122"/>
              </a:rPr>
              <a:t>和</a:t>
            </a:r>
            <a:r>
              <a:rPr lang="en-US" altLang="zh-CN" b="1">
                <a:latin typeface="华文中宋" panose="02010600040101010101" pitchFamily="2" charset="-122"/>
              </a:rPr>
              <a:t>M3</a:t>
            </a:r>
            <a:r>
              <a:rPr lang="zh-CN" altLang="en-US" b="1">
                <a:latin typeface="华文中宋" panose="02010600040101010101" pitchFamily="2" charset="-122"/>
              </a:rPr>
              <a:t>加工处理。各作业所需的处理时间分别为</a:t>
            </a:r>
            <a:r>
              <a:rPr lang="en-US" altLang="zh-CN" b="1">
                <a:latin typeface="华文中宋" panose="02010600040101010101" pitchFamily="2" charset="-122"/>
              </a:rPr>
              <a:t>{2,14,4,16,6,5,3}</a:t>
            </a:r>
            <a:r>
              <a:rPr lang="zh-CN" altLang="en-US" b="1">
                <a:latin typeface="华文中宋" panose="02010600040101010101" pitchFamily="2" charset="-122"/>
              </a:rPr>
              <a:t>。按</a:t>
            </a:r>
            <a:r>
              <a:rPr lang="zh-CN" altLang="en-US" b="1">
                <a:solidFill>
                  <a:srgbClr val="FF0000"/>
                </a:solidFill>
              </a:rPr>
              <a:t>贪心选择策略</a:t>
            </a:r>
            <a:r>
              <a:rPr lang="zh-CN" altLang="en-US" b="1">
                <a:latin typeface="华文中宋" panose="02010600040101010101" pitchFamily="2" charset="-122"/>
              </a:rPr>
              <a:t>产生的作业调度如下图所示，所需的加工时间为</a:t>
            </a:r>
            <a:r>
              <a:rPr lang="en-US" altLang="zh-CN" b="1">
                <a:latin typeface="华文中宋" panose="02010600040101010101" pitchFamily="2" charset="-122"/>
              </a:rPr>
              <a:t>17</a:t>
            </a:r>
            <a:r>
              <a:rPr lang="zh-CN" altLang="en-US" b="1">
                <a:latin typeface="华文中宋" panose="02010600040101010101" pitchFamily="2" charset="-122"/>
              </a:rPr>
              <a:t>。</a:t>
            </a:r>
          </a:p>
        </p:txBody>
      </p:sp>
      <p:pic>
        <p:nvPicPr>
          <p:cNvPr id="91140" name="Picture 4" descr="t411">
            <a:extLst>
              <a:ext uri="{FF2B5EF4-FFF2-40B4-BE49-F238E27FC236}">
                <a16:creationId xmlns:a16="http://schemas.microsoft.com/office/drawing/2014/main" id="{2302996B-89CE-4268-9168-7F4341105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176713"/>
            <a:ext cx="5111750" cy="223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1" name="AutoShape 5">
            <a:extLst>
              <a:ext uri="{FF2B5EF4-FFF2-40B4-BE49-F238E27FC236}">
                <a16:creationId xmlns:a16="http://schemas.microsoft.com/office/drawing/2014/main" id="{F2605CDF-8830-4831-9107-CE00B4C2FFB4}"/>
              </a:ext>
            </a:extLst>
          </p:cNvPr>
          <p:cNvSpPr>
            <a:spLocks/>
          </p:cNvSpPr>
          <p:nvPr/>
        </p:nvSpPr>
        <p:spPr bwMode="auto">
          <a:xfrm rot="5400000">
            <a:off x="4381500" y="2416175"/>
            <a:ext cx="152400" cy="3581400"/>
          </a:xfrm>
          <a:prstGeom prst="leftBrace">
            <a:avLst>
              <a:gd name="adj1" fmla="val 19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91142" name="Text Box 6">
            <a:extLst>
              <a:ext uri="{FF2B5EF4-FFF2-40B4-BE49-F238E27FC236}">
                <a16:creationId xmlns:a16="http://schemas.microsoft.com/office/drawing/2014/main" id="{10D2FE2D-5136-418B-B85E-CF1C39966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810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FF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16</a:t>
            </a:r>
          </a:p>
        </p:txBody>
      </p:sp>
      <p:sp>
        <p:nvSpPr>
          <p:cNvPr id="91143" name="AutoShape 7">
            <a:extLst>
              <a:ext uri="{FF2B5EF4-FFF2-40B4-BE49-F238E27FC236}">
                <a16:creationId xmlns:a16="http://schemas.microsoft.com/office/drawing/2014/main" id="{65C6BE8D-0EC0-42B8-992B-D7CC858C2B87}"/>
              </a:ext>
            </a:extLst>
          </p:cNvPr>
          <p:cNvSpPr>
            <a:spLocks/>
          </p:cNvSpPr>
          <p:nvPr/>
        </p:nvSpPr>
        <p:spPr bwMode="auto">
          <a:xfrm rot="5400000">
            <a:off x="4191000" y="3140075"/>
            <a:ext cx="152400" cy="3200400"/>
          </a:xfrm>
          <a:prstGeom prst="leftBrace">
            <a:avLst>
              <a:gd name="adj1" fmla="val 1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91144" name="Text Box 8">
            <a:extLst>
              <a:ext uri="{FF2B5EF4-FFF2-40B4-BE49-F238E27FC236}">
                <a16:creationId xmlns:a16="http://schemas.microsoft.com/office/drawing/2014/main" id="{32932571-A0D6-4F8A-AD38-3ABA79EE4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35927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FF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14</a:t>
            </a:r>
          </a:p>
        </p:txBody>
      </p:sp>
      <p:sp>
        <p:nvSpPr>
          <p:cNvPr id="91145" name="Text Box 9">
            <a:extLst>
              <a:ext uri="{FF2B5EF4-FFF2-40B4-BE49-F238E27FC236}">
                <a16:creationId xmlns:a16="http://schemas.microsoft.com/office/drawing/2014/main" id="{1E92CC82-EE3D-4060-B125-800E3E002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343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FF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</a:p>
        </p:txBody>
      </p:sp>
      <p:sp>
        <p:nvSpPr>
          <p:cNvPr id="91146" name="AutoShape 10">
            <a:extLst>
              <a:ext uri="{FF2B5EF4-FFF2-40B4-BE49-F238E27FC236}">
                <a16:creationId xmlns:a16="http://schemas.microsoft.com/office/drawing/2014/main" id="{2E9A53BD-73DA-4DAC-85B4-3A8603E4C8F7}"/>
              </a:ext>
            </a:extLst>
          </p:cNvPr>
          <p:cNvSpPr>
            <a:spLocks/>
          </p:cNvSpPr>
          <p:nvPr/>
        </p:nvSpPr>
        <p:spPr bwMode="auto">
          <a:xfrm rot="5400000">
            <a:off x="6400800" y="4511675"/>
            <a:ext cx="76200" cy="381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7DDD7EB-6D30-9685-2C52-5FE67632554B}"/>
                  </a:ext>
                </a:extLst>
              </p14:cNvPr>
              <p14:cNvContentPartPr/>
              <p14:nvPr/>
            </p14:nvContentPartPr>
            <p14:xfrm>
              <a:off x="3769920" y="1641240"/>
              <a:ext cx="4337280" cy="40881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7DDD7EB-6D30-9685-2C52-5FE6763255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0560" y="1631880"/>
                <a:ext cx="4356000" cy="4106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744D77D8-0496-4724-A289-2D2725B30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复杂性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197CBE1-3DDF-49ED-A7E5-1FC6B996D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按此策略，</a:t>
            </a:r>
            <a:r>
              <a:rPr kumimoji="0" lang="zh-CN" altLang="en-US" sz="2800" b="1">
                <a:latin typeface="华文中宋" panose="02010600040101010101" pitchFamily="2" charset="-122"/>
              </a:rPr>
              <a:t>当</a:t>
            </a:r>
            <a:r>
              <a:rPr kumimoji="0" lang="en-US" altLang="zh-CN" sz="2800" b="1">
                <a:latin typeface="华文中宋" panose="02010600040101010101" pitchFamily="2" charset="-122"/>
              </a:rPr>
              <a:t>n≤m</a:t>
            </a:r>
            <a:r>
              <a:rPr kumimoji="0" lang="zh-CN" altLang="en-US" sz="2800" b="1">
                <a:latin typeface="华文中宋" panose="02010600040101010101" pitchFamily="2" charset="-122"/>
              </a:rPr>
              <a:t>时</a:t>
            </a:r>
            <a:r>
              <a:rPr lang="zh-CN" altLang="en-US" sz="2800" b="1">
                <a:latin typeface="华文中宋" panose="02010600040101010101" pitchFamily="2" charset="-122"/>
              </a:rPr>
              <a:t>，将机器</a:t>
            </a:r>
            <a:r>
              <a:rPr lang="en-US" altLang="zh-CN" sz="2800" b="1"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latin typeface="华文中宋" panose="02010600040101010101" pitchFamily="2" charset="-122"/>
              </a:rPr>
              <a:t>的</a:t>
            </a:r>
            <a:r>
              <a:rPr lang="en-US" altLang="zh-CN" sz="2800" b="1">
                <a:latin typeface="华文中宋" panose="02010600040101010101" pitchFamily="2" charset="-122"/>
              </a:rPr>
              <a:t>[0, ti]</a:t>
            </a:r>
            <a:r>
              <a:rPr lang="zh-CN" altLang="en-US" sz="2800" b="1">
                <a:latin typeface="华文中宋" panose="02010600040101010101" pitchFamily="2" charset="-122"/>
              </a:rPr>
              <a:t>时间区间分配给作业</a:t>
            </a:r>
            <a:r>
              <a:rPr lang="en-US" altLang="zh-CN" sz="2800" b="1">
                <a:latin typeface="华文中宋" panose="02010600040101010101" pitchFamily="2" charset="-122"/>
              </a:rPr>
              <a:t>i</a:t>
            </a:r>
            <a:r>
              <a:rPr lang="zh-CN" altLang="en-US" sz="2800" b="1">
                <a:latin typeface="华文中宋" panose="02010600040101010101" pitchFamily="2" charset="-122"/>
              </a:rPr>
              <a:t>即可，算法只需要</a:t>
            </a:r>
            <a:r>
              <a:rPr lang="en-US" altLang="zh-CN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O(1)</a:t>
            </a:r>
            <a:r>
              <a:rPr lang="zh-CN" altLang="en-US" sz="2800" b="1">
                <a:latin typeface="华文中宋" panose="02010600040101010101" pitchFamily="2" charset="-122"/>
              </a:rPr>
              <a:t>时间。</a:t>
            </a:r>
          </a:p>
          <a:p>
            <a:pPr eaLnBrk="1" hangingPunct="1"/>
            <a:r>
              <a:rPr kumimoji="0" lang="zh-CN" altLang="en-US" sz="2800" b="1">
                <a:latin typeface="华文中宋" panose="02010600040101010101" pitchFamily="2" charset="-122"/>
              </a:rPr>
              <a:t>当</a:t>
            </a:r>
            <a:r>
              <a:rPr kumimoji="0" lang="en-US" altLang="zh-CN" sz="2800" b="1">
                <a:latin typeface="华文中宋" panose="02010600040101010101" pitchFamily="2" charset="-122"/>
              </a:rPr>
              <a:t>n&gt;m</a:t>
            </a:r>
            <a:r>
              <a:rPr kumimoji="0" lang="zh-CN" altLang="en-US" sz="2800" b="1">
                <a:latin typeface="华文中宋" panose="02010600040101010101" pitchFamily="2" charset="-122"/>
              </a:rPr>
              <a:t>时</a:t>
            </a:r>
            <a:r>
              <a:rPr lang="zh-CN" altLang="en-US" sz="2800" b="1">
                <a:latin typeface="华文中宋" panose="02010600040101010101" pitchFamily="2" charset="-122"/>
              </a:rPr>
              <a:t>，首先将</a:t>
            </a:r>
            <a:r>
              <a:rPr lang="en-US" altLang="zh-CN" sz="2800" b="1">
                <a:latin typeface="华文中宋" panose="02010600040101010101" pitchFamily="2" charset="-122"/>
              </a:rPr>
              <a:t>n</a:t>
            </a:r>
            <a:r>
              <a:rPr lang="zh-CN" altLang="en-US" sz="2800" b="1">
                <a:latin typeface="华文中宋" panose="02010600040101010101" pitchFamily="2" charset="-122"/>
              </a:rPr>
              <a:t>个作业依其所需的处理时间从大到小排序，需计算时间为</a:t>
            </a:r>
            <a:r>
              <a:rPr lang="en-US" altLang="zh-CN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O(nlog n)</a:t>
            </a:r>
            <a:r>
              <a:rPr lang="en-US" altLang="zh-CN" sz="2800" b="1">
                <a:latin typeface="华文中宋" panose="02010600040101010101" pitchFamily="2" charset="-122"/>
              </a:rPr>
              <a:t> </a:t>
            </a:r>
            <a:r>
              <a:rPr lang="zh-CN" altLang="en-US" sz="2800" b="1">
                <a:latin typeface="华文中宋" panose="02010600040101010101" pitchFamily="2" charset="-122"/>
              </a:rPr>
              <a:t>。然后依此顺序将作业分配给空闲的处理机。算法所需的计算时间为</a:t>
            </a:r>
            <a:r>
              <a:rPr lang="en-US" altLang="zh-CN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O(nlog n)</a:t>
            </a:r>
            <a:r>
              <a:rPr lang="zh-CN" altLang="en-US" sz="2800" b="1">
                <a:latin typeface="华文中宋" panose="02010600040101010101" pitchFamily="2" charset="-122"/>
              </a:rPr>
              <a:t>。</a:t>
            </a:r>
          </a:p>
          <a:p>
            <a:pPr eaLnBrk="1" hangingPunct="1"/>
            <a:r>
              <a:rPr lang="zh-CN" altLang="en-US" sz="2800" b="1">
                <a:latin typeface="华文中宋" panose="02010600040101010101" pitchFamily="2" charset="-122"/>
              </a:rPr>
              <a:t>如采用建堆运算及堆的操作</a:t>
            </a:r>
            <a:r>
              <a:rPr lang="en-US" altLang="zh-CN" sz="2800" b="1">
                <a:latin typeface="华文中宋" panose="02010600040101010101" pitchFamily="2" charset="-122"/>
              </a:rPr>
              <a:t>DeleteMin</a:t>
            </a:r>
            <a:r>
              <a:rPr lang="zh-CN" altLang="en-US" sz="2800" b="1">
                <a:latin typeface="华文中宋" panose="02010600040101010101" pitchFamily="2" charset="-122"/>
              </a:rPr>
              <a:t>和</a:t>
            </a:r>
            <a:r>
              <a:rPr lang="en-US" altLang="zh-CN" sz="2800" b="1">
                <a:latin typeface="华文中宋" panose="02010600040101010101" pitchFamily="2" charset="-122"/>
              </a:rPr>
              <a:t>Insert</a:t>
            </a:r>
            <a:r>
              <a:rPr lang="zh-CN" altLang="en-US" sz="2800" b="1">
                <a:latin typeface="华文中宋" panose="02010600040101010101" pitchFamily="2" charset="-122"/>
              </a:rPr>
              <a:t>，本工作需时间</a:t>
            </a:r>
            <a:r>
              <a:rPr lang="en-US" altLang="zh-CN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O(nlog m)</a:t>
            </a:r>
            <a:r>
              <a:rPr lang="zh-CN" altLang="en-US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。</a:t>
            </a:r>
            <a:r>
              <a:rPr lang="zh-CN" altLang="en-US" sz="2800" b="1">
                <a:latin typeface="华文中宋" panose="02010600040101010101" pitchFamily="2" charset="-122"/>
              </a:rPr>
              <a:t>总耗时仍为</a:t>
            </a:r>
            <a:r>
              <a:rPr lang="en-US" altLang="zh-CN" sz="2800" b="1">
                <a:solidFill>
                  <a:schemeClr val="accent2"/>
                </a:solidFill>
                <a:latin typeface="华文中宋" panose="02010600040101010101" pitchFamily="2" charset="-122"/>
              </a:rPr>
              <a:t>O(nlog n)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>
            <a:extLst>
              <a:ext uri="{FF2B5EF4-FFF2-40B4-BE49-F238E27FC236}">
                <a16:creationId xmlns:a16="http://schemas.microsoft.com/office/drawing/2014/main" id="{339EB1B9-F6B8-48F9-9E35-7EF7852A338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428625"/>
            <a:ext cx="8229600" cy="9890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4000" b="1" dirty="0">
                <a:solidFill>
                  <a:srgbClr val="AC2F36"/>
                </a:solidFill>
              </a:rPr>
              <a:t>补充：一个有用的不等式</a:t>
            </a:r>
          </a:p>
        </p:txBody>
      </p:sp>
      <p:sp>
        <p:nvSpPr>
          <p:cNvPr id="101379" name="内容占位符 2">
            <a:extLst>
              <a:ext uri="{FF2B5EF4-FFF2-40B4-BE49-F238E27FC236}">
                <a16:creationId xmlns:a16="http://schemas.microsoft.com/office/drawing/2014/main" id="{404AF030-1550-4BB6-B738-15F263B13D2A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85750" y="1285875"/>
            <a:ext cx="8501063" cy="4697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排序不等式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r>
              <a:rPr lang="zh-CN" altLang="en-US" sz="2800" b="1" dirty="0"/>
              <a:t>设有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个非负数构成的两个数组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 a</a:t>
            </a:r>
            <a:r>
              <a:rPr lang="en-US" altLang="zh-CN" sz="2800" b="1" baseline="-25000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… a</a:t>
            </a:r>
            <a:r>
              <a:rPr lang="en-US" altLang="zh-CN" sz="2800" b="1" baseline="-25000" dirty="0"/>
              <a:t>n</a:t>
            </a:r>
            <a:r>
              <a:rPr lang="zh-CN" altLang="en-US" sz="2800" b="1" dirty="0"/>
              <a:t>与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 b</a:t>
            </a:r>
            <a:r>
              <a:rPr lang="en-US" altLang="zh-CN" sz="2800" b="1" baseline="-25000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… b</a:t>
            </a:r>
            <a:r>
              <a:rPr lang="en-US" altLang="zh-CN" sz="2800" b="1" baseline="-25000" dirty="0"/>
              <a:t>n </a:t>
            </a:r>
            <a:r>
              <a:rPr lang="zh-CN" altLang="en-US" sz="2800" b="1" dirty="0"/>
              <a:t>。设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1</a:t>
            </a:r>
            <a:r>
              <a:rPr lang="zh-CN" altLang="en-US" sz="2800" b="1" dirty="0">
                <a:sym typeface="Symbol" panose="05050102010706020507" pitchFamily="18" charset="2"/>
              </a:rPr>
              <a:t>  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2</a:t>
            </a:r>
            <a:r>
              <a:rPr lang="zh-CN" altLang="en-US" sz="2800" b="1" dirty="0">
                <a:sym typeface="Symbol" panose="05050102010706020507" pitchFamily="18" charset="2"/>
              </a:rPr>
              <a:t>  </a:t>
            </a:r>
            <a:r>
              <a:rPr lang="en-US" altLang="zh-CN" sz="2800" b="1" dirty="0"/>
              <a:t>…</a:t>
            </a:r>
            <a:r>
              <a:rPr lang="zh-CN" altLang="en-US" sz="2800" b="1" dirty="0">
                <a:sym typeface="Symbol" panose="05050102010706020507" pitchFamily="18" charset="2"/>
              </a:rPr>
              <a:t> 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n</a:t>
            </a:r>
            <a:r>
              <a:rPr lang="zh-CN" altLang="en-US" sz="2800" b="1" dirty="0"/>
              <a:t>与  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1</a:t>
            </a:r>
            <a:r>
              <a:rPr lang="zh-CN" altLang="en-US" sz="2800" b="1" dirty="0">
                <a:sym typeface="Symbol" panose="05050102010706020507" pitchFamily="18" charset="2"/>
              </a:rPr>
              <a:t> 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2</a:t>
            </a:r>
            <a:r>
              <a:rPr lang="zh-CN" altLang="en-US" sz="2800" b="1" dirty="0">
                <a:sym typeface="Symbol" panose="05050102010706020507" pitchFamily="18" charset="2"/>
              </a:rPr>
              <a:t>  </a:t>
            </a:r>
            <a:r>
              <a:rPr lang="en-US" altLang="zh-CN" sz="2800" b="1" dirty="0"/>
              <a:t>…</a:t>
            </a:r>
            <a:r>
              <a:rPr lang="zh-CN" altLang="en-US" sz="2800" b="1" dirty="0">
                <a:sym typeface="Symbol" panose="05050102010706020507" pitchFamily="18" charset="2"/>
              </a:rPr>
              <a:t> 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n </a:t>
            </a:r>
            <a:r>
              <a:rPr lang="zh-CN" altLang="en-US" sz="2800" b="1" dirty="0"/>
              <a:t>。如果</a:t>
            </a:r>
            <a:r>
              <a:rPr lang="en-US" altLang="zh-CN" sz="2800" b="1" dirty="0"/>
              <a:t>i</a:t>
            </a:r>
            <a:r>
              <a:rPr lang="en-US" altLang="zh-CN" sz="2800" b="1" baseline="-25000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 i</a:t>
            </a:r>
            <a:r>
              <a:rPr lang="en-US" altLang="zh-CN" sz="2800" b="1" baseline="-25000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… i</a:t>
            </a:r>
            <a:r>
              <a:rPr lang="en-US" altLang="zh-CN" sz="2800" b="1" baseline="-25000" dirty="0"/>
              <a:t>n</a:t>
            </a:r>
            <a:r>
              <a:rPr lang="zh-CN" altLang="en-US" sz="2800" b="1" dirty="0"/>
              <a:t>是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…n</a:t>
            </a:r>
            <a:r>
              <a:rPr lang="zh-CN" altLang="en-US" sz="2800" b="1" dirty="0"/>
              <a:t>的一个排列，那么</a:t>
            </a:r>
            <a:endParaRPr lang="en-US" altLang="zh-CN" sz="2800" b="1" dirty="0"/>
          </a:p>
          <a:p>
            <a:pPr>
              <a:buFontTx/>
              <a:buNone/>
            </a:pPr>
            <a:r>
              <a:rPr lang="en-US" altLang="zh-CN" sz="2800" b="1" dirty="0"/>
              <a:t>        a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n</a:t>
            </a:r>
            <a:r>
              <a:rPr lang="en-US" altLang="zh-CN" sz="2800" b="1" dirty="0">
                <a:sym typeface="Symbol" panose="05050102010706020507" pitchFamily="18" charset="2"/>
              </a:rPr>
              <a:t>+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n-1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+…+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n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1</a:t>
            </a:r>
          </a:p>
          <a:p>
            <a:pPr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   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i</a:t>
            </a:r>
            <a:r>
              <a:rPr lang="en-US" altLang="zh-CN" sz="2800" b="1" baseline="-40000" dirty="0"/>
              <a:t>1</a:t>
            </a:r>
            <a:r>
              <a:rPr lang="en-US" altLang="zh-CN" sz="2800" b="1" dirty="0">
                <a:sym typeface="Symbol" panose="05050102010706020507" pitchFamily="18" charset="2"/>
              </a:rPr>
              <a:t>+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i</a:t>
            </a:r>
            <a:r>
              <a:rPr lang="en-US" altLang="zh-CN" sz="2800" b="1" baseline="-40000" dirty="0"/>
              <a:t>2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+…+</a:t>
            </a:r>
            <a:r>
              <a:rPr lang="en-US" altLang="zh-CN" sz="2800" b="1" dirty="0" err="1"/>
              <a:t>a</a:t>
            </a:r>
            <a:r>
              <a:rPr lang="en-US" altLang="zh-CN" sz="2800" b="1" baseline="-25000" dirty="0" err="1"/>
              <a:t>n</a:t>
            </a:r>
            <a:r>
              <a:rPr lang="en-US" altLang="zh-CN" sz="2800" b="1" dirty="0" err="1"/>
              <a:t>b</a:t>
            </a:r>
            <a:r>
              <a:rPr lang="en-US" altLang="zh-CN" sz="2800" b="1" baseline="-25000" dirty="0" err="1"/>
              <a:t>i</a:t>
            </a:r>
            <a:r>
              <a:rPr lang="en-US" altLang="zh-CN" sz="2800" b="1" baseline="-40000" dirty="0" err="1"/>
              <a:t>n</a:t>
            </a:r>
            <a:endParaRPr lang="en-US" altLang="zh-CN" sz="2800" b="1" baseline="-25000" dirty="0"/>
          </a:p>
          <a:p>
            <a:pPr>
              <a:buFontTx/>
              <a:buNone/>
            </a:pPr>
            <a:r>
              <a:rPr lang="zh-CN" altLang="en-US" sz="2800" b="1" dirty="0">
                <a:sym typeface="Symbol" panose="05050102010706020507" pitchFamily="18" charset="2"/>
              </a:rPr>
              <a:t>      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1</a:t>
            </a:r>
            <a:r>
              <a:rPr lang="en-US" altLang="zh-CN" sz="2800" b="1" dirty="0">
                <a:sym typeface="Symbol" panose="05050102010706020507" pitchFamily="18" charset="2"/>
              </a:rPr>
              <a:t>+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2</a:t>
            </a:r>
            <a:r>
              <a:rPr lang="zh-CN" altLang="en-US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+…+</a:t>
            </a:r>
            <a:r>
              <a:rPr lang="en-US" altLang="zh-CN" sz="2800" b="1" dirty="0" err="1"/>
              <a:t>a</a:t>
            </a:r>
            <a:r>
              <a:rPr lang="en-US" altLang="zh-CN" sz="2800" b="1" baseline="-25000" dirty="0" err="1"/>
              <a:t>n</a:t>
            </a:r>
            <a:r>
              <a:rPr lang="en-US" altLang="zh-CN" sz="2800" b="1" dirty="0" err="1"/>
              <a:t>b</a:t>
            </a:r>
            <a:r>
              <a:rPr lang="en-US" altLang="zh-CN" sz="2800" b="1" baseline="-25000" dirty="0" err="1"/>
              <a:t>n</a:t>
            </a:r>
            <a:endParaRPr lang="en-US" altLang="zh-CN" sz="2800" b="1" baseline="-25000" dirty="0"/>
          </a:p>
          <a:p>
            <a:endParaRPr lang="zh-CN" altLang="en-US" sz="2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bkgd">
  <a:themeElements>
    <a:clrScheme name="cloudbkgd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oudbkgd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cloudbkgd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oudbkgd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Settings\Administrator\Application Data\Microsoft\Templates\cloudbkgd.pot</Template>
  <TotalTime>4447</TotalTime>
  <Words>5583</Words>
  <Application>Microsoft Office PowerPoint</Application>
  <PresentationFormat>全屏显示(4:3)</PresentationFormat>
  <Paragraphs>559</Paragraphs>
  <Slides>78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90" baseType="lpstr">
      <vt:lpstr>等线</vt:lpstr>
      <vt:lpstr>黑体</vt:lpstr>
      <vt:lpstr>华文中宋</vt:lpstr>
      <vt:lpstr>Courier New</vt:lpstr>
      <vt:lpstr>Input</vt:lpstr>
      <vt:lpstr>Palatino Linotype</vt:lpstr>
      <vt:lpstr>Symbol</vt:lpstr>
      <vt:lpstr>Times New Roman</vt:lpstr>
      <vt:lpstr>Wingdings</vt:lpstr>
      <vt:lpstr>cloudbkgd</vt:lpstr>
      <vt:lpstr>Equation</vt:lpstr>
      <vt:lpstr>公式</vt:lpstr>
      <vt:lpstr>PowerPoint 演示文稿</vt:lpstr>
      <vt:lpstr>本章主要知识点</vt:lpstr>
      <vt:lpstr>学习要点</vt:lpstr>
      <vt:lpstr>引言</vt:lpstr>
      <vt:lpstr>贪心策略</vt:lpstr>
      <vt:lpstr>4.1 活动安排问题</vt:lpstr>
      <vt:lpstr>问题描述</vt:lpstr>
      <vt:lpstr>1、求解策略</vt:lpstr>
      <vt:lpstr>2、贪心算法GreedySelector</vt:lpstr>
      <vt:lpstr>3、复杂性</vt:lpstr>
      <vt:lpstr>活动安排问题求解启示</vt:lpstr>
      <vt:lpstr>4、举例</vt:lpstr>
      <vt:lpstr>活动安排问题贪心算法小结及正确性证明</vt:lpstr>
      <vt:lpstr>4.2 贪心算法的基本要素</vt:lpstr>
      <vt:lpstr>1、贪心算法的基本要素</vt:lpstr>
      <vt:lpstr>2、贪心选择性质与最优子结构性质</vt:lpstr>
      <vt:lpstr>问题具有贪心选择性质的证明方法 </vt:lpstr>
      <vt:lpstr>3、贪心算法与动态规划算法的差异</vt:lpstr>
      <vt:lpstr>4、贪心算法与动态规划算法的差异</vt:lpstr>
      <vt:lpstr>5、举例—0-1背包问题</vt:lpstr>
      <vt:lpstr>6、举例—一般背包问题</vt:lpstr>
      <vt:lpstr>一般背包问题的贪心算法求解</vt:lpstr>
      <vt:lpstr>0-1背包问题不能用贪心选择</vt:lpstr>
      <vt:lpstr>7、实例</vt:lpstr>
      <vt:lpstr>一般背包问题的选择策略</vt:lpstr>
      <vt:lpstr>一般背包问题的贪心算法复杂性</vt:lpstr>
      <vt:lpstr>4.3 最优装载</vt:lpstr>
      <vt:lpstr>1、最优装载问题描述</vt:lpstr>
      <vt:lpstr>2、算法描述</vt:lpstr>
      <vt:lpstr>3、策略</vt:lpstr>
      <vt:lpstr>4、两个性质需证明</vt:lpstr>
      <vt:lpstr>5、最优算法</vt:lpstr>
      <vt:lpstr>6、复杂性</vt:lpstr>
      <vt:lpstr>4.4 哈夫曼编码</vt:lpstr>
      <vt:lpstr>问    题</vt:lpstr>
      <vt:lpstr>1、哈夫曼编码</vt:lpstr>
      <vt:lpstr>编码方法</vt:lpstr>
      <vt:lpstr>最优前缀码、平均码长</vt:lpstr>
      <vt:lpstr>2、构造哈夫曼编码</vt:lpstr>
      <vt:lpstr>3、哈夫曼树-算法实现HuffmanTree</vt:lpstr>
      <vt:lpstr>举例</vt:lpstr>
      <vt:lpstr>PowerPoint 演示文稿</vt:lpstr>
      <vt:lpstr>4、哈夫曼树的实现方式与复杂性</vt:lpstr>
      <vt:lpstr>5、哈夫曼算法的正确性</vt:lpstr>
      <vt:lpstr>上机实验题4</vt:lpstr>
      <vt:lpstr>4.5 单源最短路径</vt:lpstr>
      <vt:lpstr>单源最短路径问题描述</vt:lpstr>
      <vt:lpstr>1.算法基本思想</vt:lpstr>
      <vt:lpstr>算法举例</vt:lpstr>
      <vt:lpstr>Dijkstra算法的迭代过程</vt:lpstr>
      <vt:lpstr>练习</vt:lpstr>
      <vt:lpstr>2.算法过程</vt:lpstr>
      <vt:lpstr>3.算法的正确性</vt:lpstr>
      <vt:lpstr>4.计算复杂性</vt:lpstr>
      <vt:lpstr>4.6 最小生成树</vt:lpstr>
      <vt:lpstr>概  念</vt:lpstr>
      <vt:lpstr>Prim算法</vt:lpstr>
      <vt:lpstr>1.求最小生成树的Prim算法的基本思想</vt:lpstr>
      <vt:lpstr>2. Prim算法过程</vt:lpstr>
      <vt:lpstr>3.最小生成树性质-- MST性质</vt:lpstr>
      <vt:lpstr>贪心选择举例</vt:lpstr>
      <vt:lpstr>4.Prim算法的应用</vt:lpstr>
      <vt:lpstr> 5.程序实现与复杂性</vt:lpstr>
      <vt:lpstr>Kruskal算法</vt:lpstr>
      <vt:lpstr>1.Kruskal算法基本思想</vt:lpstr>
      <vt:lpstr>2.实  例</vt:lpstr>
      <vt:lpstr>求解过程</vt:lpstr>
      <vt:lpstr>3. Kruskal算法</vt:lpstr>
      <vt:lpstr>练习：用kruskal算法求G的最小生成树</vt:lpstr>
      <vt:lpstr>4. Kruskal算法的实现</vt:lpstr>
      <vt:lpstr>5. Prim算法与Kruskal算法的优劣</vt:lpstr>
      <vt:lpstr>4.7 多机调度问题</vt:lpstr>
      <vt:lpstr>1. 多机调度问题描述</vt:lpstr>
      <vt:lpstr>多机调度问题是NP完全问题</vt:lpstr>
      <vt:lpstr>贪心选择策略</vt:lpstr>
      <vt:lpstr>实例</vt:lpstr>
      <vt:lpstr>复杂性</vt:lpstr>
      <vt:lpstr>补充：一个有用的不等式</vt:lpstr>
    </vt:vector>
  </TitlesOfParts>
  <Company>shu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动态规划 </dc:title>
  <dc:creator>csshu</dc:creator>
  <cp:lastModifiedBy>Jiangtao LI</cp:lastModifiedBy>
  <cp:revision>252</cp:revision>
  <dcterms:created xsi:type="dcterms:W3CDTF">2003-11-20T14:35:38Z</dcterms:created>
  <dcterms:modified xsi:type="dcterms:W3CDTF">2023-11-05T02:35:33Z</dcterms:modified>
</cp:coreProperties>
</file>