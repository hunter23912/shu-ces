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56" r:id="rId2"/>
    <p:sldId id="278" r:id="rId3"/>
    <p:sldId id="281" r:id="rId4"/>
    <p:sldId id="284" r:id="rId5"/>
    <p:sldId id="285" r:id="rId6"/>
    <p:sldId id="286" r:id="rId7"/>
    <p:sldId id="287" r:id="rId8"/>
    <p:sldId id="288" r:id="rId9"/>
    <p:sldId id="273" r:id="rId10"/>
    <p:sldId id="289" r:id="rId11"/>
    <p:sldId id="275" r:id="rId12"/>
    <p:sldId id="277" r:id="rId13"/>
    <p:sldId id="258" r:id="rId14"/>
    <p:sldId id="279" r:id="rId15"/>
    <p:sldId id="290" r:id="rId16"/>
    <p:sldId id="266" r:id="rId17"/>
    <p:sldId id="293" r:id="rId18"/>
    <p:sldId id="269" r:id="rId19"/>
    <p:sldId id="270" r:id="rId20"/>
    <p:sldId id="271" r:id="rId21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C2F36"/>
    <a:srgbClr val="0000FF"/>
    <a:srgbClr val="808080"/>
    <a:srgbClr val="FF99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934" autoAdjust="0"/>
    <p:restoredTop sz="86420" autoAdjust="0"/>
  </p:normalViewPr>
  <p:slideViewPr>
    <p:cSldViewPr>
      <p:cViewPr varScale="1">
        <p:scale>
          <a:sx n="95" d="100"/>
          <a:sy n="95" d="100"/>
        </p:scale>
        <p:origin x="1656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7806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71" d="100"/>
          <a:sy n="71" d="100"/>
        </p:scale>
        <p:origin x="2523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82758E9E-98C4-46CC-A23D-C3DC5FD3EC8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Palatino Linotype" panose="02040502050505030304" pitchFamily="18" charset="0"/>
                <a:ea typeface="华文中宋" panose="0201060004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E2A37BAA-75EA-4947-91C8-7ADCECA0810B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Palatino Linotype" panose="02040502050505030304" pitchFamily="18" charset="0"/>
                <a:ea typeface="华文中宋" panose="0201060004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3A439E4F-BFF2-4356-B098-B2F06DD3F011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Palatino Linotype" panose="02040502050505030304" pitchFamily="18" charset="0"/>
                <a:ea typeface="华文中宋" panose="0201060004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BE9305EB-A35F-4CF9-9221-7018BDE3D931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Palatino Linotype" panose="02040502050505030304" pitchFamily="18" charset="0"/>
                <a:ea typeface="华文中宋" panose="02010600040101010101" pitchFamily="2" charset="-122"/>
              </a:defRPr>
            </a:lvl1pPr>
          </a:lstStyle>
          <a:p>
            <a:pPr>
              <a:defRPr/>
            </a:pPr>
            <a:fld id="{E37592AC-8B1F-4742-9DDD-C379104FA3D6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8-24T12:26:02.1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88 9215 0 0,'-37'-79'1416'0'0,"36"77"-1308"0"0,1 2-142 0 0,25-7-101 0 0,4 7-660 0 0,-16 3-2725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8-24T12:26:02.7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38 7367 0 0,'-7'-18'320'0'0,"2"8"80"0"0,1 0-320 0 0,4 10-80 0 0,0 0 0 0 0,0 0 0 0 0,0 0-80 0 0,0 0-32 0 0,0 0-8 0 0,0 0-1992 0 0,0 0-392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8-24T12:26:03.3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73 11519 0 0,'-23'-54'1224'0'0,"3"36"-1322"0"0,19 17 44 0 0,1 1-16 0 0,0 0-21 0 0,0 0-41 0 0,10 9-696 0 0,-8-7 365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8-24T12:26:03.5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26 10367 0 0,'-13'-9'456'0'0,"4"4"96"0"0,-4-1-440 0 0,3 3-112 0 0,-1 0 0 0 0,4 3 0 0 0,7 0-168 0 0,0 0-56 0 0,0 0-16 0 0,0 0-2688 0 0,0 0-536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1026">
            <a:extLst>
              <a:ext uri="{FF2B5EF4-FFF2-40B4-BE49-F238E27FC236}">
                <a16:creationId xmlns:a16="http://schemas.microsoft.com/office/drawing/2014/main" id="{077A60FF-9437-4E1B-BADC-9D6A2981A98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Palatino Linotype" panose="02040502050505030304" pitchFamily="18" charset="0"/>
                <a:ea typeface="华文中宋" panose="0201060004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8675" name="Rectangle 1027">
            <a:extLst>
              <a:ext uri="{FF2B5EF4-FFF2-40B4-BE49-F238E27FC236}">
                <a16:creationId xmlns:a16="http://schemas.microsoft.com/office/drawing/2014/main" id="{A7A2FE7D-82F3-4E84-ADD4-F3D7E8020C5E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Palatino Linotype" panose="02040502050505030304" pitchFamily="18" charset="0"/>
                <a:ea typeface="华文中宋" panose="0201060004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292" name="Rectangle 1028">
            <a:extLst>
              <a:ext uri="{FF2B5EF4-FFF2-40B4-BE49-F238E27FC236}">
                <a16:creationId xmlns:a16="http://schemas.microsoft.com/office/drawing/2014/main" id="{38F3B2AD-E3EB-4F34-9EE6-3E055C5C669B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7" name="Rectangle 1029">
            <a:extLst>
              <a:ext uri="{FF2B5EF4-FFF2-40B4-BE49-F238E27FC236}">
                <a16:creationId xmlns:a16="http://schemas.microsoft.com/office/drawing/2014/main" id="{24C2AC6A-AD66-45F0-9A57-7AA483A4647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dirty="0"/>
              <a:t>单击此处编辑母版文本样式</a:t>
            </a:r>
          </a:p>
          <a:p>
            <a:pPr lvl="1"/>
            <a:r>
              <a:rPr lang="zh-CN" altLang="en-US" noProof="0" dirty="0"/>
              <a:t>第二级</a:t>
            </a:r>
          </a:p>
          <a:p>
            <a:pPr lvl="2"/>
            <a:r>
              <a:rPr lang="zh-CN" altLang="en-US" noProof="0" dirty="0"/>
              <a:t>第三级</a:t>
            </a:r>
          </a:p>
          <a:p>
            <a:pPr lvl="3"/>
            <a:r>
              <a:rPr lang="zh-CN" altLang="en-US" noProof="0" dirty="0"/>
              <a:t>第四级</a:t>
            </a:r>
          </a:p>
          <a:p>
            <a:pPr lvl="4"/>
            <a:r>
              <a:rPr lang="zh-CN" altLang="en-US" noProof="0" dirty="0"/>
              <a:t>第五级</a:t>
            </a:r>
          </a:p>
        </p:txBody>
      </p:sp>
      <p:sp>
        <p:nvSpPr>
          <p:cNvPr id="28678" name="Rectangle 1030">
            <a:extLst>
              <a:ext uri="{FF2B5EF4-FFF2-40B4-BE49-F238E27FC236}">
                <a16:creationId xmlns:a16="http://schemas.microsoft.com/office/drawing/2014/main" id="{E9B6D1AA-9B8A-49C7-A38A-E0978239B37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Palatino Linotype" panose="02040502050505030304" pitchFamily="18" charset="0"/>
                <a:ea typeface="华文中宋" panose="0201060004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8679" name="Rectangle 1031">
            <a:extLst>
              <a:ext uri="{FF2B5EF4-FFF2-40B4-BE49-F238E27FC236}">
                <a16:creationId xmlns:a16="http://schemas.microsoft.com/office/drawing/2014/main" id="{253E96E6-BC24-44C9-987A-D32C0D6A48E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Palatino Linotype" panose="02040502050505030304" pitchFamily="18" charset="0"/>
                <a:ea typeface="华文中宋" panose="02010600040101010101" pitchFamily="2" charset="-122"/>
              </a:defRPr>
            </a:lvl1pPr>
          </a:lstStyle>
          <a:p>
            <a:pPr>
              <a:defRPr/>
            </a:pPr>
            <a:fld id="{357AA9DC-1410-41AF-9E05-CAD2D72552D5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Palatino Linotype" panose="02040502050505030304" pitchFamily="18" charset="0"/>
        <a:ea typeface="华文中宋" panose="0201060004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Palatino Linotype" panose="02040502050505030304" pitchFamily="18" charset="0"/>
        <a:ea typeface="华文中宋" panose="0201060004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Palatino Linotype" panose="02040502050505030304" pitchFamily="18" charset="0"/>
        <a:ea typeface="华文中宋" panose="0201060004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Palatino Linotype" panose="02040502050505030304" pitchFamily="18" charset="0"/>
        <a:ea typeface="华文中宋" panose="0201060004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Palatino Linotype" panose="02040502050505030304" pitchFamily="18" charset="0"/>
        <a:ea typeface="华文中宋" panose="0201060004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owcoder.com/questionTerminal/538ffe668ec04cdcbc88c14beb57aa30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14D9E720-18AC-4FBE-89BA-D09C4C78264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96A0893E-85F1-4769-8F48-C019125753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1D8E4AB5-E379-4083-BDB3-62B53C944AF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18E59DB2-07C2-4914-A0FA-4A3021C377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幻灯片图像占位符 1">
            <a:extLst>
              <a:ext uri="{FF2B5EF4-FFF2-40B4-BE49-F238E27FC236}">
                <a16:creationId xmlns:a16="http://schemas.microsoft.com/office/drawing/2014/main" id="{AC92BFB7-29DF-42B9-BE94-C1E331BCEDE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备注占位符 2">
            <a:extLst>
              <a:ext uri="{FF2B5EF4-FFF2-40B4-BE49-F238E27FC236}">
                <a16:creationId xmlns:a16="http://schemas.microsoft.com/office/drawing/2014/main" id="{9B5E895B-37D6-4C74-A625-B032DABC98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 dirty="0"/>
              <a:t>1 2 3 4 vs 5 6 7 8</a:t>
            </a:r>
            <a:br>
              <a:rPr lang="en-US" altLang="zh-CN" dirty="0"/>
            </a:br>
            <a:r>
              <a:rPr lang="en-US" altLang="zh-CN" dirty="0"/>
              <a:t>1) </a:t>
            </a:r>
            <a:r>
              <a:rPr lang="zh-CN" altLang="en-US" dirty="0"/>
              <a:t>若</a:t>
            </a:r>
            <a:r>
              <a:rPr lang="en-US" altLang="zh-CN" dirty="0"/>
              <a:t>=,</a:t>
            </a:r>
            <a:r>
              <a:rPr lang="zh-CN" altLang="en-US" dirty="0"/>
              <a:t>则</a:t>
            </a:r>
            <a:r>
              <a:rPr lang="en-US" altLang="zh-CN" dirty="0"/>
              <a:t>9 10 11 12</a:t>
            </a:r>
            <a:r>
              <a:rPr lang="zh-CN" altLang="en-US" dirty="0"/>
              <a:t>之一有问题</a:t>
            </a:r>
            <a:r>
              <a:rPr lang="en-US" altLang="zh-CN" dirty="0"/>
              <a:t>,</a:t>
            </a:r>
            <a:r>
              <a:rPr lang="zh-CN" altLang="en-US" dirty="0"/>
              <a:t>取</a:t>
            </a:r>
            <a:r>
              <a:rPr lang="en-US" altLang="zh-CN" dirty="0"/>
              <a:t>1 2 3 vs 9 10 11,</a:t>
            </a:r>
            <a:r>
              <a:rPr lang="zh-CN" altLang="en-US" dirty="0"/>
              <a:t>若</a:t>
            </a:r>
            <a:r>
              <a:rPr lang="en-US" altLang="zh-CN" dirty="0"/>
              <a:t>=,</a:t>
            </a:r>
            <a:r>
              <a:rPr lang="zh-CN" altLang="en-US" dirty="0"/>
              <a:t>则</a:t>
            </a:r>
            <a:r>
              <a:rPr lang="en-US" altLang="zh-CN" dirty="0"/>
              <a:t>12(</a:t>
            </a:r>
            <a:r>
              <a:rPr lang="zh-CN" altLang="en-US" dirty="0"/>
              <a:t>再称一次可知大小</a:t>
            </a:r>
            <a:r>
              <a:rPr lang="en-US" altLang="zh-CN" dirty="0"/>
              <a:t>),</a:t>
            </a:r>
            <a:r>
              <a:rPr lang="zh-CN" altLang="en-US" dirty="0"/>
              <a:t>若不等</a:t>
            </a:r>
            <a:r>
              <a:rPr lang="en-US" altLang="zh-CN" dirty="0"/>
              <a:t>,</a:t>
            </a:r>
            <a:r>
              <a:rPr lang="zh-CN" altLang="en-US" dirty="0"/>
              <a:t>则知大小</a:t>
            </a:r>
            <a:r>
              <a:rPr lang="en-US" altLang="zh-CN" dirty="0"/>
              <a:t>,9 vs 10,</a:t>
            </a:r>
            <a:r>
              <a:rPr lang="zh-CN" altLang="en-US" dirty="0"/>
              <a:t>略</a:t>
            </a:r>
            <a:br>
              <a:rPr lang="zh-CN" altLang="en-US" dirty="0"/>
            </a:br>
            <a:r>
              <a:rPr lang="en-US" altLang="zh-CN" dirty="0"/>
              <a:t>2) </a:t>
            </a:r>
            <a:r>
              <a:rPr lang="zh-CN" altLang="en-US" dirty="0"/>
              <a:t>若</a:t>
            </a:r>
            <a:r>
              <a:rPr lang="en-US" altLang="zh-CN" dirty="0"/>
              <a:t>&lt;&gt;,</a:t>
            </a:r>
            <a:r>
              <a:rPr lang="zh-CN" altLang="en-US" dirty="0"/>
              <a:t>设</a:t>
            </a:r>
            <a:r>
              <a:rPr lang="en-US" altLang="zh-CN" dirty="0"/>
              <a:t>&lt;, 1 2 5 6 vs 3 7 * * (*</a:t>
            </a:r>
            <a:r>
              <a:rPr lang="zh-CN" altLang="en-US" dirty="0"/>
              <a:t>为</a:t>
            </a:r>
            <a:r>
              <a:rPr lang="en-US" altLang="zh-CN" dirty="0"/>
              <a:t>9-12</a:t>
            </a:r>
            <a:r>
              <a:rPr lang="zh-CN" altLang="en-US" dirty="0"/>
              <a:t>之一</a:t>
            </a:r>
            <a:r>
              <a:rPr lang="en-US" altLang="zh-CN" dirty="0"/>
              <a:t>,</a:t>
            </a:r>
            <a:r>
              <a:rPr lang="zh-CN" altLang="en-US" dirty="0"/>
              <a:t>标准球</a:t>
            </a:r>
            <a:r>
              <a:rPr lang="en-US" altLang="zh-CN" dirty="0"/>
              <a:t>),</a:t>
            </a:r>
            <a:r>
              <a:rPr lang="zh-CN" altLang="en-US" dirty="0"/>
              <a:t>设</a:t>
            </a:r>
            <a:r>
              <a:rPr lang="en-US" altLang="zh-CN" dirty="0"/>
              <a:t>&lt;(</a:t>
            </a:r>
            <a:r>
              <a:rPr lang="zh-CN" altLang="en-US" dirty="0"/>
              <a:t>若</a:t>
            </a:r>
            <a:r>
              <a:rPr lang="en-US" altLang="zh-CN" dirty="0"/>
              <a:t>&gt;</a:t>
            </a:r>
            <a:r>
              <a:rPr lang="zh-CN" altLang="en-US" dirty="0"/>
              <a:t>略</a:t>
            </a:r>
            <a:r>
              <a:rPr lang="en-US" altLang="zh-CN" dirty="0"/>
              <a:t>),</a:t>
            </a:r>
            <a:r>
              <a:rPr lang="zh-CN" altLang="en-US" dirty="0"/>
              <a:t>则 </a:t>
            </a:r>
            <a:r>
              <a:rPr lang="en-US" altLang="zh-CN" dirty="0"/>
              <a:t>1 7 vs * *,</a:t>
            </a:r>
            <a:r>
              <a:rPr lang="zh-CN" altLang="en-US" dirty="0"/>
              <a:t>若</a:t>
            </a:r>
            <a:r>
              <a:rPr lang="en-US" altLang="zh-CN" dirty="0"/>
              <a:t>&lt;,</a:t>
            </a:r>
            <a:r>
              <a:rPr lang="zh-CN" altLang="en-US" dirty="0"/>
              <a:t>则</a:t>
            </a:r>
            <a:r>
              <a:rPr lang="en-US" altLang="zh-CN" dirty="0"/>
              <a:t>1</a:t>
            </a:r>
            <a:r>
              <a:rPr lang="zh-CN" altLang="en-US" dirty="0"/>
              <a:t>小</a:t>
            </a:r>
            <a:r>
              <a:rPr lang="en-US" altLang="zh-CN" dirty="0"/>
              <a:t>,</a:t>
            </a:r>
            <a:r>
              <a:rPr lang="zh-CN" altLang="en-US" dirty="0"/>
              <a:t>若</a:t>
            </a:r>
            <a:r>
              <a:rPr lang="en-US" altLang="zh-CN" dirty="0"/>
              <a:t>&gt;,</a:t>
            </a:r>
            <a:r>
              <a:rPr lang="zh-CN" altLang="en-US" dirty="0"/>
              <a:t>则</a:t>
            </a:r>
            <a:r>
              <a:rPr lang="en-US" altLang="zh-CN" dirty="0"/>
              <a:t>7</a:t>
            </a:r>
            <a:r>
              <a:rPr lang="zh-CN" altLang="en-US" dirty="0"/>
              <a:t>大</a:t>
            </a:r>
            <a:r>
              <a:rPr lang="en-US" altLang="zh-CN" dirty="0"/>
              <a:t>,</a:t>
            </a:r>
            <a:r>
              <a:rPr lang="zh-CN" altLang="en-US" dirty="0"/>
              <a:t>若</a:t>
            </a:r>
            <a:r>
              <a:rPr lang="en-US" altLang="zh-CN" dirty="0"/>
              <a:t>=,</a:t>
            </a:r>
            <a:r>
              <a:rPr lang="zh-CN" altLang="en-US" dirty="0"/>
              <a:t>则</a:t>
            </a:r>
            <a:r>
              <a:rPr lang="en-US" altLang="zh-CN" dirty="0"/>
              <a:t>2</a:t>
            </a:r>
            <a:r>
              <a:rPr lang="zh-CN" altLang="en-US" dirty="0"/>
              <a:t>小</a:t>
            </a:r>
            <a:r>
              <a:rPr lang="en-US" altLang="zh-CN" dirty="0"/>
              <a:t>,</a:t>
            </a:r>
            <a:r>
              <a:rPr lang="zh-CN" altLang="en-US" dirty="0"/>
              <a:t>若 </a:t>
            </a:r>
            <a:r>
              <a:rPr lang="en-US" altLang="zh-CN" dirty="0"/>
              <a:t>1 2 5 6 = 3 7 * *,</a:t>
            </a:r>
            <a:r>
              <a:rPr lang="zh-CN" altLang="en-US" dirty="0"/>
              <a:t>则</a:t>
            </a:r>
            <a:r>
              <a:rPr lang="en-US" altLang="zh-CN" dirty="0"/>
              <a:t>4 vs *,</a:t>
            </a:r>
            <a:r>
              <a:rPr lang="zh-CN" altLang="en-US" dirty="0"/>
              <a:t>若</a:t>
            </a:r>
            <a:r>
              <a:rPr lang="en-US" altLang="zh-CN" dirty="0"/>
              <a:t>&lt;</a:t>
            </a:r>
            <a:r>
              <a:rPr lang="zh-CN" altLang="en-US" dirty="0"/>
              <a:t>则</a:t>
            </a:r>
            <a:r>
              <a:rPr lang="en-US" altLang="zh-CN" dirty="0"/>
              <a:t>4</a:t>
            </a:r>
            <a:r>
              <a:rPr lang="zh-CN" altLang="en-US" dirty="0"/>
              <a:t>小</a:t>
            </a:r>
            <a:r>
              <a:rPr lang="en-US" altLang="zh-CN" dirty="0"/>
              <a:t>,</a:t>
            </a:r>
            <a:r>
              <a:rPr lang="zh-CN" altLang="en-US" dirty="0"/>
              <a:t>若</a:t>
            </a:r>
            <a:r>
              <a:rPr lang="en-US" altLang="zh-CN" dirty="0"/>
              <a:t>&gt;</a:t>
            </a:r>
            <a:r>
              <a:rPr lang="zh-CN" altLang="en-US" dirty="0"/>
              <a:t>则</a:t>
            </a:r>
            <a:r>
              <a:rPr lang="en-US" altLang="zh-CN" dirty="0"/>
              <a:t>8</a:t>
            </a:r>
            <a:r>
              <a:rPr lang="zh-CN" altLang="en-US" dirty="0"/>
              <a:t>大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幻灯片图像占位符 1">
            <a:extLst>
              <a:ext uri="{FF2B5EF4-FFF2-40B4-BE49-F238E27FC236}">
                <a16:creationId xmlns:a16="http://schemas.microsoft.com/office/drawing/2014/main" id="{A7EF0E8D-7093-4D6B-BED2-9E6430343BE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备注占位符 2">
            <a:extLst>
              <a:ext uri="{FF2B5EF4-FFF2-40B4-BE49-F238E27FC236}">
                <a16:creationId xmlns:a16="http://schemas.microsoft.com/office/drawing/2014/main" id="{17D25FA4-DAAC-4ABC-B1F2-AF500C817E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幻灯片图像占位符 1">
            <a:extLst>
              <a:ext uri="{FF2B5EF4-FFF2-40B4-BE49-F238E27FC236}">
                <a16:creationId xmlns:a16="http://schemas.microsoft.com/office/drawing/2014/main" id="{E8DC6A83-4DC4-464F-A6A7-1C3794ADEB5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备注占位符 2">
            <a:extLst>
              <a:ext uri="{FF2B5EF4-FFF2-40B4-BE49-F238E27FC236}">
                <a16:creationId xmlns:a16="http://schemas.microsoft.com/office/drawing/2014/main" id="{AB5A98BF-DEBA-44B1-87A9-FFEE3FE802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7C51A1A6-B55F-40A4-8732-532C02F5B06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4F228C0F-173C-4366-B19A-BFB7C66302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dirty="0"/>
              <a:t>每次总是删除这样的</a:t>
            </a:r>
            <a:r>
              <a:rPr lang="en-US" altLang="zh-CN" dirty="0"/>
              <a:t>a[</a:t>
            </a:r>
            <a:r>
              <a:rPr lang="en-US" altLang="zh-CN" dirty="0" err="1"/>
              <a:t>i</a:t>
            </a:r>
            <a:r>
              <a:rPr lang="en-US" altLang="zh-CN" dirty="0"/>
              <a:t>]</a:t>
            </a:r>
            <a:r>
              <a:rPr lang="zh-CN" altLang="en-US" dirty="0"/>
              <a:t>：它是第一个</a:t>
            </a:r>
            <a:r>
              <a:rPr lang="en-US" altLang="zh-CN" dirty="0"/>
              <a:t>a[</a:t>
            </a:r>
            <a:r>
              <a:rPr lang="en-US" altLang="zh-CN" dirty="0" err="1"/>
              <a:t>i</a:t>
            </a:r>
            <a:r>
              <a:rPr lang="en-US" altLang="zh-CN" dirty="0"/>
              <a:t>]&gt;a[i+1]</a:t>
            </a:r>
            <a:r>
              <a:rPr lang="zh-CN" altLang="en-US" dirty="0"/>
              <a:t>的数；</a:t>
            </a:r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r>
              <a:rPr lang="zh-CN" altLang="en-US" dirty="0"/>
              <a:t>数论问题</a:t>
            </a:r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r>
              <a:rPr lang="en-US" altLang="zh-CN" dirty="0"/>
              <a:t>N</a:t>
            </a:r>
            <a:r>
              <a:rPr lang="zh-CN" altLang="en-US" dirty="0"/>
              <a:t>皇后：回溯法</a:t>
            </a:r>
            <a:endParaRPr lang="zh-CN" alt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幻灯片图像占位符 1">
            <a:extLst>
              <a:ext uri="{FF2B5EF4-FFF2-40B4-BE49-F238E27FC236}">
                <a16:creationId xmlns:a16="http://schemas.microsoft.com/office/drawing/2014/main" id="{64FCAA80-F1A6-4AC7-85F0-142220E9C69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备注占位符 2">
            <a:extLst>
              <a:ext uri="{FF2B5EF4-FFF2-40B4-BE49-F238E27FC236}">
                <a16:creationId xmlns:a16="http://schemas.microsoft.com/office/drawing/2014/main" id="{C7AC19ED-5503-4359-B1F5-EB131F6EEA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/>
              <a:t>链接：</a:t>
            </a:r>
            <a:r>
              <a:rPr lang="en-US" altLang="zh-CN" dirty="0">
                <a:hlinkClick r:id="rId3"/>
              </a:rPr>
              <a:t>https://www.nowcoder.com/questionTerminal/538ffe668ec04cdcbc88c14beb57aa30</a:t>
            </a:r>
            <a:br>
              <a:rPr lang="zh-CN" altLang="en-US" dirty="0"/>
            </a:br>
            <a:br>
              <a:rPr lang="zh-CN" altLang="en-US" dirty="0"/>
            </a:br>
            <a:r>
              <a:rPr lang="zh-CN" altLang="en-US" dirty="0"/>
              <a:t>假如</a:t>
            </a:r>
            <a:r>
              <a:rPr lang="en-US" altLang="zh-CN" dirty="0"/>
              <a:t>10</a:t>
            </a:r>
            <a:r>
              <a:rPr lang="zh-CN" altLang="en-US" dirty="0"/>
              <a:t>和</a:t>
            </a:r>
            <a:r>
              <a:rPr lang="en-US" altLang="zh-CN" dirty="0"/>
              <a:t>5</a:t>
            </a:r>
            <a:r>
              <a:rPr lang="zh-CN" altLang="en-US" dirty="0"/>
              <a:t>第一个过去，难免用时最长的这俩其中的一个还要回去，浪费时间，所以在他俩去之前应该让一个耗时较短的人先过去。那就先让</a:t>
            </a:r>
            <a:r>
              <a:rPr lang="en-US" altLang="zh-CN" dirty="0"/>
              <a:t>1</a:t>
            </a:r>
            <a:r>
              <a:rPr lang="zh-CN" altLang="en-US" dirty="0"/>
              <a:t>和</a:t>
            </a:r>
            <a:r>
              <a:rPr lang="en-US" altLang="zh-CN" dirty="0"/>
              <a:t>2</a:t>
            </a:r>
            <a:r>
              <a:rPr lang="zh-CN" altLang="en-US" dirty="0"/>
              <a:t>过去，那现在有两种情况，</a:t>
            </a:r>
            <a:r>
              <a:rPr lang="en-US" altLang="zh-CN" dirty="0"/>
              <a:t>1</a:t>
            </a:r>
            <a:r>
              <a:rPr lang="zh-CN" altLang="en-US" dirty="0"/>
              <a:t>回来还是</a:t>
            </a:r>
            <a:r>
              <a:rPr lang="en-US" altLang="zh-CN" dirty="0"/>
              <a:t>2</a:t>
            </a:r>
            <a:r>
              <a:rPr lang="zh-CN" altLang="en-US" dirty="0"/>
              <a:t>回来呢</a:t>
            </a:r>
            <a:r>
              <a:rPr lang="en-US" altLang="zh-CN" dirty="0"/>
              <a:t>?</a:t>
            </a:r>
            <a:r>
              <a:rPr lang="zh-CN" altLang="en-US" dirty="0"/>
              <a:t>先假设</a:t>
            </a:r>
            <a:r>
              <a:rPr lang="en-US" altLang="zh-CN" dirty="0"/>
              <a:t>1</a:t>
            </a:r>
            <a:r>
              <a:rPr lang="zh-CN" altLang="en-US" dirty="0"/>
              <a:t>回来把手电给</a:t>
            </a:r>
            <a:r>
              <a:rPr lang="en-US" altLang="zh-CN" dirty="0"/>
              <a:t>10</a:t>
            </a:r>
            <a:r>
              <a:rPr lang="zh-CN" altLang="en-US" dirty="0"/>
              <a:t>和</a:t>
            </a:r>
            <a:r>
              <a:rPr lang="en-US" altLang="zh-CN" dirty="0"/>
              <a:t>5</a:t>
            </a:r>
            <a:r>
              <a:rPr lang="zh-CN" altLang="en-US" dirty="0"/>
              <a:t>，让他们过去，再让</a:t>
            </a:r>
            <a:r>
              <a:rPr lang="en-US" altLang="zh-CN" dirty="0"/>
              <a:t>2</a:t>
            </a:r>
            <a:r>
              <a:rPr lang="zh-CN" altLang="en-US" dirty="0"/>
              <a:t>回来接</a:t>
            </a:r>
            <a:r>
              <a:rPr lang="en-US" altLang="zh-CN" dirty="0"/>
              <a:t>1</a:t>
            </a:r>
            <a:r>
              <a:rPr lang="zh-CN" altLang="en-US" dirty="0"/>
              <a:t>，这种情况用时</a:t>
            </a:r>
            <a:r>
              <a:rPr lang="en-US" altLang="zh-CN" dirty="0"/>
              <a:t>:2+1+10+2+2=17 </a:t>
            </a:r>
            <a:r>
              <a:rPr lang="zh-CN" altLang="en-US" dirty="0"/>
              <a:t>那么假如让</a:t>
            </a:r>
            <a:r>
              <a:rPr lang="en-US" altLang="zh-CN" dirty="0"/>
              <a:t>2</a:t>
            </a:r>
            <a:r>
              <a:rPr lang="zh-CN" altLang="en-US" dirty="0"/>
              <a:t>回来把手电给</a:t>
            </a:r>
            <a:r>
              <a:rPr lang="en-US" altLang="zh-CN" dirty="0"/>
              <a:t>10</a:t>
            </a:r>
            <a:r>
              <a:rPr lang="zh-CN" altLang="en-US" dirty="0"/>
              <a:t>和</a:t>
            </a:r>
            <a:r>
              <a:rPr lang="en-US" altLang="zh-CN" dirty="0"/>
              <a:t>5</a:t>
            </a:r>
            <a:r>
              <a:rPr lang="zh-CN" altLang="en-US" dirty="0"/>
              <a:t>，等他们过去以后让</a:t>
            </a:r>
            <a:r>
              <a:rPr lang="en-US" altLang="zh-CN" dirty="0"/>
              <a:t>1</a:t>
            </a:r>
            <a:r>
              <a:rPr lang="zh-CN" altLang="en-US" dirty="0"/>
              <a:t>回来接</a:t>
            </a:r>
            <a:r>
              <a:rPr lang="en-US" altLang="zh-CN" dirty="0"/>
              <a:t>2</a:t>
            </a:r>
            <a:r>
              <a:rPr lang="zh-CN" altLang="en-US" dirty="0"/>
              <a:t>用时</a:t>
            </a:r>
            <a:r>
              <a:rPr lang="en-US" altLang="zh-CN" dirty="0"/>
              <a:t>:2+2+10+1+2=17</a:t>
            </a:r>
            <a:r>
              <a:rPr lang="zh-CN" altLang="en-US" dirty="0"/>
              <a:t>。结果一样。所以最关键的就是让</a:t>
            </a:r>
            <a:r>
              <a:rPr lang="en-US" altLang="zh-CN" dirty="0"/>
              <a:t>1</a:t>
            </a:r>
            <a:r>
              <a:rPr lang="zh-CN" altLang="en-US" dirty="0"/>
              <a:t>和</a:t>
            </a:r>
            <a:r>
              <a:rPr lang="en-US" altLang="zh-CN" dirty="0"/>
              <a:t>2</a:t>
            </a:r>
            <a:r>
              <a:rPr lang="zh-CN" altLang="en-US" dirty="0"/>
              <a:t>一起走，</a:t>
            </a:r>
            <a:r>
              <a:rPr lang="en-US" altLang="zh-CN" dirty="0"/>
              <a:t>10</a:t>
            </a:r>
            <a:r>
              <a:rPr lang="zh-CN" altLang="en-US" dirty="0"/>
              <a:t>和</a:t>
            </a:r>
            <a:r>
              <a:rPr lang="en-US" altLang="zh-CN" dirty="0"/>
              <a:t>5</a:t>
            </a:r>
            <a:r>
              <a:rPr lang="zh-CN" altLang="en-US" dirty="0"/>
              <a:t>一起走，至于</a:t>
            </a:r>
            <a:r>
              <a:rPr lang="en-US" altLang="zh-CN" dirty="0"/>
              <a:t>1</a:t>
            </a:r>
            <a:r>
              <a:rPr lang="zh-CN" altLang="en-US" dirty="0"/>
              <a:t>接</a:t>
            </a:r>
            <a:r>
              <a:rPr lang="en-US" altLang="zh-CN" dirty="0"/>
              <a:t>2</a:t>
            </a:r>
            <a:r>
              <a:rPr lang="zh-CN" altLang="en-US" dirty="0"/>
              <a:t>还是</a:t>
            </a:r>
            <a:r>
              <a:rPr lang="en-US" altLang="zh-CN" dirty="0"/>
              <a:t>2</a:t>
            </a:r>
            <a:r>
              <a:rPr lang="zh-CN" altLang="en-US" dirty="0"/>
              <a:t>接</a:t>
            </a:r>
            <a:r>
              <a:rPr lang="en-US" altLang="zh-CN" dirty="0"/>
              <a:t>1</a:t>
            </a:r>
            <a:r>
              <a:rPr lang="zh-CN" altLang="en-US" dirty="0"/>
              <a:t>，结果是一样的。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E5B986AE-89A7-4515-A09A-EAE658047A0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9F92DA54-EBA9-47BB-801F-C80AF93DDE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78F4304F-14C1-4596-8F1C-2AF022790C6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C2E13BF0-E38F-441C-BACF-3674EEB725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EE69201D-A370-4F52-99CC-9F6E8D93DCB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5412400F-9203-4057-8149-1FA275A170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幻灯片图像占位符 1">
            <a:extLst>
              <a:ext uri="{FF2B5EF4-FFF2-40B4-BE49-F238E27FC236}">
                <a16:creationId xmlns:a16="http://schemas.microsoft.com/office/drawing/2014/main" id="{71E509E6-9A8F-44E0-B7FD-3931677B9A6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备注占位符 2">
            <a:extLst>
              <a:ext uri="{FF2B5EF4-FFF2-40B4-BE49-F238E27FC236}">
                <a16:creationId xmlns:a16="http://schemas.microsoft.com/office/drawing/2014/main" id="{54862926-B897-4297-8762-86A28541B8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31D99F58-DDD4-4680-9C5A-694C071A54F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1A344D6C-591F-49CF-AECE-6C68706AC1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633911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24F72D7C-0D90-4426-94AC-A3DDCEF9F96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0BC03D30-A395-464C-83DE-D69649D409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FF62D034-5A49-4F82-90A1-CDB3C4843A3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7A6443BD-7C2A-4C71-BD38-F8F6D1C441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8E233699-D5E1-48EA-8AC1-EBE0D9C894D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23C09A5E-C267-453A-9773-68522842CB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>
            <a:lvl1pPr>
              <a:defRPr>
                <a:latin typeface="Palatino Linotype" panose="02040502050505030304" pitchFamily="18" charset="0"/>
                <a:ea typeface="华文中宋" panose="0201060004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latin typeface="Palatino Linotype" panose="02040502050505030304" pitchFamily="18" charset="0"/>
                <a:ea typeface="华文中宋" panose="02010600040101010101" pitchFamily="2" charset="-122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B5A9798-3651-4D35-B231-3BAD81465DE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2">
            <a:extLst>
              <a:ext uri="{FF2B5EF4-FFF2-40B4-BE49-F238E27FC236}">
                <a16:creationId xmlns:a16="http://schemas.microsoft.com/office/drawing/2014/main" id="{AFD835DD-F038-46FB-A0BF-EE716DF2DF6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2574D3-5079-4DDC-B008-D89F86BD95C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77486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>
                <a:latin typeface="Palatino Linotype" panose="02040502050505030304" pitchFamily="18" charset="0"/>
                <a:ea typeface="华文中宋" panose="0201060004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defRPr>
                <a:latin typeface="Palatino Linotype" panose="02040502050505030304" pitchFamily="18" charset="0"/>
                <a:ea typeface="华文中宋" panose="02010600040101010101" pitchFamily="2" charset="-122"/>
              </a:defRPr>
            </a:lvl1pPr>
            <a:lvl2pPr>
              <a:defRPr>
                <a:latin typeface="Palatino Linotype" panose="02040502050505030304" pitchFamily="18" charset="0"/>
                <a:ea typeface="华文中宋" panose="02010600040101010101" pitchFamily="2" charset="-122"/>
              </a:defRPr>
            </a:lvl2pPr>
            <a:lvl3pPr>
              <a:defRPr>
                <a:latin typeface="Palatino Linotype" panose="02040502050505030304" pitchFamily="18" charset="0"/>
                <a:ea typeface="华文中宋" panose="02010600040101010101" pitchFamily="2" charset="-122"/>
              </a:defRPr>
            </a:lvl3pPr>
            <a:lvl4pPr>
              <a:defRPr>
                <a:latin typeface="Palatino Linotype" panose="02040502050505030304" pitchFamily="18" charset="0"/>
                <a:ea typeface="华文中宋" panose="02010600040101010101" pitchFamily="2" charset="-122"/>
              </a:defRPr>
            </a:lvl4pPr>
            <a:lvl5pPr>
              <a:defRPr>
                <a:latin typeface="Palatino Linotype" panose="02040502050505030304" pitchFamily="18" charset="0"/>
                <a:ea typeface="华文中宋" panose="02010600040101010101" pitchFamily="2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F1D21E0-4AF1-4BD8-BFAB-3D75934900F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2">
            <a:extLst>
              <a:ext uri="{FF2B5EF4-FFF2-40B4-BE49-F238E27FC236}">
                <a16:creationId xmlns:a16="http://schemas.microsoft.com/office/drawing/2014/main" id="{79C6C199-4D0C-490B-B34A-24BC79721D3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r">
              <a:defRPr sz="120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</a:lstStyle>
          <a:p>
            <a:pPr>
              <a:defRPr/>
            </a:pPr>
            <a:fld id="{25095CED-DAB2-44DB-BE9E-A33864F8BA9A}" type="slidenum">
              <a:rPr lang="zh-CN" altLang="en-US"/>
              <a:pPr>
                <a:defRPr/>
              </a:pPr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721544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>
                <a:latin typeface="Palatino Linotype" panose="02040502050505030304" pitchFamily="18" charset="0"/>
                <a:ea typeface="华文中宋" panose="0201060004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latin typeface="Palatino Linotype" panose="02040502050505030304" pitchFamily="18" charset="0"/>
                <a:ea typeface="华文中宋" panose="02010600040101010101" pitchFamily="2" charset="-122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821A4D2-7E2E-4EBD-86B4-47EE574F3E1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503660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>
                <a:latin typeface="Palatino Linotype" panose="02040502050505030304" pitchFamily="18" charset="0"/>
                <a:ea typeface="华文中宋" panose="0201060004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Palatino Linotype" panose="02040502050505030304" pitchFamily="18" charset="0"/>
                <a:ea typeface="华文中宋" panose="02010600040101010101" pitchFamily="2" charset="-122"/>
              </a:defRPr>
            </a:lvl1pPr>
            <a:lvl2pPr>
              <a:defRPr sz="2400">
                <a:latin typeface="Palatino Linotype" panose="02040502050505030304" pitchFamily="18" charset="0"/>
                <a:ea typeface="华文中宋" panose="02010600040101010101" pitchFamily="2" charset="-122"/>
              </a:defRPr>
            </a:lvl2pPr>
            <a:lvl3pPr>
              <a:defRPr sz="2000">
                <a:latin typeface="Palatino Linotype" panose="02040502050505030304" pitchFamily="18" charset="0"/>
                <a:ea typeface="华文中宋" panose="02010600040101010101" pitchFamily="2" charset="-122"/>
              </a:defRPr>
            </a:lvl3pPr>
            <a:lvl4pPr>
              <a:defRPr sz="1800">
                <a:latin typeface="Palatino Linotype" panose="02040502050505030304" pitchFamily="18" charset="0"/>
                <a:ea typeface="华文中宋" panose="02010600040101010101" pitchFamily="2" charset="-122"/>
              </a:defRPr>
            </a:lvl4pPr>
            <a:lvl5pPr>
              <a:defRPr sz="1800">
                <a:latin typeface="Palatino Linotype" panose="02040502050505030304" pitchFamily="18" charset="0"/>
                <a:ea typeface="华文中宋" panose="02010600040101010101" pitchFamily="2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Palatino Linotype" panose="02040502050505030304" pitchFamily="18" charset="0"/>
                <a:ea typeface="华文中宋" panose="02010600040101010101" pitchFamily="2" charset="-122"/>
              </a:defRPr>
            </a:lvl1pPr>
            <a:lvl2pPr>
              <a:defRPr sz="2400">
                <a:latin typeface="Palatino Linotype" panose="02040502050505030304" pitchFamily="18" charset="0"/>
                <a:ea typeface="华文中宋" panose="02010600040101010101" pitchFamily="2" charset="-122"/>
              </a:defRPr>
            </a:lvl2pPr>
            <a:lvl3pPr>
              <a:defRPr sz="2000">
                <a:latin typeface="Palatino Linotype" panose="02040502050505030304" pitchFamily="18" charset="0"/>
                <a:ea typeface="华文中宋" panose="02010600040101010101" pitchFamily="2" charset="-122"/>
              </a:defRPr>
            </a:lvl3pPr>
            <a:lvl4pPr>
              <a:defRPr sz="1800">
                <a:latin typeface="Palatino Linotype" panose="02040502050505030304" pitchFamily="18" charset="0"/>
                <a:ea typeface="华文中宋" panose="02010600040101010101" pitchFamily="2" charset="-122"/>
              </a:defRPr>
            </a:lvl4pPr>
            <a:lvl5pPr>
              <a:defRPr sz="1800">
                <a:latin typeface="Palatino Linotype" panose="02040502050505030304" pitchFamily="18" charset="0"/>
                <a:ea typeface="华文中宋" panose="02010600040101010101" pitchFamily="2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C23BA2-AF5F-4D83-A74F-A3A8BC9EE2F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07495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>
                <a:latin typeface="Palatino Linotype" panose="02040502050505030304" pitchFamily="18" charset="0"/>
                <a:ea typeface="华文中宋" panose="0201060004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latin typeface="Palatino Linotype" panose="02040502050505030304" pitchFamily="18" charset="0"/>
                <a:ea typeface="华文中宋" panose="02010600040101010101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Palatino Linotype" panose="02040502050505030304" pitchFamily="18" charset="0"/>
                <a:ea typeface="华文中宋" panose="02010600040101010101" pitchFamily="2" charset="-122"/>
              </a:defRPr>
            </a:lvl1pPr>
            <a:lvl2pPr>
              <a:defRPr sz="2000">
                <a:latin typeface="Palatino Linotype" panose="02040502050505030304" pitchFamily="18" charset="0"/>
                <a:ea typeface="华文中宋" panose="02010600040101010101" pitchFamily="2" charset="-122"/>
              </a:defRPr>
            </a:lvl2pPr>
            <a:lvl3pPr>
              <a:defRPr sz="1800">
                <a:latin typeface="Palatino Linotype" panose="02040502050505030304" pitchFamily="18" charset="0"/>
                <a:ea typeface="华文中宋" panose="02010600040101010101" pitchFamily="2" charset="-122"/>
              </a:defRPr>
            </a:lvl3pPr>
            <a:lvl4pPr>
              <a:defRPr sz="1600">
                <a:latin typeface="Palatino Linotype" panose="02040502050505030304" pitchFamily="18" charset="0"/>
                <a:ea typeface="华文中宋" panose="02010600040101010101" pitchFamily="2" charset="-122"/>
              </a:defRPr>
            </a:lvl4pPr>
            <a:lvl5pPr>
              <a:defRPr sz="1600">
                <a:latin typeface="Palatino Linotype" panose="02040502050505030304" pitchFamily="18" charset="0"/>
                <a:ea typeface="华文中宋" panose="0201060004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latin typeface="Palatino Linotype" panose="02040502050505030304" pitchFamily="18" charset="0"/>
                <a:ea typeface="华文中宋" panose="02010600040101010101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Palatino Linotype" panose="02040502050505030304" pitchFamily="18" charset="0"/>
                <a:ea typeface="华文中宋" panose="02010600040101010101" pitchFamily="2" charset="-122"/>
              </a:defRPr>
            </a:lvl1pPr>
            <a:lvl2pPr>
              <a:defRPr sz="2000">
                <a:latin typeface="Palatino Linotype" panose="02040502050505030304" pitchFamily="18" charset="0"/>
                <a:ea typeface="华文中宋" panose="02010600040101010101" pitchFamily="2" charset="-122"/>
              </a:defRPr>
            </a:lvl2pPr>
            <a:lvl3pPr>
              <a:defRPr sz="1800">
                <a:latin typeface="Palatino Linotype" panose="02040502050505030304" pitchFamily="18" charset="0"/>
                <a:ea typeface="华文中宋" panose="02010600040101010101" pitchFamily="2" charset="-122"/>
              </a:defRPr>
            </a:lvl3pPr>
            <a:lvl4pPr>
              <a:defRPr sz="1600">
                <a:latin typeface="Palatino Linotype" panose="02040502050505030304" pitchFamily="18" charset="0"/>
                <a:ea typeface="华文中宋" panose="02010600040101010101" pitchFamily="2" charset="-122"/>
              </a:defRPr>
            </a:lvl4pPr>
            <a:lvl5pPr>
              <a:defRPr sz="1600">
                <a:latin typeface="Palatino Linotype" panose="02040502050505030304" pitchFamily="18" charset="0"/>
                <a:ea typeface="华文中宋" panose="0201060004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75CA10DB-CCEE-4E8F-A59B-4768E894590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77576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>
                <a:latin typeface="Palatino Linotype" panose="02040502050505030304" pitchFamily="18" charset="0"/>
                <a:ea typeface="华文中宋" panose="0201060004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9012259F-33E3-47CE-9592-0EF6AB0B795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79895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90783335-D6EB-4393-9864-3F0CC2E0E3A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69618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latin typeface="Palatino Linotype" panose="02040502050505030304" pitchFamily="18" charset="0"/>
                <a:ea typeface="华文中宋" panose="0201060004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>
                <a:latin typeface="Palatino Linotype" panose="02040502050505030304" pitchFamily="18" charset="0"/>
                <a:ea typeface="华文中宋" panose="02010600040101010101" pitchFamily="2" charset="-122"/>
              </a:defRPr>
            </a:lvl1pPr>
            <a:lvl2pPr>
              <a:defRPr sz="2800">
                <a:latin typeface="Palatino Linotype" panose="02040502050505030304" pitchFamily="18" charset="0"/>
                <a:ea typeface="华文中宋" panose="02010600040101010101" pitchFamily="2" charset="-122"/>
              </a:defRPr>
            </a:lvl2pPr>
            <a:lvl3pPr>
              <a:defRPr sz="2400">
                <a:latin typeface="Palatino Linotype" panose="02040502050505030304" pitchFamily="18" charset="0"/>
                <a:ea typeface="华文中宋" panose="02010600040101010101" pitchFamily="2" charset="-122"/>
              </a:defRPr>
            </a:lvl3pPr>
            <a:lvl4pPr>
              <a:defRPr sz="2000">
                <a:latin typeface="Palatino Linotype" panose="02040502050505030304" pitchFamily="18" charset="0"/>
                <a:ea typeface="华文中宋" panose="02010600040101010101" pitchFamily="2" charset="-122"/>
              </a:defRPr>
            </a:lvl4pPr>
            <a:lvl5pPr>
              <a:defRPr sz="2000">
                <a:latin typeface="Palatino Linotype" panose="02040502050505030304" pitchFamily="18" charset="0"/>
                <a:ea typeface="华文中宋" panose="02010600040101010101" pitchFamily="2" charset="-122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latin typeface="Palatino Linotype" panose="02040502050505030304" pitchFamily="18" charset="0"/>
                <a:ea typeface="华文中宋" panose="02010600040101010101" pitchFamily="2" charset="-12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2B5A95-6D8E-42DA-9435-E8DEC977F99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09920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latin typeface="Palatino Linotype" panose="02040502050505030304" pitchFamily="18" charset="0"/>
                <a:ea typeface="华文中宋" panose="0201060004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latin typeface="Palatino Linotype" panose="02040502050505030304" pitchFamily="18" charset="0"/>
                <a:ea typeface="华文中宋" panose="02010600040101010101" pitchFamily="2" charset="-122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latin typeface="Palatino Linotype" panose="02040502050505030304" pitchFamily="18" charset="0"/>
                <a:ea typeface="华文中宋" panose="02010600040101010101" pitchFamily="2" charset="-12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1644A2-82DD-4F2E-9921-91CC69861C7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10357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>
                <a:latin typeface="Palatino Linotype" panose="02040502050505030304" pitchFamily="18" charset="0"/>
                <a:ea typeface="华文中宋" panose="0201060004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Palatino Linotype" panose="02040502050505030304" pitchFamily="18" charset="0"/>
                <a:ea typeface="华文中宋" panose="02010600040101010101" pitchFamily="2" charset="-122"/>
              </a:defRPr>
            </a:lvl1pPr>
            <a:lvl2pPr>
              <a:defRPr>
                <a:latin typeface="Palatino Linotype" panose="02040502050505030304" pitchFamily="18" charset="0"/>
                <a:ea typeface="华文中宋" panose="02010600040101010101" pitchFamily="2" charset="-122"/>
              </a:defRPr>
            </a:lvl2pPr>
            <a:lvl3pPr>
              <a:defRPr>
                <a:latin typeface="Palatino Linotype" panose="02040502050505030304" pitchFamily="18" charset="0"/>
                <a:ea typeface="华文中宋" panose="02010600040101010101" pitchFamily="2" charset="-122"/>
              </a:defRPr>
            </a:lvl3pPr>
            <a:lvl4pPr>
              <a:defRPr>
                <a:latin typeface="Palatino Linotype" panose="02040502050505030304" pitchFamily="18" charset="0"/>
                <a:ea typeface="华文中宋" panose="02010600040101010101" pitchFamily="2" charset="-122"/>
              </a:defRPr>
            </a:lvl4pPr>
            <a:lvl5pPr>
              <a:defRPr>
                <a:latin typeface="Palatino Linotype" panose="02040502050505030304" pitchFamily="18" charset="0"/>
                <a:ea typeface="华文中宋" panose="02010600040101010101" pitchFamily="2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9C89DF8-AD41-4661-BB2A-B9622075B23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07530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Palatino Linotype" panose="02040502050505030304" pitchFamily="18" charset="0"/>
                <a:ea typeface="华文中宋" panose="0201060004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Palatino Linotype" panose="02040502050505030304" pitchFamily="18" charset="0"/>
                <a:ea typeface="华文中宋" panose="02010600040101010101" pitchFamily="2" charset="-122"/>
              </a:defRPr>
            </a:lvl1pPr>
            <a:lvl2pPr>
              <a:defRPr>
                <a:latin typeface="Palatino Linotype" panose="02040502050505030304" pitchFamily="18" charset="0"/>
                <a:ea typeface="华文中宋" panose="02010600040101010101" pitchFamily="2" charset="-122"/>
              </a:defRPr>
            </a:lvl2pPr>
            <a:lvl3pPr>
              <a:defRPr>
                <a:latin typeface="Palatino Linotype" panose="02040502050505030304" pitchFamily="18" charset="0"/>
                <a:ea typeface="华文中宋" panose="02010600040101010101" pitchFamily="2" charset="-122"/>
              </a:defRPr>
            </a:lvl3pPr>
            <a:lvl4pPr>
              <a:defRPr>
                <a:latin typeface="Palatino Linotype" panose="02040502050505030304" pitchFamily="18" charset="0"/>
                <a:ea typeface="华文中宋" panose="02010600040101010101" pitchFamily="2" charset="-122"/>
              </a:defRPr>
            </a:lvl4pPr>
            <a:lvl5pPr>
              <a:defRPr>
                <a:latin typeface="Palatino Linotype" panose="02040502050505030304" pitchFamily="18" charset="0"/>
                <a:ea typeface="华文中宋" panose="02010600040101010101" pitchFamily="2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2261427-1035-43A4-A530-FEBA0E66D8F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73653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4">
            <a:extLst>
              <a:ext uri="{FF2B5EF4-FFF2-40B4-BE49-F238E27FC236}">
                <a16:creationId xmlns:a16="http://schemas.microsoft.com/office/drawing/2014/main" id="{28092123-2955-42A8-9E7F-56819520D7F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04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8" tIns="45719" rIns="91438" bIns="45719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Palatino Linotype" panose="02040502050505030304" pitchFamily="18" charset="0"/>
                <a:ea typeface="华文中宋" panose="0201060004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2B74377B-41D5-440B-B6E4-599C279965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811281-A5BE-4820-90D6-C56A0E2A34D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11" Type="http://schemas.openxmlformats.org/officeDocument/2006/relationships/image" Target="../media/image6.png"/><Relationship Id="rId5" Type="http://schemas.openxmlformats.org/officeDocument/2006/relationships/image" Target="../media/image30.png"/><Relationship Id="rId10" Type="http://schemas.openxmlformats.org/officeDocument/2006/relationships/customXml" Target="../ink/ink4.xml"/><Relationship Id="rId4" Type="http://schemas.openxmlformats.org/officeDocument/2006/relationships/customXml" Target="../ink/ink1.xml"/><Relationship Id="rId9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item.jd.com/11144230.html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4">
            <a:extLst>
              <a:ext uri="{FF2B5EF4-FFF2-40B4-BE49-F238E27FC236}">
                <a16:creationId xmlns:a16="http://schemas.microsoft.com/office/drawing/2014/main" id="{69E7A7CF-2E0A-4601-AC2D-598786C9959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685800" y="2565400"/>
            <a:ext cx="7772400" cy="1371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8" tIns="45719" rIns="91438" bIns="45719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sz="4800" b="1" dirty="0">
                <a:solidFill>
                  <a:schemeClr val="bg2"/>
                </a:solidFill>
                <a:latin typeface="华文中宋" panose="02010600040101010101" pitchFamily="2" charset="-122"/>
              </a:rPr>
              <a:t>算法设计与分析</a:t>
            </a:r>
            <a:br>
              <a:rPr lang="zh-CN" altLang="en-US" sz="4800" b="1" dirty="0">
                <a:solidFill>
                  <a:schemeClr val="bg2"/>
                </a:solidFill>
              </a:rPr>
            </a:br>
            <a:r>
              <a:rPr lang="zh-CN" altLang="en-US" b="1" dirty="0">
                <a:solidFill>
                  <a:schemeClr val="bg2"/>
                </a:solidFill>
              </a:rPr>
              <a:t>    </a:t>
            </a:r>
            <a:endParaRPr lang="zh-CN" altLang="en-US" sz="3200" b="1" dirty="0">
              <a:solidFill>
                <a:schemeClr val="bg2"/>
              </a:solidFill>
            </a:endParaRP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CD8458B-DB90-4018-9744-FD6D97A5A9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2950" y="3717032"/>
            <a:ext cx="777240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8" tIns="45719" rIns="91438" bIns="45719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4000" b="1" kern="0" dirty="0">
                <a:solidFill>
                  <a:srgbClr val="AC2F36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0. </a:t>
            </a:r>
            <a:r>
              <a:rPr lang="zh-CN" altLang="en-US" sz="4000" b="1" kern="0" dirty="0">
                <a:solidFill>
                  <a:srgbClr val="AC2F36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课程介绍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ED3ECAA-75FF-4813-AFFC-1001681BEFE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D83EAE4-AA24-42B6-BAAC-0B6D1214CB7B}" type="slidenum">
              <a:rPr lang="zh-CN" altLang="en-US"/>
              <a:pPr>
                <a:defRPr/>
              </a:pPr>
              <a:t>1</a:t>
            </a:fld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9FFF6FE3-668F-4F90-95BC-FD2C325082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11188" y="642938"/>
            <a:ext cx="7772400" cy="838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8" tIns="45719" rIns="91438" bIns="45719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b="1">
                <a:solidFill>
                  <a:srgbClr val="AC2F36"/>
                </a:solidFill>
              </a:rPr>
              <a:t>一、课程的作用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48F2C456-4BA1-4CF4-95E4-AE03D1F55F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66700" y="1989138"/>
            <a:ext cx="8610600" cy="42259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8" tIns="45719" rIns="91438" bIns="45719" numCol="1" anchor="t" anchorCtr="0" compatLnSpc="1">
            <a:prstTxWarp prst="textNoShape">
              <a:avLst/>
            </a:prstTxWarp>
          </a:bodyPr>
          <a:lstStyle/>
          <a:p>
            <a:pPr marL="609600" indent="-609600" eaLnBrk="1" hangingPunct="1">
              <a:lnSpc>
                <a:spcPct val="120000"/>
              </a:lnSpc>
              <a:buFontTx/>
              <a:buAutoNum type="arabicPeriod"/>
              <a:defRPr/>
            </a:pPr>
            <a:r>
              <a:rPr lang="zh-CN" altLang="en-US" sz="2800" b="1" dirty="0"/>
              <a:t>学习计算机科学的核心：算法思想和解决</a:t>
            </a: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</a:rPr>
              <a:t>计算</a:t>
            </a:r>
            <a:r>
              <a:rPr lang="zh-CN" altLang="en-US" sz="2800" b="1" dirty="0"/>
              <a:t>问题的能力</a:t>
            </a:r>
            <a:endParaRPr lang="en-US" altLang="zh-CN" sz="2800" b="1" dirty="0"/>
          </a:p>
          <a:p>
            <a:pPr marL="609600" indent="-609600" eaLnBrk="1" hangingPunct="1">
              <a:lnSpc>
                <a:spcPct val="120000"/>
              </a:lnSpc>
              <a:buFontTx/>
              <a:buAutoNum type="arabicPeriod"/>
              <a:defRPr/>
            </a:pPr>
            <a:r>
              <a:rPr lang="zh-CN" altLang="en-US" sz="2800" b="1" dirty="0"/>
              <a:t>指导编程实践：是重要的编程实践课程，对编程工作有重要的理论意义和指导作用，加深对具体的编程语言和数据结构的理解和掌握。</a:t>
            </a:r>
            <a:endParaRPr lang="en-US" altLang="zh-CN" sz="2800" b="1" dirty="0"/>
          </a:p>
          <a:p>
            <a:pPr marL="609600" indent="-609600" eaLnBrk="1" hangingPunct="1">
              <a:lnSpc>
                <a:spcPct val="120000"/>
              </a:lnSpc>
              <a:buFontTx/>
              <a:buAutoNum type="arabicPeriod"/>
              <a:defRPr/>
            </a:pPr>
            <a:r>
              <a:rPr lang="zh-CN" altLang="en-US" sz="2800" b="1" dirty="0"/>
              <a:t>求职、升学必需：对企业工作和学术研究有重要作用。</a:t>
            </a:r>
          </a:p>
        </p:txBody>
      </p:sp>
      <p:sp>
        <p:nvSpPr>
          <p:cNvPr id="16388" name="灯片编号占位符 2">
            <a:extLst>
              <a:ext uri="{FF2B5EF4-FFF2-40B4-BE49-F238E27FC236}">
                <a16:creationId xmlns:a16="http://schemas.microsoft.com/office/drawing/2014/main" id="{3BAE95BC-7A34-4F69-820E-8CB95E99D3B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349E523C-7C33-4221-893D-75B58EEF6A1F}" type="slidenum">
              <a:rPr lang="zh-CN" altLang="en-US" sz="1200" smtClean="0">
                <a:latin typeface="Palatino Linotype" panose="02040502050505030304" pitchFamily="18" charset="0"/>
              </a:rPr>
              <a:pPr/>
              <a:t>2</a:t>
            </a:fld>
            <a:endParaRPr lang="zh-CN" altLang="en-US" sz="1200">
              <a:latin typeface="Palatino Linotype" panose="0204050205050503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 build="p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15CE7D48-EF33-42C7-8406-DDA234EBAC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557338" y="387350"/>
            <a:ext cx="6029325" cy="9144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20000"/>
              </a:lnSpc>
            </a:pPr>
            <a:r>
              <a:rPr lang="zh-CN" altLang="en-US" b="1"/>
              <a:t>预备知识要求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5C6EADE3-8903-445A-A824-976586F6EA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305550" y="4846638"/>
            <a:ext cx="1641475" cy="8334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pPr algn="ctr" eaLnBrk="1" hangingPunct="1">
              <a:buFontTx/>
              <a:buNone/>
            </a:pPr>
            <a:r>
              <a:rPr lang="en-US" altLang="zh-CN" b="1"/>
              <a:t>… …</a:t>
            </a:r>
          </a:p>
        </p:txBody>
      </p:sp>
      <p:sp>
        <p:nvSpPr>
          <p:cNvPr id="18436" name="Rectangle 4">
            <a:extLst>
              <a:ext uri="{FF2B5EF4-FFF2-40B4-BE49-F238E27FC236}">
                <a16:creationId xmlns:a16="http://schemas.microsoft.com/office/drawing/2014/main" id="{CC80A403-5E54-438A-8D86-669FE26D88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0150" y="3284538"/>
            <a:ext cx="1752600" cy="914400"/>
          </a:xfrm>
          <a:prstGeom prst="rect">
            <a:avLst/>
          </a:prstGeom>
          <a:solidFill>
            <a:schemeClr val="bg1"/>
          </a:solidFill>
          <a:ln w="22225">
            <a:solidFill>
              <a:srgbClr val="FF6600"/>
            </a:solidFill>
            <a:miter lim="800000"/>
            <a:headEnd/>
            <a:tailEnd/>
          </a:ln>
        </p:spPr>
        <p:txBody>
          <a:bodyPr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>
                <a:solidFill>
                  <a:srgbClr val="0000FF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高级语言程序设计</a:t>
            </a:r>
          </a:p>
        </p:txBody>
      </p:sp>
      <p:sp>
        <p:nvSpPr>
          <p:cNvPr id="18437" name="Rectangle 5">
            <a:extLst>
              <a:ext uri="{FF2B5EF4-FFF2-40B4-BE49-F238E27FC236}">
                <a16:creationId xmlns:a16="http://schemas.microsoft.com/office/drawing/2014/main" id="{08748DEC-9B51-4D73-BCD9-09C8FF8786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0950" y="3284538"/>
            <a:ext cx="1752600" cy="914400"/>
          </a:xfrm>
          <a:prstGeom prst="rect">
            <a:avLst/>
          </a:prstGeom>
          <a:solidFill>
            <a:schemeClr val="bg1"/>
          </a:solidFill>
          <a:ln w="22225">
            <a:solidFill>
              <a:srgbClr val="FF66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>
                <a:latin typeface="Palatino Linotype" panose="02040502050505030304" pitchFamily="18" charset="0"/>
                <a:ea typeface="华文中宋" panose="02010600040101010101" pitchFamily="2" charset="-122"/>
              </a:rPr>
              <a:t>数据结构</a:t>
            </a:r>
          </a:p>
        </p:txBody>
      </p:sp>
      <p:sp>
        <p:nvSpPr>
          <p:cNvPr id="18438" name="Rectangle 6">
            <a:extLst>
              <a:ext uri="{FF2B5EF4-FFF2-40B4-BE49-F238E27FC236}">
                <a16:creationId xmlns:a16="http://schemas.microsoft.com/office/drawing/2014/main" id="{06BF5E8E-A8D8-4100-9D1A-B81369D69C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5550" y="3284538"/>
            <a:ext cx="1752600" cy="914400"/>
          </a:xfrm>
          <a:prstGeom prst="rect">
            <a:avLst/>
          </a:prstGeom>
          <a:solidFill>
            <a:schemeClr val="bg1"/>
          </a:solidFill>
          <a:ln w="22225">
            <a:solidFill>
              <a:srgbClr val="FF6600"/>
            </a:solidFill>
            <a:miter lim="800000"/>
            <a:headEnd/>
            <a:tailEnd/>
          </a:ln>
        </p:spPr>
        <p:txBody>
          <a:bodyPr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>
                <a:solidFill>
                  <a:srgbClr val="0000FF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算法设计与分析</a:t>
            </a:r>
          </a:p>
        </p:txBody>
      </p:sp>
      <p:sp>
        <p:nvSpPr>
          <p:cNvPr id="18439" name="AutoShape 19">
            <a:extLst>
              <a:ext uri="{FF2B5EF4-FFF2-40B4-BE49-F238E27FC236}">
                <a16:creationId xmlns:a16="http://schemas.microsoft.com/office/drawing/2014/main" id="{55CBB830-B10D-4C3B-85FF-D1257F320E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8950" y="3589338"/>
            <a:ext cx="685800" cy="228600"/>
          </a:xfrm>
          <a:prstGeom prst="rightArrow">
            <a:avLst>
              <a:gd name="adj1" fmla="val 50000"/>
              <a:gd name="adj2" fmla="val 75000"/>
            </a:avLst>
          </a:prstGeom>
          <a:solidFill>
            <a:schemeClr val="accent1"/>
          </a:solidFill>
          <a:ln w="25400">
            <a:solidFill>
              <a:srgbClr val="FF66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  <p:sp>
        <p:nvSpPr>
          <p:cNvPr id="18440" name="AutoShape 27">
            <a:extLst>
              <a:ext uri="{FF2B5EF4-FFF2-40B4-BE49-F238E27FC236}">
                <a16:creationId xmlns:a16="http://schemas.microsoft.com/office/drawing/2014/main" id="{4DD88A50-25C9-44FF-A717-51BB618BE2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67550" y="4198938"/>
            <a:ext cx="76200" cy="636587"/>
          </a:xfrm>
          <a:prstGeom prst="downArrow">
            <a:avLst>
              <a:gd name="adj1" fmla="val 50000"/>
              <a:gd name="adj2" fmla="val 208854"/>
            </a:avLst>
          </a:prstGeom>
          <a:solidFill>
            <a:schemeClr val="accent1"/>
          </a:solidFill>
          <a:ln w="25400">
            <a:solidFill>
              <a:srgbClr val="FF6600"/>
            </a:solidFill>
            <a:miter lim="800000"/>
            <a:headEnd/>
            <a:tailEnd/>
          </a:ln>
        </p:spPr>
        <p:txBody>
          <a:bodyPr vert="eaVert"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  <p:sp>
        <p:nvSpPr>
          <p:cNvPr id="18441" name="AutoShape 28">
            <a:extLst>
              <a:ext uri="{FF2B5EF4-FFF2-40B4-BE49-F238E27FC236}">
                <a16:creationId xmlns:a16="http://schemas.microsoft.com/office/drawing/2014/main" id="{3E296FF2-F55B-4555-997B-EF607C0562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3550" y="3589338"/>
            <a:ext cx="685800" cy="228600"/>
          </a:xfrm>
          <a:prstGeom prst="rightArrow">
            <a:avLst>
              <a:gd name="adj1" fmla="val 50000"/>
              <a:gd name="adj2" fmla="val 75000"/>
            </a:avLst>
          </a:prstGeom>
          <a:solidFill>
            <a:schemeClr val="accent1"/>
          </a:solidFill>
          <a:ln w="25400">
            <a:solidFill>
              <a:srgbClr val="FF66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  <p:sp>
        <p:nvSpPr>
          <p:cNvPr id="18442" name="Rectangle 6">
            <a:extLst>
              <a:ext uri="{FF2B5EF4-FFF2-40B4-BE49-F238E27FC236}">
                <a16:creationId xmlns:a16="http://schemas.microsoft.com/office/drawing/2014/main" id="{68836E39-63CC-47DA-9131-9F075B8A02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2203450"/>
            <a:ext cx="1752600" cy="642938"/>
          </a:xfrm>
          <a:prstGeom prst="rect">
            <a:avLst/>
          </a:prstGeom>
          <a:solidFill>
            <a:schemeClr val="bg1"/>
          </a:solidFill>
          <a:ln w="22225">
            <a:solidFill>
              <a:srgbClr val="FF6600"/>
            </a:solidFill>
            <a:miter lim="800000"/>
            <a:headEnd/>
            <a:tailEnd/>
          </a:ln>
        </p:spPr>
        <p:txBody>
          <a:bodyPr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>
                <a:solidFill>
                  <a:srgbClr val="0000FF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离散数学</a:t>
            </a:r>
          </a:p>
        </p:txBody>
      </p:sp>
      <p:sp>
        <p:nvSpPr>
          <p:cNvPr id="18443" name="AutoShape 26">
            <a:extLst>
              <a:ext uri="{FF2B5EF4-FFF2-40B4-BE49-F238E27FC236}">
                <a16:creationId xmlns:a16="http://schemas.microsoft.com/office/drawing/2014/main" id="{5029BFBA-045D-429A-A55C-0DF4338AA2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8975" y="2917825"/>
            <a:ext cx="76200" cy="285750"/>
          </a:xfrm>
          <a:prstGeom prst="downArrow">
            <a:avLst>
              <a:gd name="adj1" fmla="val 50000"/>
              <a:gd name="adj2" fmla="val 124965"/>
            </a:avLst>
          </a:prstGeom>
          <a:solidFill>
            <a:schemeClr val="accent1"/>
          </a:solidFill>
          <a:ln w="25400">
            <a:solidFill>
              <a:srgbClr val="FF6600"/>
            </a:solidFill>
            <a:miter lim="800000"/>
            <a:headEnd/>
            <a:tailEnd/>
          </a:ln>
        </p:spPr>
        <p:txBody>
          <a:bodyPr vert="eaVert"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  <p:sp>
        <p:nvSpPr>
          <p:cNvPr id="18444" name="灯片编号占位符 1">
            <a:extLst>
              <a:ext uri="{FF2B5EF4-FFF2-40B4-BE49-F238E27FC236}">
                <a16:creationId xmlns:a16="http://schemas.microsoft.com/office/drawing/2014/main" id="{D66D6089-866D-441C-8314-9A4DBA7DACC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0285A3C8-35FE-4DCB-BC8C-1D3C32145AE0}" type="slidenum">
              <a:rPr lang="zh-CN" altLang="en-US" sz="1200" smtClean="0">
                <a:latin typeface="Palatino Linotype" panose="02040502050505030304" pitchFamily="18" charset="0"/>
              </a:rPr>
              <a:pPr/>
              <a:t>3</a:t>
            </a:fld>
            <a:endParaRPr lang="zh-CN" altLang="en-US" sz="1200">
              <a:latin typeface="Palatino Linotype" panose="0204050205050503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3AD5F4F8-B303-47DD-89F3-36FA93AE03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00063" y="428625"/>
            <a:ext cx="82296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sz="4000" b="1" dirty="0"/>
              <a:t>面试题</a:t>
            </a:r>
            <a:r>
              <a:rPr lang="en-US" altLang="zh-CN" sz="4000" b="1" dirty="0"/>
              <a:t>1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150C6F28-4CE1-4506-8189-AD8B812EFC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19002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CN" sz="2800" b="1"/>
              <a:t>12 </a:t>
            </a:r>
            <a:r>
              <a:rPr lang="zh-CN" altLang="en-US" sz="2800" b="1"/>
              <a:t>个球一个天平， 现知道只有一个和其它的重量不同，问怎样称才能用三次就找到那个球。</a:t>
            </a:r>
            <a:r>
              <a:rPr lang="en-US" altLang="zh-CN" sz="2800" b="1"/>
              <a:t>13</a:t>
            </a:r>
            <a:r>
              <a:rPr lang="zh-CN" altLang="en-US" sz="2800" b="1"/>
              <a:t>个呢？ （注意此题并未说明那个球的重量是轻是重，所以需要仔细考虑） </a:t>
            </a:r>
          </a:p>
        </p:txBody>
      </p:sp>
      <p:sp>
        <p:nvSpPr>
          <p:cNvPr id="63492" name="Text Box 4">
            <a:extLst>
              <a:ext uri="{FF2B5EF4-FFF2-40B4-BE49-F238E27FC236}">
                <a16:creationId xmlns:a16="http://schemas.microsoft.com/office/drawing/2014/main" id="{8ED5933A-0AA4-4662-96ED-913376D0C2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3789363"/>
            <a:ext cx="66976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261938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zh-CN" sz="2800" b="1">
                <a:latin typeface="Palatino Linotype" panose="02040502050505030304" pitchFamily="18" charset="0"/>
                <a:ea typeface="华文中宋" panose="02010600040101010101" pitchFamily="2" charset="-122"/>
              </a:rPr>
              <a:t>n</a:t>
            </a:r>
            <a:r>
              <a:rPr lang="zh-CN" altLang="en-US" sz="2800" b="1">
                <a:latin typeface="Palatino Linotype" panose="02040502050505030304" pitchFamily="18" charset="0"/>
                <a:ea typeface="华文中宋" panose="02010600040101010101" pitchFamily="2" charset="-122"/>
              </a:rPr>
              <a:t>个球的情况怎样？</a:t>
            </a:r>
          </a:p>
        </p:txBody>
      </p:sp>
      <p:sp>
        <p:nvSpPr>
          <p:cNvPr id="19461" name="灯片编号占位符 1">
            <a:extLst>
              <a:ext uri="{FF2B5EF4-FFF2-40B4-BE49-F238E27FC236}">
                <a16:creationId xmlns:a16="http://schemas.microsoft.com/office/drawing/2014/main" id="{2470FAB7-DAAE-4FB4-A554-CA985F04CEF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FABEC942-B7F1-4BEC-9B54-1EED41F404FD}" type="slidenum">
              <a:rPr lang="zh-CN" altLang="en-US" sz="1200" smtClean="0">
                <a:latin typeface="Palatino Linotype" panose="02040502050505030304" pitchFamily="18" charset="0"/>
              </a:rPr>
              <a:pPr/>
              <a:t>4</a:t>
            </a:fld>
            <a:endParaRPr lang="zh-CN" altLang="en-US" sz="1200">
              <a:latin typeface="Palatino Linotype" panose="0204050205050503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34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34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内容占位符 2">
            <a:extLst>
              <a:ext uri="{FF2B5EF4-FFF2-40B4-BE49-F238E27FC236}">
                <a16:creationId xmlns:a16="http://schemas.microsoft.com/office/drawing/2014/main" id="{60525C08-B09A-4A2C-A40C-896A388CF028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457200" y="1628800"/>
            <a:ext cx="8229600" cy="48402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sz="2800" b="1" dirty="0"/>
              <a:t>一个老板要向一个员工支付一周的工钱，约定用金块支付日薪。老板仅有一块金块可以裁剪为</a:t>
            </a:r>
            <a:r>
              <a:rPr lang="en-US" altLang="zh-CN" sz="2800" b="1" dirty="0"/>
              <a:t>7</a:t>
            </a:r>
            <a:r>
              <a:rPr lang="zh-CN" altLang="en-US" sz="2800" b="1" dirty="0"/>
              <a:t>块小块，每块支付一天的薪水。但员工不想得到支离破碎的</a:t>
            </a:r>
            <a:r>
              <a:rPr lang="en-US" altLang="zh-CN" sz="2800" b="1" dirty="0"/>
              <a:t>7</a:t>
            </a:r>
            <a:r>
              <a:rPr lang="zh-CN" altLang="en-US" sz="2800" b="1" dirty="0"/>
              <a:t>块金块，要求老板尽可能地少切这块金块。老板应如何做？</a:t>
            </a:r>
          </a:p>
        </p:txBody>
      </p:sp>
      <p:sp>
        <p:nvSpPr>
          <p:cNvPr id="21508" name="灯片编号占位符 1">
            <a:extLst>
              <a:ext uri="{FF2B5EF4-FFF2-40B4-BE49-F238E27FC236}">
                <a16:creationId xmlns:a16="http://schemas.microsoft.com/office/drawing/2014/main" id="{92B2EF07-AC87-44D9-ABD3-D42A8D018B5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33B3A865-BE7F-41AE-BA19-AEC71FA86A01}" type="slidenum">
              <a:rPr lang="zh-CN" altLang="en-US" sz="1200" smtClean="0">
                <a:latin typeface="Palatino Linotype" panose="02040502050505030304" pitchFamily="18" charset="0"/>
              </a:rPr>
              <a:pPr/>
              <a:t>5</a:t>
            </a:fld>
            <a:endParaRPr lang="zh-CN" altLang="en-US" sz="1200">
              <a:latin typeface="Palatino Linotype" panose="02040502050505030304" pitchFamily="18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09E05AF-A76C-4C04-9AC5-9143273847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00063" y="428625"/>
            <a:ext cx="82296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sz="4000" b="1" dirty="0"/>
              <a:t>面试题</a:t>
            </a:r>
            <a:r>
              <a:rPr lang="en-US" altLang="zh-CN" sz="4000" b="1" dirty="0"/>
              <a:t>2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标题 1">
            <a:extLst>
              <a:ext uri="{FF2B5EF4-FFF2-40B4-BE49-F238E27FC236}">
                <a16:creationId xmlns:a16="http://schemas.microsoft.com/office/drawing/2014/main" id="{55D283E7-C95B-4064-A202-0DF0DD810E7F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sz="4000" b="1">
                <a:solidFill>
                  <a:srgbClr val="AC2F36"/>
                </a:solidFill>
              </a:rPr>
              <a:t>二、工作中遇到的情景</a:t>
            </a:r>
            <a:r>
              <a:rPr lang="en-US" altLang="zh-CN" sz="4000" b="1">
                <a:solidFill>
                  <a:schemeClr val="tx1"/>
                </a:solidFill>
              </a:rPr>
              <a:t>-1</a:t>
            </a:r>
            <a:endParaRPr lang="zh-CN" altLang="en-US" sz="4000" b="1">
              <a:solidFill>
                <a:schemeClr val="tx1"/>
              </a:solidFill>
            </a:endParaRPr>
          </a:p>
        </p:txBody>
      </p:sp>
      <p:sp>
        <p:nvSpPr>
          <p:cNvPr id="22531" name="内容占位符 2">
            <a:extLst>
              <a:ext uri="{FF2B5EF4-FFF2-40B4-BE49-F238E27FC236}">
                <a16:creationId xmlns:a16="http://schemas.microsoft.com/office/drawing/2014/main" id="{8FE87A80-8B97-4916-A446-0D223FBEBEB1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357188" y="1214438"/>
            <a:ext cx="8429625" cy="4911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sz="2800" b="1">
                <a:latin typeface="华文中宋" panose="02010600040101010101" pitchFamily="2" charset="-122"/>
              </a:rPr>
              <a:t>假设某一负责人</a:t>
            </a:r>
            <a:r>
              <a:rPr lang="en-US" altLang="zh-CN" sz="2800" b="1">
                <a:latin typeface="华文中宋" panose="02010600040101010101" pitchFamily="2" charset="-122"/>
              </a:rPr>
              <a:t>B</a:t>
            </a:r>
            <a:r>
              <a:rPr lang="zh-CN" altLang="en-US" sz="2800" b="1">
                <a:latin typeface="华文中宋" panose="02010600040101010101" pitchFamily="2" charset="-122"/>
              </a:rPr>
              <a:t>交给</a:t>
            </a:r>
            <a:r>
              <a:rPr lang="en-US" altLang="zh-CN" sz="2800" b="1">
                <a:latin typeface="华文中宋" panose="02010600040101010101" pitchFamily="2" charset="-122"/>
              </a:rPr>
              <a:t>A</a:t>
            </a:r>
            <a:r>
              <a:rPr lang="zh-CN" altLang="en-US" sz="2800" b="1">
                <a:latin typeface="华文中宋" panose="02010600040101010101" pitchFamily="2" charset="-122"/>
              </a:rPr>
              <a:t>你一个很难的任务，几天后询问你问题解决了没有。可能会发生如下图这样的情况</a:t>
            </a:r>
            <a:endParaRPr lang="en-US" altLang="zh-CN" sz="2800" b="1">
              <a:latin typeface="华文中宋" panose="02010600040101010101" pitchFamily="2" charset="-122"/>
            </a:endParaRPr>
          </a:p>
          <a:p>
            <a:pPr eaLnBrk="1" hangingPunct="1"/>
            <a:endParaRPr lang="en-US" altLang="zh-CN" sz="2800" b="1">
              <a:latin typeface="华文中宋" panose="02010600040101010101" pitchFamily="2" charset="-122"/>
            </a:endParaRPr>
          </a:p>
          <a:p>
            <a:pPr eaLnBrk="1" hangingPunct="1"/>
            <a:endParaRPr lang="en-US" altLang="zh-CN" sz="2800" b="1">
              <a:latin typeface="华文中宋" panose="02010600040101010101" pitchFamily="2" charset="-122"/>
            </a:endParaRPr>
          </a:p>
          <a:p>
            <a:pPr eaLnBrk="1" hangingPunct="1"/>
            <a:endParaRPr lang="en-US" altLang="zh-CN" sz="2800" b="1">
              <a:latin typeface="华文中宋" panose="02010600040101010101" pitchFamily="2" charset="-122"/>
            </a:endParaRPr>
          </a:p>
          <a:p>
            <a:pPr eaLnBrk="1" hangingPunct="1"/>
            <a:endParaRPr lang="en-US" altLang="zh-CN" sz="2800" b="1">
              <a:latin typeface="华文中宋" panose="02010600040101010101" pitchFamily="2" charset="-122"/>
            </a:endParaRPr>
          </a:p>
          <a:p>
            <a:pPr algn="just" eaLnBrk="1" hangingPunct="1"/>
            <a:r>
              <a:rPr lang="en-US" altLang="zh-CN" sz="2800" b="1">
                <a:latin typeface="华文中宋" panose="02010600040101010101" pitchFamily="2" charset="-122"/>
              </a:rPr>
              <a:t>B</a:t>
            </a:r>
            <a:r>
              <a:rPr lang="zh-CN" altLang="en-US" sz="2800" b="1">
                <a:latin typeface="华文中宋" panose="02010600040101010101" pitchFamily="2" charset="-122"/>
              </a:rPr>
              <a:t>问：</a:t>
            </a:r>
            <a:r>
              <a:rPr lang="zh-CN" altLang="en-US" sz="2800" b="1"/>
              <a:t>“</a:t>
            </a:r>
            <a:r>
              <a:rPr lang="zh-CN" altLang="en-US" sz="2800" b="1">
                <a:latin typeface="华文中宋" panose="02010600040101010101" pitchFamily="2" charset="-122"/>
              </a:rPr>
              <a:t>交给你的问题，解决方案设计出来了吗？</a:t>
            </a:r>
            <a:r>
              <a:rPr lang="zh-CN" altLang="en-US" sz="2800" b="1"/>
              <a:t>”</a:t>
            </a:r>
            <a:endParaRPr lang="zh-CN" altLang="en-US" sz="2800" b="1">
              <a:latin typeface="华文中宋" panose="02010600040101010101" pitchFamily="2" charset="-122"/>
            </a:endParaRPr>
          </a:p>
          <a:p>
            <a:pPr algn="just" eaLnBrk="1" hangingPunct="1"/>
            <a:r>
              <a:rPr lang="en-US" altLang="zh-CN" sz="2800" b="1">
                <a:latin typeface="华文中宋" panose="02010600040101010101" pitchFamily="2" charset="-122"/>
              </a:rPr>
              <a:t>A</a:t>
            </a:r>
            <a:r>
              <a:rPr lang="zh-CN" altLang="en-US" sz="2800" b="1">
                <a:latin typeface="华文中宋" panose="02010600040101010101" pitchFamily="2" charset="-122"/>
              </a:rPr>
              <a:t>答：</a:t>
            </a:r>
            <a:r>
              <a:rPr lang="zh-CN" altLang="en-US" sz="2800" b="1"/>
              <a:t>“</a:t>
            </a:r>
            <a:r>
              <a:rPr lang="zh-CN" altLang="en-US" sz="2800" b="1">
                <a:latin typeface="华文中宋" panose="02010600040101010101" pitchFamily="2" charset="-122"/>
              </a:rPr>
              <a:t>我找不到一个有效的算法来解决它，没能完成任务。</a:t>
            </a:r>
            <a:r>
              <a:rPr lang="zh-CN" altLang="en-US" sz="2800" b="1"/>
              <a:t>”</a:t>
            </a:r>
            <a:endParaRPr lang="zh-CN" altLang="en-US" sz="2800" b="1">
              <a:latin typeface="华文中宋" panose="02010600040101010101" pitchFamily="2" charset="-122"/>
            </a:endParaRPr>
          </a:p>
          <a:p>
            <a:pPr eaLnBrk="1" hangingPunct="1"/>
            <a:endParaRPr lang="zh-CN" altLang="en-US" sz="2800" b="1"/>
          </a:p>
        </p:txBody>
      </p:sp>
      <p:pic>
        <p:nvPicPr>
          <p:cNvPr id="22532" name="Picture 3" descr="E:\教学讲稿\temp\01.tif">
            <a:extLst>
              <a:ext uri="{FF2B5EF4-FFF2-40B4-BE49-F238E27FC236}">
                <a16:creationId xmlns:a16="http://schemas.microsoft.com/office/drawing/2014/main" id="{FB7CF309-5FEC-458C-99BD-111E0612B5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59" t="10506" r="6110"/>
          <a:stretch>
            <a:fillRect/>
          </a:stretch>
        </p:blipFill>
        <p:spPr bwMode="auto">
          <a:xfrm>
            <a:off x="2428875" y="2214563"/>
            <a:ext cx="5334000" cy="240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3" name="灯片编号占位符 1">
            <a:extLst>
              <a:ext uri="{FF2B5EF4-FFF2-40B4-BE49-F238E27FC236}">
                <a16:creationId xmlns:a16="http://schemas.microsoft.com/office/drawing/2014/main" id="{51323CE9-D64C-47D0-91CC-47E8B66B137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963B344C-002F-4EB0-A1D1-CC2224BF3FE0}" type="slidenum">
              <a:rPr lang="zh-CN" altLang="en-US" sz="1200" smtClean="0">
                <a:latin typeface="Palatino Linotype" panose="02040502050505030304" pitchFamily="18" charset="0"/>
              </a:rPr>
              <a:pPr/>
              <a:t>6</a:t>
            </a:fld>
            <a:endParaRPr lang="zh-CN" altLang="en-US" sz="1200">
              <a:latin typeface="Palatino Linotype" panose="0204050205050503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标题 1">
            <a:extLst>
              <a:ext uri="{FF2B5EF4-FFF2-40B4-BE49-F238E27FC236}">
                <a16:creationId xmlns:a16="http://schemas.microsoft.com/office/drawing/2014/main" id="{A450193D-07C8-4DC7-BB25-297B0EC614F7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sz="4000" b="1"/>
              <a:t>二、工作中遇到的情景</a:t>
            </a:r>
            <a:r>
              <a:rPr lang="en-US" altLang="zh-CN" sz="4000" b="1"/>
              <a:t>-2</a:t>
            </a:r>
            <a:endParaRPr lang="zh-CN" altLang="en-US" sz="4000"/>
          </a:p>
        </p:txBody>
      </p:sp>
      <p:sp>
        <p:nvSpPr>
          <p:cNvPr id="23555" name="内容占位符 2">
            <a:extLst>
              <a:ext uri="{FF2B5EF4-FFF2-40B4-BE49-F238E27FC236}">
                <a16:creationId xmlns:a16="http://schemas.microsoft.com/office/drawing/2014/main" id="{A8C6D7EC-CE0D-4435-876C-7580A6512F65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185738" y="1139825"/>
            <a:ext cx="8535987" cy="45259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 eaLnBrk="1" hangingPunct="1"/>
            <a:r>
              <a:rPr lang="en-US" altLang="zh-CN" sz="2800" b="1">
                <a:latin typeface="华文中宋" panose="02010600040101010101" pitchFamily="2" charset="-122"/>
              </a:rPr>
              <a:t>B</a:t>
            </a:r>
            <a:r>
              <a:rPr lang="zh-CN" altLang="en-US" sz="2800" b="1">
                <a:latin typeface="华文中宋" panose="02010600040101010101" pitchFamily="2" charset="-122"/>
              </a:rPr>
              <a:t>问：</a:t>
            </a:r>
            <a:r>
              <a:rPr lang="zh-CN" altLang="en-US" sz="2800" b="1"/>
              <a:t>“</a:t>
            </a:r>
            <a:r>
              <a:rPr lang="zh-CN" altLang="en-US" sz="2800" b="1">
                <a:latin typeface="华文中宋" panose="02010600040101010101" pitchFamily="2" charset="-122"/>
              </a:rPr>
              <a:t>交给你的问题，解决方案设计出来了吗？</a:t>
            </a:r>
            <a:r>
              <a:rPr lang="zh-CN" altLang="en-US" sz="2800" b="1"/>
              <a:t>”</a:t>
            </a:r>
            <a:endParaRPr lang="zh-CN" altLang="en-US" sz="2800" b="1">
              <a:latin typeface="华文中宋" panose="02010600040101010101" pitchFamily="2" charset="-122"/>
            </a:endParaRPr>
          </a:p>
          <a:p>
            <a:pPr algn="just" eaLnBrk="1" hangingPunct="1"/>
            <a:r>
              <a:rPr lang="en-US" altLang="zh-CN" sz="2800" b="1">
                <a:latin typeface="华文中宋" panose="02010600040101010101" pitchFamily="2" charset="-122"/>
              </a:rPr>
              <a:t>A</a:t>
            </a:r>
            <a:r>
              <a:rPr lang="zh-CN" altLang="en-US" sz="2800" b="1">
                <a:latin typeface="华文中宋" panose="02010600040101010101" pitchFamily="2" charset="-122"/>
              </a:rPr>
              <a:t>答：</a:t>
            </a:r>
            <a:r>
              <a:rPr lang="zh-CN" altLang="en-US" sz="2800" b="1"/>
              <a:t>“</a:t>
            </a:r>
            <a:r>
              <a:rPr lang="zh-CN" altLang="en-US" sz="2800" b="1">
                <a:latin typeface="华文中宋" panose="02010600040101010101" pitchFamily="2" charset="-122"/>
              </a:rPr>
              <a:t>我找不到一个有效的算法来解决它，因为这样的算法是不存在的。</a:t>
            </a:r>
            <a:r>
              <a:rPr lang="zh-CN" altLang="en-US" sz="2800" b="1"/>
              <a:t>”</a:t>
            </a:r>
            <a:endParaRPr lang="zh-CN" altLang="en-US" sz="2800" b="1">
              <a:latin typeface="华文中宋" panose="02010600040101010101" pitchFamily="2" charset="-122"/>
            </a:endParaRPr>
          </a:p>
          <a:p>
            <a:pPr algn="just" eaLnBrk="1" hangingPunct="1"/>
            <a:r>
              <a:rPr lang="en-US" altLang="zh-CN" sz="2800" b="1">
                <a:latin typeface="华文中宋" panose="02010600040101010101" pitchFamily="2" charset="-122"/>
              </a:rPr>
              <a:t>A</a:t>
            </a:r>
            <a:r>
              <a:rPr lang="zh-CN" altLang="en-US" sz="2800" b="1">
                <a:latin typeface="华文中宋" panose="02010600040101010101" pitchFamily="2" charset="-122"/>
              </a:rPr>
              <a:t>说：不过，要证明一个问题不存在有效算法，往往跟寻找有效算法一样难。</a:t>
            </a:r>
            <a:endParaRPr lang="en-US" altLang="zh-CN" sz="2800" b="1"/>
          </a:p>
          <a:p>
            <a:pPr eaLnBrk="1" hangingPunct="1"/>
            <a:endParaRPr lang="zh-CN" altLang="en-US" sz="2800" b="1"/>
          </a:p>
        </p:txBody>
      </p:sp>
      <p:pic>
        <p:nvPicPr>
          <p:cNvPr id="23556" name="Picture 2" descr="E:\教学讲稿\temp\02.tif">
            <a:extLst>
              <a:ext uri="{FF2B5EF4-FFF2-40B4-BE49-F238E27FC236}">
                <a16:creationId xmlns:a16="http://schemas.microsoft.com/office/drawing/2014/main" id="{9518EF7E-D770-45BA-914A-A65BCA4DA7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54" r="7675"/>
          <a:stretch>
            <a:fillRect/>
          </a:stretch>
        </p:blipFill>
        <p:spPr bwMode="auto">
          <a:xfrm>
            <a:off x="1692275" y="3860800"/>
            <a:ext cx="5478463" cy="2979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7" name="灯片编号占位符 1">
            <a:extLst>
              <a:ext uri="{FF2B5EF4-FFF2-40B4-BE49-F238E27FC236}">
                <a16:creationId xmlns:a16="http://schemas.microsoft.com/office/drawing/2014/main" id="{D5CBE469-38DE-4AF1-94B2-D8964CEE026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9F8DE1A3-9F4A-4B0D-9F8E-329B5DAFB11D}" type="slidenum">
              <a:rPr lang="zh-CN" altLang="en-US" sz="1200" smtClean="0">
                <a:latin typeface="Palatino Linotype" panose="02040502050505030304" pitchFamily="18" charset="0"/>
              </a:rPr>
              <a:pPr/>
              <a:t>7</a:t>
            </a:fld>
            <a:endParaRPr lang="zh-CN" altLang="en-US" sz="1200">
              <a:latin typeface="Palatino Linotype" panose="0204050205050503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1D134B55-0C5B-4887-A6C8-3437831CDBE0}"/>
                  </a:ext>
                </a:extLst>
              </p14:cNvPr>
              <p14:cNvContentPartPr/>
              <p14:nvPr/>
            </p14:nvContentPartPr>
            <p14:xfrm>
              <a:off x="580295" y="3184797"/>
              <a:ext cx="24480" cy="3204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1D134B55-0C5B-4887-A6C8-3437831CDBE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71295" y="3175797"/>
                <a:ext cx="4212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9FE6504E-3234-4214-9FF6-C843914EB9D4}"/>
                  </a:ext>
                </a:extLst>
              </p14:cNvPr>
              <p14:cNvContentPartPr/>
              <p14:nvPr/>
            </p14:nvContentPartPr>
            <p14:xfrm>
              <a:off x="642575" y="3315837"/>
              <a:ext cx="6480" cy="1404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9FE6504E-3234-4214-9FF6-C843914EB9D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33046" y="3306837"/>
                <a:ext cx="25158" cy="3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2555CAAE-C6F7-4EC9-8FA1-24B872B864F1}"/>
                  </a:ext>
                </a:extLst>
              </p14:cNvPr>
              <p14:cNvContentPartPr/>
              <p14:nvPr/>
            </p14:nvContentPartPr>
            <p14:xfrm>
              <a:off x="922655" y="3162117"/>
              <a:ext cx="16200" cy="26640"/>
            </p14:xfrm>
          </p:contentPart>
        </mc:Choice>
        <mc:Fallback xmlns=""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2555CAAE-C6F7-4EC9-8FA1-24B872B864F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13655" y="3153117"/>
                <a:ext cx="33840" cy="4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0B97AD70-9D8C-4B20-B226-208D1BA542DD}"/>
                  </a:ext>
                </a:extLst>
              </p14:cNvPr>
              <p14:cNvContentPartPr/>
              <p14:nvPr/>
            </p14:nvContentPartPr>
            <p14:xfrm>
              <a:off x="995015" y="3128277"/>
              <a:ext cx="23400" cy="9720"/>
            </p14:xfrm>
          </p:contentPart>
        </mc:Choice>
        <mc:Fallback xmlns=""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0B97AD70-9D8C-4B20-B226-208D1BA542D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85874" y="3119277"/>
                <a:ext cx="41316" cy="27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标题 1">
            <a:extLst>
              <a:ext uri="{FF2B5EF4-FFF2-40B4-BE49-F238E27FC236}">
                <a16:creationId xmlns:a16="http://schemas.microsoft.com/office/drawing/2014/main" id="{877D58E6-F346-4941-B89B-3FD05050F7D0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sz="4000" b="1"/>
              <a:t>二、工作中遇到的情景</a:t>
            </a:r>
            <a:r>
              <a:rPr lang="en-US" altLang="zh-CN" sz="4000" b="1"/>
              <a:t>-3</a:t>
            </a:r>
            <a:endParaRPr lang="zh-CN" altLang="en-US" sz="4000"/>
          </a:p>
        </p:txBody>
      </p:sp>
      <p:sp>
        <p:nvSpPr>
          <p:cNvPr id="25603" name="内容占位符 2">
            <a:extLst>
              <a:ext uri="{FF2B5EF4-FFF2-40B4-BE49-F238E27FC236}">
                <a16:creationId xmlns:a16="http://schemas.microsoft.com/office/drawing/2014/main" id="{7907FE12-8CE3-4A7D-9AF1-DDF670E742CF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285750" y="1071563"/>
            <a:ext cx="8372475" cy="51435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 eaLnBrk="1" hangingPunct="1"/>
            <a:r>
              <a:rPr lang="en-US" altLang="zh-CN" sz="2800" b="1">
                <a:latin typeface="华文中宋" panose="02010600040101010101" pitchFamily="2" charset="-122"/>
              </a:rPr>
              <a:t>B</a:t>
            </a:r>
            <a:r>
              <a:rPr lang="zh-CN" altLang="en-US" sz="2800" b="1">
                <a:latin typeface="华文中宋" panose="02010600040101010101" pitchFamily="2" charset="-122"/>
              </a:rPr>
              <a:t>问：</a:t>
            </a:r>
            <a:r>
              <a:rPr lang="zh-CN" altLang="en-US" sz="2800" b="1"/>
              <a:t>“</a:t>
            </a:r>
            <a:r>
              <a:rPr lang="zh-CN" altLang="en-US" sz="2800" b="1">
                <a:latin typeface="华文中宋" panose="02010600040101010101" pitchFamily="2" charset="-122"/>
              </a:rPr>
              <a:t>交给你的问题，解决方案设计出来了吗？</a:t>
            </a:r>
            <a:r>
              <a:rPr lang="zh-CN" altLang="en-US" sz="2800" b="1"/>
              <a:t>”</a:t>
            </a:r>
            <a:endParaRPr lang="zh-CN" altLang="en-US" sz="2800" b="1">
              <a:latin typeface="华文中宋" panose="02010600040101010101" pitchFamily="2" charset="-122"/>
            </a:endParaRPr>
          </a:p>
          <a:p>
            <a:pPr algn="just" eaLnBrk="1" hangingPunct="1"/>
            <a:r>
              <a:rPr lang="en-US" altLang="zh-CN" sz="2800" b="1">
                <a:latin typeface="华文中宋" panose="02010600040101010101" pitchFamily="2" charset="-122"/>
              </a:rPr>
              <a:t>A</a:t>
            </a:r>
            <a:r>
              <a:rPr lang="zh-CN" altLang="en-US" sz="2800" b="1">
                <a:latin typeface="华文中宋" panose="02010600040101010101" pitchFamily="2" charset="-122"/>
              </a:rPr>
              <a:t>答：</a:t>
            </a:r>
            <a:r>
              <a:rPr lang="zh-CN" altLang="en-US" sz="2800" b="1"/>
              <a:t>“</a:t>
            </a:r>
            <a:r>
              <a:rPr lang="zh-CN" altLang="en-US" sz="2800" b="1">
                <a:latin typeface="华文中宋" panose="02010600040101010101" pitchFamily="2" charset="-122"/>
              </a:rPr>
              <a:t>我找不到一个有效的算法来解决它，但不是我不行，因为所有这些大牛也都找不到解决它的有效算法。</a:t>
            </a:r>
            <a:r>
              <a:rPr lang="zh-CN" altLang="en-US" sz="2800" b="1"/>
              <a:t>”</a:t>
            </a:r>
          </a:p>
        </p:txBody>
      </p:sp>
      <p:pic>
        <p:nvPicPr>
          <p:cNvPr id="25604" name="Picture 2" descr="E:\教学讲稿\temp\03.tif">
            <a:extLst>
              <a:ext uri="{FF2B5EF4-FFF2-40B4-BE49-F238E27FC236}">
                <a16:creationId xmlns:a16="http://schemas.microsoft.com/office/drawing/2014/main" id="{8BB30D07-2884-48CA-841A-5CCCE29CED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22"/>
          <a:stretch>
            <a:fillRect/>
          </a:stretch>
        </p:blipFill>
        <p:spPr bwMode="auto">
          <a:xfrm>
            <a:off x="1331913" y="3162300"/>
            <a:ext cx="5745162" cy="3376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5" name="灯片编号占位符 1">
            <a:extLst>
              <a:ext uri="{FF2B5EF4-FFF2-40B4-BE49-F238E27FC236}">
                <a16:creationId xmlns:a16="http://schemas.microsoft.com/office/drawing/2014/main" id="{C9E341F8-333A-454E-A85B-536CE3F799F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848845F1-9839-4FDB-8F85-3121868CFF0E}" type="slidenum">
              <a:rPr lang="zh-CN" altLang="en-US" sz="1200" smtClean="0">
                <a:latin typeface="Palatino Linotype" panose="02040502050505030304" pitchFamily="18" charset="0"/>
              </a:rPr>
              <a:pPr/>
              <a:t>8</a:t>
            </a:fld>
            <a:endParaRPr lang="zh-CN" altLang="en-US" sz="1200">
              <a:latin typeface="Palatino Linotype" panose="0204050205050503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8B654371-F323-4F2A-A3AF-55B6A14849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304800"/>
            <a:ext cx="7772400" cy="762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8" tIns="45719" rIns="91438" bIns="45719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sz="4000" b="1">
                <a:solidFill>
                  <a:srgbClr val="AC2F36"/>
                </a:solidFill>
              </a:rPr>
              <a:t>三、</a:t>
            </a:r>
            <a:r>
              <a:rPr lang="en-US" altLang="zh-CN" sz="4000" b="1">
                <a:solidFill>
                  <a:srgbClr val="AC2F36"/>
                </a:solidFill>
              </a:rPr>
              <a:t>4</a:t>
            </a:r>
            <a:r>
              <a:rPr lang="zh-CN" altLang="en-US" sz="4000" b="1">
                <a:solidFill>
                  <a:srgbClr val="AC2F36"/>
                </a:solidFill>
              </a:rPr>
              <a:t>个小问题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D8975F51-D8FA-466E-82EF-C2B340D01D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071563"/>
            <a:ext cx="8534400" cy="5253037"/>
          </a:xfrm>
          <a:ln>
            <a:miter lim="800000"/>
            <a:headEnd/>
            <a:tailEnd/>
          </a:ln>
        </p:spPr>
        <p:txBody>
          <a:bodyPr vert="horz" wrap="square" lIns="91438" tIns="45719" rIns="91438" bIns="45719" numCol="1" anchor="t" anchorCtr="0" compatLnSpc="1">
            <a:prstTxWarp prst="textNoShape">
              <a:avLst/>
            </a:prstTxWarp>
          </a:bodyPr>
          <a:lstStyle/>
          <a:p>
            <a:pPr marL="609600" indent="-609600" eaLnBrk="1" hangingPunct="1">
              <a:lnSpc>
                <a:spcPct val="90000"/>
              </a:lnSpc>
              <a:buFontTx/>
              <a:buAutoNum type="arabicPeriod"/>
              <a:defRPr/>
            </a:pPr>
            <a:r>
              <a:rPr lang="zh-CN" altLang="en-US" sz="2800" b="1" dirty="0">
                <a:solidFill>
                  <a:srgbClr val="0000FF"/>
                </a:solidFill>
              </a:rPr>
              <a:t>自然数删除数码问题：</a:t>
            </a:r>
            <a:endParaRPr lang="en-US" altLang="zh-CN" sz="2800" b="1" dirty="0">
              <a:solidFill>
                <a:srgbClr val="0000FF"/>
              </a:solidFill>
            </a:endParaRPr>
          </a:p>
          <a:p>
            <a:pPr marL="1009650" lvl="1" indent="-609600" eaLnBrk="1" hangingPunct="1">
              <a:lnSpc>
                <a:spcPct val="90000"/>
              </a:lnSpc>
              <a:defRPr/>
            </a:pPr>
            <a:r>
              <a:rPr lang="zh-CN" altLang="en-US" b="1" dirty="0"/>
              <a:t>如</a:t>
            </a:r>
            <a:r>
              <a:rPr lang="en-US" altLang="zh-CN" b="1" dirty="0"/>
              <a:t>45563289323</a:t>
            </a:r>
            <a:r>
              <a:rPr lang="zh-CN" altLang="en-US" b="1" dirty="0"/>
              <a:t>中删除</a:t>
            </a:r>
            <a:r>
              <a:rPr lang="en-US" altLang="zh-CN" b="1" dirty="0"/>
              <a:t>5</a:t>
            </a:r>
            <a:r>
              <a:rPr lang="zh-CN" altLang="en-US" b="1" dirty="0"/>
              <a:t>个数使剩余的数码构成的数最大，如何求解？</a:t>
            </a:r>
          </a:p>
          <a:p>
            <a:pPr marL="609600" indent="-609600" eaLnBrk="1" hangingPunct="1">
              <a:lnSpc>
                <a:spcPct val="90000"/>
              </a:lnSpc>
              <a:buFontTx/>
              <a:buAutoNum type="arabicPeriod"/>
              <a:defRPr/>
            </a:pPr>
            <a:r>
              <a:rPr lang="en-US" altLang="zh-CN" sz="2800" b="1" dirty="0">
                <a:solidFill>
                  <a:srgbClr val="0000FF"/>
                </a:solidFill>
              </a:rPr>
              <a:t>3x+1</a:t>
            </a:r>
            <a:r>
              <a:rPr lang="zh-CN" altLang="en-US" sz="2800" b="1" dirty="0">
                <a:solidFill>
                  <a:srgbClr val="0000FF"/>
                </a:solidFill>
              </a:rPr>
              <a:t>问题：如</a:t>
            </a:r>
            <a:r>
              <a:rPr lang="en-US" altLang="zh-CN" sz="2800" b="1" dirty="0">
                <a:solidFill>
                  <a:srgbClr val="0000FF"/>
                </a:solidFill>
              </a:rPr>
              <a:t>x</a:t>
            </a:r>
            <a:r>
              <a:rPr lang="zh-CN" altLang="en-US" sz="2800" b="1" dirty="0">
                <a:solidFill>
                  <a:srgbClr val="0000FF"/>
                </a:solidFill>
              </a:rPr>
              <a:t>为偶数，</a:t>
            </a:r>
            <a:r>
              <a:rPr lang="en-US" altLang="zh-CN" sz="2800" b="1" dirty="0">
                <a:solidFill>
                  <a:srgbClr val="0000FF"/>
                </a:solidFill>
              </a:rPr>
              <a:t>x</a:t>
            </a:r>
            <a:r>
              <a:rPr lang="zh-CN" altLang="en-US" sz="2800" b="1" dirty="0">
                <a:solidFill>
                  <a:srgbClr val="0000FF"/>
                </a:solidFill>
              </a:rPr>
              <a:t>直接除以</a:t>
            </a:r>
            <a:r>
              <a:rPr lang="en-US" altLang="zh-CN" sz="2800" b="1" dirty="0">
                <a:solidFill>
                  <a:srgbClr val="0000FF"/>
                </a:solidFill>
              </a:rPr>
              <a:t>2</a:t>
            </a:r>
            <a:r>
              <a:rPr lang="zh-CN" altLang="en-US" sz="2800" b="1" dirty="0">
                <a:solidFill>
                  <a:srgbClr val="0000FF"/>
                </a:solidFill>
              </a:rPr>
              <a:t>；如</a:t>
            </a:r>
            <a:r>
              <a:rPr lang="en-US" altLang="zh-CN" sz="2800" b="1" dirty="0">
                <a:solidFill>
                  <a:srgbClr val="0000FF"/>
                </a:solidFill>
              </a:rPr>
              <a:t>x</a:t>
            </a:r>
            <a:r>
              <a:rPr lang="zh-CN" altLang="en-US" sz="2800" b="1" dirty="0">
                <a:solidFill>
                  <a:srgbClr val="0000FF"/>
                </a:solidFill>
              </a:rPr>
              <a:t>为奇数，则</a:t>
            </a:r>
            <a:r>
              <a:rPr lang="en-US" altLang="zh-CN" sz="2800" b="1" dirty="0">
                <a:solidFill>
                  <a:srgbClr val="0000FF"/>
                </a:solidFill>
              </a:rPr>
              <a:t>x 3</a:t>
            </a:r>
            <a:r>
              <a:rPr lang="zh-CN" altLang="en-US" sz="2800" b="1" dirty="0">
                <a:solidFill>
                  <a:srgbClr val="0000FF"/>
                </a:solidFill>
              </a:rPr>
              <a:t>倍加</a:t>
            </a:r>
            <a:r>
              <a:rPr lang="en-US" altLang="zh-CN" sz="2800" b="1" dirty="0">
                <a:solidFill>
                  <a:srgbClr val="0000FF"/>
                </a:solidFill>
              </a:rPr>
              <a:t>1</a:t>
            </a:r>
            <a:r>
              <a:rPr lang="zh-CN" altLang="en-US" sz="2800" b="1" dirty="0">
                <a:solidFill>
                  <a:srgbClr val="0000FF"/>
                </a:solidFill>
              </a:rPr>
              <a:t>后除以</a:t>
            </a:r>
            <a:r>
              <a:rPr lang="en-US" altLang="zh-CN" sz="2800" b="1" dirty="0">
                <a:solidFill>
                  <a:srgbClr val="0000FF"/>
                </a:solidFill>
              </a:rPr>
              <a:t>2</a:t>
            </a:r>
            <a:r>
              <a:rPr lang="zh-CN" altLang="en-US" sz="2800" b="1" dirty="0">
                <a:solidFill>
                  <a:srgbClr val="0000FF"/>
                </a:solidFill>
              </a:rPr>
              <a:t>；直至数据为</a:t>
            </a:r>
            <a:r>
              <a:rPr lang="en-US" altLang="zh-CN" sz="2800" b="1" dirty="0">
                <a:solidFill>
                  <a:srgbClr val="0000FF"/>
                </a:solidFill>
              </a:rPr>
              <a:t>1</a:t>
            </a:r>
            <a:r>
              <a:rPr lang="zh-CN" altLang="en-US" sz="2800" b="1" dirty="0">
                <a:solidFill>
                  <a:srgbClr val="0000FF"/>
                </a:solidFill>
              </a:rPr>
              <a:t>。</a:t>
            </a:r>
            <a:r>
              <a:rPr lang="en-US" altLang="zh-CN" sz="2800" b="1" dirty="0"/>
              <a:t>—</a:t>
            </a:r>
            <a:r>
              <a:rPr lang="zh-CN" altLang="en-US" sz="2800" b="1" dirty="0"/>
              <a:t>是否一定变为</a:t>
            </a:r>
            <a:r>
              <a:rPr lang="en-US" altLang="zh-CN" sz="2800" b="1" dirty="0"/>
              <a:t>1</a:t>
            </a:r>
            <a:r>
              <a:rPr lang="zh-CN" altLang="en-US" sz="2800" b="1" dirty="0"/>
              <a:t>？</a:t>
            </a:r>
            <a:endParaRPr lang="en-US" altLang="zh-CN" sz="2800" b="1" dirty="0"/>
          </a:p>
          <a:p>
            <a:pPr marL="590550" indent="-533400" eaLnBrk="1" hangingPunct="1">
              <a:lnSpc>
                <a:spcPct val="90000"/>
              </a:lnSpc>
              <a:buFont typeface="+mj-lt"/>
              <a:buAutoNum type="arabicPeriod"/>
              <a:defRPr/>
            </a:pPr>
            <a:r>
              <a:rPr lang="en-US" altLang="zh-CN" sz="2800" b="1" dirty="0">
                <a:solidFill>
                  <a:srgbClr val="0000FF"/>
                </a:solidFill>
              </a:rPr>
              <a:t> </a:t>
            </a:r>
            <a:r>
              <a:rPr lang="zh-CN" altLang="en-US" sz="2800" b="1" dirty="0">
                <a:solidFill>
                  <a:srgbClr val="0000FF"/>
                </a:solidFill>
              </a:rPr>
              <a:t>国际象棋中的“皇后”在横向、直向、和斜向都能走步和吃子，问在</a:t>
            </a:r>
            <a:r>
              <a:rPr lang="en-US" altLang="zh-CN" sz="2800" b="1" dirty="0" err="1">
                <a:solidFill>
                  <a:srgbClr val="0000FF"/>
                </a:solidFill>
              </a:rPr>
              <a:t>n×n</a:t>
            </a:r>
            <a:r>
              <a:rPr lang="en-US" altLang="zh-CN" sz="2800" b="1" dirty="0">
                <a:solidFill>
                  <a:srgbClr val="0000FF"/>
                </a:solidFill>
              </a:rPr>
              <a:t> </a:t>
            </a:r>
            <a:r>
              <a:rPr lang="zh-CN" altLang="en-US" sz="2800" b="1" dirty="0">
                <a:solidFill>
                  <a:srgbClr val="0000FF"/>
                </a:solidFill>
              </a:rPr>
              <a:t>格的棋盘上如何摆上</a:t>
            </a:r>
            <a:r>
              <a:rPr lang="en-US" altLang="zh-CN" sz="2800" b="1" dirty="0">
                <a:solidFill>
                  <a:srgbClr val="0000FF"/>
                </a:solidFill>
              </a:rPr>
              <a:t>n</a:t>
            </a:r>
            <a:r>
              <a:rPr lang="zh-CN" altLang="en-US" sz="2800" b="1" dirty="0">
                <a:solidFill>
                  <a:srgbClr val="0000FF"/>
                </a:solidFill>
              </a:rPr>
              <a:t>个皇后而使她们都不能互相吃。</a:t>
            </a:r>
            <a:endParaRPr lang="en-US" altLang="zh-CN" sz="2800" b="1" dirty="0">
              <a:solidFill>
                <a:srgbClr val="0000FF"/>
              </a:solidFill>
            </a:endParaRPr>
          </a:p>
          <a:p>
            <a:pPr marL="590550" indent="-533400" eaLnBrk="1" hangingPunct="1">
              <a:lnSpc>
                <a:spcPct val="90000"/>
              </a:lnSpc>
              <a:buFont typeface="+mj-lt"/>
              <a:buAutoNum type="arabicPeriod"/>
              <a:defRPr/>
            </a:pPr>
            <a:r>
              <a:rPr lang="zh-CN" altLang="en-US" sz="2800" b="1" dirty="0">
                <a:solidFill>
                  <a:srgbClr val="0000FF"/>
                </a:solidFill>
                <a:latin typeface="华文中宋" panose="02010600040101010101" pitchFamily="2" charset="-122"/>
              </a:rPr>
              <a:t>设天平有一些</a:t>
            </a:r>
            <a:r>
              <a:rPr lang="en-US" altLang="zh-CN" sz="2800" b="1" dirty="0">
                <a:solidFill>
                  <a:srgbClr val="0000FF"/>
                </a:solidFill>
                <a:latin typeface="华文中宋" panose="02010600040101010101" pitchFamily="2" charset="-122"/>
              </a:rPr>
              <a:t>25</a:t>
            </a:r>
            <a:r>
              <a:rPr lang="zh-CN" altLang="en-US" sz="2800" b="1" dirty="0">
                <a:solidFill>
                  <a:srgbClr val="0000FF"/>
                </a:solidFill>
                <a:latin typeface="华文中宋" panose="02010600040101010101" pitchFamily="2" charset="-122"/>
              </a:rPr>
              <a:t>克的砝码，一些</a:t>
            </a:r>
            <a:r>
              <a:rPr lang="en-US" altLang="zh-CN" sz="2800" b="1" dirty="0">
                <a:solidFill>
                  <a:srgbClr val="0000FF"/>
                </a:solidFill>
                <a:latin typeface="华文中宋" panose="02010600040101010101" pitchFamily="2" charset="-122"/>
              </a:rPr>
              <a:t>10</a:t>
            </a:r>
            <a:r>
              <a:rPr lang="zh-CN" altLang="en-US" sz="2800" b="1" dirty="0">
                <a:solidFill>
                  <a:srgbClr val="0000FF"/>
                </a:solidFill>
                <a:latin typeface="华文中宋" panose="02010600040101010101" pitchFamily="2" charset="-122"/>
              </a:rPr>
              <a:t>克的砝码，一些</a:t>
            </a:r>
            <a:r>
              <a:rPr lang="en-US" altLang="zh-CN" sz="2800" b="1" dirty="0">
                <a:solidFill>
                  <a:srgbClr val="0000FF"/>
                </a:solidFill>
                <a:latin typeface="华文中宋" panose="02010600040101010101" pitchFamily="2" charset="-122"/>
              </a:rPr>
              <a:t>5</a:t>
            </a:r>
            <a:r>
              <a:rPr lang="zh-CN" altLang="en-US" sz="2800" b="1" dirty="0">
                <a:solidFill>
                  <a:srgbClr val="0000FF"/>
                </a:solidFill>
                <a:latin typeface="华文中宋" panose="02010600040101010101" pitchFamily="2" charset="-122"/>
              </a:rPr>
              <a:t>克的砝码和一些</a:t>
            </a:r>
            <a:r>
              <a:rPr lang="en-US" altLang="zh-CN" sz="2800" b="1" dirty="0">
                <a:solidFill>
                  <a:srgbClr val="0000FF"/>
                </a:solidFill>
                <a:latin typeface="华文中宋" panose="02010600040101010101" pitchFamily="2" charset="-122"/>
              </a:rPr>
              <a:t>1</a:t>
            </a:r>
            <a:r>
              <a:rPr lang="zh-CN" altLang="en-US" sz="2800" b="1" dirty="0">
                <a:solidFill>
                  <a:srgbClr val="0000FF"/>
                </a:solidFill>
                <a:latin typeface="华文中宋" panose="02010600040101010101" pitchFamily="2" charset="-122"/>
              </a:rPr>
              <a:t>克的砝码。现要称</a:t>
            </a:r>
            <a:r>
              <a:rPr lang="en-US" altLang="zh-CN" sz="2800" b="1" dirty="0">
                <a:solidFill>
                  <a:srgbClr val="0000FF"/>
                </a:solidFill>
                <a:latin typeface="华文中宋" panose="02010600040101010101" pitchFamily="2" charset="-122"/>
              </a:rPr>
              <a:t>63</a:t>
            </a:r>
            <a:r>
              <a:rPr lang="zh-CN" altLang="en-US" sz="2800" b="1" dirty="0">
                <a:solidFill>
                  <a:srgbClr val="0000FF"/>
                </a:solidFill>
                <a:latin typeface="华文中宋" panose="02010600040101010101" pitchFamily="2" charset="-122"/>
              </a:rPr>
              <a:t>克的物体，问至少需要用几个砝码。</a:t>
            </a:r>
            <a:endParaRPr lang="zh-CN" altLang="en-US" sz="2800" b="1" dirty="0">
              <a:solidFill>
                <a:srgbClr val="0000FF"/>
              </a:solidFill>
            </a:endParaRPr>
          </a:p>
        </p:txBody>
      </p:sp>
      <p:sp>
        <p:nvSpPr>
          <p:cNvPr id="27652" name="灯片编号占位符 1">
            <a:extLst>
              <a:ext uri="{FF2B5EF4-FFF2-40B4-BE49-F238E27FC236}">
                <a16:creationId xmlns:a16="http://schemas.microsoft.com/office/drawing/2014/main" id="{90D608D3-CFFF-4D1D-AFC3-0648CA87F33E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7D76FA3C-5797-4F0F-9C44-B0BED371BBC3}" type="slidenum">
              <a:rPr lang="zh-CN" altLang="en-US" sz="1200" smtClean="0">
                <a:latin typeface="Palatino Linotype" panose="02040502050505030304" pitchFamily="18" charset="0"/>
              </a:rPr>
              <a:pPr/>
              <a:t>9</a:t>
            </a:fld>
            <a:endParaRPr lang="zh-CN" altLang="en-US" sz="1200">
              <a:latin typeface="Palatino Linotype" panose="0204050205050503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1" grpId="0" build="p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标题 1">
            <a:extLst>
              <a:ext uri="{FF2B5EF4-FFF2-40B4-BE49-F238E27FC236}">
                <a16:creationId xmlns:a16="http://schemas.microsoft.com/office/drawing/2014/main" id="{B7570B4A-C48F-48E0-B9B2-939F2BAF70E1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sz="4000" b="1">
                <a:solidFill>
                  <a:srgbClr val="AC2F36"/>
                </a:solidFill>
              </a:rPr>
              <a:t>思考</a:t>
            </a:r>
            <a:r>
              <a:rPr lang="en-US" altLang="zh-CN" sz="4000" b="1">
                <a:solidFill>
                  <a:srgbClr val="AC2F36"/>
                </a:solidFill>
              </a:rPr>
              <a:t>-</a:t>
            </a:r>
            <a:r>
              <a:rPr lang="zh-CN" altLang="en-US" sz="4000" b="1">
                <a:solidFill>
                  <a:srgbClr val="AC2F36"/>
                </a:solidFill>
              </a:rPr>
              <a:t>过河问题</a:t>
            </a:r>
          </a:p>
        </p:txBody>
      </p:sp>
      <p:sp>
        <p:nvSpPr>
          <p:cNvPr id="29699" name="内容占位符 2">
            <a:extLst>
              <a:ext uri="{FF2B5EF4-FFF2-40B4-BE49-F238E27FC236}">
                <a16:creationId xmlns:a16="http://schemas.microsoft.com/office/drawing/2014/main" id="{7C00A5EB-DF33-40F7-8B5A-7B71B846646E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457200" y="1214438"/>
            <a:ext cx="8229600" cy="3071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90000"/>
              </a:lnSpc>
            </a:pPr>
            <a:r>
              <a:rPr lang="zh-CN" altLang="en-US" sz="2400" b="1"/>
              <a:t>有</a:t>
            </a:r>
            <a:r>
              <a:rPr lang="en-US" altLang="zh-CN" sz="2400" b="1"/>
              <a:t>4</a:t>
            </a:r>
            <a:r>
              <a:rPr lang="zh-CN" altLang="en-US" sz="2400" b="1"/>
              <a:t>个学生</a:t>
            </a:r>
            <a:r>
              <a:rPr lang="en-US" altLang="zh-CN" sz="2400" b="1"/>
              <a:t>ABCD</a:t>
            </a:r>
            <a:r>
              <a:rPr lang="zh-CN" altLang="en-US" sz="2400" b="1"/>
              <a:t>要过一条河，河边只有一条船。他们单个人划船过河的时间如下：</a:t>
            </a:r>
            <a:endParaRPr lang="en-US" altLang="zh-CN" sz="2400" b="1"/>
          </a:p>
          <a:p>
            <a:pPr lvl="1" eaLnBrk="1" hangingPunct="1">
              <a:lnSpc>
                <a:spcPct val="90000"/>
              </a:lnSpc>
            </a:pPr>
            <a:r>
              <a:rPr lang="en-US" altLang="zh-CN" sz="2000" b="1"/>
              <a:t>A</a:t>
            </a:r>
            <a:r>
              <a:rPr lang="zh-CN" altLang="en-US" sz="2000" b="1"/>
              <a:t>需要</a:t>
            </a:r>
            <a:r>
              <a:rPr lang="en-US" altLang="zh-CN" sz="2000" b="1"/>
              <a:t>1</a:t>
            </a:r>
            <a:r>
              <a:rPr lang="zh-CN" altLang="en-US" sz="2000" b="1"/>
              <a:t>分钟；</a:t>
            </a:r>
            <a:r>
              <a:rPr lang="en-US" altLang="zh-CN" sz="2000" b="1"/>
              <a:t>B</a:t>
            </a:r>
            <a:r>
              <a:rPr lang="zh-CN" altLang="en-US" sz="2000" b="1"/>
              <a:t>需要</a:t>
            </a:r>
            <a:r>
              <a:rPr lang="en-US" altLang="zh-CN" sz="2000" b="1"/>
              <a:t>2</a:t>
            </a:r>
            <a:r>
              <a:rPr lang="zh-CN" altLang="en-US" sz="2000" b="1"/>
              <a:t>分钟；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000" b="1"/>
              <a:t>C</a:t>
            </a:r>
            <a:r>
              <a:rPr lang="zh-CN" altLang="en-US" sz="2000" b="1"/>
              <a:t>需要</a:t>
            </a:r>
            <a:r>
              <a:rPr lang="en-US" altLang="zh-CN" sz="2000" b="1"/>
              <a:t>5</a:t>
            </a:r>
            <a:r>
              <a:rPr lang="zh-CN" altLang="en-US" sz="2000" b="1"/>
              <a:t>分钟；</a:t>
            </a:r>
            <a:r>
              <a:rPr lang="en-US" altLang="zh-CN" sz="2000" b="1"/>
              <a:t>D</a:t>
            </a:r>
            <a:r>
              <a:rPr lang="zh-CN" altLang="en-US" sz="2000" b="1"/>
              <a:t>需要</a:t>
            </a:r>
            <a:r>
              <a:rPr lang="en-US" altLang="zh-CN" sz="2000" b="1"/>
              <a:t>10</a:t>
            </a:r>
            <a:r>
              <a:rPr lang="zh-CN" altLang="en-US" sz="2000" b="1"/>
              <a:t>分钟。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400" b="1"/>
              <a:t>小船每次只能乘</a:t>
            </a:r>
            <a:r>
              <a:rPr lang="en-US" altLang="zh-CN" sz="2400" b="1"/>
              <a:t>2</a:t>
            </a:r>
            <a:r>
              <a:rPr lang="zh-CN" altLang="en-US" sz="2400" b="1"/>
              <a:t>个人，而且如果船上有</a:t>
            </a:r>
            <a:r>
              <a:rPr lang="en-US" altLang="zh-CN" sz="2400" b="1"/>
              <a:t>2</a:t>
            </a:r>
            <a:r>
              <a:rPr lang="zh-CN" altLang="en-US" sz="2400" b="1"/>
              <a:t>个人，那么船过河的速度以较慢的那个人的速度决定。</a:t>
            </a:r>
            <a:endParaRPr lang="en-US" altLang="zh-CN" sz="2400" b="1"/>
          </a:p>
          <a:p>
            <a:pPr eaLnBrk="1" hangingPunct="1">
              <a:lnSpc>
                <a:spcPct val="90000"/>
              </a:lnSpc>
            </a:pPr>
            <a:r>
              <a:rPr lang="zh-CN" altLang="en-US" sz="2400" b="1"/>
              <a:t>问：怎样让安排这</a:t>
            </a:r>
            <a:r>
              <a:rPr lang="en-US" altLang="zh-CN" sz="2400" b="1"/>
              <a:t>4</a:t>
            </a:r>
            <a:r>
              <a:rPr lang="zh-CN" altLang="en-US" sz="2400" b="1"/>
              <a:t>个学生的过河顺序，使得在最少时间内过河？最少几分钟？</a:t>
            </a:r>
          </a:p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850F9E4-2070-4E2A-B5A2-92F451E56D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938" y="4429125"/>
            <a:ext cx="814387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FF0000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扩展：如有</a:t>
            </a:r>
            <a:r>
              <a:rPr lang="en-US" altLang="zh-CN" b="1">
                <a:solidFill>
                  <a:srgbClr val="FF0000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n</a:t>
            </a:r>
            <a:r>
              <a:rPr lang="zh-CN" altLang="en-US" b="1">
                <a:solidFill>
                  <a:srgbClr val="FF0000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个学生要过一条河，每个人过河的时间分别为</a:t>
            </a:r>
            <a:r>
              <a:rPr lang="en-US" altLang="zh-CN" b="1">
                <a:solidFill>
                  <a:srgbClr val="FF0000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t1</a:t>
            </a:r>
            <a:r>
              <a:rPr lang="zh-CN" altLang="en-US" b="1">
                <a:solidFill>
                  <a:srgbClr val="FF0000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，</a:t>
            </a:r>
            <a:r>
              <a:rPr lang="en-US" altLang="zh-CN" b="1">
                <a:solidFill>
                  <a:srgbClr val="FF0000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t2</a:t>
            </a:r>
            <a:r>
              <a:rPr lang="zh-CN" altLang="en-US" b="1">
                <a:solidFill>
                  <a:srgbClr val="FF0000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，</a:t>
            </a:r>
            <a:r>
              <a:rPr lang="en-US" altLang="zh-CN" b="1">
                <a:solidFill>
                  <a:srgbClr val="FF0000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…</a:t>
            </a:r>
            <a:r>
              <a:rPr lang="zh-CN" altLang="en-US" b="1">
                <a:solidFill>
                  <a:srgbClr val="FF0000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，</a:t>
            </a:r>
            <a:r>
              <a:rPr lang="en-US" altLang="zh-CN" b="1">
                <a:solidFill>
                  <a:srgbClr val="FF0000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tn</a:t>
            </a:r>
            <a:r>
              <a:rPr lang="zh-CN" altLang="en-US" b="1">
                <a:solidFill>
                  <a:srgbClr val="FF0000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，如何安排这</a:t>
            </a:r>
            <a:r>
              <a:rPr lang="en-US" altLang="zh-CN" b="1">
                <a:solidFill>
                  <a:srgbClr val="FF0000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n</a:t>
            </a:r>
            <a:r>
              <a:rPr lang="zh-CN" altLang="en-US" b="1">
                <a:solidFill>
                  <a:srgbClr val="FF0000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个学生的过河顺序，使得在最少时间内过河？</a:t>
            </a:r>
            <a:endParaRPr lang="en-US" altLang="zh-CN" b="1">
              <a:solidFill>
                <a:srgbClr val="FF0000"/>
              </a:solidFill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  <p:sp>
        <p:nvSpPr>
          <p:cNvPr id="29701" name="灯片编号占位符 1">
            <a:extLst>
              <a:ext uri="{FF2B5EF4-FFF2-40B4-BE49-F238E27FC236}">
                <a16:creationId xmlns:a16="http://schemas.microsoft.com/office/drawing/2014/main" id="{C359AF64-6E74-4D90-A6EA-A66E0738EAF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4ECD5F93-C190-45BF-99EB-6271ABDB0B46}" type="slidenum">
              <a:rPr lang="zh-CN" altLang="en-US" sz="1200" smtClean="0">
                <a:latin typeface="Palatino Linotype" panose="02040502050505030304" pitchFamily="18" charset="0"/>
              </a:rPr>
              <a:pPr/>
              <a:t>10</a:t>
            </a:fld>
            <a:endParaRPr lang="zh-CN" altLang="en-US" sz="1200">
              <a:latin typeface="Palatino Linotype" panose="0204050205050503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3122B292-465B-41AA-9068-A193DA43FA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304800"/>
            <a:ext cx="7772400" cy="685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sz="4000" b="1">
                <a:solidFill>
                  <a:srgbClr val="AC2F36"/>
                </a:solidFill>
              </a:rPr>
              <a:t>五、课程目标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9C0089DE-325D-4B34-ACC4-2D9D7C3136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143000"/>
            <a:ext cx="8686800" cy="5181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8" tIns="45719" rIns="91438" bIns="45719" numCol="1" anchor="t" anchorCtr="0" compatLnSpc="1">
            <a:prstTxWarp prst="textNoShape">
              <a:avLst/>
            </a:prstTxWarp>
          </a:bodyPr>
          <a:lstStyle/>
          <a:p>
            <a:pPr marL="533400" indent="-533400" eaLnBrk="1" hangingPunct="1">
              <a:lnSpc>
                <a:spcPct val="120000"/>
              </a:lnSpc>
              <a:buFontTx/>
              <a:buAutoNum type="arabicPeriod"/>
            </a:pPr>
            <a:r>
              <a:rPr lang="zh-CN" altLang="en-US" sz="2800" b="1" dirty="0"/>
              <a:t>介绍各种问题算法设计与分析的理论，主要思想、分析方法与策略及其适用范围。</a:t>
            </a:r>
          </a:p>
          <a:p>
            <a:pPr marL="533400" indent="-533400" eaLnBrk="1" hangingPunct="1">
              <a:lnSpc>
                <a:spcPct val="120000"/>
              </a:lnSpc>
              <a:buFontTx/>
              <a:buAutoNum type="arabicPeriod"/>
            </a:pPr>
            <a:r>
              <a:rPr lang="zh-CN" altLang="en-US" sz="2800" b="1" dirty="0"/>
              <a:t>针对一些具体问题以及经典实例，用算法理论与思想，采用合适的数据类型对问题进行抽象描述，并用最有效的方式设计出解决问题的高效算法。</a:t>
            </a:r>
          </a:p>
          <a:p>
            <a:pPr marL="533400" indent="-533400" eaLnBrk="1" hangingPunct="1">
              <a:lnSpc>
                <a:spcPct val="120000"/>
              </a:lnSpc>
              <a:buFontTx/>
              <a:buAutoNum type="arabicPeriod"/>
            </a:pPr>
            <a:r>
              <a:rPr lang="zh-CN" altLang="en-US" sz="2800" b="1" dirty="0"/>
              <a:t>通过对问题算法正确性的证明和复杂性的分析，深化对大问题的求解模型、求解方法、复杂性、效率和抽象的层次、结论等在计算机学科中应用的理解。</a:t>
            </a:r>
          </a:p>
        </p:txBody>
      </p:sp>
      <p:sp>
        <p:nvSpPr>
          <p:cNvPr id="33796" name="灯片编号占位符 1">
            <a:extLst>
              <a:ext uri="{FF2B5EF4-FFF2-40B4-BE49-F238E27FC236}">
                <a16:creationId xmlns:a16="http://schemas.microsoft.com/office/drawing/2014/main" id="{744D6354-0CB9-4A88-A8C8-426D40DE0B6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9F293C9D-7A51-4117-810B-318B2134B304}" type="slidenum">
              <a:rPr lang="zh-CN" altLang="en-US" sz="1200" smtClean="0">
                <a:latin typeface="Palatino Linotype" panose="02040502050505030304" pitchFamily="18" charset="0"/>
              </a:rPr>
              <a:pPr/>
              <a:t>11</a:t>
            </a:fld>
            <a:endParaRPr lang="zh-CN" altLang="en-US" sz="1200">
              <a:latin typeface="Palatino Linotype" panose="0204050205050503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9" grpId="0" build="p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EC42544C-F880-4828-A631-9C0B8FDC0B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457200"/>
            <a:ext cx="7772400" cy="9144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8" tIns="45719" rIns="91438" bIns="45719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sz="4000" b="1"/>
              <a:t>五、课程目标</a:t>
            </a:r>
            <a:r>
              <a:rPr lang="zh-CN" altLang="en-US" sz="4000" b="1">
                <a:solidFill>
                  <a:srgbClr val="AC2F36"/>
                </a:solidFill>
              </a:rPr>
              <a:t>（续）</a:t>
            </a: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5FEE00F5-915B-4BA7-BA93-5780B36E3A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524000"/>
            <a:ext cx="8382000" cy="4876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8" tIns="45719" rIns="91438" bIns="45719" numCol="1" anchor="t" anchorCtr="0" compatLnSpc="1">
            <a:prstTxWarp prst="textNoShape">
              <a:avLst/>
            </a:prstTxWarp>
          </a:bodyPr>
          <a:lstStyle/>
          <a:p>
            <a:pPr marL="609600" indent="-609600" eaLnBrk="1" hangingPunct="1">
              <a:lnSpc>
                <a:spcPct val="120000"/>
              </a:lnSpc>
              <a:buFontTx/>
              <a:buAutoNum type="arabicPeriod" startAt="4"/>
            </a:pPr>
            <a:r>
              <a:rPr lang="zh-CN" altLang="en-US" sz="2800" b="1" dirty="0"/>
              <a:t>通过介绍一些</a:t>
            </a:r>
            <a:r>
              <a:rPr lang="en-US" altLang="zh-CN" sz="2800" b="1" dirty="0"/>
              <a:t>NP</a:t>
            </a:r>
            <a:r>
              <a:rPr lang="zh-CN" altLang="en-US" sz="2800" b="1" dirty="0"/>
              <a:t>问题，深入了解计算机的算法复杂性。</a:t>
            </a:r>
          </a:p>
          <a:p>
            <a:pPr marL="990600" lvl="1" indent="-533400" eaLnBrk="1" hangingPunct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/>
              <a:t>怎样的问题是可解的？某个问题可解吗？算法有效吗？</a:t>
            </a:r>
          </a:p>
          <a:p>
            <a:pPr marL="990600" lvl="1" indent="-533400" eaLnBrk="1" hangingPunct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/>
              <a:t>对于某些问题</a:t>
            </a:r>
            <a:r>
              <a:rPr lang="en-US" altLang="zh-CN" sz="2400" b="1" dirty="0"/>
              <a:t>(</a:t>
            </a:r>
            <a:r>
              <a:rPr lang="zh-CN" altLang="en-US" sz="2400" b="1" dirty="0"/>
              <a:t>如</a:t>
            </a:r>
            <a:r>
              <a:rPr lang="en-US" altLang="zh-CN" sz="2400" b="1" dirty="0"/>
              <a:t>NP</a:t>
            </a:r>
            <a:r>
              <a:rPr lang="zh-CN" altLang="en-US" sz="2400" b="1" dirty="0"/>
              <a:t>完全问题</a:t>
            </a:r>
            <a:r>
              <a:rPr lang="en-US" altLang="zh-CN" sz="2400" b="1" dirty="0"/>
              <a:t>) </a:t>
            </a:r>
            <a:r>
              <a:rPr lang="zh-CN" altLang="en-US" sz="2400" b="1" dirty="0"/>
              <a:t>，无法用常规的方法和任何已知的方法设计出有效的算法。可否设计问题的近似解的有效算法。</a:t>
            </a:r>
          </a:p>
          <a:p>
            <a:pPr marL="609600" indent="-609600" eaLnBrk="1" hangingPunct="1">
              <a:lnSpc>
                <a:spcPct val="120000"/>
              </a:lnSpc>
              <a:buFontTx/>
              <a:buAutoNum type="arabicPeriod" startAt="4"/>
            </a:pPr>
            <a:r>
              <a:rPr lang="zh-CN" altLang="en-US" sz="2800" b="1" dirty="0"/>
              <a:t>再现计算机程序设计方法学的理论、抽象和设计三个过程。</a:t>
            </a:r>
            <a:endParaRPr lang="zh-CN" altLang="en-US" sz="2800" dirty="0"/>
          </a:p>
        </p:txBody>
      </p:sp>
      <p:sp>
        <p:nvSpPr>
          <p:cNvPr id="35844" name="灯片编号占位符 1">
            <a:extLst>
              <a:ext uri="{FF2B5EF4-FFF2-40B4-BE49-F238E27FC236}">
                <a16:creationId xmlns:a16="http://schemas.microsoft.com/office/drawing/2014/main" id="{3EC64B04-DE11-4341-BD1D-E2F535EB051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E59D30C8-A533-4A24-9DED-298DECDC5A4F}" type="slidenum">
              <a:rPr lang="zh-CN" altLang="en-US" sz="1200" smtClean="0">
                <a:latin typeface="Palatino Linotype" panose="02040502050505030304" pitchFamily="18" charset="0"/>
              </a:rPr>
              <a:pPr/>
              <a:t>12</a:t>
            </a:fld>
            <a:endParaRPr lang="zh-CN" altLang="en-US" sz="1200">
              <a:latin typeface="Palatino Linotype" panose="0204050205050503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7" grpId="0" build="p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C8C0AC95-ED6C-4820-8BC7-CB5D4E9135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323850"/>
            <a:ext cx="7772400" cy="711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8" tIns="45719" rIns="91438" bIns="45719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sz="4000" b="1">
                <a:solidFill>
                  <a:srgbClr val="AC2F36"/>
                </a:solidFill>
              </a:rPr>
              <a:t>六、课程主要内容</a:t>
            </a:r>
          </a:p>
        </p:txBody>
      </p:sp>
      <p:sp>
        <p:nvSpPr>
          <p:cNvPr id="34819" name="Text Box 4">
            <a:extLst>
              <a:ext uri="{FF2B5EF4-FFF2-40B4-BE49-F238E27FC236}">
                <a16:creationId xmlns:a16="http://schemas.microsoft.com/office/drawing/2014/main" id="{A11660BF-66D2-47BC-85CA-E28731822F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1557338"/>
            <a:ext cx="7772400" cy="4825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4572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9144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  <a:buFontTx/>
              <a:buAutoNum type="arabicPeriod"/>
              <a:defRPr/>
            </a:pP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算法分析综述</a:t>
            </a:r>
            <a:endParaRPr lang="en-US" altLang="zh-CN" sz="28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>
              <a:lnSpc>
                <a:spcPct val="80000"/>
              </a:lnSpc>
              <a:spcBef>
                <a:spcPct val="50000"/>
              </a:spcBef>
              <a:buFontTx/>
              <a:buAutoNum type="arabicPeriod"/>
              <a:defRPr/>
            </a:pPr>
            <a:r>
              <a:rPr lang="zh-CN" altLang="en-US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计算理论简介，</a:t>
            </a:r>
            <a:r>
              <a:rPr lang="en-US" altLang="zh-CN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NP-</a:t>
            </a:r>
            <a:r>
              <a:rPr lang="zh-CN" altLang="en-US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完全性</a:t>
            </a:r>
            <a:r>
              <a:rPr lang="en-US" altLang="zh-CN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-</a:t>
            </a:r>
            <a:r>
              <a:rPr lang="zh-CN" altLang="en-US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部分内容</a:t>
            </a:r>
            <a:endParaRPr lang="en-US" altLang="zh-CN" sz="28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>
              <a:lnSpc>
                <a:spcPct val="80000"/>
              </a:lnSpc>
              <a:spcBef>
                <a:spcPct val="50000"/>
              </a:spcBef>
              <a:buFontTx/>
              <a:buAutoNum type="arabicPeriod"/>
              <a:defRPr/>
            </a:pPr>
            <a:r>
              <a:rPr lang="zh-CN" altLang="en-US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典型问题算法设计</a:t>
            </a:r>
          </a:p>
          <a:p>
            <a:pPr lvl="1">
              <a:lnSpc>
                <a:spcPct val="80000"/>
              </a:lnSpc>
              <a:spcBef>
                <a:spcPct val="50000"/>
              </a:spcBef>
              <a:buFont typeface="Wingdings" panose="05000000000000000000" pitchFamily="2" charset="2"/>
              <a:buChar char="ü"/>
              <a:defRPr/>
            </a:pPr>
            <a:r>
              <a:rPr lang="zh-CN" altLang="en-US" sz="2800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递归与分治法策略</a:t>
            </a:r>
          </a:p>
          <a:p>
            <a:pPr lvl="1">
              <a:lnSpc>
                <a:spcPct val="80000"/>
              </a:lnSpc>
              <a:spcBef>
                <a:spcPct val="50000"/>
              </a:spcBef>
              <a:buFont typeface="Wingdings" panose="05000000000000000000" pitchFamily="2" charset="2"/>
              <a:buChar char="ü"/>
              <a:defRPr/>
            </a:pPr>
            <a:r>
              <a:rPr lang="zh-CN" altLang="en-US" sz="2800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贪心法</a:t>
            </a:r>
          </a:p>
          <a:p>
            <a:pPr lvl="1">
              <a:lnSpc>
                <a:spcPct val="80000"/>
              </a:lnSpc>
              <a:spcBef>
                <a:spcPct val="50000"/>
              </a:spcBef>
              <a:buFont typeface="Wingdings" panose="05000000000000000000" pitchFamily="2" charset="2"/>
              <a:buChar char="ü"/>
              <a:defRPr/>
            </a:pPr>
            <a:r>
              <a:rPr lang="zh-CN" altLang="en-US" sz="2800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动态规划法</a:t>
            </a:r>
          </a:p>
          <a:p>
            <a:pPr lvl="1">
              <a:lnSpc>
                <a:spcPct val="80000"/>
              </a:lnSpc>
              <a:spcBef>
                <a:spcPct val="50000"/>
              </a:spcBef>
              <a:buFont typeface="Wingdings" panose="05000000000000000000" pitchFamily="2" charset="2"/>
              <a:buChar char="ü"/>
              <a:defRPr/>
            </a:pPr>
            <a:r>
              <a:rPr lang="zh-CN" altLang="en-US" sz="2800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回溯法</a:t>
            </a:r>
          </a:p>
          <a:p>
            <a:pPr lvl="1">
              <a:lnSpc>
                <a:spcPct val="80000"/>
              </a:lnSpc>
              <a:spcBef>
                <a:spcPct val="50000"/>
              </a:spcBef>
              <a:buFont typeface="Wingdings" panose="05000000000000000000" pitchFamily="2" charset="2"/>
              <a:buChar char="ü"/>
              <a:defRPr/>
            </a:pPr>
            <a:r>
              <a:rPr lang="zh-CN" altLang="en-US" sz="2800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分支</a:t>
            </a:r>
            <a:r>
              <a:rPr lang="en-US" altLang="zh-CN" sz="2800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-</a:t>
            </a:r>
            <a:r>
              <a:rPr lang="zh-CN" altLang="en-US" sz="2800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限界法</a:t>
            </a:r>
            <a:endParaRPr lang="en-US" altLang="zh-CN" sz="2800" b="1" dirty="0">
              <a:latin typeface="Palatino Linotype" panose="02040502050505030304" pitchFamily="18" charset="0"/>
              <a:ea typeface="华文中宋" panose="02010600040101010101" pitchFamily="2" charset="-122"/>
            </a:endParaRPr>
          </a:p>
          <a:p>
            <a:pPr marL="457200" lvl="1" indent="0">
              <a:lnSpc>
                <a:spcPct val="80000"/>
              </a:lnSpc>
              <a:spcBef>
                <a:spcPct val="50000"/>
              </a:spcBef>
              <a:defRPr/>
            </a:pPr>
            <a:endParaRPr lang="en-US" altLang="zh-CN" sz="2800" b="1" dirty="0">
              <a:solidFill>
                <a:srgbClr val="FF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7892" name="AutoShape 16">
            <a:extLst>
              <a:ext uri="{FF2B5EF4-FFF2-40B4-BE49-F238E27FC236}">
                <a16:creationId xmlns:a16="http://schemas.microsoft.com/office/drawing/2014/main" id="{757DEF73-A7D3-4D1D-8B4E-4D40D5FBA5A1}"/>
              </a:ext>
            </a:extLst>
          </p:cNvPr>
          <p:cNvSpPr>
            <a:spLocks/>
          </p:cNvSpPr>
          <p:nvPr/>
        </p:nvSpPr>
        <p:spPr bwMode="auto">
          <a:xfrm>
            <a:off x="4652963" y="3213100"/>
            <a:ext cx="304800" cy="1981200"/>
          </a:xfrm>
          <a:prstGeom prst="rightBrace">
            <a:avLst>
              <a:gd name="adj1" fmla="val 5416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  <p:sp>
        <p:nvSpPr>
          <p:cNvPr id="37893" name="Text Box 17">
            <a:extLst>
              <a:ext uri="{FF2B5EF4-FFF2-40B4-BE49-F238E27FC236}">
                <a16:creationId xmlns:a16="http://schemas.microsoft.com/office/drawing/2014/main" id="{C852491F-8FF7-4B24-B651-9750E53CB5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9700" y="3932238"/>
            <a:ext cx="2667000" cy="541337"/>
          </a:xfrm>
          <a:prstGeom prst="rect">
            <a:avLst/>
          </a:prstGeom>
          <a:noFill/>
          <a:ln w="22225">
            <a:solidFill>
              <a:srgbClr val="FF66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latin typeface="华文中宋" panose="02010600040101010101" pitchFamily="2" charset="-122"/>
                <a:ea typeface="华文中宋" panose="02010600040101010101" pitchFamily="2" charset="-122"/>
              </a:rPr>
              <a:t>图的算法</a:t>
            </a:r>
            <a:r>
              <a:rPr lang="en-US" altLang="zh-CN" sz="2800" b="1">
                <a:latin typeface="华文中宋" panose="02010600040101010101" pitchFamily="2" charset="-122"/>
                <a:ea typeface="华文中宋" panose="02010600040101010101" pitchFamily="2" charset="-122"/>
              </a:rPr>
              <a:t>-</a:t>
            </a:r>
            <a:r>
              <a:rPr lang="zh-CN" altLang="en-US" sz="2800" b="1">
                <a:latin typeface="华文中宋" panose="02010600040101010101" pitchFamily="2" charset="-122"/>
                <a:ea typeface="华文中宋" panose="02010600040101010101" pitchFamily="2" charset="-122"/>
              </a:rPr>
              <a:t>部分</a:t>
            </a:r>
          </a:p>
        </p:txBody>
      </p:sp>
      <p:sp>
        <p:nvSpPr>
          <p:cNvPr id="37894" name="灯片编号占位符 1">
            <a:extLst>
              <a:ext uri="{FF2B5EF4-FFF2-40B4-BE49-F238E27FC236}">
                <a16:creationId xmlns:a16="http://schemas.microsoft.com/office/drawing/2014/main" id="{DF5E9B42-27E3-4CA1-A1B7-E182DB2BE7A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1D8F388D-7256-4951-90D6-E70D7FAD62E6}" type="slidenum">
              <a:rPr lang="zh-CN" altLang="en-US" sz="1200" smtClean="0">
                <a:latin typeface="Palatino Linotype" panose="02040502050505030304" pitchFamily="18" charset="0"/>
              </a:rPr>
              <a:pPr/>
              <a:t>13</a:t>
            </a:fld>
            <a:endParaRPr lang="zh-CN" altLang="en-US" sz="1200">
              <a:latin typeface="Palatino Linotype" panose="0204050205050503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41973080-219E-4B9D-B9A9-21A28F46CF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304800"/>
            <a:ext cx="7772400" cy="838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8" tIns="45719" rIns="91438" bIns="45719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sz="4000" b="1">
                <a:solidFill>
                  <a:srgbClr val="AC2F36"/>
                </a:solidFill>
              </a:rPr>
              <a:t>七、参考资料</a:t>
            </a:r>
            <a:r>
              <a:rPr lang="zh-CN" altLang="en-US" sz="4000" b="1">
                <a:solidFill>
                  <a:schemeClr val="tx1"/>
                </a:solidFill>
              </a:rPr>
              <a:t>（</a:t>
            </a:r>
            <a:r>
              <a:rPr lang="en-US" altLang="zh-CN" sz="4000" b="1">
                <a:solidFill>
                  <a:schemeClr val="tx1"/>
                </a:solidFill>
              </a:rPr>
              <a:t>1</a:t>
            </a:r>
            <a:r>
              <a:rPr lang="zh-CN" altLang="en-US" sz="4000" b="1">
                <a:solidFill>
                  <a:schemeClr val="tx1"/>
                </a:solidFill>
              </a:rPr>
              <a:t>）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D1C32687-EC65-4069-BB3E-6068DF0A58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52400" y="1143000"/>
            <a:ext cx="8686800" cy="10620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  <a:spcBef>
                <a:spcPct val="50000"/>
              </a:spcBef>
              <a:buFontTx/>
              <a:buNone/>
            </a:pPr>
            <a:r>
              <a:rPr lang="en-US" altLang="zh-CN" sz="2400" b="1">
                <a:cs typeface="Times New Roman" panose="02020603050405020304" pitchFamily="18" charset="0"/>
              </a:rPr>
              <a:t>Thomas H. Cormen, Charles E. Leiserson, Ronald Rivest, Clifford Stein, Introduction to Algorithms, 3rd Edition</a:t>
            </a:r>
            <a:r>
              <a:rPr lang="zh-CN" altLang="en-US" sz="2400" b="1"/>
              <a:t>，</a:t>
            </a:r>
            <a:r>
              <a:rPr lang="en-US" altLang="zh-CN" sz="2400" b="1"/>
              <a:t>The MIT Press</a:t>
            </a:r>
          </a:p>
        </p:txBody>
      </p:sp>
      <p:sp>
        <p:nvSpPr>
          <p:cNvPr id="39940" name="灯片编号占位符 1">
            <a:extLst>
              <a:ext uri="{FF2B5EF4-FFF2-40B4-BE49-F238E27FC236}">
                <a16:creationId xmlns:a16="http://schemas.microsoft.com/office/drawing/2014/main" id="{75C5E4C7-EFF0-4FCA-B8F4-D4D4B42C274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8845E700-F438-49C8-8D48-5E40BBC6CD11}" type="slidenum">
              <a:rPr lang="zh-CN" altLang="en-US" sz="1200" smtClean="0">
                <a:latin typeface="Palatino Linotype" panose="02040502050505030304" pitchFamily="18" charset="0"/>
              </a:rPr>
              <a:pPr/>
              <a:t>14</a:t>
            </a:fld>
            <a:endParaRPr lang="zh-CN" altLang="en-US" sz="1200">
              <a:latin typeface="Palatino Linotype" panose="02040502050505030304" pitchFamily="18" charset="0"/>
            </a:endParaRPr>
          </a:p>
        </p:txBody>
      </p:sp>
      <p:pic>
        <p:nvPicPr>
          <p:cNvPr id="39941" name="Picture 6" descr="Introduction to Algorithms, Third Edition">
            <a:extLst>
              <a:ext uri="{FF2B5EF4-FFF2-40B4-BE49-F238E27FC236}">
                <a16:creationId xmlns:a16="http://schemas.microsoft.com/office/drawing/2014/main" id="{2FB2358D-8E8F-413E-B57E-E9EA2B6A51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3438" y="2149475"/>
            <a:ext cx="4000500" cy="452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942" name="矩形 1">
            <a:extLst>
              <a:ext uri="{FF2B5EF4-FFF2-40B4-BE49-F238E27FC236}">
                <a16:creationId xmlns:a16="http://schemas.microsoft.com/office/drawing/2014/main" id="{1A4D790E-ACED-4524-91CE-963E02F942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2359025"/>
            <a:ext cx="4572000" cy="868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中文版：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算法导论</a:t>
            </a:r>
            <a:endParaRPr lang="en-US" altLang="zh-CN" b="1" dirty="0">
              <a:solidFill>
                <a:srgbClr val="0000FF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殷建平，徐云，王刚 等 译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内容占位符 2">
            <a:extLst>
              <a:ext uri="{FF2B5EF4-FFF2-40B4-BE49-F238E27FC236}">
                <a16:creationId xmlns:a16="http://schemas.microsoft.com/office/drawing/2014/main" id="{AC1DD440-73E2-4816-9365-2298E44645D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>
              <a:buFontTx/>
              <a:buNone/>
            </a:pPr>
            <a:r>
              <a:rPr lang="zh-CN" altLang="en-US" dirty="0"/>
              <a:t>在线资源：</a:t>
            </a:r>
            <a:endParaRPr lang="en-US" altLang="zh-CN" dirty="0"/>
          </a:p>
          <a:p>
            <a:pPr marL="0" indent="0">
              <a:buFontTx/>
              <a:buNone/>
            </a:pPr>
            <a:endParaRPr lang="en-US" altLang="zh-CN" dirty="0"/>
          </a:p>
        </p:txBody>
      </p:sp>
      <p:sp>
        <p:nvSpPr>
          <p:cNvPr id="44035" name="灯片编号占位符 3">
            <a:extLst>
              <a:ext uri="{FF2B5EF4-FFF2-40B4-BE49-F238E27FC236}">
                <a16:creationId xmlns:a16="http://schemas.microsoft.com/office/drawing/2014/main" id="{6B0F936F-9929-4CF3-88F9-EE8DF97DCC4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E61EAABF-426C-4A35-929C-0342BFA3F327}" type="slidenum">
              <a:rPr lang="zh-CN" altLang="en-US" sz="1200" smtClean="0">
                <a:latin typeface="Palatino Linotype" panose="02040502050505030304" pitchFamily="18" charset="0"/>
              </a:rPr>
              <a:pPr/>
              <a:t>15</a:t>
            </a:fld>
            <a:endParaRPr lang="zh-CN" altLang="en-US" sz="1200">
              <a:latin typeface="Palatino Linotype" panose="02040502050505030304" pitchFamily="18" charset="0"/>
            </a:endParaRPr>
          </a:p>
        </p:txBody>
      </p:sp>
      <p:sp>
        <p:nvSpPr>
          <p:cNvPr id="44036" name="Rectangle 2">
            <a:extLst>
              <a:ext uri="{FF2B5EF4-FFF2-40B4-BE49-F238E27FC236}">
                <a16:creationId xmlns:a16="http://schemas.microsoft.com/office/drawing/2014/main" id="{EF7835E3-9C3D-4E54-A83D-C92E2AC2B3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900113" y="333375"/>
            <a:ext cx="7772400" cy="762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8" tIns="45719" rIns="91438" bIns="45719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sz="4000" b="1" dirty="0">
                <a:solidFill>
                  <a:schemeClr val="tx1"/>
                </a:solidFill>
              </a:rPr>
              <a:t>参考资料</a:t>
            </a:r>
            <a:r>
              <a:rPr lang="zh-CN" altLang="en-US" sz="4000" b="1" dirty="0">
                <a:solidFill>
                  <a:srgbClr val="AC2F36"/>
                </a:solidFill>
              </a:rPr>
              <a:t>（</a:t>
            </a:r>
            <a:r>
              <a:rPr lang="en-US" altLang="zh-CN" sz="4000" b="1" dirty="0">
                <a:solidFill>
                  <a:srgbClr val="AC2F36"/>
                </a:solidFill>
              </a:rPr>
              <a:t>2</a:t>
            </a:r>
            <a:r>
              <a:rPr lang="zh-CN" altLang="en-US" sz="4000" b="1" dirty="0">
                <a:solidFill>
                  <a:srgbClr val="AC2F36"/>
                </a:solidFill>
              </a:rPr>
              <a:t>）</a:t>
            </a:r>
            <a:endParaRPr lang="zh-CN" altLang="en-US" dirty="0">
              <a:solidFill>
                <a:srgbClr val="AC2F36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AF29C08-9864-966A-9579-CC0284B568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2569110"/>
            <a:ext cx="2813860" cy="357301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666E2047-3847-8ABF-05EF-0091179A6E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0122" y="2276872"/>
            <a:ext cx="3115656" cy="395623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82DF7B31-5968-44ED-9FA8-3813A10BD5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381000"/>
            <a:ext cx="7772400" cy="9144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8" tIns="45719" rIns="91438" bIns="45719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b="1">
                <a:solidFill>
                  <a:srgbClr val="AC2F36"/>
                </a:solidFill>
              </a:rPr>
              <a:t>八、考核要求</a:t>
            </a: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3B989DB4-A4CE-49E8-BF8E-ECDC9BC7FF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95288" y="1844675"/>
            <a:ext cx="8496300" cy="35734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8" tIns="45719" rIns="91438" bIns="45719" numCol="1" anchor="t" anchorCtr="0" compatLnSpc="1">
            <a:prstTxWarp prst="textNoShape">
              <a:avLst/>
            </a:prstTxWarp>
          </a:bodyPr>
          <a:lstStyle/>
          <a:p>
            <a:pPr marL="609600" indent="-609600" eaLnBrk="1" hangingPunct="1">
              <a:lnSpc>
                <a:spcPct val="90000"/>
              </a:lnSpc>
              <a:buFontTx/>
              <a:buAutoNum type="arabicPeriod"/>
            </a:pPr>
            <a:r>
              <a:rPr lang="zh-CN" altLang="en-US" sz="2800" b="1" dirty="0">
                <a:solidFill>
                  <a:srgbClr val="FF0000"/>
                </a:solidFill>
                <a:latin typeface="华文中宋" panose="02010600040101010101" pitchFamily="2" charset="-122"/>
              </a:rPr>
              <a:t>考试成绩：笔试，占课程总成绩的</a:t>
            </a:r>
            <a:r>
              <a:rPr lang="en-US" altLang="zh-CN" sz="2800" b="1" dirty="0">
                <a:solidFill>
                  <a:srgbClr val="FF0000"/>
                </a:solidFill>
                <a:latin typeface="华文中宋" panose="02010600040101010101" pitchFamily="2" charset="-122"/>
              </a:rPr>
              <a:t>70%</a:t>
            </a:r>
            <a:r>
              <a:rPr lang="zh-CN" altLang="en-US" sz="2800" b="1" dirty="0">
                <a:solidFill>
                  <a:srgbClr val="FF0000"/>
                </a:solidFill>
                <a:latin typeface="华文中宋" panose="02010600040101010101" pitchFamily="2" charset="-122"/>
              </a:rPr>
              <a:t>。</a:t>
            </a:r>
          </a:p>
          <a:p>
            <a:pPr marL="609600" indent="-609600" eaLnBrk="1" hangingPunct="1">
              <a:lnSpc>
                <a:spcPct val="90000"/>
              </a:lnSpc>
              <a:buFontTx/>
              <a:buAutoNum type="arabicPeriod"/>
            </a:pPr>
            <a:r>
              <a:rPr lang="zh-CN" altLang="en-US" sz="2800" b="1" dirty="0">
                <a:solidFill>
                  <a:srgbClr val="FF0000"/>
                </a:solidFill>
                <a:latin typeface="华文中宋" panose="02010600040101010101" pitchFamily="2" charset="-122"/>
              </a:rPr>
              <a:t>平时成绩：占课程总成绩的</a:t>
            </a:r>
            <a:r>
              <a:rPr lang="en-US" altLang="zh-CN" sz="2800" b="1" dirty="0">
                <a:solidFill>
                  <a:srgbClr val="FF0000"/>
                </a:solidFill>
                <a:latin typeface="华文中宋" panose="02010600040101010101" pitchFamily="2" charset="-122"/>
              </a:rPr>
              <a:t>30%</a:t>
            </a:r>
            <a:r>
              <a:rPr lang="zh-CN" altLang="en-US" sz="2800" b="1" dirty="0">
                <a:solidFill>
                  <a:srgbClr val="FF0000"/>
                </a:solidFill>
                <a:latin typeface="华文中宋" panose="02010600040101010101" pitchFamily="2" charset="-122"/>
              </a:rPr>
              <a:t>；</a:t>
            </a:r>
            <a:endParaRPr lang="zh-CN" altLang="en-US" sz="2800" dirty="0">
              <a:solidFill>
                <a:srgbClr val="000000"/>
              </a:solidFill>
              <a:latin typeface="华文中宋" panose="02010600040101010101" pitchFamily="2" charset="-122"/>
            </a:endParaRP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华文中宋" panose="02010600040101010101" pitchFamily="2" charset="-122"/>
              </a:rPr>
              <a:t>   考核内容：作业、实验及上机报告、考勤、自评等，要求：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华文中宋" panose="02010600040101010101" pitchFamily="2" charset="-122"/>
              </a:rPr>
              <a:t>	1</a:t>
            </a:r>
            <a:r>
              <a:rPr lang="zh-CN" altLang="en-US" sz="2800" b="1" dirty="0">
                <a:solidFill>
                  <a:srgbClr val="000000"/>
                </a:solidFill>
                <a:latin typeface="华文中宋" panose="02010600040101010101" pitchFamily="2" charset="-122"/>
              </a:rPr>
              <a:t>）实验作业</a:t>
            </a:r>
            <a:r>
              <a:rPr lang="en-US" altLang="zh-CN" sz="2800" b="1" dirty="0">
                <a:solidFill>
                  <a:srgbClr val="000000"/>
                </a:solidFill>
                <a:latin typeface="华文中宋" panose="02010600040101010101" pitchFamily="2" charset="-122"/>
              </a:rPr>
              <a:t>26%</a:t>
            </a:r>
            <a:r>
              <a:rPr lang="zh-CN" altLang="en-US" sz="2800" b="1" dirty="0">
                <a:solidFill>
                  <a:srgbClr val="000000"/>
                </a:solidFill>
                <a:latin typeface="华文中宋" panose="02010600040101010101" pitchFamily="2" charset="-122"/>
              </a:rPr>
              <a:t>：实验报告</a:t>
            </a:r>
            <a:r>
              <a:rPr lang="en-US" altLang="zh-CN" sz="2800" b="1" dirty="0">
                <a:solidFill>
                  <a:srgbClr val="000000"/>
                </a:solidFill>
                <a:latin typeface="华文中宋" panose="02010600040101010101" pitchFamily="2" charset="-122"/>
              </a:rPr>
              <a:t>14%</a:t>
            </a:r>
            <a:r>
              <a:rPr lang="zh-CN" altLang="en-US" sz="2800" b="1" dirty="0">
                <a:solidFill>
                  <a:srgbClr val="000000"/>
                </a:solidFill>
                <a:latin typeface="华文中宋" panose="02010600040101010101" pitchFamily="2" charset="-122"/>
              </a:rPr>
              <a:t>；作业</a:t>
            </a:r>
            <a:r>
              <a:rPr lang="en-US" altLang="zh-CN" sz="2800" b="1" dirty="0">
                <a:solidFill>
                  <a:srgbClr val="000000"/>
                </a:solidFill>
                <a:latin typeface="华文中宋" panose="02010600040101010101" pitchFamily="2" charset="-122"/>
              </a:rPr>
              <a:t>12%</a:t>
            </a:r>
            <a:endParaRPr lang="zh-CN" altLang="en-US" sz="2800" b="1" dirty="0">
              <a:solidFill>
                <a:srgbClr val="000000"/>
              </a:solidFill>
              <a:latin typeface="华文中宋" panose="02010600040101010101" pitchFamily="2" charset="-122"/>
            </a:endParaRP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华文中宋" panose="02010600040101010101" pitchFamily="2" charset="-122"/>
              </a:rPr>
              <a:t>	2</a:t>
            </a:r>
            <a:r>
              <a:rPr lang="zh-CN" altLang="en-US" sz="2800" b="1" dirty="0">
                <a:solidFill>
                  <a:srgbClr val="000000"/>
                </a:solidFill>
                <a:latin typeface="华文中宋" panose="02010600040101010101" pitchFamily="2" charset="-122"/>
              </a:rPr>
              <a:t>）课堂表现</a:t>
            </a:r>
            <a:r>
              <a:rPr lang="en-US" altLang="zh-CN" sz="2800" b="1" dirty="0">
                <a:solidFill>
                  <a:srgbClr val="000000"/>
                </a:solidFill>
                <a:latin typeface="华文中宋" panose="02010600040101010101" pitchFamily="2" charset="-122"/>
              </a:rPr>
              <a:t>4%</a:t>
            </a:r>
            <a:r>
              <a:rPr lang="zh-CN" altLang="en-US" sz="2800" b="1" dirty="0">
                <a:solidFill>
                  <a:srgbClr val="000000"/>
                </a:solidFill>
                <a:latin typeface="华文中宋" panose="02010600040101010101" pitchFamily="2" charset="-122"/>
              </a:rPr>
              <a:t>：包括考勤、课堂讨论等</a:t>
            </a:r>
          </a:p>
          <a:p>
            <a:pPr marL="609600" indent="-609600" eaLnBrk="1" hangingPunct="1">
              <a:lnSpc>
                <a:spcPct val="90000"/>
              </a:lnSpc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华文中宋" panose="02010600040101010101" pitchFamily="2" charset="-122"/>
              </a:rPr>
              <a:t>	3</a:t>
            </a:r>
            <a:r>
              <a:rPr lang="zh-CN" altLang="en-US" sz="2800" b="1" dirty="0">
                <a:solidFill>
                  <a:srgbClr val="000000"/>
                </a:solidFill>
                <a:latin typeface="华文中宋" panose="02010600040101010101" pitchFamily="2" charset="-122"/>
              </a:rPr>
              <a:t>）奖励独创、惩罚抄袭行为</a:t>
            </a:r>
          </a:p>
        </p:txBody>
      </p:sp>
      <p:sp>
        <p:nvSpPr>
          <p:cNvPr id="45060" name="灯片编号占位符 1">
            <a:extLst>
              <a:ext uri="{FF2B5EF4-FFF2-40B4-BE49-F238E27FC236}">
                <a16:creationId xmlns:a16="http://schemas.microsoft.com/office/drawing/2014/main" id="{8F52B9F9-1107-4C8D-894F-E7401BFFC0F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869121DE-08D5-474E-B70E-4E23EA4893FA}" type="slidenum">
              <a:rPr lang="zh-CN" altLang="en-US" sz="1200" smtClean="0">
                <a:latin typeface="Palatino Linotype" panose="02040502050505030304" pitchFamily="18" charset="0"/>
              </a:rPr>
              <a:pPr/>
              <a:t>16</a:t>
            </a:fld>
            <a:endParaRPr lang="zh-CN" altLang="en-US" sz="1200">
              <a:latin typeface="Palatino Linotype" panose="0204050205050503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DD31CE8-C047-0A70-FCE8-0D4836AC522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5095CED-DAB2-44DB-BE9E-A33864F8BA9A}" type="slidenum">
              <a:rPr lang="zh-CN" altLang="en-US" smtClean="0"/>
              <a:pPr>
                <a:defRPr/>
              </a:pPr>
              <a:t>17</a:t>
            </a:fld>
            <a:endParaRPr lang="zh-CN" altLang="en-US" dirty="0"/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E74A2F5D-B889-EC46-73BF-7EF851594E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b="1" dirty="0">
                <a:solidFill>
                  <a:srgbClr val="AC2F36"/>
                </a:solidFill>
                <a:latin typeface="华文中宋" panose="02010600040101010101" pitchFamily="2" charset="-122"/>
              </a:rPr>
              <a:t>九、上课时间</a:t>
            </a:r>
            <a:endParaRPr lang="zh-CN" altLang="en-US" dirty="0"/>
          </a:p>
        </p:txBody>
      </p:sp>
      <p:sp>
        <p:nvSpPr>
          <p:cNvPr id="30" name="Rectangle 3">
            <a:extLst>
              <a:ext uri="{FF2B5EF4-FFF2-40B4-BE49-F238E27FC236}">
                <a16:creationId xmlns:a16="http://schemas.microsoft.com/office/drawing/2014/main" id="{E68CE481-DC39-4EDD-3247-01BF84F9EE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650" y="4437112"/>
            <a:ext cx="7772400" cy="312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8" tIns="45719" rIns="91438" bIns="45719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/>
            <a:r>
              <a:rPr lang="zh-CN" altLang="en-US" b="1" kern="0" dirty="0">
                <a:solidFill>
                  <a:schemeClr val="accent2"/>
                </a:solidFill>
              </a:rPr>
              <a:t>答疑：</a:t>
            </a:r>
            <a:r>
              <a:rPr lang="zh-CN" altLang="en-US" b="1" kern="0" dirty="0"/>
              <a:t>周一 下午：</a:t>
            </a:r>
            <a:r>
              <a:rPr lang="en-US" altLang="zh-CN" b="1" kern="0" dirty="0"/>
              <a:t>15:00-16:40</a:t>
            </a:r>
            <a:r>
              <a:rPr lang="zh-CN" altLang="en-US" b="1" kern="0" dirty="0"/>
              <a:t>，</a:t>
            </a:r>
            <a:r>
              <a:rPr lang="en-US" altLang="zh-CN" b="1" kern="0" dirty="0"/>
              <a:t>       </a:t>
            </a:r>
            <a:endParaRPr lang="zh-CN" altLang="en-US" b="1" kern="0" dirty="0"/>
          </a:p>
          <a:p>
            <a:pPr eaLnBrk="1" hangingPunct="1"/>
            <a:r>
              <a:rPr lang="zh-CN" altLang="en-US" b="1" kern="0" dirty="0"/>
              <a:t>地点：计算机楼</a:t>
            </a:r>
            <a:r>
              <a:rPr lang="en-US" altLang="zh-CN" b="1" kern="0" dirty="0"/>
              <a:t> 423</a:t>
            </a:r>
          </a:p>
          <a:p>
            <a:pPr eaLnBrk="1" hangingPunct="1"/>
            <a:r>
              <a:rPr lang="zh-CN" altLang="en-US" b="1" kern="0" dirty="0"/>
              <a:t>邮件联系：</a:t>
            </a:r>
            <a:r>
              <a:rPr lang="en-US" altLang="zh-CN" b="1" kern="0" dirty="0"/>
              <a:t>lijiangtao@shu.edu.cn</a:t>
            </a:r>
          </a:p>
        </p:txBody>
      </p:sp>
      <p:sp>
        <p:nvSpPr>
          <p:cNvPr id="31" name="Rectangle 3">
            <a:extLst>
              <a:ext uri="{FF2B5EF4-FFF2-40B4-BE49-F238E27FC236}">
                <a16:creationId xmlns:a16="http://schemas.microsoft.com/office/drawing/2014/main" id="{1A1CB79B-6F5B-1FE6-9DF4-26BFEAA568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2009671"/>
            <a:ext cx="7772400" cy="1467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8" tIns="45719" rIns="91438" bIns="45719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/>
            <a:r>
              <a:rPr lang="zh-CN" altLang="en-US" b="1" kern="0" dirty="0">
                <a:solidFill>
                  <a:schemeClr val="accent2"/>
                </a:solidFill>
              </a:rPr>
              <a:t>上课：</a:t>
            </a:r>
            <a:r>
              <a:rPr lang="zh-CN" altLang="en-US" b="1" kern="0" dirty="0"/>
              <a:t>周一 晚 </a:t>
            </a:r>
            <a:r>
              <a:rPr lang="en-US" altLang="zh-CN" b="1" kern="0" dirty="0"/>
              <a:t>9~11</a:t>
            </a:r>
            <a:r>
              <a:rPr lang="zh-CN" altLang="en-US" b="1" kern="0" dirty="0"/>
              <a:t>节  </a:t>
            </a:r>
            <a:r>
              <a:rPr lang="en-US" altLang="zh-CN" b="1" kern="0" dirty="0"/>
              <a:t>J201</a:t>
            </a:r>
          </a:p>
          <a:p>
            <a:pPr eaLnBrk="1" hangingPunct="1"/>
            <a:r>
              <a:rPr lang="zh-CN" altLang="en-US" b="1" kern="0" dirty="0">
                <a:solidFill>
                  <a:schemeClr val="accent2"/>
                </a:solidFill>
              </a:rPr>
              <a:t>上机：</a:t>
            </a:r>
            <a:r>
              <a:rPr lang="zh-CN" altLang="en-US" b="1" kern="0" dirty="0"/>
              <a:t>周四下午 </a:t>
            </a:r>
            <a:r>
              <a:rPr lang="en-US" altLang="zh-CN" b="1" kern="0" dirty="0"/>
              <a:t>5~6</a:t>
            </a:r>
            <a:r>
              <a:rPr lang="zh-CN" altLang="en-US" b="1" kern="0" dirty="0"/>
              <a:t>节 </a:t>
            </a:r>
            <a:r>
              <a:rPr lang="en-US" altLang="zh-CN" b="1" kern="0" dirty="0"/>
              <a:t>506, 508(</a:t>
            </a:r>
            <a:r>
              <a:rPr lang="zh-CN" altLang="en-US" b="1" kern="0" dirty="0"/>
              <a:t>合</a:t>
            </a:r>
            <a:r>
              <a:rPr lang="en-US" altLang="zh-CN" b="1" kern="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583819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72621356-77CA-4088-9A75-C54F16463D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381000"/>
            <a:ext cx="7772400" cy="838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8" tIns="45719" rIns="91438" bIns="45719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sz="4000" b="1">
                <a:solidFill>
                  <a:srgbClr val="AC2F36"/>
                </a:solidFill>
                <a:latin typeface="华文中宋" panose="02010600040101010101" pitchFamily="2" charset="-122"/>
              </a:rPr>
              <a:t>十、算法设计学习</a:t>
            </a:r>
            <a:r>
              <a:rPr lang="zh-CN" altLang="en-US" sz="4000" b="1">
                <a:solidFill>
                  <a:srgbClr val="AC2F36"/>
                </a:solidFill>
              </a:rPr>
              <a:t>建议</a:t>
            </a:r>
            <a:r>
              <a:rPr lang="zh-CN" altLang="en-US" sz="4000" b="1">
                <a:solidFill>
                  <a:schemeClr val="tx1"/>
                </a:solidFill>
              </a:rPr>
              <a:t>（</a:t>
            </a:r>
            <a:r>
              <a:rPr lang="en-US" altLang="zh-CN" sz="4000" b="1">
                <a:solidFill>
                  <a:schemeClr val="tx1"/>
                </a:solidFill>
              </a:rPr>
              <a:t>1</a:t>
            </a:r>
            <a:r>
              <a:rPr lang="zh-CN" altLang="en-US" sz="4000" b="1">
                <a:solidFill>
                  <a:schemeClr val="tx1"/>
                </a:solidFill>
              </a:rPr>
              <a:t>）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94E7E7F6-379F-489D-BB2F-5ED68AB95B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428750"/>
            <a:ext cx="8077200" cy="5048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8" tIns="45719" rIns="91438" bIns="45719" numCol="1" anchor="t" anchorCtr="0" compatLnSpc="1">
            <a:prstTxWarp prst="textNoShape">
              <a:avLst/>
            </a:prstTxWarp>
          </a:bodyPr>
          <a:lstStyle/>
          <a:p>
            <a:pPr marL="609600" indent="-609600" eaLnBrk="1" hangingPunct="1">
              <a:lnSpc>
                <a:spcPct val="110000"/>
              </a:lnSpc>
              <a:buFontTx/>
              <a:buAutoNum type="arabicPeriod"/>
            </a:pPr>
            <a:r>
              <a:rPr lang="zh-CN" altLang="en-US" sz="2800" b="1">
                <a:latin typeface="华文中宋" panose="02010600040101010101" pitchFamily="2" charset="-122"/>
              </a:rPr>
              <a:t>首先学好高级语言程序设计。</a:t>
            </a:r>
          </a:p>
          <a:p>
            <a:pPr marL="609600" indent="-609600" eaLnBrk="1" hangingPunct="1">
              <a:lnSpc>
                <a:spcPct val="110000"/>
              </a:lnSpc>
              <a:buFontTx/>
              <a:buAutoNum type="arabicPeriod"/>
            </a:pPr>
            <a:r>
              <a:rPr lang="zh-CN" altLang="en-US" sz="2800" b="1">
                <a:latin typeface="华文中宋" panose="02010600040101010101" pitchFamily="2" charset="-122"/>
              </a:rPr>
              <a:t>了解数据的基本操作算法：排序、插入、删除，并应用到排序、搜索等简单的算法中。如感觉数据结构掌握得不扎实，补课是一个很好的机会。 </a:t>
            </a:r>
          </a:p>
          <a:p>
            <a:pPr marL="609600" indent="-609600" eaLnBrk="1" hangingPunct="1">
              <a:lnSpc>
                <a:spcPct val="110000"/>
              </a:lnSpc>
              <a:buFontTx/>
              <a:buAutoNum type="arabicPeriod"/>
            </a:pPr>
            <a:r>
              <a:rPr lang="zh-CN" altLang="en-US" sz="2800" b="1">
                <a:latin typeface="华文中宋" panose="02010600040101010101" pitchFamily="2" charset="-122"/>
              </a:rPr>
              <a:t>模仿学习：通过现成实例模仿学习某类问题的解题方法。</a:t>
            </a:r>
          </a:p>
          <a:p>
            <a:pPr marL="609600" indent="-609600" eaLnBrk="1" hangingPunct="1">
              <a:lnSpc>
                <a:spcPct val="110000"/>
              </a:lnSpc>
              <a:buFontTx/>
              <a:buAutoNum type="arabicPeriod"/>
            </a:pPr>
            <a:r>
              <a:rPr lang="zh-CN" altLang="en-US" sz="2800" b="1">
                <a:latin typeface="华文中宋" panose="02010600040101010101" pitchFamily="2" charset="-122"/>
              </a:rPr>
              <a:t>要掌握复杂性分析方法。</a:t>
            </a:r>
          </a:p>
        </p:txBody>
      </p:sp>
      <p:sp>
        <p:nvSpPr>
          <p:cNvPr id="51204" name="灯片编号占位符 1">
            <a:extLst>
              <a:ext uri="{FF2B5EF4-FFF2-40B4-BE49-F238E27FC236}">
                <a16:creationId xmlns:a16="http://schemas.microsoft.com/office/drawing/2014/main" id="{C1BB5720-F0D8-4A2D-820D-0BB5DD6C158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F86BF0C2-17E9-484D-AB72-FCE52041C35C}" type="slidenum">
              <a:rPr lang="zh-CN" altLang="en-US" sz="1200" smtClean="0">
                <a:latin typeface="Palatino Linotype" panose="02040502050505030304" pitchFamily="18" charset="0"/>
              </a:rPr>
              <a:pPr/>
              <a:t>18</a:t>
            </a:fld>
            <a:endParaRPr lang="zh-CN" altLang="en-US" sz="1200">
              <a:latin typeface="Palatino Linotype" panose="0204050205050503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5" grpId="0" build="p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D6705150-0CFD-4462-95C5-951BF19722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8" tIns="45719" rIns="91438" bIns="45719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sz="4000" b="1">
                <a:latin typeface="华文中宋" panose="02010600040101010101" pitchFamily="2" charset="-122"/>
              </a:rPr>
              <a:t>算法设计学习</a:t>
            </a:r>
            <a:r>
              <a:rPr lang="zh-CN" altLang="en-US" sz="4000" b="1"/>
              <a:t>建议</a:t>
            </a:r>
            <a:r>
              <a:rPr lang="zh-CN" altLang="en-US" sz="4000" b="1">
                <a:solidFill>
                  <a:srgbClr val="AC2F36"/>
                </a:solidFill>
              </a:rPr>
              <a:t>（</a:t>
            </a:r>
            <a:r>
              <a:rPr lang="en-US" altLang="zh-CN" sz="4000" b="1">
                <a:solidFill>
                  <a:srgbClr val="AC2F36"/>
                </a:solidFill>
              </a:rPr>
              <a:t>2</a:t>
            </a:r>
            <a:r>
              <a:rPr lang="zh-CN" altLang="en-US" sz="4000" b="1">
                <a:solidFill>
                  <a:srgbClr val="AC2F36"/>
                </a:solidFill>
              </a:rPr>
              <a:t>）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DE8D0C1E-1A16-4128-A687-95FA20CB9E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95288" y="1341438"/>
            <a:ext cx="8458200" cy="51117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8" tIns="45719" rIns="91438" bIns="45719" numCol="1" anchor="t" anchorCtr="0" compatLnSpc="1">
            <a:prstTxWarp prst="textNoShape">
              <a:avLst/>
            </a:prstTxWarp>
          </a:bodyPr>
          <a:lstStyle/>
          <a:p>
            <a:pPr marL="609600" indent="-609600" eaLnBrk="1" hangingPunct="1">
              <a:lnSpc>
                <a:spcPct val="120000"/>
              </a:lnSpc>
              <a:buFontTx/>
              <a:buAutoNum type="arabicPeriod" startAt="5"/>
            </a:pPr>
            <a:r>
              <a:rPr lang="zh-CN" altLang="en-US" sz="2800" b="1">
                <a:latin typeface="华文中宋" panose="02010600040101010101" pitchFamily="2" charset="-122"/>
              </a:rPr>
              <a:t>重点学好几个策略：递归策略，分治策略，贪心策略，动态规划策略，搜索策略（</a:t>
            </a:r>
            <a:r>
              <a:rPr lang="en-US" altLang="zh-CN" sz="2800" b="1">
                <a:latin typeface="华文中宋" panose="02010600040101010101" pitchFamily="2" charset="-122"/>
              </a:rPr>
              <a:t>DFS</a:t>
            </a:r>
            <a:r>
              <a:rPr lang="zh-CN" altLang="en-US" sz="2800" b="1">
                <a:latin typeface="华文中宋" panose="02010600040101010101" pitchFamily="2" charset="-122"/>
              </a:rPr>
              <a:t>、</a:t>
            </a:r>
            <a:r>
              <a:rPr lang="en-US" altLang="zh-CN" sz="2800" b="1">
                <a:latin typeface="华文中宋" panose="02010600040101010101" pitchFamily="2" charset="-122"/>
              </a:rPr>
              <a:t>BFS</a:t>
            </a:r>
            <a:r>
              <a:rPr lang="zh-CN" altLang="en-US" sz="2800" b="1">
                <a:latin typeface="华文中宋" panose="02010600040101010101" pitchFamily="2" charset="-122"/>
              </a:rPr>
              <a:t>）等。</a:t>
            </a:r>
          </a:p>
          <a:p>
            <a:pPr marL="990600" lvl="1" indent="-533400" eaLnBrk="1" hangingPunct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2400" b="1">
                <a:latin typeface="华文中宋" panose="02010600040101010101" pitchFamily="2" charset="-122"/>
              </a:rPr>
              <a:t>从掌握递归算法开始，会建立复杂性递推关系</a:t>
            </a:r>
          </a:p>
          <a:p>
            <a:pPr marL="990600" lvl="1" indent="-533400" eaLnBrk="1" hangingPunct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2400" b="1">
                <a:latin typeface="华文中宋" panose="02010600040101010101" pitchFamily="2" charset="-122"/>
              </a:rPr>
              <a:t>要学好两种常用的策略：分治法、贪心法，重点掌握原理贪心法的两个性质</a:t>
            </a:r>
          </a:p>
          <a:p>
            <a:pPr marL="990600" lvl="1" indent="-533400" eaLnBrk="1" hangingPunct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2400" b="1">
                <a:latin typeface="华文中宋" panose="02010600040101010101" pitchFamily="2" charset="-122"/>
              </a:rPr>
              <a:t>通过研究经典问题的解题方法，了解回溯法、宽度优先搜索法</a:t>
            </a:r>
            <a:r>
              <a:rPr lang="en-US" altLang="zh-CN" sz="2400" b="1">
                <a:latin typeface="华文中宋" panose="02010600040101010101" pitchFamily="2" charset="-122"/>
              </a:rPr>
              <a:t>(BFS)</a:t>
            </a:r>
            <a:r>
              <a:rPr lang="zh-CN" altLang="en-US" sz="2400" b="1">
                <a:latin typeface="华文中宋" panose="02010600040101010101" pitchFamily="2" charset="-122"/>
              </a:rPr>
              <a:t>以及栈、队列的操作，及剪枝技术，学会递归回溯、非递归回溯的程序写法</a:t>
            </a:r>
          </a:p>
          <a:p>
            <a:pPr marL="990600" lvl="1" indent="-533400" eaLnBrk="1" hangingPunct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2400" b="1">
                <a:latin typeface="华文中宋" panose="02010600040101010101" pitchFamily="2" charset="-122"/>
              </a:rPr>
              <a:t>分清楚各种策略的适用条件和相互间的联系区别，在考虑问题时才能够正确地选择算法策略。</a:t>
            </a:r>
          </a:p>
        </p:txBody>
      </p:sp>
      <p:sp>
        <p:nvSpPr>
          <p:cNvPr id="53252" name="灯片编号占位符 1">
            <a:extLst>
              <a:ext uri="{FF2B5EF4-FFF2-40B4-BE49-F238E27FC236}">
                <a16:creationId xmlns:a16="http://schemas.microsoft.com/office/drawing/2014/main" id="{65488E91-E052-4C2E-B406-C2833509DAF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6176CA71-5295-41A0-ABF4-411A6CA1B773}" type="slidenum">
              <a:rPr lang="zh-CN" altLang="en-US" sz="1200" smtClean="0">
                <a:latin typeface="Palatino Linotype" panose="02040502050505030304" pitchFamily="18" charset="0"/>
              </a:rPr>
              <a:pPr/>
              <a:t>19</a:t>
            </a:fld>
            <a:endParaRPr lang="zh-CN" altLang="en-US" sz="1200">
              <a:latin typeface="Palatino Linotype" panose="0204050205050503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9" grpId="0" build="p" bldLvl="2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5D9018E0-0279-4EF4-A0C6-F6825B0A35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228600"/>
            <a:ext cx="7772400" cy="838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8" tIns="45719" rIns="91438" bIns="45719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sz="4000" b="1">
                <a:latin typeface="华文中宋" panose="02010600040101010101" pitchFamily="2" charset="-122"/>
              </a:rPr>
              <a:t>算法设计学习</a:t>
            </a:r>
            <a:r>
              <a:rPr lang="zh-CN" altLang="en-US" sz="4000" b="1"/>
              <a:t>建议</a:t>
            </a:r>
            <a:r>
              <a:rPr lang="zh-CN" altLang="en-US" sz="4000" b="1">
                <a:solidFill>
                  <a:srgbClr val="AC2F36"/>
                </a:solidFill>
              </a:rPr>
              <a:t>（</a:t>
            </a:r>
            <a:r>
              <a:rPr lang="en-US" altLang="zh-CN" sz="4000" b="1">
                <a:solidFill>
                  <a:srgbClr val="AC2F36"/>
                </a:solidFill>
              </a:rPr>
              <a:t>3</a:t>
            </a:r>
            <a:r>
              <a:rPr lang="zh-CN" altLang="en-US" sz="4000" b="1">
                <a:solidFill>
                  <a:srgbClr val="AC2F36"/>
                </a:solidFill>
              </a:rPr>
              <a:t>）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4E73DAAC-46E9-4063-853D-A5E336CE4D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143000"/>
            <a:ext cx="7772400" cy="495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8" tIns="45719" rIns="91438" bIns="45719" numCol="1" anchor="t" anchorCtr="0" compatLnSpc="1">
            <a:prstTxWarp prst="textNoShape">
              <a:avLst/>
            </a:prstTxWarp>
          </a:bodyPr>
          <a:lstStyle/>
          <a:p>
            <a:pPr marL="609600" indent="-609600" eaLnBrk="1" hangingPunct="1">
              <a:lnSpc>
                <a:spcPct val="120000"/>
              </a:lnSpc>
              <a:buFontTx/>
              <a:buAutoNum type="arabicPeriod" startAt="6"/>
            </a:pPr>
            <a:r>
              <a:rPr lang="zh-CN" altLang="en-US" sz="2800" b="1">
                <a:latin typeface="华文中宋" panose="02010600040101010101" pitchFamily="2" charset="-122"/>
              </a:rPr>
              <a:t>上课听得懂，但不会解题怎么办？</a:t>
            </a:r>
          </a:p>
          <a:p>
            <a:pPr marL="990600" lvl="1" indent="-533400" eaLnBrk="1" hangingPunct="1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CN" altLang="en-US" sz="2400" b="1">
                <a:latin typeface="华文中宋" panose="02010600040101010101" pitchFamily="2" charset="-122"/>
              </a:rPr>
              <a:t>多看几遍书，仔细体会，弄懂原理</a:t>
            </a:r>
          </a:p>
          <a:p>
            <a:pPr marL="990600" lvl="1" indent="-533400" eaLnBrk="1" hangingPunct="1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CN" altLang="en-US" sz="2400" b="1">
                <a:latin typeface="华文中宋" panose="02010600040101010101" pitchFamily="2" charset="-122"/>
              </a:rPr>
              <a:t>模仿学习，</a:t>
            </a:r>
            <a:r>
              <a:rPr lang="zh-CN" altLang="en-US" sz="2400" b="1"/>
              <a:t>同学之间相互交流，</a:t>
            </a:r>
            <a:r>
              <a:rPr lang="zh-CN" altLang="en-US" sz="2400" b="1">
                <a:latin typeface="华文中宋" panose="02010600040101010101" pitchFamily="2" charset="-122"/>
              </a:rPr>
              <a:t>向老师请教</a:t>
            </a:r>
          </a:p>
          <a:p>
            <a:pPr marL="990600" lvl="1" indent="-533400" eaLnBrk="1" hangingPunct="1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CN" altLang="en-US" sz="2400" b="1"/>
              <a:t>主动学习，</a:t>
            </a:r>
            <a:r>
              <a:rPr lang="zh-CN" altLang="en-US" sz="2400" b="1">
                <a:latin typeface="华文中宋" panose="02010600040101010101" pitchFamily="2" charset="-122"/>
              </a:rPr>
              <a:t>独立解题，</a:t>
            </a:r>
            <a:r>
              <a:rPr lang="zh-CN" altLang="en-US" sz="2400" b="1"/>
              <a:t>尽可能多解题，增加成就感</a:t>
            </a:r>
            <a:endParaRPr lang="zh-CN" altLang="en-US" sz="2400" b="1">
              <a:latin typeface="华文中宋" panose="02010600040101010101" pitchFamily="2" charset="-122"/>
            </a:endParaRPr>
          </a:p>
          <a:p>
            <a:pPr marL="990600" lvl="1" indent="-533400" eaLnBrk="1" hangingPunct="1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CN" altLang="en-US" sz="2400" b="1">
                <a:latin typeface="华文中宋" panose="02010600040101010101" pitchFamily="2" charset="-122"/>
              </a:rPr>
              <a:t>对自己有信心，</a:t>
            </a:r>
            <a:r>
              <a:rPr lang="zh-CN" altLang="en-US" sz="2400" b="1"/>
              <a:t>书中有一些题一时考虑不出，不要有畏难情绪</a:t>
            </a:r>
            <a:endParaRPr lang="zh-CN" altLang="en-US" sz="2400" b="1">
              <a:latin typeface="华文中宋" panose="02010600040101010101" pitchFamily="2" charset="-122"/>
            </a:endParaRPr>
          </a:p>
          <a:p>
            <a:pPr marL="990600" lvl="1" indent="-533400" eaLnBrk="1" hangingPunct="1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CN" altLang="en-US" sz="2400" b="1">
                <a:latin typeface="华文中宋" panose="02010600040101010101" pitchFamily="2" charset="-122"/>
              </a:rPr>
              <a:t>在没有固定的方法时，只能靠经验的积累和一时的灵感</a:t>
            </a:r>
          </a:p>
        </p:txBody>
      </p:sp>
      <p:sp>
        <p:nvSpPr>
          <p:cNvPr id="55300" name="灯片编号占位符 1">
            <a:extLst>
              <a:ext uri="{FF2B5EF4-FFF2-40B4-BE49-F238E27FC236}">
                <a16:creationId xmlns:a16="http://schemas.microsoft.com/office/drawing/2014/main" id="{494F61B1-FE5C-44AE-8D71-DF303E7C36EE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85D570E5-24B7-443C-ADAC-CA6E62D36FAD}" type="slidenum">
              <a:rPr lang="zh-CN" altLang="en-US" sz="1200" smtClean="0">
                <a:latin typeface="Palatino Linotype" panose="02040502050505030304" pitchFamily="18" charset="0"/>
              </a:rPr>
              <a:pPr/>
              <a:t>20</a:t>
            </a:fld>
            <a:endParaRPr lang="zh-CN" altLang="en-US" sz="1200">
              <a:latin typeface="Palatino Linotype" panose="0204050205050503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 bldLvl="2" autoUpdateAnimBg="0"/>
    </p:bldLst>
  </p:timing>
</p:sld>
</file>

<file path=ppt/theme/theme1.xml><?xml version="1.0" encoding="utf-8"?>
<a:theme xmlns:a="http://schemas.openxmlformats.org/drawingml/2006/main" name="cloudbkgd">
  <a:themeElements>
    <a:clrScheme name="cloudbkgd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loudbkgd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cloudbkgd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loudbkgd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oudbkgd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oudbkgd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oudbkgd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oudbkgd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oudbkgd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C:\Documents and Settings\Administrator\Application Data\Microsoft\Templates\cloudbkgd.pot</Template>
  <TotalTime>3413</TotalTime>
  <Words>1794</Words>
  <Application>Microsoft Office PowerPoint</Application>
  <PresentationFormat>全屏显示(4:3)</PresentationFormat>
  <Paragraphs>128</Paragraphs>
  <Slides>20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5" baseType="lpstr">
      <vt:lpstr>Palatino Linotype</vt:lpstr>
      <vt:lpstr>Times New Roman</vt:lpstr>
      <vt:lpstr>Wingdings</vt:lpstr>
      <vt:lpstr>华文中宋</vt:lpstr>
      <vt:lpstr>cloudbkgd</vt:lpstr>
      <vt:lpstr>算法设计与分析     </vt:lpstr>
      <vt:lpstr>一、课程的作用</vt:lpstr>
      <vt:lpstr>预备知识要求</vt:lpstr>
      <vt:lpstr>面试题1</vt:lpstr>
      <vt:lpstr>面试题2</vt:lpstr>
      <vt:lpstr>二、工作中遇到的情景-1</vt:lpstr>
      <vt:lpstr>二、工作中遇到的情景-2</vt:lpstr>
      <vt:lpstr>二、工作中遇到的情景-3</vt:lpstr>
      <vt:lpstr>三、4个小问题</vt:lpstr>
      <vt:lpstr>思考-过河问题</vt:lpstr>
      <vt:lpstr>五、课程目标</vt:lpstr>
      <vt:lpstr>五、课程目标（续）</vt:lpstr>
      <vt:lpstr>六、课程主要内容</vt:lpstr>
      <vt:lpstr>七、参考资料（1）</vt:lpstr>
      <vt:lpstr>参考资料（2）</vt:lpstr>
      <vt:lpstr>八、考核要求</vt:lpstr>
      <vt:lpstr>九、上课时间</vt:lpstr>
      <vt:lpstr>十、算法设计学习建议（1）</vt:lpstr>
      <vt:lpstr>算法设计学习建议（2）</vt:lpstr>
      <vt:lpstr>算法设计学习建议（3）</vt:lpstr>
    </vt:vector>
  </TitlesOfParts>
  <Company>shu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csshu</dc:creator>
  <cp:lastModifiedBy>Jiangtao Li</cp:lastModifiedBy>
  <cp:revision>291</cp:revision>
  <dcterms:created xsi:type="dcterms:W3CDTF">2003-09-20T00:20:09Z</dcterms:created>
  <dcterms:modified xsi:type="dcterms:W3CDTF">2023-08-28T08:43:46Z</dcterms:modified>
</cp:coreProperties>
</file>