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0.xml" ContentType="application/vnd.openxmlformats-officedocument.presentationml.notesSlide+xml"/>
  <Override PartName="/ppt/ink/ink8.xml" ContentType="application/inkml+xml"/>
  <Override PartName="/ppt/ink/ink9.xml" ContentType="application/inkml+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handoutMasterIdLst>
    <p:handoutMasterId r:id="rId69"/>
  </p:handoutMasterIdLst>
  <p:sldIdLst>
    <p:sldId id="256" r:id="rId2"/>
    <p:sldId id="345" r:id="rId3"/>
    <p:sldId id="257" r:id="rId4"/>
    <p:sldId id="295" r:id="rId5"/>
    <p:sldId id="297" r:id="rId6"/>
    <p:sldId id="265" r:id="rId7"/>
    <p:sldId id="264" r:id="rId8"/>
    <p:sldId id="267" r:id="rId9"/>
    <p:sldId id="351" r:id="rId10"/>
    <p:sldId id="360" r:id="rId11"/>
    <p:sldId id="269" r:id="rId12"/>
    <p:sldId id="268" r:id="rId13"/>
    <p:sldId id="300" r:id="rId14"/>
    <p:sldId id="302" r:id="rId15"/>
    <p:sldId id="303" r:id="rId16"/>
    <p:sldId id="304" r:id="rId17"/>
    <p:sldId id="305" r:id="rId18"/>
    <p:sldId id="306" r:id="rId19"/>
    <p:sldId id="354" r:id="rId20"/>
    <p:sldId id="307" r:id="rId21"/>
    <p:sldId id="308" r:id="rId22"/>
    <p:sldId id="309" r:id="rId23"/>
    <p:sldId id="310" r:id="rId24"/>
    <p:sldId id="311" r:id="rId25"/>
    <p:sldId id="359" r:id="rId26"/>
    <p:sldId id="361" r:id="rId27"/>
    <p:sldId id="312" r:id="rId28"/>
    <p:sldId id="313" r:id="rId29"/>
    <p:sldId id="350" r:id="rId30"/>
    <p:sldId id="319" r:id="rId31"/>
    <p:sldId id="320" r:id="rId32"/>
    <p:sldId id="321" r:id="rId33"/>
    <p:sldId id="322" r:id="rId34"/>
    <p:sldId id="353" r:id="rId35"/>
    <p:sldId id="346" r:id="rId36"/>
    <p:sldId id="349" r:id="rId37"/>
    <p:sldId id="357" r:id="rId38"/>
    <p:sldId id="323" r:id="rId39"/>
    <p:sldId id="324" r:id="rId40"/>
    <p:sldId id="325" r:id="rId41"/>
    <p:sldId id="314" r:id="rId42"/>
    <p:sldId id="315" r:id="rId43"/>
    <p:sldId id="316" r:id="rId44"/>
    <p:sldId id="317" r:id="rId45"/>
    <p:sldId id="318" r:id="rId46"/>
    <p:sldId id="326" r:id="rId47"/>
    <p:sldId id="327" r:id="rId48"/>
    <p:sldId id="329" r:id="rId49"/>
    <p:sldId id="344" r:id="rId50"/>
    <p:sldId id="328" r:id="rId51"/>
    <p:sldId id="330" r:id="rId52"/>
    <p:sldId id="331" r:id="rId53"/>
    <p:sldId id="352" r:id="rId54"/>
    <p:sldId id="332" r:id="rId55"/>
    <p:sldId id="333" r:id="rId56"/>
    <p:sldId id="334" r:id="rId57"/>
    <p:sldId id="347" r:id="rId58"/>
    <p:sldId id="340" r:id="rId59"/>
    <p:sldId id="348" r:id="rId60"/>
    <p:sldId id="336" r:id="rId61"/>
    <p:sldId id="337" r:id="rId62"/>
    <p:sldId id="338" r:id="rId63"/>
    <p:sldId id="339" r:id="rId64"/>
    <p:sldId id="341" r:id="rId65"/>
    <p:sldId id="342" r:id="rId66"/>
    <p:sldId id="343" r:id="rId67"/>
  </p:sldIdLst>
  <p:sldSz cx="9144000" cy="6858000" type="screen4x3"/>
  <p:notesSz cx="6858000" cy="9144000"/>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2F36"/>
    <a:srgbClr val="FF3399"/>
    <a:srgbClr val="0000CC"/>
    <a:srgbClr val="FF0000"/>
    <a:srgbClr val="3333CC"/>
    <a:srgbClr val="FFFF99"/>
    <a:srgbClr val="CC6600"/>
    <a:srgbClr val="FF9933"/>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949" autoAdjust="0"/>
    <p:restoredTop sz="86298" autoAdjust="0"/>
  </p:normalViewPr>
  <p:slideViewPr>
    <p:cSldViewPr>
      <p:cViewPr varScale="1">
        <p:scale>
          <a:sx n="97" d="100"/>
          <a:sy n="97" d="100"/>
        </p:scale>
        <p:origin x="1596" y="96"/>
      </p:cViewPr>
      <p:guideLst>
        <p:guide orient="horz" pos="2160"/>
        <p:guide pos="2880"/>
      </p:guideLst>
    </p:cSldViewPr>
  </p:slideViewPr>
  <p:outlineViewPr>
    <p:cViewPr>
      <p:scale>
        <a:sx n="33" d="100"/>
        <a:sy n="33" d="100"/>
      </p:scale>
      <p:origin x="0" y="2930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91A6166-2EC8-473A-BBCF-9876AA36E25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zh-CN" dirty="0">
              <a:ea typeface="华文中宋" panose="02010600040101010101" pitchFamily="2" charset="-122"/>
            </a:endParaRPr>
          </a:p>
        </p:txBody>
      </p:sp>
      <p:sp>
        <p:nvSpPr>
          <p:cNvPr id="3075" name="Rectangle 3">
            <a:extLst>
              <a:ext uri="{FF2B5EF4-FFF2-40B4-BE49-F238E27FC236}">
                <a16:creationId xmlns:a16="http://schemas.microsoft.com/office/drawing/2014/main" id="{C69DB4C1-B80E-4810-9DDF-4B05FDD9999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zh-CN" dirty="0">
              <a:ea typeface="华文中宋" panose="02010600040101010101" pitchFamily="2" charset="-122"/>
            </a:endParaRPr>
          </a:p>
        </p:txBody>
      </p:sp>
      <p:sp>
        <p:nvSpPr>
          <p:cNvPr id="3076" name="Rectangle 4">
            <a:extLst>
              <a:ext uri="{FF2B5EF4-FFF2-40B4-BE49-F238E27FC236}">
                <a16:creationId xmlns:a16="http://schemas.microsoft.com/office/drawing/2014/main" id="{93872ED9-426A-497F-BAC5-887FE668CEDE}"/>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zh-CN" dirty="0">
              <a:ea typeface="华文中宋" panose="02010600040101010101" pitchFamily="2" charset="-122"/>
            </a:endParaRPr>
          </a:p>
        </p:txBody>
      </p:sp>
      <p:sp>
        <p:nvSpPr>
          <p:cNvPr id="3077" name="Rectangle 5">
            <a:extLst>
              <a:ext uri="{FF2B5EF4-FFF2-40B4-BE49-F238E27FC236}">
                <a16:creationId xmlns:a16="http://schemas.microsoft.com/office/drawing/2014/main" id="{3628CB92-167A-4444-9F14-EDA9FF09117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smtClean="0"/>
            </a:lvl1pPr>
          </a:lstStyle>
          <a:p>
            <a:pPr>
              <a:defRPr/>
            </a:pPr>
            <a:fld id="{5A09D75D-BEE4-41FE-83EF-9E4CE079A4BF}" type="slidenum">
              <a:rPr lang="en-US" altLang="zh-CN">
                <a:ea typeface="华文中宋" panose="02010600040101010101" pitchFamily="2" charset="-122"/>
              </a:rPr>
              <a:pPr>
                <a:defRPr/>
              </a:pPr>
              <a:t>‹#›</a:t>
            </a:fld>
            <a:endParaRPr lang="en-US" altLang="zh-CN" dirty="0">
              <a:ea typeface="华文中宋" panose="02010600040101010101" pitchFamily="2" charset="-122"/>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10:21.642"/>
    </inkml:context>
    <inkml:brush xml:id="br0">
      <inkml:brushProperty name="width" value="0.05292" units="cm"/>
      <inkml:brushProperty name="height" value="0.05292" units="cm"/>
      <inkml:brushProperty name="color" value="#FF0000"/>
    </inkml:brush>
  </inkml:definitions>
  <inkml:trace contextRef="#ctx0" brushRef="#br0">5617 15087 11967 0,'-11'5'528'0,"11"-5"112"0,-8-5-512 0,8 5-128 0,0 0 0 0,0 0 0 16,-8-8 704-16,8 8 96 0,-7-8 32 0,7 8 0 15,0 0-432-15,0 0-80 0,0 0 0 0,0 0-16 16,0 0 96-16,0 0 32 0,12-13 0 0,-12 13 0 16,12-11 464-16,0-2 112 0,-12 13 16 0,14-8 0 15,-3 0 192-15,-11 8 64 0,10-8 0 0,-10 8 0 0,0 0-128 0,0 0 0 16,13-5-16-16,-13 5 0 0,0 0-256 0,0 0-48 16,14-3-16-16,-1 1 0 0,-13 2-352 0,14-4-64 15,-14 4-16-15,0 0 0 0,20 1-208 0,-4 2-48 16,-16-3-128-16,17 2 192 0,-2 1-192 0,1 5 144 15,0 0-144-15,0-3 128 0,-16-5 32 0,21 7 0 16,0-1 0-16,-2-3 0 0,-1 4 48 0,1-6 16 16,-1 4 0-16,1-2 0 0,0 0 0 0,2-1 0 15,-2-2 0-15,0 0 0 0,1 0 32 0,2 0 0 16,4-5 0-16,1 5 0 0,0-1-16 0,1-6 0 16,-1-4 0-16,0 5 0 0,-1-1-64 0,0 2-16 15,-2 0 0-15,-2 1 0 0,-3 0-160 0,1 1 128 0,1 10-128 0,-4-7 128 16,1-2-128-16,-1 0 0 0,3-1 144 0,-3 6-144 15,3 1 0-15,1-4 0 0,1-4 0 0,2 0 128 16,0 0-128-16,2 1 0 0,-2 3 0 0,3-3 128 16,0-3-128-16,1-1 0 0,-1 6 0 0,2-6 0 15,1-1 0-15,-1 3 0 0,-1-3 0 0,-1 5 0 16,-1 3 192-16,-1 2-48 0,-1-4 0 0,-1 0 0 16,-2-1 0-16,-1 3 0 0,1 3 0 0,5-1 0 15,0-4-144-15,-2-1 0 0,0 3 0 0,1 0 128 16,1 0-128-16,1 0 0 0,-1-3 0 0,1-2 0 15,1 5 0-15,1 0 0 0,-1 0 0 0,3-1 0 16,1-6 0-16,-1 2 0 0,-3 2 128 0,3 2-128 16,1 1 0-16,-1-4 0 0,-4 3 0 0,-2-1 0 15,1 5 0-15,0 2 192 0,1 2-192 0,0-6 192 16,5 2-192-16,1 2 128 0,-3-2-128 0,2-1 128 0,2-4-128 0,1-1 0 16,2 3 0-16,2-1 0 0,4-3 0 0,0 4 0 15,-1-3 144-15,0 3-144 0,-1-5 0 0,-2 2 0 16,-4 2 0-16,-1 1 0 0,-5-4 0 0,1 4 128 15,1-1-128-15,-4 1 0 0,-1 1 208 0,-1 3-16 16,1-3-16-16,0-1 0 0,1 3-176 0,2 1 192 16,1-3-192-16,1-1 192 0,-5-1-192 0,6-3 0 15,1 4 0-15,4 0 128 0,-1 0-128 0,-3 0 0 16,-1-3 0-16,1 3 0 0,-3 0 0 0,-3 3 0 16,-1-3 0-16,0 0 0 0,-1-3 0 0,1 3 0 0,0 0 0 0,3 0 0 15,-2-1 128-15,0-3-128 0,-1 0 128 0,3 0-128 16,3 8 0-16,0-4 128 0,-2-4-128 0,3 4 0 15,0-1 128-15,1-1-128 0,0 2 0 0,3-5 128 16,-2 1-128-16,-1-3 160 0,-2-3-160 0,-2 7 160 16,-1-2-160-16,2 5 128 0,-1-3-128 0,-1 3 128 15,-2 3-128-15,2 2 128 0,0-2-128 0,3 2 128 16,-3-5-128-16,0 0 0 0,-2 5 0 0,4-2 128 16,1 1-128-16,0-3 0 0,1-6 0 0,1 9 0 15,0 0 0-15,-2 3 0 0,-2-7 0 0,-1 1 0 16,-5-1 0-16,0 0 0 0,-4 5 0 0,-3-5 0 15,-1-5 0-15,1 5 160 0,-3 0-160 0,-1 0 160 16,0 7 32-16,-1-6 16 0,-12-1 0 0,17 4 0 16,-5 0-208-16,1 1 176 0,0 3-176 0,-2-1 160 15,-11-7-160-15,16 6 0 0,-1-3 0 0,-2 4 0 16,1-2 0-16,-1-4 0 0,-13-1 0 0,18 3 0 0,-2 2 0 0,0 2 0 16,-2-6 0-16,-1 4 0 0,1-2 0 0,-1 2 0 15,2 3 0-15,-1-2 0 0,2-9 0 0,0 3 0 16,0 3 0-16,3 1 0 0,4-3 0 0,3 4 0 15,-4-2 0-15,2 2 0 0,0-5 0 0,2 0 0 16,0 0 0-16,-2 0 0 0,-3 0 0 0,-1 0 0 16,0 0 0-16,0 3 0 0,-2 1 0 0,0-3 0 15,-1-1 0-15,0-1 0 0,-1 2 0 0,0 2 0 16,-4 1 0-16,1-3 0 0,-13-1 0 0,15 0 0 16,1 3 0-16,-3-1 0 0,-2-2 0 0,-2-2 0 15,-9 2 0-15,0 0 0 0,15-3-240 0,-15 3-80 0,0 0 0 16,0 0-16-1,0 0-1712-15,0 0-352 0,0 0-64 0</inkml:trace>
  <inkml:trace contextRef="#ctx0" brushRef="#br0" timeOffset="9048.98">4747 10270 6335 0,'0'0'272'0,"0"0"64"0,-3-6-336 0,3 6 0 16,-2-4 0-16,2 4 0 0,0 0 736 0,0 0 80 16,0 0 16-16,0 0 0 0,16-9-272 0,-16 9-48 15,18-5-16-15,-18 5 0 0,0 0 0 0,0 0 0 16,0 0 0-16,0 0 0 0,0 0 720 0,0 0 160 15,0 0 32-15,0 0 0 0,0 0-256 0,0 0-64 0,0 0 0 0,0 0 0 16,-8 0-448-16,2-3-112 0,-2 8-16 0,8-5 0 16,-7 0-80-16,1 0-32 0,-1 3 0 0,7-3 0 15,0 0-144-15,0 0-48 0,0 0 0 0,0 0 0 16,0 0-208-16,0 0 144 0,16 3-144 0,-1-1 128 16,-15-2-128-16,14 4 160 0,1 0-160 0,-1-1 160 15,-14-3 160-15,16 5 16 0,-16-5 16 0,16 8 0 16,-1 0 128-16,-1 0 32 0,1 3 0 0,-3-1 0 15,-12-10-48-15,16 6 0 0,1 2 0 0,-1-3 0 16,0-3-144-16,-2 1-16 0,1 2-16 0,-1-2 0 16,-1 0-80-16,0-1-16 0,-1-2 0 0,3 0 0 15,-15 0-192-15,18 3 176 0,-1 2-176 0,1-2 160 16,-2-3-160-16,2 1 128 0,-2 3-128 0,1-1 128 16,1 2-128-16,0-5 0 0,-1-4 0 0,1 4 128 0,1 4-128 15,2-1 0-15,0-2 0 0,1 3 0 0,-1-4 0 0,2 0 128 16,1 4-128-16,3 3 128 0,0-7-128 0,1-3 0 15,0 3 0-15,3 0 0 0,1 0 0 0,0-4 128 16,-1 3-128-16,-2-2 0 0,-2-2 160 0,3 0-160 16,-1-1 192-16,2 2-192 0,-2 0 192 0,1-1-64 15,-3 0 0-15,4-1-128 0,-2 6 160 0,0 0-160 16,-1-2 128-16,0 2-128 0,-3 2 128 0,6 1-128 16,3 2 128-16,-2-2-128 0,-2-6 0 0,2 3 0 15,2 3 0-15,-2 0 0 0,-1-1 0 0,-1 1 0 16,-1-6 0-16,1 3 0 0,3 0 192 0,-1 3-64 0,-2-2 0 15,2-1 0-15,2-4-128 0,0 4 0 0,-1-2 144 0,1-1-144 16,1-2 0-16,1-1 144 0,1-2-144 0,-2 3 0 16,0 3 128-16,1-1-128 0,-3-2 0 0,-1-1 0 15,-4-2 128-15,0 4-128 0,-2 0 192 0,-2 2-192 16,0-4 352-16,0 4-32 0,2-1-16 0,-2 0 0 16,0 3-32-16,2-2 0 0,0-3 0 0,1 4 0 15,3 2-32-15,1 1-16 0,3-2 0 0,-2 0 0 16,1 0-96-16,1 0 0 0,1 0-128 0,1-2 192 15,1-1-192-15,-2 0 144 0,-1 0-144 0,-4 1 128 16,-3-1-128-16,1 3 0 0,-3 0 0 0,-1-2 0 16,0 0 0-16,-1 1 128 0,-4-2-128 0,0 3 0 15,2 0 0-15,0-2 0 0,0-1 128 0,0 3-128 16,0 0 0-16,-2 0 0 0,-1-3 0 0,1 1 128 0,-1 2 16 16,-1 0 0-16,-1 2 0 0,3-2 0 0,-2 0 0 15,-3 0 0-15,2 3 0 0,-2 0 0 16,-1-1-144-16,0 2 0 0,-13-4 0 0,18 4 128 0,-5 1-128 0,-2 1 0 15,-1-1 0-15,-1-2 128 0,-9-3-128 0,0 0 0 16,0 0 0-16,0 0 0 16,0 0-1536-16,-9-5-320 0</inkml:trace>
  <inkml:trace contextRef="#ctx0" brushRef="#br0" timeOffset="12065.93">5603 16726 12895 0,'-10'-2'1152'0,"0"1"-928"16,1-2-224-16,-1-2 0 0,0 2 1328 0,2-2 208 15,0 0 64-15,0 0 0 0,8 5-768 0,-6-8-160 16,-1-2-32-16,3 4 0 0,4 6-128 0,-7-8-48 16,2 2 0-16,5 6 0 0,-4-8-48 0,4 8-16 0,-7-8 0 0,7 8 0 15,0 0 144-15,0 0 32 0,0 0 0 0,0 0 0 16,0 0-240-16,10-7-32 0,1 1-16 0,2 6 0 16,0 3-160-16,1-3-128 0,4-3 144 0,1 3-144 15,2-2 384-15,-2-1 0 16,-1 0-16-16,1-2 0 0,0 2 144 0,1-2 48 0,-1 2 0 0,0 1 0 15,0-3-64-15,2 4-16 0,0 1 0 0,-2 0 0 16,-1 0 32-16,-2 3 16 0,-1 0 0 0,2 2 0 16,1 0-96-16,0 1-32 0,-1 0 0 0,2-2 0 15,-1 0-160-15,3 0-48 0,1-1 0 0,4 0 0 16,0-1-64-16,3 3 0 0,0-4-128 0,1 1 192 16,-1-2-192-16,1 3 0 0,-2-1 0 0,-1-2 0 15,0 3 0-15,-1 2 0 0,-2-2 0 0,2 2 0 0,-5-1 0 16,3 0 0-16,1 2 0 0,3 0 0 0,-8 1 0 0,3 1 0 15,-1 0 0-15,4 0 0 0,0-2 0 0,1 1 0 16,0 1 0-16,1 0 0 0,-3-3 0 0,4 4 0 16,2-1 0-16,1 0 0 0,-2-4 0 0,1 0 0 15,-4 0 0-15,2 0 0 0,0 0 128 0,-2 0-128 16,-3-5 0-16,-1 2 144 0,-1 3 96 0,1 0 16 16,-3-5 0-16,3 1 0 0,-1 0-112 0,1 1-16 15,1 3 0-15,0-3 0 0,2-1 0 0,-1-1-128 16,-1-3 192-16,2 4-64 0,1 7-128 0,2-6 0 15,0 4 144-15,2-1-144 0,-3-1 0 0,5 2 128 16,-1-1-128-16,3 0 0 0,0-4 0 0,-3 0 0 16,-3 0 0-16,0 0 128 0,0 0-128 0,5 0 0 0,-2-5 0 0,-2 2 0 15,-1 1 0-15,-2 0 128 0,2-2-128 0,0 2 128 16,-1-5-128-16,-1 6 144 0,0-2-144 0,-1-1 160 16,-2 0 16-16,0 0 0 0,-2 0 0 0,1 0 0 15,3 3 32-15,-2-2 16 0,-2 6 0 0,2-6 0 16,2 3-16-16,-2 0 0 0,0 0 0 0,0 0 0 15,-2-4-32-15,1 0-16 0,-2 2 0 0,1-1 0 16,1 0-160-16,1 3 0 0,0-4 0 0,0 0 128 16,-2 4-128-16,1-2 128 0,1-1-128 0,-2-1 128 15,-2 4 64-15,-1-4 16 0,0 4 0 0,0-4 0 16,1 4 32-16,-1-1 0 0,-3-2 0 0,3 3 0 16,2 0-32-16,3 0 0 0,-1 0 0 0,-1 0 0 15,-3 0-208-15,4 3 128 0,1-2-128 0,0 3 0 16,-1-4 128-16,-4 3-128 0,-3-2 0 0,-2-1 144 0,1 0-144 0,-2 0 0 15,-2 0 0-15,-2 4 0 0,-9-4 0 0,0 0 0 16,15 1 0-16,-7-1 128 0,-8 0-128 0,0 0 0 16,0 0 0-16,0 0 0 0,0 0 0 0,0 0 0 15,8-6-192-15,-8 6-13328 16,6-11-2672-16</inkml:trace>
</inkml:ink>
</file>

<file path=ppt/ink/ink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10:57.467"/>
    </inkml:context>
    <inkml:brush xml:id="br0">
      <inkml:brushProperty name="width" value="0.05292" units="cm"/>
      <inkml:brushProperty name="height" value="0.05292" units="cm"/>
      <inkml:brushProperty name="color" value="#FF0000"/>
    </inkml:brush>
  </inkml:definitions>
  <inkml:trace contextRef="#ctx0" brushRef="#br0">4782 8142 15311 0,'0'0'672'0,"-14"-5"160"0,-2-6-672 0,2 3-160 0,2-2 0 0,-1-1 0 16,4 1 800-16,1 2 128 0,-5 0 32 0,0 0 0 16,-1-3-368-16,-4 6-64 0,-1 2-16 0,-2-2 0 15,-2-3 0-15,-2 3-16 0,-6-1 0 0,1 4 0 0,-4-1 96 0,0 1 32 16,-1 1 0-16,-5-4 0 0,-7 5 64 0,-2-2 16 16,-1 1 0-16,-1-1 0 0,-1-1-272 0,2 3-48 15,2 0-16-15,0 5 0 0,0-2-240 0,0 5-128 16,0 0 128-16,-4 0-128 0,-4 5 0 0,-3 3 0 15,-4-3 0-15,2 6 0 0,0 0 0 0,4 2 0 16,2 0 0-16,5 3-128 0,2 2 128 0,5-1 0 16,3-1 0-16,4 1-128 0,4 7 128 0,2-5 0 15,2-1-144-15,3 1 144 0,-3 7 0 0,6-6 0 16,3 1-144-16,3-1 144 0,4-6 0 0,3 1 0 16,-1 1 0-16,4-2 0 0,1 2 0 0,3 0 128 0,6 0-128 15,2-3 0-15,2 5 144 0,6-2-144 0,7 0 128 0,2 0-128 16,6-3 128-16,3 3-128 0,3-3 0 0,4 0 128 15,2-7-128-15,4 1 0 0,-1-1 0 0,1-1 128 16,4 3-128-16,6 0 128 0,3-3-128 0,1 3 128 16,-1 3-128-16,-2-1 0 0,-1 0 0 0,2-7 0 15,-1-3 0-15,5 5 0 0,2-2 0 0,4 0 0 16,6-3 160-16,2-3-160 0,4-3 192 0,-1 1-192 16,-2 0 144-16,1-3-144 0,5-3 0 0,3 1 144 15,5-6-144-15,1-1 128 0,5-4-128 0,-4 0 128 16,-4-3 0-16,-3 0-128 0,-1-5 192 0,2 5-64 15,4 6 64-15,-3-1 16 0,-5-2 0 0,-7 2 0 16,-8 1 32-16,-1 2 0 0,0 0 0 0,-3 3 0 16,-2-1-16-16,1 1 0 0,4 0 0 0,0-1 0 15,-2 1-224-15,-1-3 128 0,-4-3-128 0,-3 3 0 0,-1-2 128 16,-2-1-128-16,-4-2 0 0,1 0 0 0,-3-1 160 0,1-4-160 16,2 1 160-16,-2 0-160 0,-3-2 192 0,-2 3-48 15,-1-3-16-15,-7 1 0 0,-6 1 208 0,-3-3 48 16,-6 3 0-16,0 1 0 0,-6 0 80 0,-1 0 32 15,-3-1 0-15,-4 1 0 0,-1-8 32 0,-2 3 16 16,-3-3 0-16,-2 4 0 0,-1-5-128 0,-3-3-32 16,-4-1 0-16,-3 0 0 0,-1 0-128 0,-4-2-16 15,-3-2-16-15,-4-1 0 0,-6-1-80 0,-4 3-16 16,-4 3 0-16,-2 0 0 0,-4 0 64 0,-2 3 0 16,-1-4 0-16,0 9 0 0,3 0-64 0,-3 5 0 15,-4-2 0-15,1 2 0 0,0-3-128 0,-4 3 0 0,-4 3 0 0,-4-3 0 16,-4-5 0-16,1 0 0 0,3-1 0 0,2 4-176 15,-1 7 32-15,3-2 0 0,1 3 0 0,-3 2 0 16,-5 5-176-16,-3 3-48 0,-3 5 0 0,-2 1 0 31,0 1-432-31,0 4-96 0,-1 8 0 0,-2 4-16 16,-2 4-1680-16,-7-1-336 0,-9-7-64 0,3 10-10608 0</inkml:trace>
  <inkml:trace contextRef="#ctx0" brushRef="#br0" timeOffset="1125.55">5054 12756 21183 0,'-15'-8'1888'0,"-6"-3"-1504"15,-3 2-384-15,-1-3 0 0,-3 8 1536 0,1-5 256 16,-2 6 32-16,0-5 16 0,-1 0-1328 0,-1 2-256 16,-1-1-48-16,0-1-16 0,0 0-64 0,-2 4 0 15,-3 0-128-15,-1 4 192 0,-2-1-192 0,-2 1-192 16,-3 1 48-16,-5 3 0 0,-4 4 144 0,-12 0 0 16,-6 1 0-16,-2 2 0 0,-1 5 0 0,-1 4-128 0,1 1 128 15,1 1 0-15,-2 5 0 0,-2-1 0 0,-6 1 192 16,3 2-64-16,2 0 48 0,5 6 16 0,10-1 0 15,1 3 0-15,6-5-192 0,4 2 160 0,3-2-160 0,3 5 160 16,1-2-160-16,2 2 0 0,4-3 0 0,3 6 0 16,-1 0 0-16,7 0 0 0,6 2-176 0,4 0 176 15,2 3 0-15,4 0-160 0,5 4 160 0,6 3 0 16,2 2-160-16,7-1 160 0,3-5-128 0,5 4 128 16,6-2-144-16,10-1 144 0,6 4-160 0,5-5 160 15,4-3 0-15,2 2-144 0,6 1 144 0,0-5 0 16,5-4 0-16,5-2 0 0,7-5 0 0,8 5 128 15,8 0 80-15,5-8 32 0,-2 0 0 0,1-7 0 16,-1-1 96-16,3-3 32 0,4 2 0 0,6-4 0 16,7-4-144-16,-2 1-32 0,-5-7 0 0,3-4 0 15,5-4-16-15,7-4-16 0,6-7 0 0,-5-3 0 0,-8-5-160 16,0-3 160-16,4 3-160 0,-4-8 160 0,-2-6-160 16,-11 1 160-16,-12 2-160 0,-5 0 160 0,-9-5 0 15,-6 0 0-15,-6 5 0 0,-3 1 0 0,-2 2 544 0,-5-1 96 16,0-1 32-16,-5-1 0 0,-3 0 0 0,-3 0 0 15,-5 2 0-15,-3-2 0 0,-5-4-320 0,-1 4-48 16,-2-5-16-16,-5 0 0 0,-2 5-208 0,-1-5-48 16,-2-5-16-16,-3 2 0 0,-3-5-48 0,-2 4-128 15,-1 1 192-15,-2-2-64 0,-3-2-128 0,-2 0 128 16,-2-3-128-16,-1 4 128 0,-1 1-128 0,-1 5 0 16,-3-8 0-16,0 5 0 0,-3 9 0 0,-1-4-176 15,-2 1 176-15,-6-1-192 0,-5 3 192 0,-4 2 176 16,-6-1-48-16,0 2 0 0,-5 3-128 0,-3-1 128 0,-3 1-128 0,-4 2 128 15,0 4-128-15,1 0 0 0,-4 3 144 0,-6 1-144 16,-8-1 0-16,-7 8 0 0,-6 1 0 0,-3 6 0 16,-5 4 0-16,-4 7-160 0,-4 8 160 0,-13 11-208 31,-16 8-1456-31,-3 9-272 0,0 6-64 0,-15 8-9296 0,-11 12-1856 0</inkml:trace>
  <inkml:trace contextRef="#ctx0" brushRef="#br0" timeOffset="67922.68">3386 5856 13823 0,'-9'-18'608'0,"4"12"128"0,5 6-592 0,0 0-144 0,0 0 0 0,0 0 0 16,-10-10 1648-16,4 4 288 0,6 6 64 0,0 0 16 16,0 0-1456-16,0 0-304 0,0 0-48 0,0 0-16 0,16 0-192 0,2 0 0 15,1 0 0-15,2-5 0 0,-1 2 0 0,3 1 0 16,6 2 0-16,-2-6 0 0,-3-1 0 0,0 1 0 16,-1-2 128-16,1 3-128 0,-2 2 144 0,1 1-16 15,-7-4 0-15,3 1 0 0,0 2 208 0,1 3 48 16,-1-2 0-16,3-1 0 0,2 0-128 0,-3-2-32 15,2 3 0-15,1 1 0 0,1-1-64 0,3-1-16 16,1-2 0-16,1 2 0 0,2 1-16 0,2 1 0 16,3-1 0-16,0-1 0 0,-2-2-128 0,2 2 0 15,1 1 144-15,-1-1-144 0,-1 0 176 0,-4 3-48 16,0-5 0-16,2 5 0 0,-1 0-128 0,1 0 0 16,-2 0 0-16,2 3 0 0,1-3 160 0,2 2-160 15,6 6 192-15,-1-5-192 0,0 2 0 0,3-5 0 0,1 5 0 16,-1-2 0-16,0 5 0 0,-2-3 0 0,-2-2 0 0,-1 2 0 15,0 6 0-15,0-1 0 0,0 1 0 0,2-3 0 16,1 0 0-16,4 3 0 0,1-1 0 0,3 3 0 16,5-2 0-16,0-6 0 0,2-2 0 0,-5 5 0 15,-5 2 0-15,0-1 0 0,1-2 0 0,-1-4 0 16,-2 3 0-16,2 1 0 0,1 6 128 0,0-2-128 16,-1-5 0-16,-1 2 0 0,0-1 0 0,1 4 0 15,1-1 0-15,-2-2 0 0,-4 0 0 0,1 0 0 16,-1 3 0-16,0 2 0 0,1-2 0 0,2 0 0 15,2-1 0-15,4 3 0 0,2-1 0 0,6 0 0 16,2-4 0-16,-2-3 0 0,-4 3 0 0,-3-4 0 16,-5 0 0-16,0 2 0 0,0 0 0 0,0-2 0 15,2 0 0-15,0-2 0 0,0 3 0 0,4-4 0 16,4 3 0-16,1-4 0 0,-1 3 0 0,-3-1 0 0,-4 1 0 0,0 0 0 16,1 2 0-16,-1-2 0 0,0-3 0 0,2 2 0 15,0 1 0-15,2 2 0 0,1-2 0 0,0 0 0 16,2-1 0-16,-3 2 0 0,-6 0 0 0,1 4 0 15,1-4 0-15,2 3 0 0,0-5 0 0,3 1 0 16,2-2 0-16,5 3 0 0,3-1 0 0,1 0 0 16,-1-1 0-16,-2 2 0 0,-3 0 0 0,0-1 0 15,-2-3 0-15,1 1 0 0,-1 3 0 0,2 0 0 16,2 0 0-16,-2 0 0 0,-2 0 0 0,-3-1 0 16,-3 2 0-16,0 0 0 0,-3-5 0 0,0 3 0 0,-2-3 0 15,0 3 0-15,2-1 0 0,6 1 0 0,2-2 0 16,3-1 0-16,0 0 0 0,0 0 0 0,0 0 0 0,0 0 0 15,0 0 0-15,1-1 0 0,-4-2 0 0,1 1 0 16,1 2 128-16,2 2-128 0,6-2 0 0,-3 3 0 16,0 2 0-16,-4-1 0 0,-5 0 0 0,0 4 0 15,-1-7 128-15,-1 2-128 0,1 1 0 0,-1 0 0 16,2 0 0-16,2-1 0 0,-3-2 0 0,-1 3 0 16,2-4 0-16,-3 0 0 0,-4 0 0 0,-1 1 0 15,0-1 0-15,0 0 0 0,0 4 0 0,2-1 0 16,-2-3 0-16,3 1 0 0,6-1 0 0,-1 0 0 15,-2 4 0-15,-1-4 0 0,-5-4 128 0,-1 4-128 16,-2 0 0-16,-2 4 0 0,2-4 128 0,-2 3-128 16,-1-6 176-16,0 3-32 0,-2 0 0 0,2 3 0 15,-1-3-144-15,1-3 0 0,-2-1 0 0,0 4 128 0,2 0 64 16,-3 0 0-16,-2 0 0 0,-4 0 0 16,-1 0-192-16,0 0 192 0,1 0-192 0,0 0 192 0,3-1-192 15,-1-2 0-15,2 3 0 0,1-4 0 0,1 3 0 0,1-3 128 16,3 3-128-16,2-1 0 0,0 1 0 0,0-3 128 15,-2 4-128-15,-2-1 0 0,-6-1 0 0,-1-3 0 16,-2 2 0-16,1-2 0 0,1 4 0 0,-2-2 0 16,-1-5 0-16,-1 4 0 0,2 0 0 0,0-1 0 15,0-2 0-15,5 1 0 0,0-1 0 0,2-1 128 16,1 4-128-16,2-4 0 0,1 3 0 0,-1 0 0 16,-2-1 0-16,-3 1 0 0,0-2 0 0,-1 2 0 15,1 1 0-15,-1 0 0 0,-4 0 0 0,0-1 0 16,0 0 0-16,-2 2 0 0,-4 0 0 0,0 1 0 0,0 0 0 0,-1 1 0 15,1-2 0-15,0 3 0 0,-1-2 0 0,1 0 0 16,0 1 0-16,-1-2 0 0,1 3 0 0,1-2 0 16,0-1 0-16,-1 0 0 0,-2-2 0 0,-1 1 0 15,-1 0 0-15,-1 0 0 0,-2 0-192 0,-1 0 192 16,0 0-176-16,-1 0 176 0,1 3-128 0,0-2 128 16,-4-2 0-16,2 2 0 0,0 3 0 0,0 0 0 15,2 0 0-15,1 0-160 0,0 3 160 0,4 2-8480 16,2 3-1632-16</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25:03.400"/>
    </inkml:context>
    <inkml:brush xml:id="br0">
      <inkml:brushProperty name="width" value="0.05292" units="cm"/>
      <inkml:brushProperty name="height" value="0.05292" units="cm"/>
      <inkml:brushProperty name="color" value="#FF0000"/>
    </inkml:brush>
  </inkml:definitions>
  <inkml:trace contextRef="#ctx0" brushRef="#br0">14583 4750 2751 0,'0'0'256'0,"-5"-8"-256"0,-1 0 0 0,1 0 0 16,0-2 2464-16,-1 1 448 0,1 2 96 0,-1 1 0 15,6 6-1664-15,0 0-320 0,0 0-80 0,-13-5-16 16,2 2-240-16,1 1-48 0,10 2-16 0,-15 2 0 16,3 1-176-16,-1 2-16 0,0 1-16 0,0 2 0 15,0 0-272-15,2 2-144 0,1-2 160 0,2 3-160 0,0-1 0 0,8-10 0 16,-4 13 0-16,0 1 0 0,4-14 0 0,2 16 0 16,1-1 0-16,2-4 0 0,0 5 0 0,1 0 128 15,-6-16-128-15,11 21 192 0,1 0-192 0,-1 0 0 16,-2-5 128-16,0 3-128 0,-3-1 0 0,-3-2 144 15,2 4-144-15,-2-3 128 0,0-1-128 0,-3 0 160 16,0-16-160-16,0 20 160 0,0 1-160 0,-1-1 128 16,-1-4-128-16,2 0 128 0,-1-3-128 0,1 3 0 15,-2-4 0-15,2 0 128 0,0-12 48 0,0 0 0 16,0 0 0-16,2 13 0 0,-2-1 288 0,0-12 64 16,0 0 16-16,0 0 0 0,0 16-80 0,-2-1-16 0,-1-5 0 15,3-10 0-15,0 0-128 0,0 0-16 0,-7 12-16 0,7-12 0 16,-6 15-112-16,6-15-32 0,0 0 0 0,-7 9 0 15,7-9-144-15,-4 16 0 0,2 1 0 0,2-17 128 16,0 0-128-16,0 0 0 0,-2 12 0 0,2 0 0 16,0-12 0-16,0 0 0 0,0 0 0 0,0 0 0 15,0 0 0-15,0 0 0 0,0 0 0 0,0 0 0 16,0 0 0-16,0 0 0 0,0 0 0 0,0 0 128 16,0 0 0-16,0 0-128 0,8-13 192 0,-1-2-64 15,-2 6 80-15,-2-6 16 0,0-6 0 0,0 4 0 16,-1 2-96-16,1 1 0 0,-1-2-128 0,-1-3 192 15,-1 1-192-15,0-1 0 0,-1 3 128 0,-1 3-128 16,1 0 0-16,-1 0 0 0,-3-3 0 0,2 2 0 16,-2 1 144-16,0 1-144 0,0-2 128 0,1 0-128 15,-1 1 176-15,0 1-48 0,2 0-128 0,3 12 192 0,-3-16-192 0,-1 6 176 32,3-1-176-32,-1 1 160 0,1-1-160 0,1 11 0 0,-2-16 0 0,2 8 0 0,0 8 0 0,0 0 0 15,0 0 0-15,0 0 0 0,-2-8 0 0,2 8 0 16,0 0 0-16,0 0 0 0,0 0 0 0,0 0-144 15,0 0 144-15,0 0 0 0,-3 16-128 0,2 0 128 16,-1-3 0-16,2 3 0 0,0 5-144 0,2-2 144 16,-1-1 0-16,4 1-144 0,-3 2 144 0,2 3 0 15,1-3 0-15,2 6-128 0,-1 3 128 0,0 2-128 16,3-3 128-16,-3 3-128 0,0 1 128 0,-1-1 0 16,0 0 0-16,0-2 0 0,-2 2 0 0,0-3 0 0,0 0 0 0,-1 0 0 15,0 2 0-15,-2-6 0 0,0-1 0 16,0-3 0-16,-2-3 0 0,0-2 128 0,1-2-128 0,-1-1 0 15,2-13 0-15,-1 13 144 0,1-13-144 0,0 0 0 16,0 0 160-16,0 0-160 0,0 0 128 0,0 0-128 16,0 0 240-16,0 0-48 0,0 0 0 0,0 0 0 15,0 0 80-15,-10-3 16 0,10 3 0 0,-11-13 0 16,1-1 96-16,0-3 0 0,-1-2 16 0,2-5 0 16,-1-2-32-16,4-1-16 0,-2 3 0 0,0-5 0 15,1 4-208-15,1-3-144 0,1 4 192 0,0 3-192 16,-1-3 0-16,-1 3 0 0,2 4 0 0,1 1 0 15,-1 0 0-15,0-4 0 0,-1-1 0 0,1 1 0 16,0 4 0-16,2 3 0 0,0-3 0 0,1 0 0 16,-1-4 0-16,1 3 0 0,2 17 0 0,-3-13 0 15,1-2 0-15,1 1 0 0,-1-1 0 0,2 6 0 16,0-2 0-16,0 11-144 0,0-8 144 0,0 8 0 0,0 0 0 0,2-10-160 16,-2 10 160-16,0 0 0 0,0 0-192 0,0 0 64 15,0 0 128-15,0 0-208 0,0 0 16 0,9 13 16 16,-9-13 0-16,10 21 0 0,-2 4 48 0,-2-1 0 15,-1-1 0-15,0-1 0 0,0 1 128 0,0 1 0 16,-1 2-144-16,1-1 144 0,2-1 0 0,-3 4 0 16,1-6-144-16,-3 2 144 0,3 3 0 0,-2-1 0 15,0-2 0-15,0 0 0 0,-1-3-176 0,-2 3 176 16,0 0-160-16,0-3 160 0,0 0-208 0,0 2 48 16,-2-3 16-16,2 3 0 0,0-4-96 0,0 5-16 15,2 0 0-15,1 5-9152 0,2 8-1824 16</inkml:trace>
  <inkml:trace contextRef="#ctx0" brushRef="#br0" timeOffset="11362.42">14447 6208 3679 0,'0'0'320'0,"0"0"-320"16,-7-5 0-16,1 0 0 0,6 5 1152 0,0 0 144 16,-11-7 48-16,3 3 0 0,8 4-176 0,-12 0-16 15,12 0-16-15,0 0 0 0,-11-4-288 0,11 4-48 16,0 0-16-16,0 0 0 0,-10 0-16 0,10 0 0 15,-9-4 0-15,9 4 0 0,0 0-96 0,0 0-32 16,0 0 0-16,0 0 0 0,0 0-240 0,0 0-48 16,0 0-16-16,9-8 0 0,-9 8-208 0,10-5-128 0,1 0 160 0,-11 5-160 15,15-6 128-15,-1 1-128 0,-14 5 0 0,16-8 0 16,-1 4 192-16,-1 0-64 0,1-1-128 0,-1 0 192 16,1-1 64-16,1 4 0 0,-2-1 0 0,5 0 0 15,1-1 0-15,-1 0 16 0,0 2 0 0,3-1 0 16,3 0-16-16,2 3-16 0,2 0 0 0,-2-2 0 15,-3-4 0-15,2 4 0 0,-1-1 0 0,1-1 0 16,-2 0 96-16,-3-1 32 0,-5 0 0 0,2 2 0 16,1 0-112-16,-3 3 0 0,-1-5-16 0,1 5 0 15,0-3-96-15,0 3-16 0,3 3 0 0,-1 0 0 16,-1-3-128-16,2 2 128 0,-2 4-128 0,2-1 128 16,3 0-128-16,1-1 0 0,-1 0 0 0,2-1 128 15,0-1-128-15,2 1 0 0,-2-3 0 0,2 3 0 16,1-3 0-16,-1 2 160 0,-2-2-160 0,0 0 160 15,0 0 0-15,-2-2 0 0,1-1 0 0,-2 3 0 0,-2 3 16 0,-1 2 0 16,1-2 0-16,-3-1 0 0,-3-2-48 0,3 0 0 16,-2 3 0-16,2 2 0 0,-1-2 0 0,-1 0-128 15,-14-3 192-15,19 2-64 0,-1 2 0 0,-2 0-128 16,0 2 192-16,0-4-64 0,-16-2 32 0,16 4 0 16,2 0 0-16,-2-1 0 0,-16-3-160 0,19 2 192 15,-3 1-192-15,2-2 192 0,-2-1-192 0,0 0 160 16,-16 0-160-16,19 2 160 0,1-4-160 0,-3 4 0 15,1 0 0-15,0-2 0 0,-2 0 0 0,1 0 0 16,1 0 0-16,0 0 0 0,-1 0 0 0,2 0 0 16,1 0 0-16,-1 0 0 0,0-2 0 0,4 2 0 0,-4-3 0 15,2 0 0-15,-4 3 128 0,1-5-128 0,-3 1 192 16,1 3-64-16,-2-2 0 0,1 1 0 0,-3 0 0 0,1 1 0 16,0 1-128-16,0-3 0 0,-13 3 0 0,18-4 0 15,-2 0 0-15,-2 2 0 0,0-1 0 0,-1 0 0 16,-13 3 0-16,15-2 128 0,-2 0-128 0,-13 2 0 15,16-4 160-15,-4 2-160 0,-12 2 192 0,0 0-192 16,20-3 128-16,-6 3-128 0,-14 0 0 0,13 0 0 16,-13 0 128-16,14 5-128 0,-1-2 0 0,-13-3 0 15,15 5 0-15,-15-5 0 0,0 0 0 0,17 0 0 16,-1 4 0-16,-16-4 0 0,0 0 0 0,16 4 0 16,-1 0 128-16,-15-4-128 0,16 4 0 0,-6 0 0 15,-10-4 0-15,0 0 128 0,0 0-128 0,0 0 0 16,0 0 160-16,0 0-160 0,0 0 128 0,0 0-128 15,12 7 128-15,-12-7-128 0,0 0 128 0,10 5-128 0,-10-5 128 0,0 0-128 16,0 0 0-16,0 0 128 0,0 0-128 0,0 0 0 16,0 0 0-16,0 0 128 0,15 5-128 0,-6 1 0 15,-9-6 0-15,0 0 0 0,0 0 0 0,13 5 0 16,-13-5 0-16,0 0 0 0,0 0 0 0,0 0 0 16,0 0 0-16,0 0 0 0,0 0 0 0,0 0 0 15,0 0 0-15,0 0 0 0,0 0-176 0,0 0-64 16,0 0-16-16,-11 5 0 15,-7-1-2384-15,2-2-496 0,0-4-80 0</inkml:trace>
  <inkml:trace contextRef="#ctx0" brushRef="#br0" timeOffset="12706.28">14912 6142 14623 0,'-16'-4'640'0,"8"3"144"0,-2-2-624 0,10 3-160 0,0 0 0 0,-14-2 0 16,-4-1 208-16,2 0 16 0,0 3 0 0,5 0 0 15,0-2-224-15,1 0 0 0,-1 2 0 0,4 2-160 16,7-2 160-16,0 0-192 0,0 0 192 0,0 0-192 15,-12 2 192-15,2 1 0 0,10-3 0 0,-10 1-128 16,1 1 128-16,-3 0 0 0,3 2 0 0,-1 0 0 16,2-4 288-16,-1 3-16 0,-3-1 0 0,1 4 0 15,-2-4 368-15,0 4 64 0,2-4 0 0,-2 2 16 16,1-2 112-16,0 0 32 0,-1-2 0 0,4 3 0 16,-1-2-96-16,2 1-32 0,0 0 0 0,0-2 0 15,8 0-288-15,-8 0-48 0,8 0-16 0,0 0 0 16,-10 0-160-16,10 0-32 0,0 0-16 0,0 0 0 15,0 0-176-15,0 0 0 0,-8 3 0 0,8-3 128 16,0 0-128-16,0 0 0 0,0 0 0 0,0 0 128 0,0 0-128 16,0 0 0-16,0 0 0 0,0 0 0 0,0 0 0 0,0 0 0 15,0 0 0-15,0 0 128 0,15 5 0 0,-15-5-128 16,16 4 192-16,-16-4-64 0,18 7 64 0,-2-6 16 16,-2 3 0-16,1-3 0 0,-15-1 16 0,20 0 0 15,3-1 0-15,-2 1 0 0,-2-4-64 0,0 4-16 16,-3 0 0-16,5-4 0 0,3 4-144 0,0 0 160 15,-4-4-160-15,0 4 160 0,0 0-160 0,-1 4 128 16,0-4-128-16,-1 0 128 0,-1 3-128 0,1-2 0 16,0 6 0-16,-2-1 0 0,1 1 176 0,0-2-48 15,0-1-128-15,1 0 192 0,-1 0-64 0,3 0 0 0,1 0-128 0,-1-4 192 16,0 0-64-16,-1 0 0 0,0 0-128 0,4 0 192 16,-1-1-64-16,-1-2-128 0,-2-1 176 0,1 4-176 15,-1-4 976-15,2 4 96 0,0-2 16 0,-1 0 0 31,0 2-1632-31,1 0-320 0,1 0-64 0,0 4-16 0,-4 0 944 0,0 0 0 0,-1-4 160 0,3 3-16 16,-1-3-144-16,-1 0 0 0,-1 1 144 0,-1 3-144 16,2-1 224-16,-2-2-32 0,0-1 0 0,-2 0 0 15,1 0-32-15,-1 4-16 0,2-3 0 0,-1-1 0 16,-2-5-16-16,1 5 0 0,1 0 0 0,-1 0 0 16,-14 0-128-16,18 0 128 0,-2-1-128 0,0-1 128 15,0 1-128-15,0 1 0 0,0-4 0 0,0 4 0 16,0-1 0-16,-2 1 0 0,-14 0 0 0,23-3 0 15,-1 6 0-15,-1-2 0 0,-3-1 0 0,3 4 0 16,0-3 0-16,0-1 0 0,3-5 0 0,-2 5 0 16,1-1 0-16,-4 2 0 0,-2 3 0 0,4-3 0 0,2-1 0 0,1 0 0 15,-7 0 0-15,1 0 0 0,-2 0 0 0,-1-1 128 16,-3-3-128-16,3 4 0 0,-15 0 0 0,16 5 0 16,-2-5 128-16,-1 0-128 0,-13 0 0 0,16 0 0 15,-16 0 0-15,18 0 128 0,-2 0-128 0,0 0 160 16,-3-1-160-16,0 1 160 0,-13 0-160 0,17 0 0 15,-1-4 144-15,0 4-144 0,-1 0 0 0,-1-1 128 16,-14 1-128-16,16-3 0 0,-1-1 0 0,-1 4 0 16,-14 0 0-16,16-1 128 0,-16 1-128 0,16-5 0 15,-3 2 0-15,-3 0 128 0,-10 3-128 0,0 0 0 16,0 0 0-16,16-4 0 0,-3 0 0 0,-13 4 128 0,0 0-128 0,0 0 0 16,16-2 0-16,-3 0 0 0,-4 1 0 0,-9 1 0 15,0 0 0-15,0 0 0 0,16 0 0 0,-6 0 128 16,-10 0-128-16,0 0 0 0,0 0 0 0,0 0 0 15,16-3 0-15,-5 3 0 0,-11 0 0 0,0 0 128 16,0 0-128-16,0 0 0 0,0 0 0 0,0 0 128 16,0 0-128-16,0 0 0 0,0 0 128 0,0 0-128 15,0 0 0-15,0 0 0 0,0 0 0 0,0 0-192 32,-11 8-544-32,0-4-112 0,11-4-32 0,-13 7 0 15,0-2-2576-15,0-1-528 0</inkml:trace>
  <inkml:trace contextRef="#ctx0" brushRef="#br0" timeOffset="13519.42">14790 6182 9215 0,'0'0'816'0,"0"0"-656"0,-13 0-160 0,13 0 0 16,-16-3 1824-16,3 3 336 0,13 0 64 0,0 0 16 15,-14-4-1232-15,3 0-240 0,-1 2-64 0,12 2 0 16,0 0-352-16,0 0-80 0,0 0-16 0,0 0 0 16,0 0-256-16,0 0 0 0,0 0 0 0,0 0-144 0,0 0 144 0,0 0-128 15,0 0 128-15,0 0-128 0,13 2 128 0,2-2 0 16,-2 3 0-16,1 0-128 0,2 2 128 0,2 0 0 16,1-1 0-16,-1 3-128 0,-1 1 128 0,4-3 128 15,2 0-128-15,-3-1 176 0,-2 0 80 0,3 4 32 16,-2-5 0-16,2-2 0 0,2-1 96 0,1 0 0 15,0-1 16-15,1-2 0 0,-1 3-128 0,4-2-16 16,1-1-16-16,1 0 0 0,1 3-240 0,1-2 144 16,0 0-144-16,6 2 128 0,6 0-128 0,-1 0 0 15,-1 2 0-15,1 0 0 0,-1 1 0 0,-2-3 0 16,-3 0 0-16,-3 0 0 0,-1-3 128 0,-1 3 0 0,0-4 0 0,1 3 0 16,-1-2 144-16,0 3 32 0,-3 0 0 0,-1 0 0 15,1-2 16-15,0 2 0 0,0 0 0 16,0 0 0-16,0 0 0 0,0 2 0 0,1-2 0 0,1 3 0 15,-4-3-144-15,-1 0-32 0,1 0 0 0,-1 0 0 16,-4 0-16-16,1 1-128 0,-4-1 192 0,0 0-64 16,0-1 0-16,1 1 0 0,-1 0 0 0,0 0 0 15,0 0 16-15,-3 0 0 0,-16 0 0 0,17 0 0 16,-3 1-144-16,0 1 128 0,-14-2-128 0,0 0 128 16,20 0-128-16,-4 0 0 0,-3 2 144 0,-13-2-144 15,0 0 0-15,17 0 128 0,-2 0-128 0,-15 0 0 16,0 0 0-16,14 0 0 0,-14 0 0 0,0 0 0 15,15 3-128-15,-15-3 0 0,0 0 0 0,0 0 0 16,0 0-320-16,0 0-48 0,0 0-16 0,0 0 0 16,0 0-1472-16,0 0-288 0,0 0-64 0</inkml:trace>
  <inkml:trace contextRef="#ctx0" brushRef="#br0" timeOffset="14019.69">14965 6155 9215 0,'0'0'816'0,"0"0"-656"0,5-13-160 0,1 5 0 15,1-2 1984-15,1 0 352 0,-2 1 80 0,4-2 16 16,3 1-1568-16,-1-1-304 0,0 3-64 0,4 0-16 15,1 0-64-15,1 0-16 0,3 0 0 0,3-2 0 16,0 2-208-16,5 0-32 0,0 0-16 0,6 5 0 16,4 1 112-16,4-1 0 0,2 0 16 0,3-2 0 0,2 5 16 15,-2 0 0-15,-2 3 0 0,-1-6 0 0,-1 3-112 0,-1-2-32 16,2 4 0-16,2-2 0 0,-1 0 16 0,-1 0 0 16,-2 0 0-16,5 0 0 0,5 0-160 0,0 0 160 15,-1 0-160-15,-6 0 160 0,-2-2-160 0,-4 1 0 16,-2 1 0-16,1 0 128 0,-4-5-128 0,-1 3 0 15,-1-1 0-15,1 0 128 0,0 3-128 0,1 0 0 16,-3-3 0-16,4 3 128 0,1-2-336 0,6-1-80 16,7 3-16-16</inkml:trace>
  <inkml:trace contextRef="#ctx0" brushRef="#br0" timeOffset="17724.68">14851 6151 6447 0,'0'0'576'0,"0"0"-576"15,0 0 0-15,0 0 0 0,0 0 1616 0,0 0 224 0,0 0 32 0,7-9 16 16,-7 9-928-16,0 0-192 0,0 0-48 0,0 0 0 15,0 0-336-15,0 0-80 0,0 0-16 0,0 0 0 16,0 0-288-16,8-4 0 0,0 4 0 0,0 0 0 16,0 0 0-16,1 4 0 0,4-4 0 0,-2 3 0 15,1-1 0-15,7-2 0 0,0 4 0 0,-1 0-144 16,-1-1 144-16,-1 0 0 0,0-1 0 0,2-2-128 16,-2 4 128-16,0 0 0 0,-1-4 0 0,-1 4 0 15,-14-4 0-15,19 7 0 0,-1-6 0 0,-2 3 0 16,0-1 144-16,-1-2-144 0,-15-1 192 0,17 4-192 15,-1 0 352-15,0 0-32 0,0-3-16 0,0 3 0 16,-16-4-16-16,20 4 0 0,-1 0 0 0,0 0 0 16,0 0-32-16,1 4 0 0,-1-4 0 0,3 0 0 15,1-4 160-15,1 4 32 0,-3 1 0 0,1-2 0 16,1 4-96-16,-2-1-16 0,-1-2 0 0,-2-1 0 16,0-2-48-16,-2 1-16 0,-2-2 0 0,1 0 0 0,1 0 0 15,-2 0 0-15,-14 0 0 0,18-2 0 0,-2 1-48 0,0-2-16 16,0 3 0-16,-3-2 0 0,-13 2-64 0,14-3-16 15,-1 3 0-15,0 0 0 0,-13 0-128 0,18-4 160 16,-18 4-160-16,19 4 160 0,0-8-160 0,-1 4 192 16,-1 0-192-16,1 0 192 0,0 0-48 0,-1 0 0 15,3-1 0-15,-1 1 0 0,0 0-144 0,0 0 160 16,2-2-160-16,0 1 160 0,3-3-160 0,-1 4 0 16,-2-1 0-16,1 1 128 0,0-2-128 0,-1 2 0 15,2-1 0-15,-2 2 0 0,-5-1 0 0,0 0 0 0,0 0 0 16,-3 0 0-16,-13 0 0 0,16 2 192 0,-16-2-192 0,17 1 192 15,-2-2-192-15,-2 1 0 0,-4 1 0 0,3-1 128 16,-12 0-128-16,12 0 0 0,-12 0 0 0,12-1 0 16,-12 1 0-16,0 0 208 0,0 0 0 0,0 0 0 15,12-3 112-15,-12 3 0 0,0 0 16 0,0 0 0 16,13-4-112-16,-13 4-32 0,0 0 0 0,0 0 0 16,0 0-192-16,0 0 176 0,0 0-176 0,13-1 160 15,-13 1-160-15,0 0 0 0,0 0 0 0,0 0 0 16,15-3 0-16,-15 3 0 0,0 0 0 0,0 0 0 15,0 0 0-15,0 0 0 0,0 0 0 0,0 0 128 16,0 0-128-16,0 0 0 0,0 0 0 0,0 0 0 16,0 0 0-16,0 0 0 0,0 0 0 0,0 0 128 15,14 3-128-15,-14-3 0 0,0 0 0 0,13 1 0 16,-13-1 0-16,0 0 0 0,0 0 0 0,0 0 0 0,0 0 0 16,0 0 0-16,0 0-144 0,14 5 144 0,-14-5-240 15,15 0 16-15,-15 0 0 0,14 0 0 16,-14 0-1920-16,16 0-384 0</inkml:trace>
  <inkml:trace contextRef="#ctx0" brushRef="#br0" timeOffset="35735.74">12211 10174 4607 0,'0'0'400'0,"-8"-3"-400"16,-3 1 0-16,3 2 0 0,8 0 2512 0,-11 3 432 15,1-1 64-15,2 3 32 0,8-5-2016 0,0 0-416 16,0 0-80-16,0 0-16 0,-13 8-144 0,7-2-48 16,6-6 0-16,0 0 0 0,0 0-96 0,0 0-32 15,0 0 0-15,0 0 0 0,0 0 80 0,0 0 16 16,0 0 0-16,0 0 0 15,0 0 80-15,0 0 16 0,0 0 0 0,0 0 0 0,0 0-48 0,13 8 0 0,-13-8 0 0,0 0 0 16,17 8-144-16,1-1-16 0,0-4-16 0,-1 0 0 16,-2-3-32-16,1 2-128 0,5-2 192 0,-4 0-64 15,-1 0 96-15,0-2 16 0,4-1 0 0,-1 3 0 16,-2-2-64-16,6 1-16 0,-1-1 0 0,2-1 0 16,-1 3-32-16,3-2 0 0,-2 1 0 0,1-1 0 15,1-1-128-15,1 1 0 0,2-1 0 0,0 0 0 16,3-2 0-16,2 2 0 0,0 3 0 0,3-2 0 15,1-4 176-15,2 1 48 0,-5 5 16 0,-1-2 0 16,-2-1-48-16,0 0-16 0,2-2 0 0,0 0 0 16,-4-1-176-16,2 4 0 0,0-1 144 0,1 0-144 15,0-2 0-15,-1 5 128 0,-1-2-128 0,4 1 0 16,5-1 0-16,-1-1 128 0,-1-2-128 0,1 0 0 16,-1 2 0-16,-1-2 128 0,-3-1-128 0,-2-2 0 0,-1 1 144 0,1-1-144 15,0 2 192-15,-2-2-192 0,-3 0 0 0,2 0 0 16,-1 0 0-16,-1 3-192 0,-1-3 192 0,-2 5 0 15,0-2 0-15,-2 3 0 0,-4-4 0 0,1 6 0 16,0 0 0-16,1 0 0 0,-3 0 160 0,1 0-160 16,-4 0 128-16,1 0-128 0,-1 3 128 0,1-1-128 15,-1-2 128-15,-3-2-128 0,-11 2 176 0,12-3-48 16,0 3-128-16,-2 0 192 0,-10 0 64 0,0 0 16 16,0 0 0-16,0 0 0 0,11-2 48 0,-11 2 16 15,0 0 0-15,0 0 0 0,0 0 16 0,0 0 0 0,0 0 0 16,0 0 0-16,0 0-144 0,0 0-16 0,0 0-16 0,0 0 0 15,0 0-176-15,0 0 0 0,0 0 0 0,0 0 0 16,12 10 0-16,-3-2 0 0,1-3 0 0,-10-5 0 16,0 0-224-16,0 0 80 0,9 6 16 0,-9-6 0 15,0 0-16-15,8 8 0 0,-8-8 0 0,0 0 0 16,0 0 144-16,0 0 0 0,0 0-144 0,0 0 144 16,0 0-256-16,0 0 32 0,5 10 0 0,-5-10 0 31,0 0-640-31,0 0-128 0,0 0-32 0</inkml:trace>
  <inkml:trace contextRef="#ctx0" brushRef="#br0" timeOffset="63952.94">17303 12373 4607 0,'-11'0'400'0,"1"-3"-400"16,2 3 0-16,0 0 0 0,8 0 1040 0,-8 0 128 15,0 0 32-15,0 3 0 0,8-3-1056 0,-9 3-144 16,9-3-144-16,-10 2 144 16,2-2-496-16,0 3 32 0</inkml:trace>
  <inkml:trace contextRef="#ctx0" brushRef="#br0" timeOffset="65171.7">17144 12397 11743 0,'0'0'512'0,"0"0"128"0,0 0-512 0,0 0-128 16,0 0 0-16,0 0 0 0,0 0 1216 0,0 0 240 0,0 0 32 16,0 0 16-16,0 0-608 0,0 0-128 0,0 0-32 15,0 0 0-15,-9 5-160 0,1 0-16 0,8-5-16 0,-8 8 0 16,8-8-32-16,-7 8-16 0,1 0 0 0,1 0 0 16,0 0-16-16,5-8 0 0,0 0 0 0,-1 13 0 15,1-13-176-15,0 0-48 0,-5 11 0 0,5-11 0 16,-7 11-64-16,7-11-32 0,-8 10 0 0,2 1 0 15,-2-3-160-15,8-8 160 0,-8 13-160 0,1-2 160 16,-1-1 48-16,0-2 16 0,0 0 0 0,2 3 0 16,0-1 208-16,1 4 32 0,-2-4 16 0,3 2 0 15,0 4-48-15,3-3-16 0,-4-1 0 0,3 0 0 16,2-12-288-16,0 16-128 0,0 0 128 0,4 1-128 16,-4-17 0-16,4 12 0 0,0 1 0 0,-1-2 0 15,-3-11 0-15,5 13 0 0,-5-13 0 0,3 16 0 16,-2 0 0-16,1-3 0 0,-2-13 0 0,-2 16 0 15,2-3 0-15,0 2 0 0,-1-3 128 0,1 1-128 0,0-13 0 16,3 16 192-16,-1 5-192 0,1-5 192 0,2 0-192 0,1 2 0 16,-1-7 0-16,0 5 0 0,-1-3 0 0,1 3 0 15,0-3 0-15,0 3 0 0,0-3 0 0,-2 1 0 16,-1 2 0-16,1-1 0 0,0-1 128 0,0 2-128 16,2-1 0-16,-2-1 128 0,-3 2-128 0,2 0 0 15,3-1 0-15,-4-1 0 0,-2 1 0 0,1-1 0 16,1-1 0-16,2 3 128 0,1-3-128 0,-1 3 0 15,0-3 0-15,0 3 0 0,0-2 0 0,1 1 0 16,0 1 144-16,-2-2-144 0,0-1 0 0,1 0 128 16,-1 4-128-16,1 0 0 0,-2-1 0 0,4 0 0 15,2 0 0-15,-1 3 0 0,0-3 0 0,2-2 0 0,-1 3 0 16,1-1 0-16,-2 0 0 0,1 0 0 0,1 0 0 0,-2 1 0 16,-1-1 0-16,0 4 128 0,-4-3-128 0,1-1 0 15,1 0 128-15,-1 4-128 0,-4 1 160 0,1-1-160 16,-1 6 0-16,0-2 128 0,-1 3-128 0,0-1 0 15,0 1 0-15,0 2 0 0,-2-1 128 0,2-3-128 16,-2 1 0-16,-2 1 0 0,2-1 128 0,2 4-128 16,-2-4 0-16,1 3 128 0,-1-2-128 0,2-1 0 15,-1 1 176-15,0-1-176 0,-1 1 192 0,0-1-192 16,2 1 0-16,0 2 0 0,-2 2 0 0,0 1 0 16,2 3 0-16,1-1 0 0,-1-1 0 0,-2 3 0 15,-1 1 0-15,2-2 0 0,3 0 0 0,-2 2 0 16,-1 2 0-16,1-1 0 0,2 2 0 0,-3 4 0 15,0-9 0-15,-1 0 0 0,0-1 0 0,-1 1 0 16,-1 2 0-16,1 3 0 0,1 2 0 0,-2 0 0 0,4-4 256 16,0-2-48-16,1-1-16 0,2 2 0 0,0-3 0 15,-1 1 0-15,2-1 0 0,1 1 0 0,-2-1-64 0,0-5 0 16,-2 0-128-16,1-1 192 0,-1 5-192 0,1-1 128 16,-3-4-128-16,1 5 0 0,-2 0 0 0,2-1 128 15,0 4-128-15,1-3 0 0,-1 3 0 0,-2 1 0 16,2-4 128-16,0 3-128 0,0 1 0 0,0 0 0 15,-1-1 0-15,1 3 0 0,0-1 0 0,0 1 128 16,-1-7-128-16,1 3 0 0,0-1 128 0,0 0-128 16,-2-2 0-16,0 5 144 0,0-5-144 0,1 3 0 15,-3-1 0-15,1-2 128 0,-1-1-128 0,2 1 0 0,-3-3 0 16,0 3 0-16,0-3 0 0,4 3 128 0,-1 5-128 16,2 0 0-16,-4-2 0 0,2-1 0 0,2 2 128 0,2 1-128 15,-1-1 0-15,2 1 0 0,-2-4 0 0,2 3 128 16,-1 1-128-16,1-4 0 0,5 4 0 0,-4-2 0 15,-2-1 0-15,1 2 0 0,3-1 0 0,2-3 0 16,1 5 128-16,-1-5-128 0,-2-3 0 0,-1 3 128 16,1-3-128-16,2 0 160 0,-1 1-160 0,1 1 160 15,-5 1-160-15,2 2 0 0,-1-4 144 0,-1 1-144 16,-1 1 0-16,-2 3 128 0,3-1-128 0,-2 1 0 16,0-5 0-16,1 7 0 0,1-5 0 0,0 4 128 15,-3-1-128-15,1-3 0 0,0 0 128 0,1 2-128 16,-1-2 0-16,1 3 0 0,1-1 0 0,-2 1 0 15,-3-1 0-15,0 0 144 0,-1 3-144 0,0-5 0 16,-1 3 144-16,1-1-144 0,1-2 0 0,-2 0 144 0,-1 2-144 0,0 1 0 16,5-4 144-16,-2 6-144 0,-3-2 192 0,2-1-16 15,0-4-16-15,1-1 0 0,5-3-160 0,0-2 0 16,-3-3 0-16,1 3 128 0,2-3-128 16,2-2 0-16,1-3 0 0,-2 0 0 0,-5-2 0 0,2 2 128 15,0-1-128-15,2-2 0 0,2 0 0 0,-2-1 0 16,-3 0 128-16,-1 0-128 0,4 1 0 0,0 0 0 15,0-2 0-15,-1 1 0 0,-4-3 0 0,0 2 0 16,5 1 0-16,0-12 128 0,-6 9-128 0,6-9 0 16,-5 8 0-16,5-8 0 15,0 0-352-15,0 0-96 0,0 0-32 0,0 0-16416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10-16T11:16:57.574"/>
    </inkml:context>
    <inkml:brush xml:id="br0">
      <inkml:brushProperty name="width" value="0.05292" units="cm"/>
      <inkml:brushProperty name="height" value="0.05292" units="cm"/>
      <inkml:brushProperty name="color" value="#FF0000"/>
    </inkml:brush>
  </inkml:definitions>
  <inkml:trace contextRef="#ctx0" brushRef="#br0">16681 3898 11967 0,'0'0'1072'16,"-7"5"-864"-16,1-2-208 0,-2 3 0 0,-2-1 1344 0,0 0 240 15,2 4 32-15,-1-5 16 0,-1-1 448 0,1-6 96 16,-1 3 0-16,0 3 16 0,2-2-704 0,0 1-144 16,0-2-16-16,-1-2-16 0,-1-2-320 0,4 0-64 15,-2 3-16-15,0-2 0 0,-1-2-304 0,1 0-64 16,-1-1-16-16,-1-1 0 0,1 1-176 0,-1-2-32 15,0 3-16-15,-4-3 0 0,-4-3-64 0,2 4-16 16,0-1 0-16,0 0 0 0,0 2-16 0,0-2 0 16,-2 3 0-16,1 2 0 0,-1-4-32 0,0 1-16 15,1 4 0-15,-1-1 0 0,-3-2-160 0,0 2 160 16,2 0-160-16,0 3 160 0,0 3-16 0,-1 0 0 16,1 4 0-16,0-1 0 0,-2-1-16 0,2 3-128 0,-1 3 192 0,1-1-64 15,1 3-128-15,1-2 160 0,-1 0-160 0,1 2 160 16,0 0-160-16,1 3 128 0,5-3-128 0,-2 1 128 15,1 1-128-15,-1 1 0 0,0 0 144 0,2 0-144 16,-1 5 0-16,3-2 0 0,-1-2 0 0,-1 8 0 16,1-1 0-16,4 1 0 0,1-1 0 0,2 7 0 15,0-2 0-15,1 1 0 0,2-6 0 0,2 5 0 16,-1 0 0-16,2 2 0 0,2-1 0 0,-2 1 128 16,1-1-128-16,0 1 0 0,1-1 128 0,3 7-128 15,0-8 0-15,0-2 144 0,2-1-144 0,0-2 0 16,1-3 160-16,2 0-160 0,0-2 128 0,-1 5-128 15,3-5 176-15,-1-1-48 0,2 1-128 0,2-1 192 0,1-2-48 0,2 3-16 16,0-1 0-16,1-2 0 0,-1-3 16 0,3 1 0 16,2-1 0-16,0-3 0 0,-1-2-144 0,3 0 128 15,-1-3-128-15,3-4 128 0,3-1-128 0,0-1 128 16,1-4-128-16,1 2 128 0,1-2-128 0,-1-3 192 16,0 3-192-16,2-3 192 0,0 5-192 0,0-2 0 15,-2 0 144-15,10-1-144 0,-3-2 0 0,-4-2 0 16,-1 2 0-16,-1 0 0 0,-3 0 0 0,-1 0 0 15,-1-2 0-15,-2-1 0 0,0 3 0 0,0-2 0 16,-9 2 0-16,3 0 0 0,-1 0 0 0,-1-3 0 16,0-5 0-16,-2 3 0 0,1-3 0 0,-3 0 0 0,-1 0 0 15,-1-2 0-15,-2-1 0 0,-1 3 0 0,-2 0 0 0,-2 1 0 16,2-7 0-16,-4 1 0 0,-3-3 0 0,-1 6 0 16,-2-1 0-16,-3 1 0 0,-1 2 0 0,-2-3 128 15,-2-2-128-15,-2 2 0 0,-2-3 0 0,-1-3 0 16,-2-2 0-16,-1 3 0 0,-3-2 0 0,0 1 128 15,-9-7-128-15,3 4 0 0,-3 3 0 0,1 1 0 16,6 6 0-16,-3-1 0 0,-3-5 0 0,-2 6 0 16,0-1 0-16,-1 1 0 0,-2-1 0 0,0-1 0 15,-10 0 0-15,3 4 0 0,2 0 0 0,2 3 0 16,0 1 0-16,1 0 0 0,0 2 0 0,4-1 0 16,-1 6 0-16,4-1 0 0,0-3 0 0,1 0 0 15,0 1 0-15,1-2 0 0,1 2 0 0,0 0 0 16,1 2 0-16,1-2 0 0,-1 3 0 0,1-3 0 0,-1 5 0 0,4-2 0 15,5 5 0-15,-2 0 0 16,-2 0 0-16,-1 3 0 0,-1-1 0 0,0 1 0 0,2 2 0 0,0 1-128 16,1 2 128-16,-4 2 0 0,-2 1-128 0,2-1 128 15,4 1-128-15,-1 0 128 0,2-1 0 0,0 3-128 16,0-2 128-16,0 2 0 0,0 6-128 0,1-1 128 16,-1 4-128-16,2-1 128 0,1-5-144 0,0 2 144 15,0 1-160-15,1-1 160 0,-1 2-144 0,0 3 144 16,0-2-128-16,0 0 128 0,-1 7 0 0,1 0-160 0,5-7 160 15,1-4 0-15,1 4-160 0,1-2 160 0,0-1-128 0,4 1 128 16,-1-3 0-16,2 5-160 0,0 0 160 0,2 0 0 16,-1-5 0-16,1 0-128 0,0 0 128 0,1 3 0 15,2-1 0-15,-1-2 0 0,1 3 0 0,2 4 0 16,-2-5 0-16,1-1 0 0,2 2 0 0,3-1 0 16,-1 1 0-16,1-1 0 0,2-2 0 0,1 3 0 15,2-3 0-15,2-1 0 0,1 1 0 0,1-2 0 16,0-1 0-16,3-3 0 0,1 3 0 0,2-2 0 15,-1-3 0-15,3 3 0 0,0-3 0 0,3 0 0 16,11 0 0-16,-1-1 0 0,1-4 0 0,1 2 0 16,-1-5 0-16,-2-5 0 0,-1 2 128 0,1-4-128 15,-2-1 0-15,3 0 0 0,-3-3 0 0,-3 3 0 16,-1-3 128-16,0-2-128 0,-9 5 0 0,3 0 0 0,-1-5 128 16,-1 3-128-16,-1-1 0 0,1 0 144 0,0-2-144 0,1 3 0 15,0-4 0-15,-1 1 0 0,-4-3 0 0,-1 0 0 16,0 0 0-16,-2 0 0 0,-3 0 0 0,-1-2 0 15,-2 2 0-15,1-5 0 0,-3 2 0 0,-3 1 0 16,-3 5 0-16,-1 1 0 0,-3-3 0 0,-1-1 0 16,-1-2 128-16,-3-1-128 0,-1 3 0 0,-1-2 0 15,-2-1 0-15,-3-2 0 0,-4-3 0 0,-1 3 0 16,-1-3 0-16,-3 0 0 0,-7-8 0 0,0 2 0 16,-2-2 0-16,0 4 0 0,-1-2 0 0,-1 1 0 15,1 2 128-15,1 1-128 0,-2 3 0 0,2 3 0 16,0 4 0-16,2 1 0 0,1 4 0 0,2 0 0 15,0 3 0-15,0 0 0 0,0 0 0 0,2 1 0 16,-1 4 0-16,1 0 0 0,-1-1 0 0,-1 0 0 0,-1-1 0 0,0 2 0 16,3 3 0-16,-2 0 0 0,1 0-144 0,-1 3 144 15,-1-3 0-15,-1 3 0 0,0-1 0 0,4-2 0 16,1 6-128-16,2 1 128 0,3 1 0 0,-2 3 0 16,0 2-144-16,2 3 144 0,2 5 0 0,0-1-144 15,-1 0 144-15,1 4-128 0,2-5 128 0,3-1-128 16,1 6 128-16,0 0 0 0,0 1-144 0,1 4 144 15,1 2-192-15,3-2 48 0,-1-4 0 0,4 3 0 16,2-3-528-16,1-4-96 16,0 0-32-16,2 0 0 0,3-3-1296 0,4-1-256 0</inkml:trace>
  <inkml:trace contextRef="#ctx0" brushRef="#br0" timeOffset="1950.5">16356 4861 6447 0,'0'0'576'0,"0"0"-576"0,0 0 0 0,0 0 0 16,0 0 1040-16,0 0 112 0,0 0 0 0,0 0 16 15,0 0 368-15,0 0 80 0,0 0 16 0,0 0 0 16,0 0-96-16,0 0 0 0,0 0-16 0,0 0 0 16,0 0-160-16,0 0-16 0,0 0-16 0,0 0 0 15,0 0-32-15,0 0 0 0,0 0 0 0,0 0 0 16,0 0-400-16,0 0-64 0,0 0-32 0,0 0 0 15,5 8-352-15,-2 0-64 0,-3-8 0 0,2 8-16 16,-2-8-160-16,2 8-16 0,-2-8-16 0,1 5 0 16,-1-5-176-16,2 11 0 0,-2-11 144 0,0 0-144 15,0 8 144-15,0-8-144 0,1 5 192 0,-1-5-192 16,0 0 272-16,0 0-48 0,-1 8-16 0,1-8 0 0,-2 8 0 0,2-8 0 16,0 0 0-16,-1 8 0 0,1-8-16 0,0 0 0 15,-2 5 0-15,2-5 0 0,0 0-64 0,0 0 0 16,0 0-128-16,-2 8 192 0,2-8-48 15,0 0-16-15,0 0 0 0,-1 6 0 0,1-6-128 0,0 0 128 16,0 0-128-16,-2 8 128 0,2-8-128 0,0 7 0 16,0-7 0-16,0 8 0 0,0-8 128 0,-1 8-128 15,1 0 0-15,0 0 128 0,0-8-128 0,-2 8 0 16,0 3 0-16,1-1 0 0,1 1 0 0,0 2 128 16,0-1-128-16,0 5 0 0,0-3 144 0,0 0-144 15,0 2 160-15,1 5-160 0,1-1 128 0,1 4-128 0,-1-3 0 16,-1 3 144-16,1-3-144 0,0 3 160 0,-1-4-160 0,1 1 160 15,-2-1-160-15,0-3 0 0,-2-2 0 0,2-1 128 16,0-3-128-16,0 2 0 0,0 2 0 0,-1-6 0 16,-3 3 0-16,3-3 128 0,-1-1-128 0,-1 5 0 15,0-5 0-15,0 0 128 0,-1 0-128 0,4-8 0 16,0 0 0-16,0 0 0 0,0 0 128 0,-4 8-128 16,4-8 0-16,0 0 0 0,-5 7 0 0,5-7 0 15,0 0-192-15,0 0 0 0,0 0-16 0,0 0 0 31,-8-2-1136-31,8 2-240 0,0 0-32 0,-7-5-14928 0</inkml:trace>
  <inkml:trace contextRef="#ctx0" brushRef="#br0" timeOffset="2798.32">16048 5151 17503 0,'0'0'1552'0,"0"0"-1232"0,0 0-320 0,-5-4 0 0,5 4 1408 0,0 0 208 0,0 0 48 0,0 0 16 16,0 0 656-16,0 0 128 0,0 0 32 15,0 0 0-15,5 12-1104 0,2 0-224 0,-1-1-32 16,4 2-16-16,1 0-224 0,3 6-64 0,-1-3 0 0,2 1 0 16,-2 3-400-16,1-3-96 0,-3 4-16 0,2-1 0 15,2-1-144-15,-1-2-48 0,0 4 0 0,-2-5 0 16,-3 2-128-16,1-2 128 0,-2-1-128 0,0-3 128 15,0 0-128-15,0 0 192 0,0-4-192 0,2 2 192 16,-4-7-64-16,-6-3 0 0,6 5 0 0,-6-5 0 16,0 0 16-16,9 0 0 0,-9 0 0 0,8-1 0 15,1-6-16-15,1-1-128 0,-2-2 192 0,0-1-64 16,-2-2-128-16,2-3 160 0,-1 7-160 0,-1-3 160 16,1 1-160-16,-1-5 128 0,2-2-128 0,0-2 128 0,0-1-128 0,2 2 0 15,-1 1 144-15,1 0-144 0,-2 1 0 0,2-1 128 16,-2 2-128-16,3-3 0 0,-2 3 0 0,-1 3 0 15,1 1 0-15,-3 3 128 0,0-2-128 0,1 3 0 16,-2 4 0-16,-5 4 0 0,4-4 0 0,-4 4 0 16,4-5 0-16,-4 5 0 15,0 0 0-15,0 0 0 0,0 0 0 0,0 0 0 0,0 0-352 0,0 0 16 16,0 0 0-16,0 0-18848 16</inkml:trace>
  <inkml:trace contextRef="#ctx0" brushRef="#br0" timeOffset="5586.45">17144 5259 4751 0,'5'-7'416'0,"-2"-1"-416"0,-1 0 0 0,-2 8 0 0,0 0 128 0,0-9-128 16,0-2 624-16,0 3 80 0,0-1 0 0,0 5 64 16,0 4 272-16,0 0 64 0,0 0 16 0,0 0 32 15,2-12 256-15,-2 4 32 0,0 8 16 0,0 0 32 16,0 0 48-16,0 0 0 0,0-8 0 0,0 8 32 16,0 0-144-16,0 0-16 0,0 0-16 0,0 0 32 15,0 0-240-15,0 0-48 0,1-6-16 0,-1 6 0 0,0 0-416 0,0 0-96 16,0 0-16-16,0 0 48 0,0 0-240 0,0 0-32 15,0 0-16-15,0 0 32 0,0 0-64 0,0 0 0 16,0 0-16-16,7 10 32 0,-1-2-80 0,-1 4-32 16,-2 0 0-16,-1-3 32 0,-1-1-64 0,1 0 0 15,-1 5-16-15,1 2 32 0,-2 1-64 0,0 1-16 16,0 4 0-16,0 0 48 0,2-2 80 0,-2 2 0 16,0 2 16-16,-2-1 0 0,0 2-16 0,1 0-16 15,-1 4 0-15,1-3 0 0,-1 3-48 0,0-3-16 0,1 4 0 16,-1-2 0-16,1-1-176 0,-1-2 0 0,0 0 144 0,1-1-144 15,-1 4 0-15,2-3 0 0,0-3 0 0,0-2 0 16,-1-3 0-16,-1-1 128 0,0 1-128 0,1-3 0 16,-1-2 0-16,2-11 0 15,0 0 0-15,0 0 128 0,0 0-128 0,0 0 0 0,0 0 0 0,0 0 128 16,0 0-128-16,0 0 144 0,2-8-144 0,1 0 160 16,0-5-160-16,2 2 0 0,0-4 0 0,0-4 0 15,-1 1 0-15,3-4 0 0,-1 1 128 0,1 0-128 16,-1-6 0-16,2 1 0 0,0-6 0 0,0 3 0 15,0-3 0-15,0 3 0 0,0-3 0 0,2-5 0 16,-4 8 0-16,1 4-224 0,-1-3 80 0,-1 3 16 16,0-3-64-16,-2 4 0 0,0 3 0 0,0 2 0 0,-1 2 192 15,0 0-160-15,-1 8 160 0,-1-2-160 0,0 3 160 16,0 0 0-16,0 3 0 0,0 5 0 0,0 0 0 0,0 0 176 16,0 0-176-16,0 0 192 0,-3 9-64 0,0 3-128 15,1 0 192-15,1 4-64 0,-1 5-128 0,2 0 192 31,0-2-192-31,0 6 192 0,0-1-192 0,0 1 160 16,0 3-160-16,-2 0 160 0,1 11-32 0,-2-2-128 16,1-10 192-16,0 2-64 0,1 3-128 0,-2-3 160 15,-1 0-160-15,1-2 160 0,0-1-160 0,1-2 0 16,1 0 0-16,-2 2 128 0,-1-5-128 0,3-2 128 16,-1-3-128-16,1 3 128 0,-1-3-128 0,2-1 128 15,0-2-128-15,0-2 128 0,0-3-128 0,2-3 0 0,-2-5 0 0,0 0 0 16,0 0 0-16,0 0 0 15,0 0 0-15,0 0 0 0,0 0 0 0,6-5 0 0,0-6 128 0,1-2-128 16,-1-3 0-16,1-5 0 0,-3 0 0 0,1 0 0 16,0-3 0-16,0 0 0 0,0 3 0 0,0-3 0 15,-2-5 0-15,0 2 0 0,0-4 0 0,-1 1 0 16,-1-4 0-16,1 2 0 0,-2-5 0 0,0 3 0 16,0 2-240-16,0 5 80 0,-2 0 16 0,1-1 0 15,-1 4 144-15,1 5-208 0,-1 1 80 0,0 2 128 16,1 5-128-16,-1-2 128 0,1 5 0 0,1 8 0 15,0 0 0-15,0 0 0 0,-2 12 0 0,0 0 0 16,1 8 0-16,-1-3 0 0,0 6 0 0,1-1 0 16,-1 7 0-16,1 2 128 0,-1 2-128 0,0 3 0 0,-1 1 128 15,0 1-128-15,0 2 0 0,0 2 128 0,-1-2-128 0,1-3 128 16,0 0-128-16,0 0 128 0,0-5-128 0,1-3 0 16,0 0 0-16,1-5 0 0,1-5 0 0,0-3 0 15,0-3 128-15,1-2-128 0,1-4 0 0,-2-7 0 16,0 0 0-16,0 0 0 0,0 0 0 0,5-5 128 15,0-5-128-15,-1-4 128 0,3-7-128 0,-1-5 0 16,2-1 0-16,0-5 128 0,-1 1-128 0,-1-4 0 16,-3 6 0-16,1-5 0 0,-1-3 0 0,0 1-144 15,0-3 144-15,0 2-160 0,-1 3 0 0,0 2 0 0,-1 0 0 0,-1 3 0 16,0 0 160-16,0 5 0 0,-1 0-144 0,-1 3 144 16,0 2 0-16,1 1 0 0,-2 2 0 0,1 7 0 15,-1-2 0-15,3 11 0 0,0 0 0 0,0 0 0 16,0 0 0-16,-2 19 0 0,1 2 0 0,-1 3 0 15,2-2 0-15,-2 9 0 0,1 2 0 0,-1 4 0 16,1 8 0-16,-1 0 0 0,0 5 0 0,-1-3 128 16,0-3-128-16,0 1 0 0,1-1 0 0,0-1 128 15,1-1-128-15,-1-5 0 0,-1-2 0 0,1-4 0 16,1-4 0-16,-1-3 0 0,1-3 0 0,-1 0 0 16,2-2 0-16,0-6 0 0,0-4 0 0,0-9 0 15,0 0 0-15,0 0 0 0,0 0 0 0,3-12 0 16,0-3 0-16,1-7 0 0,-1-4 0 0,0-6 0 0,0-3 0 0,1-4-224 15,-1-3 32-15,0-17 0 16,0 1-736-16,-1 0-144 0,-1-1-16 0,1 1-16 16,0 16-304-16,-2-1-64 0,-2-2-16 0,0 3 0 0,2 2 896 0,-1 7 176 15,-1 0 32-15,1 5 16 0,-3-5 368 0,1 8 0 16,0 2 0-16,0 6 0 0,1 4 192 0,0 2 48 16,1 3 16-16,1 8 0 0,0 0 304 0,0 0 64 15,0 0 16-15,0 12 0 0,0 3 0 0,1 7 0 16,1 6 0-16,0 9 0 0,-2 4 48 0,0 3 16 15,0 2 0-15,1 2 0 0,-2-4-176 0,-1 2-16 16,-1 2-16-16,0 0 0 0,1-3-224 0,0-1-32 16,-1-4-16-16,2-3 0 0,-1 8-224 0,0-5 0 0,2-11 128 0,0-2-128 15,0-6 0-15,0-2 0 0,2-4 0 0,0 1 0 0,-2-5 0 0,1-1 0 16,-1-10 0-16,0 0 0 0,0 0 0 0,0 0 0 16,3-7 0-16,2-7 0 0,0-7-192 0,0-6 0 15,0-7 16-15,0 0 0 16,-1-6-1408-16,3-5-272 0,-2-8-64 0,-1-16-16 15,1 0-1568-15,-2-5-304 0,-1 0-64 0,-2 10-16 16,0 2 960-16,0 4 192 0,-2 5 48 0,1 6 0 0,-1 14 1824 0,-1 4 368 0,0 5 80 16,0-1 16-16,-2 5 1488 0,0 4 288 0,2 3 64 0,1 5 16 15,-3 0 608-15,5 8 128 0,0 0 32 0,-1 8 0 16,-1 3 160-16,2 7 48 0,0 6 0 0,2 5 0 16,-1 3-384-16,1 5-64 0,0 6 0 0,-1 12-16 15,-1 2-800-15,2 4-144 0,-4-11-48 0,1 3 0 16,-3 2-528-16,1 2-96 15,0 1-32-15,-2 3 0 0,0 3-128 0,0 2-48 0,-1 0 0 0,-2 16 0 16,2-20-144-16,-1-1 0 0,1 0 0 0,-1-4 0 16,1-4 0-16,-2-4 0 0,0-4 0 0,1-5 0 15,-2 17 0-15,1-16 0 0,1-12 0 0,1-1 0 16,0-6-272-16,-1-3 64 0,1 2 16 0,-1-5 0 31,1-3-368-31,-1 1-64 0,1-4-16 0,-2 1 0 0,-2-1-1504 0,2-2-304 0,0 0-64 0,2-3-16 0,6-5 1824 0</inkml:trace>
  <inkml:trace contextRef="#ctx0" brushRef="#br0" timeOffset="6763.07">17236 5996 5519 0,'0'0'496'15,"0"0"-496"-15,0 0 0 0,0 0 0 0,0 0 864 0,0 0 80 16,0 0 16-16,0 0 0 0,0 0 656 0,0 0 144 16,0 0 32-16,-3 8 0 0,-1 0-48 0,1 0 0 15,0 0 0-15,0 0 0 0,1 0-80 0,1 3 0 16,-1-1-16-16,0 2 0 0,1 3-384 0,1 1-80 16,0 0-16-16,0 5 0 0,0 1-272 0,1 2-64 15,1-1-16-15,0 3 0 0,1 1-176 0,0 2-48 16,0 1 0-16,0 2 0 0,-1 5-112 0,0 0-32 0,-1 3 0 0,1 13 0 15,-2-3-144-15,-2-2-48 0,1 2 0 0,-1 1 0 16,0-1-256-16,1 3 128 0,-1-13-128 0,1 2 0 16,-1 3 192-16,0 5-64 0,1-2 0 0,-1 2-128 15,1-2 272-15,1 1-48 0,-2-4-16 0,2 16 0 16,0-3 16-16,2-3 0 0,-2-17 0 0,0 6 0 16,0-3-64-16,-2 0-16 0,0-1 0 0,1-2 0 15,-1 4-144-15,1-4 192 0,-1 1-192 0,-1-2 192 16,1-2-192-16,-1 10 128 0,0-3-128 0,0-5 128 15,-2 0-128-15,1-13 0 0,1 0 0 0,2 2 0 16,-1-2 0-16,0 0 0 0,1 0 128 0,1 0-128 0,0 0 0 16,1 0 0-16,-1 0 0 0,2-1 128 0,0-1-128 0,-1-1 192 15,1 0-192-15,-1-4 192 0,1 4-192 0,1 2 128 16,-1-6-128-16,0 3 128 0,-1-4-128 0,-1-2 0 16,0-3 0-16,0-3 128 0,0 4-128 0,0-12 0 15,0 0 0-15,2 9 128 0,-2-9-128 0,0 8 0 16,0-8 0-16,0 0 0 0,0 0 0 0,0 0 0 15,-2 12 0-15,2-12 0 0,0 0 0 0,0 0 0 16,0 0 0-16,0 0 0 0,0 0 0 0,0 0 0 16,0 0 0-16,-6-4 0 15,-1 3-384-15,2-2-48 0,1-1-16 0,4 4-18496 0</inkml:trace>
  <inkml:trace contextRef="#ctx0" brushRef="#br0" timeOffset="67225.92">17117 13996 6447 0,'0'0'576'0,"0"0"-576"0,0 0 0 0,0 0 0 15,0 0 944-15,0 0 80 0,0 0 0 0,0 0 16 16,0 0 368-16,0 0 64 0,0 0 0 0,0 0 16 16,0 0-16-16,0 0 0 0,0 0 0 0,0 0 0 15,0 0-560-15,0 0-112 0,0 0-32 0,0 6 0 16,2 5-32-16,-2-6-16 0,0-5 0 0,0 8 0 15,0 0-416-15,1 0-96 0,-1 0-16 0,2 0 0 16,0 2 48-16,-1-1 0 0,-1 1 0 0,0 1 0 16,0 2 224-16,0 0 48 0,0 1 16 0,0 1 0 15,0 1 48-15,-1 0 16 0,-1 3 0 0,0-1 0 16,1 1 112-16,-1 2 32 0,2 0 0 0,-2 3 0 16,1-3-64-16,-1 3-16 0,2-3 0 0,0 3 0 15,-1-3-256-15,-1 0-48 0,0-2-16 0,1 0 0 0,-1-1-176 0,-1-2-32 16,0-3-128-16,1 3 192 0,-1-3 16 0,0-1 0 15,0-2 0-15,3-10 0 0,0 0 48 0,0 0 0 16,0 0 0-16,0 0 0 0,0 0-80 0,0 0-16 16,0 0 0-16,0 0 0 0,0 0-160 0,0 0 192 15,-2-10-192-15,2-2 192 0,2-4-192 0,1 1 0 16,0 1 144-16,0 1-144 0,0-3 0 0,2-2 144 16,0-4-144-16,-2 1 0 0,4 0 0 0,-2-3 0 15,1-2 0-15,0-1 0 0,-1-2 0 0,0 2 0 16,1-2 0-16,1 0 0 0,-2 3 0 0,-1-1 0 15,1 3 0-15,0 1 0 0,0 3 0 0,0 0 0 0,0 1 0 0,-2 6 0 16,0 0 0-16,0 2 0 0,-1 1 0 16,-1 4 0-16,-1 6 0 0,0 0 0 0,0 0 0 0,0 0 0 15,0 0 0-15,0 0 0 0,0 6 0 0,0 4 0 16,0 1 0-16,0 2 128 0,-1 0-128 0,-1 6 160 16,1 1-160-16,-1 0 192 0,0 3-192 0,1 1 192 15,-2 3-192-15,-1-1 128 0,1 4-128 0,0-1 128 16,0 0-128-16,-1-3 0 0,1 3 144 0,0-5-144 15,0 0 0-15,1 2 128 0,1-4-128 0,-1-1 0 16,-1 5 0-16,0-4 144 0,-1-1-144 0,1-3 0 16,0-2 144-16,1 0-144 0,1-3 0 0,-1-1 144 15,1-2-144-15,-1 0 0 0,0-6 144 0,2-4-144 0,0 0 0 0,0 0 144 16,0 0-144-16,0 0 0 0,0 0 208 0,-1-9-64 16,1-7-16-16,0-3 0 0,0-2-128 0,0-3 0 15,0-5 0-15,1 3 0 0,1 2 0 0,1-3 0 16,-1 1 0-16,-1-1 0 0,1-2 0 0,0 0 0 15,-1 0 0-15,1 2 0 0,-1-2 0 0,1 5 0 16,0-2 0-16,-1 5 0 0,1 0-128 0,-1 2 128 16,1 3 0-16,0 3 0 0,-1 2 0 0,-1 1-144 15,0 2 144-15,0 8 0 0,0 0-176 0,0 0 176 16,0 0-160-16,0 0 160 0,2 13-144 0,-1 3 144 16,1 5-128-16,0 3 128 0,-1 5 0 0,1 0-128 15,-2 3 128-15,0 5 0 16,0 0 0-16,0 0 0 0,-2 3 0 0,-1-3 0 0,0 0 0 0,0-2 144 0,-1-3-144 15,1-1 160-15,2-2-16 0,-1-5 0 0,0-4 0 16,2-3 0-16,-1-1-144 0,1 0 128 0,0-4-128 0,0 1 128 16,0-3-128-16,0-4 0 0,0-6 0 0,0 0 0 15,0 0 0-15,0 0 0 0,0 0 128 0,1-8-128 16,1-6 0-16,0-5 0 0,-1-1 144 0,1-5-144 16,-1-3 0-16,1-2 0 0,0-5 0 0,-1 1 0 15,1-3 0-15,-1 0 0 0,3-3 0 0,-1 5 0 16,-2-1 0-16,1 1-160 0,-2 3 160 0,2 3-160 15,-2 5 160-15,1 1-128 0,-1 1 128 0,0 6-128 0,0 0 128 0,0 1 0 16,-1 4 0-16,1 2-128 0,-2 2 128 0,2 7 0 16,0 0-144-16,0 0 144 0,0 0 0 0,-2 8-144 15,1 3 144-15,-1 5 0 0,1 2-144 0,-1 6 144 16,-1 2 0-16,1 4-144 0,-1 4 144 0,0 1 0 16,0 2 0-16,-1 0 0 0,0 0 0 0,-1 0 144 15,0-3-144-15,0 1 0 0,0-4 128 0,2-1-128 16,0-4 0-16,0 1 0 0,-1-4 128 0,3-4-128 15,-1-2 0-15,1-2 0 0,1-2 128 0,0-2-128 16,0-5 0-16,0-6 0 16,0 0 128-16,0 0-128 0,0 0 0 0,0 0 0 0,0 0 144 0,6-8-144 15,-1-1 0-15,0-4 144 0,0-6-144 0,-1 1 0 16,1-6 0-16,2-3 0 0,-3 1 0 0,1-3 0 16,2-1 0-16,-3-1 0 0,1 1 0 0,0 1-176 0,0 0 176 15,0 0-192-15,-2 5 48 0,0 0 0 0,-1-2 0 0,-1 5 0 16,1-6 16-16,0 3 0 0,-2 3 0 0,0 0 0 15,1 10 128-15,-1-2-208 0,0 0 80 0,0 3 128 16,0 1-224-16,0 1 80 0,0 1 16 0,0 7 0 16,0 0-16-16,0 0 0 0,0 0 0 0,0 0 0 15,2 8 0-15,-2 2 0 0,0 3 0 0,0 3 0 16,0 3 144-16,0 2 0 0,0 0 0 0,-2 6 0 16,1-1 208-16,-1 3-16 0,0 3-16 0,1 2 0 15,-1 1 16-15,1 2 16 16,-1 0 0-16,-1 11 0 0,-1-11-208 0,3-3 0 0,-2 2 0 0,1-3 0 0,0 0 128 15,1-5-128-15,-1 0 0 0,2-3 144 0,-1 3-144 16,1-3 160-16,0-1-160 0,1-7 160 0,1-2-160 0,-1-6 0 16,-1 3 144-16,0-12-144 0,0 0 0 0,0 0 128 15,0 0-128-15,0 0 0 0,0 0 128 0,5-12-128 16,-2-4 160-16,2-5-160 0,0-3 144 0,-2-5-144 16,1 4 128-16,-1-4-128 0,0-3 0 0,0-4 128 15,0 3-128-15,-1-3 0 0,0 0 0 0,-1-1 0 16,-1 0 0-16,0-8-176 0,0 3 176 0,0 5-192 15,0 10 192-15,-1-2-192 0,-1 5 192 0,0 0-128 16,1-2 128-16,1 7-128 0,-2-2 128 0,1 5-192 16,-1 3 192-16,0-3-192 0,1 3 192 0,1 2-160 0,0 11 160 15,0 0-160-15,0 0 160 0,0 0 0 0,0 0-144 0,0 0 144 16,-2 8 0-16,1 5 0 0,-3 1-144 0,3 4 144 16,-2 3 0-16,1 3 0 0,-1 3 0 0,1 2 0 15,-1 5 192-15,1 1-48 0,-1-1-16 0,0 14 0 16,-2-6 0-16,2-2-128 0,0-8 192 0,1-3-64 15,-1-2-128-15,1-1 192 0,1-5-192 0,-1-5 192 16,0 1-192-16,2-5 128 16,0-1-128-16,0-3 128 0,0-8-128 0,0 0 0 0,0 0 0 0,0 0 128 15,0 0-128-15,0-11 0 0,0-6 144 0,2-7-144 16,1-1 0-16,0-7 0 0,-1 3 0 0,0-3 0 16,1-5-128-16,0 0-64 0,-1-5 0 0,-1-1 0 15,1-2-144-15,-1 0-48 0,-1 0 0 0,0 5 0 16,0 1-320-16,0 4-80 15,0 3-16-15,0 3 0 0,0 3 256 0,0 2 48 0,-1 8 16 0,1 0 0 0,-2 3 256 16,2 4 48-16,0 9 16 0,0 0 0 0,0 0 368 0,-3 8 80 16,0 4 16-16,0 6 0 0,1 3 288 0,0 3 64 15,1-1 16-15,-1 4 0 0,1 3-192 0,-1 4-32 16,0 1-16-16,1 2 0 16,-2 2-240-16,-1 1-32 0,1 0-16 0,0 10 0 0,0-5-144 0,0-2 0 15,1-12 0-15,2 1 128 16,0 1-128-16,0-2 0 0,2-5 0 0,-1 1 0 15,2-5-944-15,1-2-64 0,-1-1-16 0,0-3-16432 0</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26:46.850"/>
    </inkml:context>
    <inkml:brush xml:id="br0">
      <inkml:brushProperty name="width" value="0.05292" units="cm"/>
      <inkml:brushProperty name="height" value="0.05292" units="cm"/>
      <inkml:brushProperty name="color" value="#FF0000"/>
    </inkml:brush>
  </inkml:definitions>
  <inkml:trace contextRef="#ctx0" brushRef="#br0">5333 12219 6447 0,'0'0'576'0,"0"0"-576"16,-2-10 0-16,2 10 0 0,0 0 2032 0,0 0 288 15,-3-13 64-15,3 13 16 0,-5-14-928 0,5 14-176 16,0 0-32-16,0 0-16 0,-5-13-528 0,5 13-96 16,-6-8-32-16,6 8 0 0,0 0-272 0,0 0-48 15,-6-10-16-15,6 10 0 0,0 0 192 0,0 0 16 16,0 0 16-16,0 0 0 0,0 0 16 0,0 0 0 0,0 0 0 15,0 0 0-15,0 0-176 0,0 0-16 0,0 0-16 0,6-11 0 16,-6 11 160-16,0 0 48 0,10-11 0 0,-10 11 0 16,9-8 96-16,-9 8 32 0,10-8 0 0,-10 8 0 15,0 0 16-15,13-5 16 0,-13 5 0 0,13 3 0 16,-1 2-272-16,0 3-48 0,-1-3-16 0,2 3 0 16,1 0-320-16,2 0 144 0,4 0-144 0,-3-3 0 15,1 3 128-15,3-5-128 0,3 2 0 0,3 0 0 16,0-5 0-16,-1-2 0 0,-2-1 128 0,-1-2-128 15,-3 5 128-15,1-3-128 0,0-2 144 0,3 2-144 16,-1-2 208-16,-2 0-48 0,-4 0-16 0,2-1 0 16,-1 4 112-16,1-1 0 0,1 0 16 0,-1 1 0 15,2-1-64-15,1 3-16 0,-1 0 0 0,2 3 0 16,1-1-64-16,3 1-128 0,2-3 176 0,1 0-176 0,2 0 128 16,0-3-128-16,2 1 0 0,0-1 0 0,-2 0 144 0,0 1-144 15,-5-1 0-15,1 0 144 0,-3-2-144 0,1 3 0 16,-2-1 0-16,-1 0 0 0,-4 3 0 0,0 0 0 15,-1 0 128-15,-1 0-128 0,1 0 0 0,0 0 192 16,-1 0-192-16,1 0 192 0,0 3-48 0,1-1 0 16,2-1 0-16,1-1 0 0,1 0-16 0,2 0-128 15,6 0 192-15,-2 2-64 0,-5-4-128 0,3 1 160 16,2-1-160-16,1-1 160 0,1 3-160 0,-2-2 128 16,-3-1-128-16,1 0 128 0,0 3 0 0,4 0-128 15,-3 0 192-15,0-2-64 0,-3 1 0 0,1-1-128 16,0 2 192-16,1 0-64 0,0-3 0 0,2 3 0 0,-2 0 0 15,4 0 0-15,-1 0-128 0,4 3 192 0,0-1-192 0,1 1 192 16,2 0-192-16,0 0 0 0,-2-1 0 0,1 3 128 16,-4-4-128-16,0 1 0 0,2 1 0 0,-2-1 128 15,0-2-128-15,0 0 0 0,1 0 0 0,1 0 0 16,0 3 0-16,0-3 128 0,-1 0-128 0,3 3 0 16,-3-1 0-16,-1 1 0 0,1 0 0 0,-3 2 0 15,0-2 0-15,-2-1 160 0,-3 3-160 0,1-2 160 16,-3 3-160-16,-3-1 0 0,-2-3 0 0,-2 4 0 15,-3-4 0-15,0 4 0 0,0-4 0 0,-2 3 0 16,-11-5 0-16,0 0 0 0,0 0 176 0,0 0-176 16,11 8 144-16,-11-8-144 0,0 0 128 0,0 0-128 15,0 0 0-15,0 0 128 0,8 11-128 0,-8-11 0 16,0 0-1760-16,0 0-432 0</inkml:trace>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27:58.794"/>
    </inkml:context>
    <inkml:brush xml:id="br0">
      <inkml:brushProperty name="width" value="0.05292" units="cm"/>
      <inkml:brushProperty name="height" value="0.05292" units="cm"/>
      <inkml:brushProperty name="color" value="#FF0000"/>
    </inkml:brush>
  </inkml:definitions>
  <inkml:trace contextRef="#ctx0" brushRef="#br0">2465 8623 5519 0,'0'0'496'0,"0"0"-496"16,0 0 0-16,0 0 0 0,13 3 1104 0,-13-3 128 16,13 4 32-16,-2-4 0 0,-11 0-192 0,13-7-48 0,0 6 0 0,1-6 0 15,2 2-416-15,0 1-96 0,0-8 0 0,0 4-16 16,2 5-256-16,0-2-48 0,-1 5-16 0,1-5 0 15,-5-1 144-15,0 1 48 0,-1 5 0 0,1 3 0 16,0-6-16-16,0 3 0 0,0-1 0 0,3 2 0 16,2 6-96-16,-1-6-32 0,2 4 0 0,-1-2 0 15,0 2-224-15,1-2 144 0,2-3-144 0,3 4 128 16,-2-9 192-16,1-2 16 0,-2 2 16 0,0 1 0 16,-2 0 160-16,2 0 48 0,0-4 0 0,-1 1 0 15,1 2-128-15,-1 5-32 0,-3 0 0 0,2-1 0 16,-1-6 32-16,1 6 0 0,-1 1 0 0,0 0 0 15,1 0-160-15,0 0-16 0,-1-2-16 0,3 4 0 16,1 4-112-16,4-3-128 0,0 2 176 0,2-5-176 16,3 0 128-16,1 0-128 0,0 3 0 0,3-3 0 0,-1 0 160 15,-2-3-32-15,-4 2 0 0,-3-3 0 0,2 9 16 0,-1 2 0 16,0-6 0-16,-2-1 0 0,-2 0 80 0,2 3 16 16,2 7 0-16,0-7 0 0,1-3-16 0,0 3 0 15,2 1 0-15,3 1 0 0,2-1-96 0,1 0 0 16,4-8-128-16,-1 8 192 0,1-4-192 0,1 1 144 15,-1 1-144-15,1-2 128 0,-5-3-128 0,-1-1 160 16,-1 4-160-16,-1 0 160 0,1 0-160 0,2 0 0 16,0 0 144-16,0 4-144 0,4 0 128 0,-1 1-128 15,1-5 128-15,3 3-128 0,1-3 0 0,2 4 0 16,0 0 0-16,-2 1 128 0,-1-6-128 0,-2 1 144 16,-1 0-144-16,1 1 160 0,1 2-160 0,1-1 160 0,-3-2-160 15,2 2 160-15,3-1-160 0,4 2 128 0,5-1-128 0,3-4 128 16,0-2-128-16,0-3 192 0,-1 2-192 0,-2 2 192 15,-3-6-64-15,-1-3-128 0,1 3 192 0,2 2-64 16,-1 2-128-16,0 2 0 0,-1 6 144 0,1 1-144 16,2-6 128-16,-1 4-128 0,-1 4 128 0,-3-3-128 15,-3-4 0-15,2 1 0 0,-1 1 0 0,1 6 0 16,-2-2 128-16,1-1-128 0,1 0 128 0,6-3-128 16,6 2 0-16,4 2 0 0,1-2 0 0,-2-3 0 15,-2-8 0-15,-1 0 0 0,1 0 0 0,-4 4 0 16,-2-1 128-16,-1-2-128 0,-3 2 128 0,1 2-128 15,2 8 0-15,-1-2 0 0,-3 5 0 0,1-4 0 16,-2-3 0-16,-4 2 0 0,-4 4 0 0,0-1 0 16,2 1 0-16,-1-3 0 0,1 0 0 0,1 0 0 15,2 1 0-15,2 2 0 0,3-6 0 0,-1 2 0 0,-1-3 0 16,2 0 0-16,-2 0 0 0,-1 0 128 0,-4-4-128 16,-1-3 0-16,-4 6 0 0,3-1 128 0,-3 4-128 0,1-1 0 15,-2-2 0-15,-1 2 0 0,1 6 0 0,2-1 0 16,1-3 0-16,0 2 0 0,0-5 0 0,2 3 0 15,5-3 0-15,-4 0 0 0,-3-3 0 0,0 2 0 16,-1-4 0-16,1 3 0 0,0 0 0 0,-2 2 0 16,-1-3 0-16,2 6 0 0,1 1 128 0,2 1-128 15,3-1 128-15,-1 4-128 0,5-3 0 0,0-2 0 16,4 1 0-16,0-3 0 0,-1-1 0 0,2 0 0 16,-2-1 0-16,2-3 0 0,4 4 0 0,-2 0 0 15,0 4 0-15,2-4 0 0,0-4 0 0,0 1 0 0,-2 3 0 16,0 0 128-16,-6-5-128 0,-4 2 0 0,-1 2 128 0,0-6-128 15,-2 7 0-15,1 0 0 0,-1-1 0 0,5-3 0 16,-1 3 0-16,4-1 0 0,2 2 128 0,3-5-128 16,-1 0 240-16,-1 1-32 0,-1-3 0 0,-1 6 0 15,-3-3-48-15,1 4-16 0,-2 0 0 0,-3 0 0 16,-3 0 32-16,0 5 0 0,3 3 0 0,1 3 0 16,-3-6-176-16,1 3 0 0,-2-3 144 0,-1-2-144 15,-1 2 0-15,-3 2 0 0,-3-6 0 0,-4 4 0 16,3-2 0-16,-3 2 0 0,-3-2 0 0,1 5-192 15,-3-3-304 1,1 1-64-16,-4 3-16 0,-2-1 0 0,-4 0-1760 0,-7 1-352 16,-9-9-80-16</inkml:trace>
  <inkml:trace contextRef="#ctx0" brushRef="#br0" timeOffset="1109.33">1794 9850 5519 0,'0'0'496'0,"0"0"-496"15,4-8 0-15,2 0 0 0,-6 8 1616 0,13-9 240 16,0 3 32-16,-4-2 16 0,1 0-656 0,-10 8-128 15,13-6-32-15,0-2 0 0,-4-2-384 0,2 2-96 0,1-2-16 0,-1 2 0 16,2 7-112-16,1-3-32 0,1 0 0 0,1-3 0 16,1 6-16-16,4-3-16 0,2 1 0 0,4 0 0 15,3-3 32-15,4-2 16 0,0-1 0 0,4-2 0 16,4 3 48-16,0 0 0 0,-4 0 0 0,2 0 0 16,1 3 0-16,-3 2 16 0,1-2 0 0,1 5 0 15,0-3-192-15,0 3-32 0,2 3-16 0,-1 1 0 16,3 0 0-16,1 0 0 0,3-3 0 0,0 2 0 15,-2 5-80-15,1 0-16 0,-2-6 0 0,1 0 0 16,3-1-192-16,0 2 144 0,8 1-144 0,-3-4 128 16,2-7-128-16,4 4 0 0,2 1 144 0,-1 2-144 15,-1 0 160-15,-6 2-32 0,-4-2-128 0,0 0 192 16,-1 3-16-16,-2 2-16 0,-4-2 0 0,1-3 0 0,-1-1 128 16,2 1 32-16,6 0 0 0,-1 0 0 15,-2 0 0-15,0-4 0 0,0-2 0 0,-4 1 0 0,-3 4-16 0,0 2 0 16,-1-1 0-16,-2-1 0 0,1-3-304 0,-1 1 160 15,2 10-160-15,2-6 128 0,-2-1-128 0,2 0 0 16,-2-1 144-16,3 2-144 0,4 2 0 0,1-3 0 16,-1-3 0-16,-4 2 128 0,-1 2-128 0,-2-1 0 15,0 0 0-15,2-5 0 0,-2 2 0 0,0-2 0 16,0 2 0-16,-1-2 0 0,-1 1 0 0,1-3 144 16,1 1-144-16,-2-1 160 0,2 2-32 0,0 2 0 15,-1-5 0-15,-1 3 0 0,-2-3 0 0,-1-1 0 16,2-1 0-16,0-3 0 0,1 4-128 0,-1-4 0 15,-5-2 0-15,2 3 0 0,1 2 0 0,-1 0 128 0,-2 1-128 0,-1 1 0 16,-1 0 128-16,-1-4-128 0,-2 8 128 0,1-1-128 16,-3-3 224-16,-1 0-32 0,-1 0-16 0,-4 0 0 15,-1 0 16-15,-1 3 0 0,1-6 0 0,0 6 0 16,-2 0-64-16,-2 2-128 0,1-1 192 0,-1 3-64 16,-4-2-128-16,-10 3 0 0,13-4 144 0,-2 0-144 15,0 0 0-15,-11 4 0 0,13 0 0 0,0-1 0 16,-2-2 0-16,0 3 0 0,2 0 0 0,3 0 0 31,5 0-1888-31,6 0-400 0</inkml:trace>
  <inkml:trace contextRef="#ctx0" brushRef="#br0" timeOffset="5203.92">3669 11431 11631 0,'1'-8'512'0,"-1"8"112"0,0 0-496 0,2-10-128 0,1-1 0 0,-3 11 0 16,5-13 432-16,0 2 64 0,-2-1 16 0,-3 12 0 16,6-12-128-16,-1 4-32 0,-2 0 0 0,1 1 0 15,-4 7-352-15,0 0 128 0,0 0-128 0,0 0 0 16,6-8 0-16,-6 8 0 0,0 0 0 0,0 0 0 16,0 0 0-16,0 0 0 0,6-11 0 0,-6 11 0 15,0 0 224-15,0 0-32 0,5-11 0 0,-1 6 0 16,-4 5 512-16,0 0 112 0,0 0 16 0,0 0 0 15,0-10-80-15,0 10-16 0,0 0 0 0,0 0 0 16,-5-9-224-16,5 9-32 0,-7-7-16 0,7 7 0 0,0 0-144 0,0 0-48 16,0 0 0-16,0 0 0 0,0 0-272 0,0 0 160 15,-6 7-160-15,6-7 128 0,0 0-128 0,0 0 0 16,0 0 0-16,0 0 0 0,0 0 0 0,0 0 192 16,0 0-192-16,0 0 192 0,5 11 96 0,-5-11 32 15,0 0 0-15,0 0 0 0,0 0-16 0,11 8 0 16,-11-8 0-16,11 11 0 0,-11-11-128 0,11 10-32 15,-11-10 0-15,0 0 0 0,13 8-144 0,-2 0 0 16,-11-8 144-16,12 11-144 0,-12-11 0 0,13 13 128 16,-2-4-128-16,0 1 0 0,-1-2 0 0,-10-8 0 15,0 0 0-15,17 10 0 0,-2-2 0 0,-1-3 128 0,-14-5-128 16,19 8 0-16,1-2 128 0,-3 0-128 0,1 1 128 0,0-2-128 16,-2-1 0-16,0 3 0 0,1-6 0 0,3 3 128 15,-3 1-128-15,3-2 176 0,2-2-176 0,0-1 192 16,-1 2-192-16,2 0 160 0,-1-2-160 0,2 0 160 15,0 0-160-15,2-2 160 0,1 0-160 0,2 1 160 16,-5-2-160-16,4-2 128 0,1 0-128 0,1-2 128 16,0 1-128-16,3 0 0 0,0-2 0 0,3 3 0 15,1 0 0-15,1-1 0 0,1-4 144 0,-1 2-144 16,1 0 0-16,-1 1 128 0,-1 3-128 0,-2 0 0 16,1 3 0-16,-3 1 0 0,-1-3 0 0,-3 3 0 15,-3 3 0-15,0-2 128 0,-1 1-128 0,3 0 0 16,-1 1 0-16,0-2 0 0,2-1 0 0,2 0 0 15,-1-1 0-15,2-2 0 0,0-2 0 0,2 2 0 16,1-2 176-16,2 2-48 0,2-2 0 0,-2 2 0 16,-2-2 0-16,0 2 0 0,0-2 0 0,-1 3 0 0,-3-4 64 0,-4 4 16 15,-1 0 0-15,-5 1 0 0,1-2-48 0,0 3-16 16,1 0 0-16,-2 0 0 0,-2 3-144 0,0 0 0 16,2-1 144-16,2-2-144 0,-3-2 0 0,1 0 128 15,2 1-128-15,-1 1 0 0,-1 0 0 0,-2 1 144 16,-1 1-144-16,1-4 0 0,4 1 144 0,-1-2-144 15,-1 3 0-15,-2 0 144 0,-3-2 112 0,-1-1 0 16,-2 0 16-16,0 3 0 0,-1-2-16 0,1-1 0 16,-2 0 0-16,-11 3 0 0,16-2-96 0,-4-1-32 15,-12 3 0-15,0 0 0 0,13 0-128 0,-13 0 0 16,14 0 144-16,-3 0-144 0,-11 0 0 0,0 0 0 0,13 5 0 16,0-2 0-1,-13-3-2064-15,16 13-496 0</inkml:trace>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33:59.766"/>
    </inkml:context>
    <inkml:brush xml:id="br0">
      <inkml:brushProperty name="width" value="0.05292" units="cm"/>
      <inkml:brushProperty name="height" value="0.05292" units="cm"/>
      <inkml:brushProperty name="color" value="#FF0000"/>
    </inkml:brush>
  </inkml:definitions>
  <inkml:trace contextRef="#ctx0" brushRef="#br0">9220 11495 18655 0,'0'0'832'0,"0"0"160"0,6-11-800 0,-1-1-192 16,-2 0 0-16,2 2 0 0,-5 10 544 0,3-11 64 0,-3 11 16 0,0 0 0 15,2-10-48-15,-2 10 0 0,0 0 0 0,0 0 0 16,-8-14-352-16,0 6-80 0,8 8-16 0,0 0 0 16,-13-5-128-16,13 5 0 0,-13 0 0 0,2 0 0 15,11 0 368-15,0 0 32 0,0 0 16 0,-10 5 0 16,1 3 48-16,-1 4 16 0,0 0 0 0,1 4 0 16,-2 3-176-16,1-1-48 0,-1 1 0 0,-1 5 0 15,0 5-128-15,-1 1-128 0,2 1 144 0,-2-1-144 16,-3 2 144-16,0 4-144 0,1-1 128 0,-4 0-128 15,-4-6 0-15,-1 3 128 0,-1 0-128 0,-1-1 0 16,-1-1 0-16,1 1 128 0,-4-1-128 0,2 1 0 16,4-1 128-16,0-1-128 0,2 0 0 0,4-3 128 15,0-2-128-15,2-5 0 0,2-3 0 0,3 2 0 16,1 3 0-16,4-5 0 0,6-16 0 0,-5 13 0 0,3 0 0 16,2-13 128-16,0 0-128 0,0 0 128 15,0 0-480-15,0 0-96 0,16-5-32 0,0-8-11808 16</inkml:trace>
  <inkml:trace contextRef="#ctx0" brushRef="#br0" timeOffset="390.82">9168 11407 9215 0,'-9'-8'816'0,"-1"3"-656"0,10 5-160 15,0 0 0-15,-11 0 4464 0,11 0 848 0,0 0 192 0,0 0 16 16,0 0-4320-16,-5 11-880 0,5-11-160 0,-3 13-32 16,1 0-128-16,2-1 192 0,0 3-64 0,4-1 0 15,-1 2-128-15,3 0 0 0,2 1 128 0,0-1-128 16,2 4 0-16,3 0 0 0,1-3 0 0,4 4 0 16,3 3 160-16,1 0-32 0,2 0-128 0,0 2 192 15,0-7 32-15,2 2 0 0,0 2 0 0,3-1 0 16,4 2 80-16,-2 0 16 0,-6-3 0 0,0 3 0 15,2-3 112-15,-2 0 16 0,0 2 16 0,-3-1 0 16,-4 2-96-16,-1 0-32 0,-1 0 0 0,-1 2 0 16,-1 1-208-16,2-1-128 0,-3-2 128 0,2-3-128 15,1 1 0-15,-4-4 128 0,1 1-128 0,0-3 0 16,0-1 0-16,-3 1 128 0,-4 0-128 0,-1-5 0 16,-5-11 0-16,0 0 0 0,3 10 0 0,-3-10-192 0,0 0 192 0,-6 6-192 15,-7-4 192-15,-2 3-192 16,1-2-1552-16,-2 2-320 0,-2 1-64 0,1-6-7024 15,-4-3-1392-15</inkml:trace>
  <inkml:trace contextRef="#ctx0" brushRef="#br0" timeOffset="656.44">9133 11888 4607 0,'-13'-16'192'0,"4"8"64"0,-3 0-256 0,3 3 0 0,-2-3 0 0,11 8 0 16,-12-8 7184-16,12 8 1392 0,0 0 288 0,0 0 48 16,0 0-7184-16,0 0-1424 0,-6-8-304 0,6 8 0 15,0 0-256-15,0 0 0 0,0 0 0 0,0 0 0 32,0 0-336-32,14-5-80 0,-1 5-16 0,2-1 0 0,-3-6 352 0,3 7 64 0,1-1 16 0,0 2 0 15,-3-2 256-15,0-1 0 0,-2-3 128 0,-11 5-128 16,18 0 304-16,-4 0-48 0,-14 0 0 0,13 0 0 15,-13 0-256-15,0 0 0 0,14 7 0 0,-2-1 0 16,-12-6-2400 0,0 0-544-16</inkml:trace>
  <inkml:trace contextRef="#ctx0" brushRef="#br0" timeOffset="1578.71">11736 14025 9215 0,'0'0'816'0,"0"0"-656"0,0 0-160 0,0 0 0 16,0 0 4864-16,11-12 928 0,-1 4 192 0,0 3 32 15,-10 5-4352-15,12-6-896 0,-2 0-160 0,-10 6-32 16,13-7-192-16,-13 7-48 0,0 0 0 0,11-5 0 15,-11 5-336-15,0 0 128 0,0 0-128 0,0 0 0 16,0 0 192-16,0 0-48 0,0 0 0 0,0 0 0 16,-1 13-144-16,-3 3 160 0,0 2-160 0,-3 0 160 15,-1 2-160-15,-2 5 160 0,1 0-160 0,-1 7 160 16,1 2-160-16,-1 1 192 0,2 4-192 0,2-1 192 16,-1 1-192-16,2-2 0 0,0 5 0 0,4-4 0 15,-4-1 0-15,2-3 0 0,0-2 0 0,1 0 0 0,0 0 0 16,2-6 0-16,0-1 0 0,0-2 0 0,-1-1 0 15,1-2 0-15,1-8 0 0,-1 3 0 0,0-15 0 0,0 0-176 16,0 0 176-16,0 0-128 0,0 0-112 0,0 0-16 16,0 0 0-16,0 0 0 0,0 0 0 0,0 0 0 15,2-15 0-15,-2 15 0 16,-3-16-512-16,0 0-128 0,-2-5 0 0,0-1-13104 0</inkml:trace>
  <inkml:trace contextRef="#ctx0" brushRef="#br0" timeOffset="2203.69">11648 13980 32831 0,'-10'-7'1456'0,"10"7"288"0,0 0-1392 0,0 0-352 0,0 0 0 0,11-5 0 16,2-3 160-16,5 0-32 0,1 3-128 0,5-1 192 16,4 0-192-16,2-1-208 0,1-2 32 0,1 2 16 15,-2-1-160-15,2 3-48 0,-1 1 0 0,-2-1 0 16,-2 3 368-16,-3 2-176 0,-2 0 176 0,3 0-128 15,-1 2 352-15,-2-1 80 0,-3 3 16 0,2 0 0 16,2-4 160-16,-2 0 32 0,-2 4 16 0,2-3 0 16,0-1-192-16,-2 3-32 0,-3 2-16 0,-2-2 0 15,-14-3-96-15,15 5 0 0,-2 3-16 0,-5-1 0 16,-8-7 16-16,0 0 0 0,3 12 0 0,-5 1 0 16,-4 0-64-16,-5 2 0 0,-6-1 0 0,-3 0 0 15,-1-1-128-15,-2 0 0 0,-2 0 0 0,-1 3-176 16,-1 0 176-16,-2 0 0 0,0 0-144 0,0 0 144 0,-2-3-288 15,1 3 16-15,-2-3 0 0,0 3 0 0,0 0 96 0,1 0 32 16,1-3 0-16,1 0 0 0,2-2 144 0,2 0 0 16,3-1 0-16,1-2 0 0,2-3 0 0,3-2 192 15,1 2-32-15,3-2-16 0,-1 2 144 0,1-5 32 16,1-3 0-16,3 3 0 0,8 0 64 0,0 0 32 16,0 0 0-16,0 0 0 0,0 0-160 0,0 0-48 15,0 0 0-15,15-5 0 0,-1 0-208 0,4 2 0 16,4 1 0-16,4-1 0 0,1 3 0 0,4 5 0 15,-1-2 0-15,4 2-160 0,1 1 160 0,0-1 0 16,1 0 0-16,2 3-128 0,1-3 128 0,-1-2 0 0,1 2 0 16,-2 1 0-16,0 4 0 0,-2-2 0 0,-3 3 0 15,-1-1 0-15,-6 1 0 0,1 2 0 0,-7 3 0 0,-1-3 0 16,-2 1 0-16,-2 1 0 0,-1 1 0 0,-5 0 0 16,-1 0 0-16,-4 0 0 0,-3-3 160 0,-5 3-160 15,-3-2 240-15,-3 1-48 0,-4 1-16 0,1-2 0 16,-7 0 16-16,-5-1 16 0,-4-1 0 0,-4 0 0 15,-4-4 64-15,-3 0 16 0,0-4 0 0,2 0 0 16,2 0 64-16,0-1 16 0,-1 2 0 0,1-2 0 16,-2-1-192-16,3-2-48 0,-6-4 0 0,0 4 0 15,0 0-288-15,1-1-64 0,-4-6-16 0,-3 2 0 16,-4 4-2192-16,3-2-448 0</inkml:trace>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40:25.868"/>
    </inkml:context>
    <inkml:brush xml:id="br0">
      <inkml:brushProperty name="width" value="0.05292" units="cm"/>
      <inkml:brushProperty name="height" value="0.05292" units="cm"/>
      <inkml:brushProperty name="color" value="#FF0000"/>
    </inkml:brush>
  </inkml:definitions>
  <inkml:trace contextRef="#ctx0" brushRef="#br0">10526 8655 6447 0,'0'0'272'0,"-13"-3"80"0,0 3-352 0,-1 0 0 16,1 0 0-16,13 0 0 0,0 0 2720 0,-11 3 480 16,11-3 80-16,0 0 32 0,0 0-2352 0,0 0-480 15,0 0-96-15,0 0 0 0,0 0-208 0,0 0-48 16,-8-11 0-16,3 3 0 0,5 8-128 0,0 0 0 16,0 0 0-16,0 0 0 0,0 0 0 0,-8-6 0 15,8 6 0-15,0 0 0 0,0 0 528 0,0 0 80 0,-2-8 16 0,2 8 0 16,0 0 16-16,0 0 16 0,15-7 0 0,-1 7 0 15,-1-5-96-15,2 2-32 0,1 6 0 0,0-6 0 16,0 2-80-16,0-3 0 0,1 1-16 0,1 3 0 16,0 0-32-16,-1-1 0 0,1-3 0 0,1 4 0 15,4 0-32-15,1 5-16 0,2-2 0 0,-1 2 0 16,1-5-32-16,1 0 0 0,2 3 0 0,0 2 0 16,1-2-128-16,-1 1-16 0,-3-3-16 0,-2 2 0 15,0 2-32-15,0 3-128 0,-1-4 192 0,1-3-64 16,1-1 0-16,3 0 0 0,1 3 0 0,-2-3 0 15,0-3 48-15,0 2 0 0,-1-8 0 0,0 5 0 16,1 0 112-16,2 1 32 0,-2 0 0 0,2-2 0 16,-2 4-32-16,1-3 0 0,-1 4 0 0,0-3 0 15,-1-2-32-15,0 2-16 0,-1-2 0 0,-1 4 0 16,0-2-80-16,-1-1-16 0,-2 0 0 0,1 0 0 0,-1 3-144 0,0 1 160 16,1 0-160-16,1 1 160 0,-1-2-160 0,1 1 0 15,1 0 144-15,0 0-144 0,0-4 0 0,2 0 0 16,-1-3 0-16,3 2 128 0,-1 5-128 0,2 0 0 15,0-3 128-15,0 3-128 0,-2-5 160 0,2 5-32 16,0 0-128-16,0 0 192 0,-4-3-16 0,1-2-16 16,-2 4 0-16,0-1 0 0,0 1-160 0,-1-3 160 15,-3 3-160-15,0-1 160 0,4 2-160 0,-2 2 0 16,1-1 0-16,-1-1 0 0,1-1 0 0,-1-1 0 16,1 2 0-16,-1 0 0 0,1 0 0 0,-1-1 128 15,-1-6-128-15,1 7 0 0,2 3 0 0,1 4 0 0,-3-2 128 16,2-4-128-16,-5-2 0 0,2 2 0 0,0 6 0 15,-3-6 0-15,-2-2 128 0,-2 1-128 0,1 0 0 0,-15 0 128 16,17 4-128-16,-1 0 0 0,-1-3 0 0,-2 2 128 16,-13-3-128-16,16 5 0 0,-4 2 0 0,1-6 0 15,-13-1 0-15,13 0 0 0,-13 0 0 0,16 0 0 16,-3 0-256-16,0 0-64 0,-2-3-32 0,2 1 0 31,0-1-1376-31,1 6-288 0,4 1-48 0</inkml:trace>
  <inkml:trace contextRef="#ctx0" brushRef="#br0" timeOffset="28526.87">4444 11328 14735 0,'-10'-3'1312'0,"-1"-2"-1056"16,11 5-256-16,-11-8 0 0,0 0 1136 0,3 0 160 15,8 8 48-15,0 0 0 0,0 0-1008 0,-7-8-192 16,4-3-144-16,3 11 192 0,0 0-192 0,0 0 0 16,0 0 0-16,8-13 0 0,-2 3 0 0,-6 10 0 15,10-8-144-15,0 0 144 0,-10 8 0 0,14-11 0 16,2-2 0-16,-3 8 0 0,-13 5 0 0,16-3 0 16,0 3 0-16,0 0 0 0,-3 0 0 0,1 5 0 15,2 1 0-15,2 1 0 0,-4-4 0 0,3 3 144 0,-1 1-144 0,1 1 128 16,4 0-128-16,0 5 128 0,0-2-128 0,5 2 128 15,2-2 0-15,3 2-128 0,-1 3 192 0,4 0-64 16,-2 3-128-16,0-1 0 0,2-2 0 0,-2 0 0 16,-3-3 0-16,1 3 0 0,1-5 0 0,-1-1 0 15,-2 2 448-15,2 0 0 0,1-1 0 0,1-2 0 16,1 0-64-16,1-1 0 0,1 3 0 0,2-2 0 16,2-1-192-16,-1 0-64 0,-1 0 0 0,2 1 0 15,1 3-128-15,0 0 192 0,-3-8-192 0,0 3 192 16,-3-2-16-16,1-1 0 0,2 1 0 0,3-2 0 15,0-3 0-15,2 0 0 0,0 0 0 0,2 5 0 16,5 3-176-16,0-4 128 0,3 0-128 0,1 3 128 16,0 2-128-16,-2-1 0 0,-4-3 0 0,-1-2 0 15,-1-3 0-15,0 4 0 0,-2-3 0 0,2-1 128 0,0-1 176 16,3-3 16-16,-4 0 16 0,5 0 0 0,6 1-16 0,-1 2 0 16,1-3 0-16,-2 3 0 0,-3-6-192 0,0 6-128 15,1 2 160-15,3-2-160 0,-1-6 128 0,4-1-128 16,-1 4 0-16,3-1 0 0,5 0 144 0,-3-5-144 15,-3-4 128-15,-3-1-128 0,-4 3 144 0,0-1-144 16,1-3 160-16,-3 0-160 0,1 0 128 0,-2-1-128 16,-1 3 0-16,1 0 144 0,3-2-144 0,-1 3 0 15,0 5 0-15,-2-4 128 0,0 6-128 0,0 0 0 16,0-2 0-16,4 3 128 0,-2 0-128 0,2-2 0 16,1-1 0-16,4 0 0 0,-1 0 0 0,2-1 0 0,-1-2 0 15,0 1 0-15,-3 2 0 0,-3-3 0 0,-4 1 144 16,0-1-144-16,-4 0 192 0,0 3-48 0,0 3 0 0,-1 0 0 15,-2 0-144-15,-3 2 0 0,-1 3 144 0,-1 0-144 16,3 0 128-16,-4 3-128 0,-5-6 128 0,0 6-128 16,0 4 128-16,-2-4-128 0,0 3 160 0,-3-1-160 15,-3-2 128-15,0 2-128 0,-2 3 0 0,-1-3 0 16,0 0 0-16,-2 3 128 0,0-2-128 0,-3-1 0 16,3 0 0-16,-4 3 0 0,0 0 128 0,-1 0-128 15,-11-8 0-15,14 13-208 0,-1-1 32 0,0 0 16 31,-3 4-848-31,-1 0-160 0,-1 0-48 0</inkml:trace>
  <inkml:trace contextRef="#ctx0" brushRef="#br0" timeOffset="29355.4">4789 17286 9215 0,'-21'-8'816'0,"11"3"-656"0,1-6-160 0,1-2 0 0,0-3 1904 0,0 0 336 16,-2-2 80-16,4-1 16 0,1 3-1616 0,0 3-320 15,0-3-64-15,0 3-16 0,-1 2-96 0,0 6-32 16,6 5 0-16,-8-8 0 0,-4 4-64 0,4-1-128 15,0-2 176-15,2 6-176 0,6 1 240 0,-10-4-64 16,2 1-16-16,8 3 0 0,0 0-160 0,0 0 0 16,0 0 144-16,0 0-144 0,0 0 0 0,0 0 0 15,0 0 0-15,0 0 0 0,0 0 144 0,15-5 16 16,-1 1 0-16,7 2 0 0,6 0 368 0,7 2 80 16,4 2 16-16,7 1 0 0,4 0-240 0,2 2-32 15,-3 2-16-15,3-1 0 0,4 1-96 0,1-3-32 0,5 1 0 0,5 3 0 16,4-3 64-16,3-2 16 0,-1-3 0 0,0 0 0 15,-3 0 192-15,0-1 32 0,2-3 16 0,3 1 0 16,1 0-32-16,4 1-16 0,2 2 0 0,0-3 0 16,-3 2-224-16,-2 1-32 0,-2-4-16 0,-4 1 0 15,-1 2-208-15,0-3 0 0,2 4 128 0,3-1-128 16,0-2 0-16,-5-2 144 0,-5-2-144 0,-3 2 128 16,-4-6-128-16,-4 3 192 0,-4-1-192 0,-1-3 192 15,1 4 96-15,3 0 32 0,-1-5 0 0,-1 4 0 16,-4-6 16-16,-1 6 16 0,0-2 0 0,-5-1 0 15,-7-1-128-15,-6 4-32 0,-3-2 0 0,-5 3 0 16,-1 0 16-16,-5 3 0 0,-4-2 0 0,-9 7 0 16,0 0-32-16,0 0-16 0,0 0 0 0,0 0 0 15,0 0-160-15,0 0 0 0,0 0 0 0,0 0 0 16,0 0-1792-16,0 0-272 0,0 0-64 0</inkml:trace>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1-11-01T05:48:41.656"/>
    </inkml:context>
    <inkml:brush xml:id="br0">
      <inkml:brushProperty name="width" value="0.05292" units="cm"/>
      <inkml:brushProperty name="height" value="0.05292" units="cm"/>
      <inkml:brushProperty name="color" value="#FF0000"/>
    </inkml:brush>
  </inkml:definitions>
  <inkml:trace contextRef="#ctx0" brushRef="#br0">13166 6814 12383 0,'0'0'544'0,"0"0"112"0,0 0-528 0,0 0-128 15,0 0 0-15,0 0 0 0,0 0 1152 0,0 0 192 16,-8-3 32-16,8 3 16 0,0 0-304 0,0 0-48 15,0 0-16-15,0 0 0 0,-8-5-576 0,8 5-128 16,0 0-32-16,0 0 0 0,-6-5-160 0,6 5-128 16,0 0 192-16,0 0-192 0,0 0 0 0,0 0 0 15,-2-8 0-15,2 8 0 0,0 0 256 0,0 0 32 0,0 0 16 16,0 0 0-16,0 0 304 0,0 0 64 0,-8 8 16 0,8-8 0 16,0 0 112-16,-6 10 32 0,1 3 0 0,-2-2 0 15,7-11-320-15,-8 8-48 0,8-8-16 0,-6 10 0 16,6-10-128-16,0 0-48 0,0 0 0 0,-7 11 0 15,7-11 48-15,-4 13 0 0,4-13 0 0,0 0 0 16,-5 13-112-16,5-13-16 0,-3 11 0 0,3-11 0 16,0 0 0-16,-4 16 0 0,3-3 0 0,-1-2 0 15,2-11 48-15,0 13 0 0,0 3 0 0,0-3 0 16,0-13-96-16,0 16-16 0,0-16 0 0,0 19 0 16,-3-1-128-16,1 1 0 0,2-1 144 0,0-4-144 15,0-14 0-15,-1 15 144 0,-2 4-144 0,1-6 0 16,2-13 128-16,-2 13-128 0,2-13 0 0,-1 16 0 15,-1 0 128-15,2 0-128 0,0-16 0 0,0 13 0 0,-1 3 0 16,1 0 0-16,1 4 0 0,1 0 0 0,-4-4 0 16,2 0 0-16,0-2 128 0,0 2-128 0,0 7 0 0,2-6 0 15,-1 4 0-15,1-1 0 0,-4-3 0 0,2 3 0 16,2-1 0-16,0-2 0 0,-2 1 0 0,-2-2 0 16,0-1 128-16,2-1-128 0,2 0 0 0,-2-1 0 15,-3 0 0-15,1 3 0 0,1 0 0 0,-1 2 0 16,2 0 0-16,0 2 0 0,-2 3 0 0,1 1 0 15,1 3 0-15,-2-3 0 0,0-6 0 0,1 3 0 16,1-2 0-16,0 2 0 0,0 5 128 0,1-4-128 16,3-4 0-16,-3 1 0 0,-1-1 0 0,0-2 0 0,0 5 0 15,4-2 0-15,-3 0 0 0,-1 4 0 0,0-2 0 16,0-2 0-16,0 2 0 0,-1 1 0 0,-3-4 128 0,-1 3-128 16,2-2 0-16,3-1 0 0,-1 4 0 0,-1-4 0 15,-1 1 0-15,1-1 0 0,1-2 0 0,1 3 0 16,-2-3 128-16,0-2-128 0,-1 2 0 0,2 1 0 15,-1-1 0-15,2-4 0 0,0 4 0 0,-2-3 0 16,1 3 0-16,1 0 0 0,3 0 0 0,-3 1 0 16,0-17 0-16,0 16 0 0,3-4 0 0,-1 4 0 15,-1 1 128-15,-1-5-128 0,0-12 0 0,0 16 0 16,0-3 0-16,0-2 0 0,-1-1 128 0,1 1-128 16,0-11 0-16,0 13 0 0,-2 2 0 0,2-3 0 15,0 1 0-15,2 0 0 0,-1 0 0 0,-1-13 0 16,2 11 0-16,0 2 0 0,1 3 0 0,-3-3 0 15,0-13 0-15,1 14 0 0,3-4 0 0,-4 3 0 0,0-13 0 16,-2 14 0-16,2-14 0 0,-2 13 0 0,-1 0 128 0,0 1-128 16,0-1 0-16,-2 2 0 0,-3-1 144 0,0 2-144 15,2-1 0-15,-1 1 144 0,-1-2-144 0,2-1 0 16,-1 3 0-16,1-3 0 0,1-2 0 0,0-1 0 16,5-10 0-16,-8 8 128 0,8-8-128 0,-9 8 0 15,-1-2 0-15,10-6 0 0,-14 2 144 0,1-2-144 16,13 0 160-16,-15 3-160 0,-4-6 192 0,3 0-64 15,-2-4-128-15,5 1 192 0,4-2-64 0,-1-2 0 16,-1-3-128-16,3-1 192 0,5 1-192 0,1-3 128 16,2 0-128-16,2-5 0 0,1-3 0 0,3 3 0 15,2-3 0-15,0 0 0 0,2-5 0 0,1 0 0 0,0 3 0 16,2-2 0-16,-1-3 0 0,-1 5 0 0,-3-6 0 0,0 0 0 16,-3 0 0-16,1-2 0 0,-1 2 0 0,0-1 0 15,-5-4 0-15,-2 0 0 0,-1 0 0 0,1 0 0 16,1 2 0-16,-1-2 0 0,-1 3 0 0,1-1 0 15,1-2 0-15,2 5 0 0,4 0 0 0,-3 1 0 16,-1-4 0-16,-1 4 0 0,-1-1 0 0,1 0 0 16,1 8 128-16,-1-2-128 0,0-4 0 0,0 4 144 15,-1 2-144-15,-1 3 0 0,0 2 144 0,1-4-144 16,-2 1 0-16,-1 1 128 0,3 3-128 0,-1-1 0 16,1-2 0-16,-3 4 0 0,1-3 0 0,2 1 128 15,4-2-128-15,0 4 0 0,-1-4 0 0,-1 3 0 16,1 0 0-16,1 1 0 0,2-3 0 0,1 4 0 15,-1-1 0-15,2 2 0 0,1 2 0 0,-2 1-128 0,-1-1 128 16,0-2 0-16,-1 3 0 0,0 2 0 0,-4 10 0 16,4-11 0-16,3-1 0 0,-7 12 0 0,1-14 0 15,3 3 0-15,-3 0 0 0,-1 11 0 0,2-13 0 0,-1 1 0 16,-1 3 0-16,0 1 0 0,0 8 0 0,0 0 0 16,2-11 0-16,0-2 0 0,-2 1 0 0,1 0 0 15,-1 12 0-15,3-12 0 0,-3 0 0 0,0-1 0 16,-1 0 0-16,2 2 0 0,-1 11 0 0,0 0 0 15,0-13 0-15,-1 3 0 0,-1-1 0 0,1 0 0 16,1 11 0-16,1-10 0 0,-2-3 0 0,-3 2 0 16,4 0 0-16,0 1 0 0,0 10 0 0,0-14 0 15,0 4 0-15,2-1 0 0,-2 11 0 0,3-10 0 0,-1-1 0 16,-2 11 0-16,1-11 0 0,3 1 0 0,-4 10 0 0,1-11 0 16,-1 1 0-16,0 10 0 0,0 0 0 0,4-11 0 15,-4 11 0-15,0 0 0 0,0 0 0 0,0 0 0 16,0 0 0-16,0 0-128 0,0 0 128 0,0 0 0 15,0 0 0-15,14 8 0 0,-14-8 0 0,13 13-128 16,-2 1 128-16,0 1-160 0,0-4 160 0,-1 5-160 16,-2 2 160-16,0 1 0 0,0 2 0 0,-1 3 0 15,-1-3 0-15,-1 6 0 0,0-1 0 0,-2 6 0 16,-3 0 0-16,1 2 0 0,3 6 0 0,-4 1 0 16,-2 4 0-16,4 0 0 0,-2 4 0 0,0-3 0 15,0 1 0-15,-2 2 0 0,0 1 0 0,2-2 0 16,0-6 0-16,2 1 0 0,1-4 0 0,1 1 0 15,-4 2 0-15,0-5 0 0,1-5 0 0,-1 3 0 16,0-3 0-16,-1-1 0 0,1-4 0 0,-2 2 0 16,0-2 0-16,2 0 0 0,-1-2 0 0,-3-1 0 0,0 3 0 15,0-3 0-15,4-2 0 0,-1 3 128 0,-4-1-128 0,0 1 0 16,2-1 0-16,3-1 0 0,0-7 0 0,0-2 0 16,0 2 0-16,0 0 128 0,-2 0-128 0,4-3 0 15,-2-13 0-15,2 13 0 0,-4 2 0 0,0-3 0 16,2-12 0-16,-1 13 0 0,-1 0 0 0,2-13 128 15,-3 15-128-15,1-6 0 0,2-9 0 0,0 0 0 16,-4 13 0-16,0-3 128 0,4-10-128 0,-3 9 0 16,3-9 0-16,0 0 128 0,-3 16-128 0,3-16 0 15,-2 12 0-15,2-12 0 0,0 0 0 0,2 9 0 16,-2-9 0-16,0 0 0 0,0 13 0 0,0-13 0 16,0 0 0-16,0 0 0 0,0 0 128 0,0 0-128 0,0 0 160 0,0 0-160 15,0 0 192-15,-10-2-48 0,2-2-16 0,2-4 0 16,-1-4 32-16,3-4 0 0,-3 0 0 0,2-5 0 15,1-3-32-15,-1-1 0 0,-2-3 0 0,1-4 0 16,0 2-128-16,-1-6 160 0,-1 0-160 0,0-1 160 16,-2-4-160-16,1 0 0 0,1-1 0 0,1 2 128 15,1-5-128-15,0-3 0 0,-1 0 0 0,1-2 128 16,1-3-128-16,2 3 0 0,1-1 0 0,-1 1 0 16,-4 3 0-16,4 3 0 0,2 0 0 0,-1 7 0 15,-1 5 0-15,0 3 0 0,-1-3 0 0,1 6 0 16,0 2 0-16,-2 4 0 0,0 0 0 0,-1 4 0 15,-1-1 0-15,1 1 0 0,0-1 0 0,-1 5 0 16,2-4 0-16,2 0 0 0,-2-1 0 0,1 1 0 0,4 4-128 16,-2-4 128-16,-3-1 0 0,5 5 0 0,2 2 0 15,-2 10 0-15,1-14-144 0,1 4 144 0,-4-1 0 0,2-1 0 16,-1 3 0-16,1 9 0 0,1-11-128 0,-1-2 128 16,-1 2 0-16,1 11 0 0,0 0 0 0,0 0-128 15,0 0 128-15,6-7 0 0,-6 7 0 0,7-10 0 16,1 2 0-16,-8 8 0 0,8-9 0 0,0-2 0 15,-4 1 0-15,3 2 0 0,-7 8 0 0,8-8 0 16,-8 8 0-16,6-11 0 0,-6 11 0 0,0 0 0 16,8-5 0-16,-8 5 0 0,0 0-128 0,10-8 128 15,-10 8 0-15,10-2 0 0,-10 2 0 0,0 0-128 16,0 0 128-16,0 0 0 0,12-3 0 0,-12 3-160 16,13-3 160-16,-3 3-128 0,-10 0-112 0,0 0-16 0,14 0 0 0,-2-2 0 15,-3-4 0-15,-9 6 0 0,10-3 0 0,-10 3 0 16,11-5 256-16,-11 5-144 0,11-8 144 0,-11 8-128 15,10-8 128-15,-10 8 0 0,10-2 0 0,-10 2 0 16,0 0 0-16,0 0 0 0,8-6 0 0,-8 6 0 16,0 0 0-16,0 0 0 0,0 0 0 0,0 0 0 15,0 0 0-15,0 0 0 0,0 0 0 0,0 0 0 16,0 0 0-16,0 0 0 0,0 0 0 0,0 0 0 16,0 0 144-16,0 0-144 0,0 0 192 0,0 0-192 15,1 21 192-15,-1-2-192 0,-3 0 192 0,1-1-192 16,-1-2 0-16,2 8 0 0,-3 0 0 0,4 0 0 15,-1-6 128-15,-1 3-128 0,1 3 0 0,-4 0 0 16,3 8 128-16,-1-2-128 0,0-2 0 0,0 0 0 16,-2 6 0-16,0-2 0 0,2 7 0 0,-1-1 0 0,0 4 0 15,-1-2 0-15,0 0 128 0,2 2-128 0,0 3 0 0,-2-5 0 16,0 0 0-16,2 0 0 0,0 4 0 0,-1-4 0 16,0 0 0-16,-1-3 0 0,0 0 0 0,0-2 0 15,0 2 0-15,2-3 0 0,0 3 0 0,0-2 0 16,-2-1 0-16,3-1 0 0,1 8 0 0,2-5 0 15,-1 1 0-15,0 2 0 0,0-1 0 0,-1 3 0 16,-3-1 0-16,3-2 0 0,-2-1 0 0,1 0 0 16,0-2 0-16,1-1 0 0,1-2 0 0,0 0 0 15,-3-4 0-15,-1-1 0 0,1-3 0 0,2 0 0 16,-1 0 0-16,-1-3 0 0,-2-5 144 0,0 3-144 16,0-3 0-16,2 0 144 0,-2-1-144 0,0 1 0 0,-1-8 0 15,0 0 0-15,4 5 144 0,2-13-144 0,0 0 160 0,0 0-160 16,0 0 192-16,-6 11-64 0,6-11-128 0,0 0 192 15,0 0 96-15,-10 0 16 0,0-3 0 0,4 3 0 16,6 0-16-16,0 0 0 0,-15-13 0 0,4 0 0 16,3 0-96-16,2-1 0 0,-1-2-16 0,-1-5 0 15,-3 0-176-15,1-3 192 0,2 1-192 0,0-1 192 16,0 0-192-16,-1-3 0 0,-2-2 0 0,4-3 128 16,2 1-128-16,1-1 0 0,-1 0 0 0,0 3 128 15,0-3-128-15,2 3 0 0,1 4 0 0,1-6 0 16,-1 2 0-16,0 0 0 0,-1 1 0 0,3-1 0 15,0 0 0-15,0 0 0 0,0-3 0 0,0 0 0 16,0 0 0-16,0 1 0 0,3-1 0 0,-3 0 0 16,0-2 0-16,2 2 0 0,1 2 0 0,0 1 0 15,1 0 0-15,-3 0 0 0,1 0 0 0,1 5 0 16,2 0 0-16,0 8 0 0,0-2 0 0,-2-1 0 0,0-2 0 0,2 5 0 16,0 0 0-16,-1 1 0 0,0-1 0 0,-1-3 0 15,-2-5 0-15,6 3 0 0,2 5-128 0,1 0 128 16,0-2 0-16,-1-1 0 0,1-5 0 0,1 0 0 15,2-2-144-15,1 2 144 0,-2-5 0 0,1 5 0 16,-2-1-128-16,3 1 128 0,2-1 0 0,-1 1 0 16,-2 3-128-16,-1 4 128 0,0-2 0 0,-3 3 0 15,3-1-128-15,-6 5 128 0,-1-6 0 0,-2 2 0 16,0 1 0-16,-1 3 0 0,-1-1 0 0,1-2 0 16,-2-2 0-16,2 4 0 0,-1 2 0 0,2-1 0 0,1-2 0 15,-3-1 0-15,-1-1-128 0,2 2 128 16,1 1 0-16,-1-1 0 0,-2-7 0 0,0 8-128 0,0 0 128 0,0 2 0 15,0 0 0-15,0 1 0 0,-2-1 0 0,2 11 0 16,0 0 0-16,0 0 0 0,0 0 0 0,0 0 0 16,-3-10-128-16,3 10 128 0,0 0 0 0,0 0 0 15,0 0-128-15,0 0 128 0,0 0 0 0,0 0 0 16,0 0-160-16,6 15 160 0,-3-1-128 0,1 1 128 16,-1-1-160-16,2 4 160 0,1 6-192 0,1 0 192 15,-1 0-128-15,2 2 128 0,3 1 0 0,0 5 0 16,-1 10-176-16,4 3 176 0,6 3-160 0,-4 5 160 15,-3 1-144-15,1 6 144 0,2-1-128 0,0 0 128 16,0-1 0-16,0 3 0 0,0-3 0 0,-1 1-128 16,-2 1 128-16,-2 1 0 0,-5 0-144 0,1-3 144 0,-1-5-320 15,-1 0 16-15,0 0 0 0,-2-2 0 0,-6-5 16 16,1-2 0-16,2-4 0 0,0-3 0 0,0-2 288 16,-1-3-128-16,-3 0 128 0,1 2 0 0,5-3 0 0,-2-1 0 15,-2-1 0-15,0-2 0 0,1 2-192 0,-1-2 192 16,1-1-192-16,-3 3 192 15,0 0-1664-15,2 0-208 0,2-2-48 0</inkml:trace>
  <inkml:trace contextRef="#ctx0" brushRef="#br0" timeOffset="5892.39">3946 10435 4607 0,'0'0'400'0,"0"0"-400"0,0 0 0 0,0 0 0 15,-9-4 1296-15,1 0 176 0,8 4 48 0,0 0 0 16,0 0-512-16,-12-4-112 0,3 0 0 0,9 4-16 16,0 0-352-16,0 0-64 0,0 0-16 0,-13-1 0 15,13 1 16-15,-11-3 0 0,11 3 0 0,0 0 0 16,0 0 0-16,0 0 0 0,-7-2 0 0,7 2 0 16,0 0-192-16,0 0-32 0,0 0-16 0,0 0 0 15,0 0-48-15,10 10-16 0,0-2 0 0,2-4 0 16,1-5 176-16,2 1 48 0,1 1 0 0,0-1 0 15,0-1 0-15,2-6 0 0,-1-1 0 0,4 0 0 16,2 7-16-16,1-4 0 0,-4-3 0 0,0 1 0 0,-3-1-112 16,-1 4 0-16,2-1-16 0,-2 2 0 0,0-5-240 0,0 3 176 15,-1-3-176-15,1 3 160 0,0 2-160 0,0-2 0 16,3-3 0-16,0 0 128 0,5-3-128 0,2 3 0 16,3-2 0-16,-2-1 0 0,-1-5 160 0,0 3 0 15,-2 2 0-15,1-2 0 0,1 5 80 0,0-2 16 16,-2-1 0-16,1 8 0 0,3-2-128 0,1 2-128 15,1 3 176-15,-1 0-176 0,-3 0 128 0,-1 0-128 16,1 0 0-16,1 3 0 0,1 2 0 0,-1-2 0 16,0-3 0-16,-1 0 0 0,0 0 0 0,-1 0 0 0,1-3 0 0,0 3 0 15,-1-5 0-15,1 5 0 0,-2-3 0 0,2 3 0 16,-1 0 0-16,3-2 0 0,0-1 128 0,3 3-128 16,1-3 0-16,3 3 0 0,2 0 0 0,0 3 0 15,-1-3 0-15,2 5 0 0,-1-5 0 0,-2 3 0 16,-1 0 0-16,0-1 0 0,-2-2 0 0,-2 0 0 15,1 0 0-15,-4 0 0 0,-1-2 0 0,-2-1 0 16,0 0 144-16,0 1-16 0,0-1-128 0,0-2 192 16,0 2 48-16,3 1 0 0,4 2 0 0,-1 0 0 15,1 0-112-15,1 2 0 0,2 6-128 0,7-3 192 16,8 3-192-16,-1 5 0 0,-2-2 128 0,1 3-128 16,1 1 0-16,0 1 0 0,-1 0 0 0,-4-3 0 15,-3 1 0-15,-1-4 0 0,-3 3 0 0,1-5 0 16,0-2 0-16,-1-4 128 0,-8-2-128 0,3 4 0 15,6 0 192-15,-3 0-64 0,-2 0-128 0,0-4 192 0,-5-4 32 16,0 3 0-16,-1 1 0 0,1 0 0 0,4 0-48 0,-4 0-16 16,-1-3 0-16,-1 7 0 0,3 3-160 0,1-2 0 15,-2 1 0-15,0-4 128 0,0-4-128 0,1 2 0 16,-1 0 0-16,2-3 128 0,-3-4 0 0,-2-2 0 16,-3-2 0-16,1 3 0 0,4 1 144 0,-1-3 32 15,-4-2 0-15,0-1 0 0,0 5-48 0,0-2-16 16,-2 2 0-16,-1 2 0 0,-1-2-240 0,1 0 144 15,-2 3-144-15,3 2 128 0,2 3-128 0,0-5 0 16,-2 0 0-16,1 2 128 0,-1 1-128 0,2 1 0 16,1-4 0-16,1 3 0 0,-1-4 0 0,2 3 0 15,0-2 0-15,2 0 128 0,-4 0-128 0,2-1 0 0,0 4 0 16,1-4 0-16,-1 1 0 0,0 0 0 0,0 0 0 0,0 2 0 16,-3 0 0-16,1 3 0 0,1 3 0 0,-1-3 0 15,-4 2 0-15,1-1 0 0,-1 1 0 0,1-2 0 16,-1 0 0-16,4 3 0 0,2 0 0 0,-3-1 0 15,-2-2 0-15,-1 0 0 0,0 0 0 0,1 0 0 16,0 3 0-16,0-3 0 0,1 0 0 0,-1 2 0 16,0 1 0-16,0-3 0 0,1 3 0 0,-1-1 0 15,2-2 0-15,1 3 128 0,1 0-128 0,1-1 0 16,0 1 0-16,1 2 0 0,3-2 128 0,-1 2-128 16,-3 0 0-16,0-2 0 0,0 0 0 0,0 0 0 15,0-1 0-15,-1 3 0 0,-2-4 0 0,0-1 0 16,-2 0 0-16,3 2 0 0,1-2 0 0,-4 0 128 15,-4 0-128-15,-1 0 0 0,2 0 144 0,0 0-144 16,0 0 128-16,0 0-128 0,-16 0 160 0,21 0-160 0,-2 0 128 16,1 3-128-16,-4-1 0 0,0-2 0 0,1 3 0 0,1 0 128 15,-2-1-128-15,2 1 0 0,-4 0 0 0,1-1 0 16,-15-2 0-16,17 3 0 0,-1-2 0 0,-1 1 0 16,-3-2 0-16,1 2 0 0,-1 3 0 0,2-4 128 15,-3-1-128-15,0 0 0 0,2-1 144 0,-13 1-144 16,13-2 128-16,-2 2-128 0,-11 0 0 0,15 0 0 15,-15 0 128-15,14-3-128 0,-2 3 0 0,-3 0 0 16,2 0 0-16,-3 0 128 0,-8 0-128 0,0 0 0 16,12 0 0-16,-12 0 0 0,0 0 0 0,14 0 0 15,-14 0 0-15,15 3 0 0,-15-3 0 0,12 3 0 16,0-1 0-16,-12-2 0 0,0 0 0 0,14 3 0 0,-14-3 0 0,13 2 0 16,-13-2 0-16,0 0 0 0,0 0 0 0,14 1 0 15,-14-1 0-15,13 7 0 0,-13-7 0 0,0 0 0 16,15 8 0-16,-3 0-320 0,0 3 48 0,1-2 16 31,1 1-2176-31,2 0-416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华文中宋" panose="02010600040101010101"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华文中宋" panose="02010600040101010101" pitchFamily="2" charset="-122"/>
              </a:defRPr>
            </a:lvl1pPr>
          </a:lstStyle>
          <a:p>
            <a:fld id="{CA083C8C-195E-4DC5-A4DD-62103F414E91}" type="datetimeFigureOut">
              <a:rPr lang="zh-CN" altLang="en-US" smtClean="0"/>
              <a:pPr/>
              <a:t>2024/10/30</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华文中宋" panose="02010600040101010101"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华文中宋" panose="02010600040101010101" pitchFamily="2" charset="-122"/>
              </a:defRPr>
            </a:lvl1pPr>
          </a:lstStyle>
          <a:p>
            <a:fld id="{4A318832-0CB8-4DD5-B5B6-781DC9A05DB4}" type="slidenum">
              <a:rPr lang="zh-CN" altLang="en-US" smtClean="0"/>
              <a:pPr/>
              <a:t>‹#›</a:t>
            </a:fld>
            <a:endParaRPr lang="zh-CN" altLang="en-US" dirty="0"/>
          </a:p>
        </p:txBody>
      </p:sp>
    </p:spTree>
    <p:extLst>
      <p:ext uri="{BB962C8B-B14F-4D97-AF65-F5344CB8AC3E}">
        <p14:creationId xmlns:p14="http://schemas.microsoft.com/office/powerpoint/2010/main" val="212640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1</a:t>
            </a:fld>
            <a:endParaRPr lang="zh-CN" altLang="en-US" dirty="0"/>
          </a:p>
        </p:txBody>
      </p:sp>
    </p:spTree>
    <p:extLst>
      <p:ext uri="{BB962C8B-B14F-4D97-AF65-F5344CB8AC3E}">
        <p14:creationId xmlns:p14="http://schemas.microsoft.com/office/powerpoint/2010/main" val="3514721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t>2</a:t>
            </a:fld>
            <a:endParaRPr lang="zh-CN" altLang="en-US"/>
          </a:p>
        </p:txBody>
      </p:sp>
    </p:spTree>
    <p:extLst>
      <p:ext uri="{BB962C8B-B14F-4D97-AF65-F5344CB8AC3E}">
        <p14:creationId xmlns:p14="http://schemas.microsoft.com/office/powerpoint/2010/main" val="199222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图的表示形式：邻接表和邻接矩阵</a:t>
            </a:r>
            <a:endParaRPr lang="en-US" altLang="zh-CN" dirty="0"/>
          </a:p>
          <a:p>
            <a:r>
              <a:rPr lang="zh-CN" altLang="en-US" dirty="0"/>
              <a:t>我们可以借助栈这个数据结构来直观的描述</a:t>
            </a:r>
            <a:r>
              <a:rPr lang="en-US" altLang="zh-CN" dirty="0"/>
              <a:t>DFS</a:t>
            </a:r>
            <a:r>
              <a:rPr lang="zh-CN" altLang="en-US" dirty="0"/>
              <a:t>算法。</a:t>
            </a:r>
            <a:endParaRPr lang="en-US" dirty="0"/>
          </a:p>
        </p:txBody>
      </p:sp>
      <p:sp>
        <p:nvSpPr>
          <p:cNvPr id="4" name="灯片编号占位符 3"/>
          <p:cNvSpPr>
            <a:spLocks noGrp="1"/>
          </p:cNvSpPr>
          <p:nvPr>
            <p:ph type="sldNum" sz="quarter" idx="10"/>
          </p:nvPr>
        </p:nvSpPr>
        <p:spPr/>
        <p:txBody>
          <a:bodyPr/>
          <a:lstStyle/>
          <a:p>
            <a:fld id="{708A3F80-82F3-4FD0-9303-36D90B9865CE}" type="slidenum">
              <a:rPr lang="en-US" smtClean="0"/>
              <a:t>10</a:t>
            </a:fld>
            <a:endParaRPr lang="en-US"/>
          </a:p>
        </p:txBody>
      </p:sp>
    </p:spTree>
    <p:extLst>
      <p:ext uri="{BB962C8B-B14F-4D97-AF65-F5344CB8AC3E}">
        <p14:creationId xmlns:p14="http://schemas.microsoft.com/office/powerpoint/2010/main" val="2349169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应用举例</a:t>
            </a:r>
            <a:r>
              <a:rPr lang="zh-CN" altLang="en-US" dirty="0"/>
              <a:t>：拓扑排序</a:t>
            </a:r>
            <a:endParaRPr lang="en-US" dirty="0"/>
          </a:p>
        </p:txBody>
      </p:sp>
      <p:sp>
        <p:nvSpPr>
          <p:cNvPr id="4" name="灯片编号占位符 3"/>
          <p:cNvSpPr>
            <a:spLocks noGrp="1"/>
          </p:cNvSpPr>
          <p:nvPr>
            <p:ph type="sldNum" sz="quarter" idx="10"/>
          </p:nvPr>
        </p:nvSpPr>
        <p:spPr/>
        <p:txBody>
          <a:bodyPr/>
          <a:lstStyle/>
          <a:p>
            <a:fld id="{708A3F80-82F3-4FD0-9303-36D90B9865CE}" type="slidenum">
              <a:rPr lang="en-US" smtClean="0"/>
              <a:t>11</a:t>
            </a:fld>
            <a:endParaRPr lang="en-US"/>
          </a:p>
        </p:txBody>
      </p:sp>
    </p:spTree>
    <p:extLst>
      <p:ext uri="{BB962C8B-B14F-4D97-AF65-F5344CB8AC3E}">
        <p14:creationId xmlns:p14="http://schemas.microsoft.com/office/powerpoint/2010/main" val="546949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18</a:t>
            </a:fld>
            <a:endParaRPr lang="zh-CN" altLang="en-US" dirty="0"/>
          </a:p>
        </p:txBody>
      </p:sp>
    </p:spTree>
    <p:extLst>
      <p:ext uri="{BB962C8B-B14F-4D97-AF65-F5344CB8AC3E}">
        <p14:creationId xmlns:p14="http://schemas.microsoft.com/office/powerpoint/2010/main" val="404898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21</a:t>
            </a:fld>
            <a:endParaRPr lang="zh-CN" altLang="en-US" dirty="0"/>
          </a:p>
        </p:txBody>
      </p:sp>
    </p:spTree>
    <p:extLst>
      <p:ext uri="{BB962C8B-B14F-4D97-AF65-F5344CB8AC3E}">
        <p14:creationId xmlns:p14="http://schemas.microsoft.com/office/powerpoint/2010/main" val="2770053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22</a:t>
            </a:fld>
            <a:endParaRPr lang="zh-CN" altLang="en-US" dirty="0"/>
          </a:p>
        </p:txBody>
      </p:sp>
    </p:spTree>
    <p:extLst>
      <p:ext uri="{BB962C8B-B14F-4D97-AF65-F5344CB8AC3E}">
        <p14:creationId xmlns:p14="http://schemas.microsoft.com/office/powerpoint/2010/main" val="4169129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t>24</a:t>
            </a:fld>
            <a:endParaRPr lang="zh-CN" altLang="en-US"/>
          </a:p>
        </p:txBody>
      </p:sp>
    </p:spTree>
    <p:extLst>
      <p:ext uri="{BB962C8B-B14F-4D97-AF65-F5344CB8AC3E}">
        <p14:creationId xmlns:p14="http://schemas.microsoft.com/office/powerpoint/2010/main" val="883115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t>25</a:t>
            </a:fld>
            <a:endParaRPr lang="zh-CN" altLang="en-US"/>
          </a:p>
        </p:txBody>
      </p:sp>
    </p:spTree>
    <p:extLst>
      <p:ext uri="{BB962C8B-B14F-4D97-AF65-F5344CB8AC3E}">
        <p14:creationId xmlns:p14="http://schemas.microsoft.com/office/powerpoint/2010/main" val="2056140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44</a:t>
            </a:fld>
            <a:endParaRPr lang="zh-CN" altLang="en-US" dirty="0"/>
          </a:p>
        </p:txBody>
      </p:sp>
    </p:spTree>
    <p:extLst>
      <p:ext uri="{BB962C8B-B14F-4D97-AF65-F5344CB8AC3E}">
        <p14:creationId xmlns:p14="http://schemas.microsoft.com/office/powerpoint/2010/main" val="3658171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318832-0CB8-4DD5-B5B6-781DC9A05DB4}" type="slidenum">
              <a:rPr lang="zh-CN" altLang="en-US" smtClean="0"/>
              <a:pPr/>
              <a:t>64</a:t>
            </a:fld>
            <a:endParaRPr lang="zh-CN" altLang="en-US" dirty="0"/>
          </a:p>
        </p:txBody>
      </p:sp>
    </p:spTree>
    <p:extLst>
      <p:ext uri="{BB962C8B-B14F-4D97-AF65-F5344CB8AC3E}">
        <p14:creationId xmlns:p14="http://schemas.microsoft.com/office/powerpoint/2010/main" val="2136587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ea typeface="华文中宋" panose="02010600040101010101" pitchFamily="2"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4">
            <a:extLst>
              <a:ext uri="{FF2B5EF4-FFF2-40B4-BE49-F238E27FC236}">
                <a16:creationId xmlns:a16="http://schemas.microsoft.com/office/drawing/2014/main" id="{D48A7E80-95AA-4AD8-AF2C-DADB165BBE2D}"/>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27708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0AEF7E86-5686-42DD-AB79-1A16F71FE811}"/>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34161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ea typeface="华文中宋" panose="02010600040101010101" pitchFamily="2"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11EDB07D-61DC-4D93-B199-EC7920D29060}"/>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24483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4">
            <a:extLst>
              <a:ext uri="{FF2B5EF4-FFF2-40B4-BE49-F238E27FC236}">
                <a16:creationId xmlns:a16="http://schemas.microsoft.com/office/drawing/2014/main" id="{757092BB-7AB6-4CD0-8D3D-20E534E3AE25}"/>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66422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4">
            <a:extLst>
              <a:ext uri="{FF2B5EF4-FFF2-40B4-BE49-F238E27FC236}">
                <a16:creationId xmlns:a16="http://schemas.microsoft.com/office/drawing/2014/main" id="{327D932E-482D-44EF-89EE-CE18523D8036}"/>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36137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Rectangle 4">
            <a:extLst>
              <a:ext uri="{FF2B5EF4-FFF2-40B4-BE49-F238E27FC236}">
                <a16:creationId xmlns:a16="http://schemas.microsoft.com/office/drawing/2014/main" id="{740FF284-647C-4B04-ACA1-2F167426D517}"/>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4100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4917A8B-9DF5-406F-B545-273DBE3B202C}"/>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83071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ea typeface="华文中宋" panose="02010600040101010101" pitchFamily="2" charset="-122"/>
              </a:defRPr>
            </a:lvl1pPr>
            <a:lvl2pPr>
              <a:defRPr sz="2800">
                <a:ea typeface="华文中宋" panose="02010600040101010101" pitchFamily="2" charset="-122"/>
              </a:defRPr>
            </a:lvl2pPr>
            <a:lvl3pPr>
              <a:defRPr sz="2400">
                <a:ea typeface="华文中宋" panose="02010600040101010101" pitchFamily="2" charset="-122"/>
              </a:defRPr>
            </a:lvl3pPr>
            <a:lvl4pPr>
              <a:defRPr sz="2000">
                <a:ea typeface="华文中宋" panose="02010600040101010101" pitchFamily="2" charset="-122"/>
              </a:defRPr>
            </a:lvl4pPr>
            <a:lvl5pPr>
              <a:defRPr sz="2000">
                <a:ea typeface="华文中宋" panose="02010600040101010101" pitchFamily="2"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A7BC5209-1C8E-45B2-BFE4-80D1F7EB395D}"/>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21173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ea typeface="华文中宋" panose="02010600040101010101"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44277785-E771-4BDA-BE8B-BC49691EBA0C}"/>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50162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0AEDEEFB-A98F-4B8C-9907-7A35930D2F49}"/>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17026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84108409-C1AF-4DC4-B3DF-B915DB9360AD}"/>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733251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cdbkgnd">
            <a:extLst>
              <a:ext uri="{FF2B5EF4-FFF2-40B4-BE49-F238E27FC236}">
                <a16:creationId xmlns:a16="http://schemas.microsoft.com/office/drawing/2014/main" id="{2401EF2F-B7F1-43D1-9C58-FE20994F26D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a:extLst>
              <a:ext uri="{FF2B5EF4-FFF2-40B4-BE49-F238E27FC236}">
                <a16:creationId xmlns:a16="http://schemas.microsoft.com/office/drawing/2014/main" id="{02754325-5760-4A30-902C-09E020113442}"/>
              </a:ext>
            </a:extLst>
          </p:cNvPr>
          <p:cNvSpPr>
            <a:spLocks noGrp="1" noChangeArrowheads="1"/>
          </p:cNvSpPr>
          <p:nvPr>
            <p:ph type="dt" sz="half" idx="2"/>
          </p:nvPr>
        </p:nvSpPr>
        <p:spPr bwMode="auto">
          <a:xfrm>
            <a:off x="304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ea typeface="华文中宋" panose="02010600040101010101" pitchFamily="2" charset="-122"/>
              </a:defRPr>
            </a:lvl1pPr>
          </a:lstStyle>
          <a:p>
            <a:pPr>
              <a:defRPr/>
            </a:pP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ustomXml" Target="../ink/ink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9.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AA5B2C38-345A-4F7E-8D00-A613FF385599}"/>
              </a:ext>
            </a:extLst>
          </p:cNvPr>
          <p:cNvSpPr txBox="1">
            <a:spLocks noChangeArrowheads="1"/>
          </p:cNvSpPr>
          <p:nvPr/>
        </p:nvSpPr>
        <p:spPr bwMode="auto">
          <a:xfrm>
            <a:off x="685800" y="25654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ormAutofit lnSpcReduction="10000"/>
          </a:bodyPr>
          <a:lstStyle>
            <a:lvl1pPr algn="ctr" rtl="0" eaLnBrk="0" fontAlgn="base" hangingPunct="0">
              <a:spcBef>
                <a:spcPct val="0"/>
              </a:spcBef>
              <a:spcAft>
                <a:spcPct val="0"/>
              </a:spcAft>
              <a:defRPr kumimoji="1" sz="4400">
                <a:solidFill>
                  <a:schemeClr val="tx2"/>
                </a:solidFill>
                <a:latin typeface="Palatino Linotype" panose="02040502050505030304" pitchFamily="18" charset="0"/>
                <a:ea typeface="华文中宋" panose="02010600040101010101" pitchFamily="2" charset="-122"/>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sz="4800" kern="0" dirty="0">
                <a:solidFill>
                  <a:schemeClr val="bg2"/>
                </a:solidFill>
                <a:latin typeface="华文中宋" panose="02010600040101010101" pitchFamily="2" charset="-122"/>
              </a:rPr>
              <a:t>算法设计与分析</a:t>
            </a:r>
            <a:br>
              <a:rPr lang="zh-CN" altLang="en-US" sz="4800" kern="0" dirty="0">
                <a:solidFill>
                  <a:schemeClr val="bg2"/>
                </a:solidFill>
              </a:rPr>
            </a:br>
            <a:r>
              <a:rPr lang="zh-CN" altLang="en-US" kern="0" dirty="0">
                <a:solidFill>
                  <a:schemeClr val="bg2"/>
                </a:solidFill>
              </a:rPr>
              <a:t>    </a:t>
            </a:r>
            <a:endParaRPr lang="zh-CN" altLang="en-US" sz="3200" kern="0" dirty="0">
              <a:solidFill>
                <a:schemeClr val="bg2"/>
              </a:solidFill>
            </a:endParaRPr>
          </a:p>
        </p:txBody>
      </p:sp>
      <p:sp>
        <p:nvSpPr>
          <p:cNvPr id="7" name="Rectangle 4">
            <a:extLst>
              <a:ext uri="{FF2B5EF4-FFF2-40B4-BE49-F238E27FC236}">
                <a16:creationId xmlns:a16="http://schemas.microsoft.com/office/drawing/2014/main" id="{B6C627AF-2C53-42A7-9B3D-82AE21BCB89A}"/>
              </a:ext>
            </a:extLst>
          </p:cNvPr>
          <p:cNvSpPr txBox="1">
            <a:spLocks noChangeArrowheads="1"/>
          </p:cNvSpPr>
          <p:nvPr/>
        </p:nvSpPr>
        <p:spPr bwMode="auto">
          <a:xfrm>
            <a:off x="685800" y="36449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en-US" altLang="zh-CN" sz="4000" kern="0" dirty="0">
                <a:solidFill>
                  <a:srgbClr val="AC2F36"/>
                </a:solidFill>
                <a:latin typeface="Palatino Linotype" panose="02040502050505030304" pitchFamily="18" charset="0"/>
                <a:ea typeface="华文中宋" panose="02010600040101010101" pitchFamily="2" charset="-122"/>
              </a:rPr>
              <a:t>5. </a:t>
            </a:r>
            <a:r>
              <a:rPr lang="zh-CN" altLang="en-US" sz="4000" kern="0" dirty="0">
                <a:solidFill>
                  <a:srgbClr val="AC2F36"/>
                </a:solidFill>
                <a:latin typeface="Palatino Linotype" panose="02040502050505030304" pitchFamily="18" charset="0"/>
                <a:ea typeface="华文中宋" panose="02010600040101010101" pitchFamily="2" charset="-122"/>
              </a:rPr>
              <a:t>回溯法</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98858D42-685A-465E-AA2C-8668A76CB468}"/>
              </a:ext>
            </a:extLst>
          </p:cNvPr>
          <p:cNvSpPr>
            <a:spLocks noGrp="1" noChangeArrowheads="1"/>
          </p:cNvSpPr>
          <p:nvPr>
            <p:ph type="title"/>
          </p:nvPr>
        </p:nvSpPr>
        <p:spPr bwMode="auto">
          <a:xfrm>
            <a:off x="685800" y="228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solidFill>
                  <a:srgbClr val="AC2F36"/>
                </a:solidFill>
              </a:rPr>
              <a:t>学习要点与要求</a:t>
            </a:r>
            <a:br>
              <a:rPr lang="zh-CN" altLang="en-US" sz="3600" b="1" dirty="0">
                <a:solidFill>
                  <a:srgbClr val="AC2F36"/>
                </a:solidFill>
              </a:rPr>
            </a:br>
            <a:endParaRPr lang="zh-CN" altLang="en-US" sz="3600" b="1" dirty="0">
              <a:solidFill>
                <a:srgbClr val="AC2F36"/>
              </a:solidFill>
            </a:endParaRPr>
          </a:p>
        </p:txBody>
      </p:sp>
      <p:sp>
        <p:nvSpPr>
          <p:cNvPr id="99331" name="Rectangle 1027">
            <a:extLst>
              <a:ext uri="{FF2B5EF4-FFF2-40B4-BE49-F238E27FC236}">
                <a16:creationId xmlns:a16="http://schemas.microsoft.com/office/drawing/2014/main" id="{9F2385E9-D3A0-4F1A-BA14-3AA71FDA57E6}"/>
              </a:ext>
            </a:extLst>
          </p:cNvPr>
          <p:cNvSpPr>
            <a:spLocks noGrp="1" noChangeArrowheads="1"/>
          </p:cNvSpPr>
          <p:nvPr>
            <p:ph type="body" idx="1"/>
          </p:nvPr>
        </p:nvSpPr>
        <p:spPr bwMode="auto">
          <a:xfrm>
            <a:off x="685800" y="838200"/>
            <a:ext cx="7772400" cy="3581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buFont typeface="Symbol" panose="05050102010706020507" pitchFamily="18" charset="2"/>
              <a:buChar char="·"/>
            </a:pPr>
            <a:r>
              <a:rPr lang="zh-CN" altLang="en-US" sz="2400" b="1" dirty="0"/>
              <a:t>掌握与理解回溯法的</a:t>
            </a:r>
            <a:r>
              <a:rPr lang="en-US" altLang="zh-CN" sz="2400" b="1" dirty="0"/>
              <a:t>DFS</a:t>
            </a:r>
            <a:r>
              <a:rPr lang="zh-CN" altLang="en-US" sz="2400" b="1" dirty="0"/>
              <a:t>搜索策略与方法</a:t>
            </a:r>
            <a:endParaRPr lang="en-US" altLang="zh-CN" sz="2400" b="1" dirty="0"/>
          </a:p>
          <a:p>
            <a:pPr eaLnBrk="1" hangingPunct="1">
              <a:lnSpc>
                <a:spcPct val="140000"/>
              </a:lnSpc>
              <a:buFont typeface="Symbol" panose="05050102010706020507" pitchFamily="18" charset="2"/>
              <a:buNone/>
            </a:pPr>
            <a:r>
              <a:rPr lang="zh-CN" altLang="en-US" sz="2400" b="1" dirty="0"/>
              <a:t>（</a:t>
            </a:r>
            <a:r>
              <a:rPr lang="en-US" altLang="zh-CN" sz="2400" b="1" dirty="0"/>
              <a:t>1</a:t>
            </a:r>
            <a:r>
              <a:rPr lang="zh-CN" altLang="en-US" sz="2400" b="1" dirty="0"/>
              <a:t>）掌握递归回溯</a:t>
            </a:r>
          </a:p>
          <a:p>
            <a:pPr eaLnBrk="1" hangingPunct="1">
              <a:lnSpc>
                <a:spcPct val="140000"/>
              </a:lnSpc>
              <a:buFont typeface="Symbol" panose="05050102010706020507" pitchFamily="18" charset="2"/>
              <a:buNone/>
            </a:pPr>
            <a:r>
              <a:rPr lang="zh-CN" altLang="en-US" sz="2400" b="1" dirty="0"/>
              <a:t>（</a:t>
            </a:r>
            <a:r>
              <a:rPr lang="en-US" altLang="zh-CN" sz="2400" b="1" dirty="0"/>
              <a:t>2</a:t>
            </a:r>
            <a:r>
              <a:rPr lang="zh-CN" altLang="en-US" sz="2400" b="1" dirty="0"/>
              <a:t>）理解迭代回溯编程技巧</a:t>
            </a:r>
          </a:p>
          <a:p>
            <a:pPr eaLnBrk="1" hangingPunct="1">
              <a:lnSpc>
                <a:spcPct val="140000"/>
              </a:lnSpc>
              <a:buFont typeface="Symbol" panose="05050102010706020507" pitchFamily="18" charset="2"/>
              <a:buChar char="·"/>
            </a:pPr>
            <a:r>
              <a:rPr lang="zh-CN" altLang="en-US" sz="2400" b="1" dirty="0"/>
              <a:t>掌握用回溯法解题的算法框架，了解搜索过程</a:t>
            </a:r>
          </a:p>
          <a:p>
            <a:pPr eaLnBrk="1" hangingPunct="1">
              <a:lnSpc>
                <a:spcPct val="140000"/>
              </a:lnSpc>
              <a:buFont typeface="Symbol" panose="05050102010706020507" pitchFamily="18" charset="2"/>
              <a:buNone/>
            </a:pPr>
            <a:r>
              <a:rPr lang="zh-CN" altLang="en-US" sz="2400" b="1" dirty="0"/>
              <a:t>（</a:t>
            </a:r>
            <a:r>
              <a:rPr lang="en-US" altLang="zh-CN" sz="2400" b="1" dirty="0"/>
              <a:t>1</a:t>
            </a:r>
            <a:r>
              <a:rPr lang="zh-CN" altLang="en-US" sz="2400" b="1" dirty="0"/>
              <a:t>）子集树算法框架</a:t>
            </a:r>
          </a:p>
          <a:p>
            <a:pPr eaLnBrk="1" hangingPunct="1">
              <a:lnSpc>
                <a:spcPct val="140000"/>
              </a:lnSpc>
              <a:buFont typeface="Symbol" panose="05050102010706020507" pitchFamily="18" charset="2"/>
              <a:buNone/>
            </a:pPr>
            <a:r>
              <a:rPr lang="zh-CN" altLang="en-US" sz="2400" b="1" dirty="0"/>
              <a:t>（</a:t>
            </a:r>
            <a:r>
              <a:rPr lang="en-US" altLang="zh-CN" sz="2400" b="1" dirty="0"/>
              <a:t>2</a:t>
            </a:r>
            <a:r>
              <a:rPr lang="zh-CN" altLang="en-US" sz="2400" b="1" dirty="0"/>
              <a:t>）排列树算法框架</a:t>
            </a:r>
          </a:p>
        </p:txBody>
      </p:sp>
      <p:sp>
        <p:nvSpPr>
          <p:cNvPr id="99332" name="Rectangle 1028">
            <a:extLst>
              <a:ext uri="{FF2B5EF4-FFF2-40B4-BE49-F238E27FC236}">
                <a16:creationId xmlns:a16="http://schemas.microsoft.com/office/drawing/2014/main" id="{4A2B63DA-1B34-44E4-B716-8F5E907DE14C}"/>
              </a:ext>
            </a:extLst>
          </p:cNvPr>
          <p:cNvSpPr>
            <a:spLocks noChangeArrowheads="1"/>
          </p:cNvSpPr>
          <p:nvPr/>
        </p:nvSpPr>
        <p:spPr bwMode="auto">
          <a:xfrm>
            <a:off x="457200" y="4419600"/>
            <a:ext cx="8458200"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20000"/>
              </a:spcBef>
              <a:buClr>
                <a:schemeClr val="tx1"/>
              </a:buClr>
              <a:buSzPct val="80000"/>
              <a:buFont typeface="Symbol" panose="05050102010706020507" pitchFamily="18" charset="2"/>
              <a:buChar char="·"/>
            </a:pPr>
            <a:r>
              <a:rPr lang="zh-CN" altLang="en-US" dirty="0">
                <a:ea typeface="华文中宋" panose="02010600040101010101" pitchFamily="2" charset="-122"/>
              </a:rPr>
              <a:t>通过学习典型范例，掌握回溯法的设计策略</a:t>
            </a:r>
            <a:endParaRPr lang="en-US" altLang="zh-CN" dirty="0">
              <a:ea typeface="华文中宋" panose="02010600040101010101" pitchFamily="2" charset="-122"/>
            </a:endParaRPr>
          </a:p>
          <a:p>
            <a:pPr eaLnBrk="1" hangingPunct="1">
              <a:lnSpc>
                <a:spcPct val="110000"/>
              </a:lnSpc>
              <a:spcBef>
                <a:spcPct val="20000"/>
              </a:spcBef>
              <a:buClr>
                <a:schemeClr val="tx1"/>
              </a:buClr>
              <a:buSzPct val="80000"/>
              <a:buFont typeface="Symbol" panose="05050102010706020507" pitchFamily="18" charset="2"/>
              <a:buChar char="·"/>
            </a:pPr>
            <a:r>
              <a:rPr lang="zh-CN" altLang="en-US" dirty="0">
                <a:solidFill>
                  <a:schemeClr val="bg1">
                    <a:lumMod val="75000"/>
                  </a:schemeClr>
                </a:solidFill>
                <a:ea typeface="华文中宋" panose="02010600040101010101" pitchFamily="2" charset="-122"/>
              </a:rPr>
              <a:t>（</a:t>
            </a:r>
            <a:r>
              <a:rPr lang="en-US" altLang="zh-CN" dirty="0">
                <a:solidFill>
                  <a:schemeClr val="bg1">
                    <a:lumMod val="75000"/>
                  </a:schemeClr>
                </a:solidFill>
                <a:ea typeface="华文中宋" panose="02010600040101010101" pitchFamily="2" charset="-122"/>
              </a:rPr>
              <a:t>1</a:t>
            </a:r>
            <a:r>
              <a:rPr lang="zh-CN" altLang="en-US" dirty="0">
                <a:solidFill>
                  <a:schemeClr val="bg1">
                    <a:lumMod val="75000"/>
                  </a:schemeClr>
                </a:solidFill>
                <a:ea typeface="华文中宋" panose="02010600040101010101" pitchFamily="2" charset="-122"/>
              </a:rPr>
              <a:t>）装载问题           </a:t>
            </a:r>
            <a:r>
              <a:rPr lang="zh-CN" altLang="en-US" dirty="0">
                <a:solidFill>
                  <a:srgbClr val="0000CC"/>
                </a:solidFill>
                <a:ea typeface="华文中宋" panose="02010600040101010101" pitchFamily="2" charset="-122"/>
              </a:rPr>
              <a:t>（</a:t>
            </a:r>
            <a:r>
              <a:rPr lang="en-US" altLang="zh-CN" dirty="0">
                <a:solidFill>
                  <a:srgbClr val="0000CC"/>
                </a:solidFill>
                <a:ea typeface="华文中宋" panose="02010600040101010101" pitchFamily="2" charset="-122"/>
              </a:rPr>
              <a:t>2</a:t>
            </a:r>
            <a:r>
              <a:rPr lang="zh-CN" altLang="en-US" dirty="0">
                <a:solidFill>
                  <a:srgbClr val="0000CC"/>
                </a:solidFill>
                <a:ea typeface="华文中宋" panose="02010600040101010101" pitchFamily="2" charset="-122"/>
              </a:rPr>
              <a:t>）批处理作业调度（</a:t>
            </a:r>
            <a:r>
              <a:rPr lang="en-US" altLang="zh-CN" dirty="0">
                <a:solidFill>
                  <a:srgbClr val="0000CC"/>
                </a:solidFill>
                <a:ea typeface="华文中宋" panose="02010600040101010101" pitchFamily="2" charset="-122"/>
              </a:rPr>
              <a:t>3</a:t>
            </a:r>
            <a:r>
              <a:rPr lang="zh-CN" altLang="en-US" dirty="0">
                <a:solidFill>
                  <a:srgbClr val="0000CC"/>
                </a:solidFill>
                <a:ea typeface="华文中宋" panose="02010600040101010101" pitchFamily="2" charset="-122"/>
              </a:rPr>
              <a:t>）</a:t>
            </a:r>
            <a:r>
              <a:rPr lang="en-US" altLang="zh-CN" dirty="0">
                <a:solidFill>
                  <a:srgbClr val="0000CC"/>
                </a:solidFill>
                <a:ea typeface="华文中宋" panose="02010600040101010101" pitchFamily="2" charset="-122"/>
              </a:rPr>
              <a:t>n</a:t>
            </a:r>
            <a:r>
              <a:rPr lang="zh-CN" altLang="en-US" dirty="0">
                <a:solidFill>
                  <a:srgbClr val="0000CC"/>
                </a:solidFill>
                <a:ea typeface="华文中宋" panose="02010600040101010101" pitchFamily="2" charset="-122"/>
              </a:rPr>
              <a:t>后问题</a:t>
            </a:r>
          </a:p>
          <a:p>
            <a:pPr eaLnBrk="1" hangingPunct="1">
              <a:lnSpc>
                <a:spcPct val="110000"/>
              </a:lnSpc>
              <a:spcBef>
                <a:spcPct val="20000"/>
              </a:spcBef>
              <a:buClr>
                <a:schemeClr val="hlink"/>
              </a:buClr>
              <a:buSzPct val="80000"/>
              <a:buFont typeface="Symbol" panose="05050102010706020507" pitchFamily="18" charset="2"/>
              <a:buChar char="·"/>
            </a:pPr>
            <a:r>
              <a:rPr lang="zh-CN" altLang="en-US" dirty="0">
                <a:solidFill>
                  <a:schemeClr val="bg1">
                    <a:lumMod val="75000"/>
                  </a:schemeClr>
                </a:solidFill>
                <a:ea typeface="华文中宋" panose="02010600040101010101" pitchFamily="2" charset="-122"/>
              </a:rPr>
              <a:t>（</a:t>
            </a:r>
            <a:r>
              <a:rPr lang="en-US" altLang="zh-CN" dirty="0">
                <a:solidFill>
                  <a:schemeClr val="bg1">
                    <a:lumMod val="75000"/>
                  </a:schemeClr>
                </a:solidFill>
                <a:ea typeface="华文中宋" panose="02010600040101010101" pitchFamily="2" charset="-122"/>
              </a:rPr>
              <a:t>4</a:t>
            </a:r>
            <a:r>
              <a:rPr lang="zh-CN" altLang="en-US" dirty="0">
                <a:solidFill>
                  <a:schemeClr val="bg1">
                    <a:lumMod val="75000"/>
                  </a:schemeClr>
                </a:solidFill>
                <a:ea typeface="华文中宋" panose="02010600040101010101" pitchFamily="2" charset="-122"/>
              </a:rPr>
              <a:t>）</a:t>
            </a:r>
            <a:r>
              <a:rPr lang="en-US" altLang="zh-CN" dirty="0">
                <a:solidFill>
                  <a:schemeClr val="bg1">
                    <a:lumMod val="75000"/>
                  </a:schemeClr>
                </a:solidFill>
                <a:ea typeface="华文中宋" panose="02010600040101010101" pitchFamily="2" charset="-122"/>
              </a:rPr>
              <a:t>0-1</a:t>
            </a:r>
            <a:r>
              <a:rPr lang="zh-CN" altLang="en-US" dirty="0">
                <a:solidFill>
                  <a:schemeClr val="bg1">
                    <a:lumMod val="75000"/>
                  </a:schemeClr>
                </a:solidFill>
                <a:ea typeface="华文中宋" panose="02010600040101010101" pitchFamily="2" charset="-122"/>
              </a:rPr>
              <a:t>背包问题      </a:t>
            </a:r>
            <a:r>
              <a:rPr lang="zh-CN" altLang="en-US" dirty="0">
                <a:ea typeface="华文中宋" panose="02010600040101010101" pitchFamily="2" charset="-122"/>
              </a:rPr>
              <a:t>（</a:t>
            </a:r>
            <a:r>
              <a:rPr lang="en-US" altLang="zh-CN" dirty="0">
                <a:ea typeface="华文中宋" panose="02010600040101010101" pitchFamily="2" charset="-122"/>
              </a:rPr>
              <a:t>5</a:t>
            </a:r>
            <a:r>
              <a:rPr lang="zh-CN" altLang="en-US" dirty="0">
                <a:ea typeface="华文中宋" panose="02010600040101010101" pitchFamily="2" charset="-122"/>
              </a:rPr>
              <a:t>）最大团问题</a:t>
            </a:r>
          </a:p>
          <a:p>
            <a:pPr eaLnBrk="1" hangingPunct="1">
              <a:lnSpc>
                <a:spcPct val="110000"/>
              </a:lnSpc>
              <a:spcBef>
                <a:spcPct val="20000"/>
              </a:spcBef>
              <a:buClr>
                <a:schemeClr val="hlink"/>
              </a:buClr>
              <a:buSzPct val="80000"/>
              <a:buFont typeface="Symbol" panose="05050102010706020507" pitchFamily="18" charset="2"/>
              <a:buChar char="·"/>
            </a:pPr>
            <a:r>
              <a:rPr lang="zh-CN" altLang="en-US" dirty="0">
                <a:ea typeface="华文中宋" panose="02010600040101010101" pitchFamily="2" charset="-122"/>
              </a:rPr>
              <a:t>（</a:t>
            </a:r>
            <a:r>
              <a:rPr lang="en-US" altLang="zh-CN" dirty="0">
                <a:ea typeface="华文中宋" panose="02010600040101010101" pitchFamily="2" charset="-122"/>
              </a:rPr>
              <a:t>6</a:t>
            </a:r>
            <a:r>
              <a:rPr lang="zh-CN" altLang="en-US" dirty="0">
                <a:ea typeface="华文中宋" panose="02010600040101010101" pitchFamily="2" charset="-122"/>
              </a:rPr>
              <a:t>）图的</a:t>
            </a:r>
            <a:r>
              <a:rPr lang="en-US" altLang="zh-CN" dirty="0">
                <a:ea typeface="华文中宋" panose="02010600040101010101" pitchFamily="2" charset="-122"/>
              </a:rPr>
              <a:t>m</a:t>
            </a:r>
            <a:r>
              <a:rPr lang="zh-CN" altLang="en-US" dirty="0">
                <a:ea typeface="华文中宋" panose="02010600040101010101" pitchFamily="2" charset="-122"/>
              </a:rPr>
              <a:t>着色问题</a:t>
            </a:r>
            <a:r>
              <a:rPr lang="zh-CN" altLang="en-US" dirty="0">
                <a:solidFill>
                  <a:schemeClr val="bg1">
                    <a:lumMod val="75000"/>
                  </a:schemeClr>
                </a:solidFill>
                <a:ea typeface="华文中宋" panose="02010600040101010101" pitchFamily="2" charset="-122"/>
              </a:rPr>
              <a:t>（</a:t>
            </a:r>
            <a:r>
              <a:rPr lang="en-US" altLang="zh-CN" dirty="0">
                <a:solidFill>
                  <a:schemeClr val="bg1">
                    <a:lumMod val="75000"/>
                  </a:schemeClr>
                </a:solidFill>
                <a:ea typeface="华文中宋" panose="02010600040101010101" pitchFamily="2" charset="-122"/>
              </a:rPr>
              <a:t>7</a:t>
            </a:r>
            <a:r>
              <a:rPr lang="zh-CN" altLang="en-US" dirty="0">
                <a:solidFill>
                  <a:schemeClr val="bg1">
                    <a:lumMod val="75000"/>
                  </a:schemeClr>
                </a:solidFill>
                <a:ea typeface="华文中宋" panose="02010600040101010101" pitchFamily="2" charset="-122"/>
              </a:rPr>
              <a:t>）旅行售货员问题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anim calcmode="lin" valueType="num">
                                      <p:cBhvr additive="base">
                                        <p:cTn id="7" dur="500" fill="hold"/>
                                        <p:tgtEl>
                                          <p:spTgt spid="99331"/>
                                        </p:tgtEl>
                                        <p:attrNameLst>
                                          <p:attrName>ppt_x</p:attrName>
                                        </p:attrNameLst>
                                      </p:cBhvr>
                                      <p:tavLst>
                                        <p:tav tm="0">
                                          <p:val>
                                            <p:strVal val="0-#ppt_w/2"/>
                                          </p:val>
                                        </p:tav>
                                        <p:tav tm="100000">
                                          <p:val>
                                            <p:strVal val="#ppt_x"/>
                                          </p:val>
                                        </p:tav>
                                      </p:tavLst>
                                    </p:anim>
                                    <p:anim calcmode="lin" valueType="num">
                                      <p:cBhvr additive="base">
                                        <p:cTn id="8" dur="500" fill="hold"/>
                                        <p:tgtEl>
                                          <p:spTgt spid="993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332"/>
                                        </p:tgtEl>
                                        <p:attrNameLst>
                                          <p:attrName>style.visibility</p:attrName>
                                        </p:attrNameLst>
                                      </p:cBhvr>
                                      <p:to>
                                        <p:strVal val="visible"/>
                                      </p:to>
                                    </p:set>
                                    <p:anim calcmode="lin" valueType="num">
                                      <p:cBhvr additive="base">
                                        <p:cTn id="13" dur="500" fill="hold"/>
                                        <p:tgtEl>
                                          <p:spTgt spid="99332"/>
                                        </p:tgtEl>
                                        <p:attrNameLst>
                                          <p:attrName>ppt_x</p:attrName>
                                        </p:attrNameLst>
                                      </p:cBhvr>
                                      <p:tavLst>
                                        <p:tav tm="0">
                                          <p:val>
                                            <p:strVal val="0-#ppt_w/2"/>
                                          </p:val>
                                        </p:tav>
                                        <p:tav tm="100000">
                                          <p:val>
                                            <p:strVal val="#ppt_x"/>
                                          </p:val>
                                        </p:tav>
                                      </p:tavLst>
                                    </p:anim>
                                    <p:anim calcmode="lin" valueType="num">
                                      <p:cBhvr additive="base">
                                        <p:cTn id="14"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autoUpdateAnimBg="0"/>
      <p:bldP spid="9933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5">
            <a:extLst>
              <a:ext uri="{FF2B5EF4-FFF2-40B4-BE49-F238E27FC236}">
                <a16:creationId xmlns:a16="http://schemas.microsoft.com/office/drawing/2014/main" id="{FBEBE886-747B-4F3C-90EF-521440E9349F}"/>
              </a:ext>
            </a:extLst>
          </p:cNvPr>
          <p:cNvSpPr txBox="1">
            <a:spLocks noChangeArrowheads="1"/>
          </p:cNvSpPr>
          <p:nvPr/>
        </p:nvSpPr>
        <p:spPr bwMode="auto">
          <a:xfrm>
            <a:off x="500063" y="1219200"/>
            <a:ext cx="81438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dirty="0">
                <a:ea typeface="华文中宋" panose="02010600040101010101" pitchFamily="2" charset="-122"/>
              </a:rPr>
              <a:t> </a:t>
            </a:r>
            <a:r>
              <a:rPr lang="en-US" altLang="zh-CN" sz="2800" dirty="0">
                <a:solidFill>
                  <a:srgbClr val="FF0000"/>
                </a:solidFill>
                <a:ea typeface="华文中宋" panose="02010600040101010101" pitchFamily="2" charset="-122"/>
              </a:rPr>
              <a:t>n</a:t>
            </a:r>
            <a:r>
              <a:rPr lang="zh-CN" altLang="en-US" sz="2800" dirty="0">
                <a:solidFill>
                  <a:srgbClr val="FF0000"/>
                </a:solidFill>
                <a:ea typeface="华文中宋" panose="02010600040101010101" pitchFamily="2" charset="-122"/>
              </a:rPr>
              <a:t>皇后问题</a:t>
            </a:r>
          </a:p>
          <a:p>
            <a:pPr algn="just" eaLnBrk="1" hangingPunct="1"/>
            <a:r>
              <a:rPr lang="zh-CN" altLang="en-US" sz="2800" dirty="0">
                <a:latin typeface="华文中宋" panose="02010600040101010101" pitchFamily="2" charset="-122"/>
                <a:ea typeface="华文中宋" panose="02010600040101010101" pitchFamily="2" charset="-122"/>
              </a:rPr>
              <a:t>    国际象棋中的</a:t>
            </a:r>
            <a:r>
              <a:rPr lang="zh-CN" altLang="en-US" sz="2800" dirty="0">
                <a:ea typeface="华文中宋" panose="02010600040101010101" pitchFamily="2" charset="-122"/>
              </a:rPr>
              <a:t>“</a:t>
            </a:r>
            <a:r>
              <a:rPr lang="zh-CN" altLang="en-US" sz="2800" dirty="0">
                <a:latin typeface="华文中宋" panose="02010600040101010101" pitchFamily="2" charset="-122"/>
                <a:ea typeface="华文中宋" panose="02010600040101010101" pitchFamily="2" charset="-122"/>
              </a:rPr>
              <a:t>皇后</a:t>
            </a:r>
            <a:r>
              <a:rPr lang="zh-CN" altLang="en-US" sz="2800" dirty="0">
                <a:ea typeface="华文中宋" panose="02010600040101010101" pitchFamily="2" charset="-122"/>
              </a:rPr>
              <a:t>”</a:t>
            </a:r>
            <a:r>
              <a:rPr lang="zh-CN" altLang="en-US" sz="2800" dirty="0">
                <a:latin typeface="华文中宋" panose="02010600040101010101" pitchFamily="2" charset="-122"/>
                <a:ea typeface="华文中宋" panose="02010600040101010101" pitchFamily="2" charset="-122"/>
              </a:rPr>
              <a:t>在横向、直向、和斜向都能走步和吃子，问在</a:t>
            </a:r>
            <a:r>
              <a:rPr lang="en-US" altLang="zh-CN" sz="2800" dirty="0" err="1">
                <a:latin typeface="华文中宋" panose="02010600040101010101" pitchFamily="2" charset="-122"/>
                <a:ea typeface="华文中宋" panose="02010600040101010101" pitchFamily="2" charset="-122"/>
              </a:rPr>
              <a:t>n×n</a:t>
            </a:r>
            <a:r>
              <a:rPr lang="en-US" altLang="zh-CN" sz="2800" dirty="0">
                <a:latin typeface="华文中宋" panose="02010600040101010101" pitchFamily="2" charset="-122"/>
                <a:ea typeface="华文中宋" panose="02010600040101010101" pitchFamily="2" charset="-122"/>
              </a:rPr>
              <a:t> </a:t>
            </a:r>
            <a:r>
              <a:rPr lang="zh-CN" altLang="en-US" sz="2800" dirty="0">
                <a:latin typeface="华文中宋" panose="02010600040101010101" pitchFamily="2" charset="-122"/>
                <a:ea typeface="华文中宋" panose="02010600040101010101" pitchFamily="2" charset="-122"/>
              </a:rPr>
              <a:t>格的棋盘上如何摆上</a:t>
            </a:r>
            <a:r>
              <a:rPr lang="en-US" altLang="zh-CN" sz="2800" dirty="0">
                <a:latin typeface="华文中宋" panose="02010600040101010101" pitchFamily="2" charset="-122"/>
                <a:ea typeface="华文中宋" panose="02010600040101010101" pitchFamily="2" charset="-122"/>
              </a:rPr>
              <a:t>n</a:t>
            </a:r>
            <a:r>
              <a:rPr lang="zh-CN" altLang="en-US" sz="2800" dirty="0">
                <a:latin typeface="华文中宋" panose="02010600040101010101" pitchFamily="2" charset="-122"/>
                <a:ea typeface="华文中宋" panose="02010600040101010101" pitchFamily="2" charset="-122"/>
              </a:rPr>
              <a:t>个皇后而使她们都不能相互吃掉？</a:t>
            </a:r>
            <a:endParaRPr lang="zh-CN" altLang="en-US" sz="4000" dirty="0">
              <a:solidFill>
                <a:srgbClr val="FF0000"/>
              </a:solidFill>
              <a:ea typeface="华文中宋" panose="02010600040101010101" pitchFamily="2" charset="-122"/>
            </a:endParaRPr>
          </a:p>
        </p:txBody>
      </p:sp>
      <p:sp>
        <p:nvSpPr>
          <p:cNvPr id="5123" name="Rectangle 9">
            <a:extLst>
              <a:ext uri="{FF2B5EF4-FFF2-40B4-BE49-F238E27FC236}">
                <a16:creationId xmlns:a16="http://schemas.microsoft.com/office/drawing/2014/main" id="{C0F993C7-1E1A-4763-A917-C6413C1E88C6}"/>
              </a:ext>
            </a:extLst>
          </p:cNvPr>
          <p:cNvSpPr>
            <a:spLocks noGrp="1" noChangeArrowheads="1"/>
          </p:cNvSpPr>
          <p:nvPr>
            <p:ph type="title"/>
          </p:nvPr>
        </p:nvSpPr>
        <p:spPr bwMode="auto">
          <a:xfrm>
            <a:off x="1066800" y="457200"/>
            <a:ext cx="7010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a:solidFill>
                  <a:srgbClr val="FF0000"/>
                </a:solidFill>
              </a:rPr>
              <a:t>引  言</a:t>
            </a:r>
          </a:p>
        </p:txBody>
      </p:sp>
      <p:graphicFrame>
        <p:nvGraphicFramePr>
          <p:cNvPr id="6181" name="Group 37">
            <a:extLst>
              <a:ext uri="{FF2B5EF4-FFF2-40B4-BE49-F238E27FC236}">
                <a16:creationId xmlns:a16="http://schemas.microsoft.com/office/drawing/2014/main" id="{C37C0492-8ED9-4BF6-919C-34492FFCECB4}"/>
              </a:ext>
            </a:extLst>
          </p:cNvPr>
          <p:cNvGraphicFramePr>
            <a:graphicFrameLocks noGrp="1"/>
          </p:cNvGraphicFramePr>
          <p:nvPr/>
        </p:nvGraphicFramePr>
        <p:xfrm>
          <a:off x="5943600" y="4071938"/>
          <a:ext cx="2209800" cy="1981200"/>
        </p:xfrm>
        <a:graphic>
          <a:graphicData uri="http://schemas.openxmlformats.org/drawingml/2006/table">
            <a:tbl>
              <a:tblPr/>
              <a:tblGrid>
                <a:gridCol w="552450">
                  <a:extLst>
                    <a:ext uri="{9D8B030D-6E8A-4147-A177-3AD203B41FA5}">
                      <a16:colId xmlns:a16="http://schemas.microsoft.com/office/drawing/2014/main" val="20000"/>
                    </a:ext>
                  </a:extLst>
                </a:gridCol>
                <a:gridCol w="5524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52450">
                  <a:extLst>
                    <a:ext uri="{9D8B030D-6E8A-4147-A177-3AD203B41FA5}">
                      <a16:colId xmlns:a16="http://schemas.microsoft.com/office/drawing/2014/main" val="20003"/>
                    </a:ext>
                  </a:extLst>
                </a:gridCol>
              </a:tblGrid>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3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208" name="Oval 64">
            <a:extLst>
              <a:ext uri="{FF2B5EF4-FFF2-40B4-BE49-F238E27FC236}">
                <a16:creationId xmlns:a16="http://schemas.microsoft.com/office/drawing/2014/main" id="{CB44B7DD-8FF0-48C8-8852-2A42EEF97F9B}"/>
              </a:ext>
            </a:extLst>
          </p:cNvPr>
          <p:cNvSpPr>
            <a:spLocks noChangeArrowheads="1"/>
          </p:cNvSpPr>
          <p:nvPr/>
        </p:nvSpPr>
        <p:spPr bwMode="auto">
          <a:xfrm>
            <a:off x="6643688" y="4205288"/>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209" name="Oval 65">
            <a:extLst>
              <a:ext uri="{FF2B5EF4-FFF2-40B4-BE49-F238E27FC236}">
                <a16:creationId xmlns:a16="http://schemas.microsoft.com/office/drawing/2014/main" id="{C604404F-6E62-4FA7-8B40-AC3F6FFBC74F}"/>
              </a:ext>
            </a:extLst>
          </p:cNvPr>
          <p:cNvSpPr>
            <a:spLocks noChangeArrowheads="1"/>
          </p:cNvSpPr>
          <p:nvPr/>
        </p:nvSpPr>
        <p:spPr bwMode="auto">
          <a:xfrm>
            <a:off x="6143625" y="5195888"/>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210" name="Oval 66">
            <a:extLst>
              <a:ext uri="{FF2B5EF4-FFF2-40B4-BE49-F238E27FC236}">
                <a16:creationId xmlns:a16="http://schemas.microsoft.com/office/drawing/2014/main" id="{DE869988-19CB-4ED7-9A83-2C4C31F252C0}"/>
              </a:ext>
            </a:extLst>
          </p:cNvPr>
          <p:cNvSpPr>
            <a:spLocks noChangeArrowheads="1"/>
          </p:cNvSpPr>
          <p:nvPr/>
        </p:nvSpPr>
        <p:spPr bwMode="auto">
          <a:xfrm>
            <a:off x="7772400" y="4662488"/>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211" name="Oval 67">
            <a:extLst>
              <a:ext uri="{FF2B5EF4-FFF2-40B4-BE49-F238E27FC236}">
                <a16:creationId xmlns:a16="http://schemas.microsoft.com/office/drawing/2014/main" id="{CC1A6FBB-29EE-4CB0-AF63-D2F8922D7DF7}"/>
              </a:ext>
            </a:extLst>
          </p:cNvPr>
          <p:cNvSpPr>
            <a:spLocks noChangeArrowheads="1"/>
          </p:cNvSpPr>
          <p:nvPr/>
        </p:nvSpPr>
        <p:spPr bwMode="auto">
          <a:xfrm>
            <a:off x="7272338" y="5653088"/>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212" name="Text Box 68">
            <a:extLst>
              <a:ext uri="{FF2B5EF4-FFF2-40B4-BE49-F238E27FC236}">
                <a16:creationId xmlns:a16="http://schemas.microsoft.com/office/drawing/2014/main" id="{0DC8080F-6F68-4F9B-A453-89433D23A682}"/>
              </a:ext>
            </a:extLst>
          </p:cNvPr>
          <p:cNvSpPr txBox="1">
            <a:spLocks noChangeArrowheads="1"/>
          </p:cNvSpPr>
          <p:nvPr/>
        </p:nvSpPr>
        <p:spPr bwMode="auto">
          <a:xfrm>
            <a:off x="642938" y="3357563"/>
            <a:ext cx="48006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ea typeface="华文中宋" panose="02010600040101010101" pitchFamily="2" charset="-122"/>
              </a:rPr>
              <a:t>穷举法：</a:t>
            </a:r>
          </a:p>
          <a:p>
            <a:pPr eaLnBrk="1" hangingPunct="1">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n=4</a:t>
            </a:r>
            <a:r>
              <a:rPr lang="zh-CN" altLang="en-US" sz="2800" dirty="0">
                <a:ea typeface="华文中宋" panose="02010600040101010101" pitchFamily="2" charset="-122"/>
              </a:rPr>
              <a:t>时，有</a:t>
            </a:r>
            <a:r>
              <a:rPr lang="en-US" altLang="zh-CN" sz="2800" dirty="0">
                <a:ea typeface="华文中宋" panose="02010600040101010101" pitchFamily="2" charset="-122"/>
              </a:rPr>
              <a:t>n</a:t>
            </a:r>
            <a:r>
              <a:rPr lang="zh-CN" altLang="en-US" sz="2800" dirty="0">
                <a:ea typeface="华文中宋" panose="02010600040101010101" pitchFamily="2" charset="-122"/>
              </a:rPr>
              <a:t>！</a:t>
            </a:r>
            <a:r>
              <a:rPr lang="en-US" altLang="zh-CN" sz="2800" dirty="0">
                <a:ea typeface="华文中宋" panose="02010600040101010101" pitchFamily="2" charset="-122"/>
              </a:rPr>
              <a:t>=24</a:t>
            </a:r>
            <a:r>
              <a:rPr lang="zh-CN" altLang="en-US" sz="2800" dirty="0">
                <a:ea typeface="华文中宋" panose="02010600040101010101" pitchFamily="2" charset="-122"/>
              </a:rPr>
              <a:t>中情况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12"/>
                                        </p:tgtEl>
                                        <p:attrNameLst>
                                          <p:attrName>style.visibility</p:attrName>
                                        </p:attrNameLst>
                                      </p:cBhvr>
                                      <p:to>
                                        <p:strVal val="visible"/>
                                      </p:to>
                                    </p:set>
                                    <p:anim calcmode="lin" valueType="num">
                                      <p:cBhvr additive="base">
                                        <p:cTn id="7" dur="500" fill="hold"/>
                                        <p:tgtEl>
                                          <p:spTgt spid="6212"/>
                                        </p:tgtEl>
                                        <p:attrNameLst>
                                          <p:attrName>ppt_x</p:attrName>
                                        </p:attrNameLst>
                                      </p:cBhvr>
                                      <p:tavLst>
                                        <p:tav tm="0">
                                          <p:val>
                                            <p:strVal val="0-#ppt_w/2"/>
                                          </p:val>
                                        </p:tav>
                                        <p:tav tm="100000">
                                          <p:val>
                                            <p:strVal val="#ppt_x"/>
                                          </p:val>
                                        </p:tav>
                                      </p:tavLst>
                                    </p:anim>
                                    <p:anim calcmode="lin" valueType="num">
                                      <p:cBhvr additive="base">
                                        <p:cTn id="8" dur="500" fill="hold"/>
                                        <p:tgtEl>
                                          <p:spTgt spid="62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181"/>
                                        </p:tgtEl>
                                        <p:attrNameLst>
                                          <p:attrName>style.visibility</p:attrName>
                                        </p:attrNameLst>
                                      </p:cBhvr>
                                      <p:to>
                                        <p:strVal val="visible"/>
                                      </p:to>
                                    </p:set>
                                    <p:anim calcmode="lin" valueType="num">
                                      <p:cBhvr additive="base">
                                        <p:cTn id="13" dur="500" fill="hold"/>
                                        <p:tgtEl>
                                          <p:spTgt spid="6181"/>
                                        </p:tgtEl>
                                        <p:attrNameLst>
                                          <p:attrName>ppt_x</p:attrName>
                                        </p:attrNameLst>
                                      </p:cBhvr>
                                      <p:tavLst>
                                        <p:tav tm="0">
                                          <p:val>
                                            <p:strVal val="0-#ppt_w/2"/>
                                          </p:val>
                                        </p:tav>
                                        <p:tav tm="100000">
                                          <p:val>
                                            <p:strVal val="#ppt_x"/>
                                          </p:val>
                                        </p:tav>
                                      </p:tavLst>
                                    </p:anim>
                                    <p:anim calcmode="lin" valueType="num">
                                      <p:cBhvr additive="base">
                                        <p:cTn id="14" dur="500" fill="hold"/>
                                        <p:tgtEl>
                                          <p:spTgt spid="618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08"/>
                                        </p:tgtEl>
                                        <p:attrNameLst>
                                          <p:attrName>style.visibility</p:attrName>
                                        </p:attrNameLst>
                                      </p:cBhvr>
                                      <p:to>
                                        <p:strVal val="visible"/>
                                      </p:to>
                                    </p:set>
                                    <p:anim calcmode="lin" valueType="num">
                                      <p:cBhvr additive="base">
                                        <p:cTn id="19" dur="500" fill="hold"/>
                                        <p:tgtEl>
                                          <p:spTgt spid="6208"/>
                                        </p:tgtEl>
                                        <p:attrNameLst>
                                          <p:attrName>ppt_x</p:attrName>
                                        </p:attrNameLst>
                                      </p:cBhvr>
                                      <p:tavLst>
                                        <p:tav tm="0">
                                          <p:val>
                                            <p:strVal val="0-#ppt_w/2"/>
                                          </p:val>
                                        </p:tav>
                                        <p:tav tm="100000">
                                          <p:val>
                                            <p:strVal val="#ppt_x"/>
                                          </p:val>
                                        </p:tav>
                                      </p:tavLst>
                                    </p:anim>
                                    <p:anim calcmode="lin" valueType="num">
                                      <p:cBhvr additive="base">
                                        <p:cTn id="20" dur="500" fill="hold"/>
                                        <p:tgtEl>
                                          <p:spTgt spid="62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10"/>
                                        </p:tgtEl>
                                        <p:attrNameLst>
                                          <p:attrName>style.visibility</p:attrName>
                                        </p:attrNameLst>
                                      </p:cBhvr>
                                      <p:to>
                                        <p:strVal val="visible"/>
                                      </p:to>
                                    </p:set>
                                    <p:anim calcmode="lin" valueType="num">
                                      <p:cBhvr additive="base">
                                        <p:cTn id="25" dur="500" fill="hold"/>
                                        <p:tgtEl>
                                          <p:spTgt spid="6210"/>
                                        </p:tgtEl>
                                        <p:attrNameLst>
                                          <p:attrName>ppt_x</p:attrName>
                                        </p:attrNameLst>
                                      </p:cBhvr>
                                      <p:tavLst>
                                        <p:tav tm="0">
                                          <p:val>
                                            <p:strVal val="0-#ppt_w/2"/>
                                          </p:val>
                                        </p:tav>
                                        <p:tav tm="100000">
                                          <p:val>
                                            <p:strVal val="#ppt_x"/>
                                          </p:val>
                                        </p:tav>
                                      </p:tavLst>
                                    </p:anim>
                                    <p:anim calcmode="lin" valueType="num">
                                      <p:cBhvr additive="base">
                                        <p:cTn id="26" dur="500" fill="hold"/>
                                        <p:tgtEl>
                                          <p:spTgt spid="621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209"/>
                                        </p:tgtEl>
                                        <p:attrNameLst>
                                          <p:attrName>style.visibility</p:attrName>
                                        </p:attrNameLst>
                                      </p:cBhvr>
                                      <p:to>
                                        <p:strVal val="visible"/>
                                      </p:to>
                                    </p:set>
                                    <p:anim calcmode="lin" valueType="num">
                                      <p:cBhvr additive="base">
                                        <p:cTn id="31" dur="500" fill="hold"/>
                                        <p:tgtEl>
                                          <p:spTgt spid="6209"/>
                                        </p:tgtEl>
                                        <p:attrNameLst>
                                          <p:attrName>ppt_x</p:attrName>
                                        </p:attrNameLst>
                                      </p:cBhvr>
                                      <p:tavLst>
                                        <p:tav tm="0">
                                          <p:val>
                                            <p:strVal val="0-#ppt_w/2"/>
                                          </p:val>
                                        </p:tav>
                                        <p:tav tm="100000">
                                          <p:val>
                                            <p:strVal val="#ppt_x"/>
                                          </p:val>
                                        </p:tav>
                                      </p:tavLst>
                                    </p:anim>
                                    <p:anim calcmode="lin" valueType="num">
                                      <p:cBhvr additive="base">
                                        <p:cTn id="32" dur="500" fill="hold"/>
                                        <p:tgtEl>
                                          <p:spTgt spid="620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211"/>
                                        </p:tgtEl>
                                        <p:attrNameLst>
                                          <p:attrName>style.visibility</p:attrName>
                                        </p:attrNameLst>
                                      </p:cBhvr>
                                      <p:to>
                                        <p:strVal val="visible"/>
                                      </p:to>
                                    </p:set>
                                    <p:anim calcmode="lin" valueType="num">
                                      <p:cBhvr additive="base">
                                        <p:cTn id="37" dur="500" fill="hold"/>
                                        <p:tgtEl>
                                          <p:spTgt spid="6211"/>
                                        </p:tgtEl>
                                        <p:attrNameLst>
                                          <p:attrName>ppt_x</p:attrName>
                                        </p:attrNameLst>
                                      </p:cBhvr>
                                      <p:tavLst>
                                        <p:tav tm="0">
                                          <p:val>
                                            <p:strVal val="0-#ppt_w/2"/>
                                          </p:val>
                                        </p:tav>
                                        <p:tav tm="100000">
                                          <p:val>
                                            <p:strVal val="#ppt_x"/>
                                          </p:val>
                                        </p:tav>
                                      </p:tavLst>
                                    </p:anim>
                                    <p:anim calcmode="lin" valueType="num">
                                      <p:cBhvr additive="base">
                                        <p:cTn id="38" dur="500" fill="hold"/>
                                        <p:tgtEl>
                                          <p:spTgt spid="62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8" grpId="0" animBg="1"/>
      <p:bldP spid="6209" grpId="0" animBg="1"/>
      <p:bldP spid="6210" grpId="0" animBg="1"/>
      <p:bldP spid="6211" grpId="0" animBg="1"/>
      <p:bldP spid="621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7DF986D-285C-43BF-9CEA-1FDA674BE7DD}"/>
              </a:ext>
            </a:extLst>
          </p:cNvPr>
          <p:cNvSpPr>
            <a:spLocks noGrp="1" noChangeArrowheads="1"/>
          </p:cNvSpPr>
          <p:nvPr>
            <p:ph type="title"/>
          </p:nvPr>
        </p:nvSpPr>
        <p:spPr bwMode="auto">
          <a:xfrm>
            <a:off x="2928938" y="228600"/>
            <a:ext cx="5529262"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200" b="1">
                <a:solidFill>
                  <a:srgbClr val="FF0000"/>
                </a:solidFill>
              </a:rPr>
              <a:t>N</a:t>
            </a:r>
            <a:r>
              <a:rPr lang="zh-CN" altLang="en-US" sz="3200" b="1">
                <a:solidFill>
                  <a:srgbClr val="FF0000"/>
                </a:solidFill>
              </a:rPr>
              <a:t>皇后搜索过程与多叉树</a:t>
            </a:r>
          </a:p>
        </p:txBody>
      </p:sp>
      <p:sp>
        <p:nvSpPr>
          <p:cNvPr id="6147" name="Oval 9">
            <a:extLst>
              <a:ext uri="{FF2B5EF4-FFF2-40B4-BE49-F238E27FC236}">
                <a16:creationId xmlns:a16="http://schemas.microsoft.com/office/drawing/2014/main" id="{4EDC0CEC-8CD2-438A-B0C8-A523118B5A8E}"/>
              </a:ext>
            </a:extLst>
          </p:cNvPr>
          <p:cNvSpPr>
            <a:spLocks noChangeArrowheads="1"/>
          </p:cNvSpPr>
          <p:nvPr/>
        </p:nvSpPr>
        <p:spPr bwMode="auto">
          <a:xfrm>
            <a:off x="5143500" y="838200"/>
            <a:ext cx="381000" cy="381000"/>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0</a:t>
            </a:r>
          </a:p>
        </p:txBody>
      </p:sp>
      <p:sp>
        <p:nvSpPr>
          <p:cNvPr id="6148" name="Text Box 121">
            <a:extLst>
              <a:ext uri="{FF2B5EF4-FFF2-40B4-BE49-F238E27FC236}">
                <a16:creationId xmlns:a16="http://schemas.microsoft.com/office/drawing/2014/main" id="{69A0A9FE-F18B-4A2E-BBBE-A4361B749784}"/>
              </a:ext>
            </a:extLst>
          </p:cNvPr>
          <p:cNvSpPr txBox="1">
            <a:spLocks noChangeArrowheads="1"/>
          </p:cNvSpPr>
          <p:nvPr/>
        </p:nvSpPr>
        <p:spPr bwMode="auto">
          <a:xfrm>
            <a:off x="811213" y="5311775"/>
            <a:ext cx="974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=4</a:t>
            </a:r>
          </a:p>
        </p:txBody>
      </p:sp>
      <p:grpSp>
        <p:nvGrpSpPr>
          <p:cNvPr id="6149" name="Group 135">
            <a:extLst>
              <a:ext uri="{FF2B5EF4-FFF2-40B4-BE49-F238E27FC236}">
                <a16:creationId xmlns:a16="http://schemas.microsoft.com/office/drawing/2014/main" id="{FD8DF997-3414-4BA1-9E1D-B8B2395D47D5}"/>
              </a:ext>
            </a:extLst>
          </p:cNvPr>
          <p:cNvGrpSpPr>
            <a:grpSpLocks/>
          </p:cNvGrpSpPr>
          <p:nvPr/>
        </p:nvGrpSpPr>
        <p:grpSpPr bwMode="auto">
          <a:xfrm>
            <a:off x="1185863" y="1676400"/>
            <a:ext cx="6958012" cy="4800600"/>
            <a:chOff x="161" y="1056"/>
            <a:chExt cx="4383" cy="3024"/>
          </a:xfrm>
        </p:grpSpPr>
        <p:grpSp>
          <p:nvGrpSpPr>
            <p:cNvPr id="6192" name="Group 77">
              <a:extLst>
                <a:ext uri="{FF2B5EF4-FFF2-40B4-BE49-F238E27FC236}">
                  <a16:creationId xmlns:a16="http://schemas.microsoft.com/office/drawing/2014/main" id="{EB88A5A2-B1C2-4738-8D6C-9A778FEDDB5A}"/>
                </a:ext>
              </a:extLst>
            </p:cNvPr>
            <p:cNvGrpSpPr>
              <a:grpSpLocks/>
            </p:cNvGrpSpPr>
            <p:nvPr/>
          </p:nvGrpSpPr>
          <p:grpSpPr bwMode="auto">
            <a:xfrm>
              <a:off x="731" y="2006"/>
              <a:ext cx="3076" cy="260"/>
              <a:chOff x="713" y="1536"/>
              <a:chExt cx="3607" cy="288"/>
            </a:xfrm>
          </p:grpSpPr>
          <p:sp>
            <p:nvSpPr>
              <p:cNvPr id="6237" name="Oval 78">
                <a:extLst>
                  <a:ext uri="{FF2B5EF4-FFF2-40B4-BE49-F238E27FC236}">
                    <a16:creationId xmlns:a16="http://schemas.microsoft.com/office/drawing/2014/main" id="{A7980793-FFC1-4465-A6C9-AE00AA0CA1AE}"/>
                  </a:ext>
                </a:extLst>
              </p:cNvPr>
              <p:cNvSpPr>
                <a:spLocks noChangeArrowheads="1"/>
              </p:cNvSpPr>
              <p:nvPr/>
            </p:nvSpPr>
            <p:spPr bwMode="auto">
              <a:xfrm>
                <a:off x="4032"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12</a:t>
                </a:r>
              </a:p>
            </p:txBody>
          </p:sp>
          <p:sp>
            <p:nvSpPr>
              <p:cNvPr id="6238" name="Oval 79">
                <a:extLst>
                  <a:ext uri="{FF2B5EF4-FFF2-40B4-BE49-F238E27FC236}">
                    <a16:creationId xmlns:a16="http://schemas.microsoft.com/office/drawing/2014/main" id="{E8F61731-03A3-43F9-B3B9-C6CA2284EA18}"/>
                  </a:ext>
                </a:extLst>
              </p:cNvPr>
              <p:cNvSpPr>
                <a:spLocks noChangeArrowheads="1"/>
              </p:cNvSpPr>
              <p:nvPr/>
            </p:nvSpPr>
            <p:spPr bwMode="auto">
              <a:xfrm>
                <a:off x="713"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2</a:t>
                </a:r>
              </a:p>
            </p:txBody>
          </p:sp>
          <p:sp>
            <p:nvSpPr>
              <p:cNvPr id="6239" name="Oval 80">
                <a:extLst>
                  <a:ext uri="{FF2B5EF4-FFF2-40B4-BE49-F238E27FC236}">
                    <a16:creationId xmlns:a16="http://schemas.microsoft.com/office/drawing/2014/main" id="{9DECF855-9AC7-48C7-A3FB-4F143EB0BB75}"/>
                  </a:ext>
                </a:extLst>
              </p:cNvPr>
              <p:cNvSpPr>
                <a:spLocks noChangeArrowheads="1"/>
              </p:cNvSpPr>
              <p:nvPr/>
            </p:nvSpPr>
            <p:spPr bwMode="auto">
              <a:xfrm>
                <a:off x="2448"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7</a:t>
                </a:r>
              </a:p>
            </p:txBody>
          </p:sp>
        </p:grpSp>
        <p:sp>
          <p:nvSpPr>
            <p:cNvPr id="6193" name="Oval 81">
              <a:extLst>
                <a:ext uri="{FF2B5EF4-FFF2-40B4-BE49-F238E27FC236}">
                  <a16:creationId xmlns:a16="http://schemas.microsoft.com/office/drawing/2014/main" id="{02DFCAAF-1BFF-4003-BF95-6E769AD52594}"/>
                </a:ext>
              </a:extLst>
            </p:cNvPr>
            <p:cNvSpPr>
              <a:spLocks noChangeArrowheads="1"/>
            </p:cNvSpPr>
            <p:nvPr/>
          </p:nvSpPr>
          <p:spPr bwMode="auto">
            <a:xfrm>
              <a:off x="2211" y="1056"/>
              <a:ext cx="245" cy="259"/>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a:t>
              </a:r>
            </a:p>
          </p:txBody>
        </p:sp>
        <p:grpSp>
          <p:nvGrpSpPr>
            <p:cNvPr id="6194" name="Group 82">
              <a:extLst>
                <a:ext uri="{FF2B5EF4-FFF2-40B4-BE49-F238E27FC236}">
                  <a16:creationId xmlns:a16="http://schemas.microsoft.com/office/drawing/2014/main" id="{A6C25F11-6B71-479C-A845-EA7C0BE5D998}"/>
                </a:ext>
              </a:extLst>
            </p:cNvPr>
            <p:cNvGrpSpPr>
              <a:grpSpLocks/>
            </p:cNvGrpSpPr>
            <p:nvPr/>
          </p:nvGrpSpPr>
          <p:grpSpPr bwMode="auto">
            <a:xfrm>
              <a:off x="403" y="2957"/>
              <a:ext cx="3813" cy="259"/>
              <a:chOff x="328" y="2592"/>
              <a:chExt cx="4472" cy="288"/>
            </a:xfrm>
          </p:grpSpPr>
          <p:sp>
            <p:nvSpPr>
              <p:cNvPr id="6231" name="Oval 83">
                <a:extLst>
                  <a:ext uri="{FF2B5EF4-FFF2-40B4-BE49-F238E27FC236}">
                    <a16:creationId xmlns:a16="http://schemas.microsoft.com/office/drawing/2014/main" id="{F0C07332-F6E9-4E39-9C6F-CDA2D6B022B5}"/>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8</a:t>
                </a:r>
              </a:p>
            </p:txBody>
          </p:sp>
          <p:sp>
            <p:nvSpPr>
              <p:cNvPr id="6232" name="Oval 84">
                <a:extLst>
                  <a:ext uri="{FF2B5EF4-FFF2-40B4-BE49-F238E27FC236}">
                    <a16:creationId xmlns:a16="http://schemas.microsoft.com/office/drawing/2014/main" id="{58DE9DA3-0F96-434C-A2F4-08776BB4DB19}"/>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10</a:t>
                </a:r>
              </a:p>
            </p:txBody>
          </p:sp>
          <p:sp>
            <p:nvSpPr>
              <p:cNvPr id="6233" name="Oval 85">
                <a:extLst>
                  <a:ext uri="{FF2B5EF4-FFF2-40B4-BE49-F238E27FC236}">
                    <a16:creationId xmlns:a16="http://schemas.microsoft.com/office/drawing/2014/main" id="{24D09210-6B22-4EAC-A13B-E20A7B61FC8A}"/>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5</a:t>
                </a:r>
              </a:p>
            </p:txBody>
          </p:sp>
          <p:sp>
            <p:nvSpPr>
              <p:cNvPr id="6234" name="Oval 86">
                <a:extLst>
                  <a:ext uri="{FF2B5EF4-FFF2-40B4-BE49-F238E27FC236}">
                    <a16:creationId xmlns:a16="http://schemas.microsoft.com/office/drawing/2014/main" id="{EC5D9B65-F90E-44D0-B69D-5AD0EBDD51CC}"/>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13</a:t>
                </a:r>
              </a:p>
            </p:txBody>
          </p:sp>
          <p:sp>
            <p:nvSpPr>
              <p:cNvPr id="6235" name="Oval 87">
                <a:extLst>
                  <a:ext uri="{FF2B5EF4-FFF2-40B4-BE49-F238E27FC236}">
                    <a16:creationId xmlns:a16="http://schemas.microsoft.com/office/drawing/2014/main" id="{6037AD44-3EBB-45FF-A74F-6A9A18471AEB}"/>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3</a:t>
                </a:r>
              </a:p>
            </p:txBody>
          </p:sp>
          <p:sp>
            <p:nvSpPr>
              <p:cNvPr id="6236" name="Oval 88">
                <a:extLst>
                  <a:ext uri="{FF2B5EF4-FFF2-40B4-BE49-F238E27FC236}">
                    <a16:creationId xmlns:a16="http://schemas.microsoft.com/office/drawing/2014/main" id="{92306CF4-2660-4227-98A4-2840D05DDEF6}"/>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15</a:t>
                </a:r>
              </a:p>
            </p:txBody>
          </p:sp>
        </p:grpSp>
        <p:grpSp>
          <p:nvGrpSpPr>
            <p:cNvPr id="6195" name="Group 89">
              <a:extLst>
                <a:ext uri="{FF2B5EF4-FFF2-40B4-BE49-F238E27FC236}">
                  <a16:creationId xmlns:a16="http://schemas.microsoft.com/office/drawing/2014/main" id="{403F3685-E379-49FF-B91C-027985BD1EB9}"/>
                </a:ext>
              </a:extLst>
            </p:cNvPr>
            <p:cNvGrpSpPr>
              <a:grpSpLocks/>
            </p:cNvGrpSpPr>
            <p:nvPr/>
          </p:nvGrpSpPr>
          <p:grpSpPr bwMode="auto">
            <a:xfrm>
              <a:off x="407" y="3821"/>
              <a:ext cx="3813" cy="259"/>
              <a:chOff x="328" y="2592"/>
              <a:chExt cx="4472" cy="288"/>
            </a:xfrm>
          </p:grpSpPr>
          <p:sp>
            <p:nvSpPr>
              <p:cNvPr id="6225" name="Oval 90">
                <a:extLst>
                  <a:ext uri="{FF2B5EF4-FFF2-40B4-BE49-F238E27FC236}">
                    <a16:creationId xmlns:a16="http://schemas.microsoft.com/office/drawing/2014/main" id="{32B4BE7C-350E-40BA-8836-5E9DD8F68BE3}"/>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9</a:t>
                </a:r>
              </a:p>
            </p:txBody>
          </p:sp>
          <p:sp>
            <p:nvSpPr>
              <p:cNvPr id="6226" name="Oval 91">
                <a:extLst>
                  <a:ext uri="{FF2B5EF4-FFF2-40B4-BE49-F238E27FC236}">
                    <a16:creationId xmlns:a16="http://schemas.microsoft.com/office/drawing/2014/main" id="{6437EB44-B40D-4809-B4CF-075A7CED94C3}"/>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11</a:t>
                </a:r>
              </a:p>
            </p:txBody>
          </p:sp>
          <p:sp>
            <p:nvSpPr>
              <p:cNvPr id="6227" name="Oval 92">
                <a:extLst>
                  <a:ext uri="{FF2B5EF4-FFF2-40B4-BE49-F238E27FC236}">
                    <a16:creationId xmlns:a16="http://schemas.microsoft.com/office/drawing/2014/main" id="{9498C745-1787-4234-9C1E-E3E2843012AC}"/>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6</a:t>
                </a:r>
              </a:p>
            </p:txBody>
          </p:sp>
          <p:sp>
            <p:nvSpPr>
              <p:cNvPr id="6228" name="Oval 93">
                <a:extLst>
                  <a:ext uri="{FF2B5EF4-FFF2-40B4-BE49-F238E27FC236}">
                    <a16:creationId xmlns:a16="http://schemas.microsoft.com/office/drawing/2014/main" id="{D1619345-DEDF-4DCD-A066-1A615A04229A}"/>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14</a:t>
                </a:r>
              </a:p>
            </p:txBody>
          </p:sp>
          <p:sp>
            <p:nvSpPr>
              <p:cNvPr id="6229" name="Oval 94">
                <a:extLst>
                  <a:ext uri="{FF2B5EF4-FFF2-40B4-BE49-F238E27FC236}">
                    <a16:creationId xmlns:a16="http://schemas.microsoft.com/office/drawing/2014/main" id="{2616528C-D97A-46A1-8F07-1215E81E1EDB}"/>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4</a:t>
                </a:r>
              </a:p>
            </p:txBody>
          </p:sp>
          <p:sp>
            <p:nvSpPr>
              <p:cNvPr id="6230" name="Oval 95">
                <a:extLst>
                  <a:ext uri="{FF2B5EF4-FFF2-40B4-BE49-F238E27FC236}">
                    <a16:creationId xmlns:a16="http://schemas.microsoft.com/office/drawing/2014/main" id="{83180E7D-6735-484E-B270-D888731FEDA7}"/>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16</a:t>
                </a:r>
              </a:p>
            </p:txBody>
          </p:sp>
        </p:grpSp>
        <p:grpSp>
          <p:nvGrpSpPr>
            <p:cNvPr id="6196" name="Group 96">
              <a:extLst>
                <a:ext uri="{FF2B5EF4-FFF2-40B4-BE49-F238E27FC236}">
                  <a16:creationId xmlns:a16="http://schemas.microsoft.com/office/drawing/2014/main" id="{DC0F950D-916A-43E0-9201-6D525A0B5E92}"/>
                </a:ext>
              </a:extLst>
            </p:cNvPr>
            <p:cNvGrpSpPr>
              <a:grpSpLocks/>
            </p:cNvGrpSpPr>
            <p:nvPr/>
          </p:nvGrpSpPr>
          <p:grpSpPr bwMode="auto">
            <a:xfrm>
              <a:off x="901" y="1272"/>
              <a:ext cx="2701" cy="734"/>
              <a:chOff x="912" y="720"/>
              <a:chExt cx="3168" cy="816"/>
            </a:xfrm>
          </p:grpSpPr>
          <p:sp>
            <p:nvSpPr>
              <p:cNvPr id="6222" name="Line 97">
                <a:extLst>
                  <a:ext uri="{FF2B5EF4-FFF2-40B4-BE49-F238E27FC236}">
                    <a16:creationId xmlns:a16="http://schemas.microsoft.com/office/drawing/2014/main" id="{9CEA06E7-7B72-4C6F-8517-D298B18E0798}"/>
                  </a:ext>
                </a:extLst>
              </p:cNvPr>
              <p:cNvSpPr>
                <a:spLocks noChangeShapeType="1"/>
              </p:cNvSpPr>
              <p:nvPr/>
            </p:nvSpPr>
            <p:spPr bwMode="auto">
              <a:xfrm>
                <a:off x="2592" y="768"/>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23" name="Line 98">
                <a:extLst>
                  <a:ext uri="{FF2B5EF4-FFF2-40B4-BE49-F238E27FC236}">
                    <a16:creationId xmlns:a16="http://schemas.microsoft.com/office/drawing/2014/main" id="{87C46D29-4502-4D1A-A769-9E98D5221E8B}"/>
                  </a:ext>
                </a:extLst>
              </p:cNvPr>
              <p:cNvSpPr>
                <a:spLocks noChangeShapeType="1"/>
              </p:cNvSpPr>
              <p:nvPr/>
            </p:nvSpPr>
            <p:spPr bwMode="auto">
              <a:xfrm flipH="1">
                <a:off x="912" y="720"/>
                <a:ext cx="1536"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24" name="Line 99">
                <a:extLst>
                  <a:ext uri="{FF2B5EF4-FFF2-40B4-BE49-F238E27FC236}">
                    <a16:creationId xmlns:a16="http://schemas.microsoft.com/office/drawing/2014/main" id="{BFF18E3F-78CA-4BE8-85E6-62434A04938B}"/>
                  </a:ext>
                </a:extLst>
              </p:cNvPr>
              <p:cNvSpPr>
                <a:spLocks noChangeShapeType="1"/>
              </p:cNvSpPr>
              <p:nvPr/>
            </p:nvSpPr>
            <p:spPr bwMode="auto">
              <a:xfrm>
                <a:off x="2688" y="720"/>
                <a:ext cx="1392"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grpSp>
        <p:sp>
          <p:nvSpPr>
            <p:cNvPr id="6197" name="Line 100">
              <a:extLst>
                <a:ext uri="{FF2B5EF4-FFF2-40B4-BE49-F238E27FC236}">
                  <a16:creationId xmlns:a16="http://schemas.microsoft.com/office/drawing/2014/main" id="{C0DCD329-39FD-4107-B659-FA6D9D302868}"/>
                </a:ext>
              </a:extLst>
            </p:cNvPr>
            <p:cNvSpPr>
              <a:spLocks noChangeShapeType="1"/>
            </p:cNvSpPr>
            <p:nvPr/>
          </p:nvSpPr>
          <p:spPr bwMode="auto">
            <a:xfrm flipH="1">
              <a:off x="532" y="2266"/>
              <a:ext cx="246" cy="6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198" name="Line 101">
              <a:extLst>
                <a:ext uri="{FF2B5EF4-FFF2-40B4-BE49-F238E27FC236}">
                  <a16:creationId xmlns:a16="http://schemas.microsoft.com/office/drawing/2014/main" id="{1DFC9F0F-7D59-4F4E-AA79-5C42831918AC}"/>
                </a:ext>
              </a:extLst>
            </p:cNvPr>
            <p:cNvSpPr>
              <a:spLocks noChangeShapeType="1"/>
            </p:cNvSpPr>
            <p:nvPr/>
          </p:nvSpPr>
          <p:spPr bwMode="auto">
            <a:xfrm>
              <a:off x="901" y="2266"/>
              <a:ext cx="286" cy="6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199" name="Line 102">
              <a:extLst>
                <a:ext uri="{FF2B5EF4-FFF2-40B4-BE49-F238E27FC236}">
                  <a16:creationId xmlns:a16="http://schemas.microsoft.com/office/drawing/2014/main" id="{3B41D63A-0D60-4A07-9104-4F7BDC35DFD6}"/>
                </a:ext>
              </a:extLst>
            </p:cNvPr>
            <p:cNvSpPr>
              <a:spLocks noChangeShapeType="1"/>
            </p:cNvSpPr>
            <p:nvPr/>
          </p:nvSpPr>
          <p:spPr bwMode="auto">
            <a:xfrm flipH="1">
              <a:off x="1965" y="2222"/>
              <a:ext cx="286" cy="7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0" name="Line 103">
              <a:extLst>
                <a:ext uri="{FF2B5EF4-FFF2-40B4-BE49-F238E27FC236}">
                  <a16:creationId xmlns:a16="http://schemas.microsoft.com/office/drawing/2014/main" id="{EB27F657-9C8A-4731-B6FA-EDB9FDC7893E}"/>
                </a:ext>
              </a:extLst>
            </p:cNvPr>
            <p:cNvSpPr>
              <a:spLocks noChangeShapeType="1"/>
            </p:cNvSpPr>
            <p:nvPr/>
          </p:nvSpPr>
          <p:spPr bwMode="auto">
            <a:xfrm>
              <a:off x="2415" y="2222"/>
              <a:ext cx="328" cy="7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1" name="Line 104">
              <a:extLst>
                <a:ext uri="{FF2B5EF4-FFF2-40B4-BE49-F238E27FC236}">
                  <a16:creationId xmlns:a16="http://schemas.microsoft.com/office/drawing/2014/main" id="{CD1D1884-5ED3-4B83-9B30-5BB2A478AFEC}"/>
                </a:ext>
              </a:extLst>
            </p:cNvPr>
            <p:cNvSpPr>
              <a:spLocks noChangeShapeType="1"/>
            </p:cNvSpPr>
            <p:nvPr/>
          </p:nvSpPr>
          <p:spPr bwMode="auto">
            <a:xfrm flipH="1">
              <a:off x="3479" y="2266"/>
              <a:ext cx="164" cy="6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2" name="Line 105">
              <a:extLst>
                <a:ext uri="{FF2B5EF4-FFF2-40B4-BE49-F238E27FC236}">
                  <a16:creationId xmlns:a16="http://schemas.microsoft.com/office/drawing/2014/main" id="{A8FC4FE6-5754-450A-83F7-77298B99B1A3}"/>
                </a:ext>
              </a:extLst>
            </p:cNvPr>
            <p:cNvSpPr>
              <a:spLocks noChangeShapeType="1"/>
            </p:cNvSpPr>
            <p:nvPr/>
          </p:nvSpPr>
          <p:spPr bwMode="auto">
            <a:xfrm>
              <a:off x="3766" y="2222"/>
              <a:ext cx="287" cy="7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3" name="Line 106">
              <a:extLst>
                <a:ext uri="{FF2B5EF4-FFF2-40B4-BE49-F238E27FC236}">
                  <a16:creationId xmlns:a16="http://schemas.microsoft.com/office/drawing/2014/main" id="{E15EEB2C-4A38-4765-AD97-9CFED8EB792E}"/>
                </a:ext>
              </a:extLst>
            </p:cNvPr>
            <p:cNvSpPr>
              <a:spLocks noChangeShapeType="1"/>
            </p:cNvSpPr>
            <p:nvPr/>
          </p:nvSpPr>
          <p:spPr bwMode="auto">
            <a:xfrm>
              <a:off x="532"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4" name="Line 107">
              <a:extLst>
                <a:ext uri="{FF2B5EF4-FFF2-40B4-BE49-F238E27FC236}">
                  <a16:creationId xmlns:a16="http://schemas.microsoft.com/office/drawing/2014/main" id="{AF6C0511-639B-4425-84C3-4B5C542D3D0D}"/>
                </a:ext>
              </a:extLst>
            </p:cNvPr>
            <p:cNvSpPr>
              <a:spLocks noChangeShapeType="1"/>
            </p:cNvSpPr>
            <p:nvPr/>
          </p:nvSpPr>
          <p:spPr bwMode="auto">
            <a:xfrm>
              <a:off x="1187"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5" name="Line 108">
              <a:extLst>
                <a:ext uri="{FF2B5EF4-FFF2-40B4-BE49-F238E27FC236}">
                  <a16:creationId xmlns:a16="http://schemas.microsoft.com/office/drawing/2014/main" id="{1AC2D124-F223-434E-8BE3-86AEAFDFCF73}"/>
                </a:ext>
              </a:extLst>
            </p:cNvPr>
            <p:cNvSpPr>
              <a:spLocks noChangeShapeType="1"/>
            </p:cNvSpPr>
            <p:nvPr/>
          </p:nvSpPr>
          <p:spPr bwMode="auto">
            <a:xfrm>
              <a:off x="1965"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6" name="Line 109">
              <a:extLst>
                <a:ext uri="{FF2B5EF4-FFF2-40B4-BE49-F238E27FC236}">
                  <a16:creationId xmlns:a16="http://schemas.microsoft.com/office/drawing/2014/main" id="{353CFA78-662A-446F-97F2-51C2CC544A4F}"/>
                </a:ext>
              </a:extLst>
            </p:cNvPr>
            <p:cNvSpPr>
              <a:spLocks noChangeShapeType="1"/>
            </p:cNvSpPr>
            <p:nvPr/>
          </p:nvSpPr>
          <p:spPr bwMode="auto">
            <a:xfrm>
              <a:off x="2743"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7" name="Line 110">
              <a:extLst>
                <a:ext uri="{FF2B5EF4-FFF2-40B4-BE49-F238E27FC236}">
                  <a16:creationId xmlns:a16="http://schemas.microsoft.com/office/drawing/2014/main" id="{B98C4760-5860-4452-A7FB-553A1D61376C}"/>
                </a:ext>
              </a:extLst>
            </p:cNvPr>
            <p:cNvSpPr>
              <a:spLocks noChangeShapeType="1"/>
            </p:cNvSpPr>
            <p:nvPr/>
          </p:nvSpPr>
          <p:spPr bwMode="auto">
            <a:xfrm>
              <a:off x="3439"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8" name="Line 111">
              <a:extLst>
                <a:ext uri="{FF2B5EF4-FFF2-40B4-BE49-F238E27FC236}">
                  <a16:creationId xmlns:a16="http://schemas.microsoft.com/office/drawing/2014/main" id="{7D11EA54-EE5C-4A6C-9E42-5594D0B0B318}"/>
                </a:ext>
              </a:extLst>
            </p:cNvPr>
            <p:cNvSpPr>
              <a:spLocks noChangeShapeType="1"/>
            </p:cNvSpPr>
            <p:nvPr/>
          </p:nvSpPr>
          <p:spPr bwMode="auto">
            <a:xfrm>
              <a:off x="4093" y="3216"/>
              <a:ext cx="0" cy="6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6209" name="Text Box 112">
              <a:extLst>
                <a:ext uri="{FF2B5EF4-FFF2-40B4-BE49-F238E27FC236}">
                  <a16:creationId xmlns:a16="http://schemas.microsoft.com/office/drawing/2014/main" id="{30D5B037-F967-44FA-9E72-9F11E4BF62A4}"/>
                </a:ext>
              </a:extLst>
            </p:cNvPr>
            <p:cNvSpPr txBox="1">
              <a:spLocks noChangeArrowheads="1"/>
            </p:cNvSpPr>
            <p:nvPr/>
          </p:nvSpPr>
          <p:spPr bwMode="auto">
            <a:xfrm>
              <a:off x="905" y="148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2</a:t>
              </a:r>
              <a:r>
                <a:rPr lang="en-US" altLang="zh-CN" dirty="0">
                  <a:solidFill>
                    <a:schemeClr val="tx2"/>
                  </a:solidFill>
                  <a:ea typeface="华文中宋" panose="02010600040101010101" pitchFamily="2" charset="-122"/>
                </a:rPr>
                <a:t>=2</a:t>
              </a:r>
            </a:p>
          </p:txBody>
        </p:sp>
        <p:sp>
          <p:nvSpPr>
            <p:cNvPr id="6210" name="Text Box 113">
              <a:extLst>
                <a:ext uri="{FF2B5EF4-FFF2-40B4-BE49-F238E27FC236}">
                  <a16:creationId xmlns:a16="http://schemas.microsoft.com/office/drawing/2014/main" id="{FEB5DCAC-08A9-449B-AB81-764754AD86BA}"/>
                </a:ext>
              </a:extLst>
            </p:cNvPr>
            <p:cNvSpPr txBox="1">
              <a:spLocks noChangeArrowheads="1"/>
            </p:cNvSpPr>
            <p:nvPr/>
          </p:nvSpPr>
          <p:spPr bwMode="auto">
            <a:xfrm>
              <a:off x="3182" y="148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2</a:t>
              </a:r>
              <a:r>
                <a:rPr lang="en-US" altLang="zh-CN" dirty="0">
                  <a:solidFill>
                    <a:schemeClr val="tx2"/>
                  </a:solidFill>
                  <a:ea typeface="华文中宋" panose="02010600040101010101" pitchFamily="2" charset="-122"/>
                </a:rPr>
                <a:t>=4</a:t>
              </a:r>
            </a:p>
          </p:txBody>
        </p:sp>
        <p:sp>
          <p:nvSpPr>
            <p:cNvPr id="6211" name="Text Box 114">
              <a:extLst>
                <a:ext uri="{FF2B5EF4-FFF2-40B4-BE49-F238E27FC236}">
                  <a16:creationId xmlns:a16="http://schemas.microsoft.com/office/drawing/2014/main" id="{7B319497-9E40-43C7-8D82-A52B86EA113E}"/>
                </a:ext>
              </a:extLst>
            </p:cNvPr>
            <p:cNvSpPr txBox="1">
              <a:spLocks noChangeArrowheads="1"/>
            </p:cNvSpPr>
            <p:nvPr/>
          </p:nvSpPr>
          <p:spPr bwMode="auto">
            <a:xfrm>
              <a:off x="1872" y="148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2</a:t>
              </a:r>
              <a:r>
                <a:rPr lang="en-US" altLang="zh-CN" dirty="0">
                  <a:solidFill>
                    <a:schemeClr val="tx2"/>
                  </a:solidFill>
                  <a:ea typeface="华文中宋" panose="02010600040101010101" pitchFamily="2" charset="-122"/>
                </a:rPr>
                <a:t>=3</a:t>
              </a:r>
            </a:p>
          </p:txBody>
        </p:sp>
        <p:sp>
          <p:nvSpPr>
            <p:cNvPr id="6212" name="Text Box 115">
              <a:extLst>
                <a:ext uri="{FF2B5EF4-FFF2-40B4-BE49-F238E27FC236}">
                  <a16:creationId xmlns:a16="http://schemas.microsoft.com/office/drawing/2014/main" id="{A6734D0B-A7B1-4A4D-A3A7-070750DDD08F}"/>
                </a:ext>
              </a:extLst>
            </p:cNvPr>
            <p:cNvSpPr txBox="1">
              <a:spLocks noChangeArrowheads="1"/>
            </p:cNvSpPr>
            <p:nvPr/>
          </p:nvSpPr>
          <p:spPr bwMode="auto">
            <a:xfrm>
              <a:off x="161"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=3</a:t>
              </a:r>
            </a:p>
          </p:txBody>
        </p:sp>
        <p:sp>
          <p:nvSpPr>
            <p:cNvPr id="6213" name="Text Box 116">
              <a:extLst>
                <a:ext uri="{FF2B5EF4-FFF2-40B4-BE49-F238E27FC236}">
                  <a16:creationId xmlns:a16="http://schemas.microsoft.com/office/drawing/2014/main" id="{6B585982-518D-4146-8F0A-CBE9A1A1B450}"/>
                </a:ext>
              </a:extLst>
            </p:cNvPr>
            <p:cNvSpPr txBox="1">
              <a:spLocks noChangeArrowheads="1"/>
            </p:cNvSpPr>
            <p:nvPr/>
          </p:nvSpPr>
          <p:spPr bwMode="auto">
            <a:xfrm>
              <a:off x="1024"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=4</a:t>
              </a:r>
            </a:p>
          </p:txBody>
        </p:sp>
        <p:sp>
          <p:nvSpPr>
            <p:cNvPr id="6214" name="Text Box 117">
              <a:extLst>
                <a:ext uri="{FF2B5EF4-FFF2-40B4-BE49-F238E27FC236}">
                  <a16:creationId xmlns:a16="http://schemas.microsoft.com/office/drawing/2014/main" id="{94BDE0CD-6897-4039-8812-F37A4131EB7E}"/>
                </a:ext>
              </a:extLst>
            </p:cNvPr>
            <p:cNvSpPr txBox="1">
              <a:spLocks noChangeArrowheads="1"/>
            </p:cNvSpPr>
            <p:nvPr/>
          </p:nvSpPr>
          <p:spPr bwMode="auto">
            <a:xfrm>
              <a:off x="1609"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=2</a:t>
              </a:r>
            </a:p>
          </p:txBody>
        </p:sp>
        <p:sp>
          <p:nvSpPr>
            <p:cNvPr id="6215" name="Text Box 118">
              <a:extLst>
                <a:ext uri="{FF2B5EF4-FFF2-40B4-BE49-F238E27FC236}">
                  <a16:creationId xmlns:a16="http://schemas.microsoft.com/office/drawing/2014/main" id="{82A54550-4CDB-4704-B7E5-06202AF7C08B}"/>
                </a:ext>
              </a:extLst>
            </p:cNvPr>
            <p:cNvSpPr txBox="1">
              <a:spLocks noChangeArrowheads="1"/>
            </p:cNvSpPr>
            <p:nvPr/>
          </p:nvSpPr>
          <p:spPr bwMode="auto">
            <a:xfrm>
              <a:off x="2563"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=4</a:t>
              </a:r>
            </a:p>
          </p:txBody>
        </p:sp>
        <p:sp>
          <p:nvSpPr>
            <p:cNvPr id="6216" name="Text Box 119">
              <a:extLst>
                <a:ext uri="{FF2B5EF4-FFF2-40B4-BE49-F238E27FC236}">
                  <a16:creationId xmlns:a16="http://schemas.microsoft.com/office/drawing/2014/main" id="{793B365E-988B-4E1D-8F8C-9B30FB6AE7D5}"/>
                </a:ext>
              </a:extLst>
            </p:cNvPr>
            <p:cNvSpPr txBox="1">
              <a:spLocks noChangeArrowheads="1"/>
            </p:cNvSpPr>
            <p:nvPr/>
          </p:nvSpPr>
          <p:spPr bwMode="auto">
            <a:xfrm>
              <a:off x="3084"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=2</a:t>
              </a:r>
            </a:p>
          </p:txBody>
        </p:sp>
        <p:sp>
          <p:nvSpPr>
            <p:cNvPr id="6217" name="Text Box 120">
              <a:extLst>
                <a:ext uri="{FF2B5EF4-FFF2-40B4-BE49-F238E27FC236}">
                  <a16:creationId xmlns:a16="http://schemas.microsoft.com/office/drawing/2014/main" id="{EA1A8784-F1DB-4BD1-89C2-6C2E5BB371ED}"/>
                </a:ext>
              </a:extLst>
            </p:cNvPr>
            <p:cNvSpPr txBox="1">
              <a:spLocks noChangeArrowheads="1"/>
            </p:cNvSpPr>
            <p:nvPr/>
          </p:nvSpPr>
          <p:spPr bwMode="auto">
            <a:xfrm>
              <a:off x="3930" y="2438"/>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r>
                <a:rPr lang="en-US" altLang="zh-CN" dirty="0">
                  <a:solidFill>
                    <a:schemeClr val="tx2"/>
                  </a:solidFill>
                  <a:ea typeface="华文中宋" panose="02010600040101010101" pitchFamily="2" charset="-122"/>
                </a:rPr>
                <a:t>=3</a:t>
              </a:r>
            </a:p>
          </p:txBody>
        </p:sp>
        <p:sp>
          <p:nvSpPr>
            <p:cNvPr id="6218" name="Text Box 122">
              <a:extLst>
                <a:ext uri="{FF2B5EF4-FFF2-40B4-BE49-F238E27FC236}">
                  <a16:creationId xmlns:a16="http://schemas.microsoft.com/office/drawing/2014/main" id="{24FBD8ED-7B8C-4300-B8F1-8551F7FBB707}"/>
                </a:ext>
              </a:extLst>
            </p:cNvPr>
            <p:cNvSpPr txBox="1">
              <a:spLocks noChangeArrowheads="1"/>
            </p:cNvSpPr>
            <p:nvPr/>
          </p:nvSpPr>
          <p:spPr bwMode="auto">
            <a:xfrm>
              <a:off x="672" y="3346"/>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=3</a:t>
              </a:r>
            </a:p>
          </p:txBody>
        </p:sp>
        <p:sp>
          <p:nvSpPr>
            <p:cNvPr id="6219" name="Text Box 123">
              <a:extLst>
                <a:ext uri="{FF2B5EF4-FFF2-40B4-BE49-F238E27FC236}">
                  <a16:creationId xmlns:a16="http://schemas.microsoft.com/office/drawing/2014/main" id="{9F93DEDA-6EA8-4DAC-9A5F-7B74374A2588}"/>
                </a:ext>
              </a:extLst>
            </p:cNvPr>
            <p:cNvSpPr txBox="1">
              <a:spLocks noChangeArrowheads="1"/>
            </p:cNvSpPr>
            <p:nvPr/>
          </p:nvSpPr>
          <p:spPr bwMode="auto">
            <a:xfrm>
              <a:off x="1488" y="3346"/>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=4</a:t>
              </a:r>
            </a:p>
          </p:txBody>
        </p:sp>
        <p:sp>
          <p:nvSpPr>
            <p:cNvPr id="6220" name="Text Box 124">
              <a:extLst>
                <a:ext uri="{FF2B5EF4-FFF2-40B4-BE49-F238E27FC236}">
                  <a16:creationId xmlns:a16="http://schemas.microsoft.com/office/drawing/2014/main" id="{2CCE2C09-DAD2-49A4-BE30-6901039EE132}"/>
                </a:ext>
              </a:extLst>
            </p:cNvPr>
            <p:cNvSpPr txBox="1">
              <a:spLocks noChangeArrowheads="1"/>
            </p:cNvSpPr>
            <p:nvPr/>
          </p:nvSpPr>
          <p:spPr bwMode="auto">
            <a:xfrm>
              <a:off x="2256" y="3346"/>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=2</a:t>
              </a:r>
            </a:p>
          </p:txBody>
        </p:sp>
        <p:sp>
          <p:nvSpPr>
            <p:cNvPr id="6221" name="Text Box 125">
              <a:extLst>
                <a:ext uri="{FF2B5EF4-FFF2-40B4-BE49-F238E27FC236}">
                  <a16:creationId xmlns:a16="http://schemas.microsoft.com/office/drawing/2014/main" id="{460A34F5-9971-49F5-AE63-2C0DDE4EC441}"/>
                </a:ext>
              </a:extLst>
            </p:cNvPr>
            <p:cNvSpPr txBox="1">
              <a:spLocks noChangeArrowheads="1"/>
            </p:cNvSpPr>
            <p:nvPr/>
          </p:nvSpPr>
          <p:spPr bwMode="auto">
            <a:xfrm>
              <a:off x="2976" y="3346"/>
              <a:ext cx="6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=3</a:t>
              </a:r>
            </a:p>
          </p:txBody>
        </p:sp>
      </p:grpSp>
      <p:sp>
        <p:nvSpPr>
          <p:cNvPr id="6150" name="Text Box 126">
            <a:extLst>
              <a:ext uri="{FF2B5EF4-FFF2-40B4-BE49-F238E27FC236}">
                <a16:creationId xmlns:a16="http://schemas.microsoft.com/office/drawing/2014/main" id="{BE7A7522-E6CA-437D-ADBF-C09E65B30DB4}"/>
              </a:ext>
            </a:extLst>
          </p:cNvPr>
          <p:cNvSpPr txBox="1">
            <a:spLocks noChangeArrowheads="1"/>
          </p:cNvSpPr>
          <p:nvPr/>
        </p:nvSpPr>
        <p:spPr bwMode="auto">
          <a:xfrm>
            <a:off x="6492875" y="5311775"/>
            <a:ext cx="974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r>
              <a:rPr lang="en-US" altLang="zh-CN" dirty="0">
                <a:solidFill>
                  <a:schemeClr val="tx2"/>
                </a:solidFill>
                <a:ea typeface="华文中宋" panose="02010600040101010101" pitchFamily="2" charset="-122"/>
              </a:rPr>
              <a:t>=2</a:t>
            </a:r>
          </a:p>
        </p:txBody>
      </p:sp>
      <p:sp>
        <p:nvSpPr>
          <p:cNvPr id="6151" name="Line 127">
            <a:extLst>
              <a:ext uri="{FF2B5EF4-FFF2-40B4-BE49-F238E27FC236}">
                <a16:creationId xmlns:a16="http://schemas.microsoft.com/office/drawing/2014/main" id="{C50054D7-CA42-48AB-9544-E338D96550AC}"/>
              </a:ext>
            </a:extLst>
          </p:cNvPr>
          <p:cNvSpPr>
            <a:spLocks noChangeShapeType="1"/>
          </p:cNvSpPr>
          <p:nvPr/>
        </p:nvSpPr>
        <p:spPr bwMode="auto">
          <a:xfrm flipH="1">
            <a:off x="4610100" y="1219200"/>
            <a:ext cx="60960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152" name="Text Box 128">
            <a:extLst>
              <a:ext uri="{FF2B5EF4-FFF2-40B4-BE49-F238E27FC236}">
                <a16:creationId xmlns:a16="http://schemas.microsoft.com/office/drawing/2014/main" id="{B75F267F-ED87-43C2-A5FF-C67102E5C4F3}"/>
              </a:ext>
            </a:extLst>
          </p:cNvPr>
          <p:cNvSpPr txBox="1">
            <a:spLocks noChangeArrowheads="1"/>
          </p:cNvSpPr>
          <p:nvPr/>
        </p:nvSpPr>
        <p:spPr bwMode="auto">
          <a:xfrm>
            <a:off x="4229100" y="11430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1</a:t>
            </a:r>
            <a:r>
              <a:rPr lang="en-US" altLang="zh-CN" dirty="0">
                <a:solidFill>
                  <a:schemeClr val="tx2"/>
                </a:solidFill>
                <a:ea typeface="华文中宋" panose="02010600040101010101" pitchFamily="2" charset="-122"/>
              </a:rPr>
              <a:t>=1</a:t>
            </a:r>
          </a:p>
        </p:txBody>
      </p:sp>
      <p:sp>
        <p:nvSpPr>
          <p:cNvPr id="6153" name="Text Box 129">
            <a:extLst>
              <a:ext uri="{FF2B5EF4-FFF2-40B4-BE49-F238E27FC236}">
                <a16:creationId xmlns:a16="http://schemas.microsoft.com/office/drawing/2014/main" id="{97CD80C0-DE20-4706-A057-7A55C4F8466C}"/>
              </a:ext>
            </a:extLst>
          </p:cNvPr>
          <p:cNvSpPr txBox="1">
            <a:spLocks noChangeArrowheads="1"/>
          </p:cNvSpPr>
          <p:nvPr/>
        </p:nvSpPr>
        <p:spPr bwMode="auto">
          <a:xfrm>
            <a:off x="5000625" y="12858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1</a:t>
            </a:r>
            <a:r>
              <a:rPr lang="en-US" altLang="zh-CN" dirty="0">
                <a:solidFill>
                  <a:schemeClr val="tx2"/>
                </a:solidFill>
                <a:ea typeface="华文中宋" panose="02010600040101010101" pitchFamily="2" charset="-122"/>
              </a:rPr>
              <a:t>=2</a:t>
            </a:r>
          </a:p>
        </p:txBody>
      </p:sp>
      <p:sp>
        <p:nvSpPr>
          <p:cNvPr id="6154" name="Text Box 130">
            <a:extLst>
              <a:ext uri="{FF2B5EF4-FFF2-40B4-BE49-F238E27FC236}">
                <a16:creationId xmlns:a16="http://schemas.microsoft.com/office/drawing/2014/main" id="{C0981B71-14F9-477C-9EA9-F72F79B1E968}"/>
              </a:ext>
            </a:extLst>
          </p:cNvPr>
          <p:cNvSpPr txBox="1">
            <a:spLocks noChangeArrowheads="1"/>
          </p:cNvSpPr>
          <p:nvPr/>
        </p:nvSpPr>
        <p:spPr bwMode="auto">
          <a:xfrm>
            <a:off x="5786438" y="1357313"/>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1</a:t>
            </a:r>
            <a:r>
              <a:rPr lang="en-US" altLang="zh-CN" dirty="0">
                <a:solidFill>
                  <a:schemeClr val="tx2"/>
                </a:solidFill>
                <a:ea typeface="华文中宋" panose="02010600040101010101" pitchFamily="2" charset="-122"/>
              </a:rPr>
              <a:t>=3</a:t>
            </a:r>
          </a:p>
        </p:txBody>
      </p:sp>
      <p:sp>
        <p:nvSpPr>
          <p:cNvPr id="6155" name="Text Box 131">
            <a:extLst>
              <a:ext uri="{FF2B5EF4-FFF2-40B4-BE49-F238E27FC236}">
                <a16:creationId xmlns:a16="http://schemas.microsoft.com/office/drawing/2014/main" id="{8B0EE339-8FFD-47E8-AD6A-FE732098C070}"/>
              </a:ext>
            </a:extLst>
          </p:cNvPr>
          <p:cNvSpPr txBox="1">
            <a:spLocks noChangeArrowheads="1"/>
          </p:cNvSpPr>
          <p:nvPr/>
        </p:nvSpPr>
        <p:spPr bwMode="auto">
          <a:xfrm>
            <a:off x="7019925" y="12573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1</a:t>
            </a:r>
            <a:r>
              <a:rPr lang="en-US" altLang="zh-CN" dirty="0">
                <a:solidFill>
                  <a:schemeClr val="tx2"/>
                </a:solidFill>
                <a:ea typeface="华文中宋" panose="02010600040101010101" pitchFamily="2" charset="-122"/>
              </a:rPr>
              <a:t>=4</a:t>
            </a:r>
          </a:p>
        </p:txBody>
      </p:sp>
      <p:sp>
        <p:nvSpPr>
          <p:cNvPr id="6156" name="Line 132">
            <a:extLst>
              <a:ext uri="{FF2B5EF4-FFF2-40B4-BE49-F238E27FC236}">
                <a16:creationId xmlns:a16="http://schemas.microsoft.com/office/drawing/2014/main" id="{333E1314-A016-4929-914B-2395958779A9}"/>
              </a:ext>
            </a:extLst>
          </p:cNvPr>
          <p:cNvSpPr>
            <a:spLocks noChangeShapeType="1"/>
          </p:cNvSpPr>
          <p:nvPr/>
        </p:nvSpPr>
        <p:spPr bwMode="auto">
          <a:xfrm>
            <a:off x="5448300" y="1219200"/>
            <a:ext cx="481013" cy="5667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157" name="Line 133">
            <a:extLst>
              <a:ext uri="{FF2B5EF4-FFF2-40B4-BE49-F238E27FC236}">
                <a16:creationId xmlns:a16="http://schemas.microsoft.com/office/drawing/2014/main" id="{7ADCFA28-F82C-4AE8-A5A0-73AD331F691E}"/>
              </a:ext>
            </a:extLst>
          </p:cNvPr>
          <p:cNvSpPr>
            <a:spLocks noChangeShapeType="1"/>
          </p:cNvSpPr>
          <p:nvPr/>
        </p:nvSpPr>
        <p:spPr bwMode="auto">
          <a:xfrm>
            <a:off x="5476875" y="1190625"/>
            <a:ext cx="1238250" cy="6667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158" name="Line 134">
            <a:extLst>
              <a:ext uri="{FF2B5EF4-FFF2-40B4-BE49-F238E27FC236}">
                <a16:creationId xmlns:a16="http://schemas.microsoft.com/office/drawing/2014/main" id="{2A67869A-E686-49DD-82F0-0AA5FB7816EE}"/>
              </a:ext>
            </a:extLst>
          </p:cNvPr>
          <p:cNvSpPr>
            <a:spLocks noChangeShapeType="1"/>
          </p:cNvSpPr>
          <p:nvPr/>
        </p:nvSpPr>
        <p:spPr bwMode="auto">
          <a:xfrm>
            <a:off x="5524500" y="1143000"/>
            <a:ext cx="2119313" cy="7858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graphicFrame>
        <p:nvGraphicFramePr>
          <p:cNvPr id="63" name="Group 37">
            <a:extLst>
              <a:ext uri="{FF2B5EF4-FFF2-40B4-BE49-F238E27FC236}">
                <a16:creationId xmlns:a16="http://schemas.microsoft.com/office/drawing/2014/main" id="{ECC138AF-BFD9-4ACE-B089-38C72647FFD7}"/>
              </a:ext>
            </a:extLst>
          </p:cNvPr>
          <p:cNvGraphicFramePr>
            <a:graphicFrameLocks noGrp="1"/>
          </p:cNvGraphicFramePr>
          <p:nvPr/>
        </p:nvGraphicFramePr>
        <p:xfrm>
          <a:off x="785813" y="558800"/>
          <a:ext cx="1714500" cy="1584704"/>
        </p:xfrm>
        <a:graphic>
          <a:graphicData uri="http://schemas.openxmlformats.org/drawingml/2006/table">
            <a:tbl>
              <a:tblPr/>
              <a:tblGrid>
                <a:gridCol w="428625">
                  <a:extLst>
                    <a:ext uri="{9D8B030D-6E8A-4147-A177-3AD203B41FA5}">
                      <a16:colId xmlns:a16="http://schemas.microsoft.com/office/drawing/2014/main" val="20000"/>
                    </a:ext>
                  </a:extLst>
                </a:gridCol>
                <a:gridCol w="428625">
                  <a:extLst>
                    <a:ext uri="{9D8B030D-6E8A-4147-A177-3AD203B41FA5}">
                      <a16:colId xmlns:a16="http://schemas.microsoft.com/office/drawing/2014/main" val="20001"/>
                    </a:ext>
                  </a:extLst>
                </a:gridCol>
                <a:gridCol w="428625">
                  <a:extLst>
                    <a:ext uri="{9D8B030D-6E8A-4147-A177-3AD203B41FA5}">
                      <a16:colId xmlns:a16="http://schemas.microsoft.com/office/drawing/2014/main" val="20002"/>
                    </a:ext>
                  </a:extLst>
                </a:gridCol>
                <a:gridCol w="428625">
                  <a:extLst>
                    <a:ext uri="{9D8B030D-6E8A-4147-A177-3AD203B41FA5}">
                      <a16:colId xmlns:a16="http://schemas.microsoft.com/office/drawing/2014/main" val="20003"/>
                    </a:ext>
                  </a:extLst>
                </a:gridCol>
              </a:tblGrid>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华文中宋" panose="02010600040101010101" pitchFamily="2" charset="-122"/>
                      </a:endParaRPr>
                    </a:p>
                  </a:txBody>
                  <a:tcPr marL="91439" marR="91439"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186" name="Oval 64">
            <a:extLst>
              <a:ext uri="{FF2B5EF4-FFF2-40B4-BE49-F238E27FC236}">
                <a16:creationId xmlns:a16="http://schemas.microsoft.com/office/drawing/2014/main" id="{8ADFB8C8-4FB7-481B-B215-3FBB78189E11}"/>
              </a:ext>
            </a:extLst>
          </p:cNvPr>
          <p:cNvSpPr>
            <a:spLocks noChangeArrowheads="1"/>
          </p:cNvSpPr>
          <p:nvPr/>
        </p:nvSpPr>
        <p:spPr bwMode="auto">
          <a:xfrm>
            <a:off x="1343025" y="628650"/>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187" name="Oval 65">
            <a:extLst>
              <a:ext uri="{FF2B5EF4-FFF2-40B4-BE49-F238E27FC236}">
                <a16:creationId xmlns:a16="http://schemas.microsoft.com/office/drawing/2014/main" id="{A3AC3E48-E481-483D-B60C-73A8F4DA6AD2}"/>
              </a:ext>
            </a:extLst>
          </p:cNvPr>
          <p:cNvSpPr>
            <a:spLocks noChangeArrowheads="1"/>
          </p:cNvSpPr>
          <p:nvPr/>
        </p:nvSpPr>
        <p:spPr bwMode="auto">
          <a:xfrm>
            <a:off x="2184400" y="1031875"/>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188" name="Oval 66">
            <a:extLst>
              <a:ext uri="{FF2B5EF4-FFF2-40B4-BE49-F238E27FC236}">
                <a16:creationId xmlns:a16="http://schemas.microsoft.com/office/drawing/2014/main" id="{0C7917E7-4C97-4DAC-B2FE-9F0889A49B9D}"/>
              </a:ext>
            </a:extLst>
          </p:cNvPr>
          <p:cNvSpPr>
            <a:spLocks noChangeArrowheads="1"/>
          </p:cNvSpPr>
          <p:nvPr/>
        </p:nvSpPr>
        <p:spPr bwMode="auto">
          <a:xfrm>
            <a:off x="914400" y="1406525"/>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189" name="Oval 67">
            <a:extLst>
              <a:ext uri="{FF2B5EF4-FFF2-40B4-BE49-F238E27FC236}">
                <a16:creationId xmlns:a16="http://schemas.microsoft.com/office/drawing/2014/main" id="{B9363E8E-51F2-4E2A-9C9F-6D34E1141BDD}"/>
              </a:ext>
            </a:extLst>
          </p:cNvPr>
          <p:cNvSpPr>
            <a:spLocks noChangeArrowheads="1"/>
          </p:cNvSpPr>
          <p:nvPr/>
        </p:nvSpPr>
        <p:spPr bwMode="auto">
          <a:xfrm>
            <a:off x="1739900" y="1795463"/>
            <a:ext cx="228600" cy="228600"/>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190" name="TextBox 67">
            <a:extLst>
              <a:ext uri="{FF2B5EF4-FFF2-40B4-BE49-F238E27FC236}">
                <a16:creationId xmlns:a16="http://schemas.microsoft.com/office/drawing/2014/main" id="{9AFD64C8-D80B-4C23-A2A7-7584B10D092D}"/>
              </a:ext>
            </a:extLst>
          </p:cNvPr>
          <p:cNvSpPr txBox="1">
            <a:spLocks noChangeArrowheads="1"/>
          </p:cNvSpPr>
          <p:nvPr/>
        </p:nvSpPr>
        <p:spPr bwMode="auto">
          <a:xfrm>
            <a:off x="857250" y="71438"/>
            <a:ext cx="1857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ea typeface="华文中宋" panose="02010600040101010101" pitchFamily="2" charset="-122"/>
              </a:rPr>
              <a:t>1    2   3    4</a:t>
            </a:r>
            <a:endParaRPr lang="zh-CN" altLang="en-US" dirty="0">
              <a:ea typeface="华文中宋" panose="02010600040101010101" pitchFamily="2" charset="-122"/>
            </a:endParaRPr>
          </a:p>
        </p:txBody>
      </p:sp>
      <p:sp>
        <p:nvSpPr>
          <p:cNvPr id="6191" name="TextBox 68">
            <a:extLst>
              <a:ext uri="{FF2B5EF4-FFF2-40B4-BE49-F238E27FC236}">
                <a16:creationId xmlns:a16="http://schemas.microsoft.com/office/drawing/2014/main" id="{9415D8AE-01DD-4D49-9D70-AC6F1C77A1D2}"/>
              </a:ext>
            </a:extLst>
          </p:cNvPr>
          <p:cNvSpPr txBox="1">
            <a:spLocks noChangeArrowheads="1"/>
          </p:cNvSpPr>
          <p:nvPr/>
        </p:nvSpPr>
        <p:spPr bwMode="auto">
          <a:xfrm>
            <a:off x="214313" y="500063"/>
            <a:ext cx="5715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1</a:t>
            </a:r>
          </a:p>
          <a:p>
            <a:pPr eaLnBrk="1" hangingPunct="1"/>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2</a:t>
            </a:r>
          </a:p>
          <a:p>
            <a:pPr eaLnBrk="1" hangingPunct="1"/>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3</a:t>
            </a:r>
          </a:p>
          <a:p>
            <a:pPr eaLnBrk="1" hangingPunct="1"/>
            <a:r>
              <a:rPr lang="en-US" altLang="zh-CN" dirty="0">
                <a:solidFill>
                  <a:schemeClr val="tx2"/>
                </a:solidFill>
                <a:ea typeface="华文中宋" panose="02010600040101010101" pitchFamily="2" charset="-122"/>
              </a:rPr>
              <a:t>x</a:t>
            </a:r>
            <a:r>
              <a:rPr lang="en-US" altLang="zh-CN" baseline="-25000" dirty="0">
                <a:solidFill>
                  <a:schemeClr val="tx2"/>
                </a:solidFill>
                <a:ea typeface="华文中宋" panose="02010600040101010101" pitchFamily="2" charset="-122"/>
              </a:rPr>
              <a:t>4</a:t>
            </a:r>
            <a:endParaRPr lang="zh-CN" altLang="en-US" dirty="0">
              <a:ea typeface="华文中宋"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1026">
            <a:extLst>
              <a:ext uri="{FF2B5EF4-FFF2-40B4-BE49-F238E27FC236}">
                <a16:creationId xmlns:a16="http://schemas.microsoft.com/office/drawing/2014/main" id="{81BEEE7F-51C0-43CC-8320-BDC396F34CD4}"/>
              </a:ext>
            </a:extLst>
          </p:cNvPr>
          <p:cNvSpPr>
            <a:spLocks noGrp="1" noChangeArrowheads="1"/>
          </p:cNvSpPr>
          <p:nvPr>
            <p:ph type="title"/>
          </p:nvPr>
        </p:nvSpPr>
        <p:spPr bwMode="auto">
          <a:xfrm>
            <a:off x="609600" y="2057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a:solidFill>
                  <a:srgbClr val="AC2F36"/>
                </a:solidFill>
                <a:latin typeface="Palatino Linotype" panose="02040502050505030304" pitchFamily="18" charset="0"/>
                <a:ea typeface="华文中宋" panose="02010600040101010101" pitchFamily="2" charset="-122"/>
              </a:rPr>
              <a:t>5.1</a:t>
            </a:r>
            <a:r>
              <a:rPr lang="en-US" altLang="zh-CN" b="1" dirty="0">
                <a:solidFill>
                  <a:srgbClr val="AC2F36"/>
                </a:solidFill>
                <a:latin typeface="华文中宋" panose="02010600040101010101" pitchFamily="2" charset="-122"/>
                <a:ea typeface="华文中宋" panose="02010600040101010101" pitchFamily="2" charset="-122"/>
              </a:rPr>
              <a:t> </a:t>
            </a:r>
            <a:r>
              <a:rPr lang="zh-CN" altLang="en-US" b="1" dirty="0">
                <a:solidFill>
                  <a:srgbClr val="AC2F36"/>
                </a:solidFill>
                <a:latin typeface="华文中宋" panose="02010600040101010101" pitchFamily="2" charset="-122"/>
                <a:ea typeface="华文中宋" panose="02010600040101010101" pitchFamily="2" charset="-122"/>
              </a:rPr>
              <a:t>回溯法的算法框架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A2F2520-7877-4F08-9ACA-CB1A11FAF570}"/>
              </a:ext>
            </a:extLst>
          </p:cNvPr>
          <p:cNvSpPr>
            <a:spLocks noGrp="1" noChangeArrowheads="1"/>
          </p:cNvSpPr>
          <p:nvPr>
            <p:ph type="title"/>
          </p:nvPr>
        </p:nvSpPr>
        <p:spPr bwMode="auto">
          <a:xfrm>
            <a:off x="685800" y="609600"/>
            <a:ext cx="7772400" cy="890588"/>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问题的解空间（</a:t>
            </a:r>
            <a:r>
              <a:rPr lang="en-US" altLang="zh-CN" sz="4000"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1</a:t>
            </a:r>
            <a:r>
              <a:rPr lang="zh-CN" altLang="en-US" sz="4000"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p>
        </p:txBody>
      </p:sp>
      <p:sp>
        <p:nvSpPr>
          <p:cNvPr id="17411" name="Rectangle 3">
            <a:extLst>
              <a:ext uri="{FF2B5EF4-FFF2-40B4-BE49-F238E27FC236}">
                <a16:creationId xmlns:a16="http://schemas.microsoft.com/office/drawing/2014/main" id="{3457193A-F0EA-4A7F-A483-BF41D4FFD5BF}"/>
              </a:ext>
            </a:extLst>
          </p:cNvPr>
          <p:cNvSpPr>
            <a:spLocks noGrp="1" noChangeArrowheads="1"/>
          </p:cNvSpPr>
          <p:nvPr>
            <p:ph type="body" idx="1"/>
          </p:nvPr>
        </p:nvSpPr>
        <p:spPr bwMode="auto">
          <a:xfrm>
            <a:off x="642938" y="1500188"/>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lang="en-US" altLang="zh-CN" sz="2800" b="1" dirty="0"/>
              <a:t>1. </a:t>
            </a:r>
            <a:r>
              <a:rPr lang="zh-CN" altLang="en-US" sz="2800" b="1" dirty="0"/>
              <a:t>解向量：问题的解用向量表示</a:t>
            </a:r>
          </a:p>
          <a:p>
            <a:pPr eaLnBrk="1" hangingPunct="1">
              <a:lnSpc>
                <a:spcPct val="90000"/>
              </a:lnSpc>
              <a:spcBef>
                <a:spcPct val="50000"/>
              </a:spcBef>
              <a:buFontTx/>
              <a:buNone/>
            </a:pPr>
            <a:r>
              <a:rPr lang="zh-CN" altLang="en-US" sz="2800" b="1" dirty="0"/>
              <a:t>        </a:t>
            </a:r>
            <a:r>
              <a:rPr lang="en-US" altLang="zh-CN" sz="2800" b="1" dirty="0"/>
              <a:t>(x</a:t>
            </a:r>
            <a:r>
              <a:rPr lang="en-US" altLang="zh-CN" sz="2800" b="1" baseline="-25000" dirty="0"/>
              <a:t>1</a:t>
            </a:r>
            <a:r>
              <a:rPr lang="en-US" altLang="zh-CN" sz="2800" b="1" dirty="0"/>
              <a:t>, x</a:t>
            </a:r>
            <a:r>
              <a:rPr lang="en-US" altLang="zh-CN" sz="2800" b="1" baseline="-25000" dirty="0"/>
              <a:t>2</a:t>
            </a:r>
            <a:r>
              <a:rPr lang="en-US" altLang="zh-CN" sz="2800" b="1" dirty="0"/>
              <a:t>, …, </a:t>
            </a:r>
            <a:r>
              <a:rPr lang="en-US" altLang="zh-CN" sz="2800" b="1" dirty="0" err="1"/>
              <a:t>x</a:t>
            </a:r>
            <a:r>
              <a:rPr lang="en-US" altLang="zh-CN" sz="2800" b="1" baseline="-25000" dirty="0" err="1"/>
              <a:t>k</a:t>
            </a:r>
            <a:r>
              <a:rPr lang="en-US" altLang="zh-CN" sz="2800" b="1" dirty="0"/>
              <a:t>)     </a:t>
            </a:r>
            <a:r>
              <a:rPr lang="zh-CN" altLang="en-US" sz="2800" b="1" dirty="0"/>
              <a:t>其中</a:t>
            </a:r>
            <a:r>
              <a:rPr lang="en-US" altLang="zh-CN" sz="2800" b="1" dirty="0"/>
              <a:t>k </a:t>
            </a:r>
            <a:r>
              <a:rPr lang="en-US" altLang="zh-CN" sz="2800" b="1" dirty="0">
                <a:sym typeface="Symbol" panose="05050102010706020507" pitchFamily="18" charset="2"/>
              </a:rPr>
              <a:t> n,  n</a:t>
            </a:r>
            <a:r>
              <a:rPr lang="zh-CN" altLang="en-US" sz="2800" b="1" dirty="0">
                <a:sym typeface="Symbol" panose="05050102010706020507" pitchFamily="18" charset="2"/>
              </a:rPr>
              <a:t>为</a:t>
            </a:r>
            <a:r>
              <a:rPr lang="zh-CN" altLang="zh-CN" sz="2800" b="1" dirty="0">
                <a:sym typeface="Symbol" panose="05050102010706020507" pitchFamily="18" charset="2"/>
              </a:rPr>
              <a:t>问题的规模。</a:t>
            </a:r>
            <a:endParaRPr lang="zh-CN" altLang="en-US" sz="2800" b="1" dirty="0">
              <a:sym typeface="Symbol" panose="05050102010706020507" pitchFamily="18" charset="2"/>
            </a:endParaRPr>
          </a:p>
        </p:txBody>
      </p:sp>
      <p:sp>
        <p:nvSpPr>
          <p:cNvPr id="17413" name="Text Box 5">
            <a:extLst>
              <a:ext uri="{FF2B5EF4-FFF2-40B4-BE49-F238E27FC236}">
                <a16:creationId xmlns:a16="http://schemas.microsoft.com/office/drawing/2014/main" id="{30A0DE39-941F-4949-BF06-19E7E611DD3A}"/>
              </a:ext>
            </a:extLst>
          </p:cNvPr>
          <p:cNvSpPr txBox="1">
            <a:spLocks noChangeArrowheads="1"/>
          </p:cNvSpPr>
          <p:nvPr/>
        </p:nvSpPr>
        <p:spPr bwMode="auto">
          <a:xfrm>
            <a:off x="492125" y="2786063"/>
            <a:ext cx="8423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2. </a:t>
            </a:r>
            <a:r>
              <a:rPr lang="zh-CN" altLang="en-US" sz="2800" dirty="0">
                <a:ea typeface="华文中宋" panose="02010600040101010101" pitchFamily="2" charset="-122"/>
              </a:rPr>
              <a:t>约束条件</a:t>
            </a:r>
          </a:p>
        </p:txBody>
      </p:sp>
      <p:sp>
        <p:nvSpPr>
          <p:cNvPr id="17414" name="Text Box 6">
            <a:extLst>
              <a:ext uri="{FF2B5EF4-FFF2-40B4-BE49-F238E27FC236}">
                <a16:creationId xmlns:a16="http://schemas.microsoft.com/office/drawing/2014/main" id="{0D12B061-1B2B-4D59-A48F-C40F8F6EAF1F}"/>
              </a:ext>
            </a:extLst>
          </p:cNvPr>
          <p:cNvSpPr txBox="1">
            <a:spLocks noChangeArrowheads="1"/>
          </p:cNvSpPr>
          <p:nvPr/>
        </p:nvSpPr>
        <p:spPr bwMode="auto">
          <a:xfrm>
            <a:off x="492125" y="3357563"/>
            <a:ext cx="84232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1</a:t>
            </a:r>
            <a:r>
              <a:rPr lang="zh-CN" altLang="en-US" sz="2800" dirty="0">
                <a:ea typeface="华文中宋" panose="02010600040101010101" pitchFamily="2" charset="-122"/>
              </a:rPr>
              <a:t>）显式约束：对分量</a:t>
            </a:r>
            <a:r>
              <a:rPr lang="en-US" altLang="zh-CN" sz="2800" dirty="0">
                <a:ea typeface="华文中宋" panose="02010600040101010101" pitchFamily="2" charset="-122"/>
              </a:rPr>
              <a:t>x</a:t>
            </a:r>
            <a:r>
              <a:rPr lang="en-US" altLang="zh-CN" sz="2800" baseline="-25000" dirty="0">
                <a:ea typeface="华文中宋" panose="02010600040101010101" pitchFamily="2" charset="-122"/>
              </a:rPr>
              <a:t>i</a:t>
            </a:r>
            <a:r>
              <a:rPr lang="zh-CN" altLang="en-US" sz="2800" dirty="0">
                <a:ea typeface="华文中宋" panose="02010600040101010101" pitchFamily="2" charset="-122"/>
              </a:rPr>
              <a:t>的取值的明显限定。</a:t>
            </a:r>
          </a:p>
        </p:txBody>
      </p:sp>
      <p:sp>
        <p:nvSpPr>
          <p:cNvPr id="17415" name="Text Box 7">
            <a:extLst>
              <a:ext uri="{FF2B5EF4-FFF2-40B4-BE49-F238E27FC236}">
                <a16:creationId xmlns:a16="http://schemas.microsoft.com/office/drawing/2014/main" id="{618E4F60-2099-46D8-B18C-FE78126160C5}"/>
              </a:ext>
            </a:extLst>
          </p:cNvPr>
          <p:cNvSpPr txBox="1">
            <a:spLocks noChangeArrowheads="1"/>
          </p:cNvSpPr>
          <p:nvPr/>
        </p:nvSpPr>
        <p:spPr bwMode="auto">
          <a:xfrm>
            <a:off x="492125" y="3929063"/>
            <a:ext cx="84232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46400" indent="-29464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2</a:t>
            </a:r>
            <a:r>
              <a:rPr lang="zh-CN" altLang="en-US" sz="2800" dirty="0">
                <a:ea typeface="华文中宋" panose="02010600040101010101" pitchFamily="2" charset="-122"/>
              </a:rPr>
              <a:t>）隐式约束：为满足问题的解而对</a:t>
            </a:r>
            <a:r>
              <a:rPr lang="zh-CN" altLang="en-US" sz="2800" dirty="0">
                <a:solidFill>
                  <a:schemeClr val="tx2"/>
                </a:solidFill>
                <a:ea typeface="华文中宋" panose="02010600040101010101" pitchFamily="2" charset="-122"/>
              </a:rPr>
              <a:t>不同分量</a:t>
            </a:r>
            <a:r>
              <a:rPr lang="zh-CN" altLang="en-US" sz="2800" dirty="0">
                <a:ea typeface="华文中宋" panose="02010600040101010101" pitchFamily="2" charset="-122"/>
              </a:rPr>
              <a:t>之间施加的约束。</a:t>
            </a:r>
          </a:p>
        </p:txBody>
      </p:sp>
      <p:sp>
        <p:nvSpPr>
          <p:cNvPr id="17416" name="Text Box 8">
            <a:extLst>
              <a:ext uri="{FF2B5EF4-FFF2-40B4-BE49-F238E27FC236}">
                <a16:creationId xmlns:a16="http://schemas.microsoft.com/office/drawing/2014/main" id="{A2F865D5-84B4-475D-90F1-ECC811CF1114}"/>
              </a:ext>
            </a:extLst>
          </p:cNvPr>
          <p:cNvSpPr txBox="1">
            <a:spLocks noChangeArrowheads="1"/>
          </p:cNvSpPr>
          <p:nvPr/>
        </p:nvSpPr>
        <p:spPr bwMode="auto">
          <a:xfrm>
            <a:off x="457200" y="4929188"/>
            <a:ext cx="84232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38250" indent="-123825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3. </a:t>
            </a:r>
            <a:r>
              <a:rPr lang="zh-CN" altLang="en-US" sz="2800" dirty="0">
                <a:ea typeface="华文中宋" panose="02010600040101010101" pitchFamily="2" charset="-122"/>
              </a:rPr>
              <a:t>解空间：对于问题的一个实例，解向量满足显式约束条件的</a:t>
            </a:r>
            <a:r>
              <a:rPr lang="zh-CN" altLang="en-US" sz="2800" dirty="0">
                <a:solidFill>
                  <a:schemeClr val="tx2"/>
                </a:solidFill>
                <a:ea typeface="华文中宋" panose="02010600040101010101" pitchFamily="2" charset="-122"/>
              </a:rPr>
              <a:t>所有多元组</a:t>
            </a:r>
            <a:r>
              <a:rPr lang="zh-CN" altLang="en-US" sz="2800" dirty="0">
                <a:ea typeface="华文中宋" panose="02010600040101010101" pitchFamily="2" charset="-122"/>
              </a:rPr>
              <a:t>，构成了该实例的一个解空间。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7413"/>
                                        </p:tgtEl>
                                        <p:attrNameLst>
                                          <p:attrName>style.visibility</p:attrName>
                                        </p:attrNameLst>
                                      </p:cBhvr>
                                      <p:to>
                                        <p:strVal val="visible"/>
                                      </p:to>
                                    </p:set>
                                    <p:animEffect transition="in" filter="blinds(horizontal)">
                                      <p:cBhvr>
                                        <p:cTn id="19" dur="500"/>
                                        <p:tgtEl>
                                          <p:spTgt spid="1741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7414"/>
                                        </p:tgtEl>
                                        <p:attrNameLst>
                                          <p:attrName>style.visibility</p:attrName>
                                        </p:attrNameLst>
                                      </p:cBhvr>
                                      <p:to>
                                        <p:strVal val="visible"/>
                                      </p:to>
                                    </p:set>
                                    <p:animEffect transition="in" filter="blinds(horizontal)">
                                      <p:cBhvr>
                                        <p:cTn id="24" dur="500"/>
                                        <p:tgtEl>
                                          <p:spTgt spid="1741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7415"/>
                                        </p:tgtEl>
                                        <p:attrNameLst>
                                          <p:attrName>style.visibility</p:attrName>
                                        </p:attrNameLst>
                                      </p:cBhvr>
                                      <p:to>
                                        <p:strVal val="visible"/>
                                      </p:to>
                                    </p:set>
                                    <p:animEffect transition="in" filter="blinds(horizontal)">
                                      <p:cBhvr>
                                        <p:cTn id="29" dur="500"/>
                                        <p:tgtEl>
                                          <p:spTgt spid="1741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7416"/>
                                        </p:tgtEl>
                                        <p:attrNameLst>
                                          <p:attrName>style.visibility</p:attrName>
                                        </p:attrNameLst>
                                      </p:cBhvr>
                                      <p:to>
                                        <p:strVal val="visible"/>
                                      </p:to>
                                    </p:set>
                                    <p:animEffect transition="in" filter="blinds(horizontal)">
                                      <p:cBhvr>
                                        <p:cTn id="34"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P spid="17413" grpId="0" autoUpdateAnimBg="0"/>
      <p:bldP spid="17414" grpId="0" autoUpdateAnimBg="0"/>
      <p:bldP spid="17415" grpId="0" autoUpdateAnimBg="0"/>
      <p:bldP spid="1741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D176478-F7F3-4421-97B7-FBB438473AA1}"/>
              </a:ext>
            </a:extLst>
          </p:cNvPr>
          <p:cNvSpPr>
            <a:spLocks noGrp="1" noChangeArrowheads="1"/>
          </p:cNvSpPr>
          <p:nvPr>
            <p:ph type="title"/>
          </p:nvPr>
        </p:nvSpPr>
        <p:spPr bwMode="auto">
          <a:xfrm>
            <a:off x="685800" y="1524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问题的解空间（</a:t>
            </a:r>
            <a:r>
              <a:rPr lang="en-US" altLang="zh-CN"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2</a:t>
            </a:r>
            <a:r>
              <a:rPr lang="zh-CN" altLang="en-US" b="1"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p>
        </p:txBody>
      </p:sp>
      <p:sp>
        <p:nvSpPr>
          <p:cNvPr id="13315" name="Rectangle 3">
            <a:extLst>
              <a:ext uri="{FF2B5EF4-FFF2-40B4-BE49-F238E27FC236}">
                <a16:creationId xmlns:a16="http://schemas.microsoft.com/office/drawing/2014/main" id="{4E820B92-8841-44D1-BBF2-968BE2480D1C}"/>
              </a:ext>
            </a:extLst>
          </p:cNvPr>
          <p:cNvSpPr>
            <a:spLocks noGrp="1" noChangeArrowheads="1"/>
          </p:cNvSpPr>
          <p:nvPr>
            <p:ph type="body" idx="1"/>
          </p:nvPr>
        </p:nvSpPr>
        <p:spPr bwMode="auto">
          <a:xfrm>
            <a:off x="533400" y="1066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lang="en-US" altLang="zh-CN" sz="2800" b="1" dirty="0"/>
              <a:t> 4</a:t>
            </a:r>
            <a:r>
              <a:rPr lang="zh-CN" altLang="en-US" sz="2800" b="1" dirty="0"/>
              <a:t>、状态空间树</a:t>
            </a:r>
          </a:p>
          <a:p>
            <a:pPr eaLnBrk="1" hangingPunct="1">
              <a:lnSpc>
                <a:spcPct val="90000"/>
              </a:lnSpc>
              <a:spcBef>
                <a:spcPct val="50000"/>
              </a:spcBef>
              <a:buFontTx/>
              <a:buNone/>
            </a:pPr>
            <a:r>
              <a:rPr lang="zh-CN" altLang="en-US" sz="2800" b="1" dirty="0"/>
              <a:t>         用于形象描述解空间的树。</a:t>
            </a:r>
          </a:p>
        </p:txBody>
      </p:sp>
      <p:sp>
        <p:nvSpPr>
          <p:cNvPr id="13318" name="Text Box 6">
            <a:extLst>
              <a:ext uri="{FF2B5EF4-FFF2-40B4-BE49-F238E27FC236}">
                <a16:creationId xmlns:a16="http://schemas.microsoft.com/office/drawing/2014/main" id="{28C45EFC-5E90-4AB8-9CCB-8E5349A916F8}"/>
              </a:ext>
            </a:extLst>
          </p:cNvPr>
          <p:cNvSpPr txBox="1">
            <a:spLocks noChangeArrowheads="1"/>
          </p:cNvSpPr>
          <p:nvPr/>
        </p:nvSpPr>
        <p:spPr bwMode="auto">
          <a:xfrm>
            <a:off x="381000" y="4724400"/>
            <a:ext cx="82296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5</a:t>
            </a:r>
            <a:r>
              <a:rPr lang="zh-CN" altLang="en-US" sz="2800" dirty="0">
                <a:ea typeface="华文中宋" panose="02010600040101010101" pitchFamily="2" charset="-122"/>
              </a:rPr>
              <a:t>、目标函数与最优解</a:t>
            </a:r>
          </a:p>
          <a:p>
            <a:pPr eaLnBrk="1" hangingPunct="1">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1. </a:t>
            </a:r>
            <a:r>
              <a:rPr lang="zh-CN" altLang="en-US" sz="2800" dirty="0">
                <a:ea typeface="华文中宋" panose="02010600040101010101" pitchFamily="2" charset="-122"/>
              </a:rPr>
              <a:t>目标函数：衡量问题解的“优劣”标准。</a:t>
            </a:r>
          </a:p>
          <a:p>
            <a:pPr eaLnBrk="1" hangingPunct="1">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2. </a:t>
            </a:r>
            <a:r>
              <a:rPr lang="zh-CN" altLang="en-US" sz="2800" dirty="0">
                <a:ea typeface="华文中宋" panose="02010600040101010101" pitchFamily="2" charset="-122"/>
              </a:rPr>
              <a:t>最优解：使目标函数取极（大</a:t>
            </a:r>
            <a:r>
              <a:rPr lang="en-US" altLang="zh-CN" sz="2800" dirty="0">
                <a:ea typeface="华文中宋" panose="02010600040101010101" pitchFamily="2" charset="-122"/>
              </a:rPr>
              <a:t>/</a:t>
            </a:r>
            <a:r>
              <a:rPr lang="zh-CN" altLang="en-US" sz="2800" dirty="0">
                <a:ea typeface="华文中宋" panose="02010600040101010101" pitchFamily="2" charset="-122"/>
              </a:rPr>
              <a:t>小）值的解。</a:t>
            </a:r>
          </a:p>
        </p:txBody>
      </p:sp>
      <p:pic>
        <p:nvPicPr>
          <p:cNvPr id="13322" name="Picture 10" descr="t51">
            <a:extLst>
              <a:ext uri="{FF2B5EF4-FFF2-40B4-BE49-F238E27FC236}">
                <a16:creationId xmlns:a16="http://schemas.microsoft.com/office/drawing/2014/main" id="{19415F9C-67AF-4ABE-9154-477E4E8BE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743200"/>
            <a:ext cx="4267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3" name="Text Box 11">
            <a:extLst>
              <a:ext uri="{FF2B5EF4-FFF2-40B4-BE49-F238E27FC236}">
                <a16:creationId xmlns:a16="http://schemas.microsoft.com/office/drawing/2014/main" id="{EF1D3624-2CE3-4825-9708-9A1B9EE10D73}"/>
              </a:ext>
            </a:extLst>
          </p:cNvPr>
          <p:cNvSpPr txBox="1">
            <a:spLocks noChangeArrowheads="1"/>
          </p:cNvSpPr>
          <p:nvPr/>
        </p:nvSpPr>
        <p:spPr bwMode="auto">
          <a:xfrm>
            <a:off x="1104900" y="2214563"/>
            <a:ext cx="664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dirty="0">
                <a:latin typeface="Arial" panose="020B0604020202020204" pitchFamily="34" charset="0"/>
                <a:ea typeface="华文中宋" panose="02010600040101010101" pitchFamily="2" charset="-122"/>
              </a:rPr>
              <a:t>n=3</a:t>
            </a:r>
            <a:r>
              <a:rPr kumimoji="0" lang="zh-CN" altLang="en-US" dirty="0">
                <a:latin typeface="Arial" panose="020B0604020202020204" pitchFamily="34" charset="0"/>
                <a:ea typeface="华文中宋" panose="02010600040101010101" pitchFamily="2" charset="-122"/>
              </a:rPr>
              <a:t>时的</a:t>
            </a:r>
            <a:r>
              <a:rPr kumimoji="0" lang="en-US" altLang="zh-CN" dirty="0">
                <a:latin typeface="Arial" panose="020B0604020202020204" pitchFamily="34" charset="0"/>
                <a:ea typeface="华文中宋" panose="02010600040101010101" pitchFamily="2" charset="-122"/>
              </a:rPr>
              <a:t>0-1</a:t>
            </a:r>
            <a:r>
              <a:rPr kumimoji="0" lang="zh-CN" altLang="en-US" dirty="0">
                <a:latin typeface="Arial" panose="020B0604020202020204" pitchFamily="34" charset="0"/>
                <a:ea typeface="华文中宋" panose="02010600040101010101" pitchFamily="2" charset="-122"/>
              </a:rPr>
              <a:t>背包问题用完全二叉树表示的解空间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23"/>
                                        </p:tgtEl>
                                        <p:attrNameLst>
                                          <p:attrName>style.visibility</p:attrName>
                                        </p:attrNameLst>
                                      </p:cBhvr>
                                      <p:to>
                                        <p:strVal val="visible"/>
                                      </p:to>
                                    </p:set>
                                    <p:anim calcmode="lin" valueType="num">
                                      <p:cBhvr additive="base">
                                        <p:cTn id="19" dur="500" fill="hold"/>
                                        <p:tgtEl>
                                          <p:spTgt spid="13323"/>
                                        </p:tgtEl>
                                        <p:attrNameLst>
                                          <p:attrName>ppt_x</p:attrName>
                                        </p:attrNameLst>
                                      </p:cBhvr>
                                      <p:tavLst>
                                        <p:tav tm="0">
                                          <p:val>
                                            <p:strVal val="0-#ppt_w/2"/>
                                          </p:val>
                                        </p:tav>
                                        <p:tav tm="100000">
                                          <p:val>
                                            <p:strVal val="#ppt_x"/>
                                          </p:val>
                                        </p:tav>
                                      </p:tavLst>
                                    </p:anim>
                                    <p:anim calcmode="lin" valueType="num">
                                      <p:cBhvr additive="base">
                                        <p:cTn id="20" dur="500" fill="hold"/>
                                        <p:tgtEl>
                                          <p:spTgt spid="1332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3322"/>
                                        </p:tgtEl>
                                        <p:attrNameLst>
                                          <p:attrName>style.visibility</p:attrName>
                                        </p:attrNameLst>
                                      </p:cBhvr>
                                      <p:to>
                                        <p:strVal val="visible"/>
                                      </p:to>
                                    </p:set>
                                    <p:anim calcmode="lin" valueType="num">
                                      <p:cBhvr additive="base">
                                        <p:cTn id="25" dur="500" fill="hold"/>
                                        <p:tgtEl>
                                          <p:spTgt spid="13322"/>
                                        </p:tgtEl>
                                        <p:attrNameLst>
                                          <p:attrName>ppt_x</p:attrName>
                                        </p:attrNameLst>
                                      </p:cBhvr>
                                      <p:tavLst>
                                        <p:tav tm="0">
                                          <p:val>
                                            <p:strVal val="0-#ppt_w/2"/>
                                          </p:val>
                                        </p:tav>
                                        <p:tav tm="100000">
                                          <p:val>
                                            <p:strVal val="#ppt_x"/>
                                          </p:val>
                                        </p:tav>
                                      </p:tavLst>
                                    </p:anim>
                                    <p:anim calcmode="lin" valueType="num">
                                      <p:cBhvr additive="base">
                                        <p:cTn id="26" dur="500" fill="hold"/>
                                        <p:tgtEl>
                                          <p:spTgt spid="1332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318"/>
                                        </p:tgtEl>
                                        <p:attrNameLst>
                                          <p:attrName>style.visibility</p:attrName>
                                        </p:attrNameLst>
                                      </p:cBhvr>
                                      <p:to>
                                        <p:strVal val="visible"/>
                                      </p:to>
                                    </p:set>
                                    <p:anim calcmode="lin" valueType="num">
                                      <p:cBhvr additive="base">
                                        <p:cTn id="31" dur="500" fill="hold"/>
                                        <p:tgtEl>
                                          <p:spTgt spid="13318"/>
                                        </p:tgtEl>
                                        <p:attrNameLst>
                                          <p:attrName>ppt_x</p:attrName>
                                        </p:attrNameLst>
                                      </p:cBhvr>
                                      <p:tavLst>
                                        <p:tav tm="0">
                                          <p:val>
                                            <p:strVal val="0-#ppt_w/2"/>
                                          </p:val>
                                        </p:tav>
                                        <p:tav tm="100000">
                                          <p:val>
                                            <p:strVal val="#ppt_x"/>
                                          </p:val>
                                        </p:tav>
                                      </p:tavLst>
                                    </p:anim>
                                    <p:anim calcmode="lin" valueType="num">
                                      <p:cBhvr additive="base">
                                        <p:cTn id="32" dur="500" fill="hold"/>
                                        <p:tgtEl>
                                          <p:spTgt spid="133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P spid="13318" grpId="0" autoUpdateAnimBg="0"/>
      <p:bldP spid="1332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E187CB1-4EBA-4D2E-8BF0-48042CB8DBA7}"/>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chemeClr val="tx1"/>
                </a:solidFill>
              </a:rPr>
              <a:t>搜索状态空间树的两种策略</a:t>
            </a:r>
          </a:p>
        </p:txBody>
      </p:sp>
      <p:sp>
        <p:nvSpPr>
          <p:cNvPr id="19459" name="Rectangle 3">
            <a:extLst>
              <a:ext uri="{FF2B5EF4-FFF2-40B4-BE49-F238E27FC236}">
                <a16:creationId xmlns:a16="http://schemas.microsoft.com/office/drawing/2014/main" id="{05492D79-8DA8-4315-B15C-550EAC033BF6}"/>
              </a:ext>
            </a:extLst>
          </p:cNvPr>
          <p:cNvSpPr>
            <a:spLocks noGrp="1" noChangeArrowheads="1"/>
          </p:cNvSpPr>
          <p:nvPr>
            <p:ph type="body" idx="1"/>
          </p:nvPr>
        </p:nvSpPr>
        <p:spPr bwMode="auto">
          <a:xfrm>
            <a:off x="685800" y="1600200"/>
            <a:ext cx="8029575"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lang="en-US" altLang="zh-CN" sz="2800" b="1" dirty="0"/>
              <a:t> 1. </a:t>
            </a:r>
            <a:r>
              <a:rPr lang="zh-CN" altLang="en-US" sz="2800" b="1" dirty="0"/>
              <a:t>以深度优先方式系统搜索问题的解</a:t>
            </a:r>
            <a:r>
              <a:rPr lang="en-US" altLang="zh-CN" sz="2800" b="1" dirty="0"/>
              <a:t>------</a:t>
            </a:r>
            <a:r>
              <a:rPr lang="zh-CN" altLang="en-US" sz="2800" b="1" dirty="0"/>
              <a:t>回溯法</a:t>
            </a:r>
          </a:p>
        </p:txBody>
      </p:sp>
      <p:sp>
        <p:nvSpPr>
          <p:cNvPr id="19460" name="Text Box 4">
            <a:extLst>
              <a:ext uri="{FF2B5EF4-FFF2-40B4-BE49-F238E27FC236}">
                <a16:creationId xmlns:a16="http://schemas.microsoft.com/office/drawing/2014/main" id="{FA61C1D8-4BE7-4093-BB7D-09957486FD09}"/>
              </a:ext>
            </a:extLst>
          </p:cNvPr>
          <p:cNvSpPr txBox="1">
            <a:spLocks noChangeArrowheads="1"/>
          </p:cNvSpPr>
          <p:nvPr/>
        </p:nvSpPr>
        <p:spPr bwMode="auto">
          <a:xfrm>
            <a:off x="685800" y="2214563"/>
            <a:ext cx="7958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 2. </a:t>
            </a:r>
            <a:r>
              <a:rPr lang="zh-CN" altLang="en-US" sz="2800" dirty="0">
                <a:ea typeface="华文中宋" panose="02010600040101010101" pitchFamily="2" charset="-122"/>
              </a:rPr>
              <a:t>以广度优先方式搜索问题的解</a:t>
            </a:r>
            <a:r>
              <a:rPr lang="en-US" altLang="zh-CN" sz="2800" dirty="0">
                <a:ea typeface="华文中宋" panose="02010600040101010101" pitchFamily="2" charset="-122"/>
              </a:rPr>
              <a:t>------</a:t>
            </a:r>
            <a:r>
              <a:rPr lang="zh-CN" altLang="en-US" sz="2800" dirty="0">
                <a:ea typeface="华文中宋" panose="02010600040101010101" pitchFamily="2" charset="-122"/>
              </a:rPr>
              <a:t>分支</a:t>
            </a:r>
            <a:r>
              <a:rPr lang="en-US" altLang="zh-CN" sz="2800" dirty="0">
                <a:ea typeface="华文中宋" panose="02010600040101010101" pitchFamily="2" charset="-122"/>
              </a:rPr>
              <a:t>-</a:t>
            </a:r>
            <a:r>
              <a:rPr lang="zh-CN" altLang="en-US" sz="2800" dirty="0">
                <a:ea typeface="华文中宋" panose="02010600040101010101" pitchFamily="2" charset="-122"/>
              </a:rPr>
              <a:t>限界法</a:t>
            </a:r>
          </a:p>
        </p:txBody>
      </p:sp>
      <p:sp>
        <p:nvSpPr>
          <p:cNvPr id="19465" name="Text Box 9">
            <a:extLst>
              <a:ext uri="{FF2B5EF4-FFF2-40B4-BE49-F238E27FC236}">
                <a16:creationId xmlns:a16="http://schemas.microsoft.com/office/drawing/2014/main" id="{A636B383-2C15-483F-8F90-A9790E99679F}"/>
              </a:ext>
            </a:extLst>
          </p:cNvPr>
          <p:cNvSpPr txBox="1">
            <a:spLocks noChangeArrowheads="1"/>
          </p:cNvSpPr>
          <p:nvPr/>
        </p:nvSpPr>
        <p:spPr bwMode="auto">
          <a:xfrm>
            <a:off x="609600" y="3276600"/>
            <a:ext cx="8077200" cy="312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buFontTx/>
              <a:buChar char="•"/>
            </a:pPr>
            <a:r>
              <a:rPr lang="zh-CN" altLang="en-US" dirty="0">
                <a:solidFill>
                  <a:srgbClr val="FF0000"/>
                </a:solidFill>
                <a:latin typeface="华文中宋" panose="02010600040101010101" pitchFamily="2" charset="-122"/>
                <a:ea typeface="华文中宋" panose="02010600040101010101" pitchFamily="2" charset="-122"/>
              </a:rPr>
              <a:t>几种搜索过程中涉及的结点：</a:t>
            </a:r>
          </a:p>
          <a:p>
            <a:pPr lvl="1" eaLnBrk="1" hangingPunct="1">
              <a:lnSpc>
                <a:spcPct val="120000"/>
              </a:lnSpc>
              <a:spcBef>
                <a:spcPct val="20000"/>
              </a:spcBef>
              <a:buFontTx/>
              <a:buAutoNum type="arabicPeriod"/>
            </a:pPr>
            <a:r>
              <a:rPr lang="zh-CN" altLang="en-US" dirty="0">
                <a:latin typeface="华文中宋" panose="02010600040101010101" pitchFamily="2" charset="-122"/>
                <a:ea typeface="华文中宋" panose="02010600040101010101" pitchFamily="2" charset="-122"/>
              </a:rPr>
              <a:t>扩展结点：一个正在产生儿子的结点称为扩展结点</a:t>
            </a:r>
          </a:p>
          <a:p>
            <a:pPr lvl="1" eaLnBrk="1" hangingPunct="1">
              <a:lnSpc>
                <a:spcPct val="120000"/>
              </a:lnSpc>
              <a:spcBef>
                <a:spcPct val="20000"/>
              </a:spcBef>
              <a:buFontTx/>
              <a:buAutoNum type="arabicPeriod"/>
            </a:pPr>
            <a:r>
              <a:rPr lang="zh-CN" altLang="en-US" dirty="0">
                <a:latin typeface="华文中宋" panose="02010600040101010101" pitchFamily="2" charset="-122"/>
                <a:ea typeface="华文中宋" panose="02010600040101010101" pitchFamily="2" charset="-122"/>
              </a:rPr>
              <a:t>活结点：一个自身已生成但其儿子还没有全部生成的节点称做活结点</a:t>
            </a:r>
          </a:p>
          <a:p>
            <a:pPr lvl="1" eaLnBrk="1" hangingPunct="1">
              <a:lnSpc>
                <a:spcPct val="120000"/>
              </a:lnSpc>
              <a:spcBef>
                <a:spcPct val="20000"/>
              </a:spcBef>
              <a:buFontTx/>
              <a:buAutoNum type="arabicPeriod"/>
            </a:pPr>
            <a:r>
              <a:rPr lang="zh-CN" altLang="en-US" dirty="0">
                <a:latin typeface="华文中宋" panose="02010600040101010101" pitchFamily="2" charset="-122"/>
                <a:ea typeface="华文中宋" panose="02010600040101010101" pitchFamily="2" charset="-122"/>
              </a:rPr>
              <a:t>死结点：一个所有儿子已经产生的结点称做死结点</a:t>
            </a:r>
          </a:p>
          <a:p>
            <a:pPr eaLnBrk="1" hangingPunct="1">
              <a:lnSpc>
                <a:spcPct val="120000"/>
              </a:lnSpc>
              <a:spcBef>
                <a:spcPct val="50000"/>
              </a:spcBef>
            </a:pPr>
            <a:endParaRPr lang="en-US" altLang="zh-CN"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60"/>
                                        </p:tgtEl>
                                        <p:attrNameLst>
                                          <p:attrName>style.visibility</p:attrName>
                                        </p:attrNameLst>
                                      </p:cBhvr>
                                      <p:to>
                                        <p:strVal val="visible"/>
                                      </p:to>
                                    </p:set>
                                    <p:anim calcmode="lin" valueType="num">
                                      <p:cBhvr additive="base">
                                        <p:cTn id="13" dur="500" fill="hold"/>
                                        <p:tgtEl>
                                          <p:spTgt spid="19460"/>
                                        </p:tgtEl>
                                        <p:attrNameLst>
                                          <p:attrName>ppt_x</p:attrName>
                                        </p:attrNameLst>
                                      </p:cBhvr>
                                      <p:tavLst>
                                        <p:tav tm="0">
                                          <p:val>
                                            <p:strVal val="0-#ppt_w/2"/>
                                          </p:val>
                                        </p:tav>
                                        <p:tav tm="100000">
                                          <p:val>
                                            <p:strVal val="#ppt_x"/>
                                          </p:val>
                                        </p:tav>
                                      </p:tavLst>
                                    </p:anim>
                                    <p:anim calcmode="lin" valueType="num">
                                      <p:cBhvr additive="base">
                                        <p:cTn id="14" dur="500" fill="hold"/>
                                        <p:tgtEl>
                                          <p:spTgt spid="1946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65"/>
                                        </p:tgtEl>
                                        <p:attrNameLst>
                                          <p:attrName>style.visibility</p:attrName>
                                        </p:attrNameLst>
                                      </p:cBhvr>
                                      <p:to>
                                        <p:strVal val="visible"/>
                                      </p:to>
                                    </p:set>
                                    <p:anim calcmode="lin" valueType="num">
                                      <p:cBhvr additive="base">
                                        <p:cTn id="19" dur="500" fill="hold"/>
                                        <p:tgtEl>
                                          <p:spTgt spid="19465"/>
                                        </p:tgtEl>
                                        <p:attrNameLst>
                                          <p:attrName>ppt_x</p:attrName>
                                        </p:attrNameLst>
                                      </p:cBhvr>
                                      <p:tavLst>
                                        <p:tav tm="0">
                                          <p:val>
                                            <p:strVal val="0-#ppt_w/2"/>
                                          </p:val>
                                        </p:tav>
                                        <p:tav tm="100000">
                                          <p:val>
                                            <p:strVal val="#ppt_x"/>
                                          </p:val>
                                        </p:tav>
                                      </p:tavLst>
                                    </p:anim>
                                    <p:anim calcmode="lin" valueType="num">
                                      <p:cBhvr additive="base">
                                        <p:cTn id="20" dur="500" fill="hold"/>
                                        <p:tgtEl>
                                          <p:spTgt spid="194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P spid="19460" grpId="0" autoUpdateAnimBg="0"/>
      <p:bldP spid="1946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57E170D-0F74-445E-9D9E-2B6AC6891F13}"/>
              </a:ext>
            </a:extLst>
          </p:cNvPr>
          <p:cNvSpPr>
            <a:spLocks noGrp="1" noChangeArrowheads="1"/>
          </p:cNvSpPr>
          <p:nvPr>
            <p:ph type="title"/>
          </p:nvPr>
        </p:nvSpPr>
        <p:spPr bwMode="auto">
          <a:xfrm>
            <a:off x="642938" y="285750"/>
            <a:ext cx="7772400" cy="85725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FF0000"/>
                </a:solidFill>
                <a:latin typeface="华文中宋" panose="02010600040101010101" pitchFamily="2" charset="-122"/>
              </a:rPr>
              <a:t>回溯法</a:t>
            </a:r>
          </a:p>
        </p:txBody>
      </p:sp>
      <p:sp>
        <p:nvSpPr>
          <p:cNvPr id="20483" name="Rectangle 3">
            <a:extLst>
              <a:ext uri="{FF2B5EF4-FFF2-40B4-BE49-F238E27FC236}">
                <a16:creationId xmlns:a16="http://schemas.microsoft.com/office/drawing/2014/main" id="{24983838-93B1-41F2-B338-87FC7EFD125D}"/>
              </a:ext>
            </a:extLst>
          </p:cNvPr>
          <p:cNvSpPr>
            <a:spLocks noGrp="1" noChangeArrowheads="1"/>
          </p:cNvSpPr>
          <p:nvPr>
            <p:ph type="body" idx="1"/>
          </p:nvPr>
        </p:nvSpPr>
        <p:spPr bwMode="auto">
          <a:xfrm>
            <a:off x="428625" y="1143000"/>
            <a:ext cx="8429625" cy="4595813"/>
          </a:xfrm>
          <a:ln>
            <a:miter lim="800000"/>
            <a:headEnd/>
            <a:tailEnd/>
          </a:ln>
        </p:spPr>
        <p:txBody>
          <a:bodyPr vert="horz" wrap="square" lIns="91440" tIns="45720" rIns="91440" bIns="45720" numCol="1" anchor="t" anchorCtr="0" compatLnSpc="1">
            <a:prstTxWarp prst="textNoShape">
              <a:avLst/>
            </a:prstTxWarp>
          </a:bodyPr>
          <a:lstStyle/>
          <a:p>
            <a:pPr marL="514350" indent="-514350" eaLnBrk="1" hangingPunct="1">
              <a:lnSpc>
                <a:spcPct val="110000"/>
              </a:lnSpc>
              <a:buFont typeface="+mj-lt"/>
              <a:buAutoNum type="arabicPeriod"/>
              <a:defRPr/>
            </a:pPr>
            <a:r>
              <a:rPr lang="zh-CN" altLang="en-US" sz="2800" b="1" dirty="0">
                <a:latin typeface="华文中宋" panose="02010600040101010101" pitchFamily="2" charset="-122"/>
              </a:rPr>
              <a:t>基本方法：利用限界函数来避免生成那些实际上不可能产生所需解的活结点，以减少问题的计算量，避免无效搜索。</a:t>
            </a:r>
            <a:endParaRPr lang="en-US" altLang="zh-CN" sz="2800" b="1" dirty="0">
              <a:latin typeface="华文中宋" panose="02010600040101010101" pitchFamily="2" charset="-122"/>
            </a:endParaRPr>
          </a:p>
          <a:p>
            <a:pPr marL="514350" indent="-514350">
              <a:buFont typeface="+mj-lt"/>
              <a:buAutoNum type="arabicPeriod"/>
              <a:defRPr/>
            </a:pPr>
            <a:r>
              <a:rPr kumimoji="0" lang="zh-CN" altLang="en-US" sz="2800" b="1" dirty="0">
                <a:solidFill>
                  <a:schemeClr val="accent2"/>
                </a:solidFill>
                <a:latin typeface="华文中宋" panose="02010600040101010101" pitchFamily="2" charset="-122"/>
              </a:rPr>
              <a:t>限界函数：用于剪枝</a:t>
            </a:r>
          </a:p>
          <a:p>
            <a:pPr>
              <a:buFontTx/>
              <a:buNone/>
              <a:defRPr/>
            </a:pPr>
            <a:r>
              <a:rPr kumimoji="0" lang="en-US" altLang="zh-CN" sz="2800" b="1" dirty="0">
                <a:latin typeface="华文中宋" panose="02010600040101010101" pitchFamily="2" charset="-122"/>
              </a:rPr>
              <a:t>(1)</a:t>
            </a:r>
            <a:r>
              <a:rPr kumimoji="0" lang="zh-CN" altLang="en-US" sz="2800" b="1" dirty="0">
                <a:latin typeface="华文中宋" panose="02010600040101010101" pitchFamily="2" charset="-122"/>
              </a:rPr>
              <a:t>约束函数：某个满足条件的表达式或关系式。</a:t>
            </a:r>
          </a:p>
          <a:p>
            <a:pPr>
              <a:buFontTx/>
              <a:buNone/>
              <a:defRPr/>
            </a:pPr>
            <a:r>
              <a:rPr kumimoji="0" lang="zh-CN" altLang="en-US" sz="2400" b="1" dirty="0">
                <a:latin typeface="华文中宋" panose="02010600040101010101" pitchFamily="2" charset="-122"/>
              </a:rPr>
              <a:t>    不真时用于在扩展结点处剪去不满足约束的子树；</a:t>
            </a:r>
          </a:p>
          <a:p>
            <a:pPr>
              <a:buFontTx/>
              <a:buNone/>
              <a:defRPr/>
            </a:pPr>
            <a:r>
              <a:rPr kumimoji="0" lang="en-US" altLang="zh-CN" sz="2800" b="1" dirty="0">
                <a:latin typeface="华文中宋" panose="02010600040101010101" pitchFamily="2" charset="-122"/>
              </a:rPr>
              <a:t>(2)</a:t>
            </a:r>
            <a:r>
              <a:rPr kumimoji="0" lang="zh-CN" altLang="en-US" sz="2800" b="1" dirty="0">
                <a:latin typeface="华文中宋" panose="02010600040101010101" pitchFamily="2" charset="-122"/>
              </a:rPr>
              <a:t>限界函数：某个函数表达式或关系式。</a:t>
            </a:r>
          </a:p>
          <a:p>
            <a:pPr>
              <a:buFontTx/>
              <a:buNone/>
              <a:defRPr/>
            </a:pPr>
            <a:r>
              <a:rPr kumimoji="0" lang="zh-CN" altLang="en-US" sz="2400" b="1" dirty="0">
                <a:latin typeface="华文中宋" panose="02010600040101010101" pitchFamily="2" charset="-122"/>
              </a:rPr>
              <a:t>    不真时，用于剪去得不到最优解的子树。</a:t>
            </a:r>
          </a:p>
          <a:p>
            <a:pPr marL="514350" indent="-514350" eaLnBrk="1" hangingPunct="1">
              <a:lnSpc>
                <a:spcPct val="110000"/>
              </a:lnSpc>
              <a:buFont typeface="+mj-lt"/>
              <a:buAutoNum type="arabicPeriod" startAt="3"/>
              <a:defRPr/>
            </a:pPr>
            <a:r>
              <a:rPr lang="zh-CN" altLang="en-US" sz="2800" b="1" dirty="0">
                <a:solidFill>
                  <a:srgbClr val="FF3300"/>
                </a:solidFill>
                <a:latin typeface="华文中宋" panose="02010600040101010101" pitchFamily="2" charset="-122"/>
              </a:rPr>
              <a:t>回溯法：具有限界函数的深度优先搜索方法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076615" y="3658347"/>
            <a:ext cx="765607" cy="2970263"/>
            <a:chOff x="2251942" y="3778029"/>
            <a:chExt cx="765607" cy="2970263"/>
          </a:xfrm>
        </p:grpSpPr>
        <p:sp>
          <p:nvSpPr>
            <p:cNvPr id="82" name="矩形 81"/>
            <p:cNvSpPr/>
            <p:nvPr/>
          </p:nvSpPr>
          <p:spPr>
            <a:xfrm>
              <a:off x="2326285" y="3828128"/>
              <a:ext cx="645076" cy="2920164"/>
            </a:xfrm>
            <a:prstGeom prst="rect">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矩形 82"/>
            <p:cNvSpPr/>
            <p:nvPr/>
          </p:nvSpPr>
          <p:spPr>
            <a:xfrm>
              <a:off x="2251942" y="3778029"/>
              <a:ext cx="765607" cy="1501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椭圆 87"/>
          <p:cNvSpPr/>
          <p:nvPr/>
        </p:nvSpPr>
        <p:spPr>
          <a:xfrm>
            <a:off x="3017549" y="1987625"/>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椭圆 86"/>
          <p:cNvSpPr/>
          <p:nvPr/>
        </p:nvSpPr>
        <p:spPr>
          <a:xfrm>
            <a:off x="1928831" y="2595293"/>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椭圆 85"/>
          <p:cNvSpPr/>
          <p:nvPr/>
        </p:nvSpPr>
        <p:spPr>
          <a:xfrm>
            <a:off x="1958879" y="1456561"/>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p:nvPr/>
        </p:nvSpPr>
        <p:spPr>
          <a:xfrm>
            <a:off x="693086" y="1490087"/>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title"/>
          </p:nvPr>
        </p:nvSpPr>
        <p:spPr>
          <a:xfrm>
            <a:off x="519177" y="21355"/>
            <a:ext cx="7886700" cy="1325563"/>
          </a:xfrm>
        </p:spPr>
        <p:txBody>
          <a:bodyPr/>
          <a:lstStyle/>
          <a:p>
            <a:r>
              <a:rPr lang="en-US" sz="4000" b="1" dirty="0"/>
              <a:t>DFS</a:t>
            </a:r>
            <a:r>
              <a:rPr lang="zh-CN" altLang="en-US" sz="4000" b="1" dirty="0"/>
              <a:t>算法回顾</a:t>
            </a:r>
            <a:endParaRPr lang="en-US" sz="4000" b="1" dirty="0"/>
          </a:p>
        </p:txBody>
      </p:sp>
      <p:sp>
        <p:nvSpPr>
          <p:cNvPr id="34" name="矩形 33"/>
          <p:cNvSpPr/>
          <p:nvPr/>
        </p:nvSpPr>
        <p:spPr>
          <a:xfrm>
            <a:off x="4469742" y="1398926"/>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矩形 34"/>
          <p:cNvSpPr/>
          <p:nvPr/>
        </p:nvSpPr>
        <p:spPr>
          <a:xfrm>
            <a:off x="4469742" y="1981666"/>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4469742" y="2625448"/>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4469742" y="3285151"/>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5530030" y="1407490"/>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文本框 42"/>
          <p:cNvSpPr txBox="1"/>
          <p:nvPr/>
        </p:nvSpPr>
        <p:spPr>
          <a:xfrm>
            <a:off x="4119266" y="1307512"/>
            <a:ext cx="508004" cy="523220"/>
          </a:xfrm>
          <a:prstGeom prst="rect">
            <a:avLst/>
          </a:prstGeom>
          <a:noFill/>
        </p:spPr>
        <p:txBody>
          <a:bodyPr wrap="square" rtlCol="0">
            <a:spAutoFit/>
          </a:bodyPr>
          <a:lstStyle/>
          <a:p>
            <a:r>
              <a:rPr lang="en-US" altLang="zh-CN" sz="2800" dirty="0"/>
              <a:t>a</a:t>
            </a:r>
            <a:endParaRPr lang="en-US" sz="2800" dirty="0"/>
          </a:p>
        </p:txBody>
      </p:sp>
      <p:sp>
        <p:nvSpPr>
          <p:cNvPr id="44" name="文本框 43"/>
          <p:cNvSpPr txBox="1"/>
          <p:nvPr/>
        </p:nvSpPr>
        <p:spPr>
          <a:xfrm>
            <a:off x="4102095" y="2541410"/>
            <a:ext cx="508004" cy="409968"/>
          </a:xfrm>
          <a:prstGeom prst="rect">
            <a:avLst/>
          </a:prstGeom>
          <a:noFill/>
        </p:spPr>
        <p:txBody>
          <a:bodyPr wrap="square" rtlCol="0">
            <a:spAutoFit/>
          </a:bodyPr>
          <a:lstStyle/>
          <a:p>
            <a:r>
              <a:rPr lang="en-US" altLang="zh-CN" sz="2800" dirty="0"/>
              <a:t>c</a:t>
            </a:r>
            <a:endParaRPr lang="en-US" sz="2800" dirty="0"/>
          </a:p>
        </p:txBody>
      </p:sp>
      <p:sp>
        <p:nvSpPr>
          <p:cNvPr id="45" name="文本框 44"/>
          <p:cNvSpPr txBox="1"/>
          <p:nvPr/>
        </p:nvSpPr>
        <p:spPr>
          <a:xfrm>
            <a:off x="4078578" y="3248394"/>
            <a:ext cx="508004" cy="409968"/>
          </a:xfrm>
          <a:prstGeom prst="rect">
            <a:avLst/>
          </a:prstGeom>
          <a:noFill/>
        </p:spPr>
        <p:txBody>
          <a:bodyPr wrap="square" rtlCol="0">
            <a:spAutoFit/>
          </a:bodyPr>
          <a:lstStyle/>
          <a:p>
            <a:r>
              <a:rPr lang="en-US" altLang="zh-CN" sz="2800" dirty="0"/>
              <a:t>d</a:t>
            </a:r>
            <a:endParaRPr lang="en-US" sz="2800" dirty="0"/>
          </a:p>
        </p:txBody>
      </p:sp>
      <p:sp>
        <p:nvSpPr>
          <p:cNvPr id="46" name="文本框 45"/>
          <p:cNvSpPr txBox="1"/>
          <p:nvPr/>
        </p:nvSpPr>
        <p:spPr>
          <a:xfrm>
            <a:off x="5558397" y="1350119"/>
            <a:ext cx="508004" cy="409968"/>
          </a:xfrm>
          <a:prstGeom prst="rect">
            <a:avLst/>
          </a:prstGeom>
          <a:noFill/>
        </p:spPr>
        <p:txBody>
          <a:bodyPr wrap="square" rtlCol="0">
            <a:spAutoFit/>
          </a:bodyPr>
          <a:lstStyle/>
          <a:p>
            <a:r>
              <a:rPr lang="en-US" altLang="zh-CN" sz="2800" dirty="0"/>
              <a:t>b</a:t>
            </a:r>
            <a:endParaRPr lang="en-US" sz="2800" dirty="0"/>
          </a:p>
        </p:txBody>
      </p:sp>
      <p:sp>
        <p:nvSpPr>
          <p:cNvPr id="47" name="文本框 46"/>
          <p:cNvSpPr txBox="1"/>
          <p:nvPr/>
        </p:nvSpPr>
        <p:spPr>
          <a:xfrm>
            <a:off x="5534488" y="1879498"/>
            <a:ext cx="508004" cy="523220"/>
          </a:xfrm>
          <a:prstGeom prst="rect">
            <a:avLst/>
          </a:prstGeom>
          <a:noFill/>
        </p:spPr>
        <p:txBody>
          <a:bodyPr wrap="square" rtlCol="0">
            <a:spAutoFit/>
          </a:bodyPr>
          <a:lstStyle/>
          <a:p>
            <a:r>
              <a:rPr lang="en-US" altLang="zh-CN" sz="2800" dirty="0"/>
              <a:t>d</a:t>
            </a:r>
            <a:endParaRPr lang="en-US" sz="2800" dirty="0"/>
          </a:p>
        </p:txBody>
      </p:sp>
      <p:sp>
        <p:nvSpPr>
          <p:cNvPr id="48" name="文本框 47"/>
          <p:cNvSpPr txBox="1"/>
          <p:nvPr/>
        </p:nvSpPr>
        <p:spPr>
          <a:xfrm>
            <a:off x="5558397" y="2553585"/>
            <a:ext cx="508004" cy="409968"/>
          </a:xfrm>
          <a:prstGeom prst="rect">
            <a:avLst/>
          </a:prstGeom>
          <a:noFill/>
        </p:spPr>
        <p:txBody>
          <a:bodyPr wrap="square" rtlCol="0">
            <a:spAutoFit/>
          </a:bodyPr>
          <a:lstStyle/>
          <a:p>
            <a:r>
              <a:rPr lang="en-US" altLang="zh-CN" sz="2800" dirty="0"/>
              <a:t>d</a:t>
            </a:r>
            <a:endParaRPr lang="en-US" sz="2800" dirty="0"/>
          </a:p>
        </p:txBody>
      </p:sp>
      <p:sp>
        <p:nvSpPr>
          <p:cNvPr id="49" name="文本框 48"/>
          <p:cNvSpPr txBox="1"/>
          <p:nvPr/>
        </p:nvSpPr>
        <p:spPr>
          <a:xfrm>
            <a:off x="5549492" y="3202314"/>
            <a:ext cx="508004" cy="523220"/>
          </a:xfrm>
          <a:prstGeom prst="rect">
            <a:avLst/>
          </a:prstGeom>
          <a:noFill/>
        </p:spPr>
        <p:txBody>
          <a:bodyPr wrap="square" rtlCol="0">
            <a:spAutoFit/>
          </a:bodyPr>
          <a:lstStyle/>
          <a:p>
            <a:r>
              <a:rPr lang="en-US" altLang="zh-CN" sz="2800" dirty="0"/>
              <a:t>e</a:t>
            </a:r>
            <a:endParaRPr lang="en-US" sz="2800" dirty="0"/>
          </a:p>
        </p:txBody>
      </p:sp>
      <p:cxnSp>
        <p:nvCxnSpPr>
          <p:cNvPr id="51" name="直接箭头连接符 50"/>
          <p:cNvCxnSpPr/>
          <p:nvPr/>
        </p:nvCxnSpPr>
        <p:spPr>
          <a:xfrm flipV="1">
            <a:off x="5061483" y="1572200"/>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V="1">
            <a:off x="5076139" y="2155551"/>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076139" y="2805913"/>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5076139" y="3481026"/>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6133304" y="1566692"/>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6629634" y="1308168"/>
            <a:ext cx="508004" cy="523220"/>
          </a:xfrm>
          <a:prstGeom prst="rect">
            <a:avLst/>
          </a:prstGeom>
          <a:noFill/>
        </p:spPr>
        <p:txBody>
          <a:bodyPr wrap="square" rtlCol="0">
            <a:spAutoFit/>
          </a:bodyPr>
          <a:lstStyle/>
          <a:p>
            <a:r>
              <a:rPr lang="en-US" altLang="zh-CN" sz="2800" dirty="0"/>
              <a:t>c</a:t>
            </a:r>
            <a:endParaRPr lang="en-US" sz="2800" dirty="0"/>
          </a:p>
        </p:txBody>
      </p:sp>
      <p:sp>
        <p:nvSpPr>
          <p:cNvPr id="63" name="矩形 62"/>
          <p:cNvSpPr/>
          <p:nvPr/>
        </p:nvSpPr>
        <p:spPr>
          <a:xfrm>
            <a:off x="5538096" y="1979291"/>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组合 69"/>
          <p:cNvGrpSpPr/>
          <p:nvPr/>
        </p:nvGrpSpPr>
        <p:grpSpPr>
          <a:xfrm>
            <a:off x="5534488" y="2644522"/>
            <a:ext cx="782180" cy="335532"/>
            <a:chOff x="1340760" y="5854248"/>
            <a:chExt cx="995517" cy="428221"/>
          </a:xfrm>
        </p:grpSpPr>
        <p:sp>
          <p:nvSpPr>
            <p:cNvPr id="71" name="矩形 70"/>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直接连接符 71"/>
            <p:cNvCxnSpPr>
              <a:stCxn id="71" idx="0"/>
              <a:endCxn id="71"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5525625" y="3279265"/>
            <a:ext cx="782180" cy="335532"/>
            <a:chOff x="1340760" y="5854248"/>
            <a:chExt cx="995517" cy="428221"/>
          </a:xfrm>
        </p:grpSpPr>
        <p:sp>
          <p:nvSpPr>
            <p:cNvPr id="75" name="矩形 74"/>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直接连接符 75"/>
            <p:cNvCxnSpPr>
              <a:stCxn id="75" idx="0"/>
              <a:endCxn id="75"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矩形 78"/>
          <p:cNvSpPr/>
          <p:nvPr/>
        </p:nvSpPr>
        <p:spPr>
          <a:xfrm>
            <a:off x="6590318" y="1404208"/>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 name="直接箭头连接符 136"/>
          <p:cNvCxnSpPr/>
          <p:nvPr/>
        </p:nvCxnSpPr>
        <p:spPr>
          <a:xfrm flipV="1">
            <a:off x="7170554" y="1561410"/>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38" name="文本框 137"/>
          <p:cNvSpPr txBox="1"/>
          <p:nvPr/>
        </p:nvSpPr>
        <p:spPr>
          <a:xfrm>
            <a:off x="7666884" y="1302886"/>
            <a:ext cx="508004" cy="523220"/>
          </a:xfrm>
          <a:prstGeom prst="rect">
            <a:avLst/>
          </a:prstGeom>
          <a:noFill/>
        </p:spPr>
        <p:txBody>
          <a:bodyPr wrap="square" rtlCol="0">
            <a:spAutoFit/>
          </a:bodyPr>
          <a:lstStyle/>
          <a:p>
            <a:r>
              <a:rPr lang="en-US" sz="2800" dirty="0"/>
              <a:t>d</a:t>
            </a:r>
          </a:p>
        </p:txBody>
      </p:sp>
      <p:cxnSp>
        <p:nvCxnSpPr>
          <p:cNvPr id="140" name="直接箭头连接符 139"/>
          <p:cNvCxnSpPr/>
          <p:nvPr/>
        </p:nvCxnSpPr>
        <p:spPr>
          <a:xfrm flipV="1">
            <a:off x="6146939" y="2149175"/>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41" name="文本框 140"/>
          <p:cNvSpPr txBox="1"/>
          <p:nvPr/>
        </p:nvSpPr>
        <p:spPr>
          <a:xfrm>
            <a:off x="6643269" y="1890651"/>
            <a:ext cx="508004" cy="523220"/>
          </a:xfrm>
          <a:prstGeom prst="rect">
            <a:avLst/>
          </a:prstGeom>
          <a:noFill/>
        </p:spPr>
        <p:txBody>
          <a:bodyPr wrap="square" rtlCol="0">
            <a:spAutoFit/>
          </a:bodyPr>
          <a:lstStyle/>
          <a:p>
            <a:r>
              <a:rPr lang="en-US" altLang="zh-CN" sz="2800" dirty="0"/>
              <a:t>e</a:t>
            </a:r>
            <a:endParaRPr lang="en-US" sz="2800" dirty="0"/>
          </a:p>
        </p:txBody>
      </p:sp>
      <p:grpSp>
        <p:nvGrpSpPr>
          <p:cNvPr id="157" name="组合 156"/>
          <p:cNvGrpSpPr/>
          <p:nvPr/>
        </p:nvGrpSpPr>
        <p:grpSpPr>
          <a:xfrm>
            <a:off x="701749" y="1398926"/>
            <a:ext cx="2788414" cy="1725095"/>
            <a:chOff x="714377" y="1588069"/>
            <a:chExt cx="2788414" cy="1725095"/>
          </a:xfrm>
        </p:grpSpPr>
        <p:cxnSp>
          <p:nvCxnSpPr>
            <p:cNvPr id="7" name="直接箭头连接符 6"/>
            <p:cNvCxnSpPr/>
            <p:nvPr/>
          </p:nvCxnSpPr>
          <p:spPr>
            <a:xfrm>
              <a:off x="2187362" y="2109619"/>
              <a:ext cx="26593" cy="667623"/>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1177693" y="1877526"/>
              <a:ext cx="772075" cy="1005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117" idx="1"/>
            </p:cNvCxnSpPr>
            <p:nvPr/>
          </p:nvCxnSpPr>
          <p:spPr>
            <a:xfrm>
              <a:off x="1156206" y="2084281"/>
              <a:ext cx="859592" cy="769611"/>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10" name="组合 109"/>
            <p:cNvGrpSpPr/>
            <p:nvPr/>
          </p:nvGrpSpPr>
          <p:grpSpPr>
            <a:xfrm>
              <a:off x="714377" y="1618859"/>
              <a:ext cx="470886" cy="536255"/>
              <a:chOff x="671237" y="1595677"/>
              <a:chExt cx="470886" cy="536255"/>
            </a:xfrm>
          </p:grpSpPr>
          <p:sp>
            <p:nvSpPr>
              <p:cNvPr id="6" name="流程图: 接点 5"/>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29"/>
              <p:cNvSpPr txBox="1"/>
              <p:nvPr/>
            </p:nvSpPr>
            <p:spPr>
              <a:xfrm>
                <a:off x="735249" y="1595677"/>
                <a:ext cx="279467" cy="523220"/>
              </a:xfrm>
              <a:prstGeom prst="rect">
                <a:avLst/>
              </a:prstGeom>
              <a:noFill/>
            </p:spPr>
            <p:txBody>
              <a:bodyPr wrap="square" rtlCol="0">
                <a:spAutoFit/>
              </a:bodyPr>
              <a:lstStyle/>
              <a:p>
                <a:r>
                  <a:rPr lang="en-US" altLang="zh-CN" sz="2800" dirty="0"/>
                  <a:t>a</a:t>
                </a:r>
                <a:endParaRPr lang="en-US" sz="2800" dirty="0"/>
              </a:p>
            </p:txBody>
          </p:sp>
        </p:grpSp>
        <p:grpSp>
          <p:nvGrpSpPr>
            <p:cNvPr id="113" name="组合 112"/>
            <p:cNvGrpSpPr/>
            <p:nvPr/>
          </p:nvGrpSpPr>
          <p:grpSpPr>
            <a:xfrm>
              <a:off x="1976334" y="1588069"/>
              <a:ext cx="470886" cy="536255"/>
              <a:chOff x="671237" y="1595677"/>
              <a:chExt cx="470886" cy="536255"/>
            </a:xfrm>
          </p:grpSpPr>
          <p:sp>
            <p:nvSpPr>
              <p:cNvPr id="114" name="流程图: 接点 113"/>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文本框 114"/>
              <p:cNvSpPr txBox="1"/>
              <p:nvPr/>
            </p:nvSpPr>
            <p:spPr>
              <a:xfrm>
                <a:off x="735249" y="1595677"/>
                <a:ext cx="279467" cy="523220"/>
              </a:xfrm>
              <a:prstGeom prst="rect">
                <a:avLst/>
              </a:prstGeom>
              <a:noFill/>
            </p:spPr>
            <p:txBody>
              <a:bodyPr wrap="square" rtlCol="0">
                <a:spAutoFit/>
              </a:bodyPr>
              <a:lstStyle/>
              <a:p>
                <a:r>
                  <a:rPr lang="en-US" altLang="zh-CN" sz="2800" dirty="0"/>
                  <a:t>b</a:t>
                </a:r>
                <a:endParaRPr lang="en-US" sz="2800" dirty="0"/>
              </a:p>
            </p:txBody>
          </p:sp>
        </p:grpSp>
        <p:grpSp>
          <p:nvGrpSpPr>
            <p:cNvPr id="116" name="组合 115"/>
            <p:cNvGrpSpPr/>
            <p:nvPr/>
          </p:nvGrpSpPr>
          <p:grpSpPr>
            <a:xfrm>
              <a:off x="1946838" y="2712130"/>
              <a:ext cx="470886" cy="536255"/>
              <a:chOff x="671237" y="1595677"/>
              <a:chExt cx="470886" cy="536255"/>
            </a:xfrm>
          </p:grpSpPr>
          <p:sp>
            <p:nvSpPr>
              <p:cNvPr id="117" name="流程图: 接点 116"/>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文本框 117"/>
              <p:cNvSpPr txBox="1"/>
              <p:nvPr/>
            </p:nvSpPr>
            <p:spPr>
              <a:xfrm>
                <a:off x="735249" y="1595677"/>
                <a:ext cx="279467" cy="523220"/>
              </a:xfrm>
              <a:prstGeom prst="rect">
                <a:avLst/>
              </a:prstGeom>
              <a:noFill/>
            </p:spPr>
            <p:txBody>
              <a:bodyPr wrap="square" rtlCol="0">
                <a:spAutoFit/>
              </a:bodyPr>
              <a:lstStyle/>
              <a:p>
                <a:r>
                  <a:rPr lang="en-US" altLang="zh-CN" sz="2800" dirty="0"/>
                  <a:t>d</a:t>
                </a:r>
                <a:endParaRPr lang="en-US" sz="2800" dirty="0"/>
              </a:p>
            </p:txBody>
          </p:sp>
        </p:grpSp>
        <p:grpSp>
          <p:nvGrpSpPr>
            <p:cNvPr id="119" name="组合 118"/>
            <p:cNvGrpSpPr/>
            <p:nvPr/>
          </p:nvGrpSpPr>
          <p:grpSpPr>
            <a:xfrm>
              <a:off x="722855" y="2776909"/>
              <a:ext cx="470886" cy="536255"/>
              <a:chOff x="671237" y="1595677"/>
              <a:chExt cx="470886" cy="536255"/>
            </a:xfrm>
          </p:grpSpPr>
          <p:sp>
            <p:nvSpPr>
              <p:cNvPr id="120" name="流程图: 接点 119"/>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文本框 120"/>
              <p:cNvSpPr txBox="1"/>
              <p:nvPr/>
            </p:nvSpPr>
            <p:spPr>
              <a:xfrm>
                <a:off x="735249" y="1595677"/>
                <a:ext cx="279467" cy="523220"/>
              </a:xfrm>
              <a:prstGeom prst="rect">
                <a:avLst/>
              </a:prstGeom>
              <a:noFill/>
            </p:spPr>
            <p:txBody>
              <a:bodyPr wrap="square" rtlCol="0">
                <a:spAutoFit/>
              </a:bodyPr>
              <a:lstStyle/>
              <a:p>
                <a:r>
                  <a:rPr lang="en-US" altLang="zh-CN" sz="2800" dirty="0"/>
                  <a:t>c</a:t>
                </a:r>
                <a:endParaRPr lang="en-US" sz="2800" dirty="0"/>
              </a:p>
            </p:txBody>
          </p:sp>
        </p:grpSp>
        <p:cxnSp>
          <p:nvCxnSpPr>
            <p:cNvPr id="123" name="直接箭头连接符 122"/>
            <p:cNvCxnSpPr/>
            <p:nvPr/>
          </p:nvCxnSpPr>
          <p:spPr>
            <a:xfrm flipV="1">
              <a:off x="1161701" y="3019056"/>
              <a:ext cx="772075" cy="1005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nvCxnSpPr>
          <p:spPr>
            <a:xfrm>
              <a:off x="926600" y="2140163"/>
              <a:ext cx="8731" cy="71372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29" name="组合 128"/>
            <p:cNvGrpSpPr/>
            <p:nvPr/>
          </p:nvGrpSpPr>
          <p:grpSpPr>
            <a:xfrm>
              <a:off x="3031905" y="2124324"/>
              <a:ext cx="470886" cy="536255"/>
              <a:chOff x="671237" y="1595677"/>
              <a:chExt cx="470886" cy="536255"/>
            </a:xfrm>
          </p:grpSpPr>
          <p:sp>
            <p:nvSpPr>
              <p:cNvPr id="130" name="流程图: 接点 129"/>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文本框 130"/>
              <p:cNvSpPr txBox="1"/>
              <p:nvPr/>
            </p:nvSpPr>
            <p:spPr>
              <a:xfrm>
                <a:off x="735249" y="1595677"/>
                <a:ext cx="279467" cy="523220"/>
              </a:xfrm>
              <a:prstGeom prst="rect">
                <a:avLst/>
              </a:prstGeom>
              <a:noFill/>
            </p:spPr>
            <p:txBody>
              <a:bodyPr wrap="square" rtlCol="0">
                <a:spAutoFit/>
              </a:bodyPr>
              <a:lstStyle/>
              <a:p>
                <a:r>
                  <a:rPr lang="en-US" altLang="zh-CN" sz="2800" dirty="0"/>
                  <a:t>e</a:t>
                </a:r>
                <a:endParaRPr lang="en-US" sz="2800" dirty="0"/>
              </a:p>
            </p:txBody>
          </p:sp>
        </p:grpSp>
        <p:cxnSp>
          <p:nvCxnSpPr>
            <p:cNvPr id="132" name="直接箭头连接符 131"/>
            <p:cNvCxnSpPr>
              <a:endCxn id="130" idx="1"/>
            </p:cNvCxnSpPr>
            <p:nvPr/>
          </p:nvCxnSpPr>
          <p:spPr>
            <a:xfrm>
              <a:off x="2463575" y="1938879"/>
              <a:ext cx="637290" cy="327207"/>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endCxn id="130" idx="3"/>
            </p:cNvCxnSpPr>
            <p:nvPr/>
          </p:nvCxnSpPr>
          <p:spPr>
            <a:xfrm flipV="1">
              <a:off x="2425407" y="2592895"/>
              <a:ext cx="675458" cy="39306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6604959" y="1966484"/>
            <a:ext cx="782180" cy="335532"/>
            <a:chOff x="1340760" y="5854248"/>
            <a:chExt cx="995517" cy="428221"/>
          </a:xfrm>
        </p:grpSpPr>
        <p:sp>
          <p:nvSpPr>
            <p:cNvPr id="144" name="矩形 143"/>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直接连接符 144"/>
            <p:cNvCxnSpPr>
              <a:stCxn id="144" idx="0"/>
              <a:endCxn id="144"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组合 146"/>
          <p:cNvGrpSpPr/>
          <p:nvPr/>
        </p:nvGrpSpPr>
        <p:grpSpPr>
          <a:xfrm>
            <a:off x="7623697" y="1377042"/>
            <a:ext cx="782180" cy="335532"/>
            <a:chOff x="1340760" y="5854248"/>
            <a:chExt cx="995517" cy="428221"/>
          </a:xfrm>
        </p:grpSpPr>
        <p:sp>
          <p:nvSpPr>
            <p:cNvPr id="148" name="矩形 147"/>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9" name="直接连接符 148"/>
            <p:cNvCxnSpPr>
              <a:stCxn id="148" idx="0"/>
              <a:endCxn id="148"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组合 150"/>
          <p:cNvGrpSpPr/>
          <p:nvPr/>
        </p:nvGrpSpPr>
        <p:grpSpPr>
          <a:xfrm>
            <a:off x="4499026" y="3894060"/>
            <a:ext cx="782180" cy="335532"/>
            <a:chOff x="1340760" y="5854248"/>
            <a:chExt cx="995517" cy="428221"/>
          </a:xfrm>
        </p:grpSpPr>
        <p:sp>
          <p:nvSpPr>
            <p:cNvPr id="152" name="矩形 151"/>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直接连接符 152"/>
            <p:cNvCxnSpPr>
              <a:stCxn id="152" idx="0"/>
              <a:endCxn id="152"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5" name="文本框 154"/>
          <p:cNvSpPr txBox="1"/>
          <p:nvPr/>
        </p:nvSpPr>
        <p:spPr>
          <a:xfrm>
            <a:off x="4076608" y="3789545"/>
            <a:ext cx="508004" cy="523220"/>
          </a:xfrm>
          <a:prstGeom prst="rect">
            <a:avLst/>
          </a:prstGeom>
          <a:noFill/>
        </p:spPr>
        <p:txBody>
          <a:bodyPr wrap="square" rtlCol="0">
            <a:spAutoFit/>
          </a:bodyPr>
          <a:lstStyle/>
          <a:p>
            <a:r>
              <a:rPr lang="en-US" altLang="zh-CN" sz="2800" dirty="0"/>
              <a:t>e</a:t>
            </a:r>
            <a:endParaRPr lang="en-US" sz="2800" dirty="0"/>
          </a:p>
        </p:txBody>
      </p:sp>
      <p:sp>
        <p:nvSpPr>
          <p:cNvPr id="159" name="文本框 158"/>
          <p:cNvSpPr txBox="1"/>
          <p:nvPr/>
        </p:nvSpPr>
        <p:spPr>
          <a:xfrm>
            <a:off x="4098320" y="1878016"/>
            <a:ext cx="508004" cy="523220"/>
          </a:xfrm>
          <a:prstGeom prst="rect">
            <a:avLst/>
          </a:prstGeom>
          <a:noFill/>
        </p:spPr>
        <p:txBody>
          <a:bodyPr wrap="square" rtlCol="0">
            <a:spAutoFit/>
          </a:bodyPr>
          <a:lstStyle/>
          <a:p>
            <a:r>
              <a:rPr lang="en-US" altLang="zh-CN" sz="2800" dirty="0"/>
              <a:t>b</a:t>
            </a:r>
            <a:endParaRPr lang="en-US" sz="2800" dirty="0"/>
          </a:p>
        </p:txBody>
      </p:sp>
      <p:sp>
        <p:nvSpPr>
          <p:cNvPr id="3" name="右箭头 2"/>
          <p:cNvSpPr/>
          <p:nvPr/>
        </p:nvSpPr>
        <p:spPr>
          <a:xfrm rot="2502404">
            <a:off x="4372692" y="926456"/>
            <a:ext cx="496801" cy="37906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7282997" y="3396752"/>
            <a:ext cx="412831" cy="523220"/>
          </a:xfrm>
          <a:prstGeom prst="rect">
            <a:avLst/>
          </a:prstGeom>
          <a:noFill/>
        </p:spPr>
        <p:txBody>
          <a:bodyPr wrap="square" rtlCol="0">
            <a:spAutoFit/>
          </a:bodyPr>
          <a:lstStyle/>
          <a:p>
            <a:r>
              <a:rPr lang="en-US" altLang="zh-CN" sz="2800" dirty="0"/>
              <a:t>a</a:t>
            </a:r>
            <a:endParaRPr lang="en-US" sz="2800" dirty="0"/>
          </a:p>
        </p:txBody>
      </p:sp>
      <p:sp>
        <p:nvSpPr>
          <p:cNvPr id="81" name="文本框 80"/>
          <p:cNvSpPr txBox="1"/>
          <p:nvPr/>
        </p:nvSpPr>
        <p:spPr>
          <a:xfrm>
            <a:off x="7289583" y="3450452"/>
            <a:ext cx="412831" cy="523220"/>
          </a:xfrm>
          <a:prstGeom prst="rect">
            <a:avLst/>
          </a:prstGeom>
          <a:noFill/>
        </p:spPr>
        <p:txBody>
          <a:bodyPr wrap="square" rtlCol="0">
            <a:spAutoFit/>
          </a:bodyPr>
          <a:lstStyle/>
          <a:p>
            <a:r>
              <a:rPr lang="en-US" sz="2800" dirty="0"/>
              <a:t>b</a:t>
            </a:r>
          </a:p>
        </p:txBody>
      </p:sp>
      <p:sp>
        <p:nvSpPr>
          <p:cNvPr id="85" name="文本框 84"/>
          <p:cNvSpPr txBox="1"/>
          <p:nvPr/>
        </p:nvSpPr>
        <p:spPr>
          <a:xfrm>
            <a:off x="7282997" y="3562880"/>
            <a:ext cx="352845" cy="523220"/>
          </a:xfrm>
          <a:prstGeom prst="rect">
            <a:avLst/>
          </a:prstGeom>
          <a:noFill/>
        </p:spPr>
        <p:txBody>
          <a:bodyPr wrap="square" rtlCol="0">
            <a:spAutoFit/>
          </a:bodyPr>
          <a:lstStyle/>
          <a:p>
            <a:r>
              <a:rPr lang="en-US" altLang="zh-CN" sz="2800" dirty="0"/>
              <a:t>d </a:t>
            </a:r>
            <a:endParaRPr lang="en-US" sz="2800" dirty="0"/>
          </a:p>
        </p:txBody>
      </p:sp>
      <p:sp>
        <p:nvSpPr>
          <p:cNvPr id="8" name="文本框 7"/>
          <p:cNvSpPr txBox="1"/>
          <p:nvPr/>
        </p:nvSpPr>
        <p:spPr>
          <a:xfrm>
            <a:off x="7292281" y="3457479"/>
            <a:ext cx="406384" cy="523220"/>
          </a:xfrm>
          <a:prstGeom prst="rect">
            <a:avLst/>
          </a:prstGeom>
          <a:noFill/>
        </p:spPr>
        <p:txBody>
          <a:bodyPr wrap="square" rtlCol="0">
            <a:spAutoFit/>
          </a:bodyPr>
          <a:lstStyle/>
          <a:p>
            <a:r>
              <a:rPr lang="en-US" sz="2800" dirty="0"/>
              <a:t>e</a:t>
            </a:r>
          </a:p>
        </p:txBody>
      </p:sp>
    </p:spTree>
    <p:custDataLst>
      <p:tags r:id="rId1"/>
    </p:custDataLst>
    <p:extLst>
      <p:ext uri="{BB962C8B-B14F-4D97-AF65-F5344CB8AC3E}">
        <p14:creationId xmlns:p14="http://schemas.microsoft.com/office/powerpoint/2010/main" val="393557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42" presetClass="path" presetSubtype="0" accel="50000" decel="50000" fill="hold" grpId="0" nodeType="withEffect">
                                  <p:stCondLst>
                                    <p:cond delay="0"/>
                                  </p:stCondLst>
                                  <p:childTnLst>
                                    <p:animMotion origin="layout" path="M -1.66667E-6 7.40741E-7 L 0.00313 0.35116 " pathEditMode="relative" rAng="0" ptsTypes="AA">
                                      <p:cBhvr>
                                        <p:cTn id="8" dur="2000" fill="hold"/>
                                        <p:tgtEl>
                                          <p:spTgt spid="4"/>
                                        </p:tgtEl>
                                        <p:attrNameLst>
                                          <p:attrName>ppt_x</p:attrName>
                                          <p:attrName>ppt_y</p:attrName>
                                        </p:attrNameLst>
                                      </p:cBhvr>
                                      <p:rCtr x="156" y="17546"/>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0" nodeType="clickEffect">
                                  <p:stCondLst>
                                    <p:cond delay="0"/>
                                  </p:stCondLst>
                                  <p:childTnLst>
                                    <p:animMotion origin="layout" path="M 1.66667E-6 -1.48148E-6 L 0.11493 0.00486 " pathEditMode="relative" rAng="0" ptsTypes="AA">
                                      <p:cBhvr>
                                        <p:cTn id="15" dur="1000" fill="hold"/>
                                        <p:tgtEl>
                                          <p:spTgt spid="3"/>
                                        </p:tgtEl>
                                        <p:attrNameLst>
                                          <p:attrName>ppt_x</p:attrName>
                                          <p:attrName>ppt_y</p:attrName>
                                        </p:attrNameLst>
                                      </p:cBhvr>
                                      <p:rCtr x="5747" y="231"/>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81"/>
                                        </p:tgtEl>
                                        <p:attrNameLst>
                                          <p:attrName>style.visibility</p:attrName>
                                        </p:attrNameLst>
                                      </p:cBhvr>
                                      <p:to>
                                        <p:strVal val="visible"/>
                                      </p:to>
                                    </p:set>
                                  </p:childTnLst>
                                </p:cTn>
                              </p:par>
                              <p:par>
                                <p:cTn id="20" presetID="42" presetClass="path" presetSubtype="0" accel="50000" decel="50000" fill="hold" grpId="0" nodeType="withEffect">
                                  <p:stCondLst>
                                    <p:cond delay="0"/>
                                  </p:stCondLst>
                                  <p:childTnLst>
                                    <p:animMotion origin="layout" path="M -4.16667E-6 -2.22222E-6 L 0.00157 0.26204 " pathEditMode="relative" rAng="0" ptsTypes="AA">
                                      <p:cBhvr>
                                        <p:cTn id="21" dur="2000" fill="hold"/>
                                        <p:tgtEl>
                                          <p:spTgt spid="81"/>
                                        </p:tgtEl>
                                        <p:attrNameLst>
                                          <p:attrName>ppt_x</p:attrName>
                                          <p:attrName>ppt_y</p:attrName>
                                        </p:attrNameLst>
                                      </p:cBhvr>
                                      <p:rCtr x="69" y="13102"/>
                                    </p:animMotion>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1" nodeType="clickEffect">
                                  <p:stCondLst>
                                    <p:cond delay="0"/>
                                  </p:stCondLst>
                                  <p:childTnLst>
                                    <p:animMotion origin="layout" path="M 0.11493 0.00486 L 0.01024 0.09792 " pathEditMode="relative" rAng="0" ptsTypes="AA">
                                      <p:cBhvr>
                                        <p:cTn id="28" dur="1000" fill="hold"/>
                                        <p:tgtEl>
                                          <p:spTgt spid="3"/>
                                        </p:tgtEl>
                                        <p:attrNameLst>
                                          <p:attrName>ppt_x</p:attrName>
                                          <p:attrName>ppt_y</p:attrName>
                                        </p:attrNameLst>
                                      </p:cBhvr>
                                      <p:rCtr x="-5243" y="4653"/>
                                    </p:animMotion>
                                  </p:childTnLst>
                                </p:cTn>
                              </p:par>
                              <p:par>
                                <p:cTn id="29" presetID="42" presetClass="path" presetSubtype="0" accel="50000" decel="50000" fill="hold" grpId="2" nodeType="withEffect">
                                  <p:stCondLst>
                                    <p:cond delay="0"/>
                                  </p:stCondLst>
                                  <p:childTnLst>
                                    <p:animMotion origin="layout" path="M 0.01024 0.09792 L 0.11354 0.09676 " pathEditMode="relative" rAng="0" ptsTypes="AA">
                                      <p:cBhvr>
                                        <p:cTn id="30" dur="1000" fill="hold"/>
                                        <p:tgtEl>
                                          <p:spTgt spid="3"/>
                                        </p:tgtEl>
                                        <p:attrNameLst>
                                          <p:attrName>ppt_x</p:attrName>
                                          <p:attrName>ppt_y</p:attrName>
                                        </p:attrNameLst>
                                      </p:cBhvr>
                                      <p:rCtr x="5156" y="-69"/>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childTnLst>
                          </p:cTn>
                        </p:par>
                        <p:par>
                          <p:cTn id="35" fill="hold">
                            <p:stCondLst>
                              <p:cond delay="0"/>
                            </p:stCondLst>
                            <p:childTnLst>
                              <p:par>
                                <p:cTn id="36" presetID="42" presetClass="path" presetSubtype="0" accel="50000" decel="50000" fill="hold" grpId="1" nodeType="afterEffect">
                                  <p:stCondLst>
                                    <p:cond delay="0"/>
                                  </p:stCondLst>
                                  <p:childTnLst>
                                    <p:animMotion origin="layout" path="M 1.38889E-6 1.11111E-6 L 0.00121 0.1706 " pathEditMode="relative" rAng="0" ptsTypes="AA">
                                      <p:cBhvr>
                                        <p:cTn id="37" dur="2000" fill="hold"/>
                                        <p:tgtEl>
                                          <p:spTgt spid="85"/>
                                        </p:tgtEl>
                                        <p:attrNameLst>
                                          <p:attrName>ppt_x</p:attrName>
                                          <p:attrName>ppt_y</p:attrName>
                                        </p:attrNameLst>
                                      </p:cBhvr>
                                      <p:rCtr x="52" y="8519"/>
                                    </p:animMotion>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grpId="3" nodeType="clickEffect">
                                  <p:stCondLst>
                                    <p:cond delay="0"/>
                                  </p:stCondLst>
                                  <p:childTnLst>
                                    <p:animMotion origin="layout" path="M 0.11354 0.09676 L 0.00156 0.29074 " pathEditMode="relative" rAng="0" ptsTypes="AA">
                                      <p:cBhvr>
                                        <p:cTn id="44" dur="1000" fill="hold"/>
                                        <p:tgtEl>
                                          <p:spTgt spid="3"/>
                                        </p:tgtEl>
                                        <p:attrNameLst>
                                          <p:attrName>ppt_x</p:attrName>
                                          <p:attrName>ppt_y</p:attrName>
                                        </p:attrNameLst>
                                      </p:cBhvr>
                                      <p:rCtr x="-5608" y="9699"/>
                                    </p:animMotion>
                                  </p:childTnLst>
                                </p:cTn>
                              </p:par>
                            </p:childTnLst>
                          </p:cTn>
                        </p:par>
                        <p:par>
                          <p:cTn id="45" fill="hold">
                            <p:stCondLst>
                              <p:cond delay="1000"/>
                            </p:stCondLst>
                            <p:childTnLst>
                              <p:par>
                                <p:cTn id="46" presetID="42" presetClass="path" presetSubtype="0" accel="50000" decel="50000" fill="hold" grpId="4" nodeType="afterEffect">
                                  <p:stCondLst>
                                    <p:cond delay="0"/>
                                  </p:stCondLst>
                                  <p:childTnLst>
                                    <p:animMotion origin="layout" path="M 0.00156 0.29074 L 0.1026 0.29236 " pathEditMode="relative" rAng="0" ptsTypes="AA">
                                      <p:cBhvr>
                                        <p:cTn id="47" dur="1000" fill="hold"/>
                                        <p:tgtEl>
                                          <p:spTgt spid="3"/>
                                        </p:tgtEl>
                                        <p:attrNameLst>
                                          <p:attrName>ppt_x</p:attrName>
                                          <p:attrName>ppt_y</p:attrName>
                                        </p:attrNameLst>
                                      </p:cBhvr>
                                      <p:rCtr x="5052" y="69"/>
                                    </p:animMotion>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childTnLst>
                                </p:cTn>
                              </p:par>
                            </p:childTnLst>
                          </p:cTn>
                        </p:par>
                        <p:par>
                          <p:cTn id="52" fill="hold">
                            <p:stCondLst>
                              <p:cond delay="0"/>
                            </p:stCondLst>
                            <p:childTnLst>
                              <p:par>
                                <p:cTn id="53" presetID="42" presetClass="path" presetSubtype="0" accel="50000" decel="50000" fill="hold" grpId="1" nodeType="afterEffect">
                                  <p:stCondLst>
                                    <p:cond delay="0"/>
                                  </p:stCondLst>
                                  <p:childTnLst>
                                    <p:animMotion origin="layout" path="M -1.66667E-6 -1.11111E-6 L -0.00121 0.1081 " pathEditMode="relative" rAng="0" ptsTypes="AA">
                                      <p:cBhvr>
                                        <p:cTn id="54" dur="1000" fill="hold"/>
                                        <p:tgtEl>
                                          <p:spTgt spid="8"/>
                                        </p:tgtEl>
                                        <p:attrNameLst>
                                          <p:attrName>ppt_x</p:attrName>
                                          <p:attrName>ppt_y</p:attrName>
                                        </p:attrNameLst>
                                      </p:cBhvr>
                                      <p:rCtr x="-69" y="5394"/>
                                    </p:animMotion>
                                  </p:childTnLst>
                                </p:cTn>
                              </p:par>
                            </p:childTnLst>
                          </p:cTn>
                        </p:par>
                        <p:par>
                          <p:cTn id="55" fill="hold">
                            <p:stCondLst>
                              <p:cond delay="1000"/>
                            </p:stCondLst>
                            <p:childTnLst>
                              <p:par>
                                <p:cTn id="56" presetID="1" presetClass="entr" presetSubtype="0" fill="hold" grpId="0" nodeType="afterEffect">
                                  <p:stCondLst>
                                    <p:cond delay="0"/>
                                  </p:stCondLst>
                                  <p:childTnLst>
                                    <p:set>
                                      <p:cBhvr>
                                        <p:cTn id="57" dur="1" fill="hold">
                                          <p:stCondLst>
                                            <p:cond delay="0"/>
                                          </p:stCondLst>
                                        </p:cTn>
                                        <p:tgtEl>
                                          <p:spTgt spid="8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42" presetClass="path" presetSubtype="0" accel="50000" decel="50000" fill="hold" grpId="5" nodeType="clickEffect">
                                  <p:stCondLst>
                                    <p:cond delay="0"/>
                                  </p:stCondLst>
                                  <p:childTnLst>
                                    <p:animMotion origin="layout" path="M 0.1026 0.29236 L 0.00451 0.38056 " pathEditMode="relative" rAng="0" ptsTypes="AA">
                                      <p:cBhvr>
                                        <p:cTn id="61" dur="2000" fill="hold"/>
                                        <p:tgtEl>
                                          <p:spTgt spid="3"/>
                                        </p:tgtEl>
                                        <p:attrNameLst>
                                          <p:attrName>ppt_x</p:attrName>
                                          <p:attrName>ppt_y</p:attrName>
                                        </p:attrNameLst>
                                      </p:cBhvr>
                                      <p:rCtr x="-4913" y="43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7" grpId="0" animBg="1"/>
      <p:bldP spid="86" grpId="0" animBg="1"/>
      <p:bldP spid="10" grpId="0" animBg="1"/>
      <p:bldP spid="3" grpId="0" animBg="1"/>
      <p:bldP spid="3" grpId="1" animBg="1"/>
      <p:bldP spid="3" grpId="2" animBg="1"/>
      <p:bldP spid="3" grpId="3" animBg="1"/>
      <p:bldP spid="3" grpId="4" animBg="1"/>
      <p:bldP spid="3" grpId="5" animBg="1"/>
      <p:bldP spid="4" grpId="0"/>
      <p:bldP spid="4" grpId="1"/>
      <p:bldP spid="81" grpId="0"/>
      <p:bldP spid="81" grpId="1"/>
      <p:bldP spid="85" grpId="0"/>
      <p:bldP spid="85" grpId="1"/>
      <p:bldP spid="8" grpId="0"/>
      <p:bldP spid="8"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组合 96"/>
          <p:cNvGrpSpPr/>
          <p:nvPr/>
        </p:nvGrpSpPr>
        <p:grpSpPr>
          <a:xfrm>
            <a:off x="7076615" y="3658347"/>
            <a:ext cx="765607" cy="2970263"/>
            <a:chOff x="2251942" y="3778029"/>
            <a:chExt cx="765607" cy="2970263"/>
          </a:xfrm>
        </p:grpSpPr>
        <p:sp>
          <p:nvSpPr>
            <p:cNvPr id="98" name="矩形 97"/>
            <p:cNvSpPr/>
            <p:nvPr/>
          </p:nvSpPr>
          <p:spPr>
            <a:xfrm>
              <a:off x="2326285" y="3828128"/>
              <a:ext cx="645076" cy="2920164"/>
            </a:xfrm>
            <a:prstGeom prst="rect">
              <a:avLst/>
            </a:prstGeom>
            <a:no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矩形 98"/>
            <p:cNvSpPr/>
            <p:nvPr/>
          </p:nvSpPr>
          <p:spPr>
            <a:xfrm>
              <a:off x="2251942" y="3778029"/>
              <a:ext cx="765607" cy="1501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椭圆 91"/>
          <p:cNvSpPr/>
          <p:nvPr/>
        </p:nvSpPr>
        <p:spPr>
          <a:xfrm>
            <a:off x="701749" y="2647190"/>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椭圆 90"/>
          <p:cNvSpPr/>
          <p:nvPr/>
        </p:nvSpPr>
        <p:spPr>
          <a:xfrm>
            <a:off x="3013253" y="1989840"/>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椭圆 89"/>
          <p:cNvSpPr/>
          <p:nvPr/>
        </p:nvSpPr>
        <p:spPr>
          <a:xfrm>
            <a:off x="1958973" y="1460741"/>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椭圆 88"/>
          <p:cNvSpPr/>
          <p:nvPr/>
        </p:nvSpPr>
        <p:spPr>
          <a:xfrm>
            <a:off x="1945932" y="2577646"/>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椭圆 87"/>
          <p:cNvSpPr/>
          <p:nvPr/>
        </p:nvSpPr>
        <p:spPr>
          <a:xfrm>
            <a:off x="691192" y="1485913"/>
            <a:ext cx="485768" cy="5010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矩形 33"/>
          <p:cNvSpPr/>
          <p:nvPr/>
        </p:nvSpPr>
        <p:spPr>
          <a:xfrm>
            <a:off x="4469742" y="1398926"/>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矩形 34"/>
          <p:cNvSpPr/>
          <p:nvPr/>
        </p:nvSpPr>
        <p:spPr>
          <a:xfrm>
            <a:off x="4469742" y="1981666"/>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矩形 35"/>
          <p:cNvSpPr/>
          <p:nvPr/>
        </p:nvSpPr>
        <p:spPr>
          <a:xfrm>
            <a:off x="4469742" y="2625448"/>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矩形 36"/>
          <p:cNvSpPr/>
          <p:nvPr/>
        </p:nvSpPr>
        <p:spPr>
          <a:xfrm>
            <a:off x="4469742" y="3285151"/>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矩形 37"/>
          <p:cNvSpPr/>
          <p:nvPr/>
        </p:nvSpPr>
        <p:spPr>
          <a:xfrm>
            <a:off x="5530030" y="1407490"/>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文本框 42"/>
          <p:cNvSpPr txBox="1"/>
          <p:nvPr/>
        </p:nvSpPr>
        <p:spPr>
          <a:xfrm>
            <a:off x="4119266" y="1307512"/>
            <a:ext cx="508004" cy="523220"/>
          </a:xfrm>
          <a:prstGeom prst="rect">
            <a:avLst/>
          </a:prstGeom>
          <a:noFill/>
        </p:spPr>
        <p:txBody>
          <a:bodyPr wrap="square" rtlCol="0">
            <a:spAutoFit/>
          </a:bodyPr>
          <a:lstStyle/>
          <a:p>
            <a:r>
              <a:rPr lang="en-US" altLang="zh-CN" sz="2800" dirty="0"/>
              <a:t>a</a:t>
            </a:r>
            <a:endParaRPr lang="en-US" sz="2800" dirty="0"/>
          </a:p>
        </p:txBody>
      </p:sp>
      <p:sp>
        <p:nvSpPr>
          <p:cNvPr id="44" name="文本框 43"/>
          <p:cNvSpPr txBox="1"/>
          <p:nvPr/>
        </p:nvSpPr>
        <p:spPr>
          <a:xfrm>
            <a:off x="4102095" y="2541410"/>
            <a:ext cx="508004" cy="409968"/>
          </a:xfrm>
          <a:prstGeom prst="rect">
            <a:avLst/>
          </a:prstGeom>
          <a:noFill/>
        </p:spPr>
        <p:txBody>
          <a:bodyPr wrap="square" rtlCol="0">
            <a:spAutoFit/>
          </a:bodyPr>
          <a:lstStyle/>
          <a:p>
            <a:r>
              <a:rPr lang="en-US" altLang="zh-CN" sz="2800" dirty="0"/>
              <a:t>c</a:t>
            </a:r>
            <a:endParaRPr lang="en-US" sz="2800" dirty="0"/>
          </a:p>
        </p:txBody>
      </p:sp>
      <p:sp>
        <p:nvSpPr>
          <p:cNvPr id="45" name="文本框 44"/>
          <p:cNvSpPr txBox="1"/>
          <p:nvPr/>
        </p:nvSpPr>
        <p:spPr>
          <a:xfrm>
            <a:off x="4078578" y="3248394"/>
            <a:ext cx="508004" cy="409968"/>
          </a:xfrm>
          <a:prstGeom prst="rect">
            <a:avLst/>
          </a:prstGeom>
          <a:noFill/>
        </p:spPr>
        <p:txBody>
          <a:bodyPr wrap="square" rtlCol="0">
            <a:spAutoFit/>
          </a:bodyPr>
          <a:lstStyle/>
          <a:p>
            <a:r>
              <a:rPr lang="en-US" altLang="zh-CN" sz="2800" dirty="0"/>
              <a:t>d</a:t>
            </a:r>
            <a:endParaRPr lang="en-US" sz="2800" dirty="0"/>
          </a:p>
        </p:txBody>
      </p:sp>
      <p:sp>
        <p:nvSpPr>
          <p:cNvPr id="46" name="文本框 45"/>
          <p:cNvSpPr txBox="1"/>
          <p:nvPr/>
        </p:nvSpPr>
        <p:spPr>
          <a:xfrm>
            <a:off x="5558397" y="1350119"/>
            <a:ext cx="508004" cy="409968"/>
          </a:xfrm>
          <a:prstGeom prst="rect">
            <a:avLst/>
          </a:prstGeom>
          <a:noFill/>
        </p:spPr>
        <p:txBody>
          <a:bodyPr wrap="square" rtlCol="0">
            <a:spAutoFit/>
          </a:bodyPr>
          <a:lstStyle/>
          <a:p>
            <a:r>
              <a:rPr lang="en-US" altLang="zh-CN" sz="2800" dirty="0"/>
              <a:t>b</a:t>
            </a:r>
            <a:endParaRPr lang="en-US" sz="2800" dirty="0"/>
          </a:p>
        </p:txBody>
      </p:sp>
      <p:sp>
        <p:nvSpPr>
          <p:cNvPr id="47" name="文本框 46"/>
          <p:cNvSpPr txBox="1"/>
          <p:nvPr/>
        </p:nvSpPr>
        <p:spPr>
          <a:xfrm>
            <a:off x="5534488" y="1879498"/>
            <a:ext cx="508004" cy="523220"/>
          </a:xfrm>
          <a:prstGeom prst="rect">
            <a:avLst/>
          </a:prstGeom>
          <a:noFill/>
        </p:spPr>
        <p:txBody>
          <a:bodyPr wrap="square" rtlCol="0">
            <a:spAutoFit/>
          </a:bodyPr>
          <a:lstStyle/>
          <a:p>
            <a:r>
              <a:rPr lang="en-US" altLang="zh-CN" sz="2800" dirty="0"/>
              <a:t>d</a:t>
            </a:r>
            <a:endParaRPr lang="en-US" sz="2800" dirty="0"/>
          </a:p>
        </p:txBody>
      </p:sp>
      <p:sp>
        <p:nvSpPr>
          <p:cNvPr id="48" name="文本框 47"/>
          <p:cNvSpPr txBox="1"/>
          <p:nvPr/>
        </p:nvSpPr>
        <p:spPr>
          <a:xfrm>
            <a:off x="5558397" y="2553585"/>
            <a:ext cx="508004" cy="409968"/>
          </a:xfrm>
          <a:prstGeom prst="rect">
            <a:avLst/>
          </a:prstGeom>
          <a:noFill/>
        </p:spPr>
        <p:txBody>
          <a:bodyPr wrap="square" rtlCol="0">
            <a:spAutoFit/>
          </a:bodyPr>
          <a:lstStyle/>
          <a:p>
            <a:r>
              <a:rPr lang="en-US" altLang="zh-CN" sz="2800" dirty="0"/>
              <a:t>d</a:t>
            </a:r>
            <a:endParaRPr lang="en-US" sz="2800" dirty="0"/>
          </a:p>
        </p:txBody>
      </p:sp>
      <p:sp>
        <p:nvSpPr>
          <p:cNvPr id="49" name="文本框 48"/>
          <p:cNvSpPr txBox="1"/>
          <p:nvPr/>
        </p:nvSpPr>
        <p:spPr>
          <a:xfrm>
            <a:off x="5549492" y="3202314"/>
            <a:ext cx="508004" cy="523220"/>
          </a:xfrm>
          <a:prstGeom prst="rect">
            <a:avLst/>
          </a:prstGeom>
          <a:noFill/>
        </p:spPr>
        <p:txBody>
          <a:bodyPr wrap="square" rtlCol="0">
            <a:spAutoFit/>
          </a:bodyPr>
          <a:lstStyle/>
          <a:p>
            <a:r>
              <a:rPr lang="en-US" altLang="zh-CN" sz="2800" dirty="0"/>
              <a:t>e</a:t>
            </a:r>
            <a:endParaRPr lang="en-US" sz="2800" dirty="0"/>
          </a:p>
        </p:txBody>
      </p:sp>
      <p:cxnSp>
        <p:nvCxnSpPr>
          <p:cNvPr id="51" name="直接箭头连接符 50"/>
          <p:cNvCxnSpPr/>
          <p:nvPr/>
        </p:nvCxnSpPr>
        <p:spPr>
          <a:xfrm flipV="1">
            <a:off x="5061483" y="1572200"/>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V="1">
            <a:off x="5076139" y="2155551"/>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V="1">
            <a:off x="5076139" y="2805913"/>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5076139" y="3481026"/>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V="1">
            <a:off x="6133304" y="1566692"/>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6629634" y="1308168"/>
            <a:ext cx="508004" cy="523220"/>
          </a:xfrm>
          <a:prstGeom prst="rect">
            <a:avLst/>
          </a:prstGeom>
          <a:noFill/>
        </p:spPr>
        <p:txBody>
          <a:bodyPr wrap="square" rtlCol="0">
            <a:spAutoFit/>
          </a:bodyPr>
          <a:lstStyle/>
          <a:p>
            <a:r>
              <a:rPr lang="en-US" altLang="zh-CN" sz="2800" dirty="0"/>
              <a:t>c</a:t>
            </a:r>
            <a:endParaRPr lang="en-US" sz="2800" dirty="0"/>
          </a:p>
        </p:txBody>
      </p:sp>
      <p:sp>
        <p:nvSpPr>
          <p:cNvPr id="63" name="矩形 62"/>
          <p:cNvSpPr/>
          <p:nvPr/>
        </p:nvSpPr>
        <p:spPr>
          <a:xfrm>
            <a:off x="5538096" y="1979291"/>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组合 69"/>
          <p:cNvGrpSpPr/>
          <p:nvPr/>
        </p:nvGrpSpPr>
        <p:grpSpPr>
          <a:xfrm>
            <a:off x="5534488" y="2644522"/>
            <a:ext cx="782180" cy="335532"/>
            <a:chOff x="1340760" y="5854248"/>
            <a:chExt cx="995517" cy="428221"/>
          </a:xfrm>
        </p:grpSpPr>
        <p:sp>
          <p:nvSpPr>
            <p:cNvPr id="71" name="矩形 70"/>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直接连接符 71"/>
            <p:cNvCxnSpPr>
              <a:stCxn id="71" idx="0"/>
              <a:endCxn id="71"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组合 73"/>
          <p:cNvGrpSpPr/>
          <p:nvPr/>
        </p:nvGrpSpPr>
        <p:grpSpPr>
          <a:xfrm>
            <a:off x="5525625" y="3279265"/>
            <a:ext cx="782180" cy="335532"/>
            <a:chOff x="1340760" y="5854248"/>
            <a:chExt cx="995517" cy="428221"/>
          </a:xfrm>
        </p:grpSpPr>
        <p:sp>
          <p:nvSpPr>
            <p:cNvPr id="75" name="矩形 74"/>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直接连接符 75"/>
            <p:cNvCxnSpPr>
              <a:stCxn id="75" idx="0"/>
              <a:endCxn id="75"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矩形 78"/>
          <p:cNvSpPr/>
          <p:nvPr/>
        </p:nvSpPr>
        <p:spPr>
          <a:xfrm>
            <a:off x="6590318" y="1404208"/>
            <a:ext cx="782180" cy="3355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 name="直接箭头连接符 136"/>
          <p:cNvCxnSpPr/>
          <p:nvPr/>
        </p:nvCxnSpPr>
        <p:spPr>
          <a:xfrm flipV="1">
            <a:off x="7170554" y="1561410"/>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38" name="文本框 137"/>
          <p:cNvSpPr txBox="1"/>
          <p:nvPr/>
        </p:nvSpPr>
        <p:spPr>
          <a:xfrm>
            <a:off x="7666884" y="1302886"/>
            <a:ext cx="508004" cy="523220"/>
          </a:xfrm>
          <a:prstGeom prst="rect">
            <a:avLst/>
          </a:prstGeom>
          <a:noFill/>
        </p:spPr>
        <p:txBody>
          <a:bodyPr wrap="square" rtlCol="0">
            <a:spAutoFit/>
          </a:bodyPr>
          <a:lstStyle/>
          <a:p>
            <a:r>
              <a:rPr lang="en-US" sz="2800" dirty="0"/>
              <a:t>d</a:t>
            </a:r>
          </a:p>
        </p:txBody>
      </p:sp>
      <p:cxnSp>
        <p:nvCxnSpPr>
          <p:cNvPr id="140" name="直接箭头连接符 139"/>
          <p:cNvCxnSpPr/>
          <p:nvPr/>
        </p:nvCxnSpPr>
        <p:spPr>
          <a:xfrm flipV="1">
            <a:off x="6146939" y="2149175"/>
            <a:ext cx="439446" cy="166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41" name="文本框 140"/>
          <p:cNvSpPr txBox="1"/>
          <p:nvPr/>
        </p:nvSpPr>
        <p:spPr>
          <a:xfrm>
            <a:off x="6643269" y="1890651"/>
            <a:ext cx="508004" cy="523220"/>
          </a:xfrm>
          <a:prstGeom prst="rect">
            <a:avLst/>
          </a:prstGeom>
          <a:noFill/>
        </p:spPr>
        <p:txBody>
          <a:bodyPr wrap="square" rtlCol="0">
            <a:spAutoFit/>
          </a:bodyPr>
          <a:lstStyle/>
          <a:p>
            <a:r>
              <a:rPr lang="en-US" altLang="zh-CN" sz="2800" dirty="0"/>
              <a:t>e</a:t>
            </a:r>
            <a:endParaRPr lang="en-US" sz="2800" dirty="0"/>
          </a:p>
        </p:txBody>
      </p:sp>
      <p:grpSp>
        <p:nvGrpSpPr>
          <p:cNvPr id="157" name="组合 156"/>
          <p:cNvGrpSpPr/>
          <p:nvPr/>
        </p:nvGrpSpPr>
        <p:grpSpPr>
          <a:xfrm>
            <a:off x="701749" y="1398926"/>
            <a:ext cx="2788414" cy="1725095"/>
            <a:chOff x="714377" y="1588069"/>
            <a:chExt cx="2788414" cy="1725095"/>
          </a:xfrm>
        </p:grpSpPr>
        <p:cxnSp>
          <p:nvCxnSpPr>
            <p:cNvPr id="7" name="直接箭头连接符 6"/>
            <p:cNvCxnSpPr/>
            <p:nvPr/>
          </p:nvCxnSpPr>
          <p:spPr>
            <a:xfrm>
              <a:off x="2187362" y="2109619"/>
              <a:ext cx="26593" cy="667623"/>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V="1">
              <a:off x="1177693" y="1877526"/>
              <a:ext cx="772075" cy="1005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117" idx="1"/>
            </p:cNvCxnSpPr>
            <p:nvPr/>
          </p:nvCxnSpPr>
          <p:spPr>
            <a:xfrm>
              <a:off x="1156206" y="2084281"/>
              <a:ext cx="859592" cy="769611"/>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10" name="组合 109"/>
            <p:cNvGrpSpPr/>
            <p:nvPr/>
          </p:nvGrpSpPr>
          <p:grpSpPr>
            <a:xfrm>
              <a:off x="714377" y="1618859"/>
              <a:ext cx="470886" cy="536255"/>
              <a:chOff x="671237" y="1595677"/>
              <a:chExt cx="470886" cy="536255"/>
            </a:xfrm>
          </p:grpSpPr>
          <p:sp>
            <p:nvSpPr>
              <p:cNvPr id="6" name="流程图: 接点 5"/>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29"/>
              <p:cNvSpPr txBox="1"/>
              <p:nvPr/>
            </p:nvSpPr>
            <p:spPr>
              <a:xfrm>
                <a:off x="735249" y="1595677"/>
                <a:ext cx="279467" cy="523220"/>
              </a:xfrm>
              <a:prstGeom prst="rect">
                <a:avLst/>
              </a:prstGeom>
              <a:noFill/>
            </p:spPr>
            <p:txBody>
              <a:bodyPr wrap="square" rtlCol="0">
                <a:spAutoFit/>
              </a:bodyPr>
              <a:lstStyle/>
              <a:p>
                <a:r>
                  <a:rPr lang="en-US" altLang="zh-CN" sz="2800" dirty="0"/>
                  <a:t>a</a:t>
                </a:r>
                <a:endParaRPr lang="en-US" sz="2800" dirty="0"/>
              </a:p>
            </p:txBody>
          </p:sp>
        </p:grpSp>
        <p:grpSp>
          <p:nvGrpSpPr>
            <p:cNvPr id="113" name="组合 112"/>
            <p:cNvGrpSpPr/>
            <p:nvPr/>
          </p:nvGrpSpPr>
          <p:grpSpPr>
            <a:xfrm>
              <a:off x="1976334" y="1588069"/>
              <a:ext cx="470886" cy="536255"/>
              <a:chOff x="671237" y="1595677"/>
              <a:chExt cx="470886" cy="536255"/>
            </a:xfrm>
          </p:grpSpPr>
          <p:sp>
            <p:nvSpPr>
              <p:cNvPr id="114" name="流程图: 接点 113"/>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文本框 114"/>
              <p:cNvSpPr txBox="1"/>
              <p:nvPr/>
            </p:nvSpPr>
            <p:spPr>
              <a:xfrm>
                <a:off x="735249" y="1595677"/>
                <a:ext cx="279467" cy="523220"/>
              </a:xfrm>
              <a:prstGeom prst="rect">
                <a:avLst/>
              </a:prstGeom>
              <a:noFill/>
            </p:spPr>
            <p:txBody>
              <a:bodyPr wrap="square" rtlCol="0">
                <a:spAutoFit/>
              </a:bodyPr>
              <a:lstStyle/>
              <a:p>
                <a:r>
                  <a:rPr lang="en-US" altLang="zh-CN" sz="2800" dirty="0"/>
                  <a:t>b</a:t>
                </a:r>
                <a:endParaRPr lang="en-US" sz="2800" dirty="0"/>
              </a:p>
            </p:txBody>
          </p:sp>
        </p:grpSp>
        <p:grpSp>
          <p:nvGrpSpPr>
            <p:cNvPr id="116" name="组合 115"/>
            <p:cNvGrpSpPr/>
            <p:nvPr/>
          </p:nvGrpSpPr>
          <p:grpSpPr>
            <a:xfrm>
              <a:off x="1946838" y="2712130"/>
              <a:ext cx="470886" cy="536255"/>
              <a:chOff x="671237" y="1595677"/>
              <a:chExt cx="470886" cy="536255"/>
            </a:xfrm>
          </p:grpSpPr>
          <p:sp>
            <p:nvSpPr>
              <p:cNvPr id="117" name="流程图: 接点 116"/>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文本框 117"/>
              <p:cNvSpPr txBox="1"/>
              <p:nvPr/>
            </p:nvSpPr>
            <p:spPr>
              <a:xfrm>
                <a:off x="735249" y="1595677"/>
                <a:ext cx="279467" cy="523220"/>
              </a:xfrm>
              <a:prstGeom prst="rect">
                <a:avLst/>
              </a:prstGeom>
              <a:noFill/>
            </p:spPr>
            <p:txBody>
              <a:bodyPr wrap="square" rtlCol="0">
                <a:spAutoFit/>
              </a:bodyPr>
              <a:lstStyle/>
              <a:p>
                <a:r>
                  <a:rPr lang="en-US" altLang="zh-CN" sz="2800" dirty="0"/>
                  <a:t>d</a:t>
                </a:r>
                <a:endParaRPr lang="en-US" sz="2800" dirty="0"/>
              </a:p>
            </p:txBody>
          </p:sp>
        </p:grpSp>
        <p:grpSp>
          <p:nvGrpSpPr>
            <p:cNvPr id="119" name="组合 118"/>
            <p:cNvGrpSpPr/>
            <p:nvPr/>
          </p:nvGrpSpPr>
          <p:grpSpPr>
            <a:xfrm>
              <a:off x="722855" y="2776909"/>
              <a:ext cx="470886" cy="536255"/>
              <a:chOff x="671237" y="1595677"/>
              <a:chExt cx="470886" cy="536255"/>
            </a:xfrm>
          </p:grpSpPr>
          <p:sp>
            <p:nvSpPr>
              <p:cNvPr id="120" name="流程图: 接点 119"/>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文本框 120"/>
              <p:cNvSpPr txBox="1"/>
              <p:nvPr/>
            </p:nvSpPr>
            <p:spPr>
              <a:xfrm>
                <a:off x="735249" y="1595677"/>
                <a:ext cx="279467" cy="523220"/>
              </a:xfrm>
              <a:prstGeom prst="rect">
                <a:avLst/>
              </a:prstGeom>
              <a:noFill/>
            </p:spPr>
            <p:txBody>
              <a:bodyPr wrap="square" rtlCol="0">
                <a:spAutoFit/>
              </a:bodyPr>
              <a:lstStyle/>
              <a:p>
                <a:r>
                  <a:rPr lang="en-US" altLang="zh-CN" sz="2800" dirty="0"/>
                  <a:t>c</a:t>
                </a:r>
                <a:endParaRPr lang="en-US" sz="2800" dirty="0"/>
              </a:p>
            </p:txBody>
          </p:sp>
        </p:grpSp>
        <p:cxnSp>
          <p:nvCxnSpPr>
            <p:cNvPr id="123" name="直接箭头连接符 122"/>
            <p:cNvCxnSpPr/>
            <p:nvPr/>
          </p:nvCxnSpPr>
          <p:spPr>
            <a:xfrm flipV="1">
              <a:off x="1161701" y="3019056"/>
              <a:ext cx="772075" cy="1005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nvCxnSpPr>
          <p:spPr>
            <a:xfrm>
              <a:off x="926600" y="2140163"/>
              <a:ext cx="8731" cy="713729"/>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nvGrpSpPr>
            <p:cNvPr id="129" name="组合 128"/>
            <p:cNvGrpSpPr/>
            <p:nvPr/>
          </p:nvGrpSpPr>
          <p:grpSpPr>
            <a:xfrm>
              <a:off x="3031905" y="2124324"/>
              <a:ext cx="470886" cy="536255"/>
              <a:chOff x="671237" y="1595677"/>
              <a:chExt cx="470886" cy="536255"/>
            </a:xfrm>
          </p:grpSpPr>
          <p:sp>
            <p:nvSpPr>
              <p:cNvPr id="130" name="流程图: 接点 129"/>
              <p:cNvSpPr/>
              <p:nvPr/>
            </p:nvSpPr>
            <p:spPr>
              <a:xfrm>
                <a:off x="671237" y="1669755"/>
                <a:ext cx="470886" cy="462177"/>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文本框 130"/>
              <p:cNvSpPr txBox="1"/>
              <p:nvPr/>
            </p:nvSpPr>
            <p:spPr>
              <a:xfrm>
                <a:off x="735249" y="1595677"/>
                <a:ext cx="279467" cy="523220"/>
              </a:xfrm>
              <a:prstGeom prst="rect">
                <a:avLst/>
              </a:prstGeom>
              <a:noFill/>
            </p:spPr>
            <p:txBody>
              <a:bodyPr wrap="square" rtlCol="0">
                <a:spAutoFit/>
              </a:bodyPr>
              <a:lstStyle/>
              <a:p>
                <a:r>
                  <a:rPr lang="en-US" altLang="zh-CN" sz="2800" dirty="0"/>
                  <a:t>e</a:t>
                </a:r>
                <a:endParaRPr lang="en-US" sz="2800" dirty="0"/>
              </a:p>
            </p:txBody>
          </p:sp>
        </p:grpSp>
        <p:cxnSp>
          <p:nvCxnSpPr>
            <p:cNvPr id="132" name="直接箭头连接符 131"/>
            <p:cNvCxnSpPr>
              <a:endCxn id="130" idx="1"/>
            </p:cNvCxnSpPr>
            <p:nvPr/>
          </p:nvCxnSpPr>
          <p:spPr>
            <a:xfrm>
              <a:off x="2463575" y="1938879"/>
              <a:ext cx="637290" cy="327207"/>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a:endCxn id="130" idx="3"/>
            </p:cNvCxnSpPr>
            <p:nvPr/>
          </p:nvCxnSpPr>
          <p:spPr>
            <a:xfrm flipV="1">
              <a:off x="2425407" y="2592895"/>
              <a:ext cx="675458" cy="393062"/>
            </a:xfrm>
            <a:prstGeom prst="straightConnector1">
              <a:avLst/>
            </a:prstGeom>
            <a:ln w="19050">
              <a:solidFill>
                <a:srgbClr val="00B0F0"/>
              </a:solidFill>
              <a:headEnd w="lg" len="lg"/>
              <a:tailEnd type="triangle" w="lg" len="lg"/>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6604959" y="1966484"/>
            <a:ext cx="782180" cy="335532"/>
            <a:chOff x="1340760" y="5854248"/>
            <a:chExt cx="995517" cy="428221"/>
          </a:xfrm>
        </p:grpSpPr>
        <p:sp>
          <p:nvSpPr>
            <p:cNvPr id="144" name="矩形 143"/>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直接连接符 144"/>
            <p:cNvCxnSpPr>
              <a:stCxn id="144" idx="0"/>
              <a:endCxn id="144"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7" name="组合 146"/>
          <p:cNvGrpSpPr/>
          <p:nvPr/>
        </p:nvGrpSpPr>
        <p:grpSpPr>
          <a:xfrm>
            <a:off x="7623697" y="1377042"/>
            <a:ext cx="782180" cy="335532"/>
            <a:chOff x="1340760" y="5854248"/>
            <a:chExt cx="995517" cy="428221"/>
          </a:xfrm>
        </p:grpSpPr>
        <p:sp>
          <p:nvSpPr>
            <p:cNvPr id="148" name="矩形 147"/>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9" name="直接连接符 148"/>
            <p:cNvCxnSpPr>
              <a:stCxn id="148" idx="0"/>
              <a:endCxn id="148"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组合 150"/>
          <p:cNvGrpSpPr/>
          <p:nvPr/>
        </p:nvGrpSpPr>
        <p:grpSpPr>
          <a:xfrm>
            <a:off x="4499026" y="3894060"/>
            <a:ext cx="782180" cy="335532"/>
            <a:chOff x="1340760" y="5854248"/>
            <a:chExt cx="995517" cy="428221"/>
          </a:xfrm>
        </p:grpSpPr>
        <p:sp>
          <p:nvSpPr>
            <p:cNvPr id="152" name="矩形 151"/>
            <p:cNvSpPr/>
            <p:nvPr/>
          </p:nvSpPr>
          <p:spPr>
            <a:xfrm>
              <a:off x="1340760" y="5854248"/>
              <a:ext cx="995517" cy="42822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3" name="直接连接符 152"/>
            <p:cNvCxnSpPr>
              <a:stCxn id="152" idx="0"/>
              <a:endCxn id="152" idx="2"/>
            </p:cNvCxnSpPr>
            <p:nvPr/>
          </p:nvCxnSpPr>
          <p:spPr>
            <a:xfrm>
              <a:off x="1838519" y="5854248"/>
              <a:ext cx="0" cy="428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1838518" y="5854248"/>
              <a:ext cx="497759" cy="420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5" name="文本框 154"/>
          <p:cNvSpPr txBox="1"/>
          <p:nvPr/>
        </p:nvSpPr>
        <p:spPr>
          <a:xfrm>
            <a:off x="4076608" y="3789545"/>
            <a:ext cx="508004" cy="523220"/>
          </a:xfrm>
          <a:prstGeom prst="rect">
            <a:avLst/>
          </a:prstGeom>
          <a:noFill/>
        </p:spPr>
        <p:txBody>
          <a:bodyPr wrap="square" rtlCol="0">
            <a:spAutoFit/>
          </a:bodyPr>
          <a:lstStyle/>
          <a:p>
            <a:r>
              <a:rPr lang="en-US" altLang="zh-CN" sz="2800" dirty="0"/>
              <a:t>e</a:t>
            </a:r>
            <a:endParaRPr lang="en-US" sz="2800" dirty="0"/>
          </a:p>
        </p:txBody>
      </p:sp>
      <p:sp>
        <p:nvSpPr>
          <p:cNvPr id="159" name="文本框 158"/>
          <p:cNvSpPr txBox="1"/>
          <p:nvPr/>
        </p:nvSpPr>
        <p:spPr>
          <a:xfrm>
            <a:off x="4098320" y="1878016"/>
            <a:ext cx="508004" cy="523220"/>
          </a:xfrm>
          <a:prstGeom prst="rect">
            <a:avLst/>
          </a:prstGeom>
          <a:noFill/>
        </p:spPr>
        <p:txBody>
          <a:bodyPr wrap="square" rtlCol="0">
            <a:spAutoFit/>
          </a:bodyPr>
          <a:lstStyle/>
          <a:p>
            <a:r>
              <a:rPr lang="en-US" altLang="zh-CN" sz="2800" dirty="0"/>
              <a:t>b</a:t>
            </a:r>
            <a:endParaRPr lang="en-US" sz="2800" dirty="0"/>
          </a:p>
        </p:txBody>
      </p:sp>
      <p:sp>
        <p:nvSpPr>
          <p:cNvPr id="3" name="右箭头 2"/>
          <p:cNvSpPr/>
          <p:nvPr/>
        </p:nvSpPr>
        <p:spPr>
          <a:xfrm rot="2502404">
            <a:off x="4394044" y="3537054"/>
            <a:ext cx="496801" cy="379060"/>
          </a:xfrm>
          <a:prstGeom prst="rightArrow">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p:cNvSpPr txBox="1"/>
          <p:nvPr/>
        </p:nvSpPr>
        <p:spPr>
          <a:xfrm>
            <a:off x="7268288" y="4216869"/>
            <a:ext cx="406384" cy="523220"/>
          </a:xfrm>
          <a:prstGeom prst="rect">
            <a:avLst/>
          </a:prstGeom>
          <a:noFill/>
        </p:spPr>
        <p:txBody>
          <a:bodyPr wrap="square" rtlCol="0">
            <a:spAutoFit/>
          </a:bodyPr>
          <a:lstStyle/>
          <a:p>
            <a:r>
              <a:rPr lang="en-US" sz="2800" dirty="0"/>
              <a:t>e</a:t>
            </a:r>
          </a:p>
        </p:txBody>
      </p:sp>
      <p:sp>
        <p:nvSpPr>
          <p:cNvPr id="80" name="文本框 79"/>
          <p:cNvSpPr txBox="1"/>
          <p:nvPr/>
        </p:nvSpPr>
        <p:spPr>
          <a:xfrm>
            <a:off x="7297243" y="5798865"/>
            <a:ext cx="406384" cy="523220"/>
          </a:xfrm>
          <a:prstGeom prst="rect">
            <a:avLst/>
          </a:prstGeom>
          <a:noFill/>
        </p:spPr>
        <p:txBody>
          <a:bodyPr wrap="square" rtlCol="0">
            <a:spAutoFit/>
          </a:bodyPr>
          <a:lstStyle/>
          <a:p>
            <a:r>
              <a:rPr lang="en-US" sz="2800" dirty="0"/>
              <a:t>a</a:t>
            </a:r>
          </a:p>
        </p:txBody>
      </p:sp>
      <p:sp>
        <p:nvSpPr>
          <p:cNvPr id="86" name="文本框 85"/>
          <p:cNvSpPr txBox="1"/>
          <p:nvPr/>
        </p:nvSpPr>
        <p:spPr>
          <a:xfrm>
            <a:off x="7280038" y="4793519"/>
            <a:ext cx="406384" cy="523220"/>
          </a:xfrm>
          <a:prstGeom prst="rect">
            <a:avLst/>
          </a:prstGeom>
          <a:noFill/>
        </p:spPr>
        <p:txBody>
          <a:bodyPr wrap="square" rtlCol="0">
            <a:spAutoFit/>
          </a:bodyPr>
          <a:lstStyle/>
          <a:p>
            <a:r>
              <a:rPr lang="en-US" sz="2800" dirty="0"/>
              <a:t>d</a:t>
            </a:r>
          </a:p>
        </p:txBody>
      </p:sp>
      <p:sp>
        <p:nvSpPr>
          <p:cNvPr id="87" name="文本框 86"/>
          <p:cNvSpPr txBox="1"/>
          <p:nvPr/>
        </p:nvSpPr>
        <p:spPr>
          <a:xfrm>
            <a:off x="7280033" y="5331835"/>
            <a:ext cx="406384" cy="523220"/>
          </a:xfrm>
          <a:prstGeom prst="rect">
            <a:avLst/>
          </a:prstGeom>
          <a:noFill/>
        </p:spPr>
        <p:txBody>
          <a:bodyPr wrap="square" rtlCol="0">
            <a:spAutoFit/>
          </a:bodyPr>
          <a:lstStyle/>
          <a:p>
            <a:r>
              <a:rPr lang="en-US" sz="2800" dirty="0"/>
              <a:t>b</a:t>
            </a:r>
          </a:p>
        </p:txBody>
      </p:sp>
      <p:sp>
        <p:nvSpPr>
          <p:cNvPr id="5" name="文本框 4"/>
          <p:cNvSpPr txBox="1"/>
          <p:nvPr/>
        </p:nvSpPr>
        <p:spPr>
          <a:xfrm>
            <a:off x="7245308" y="3508978"/>
            <a:ext cx="466745" cy="523220"/>
          </a:xfrm>
          <a:prstGeom prst="rect">
            <a:avLst/>
          </a:prstGeom>
          <a:noFill/>
        </p:spPr>
        <p:txBody>
          <a:bodyPr wrap="square" rtlCol="0">
            <a:spAutoFit/>
          </a:bodyPr>
          <a:lstStyle/>
          <a:p>
            <a:r>
              <a:rPr lang="en-US" sz="2800" dirty="0"/>
              <a:t>c</a:t>
            </a:r>
          </a:p>
        </p:txBody>
      </p:sp>
      <p:sp>
        <p:nvSpPr>
          <p:cNvPr id="93" name="标题 1">
            <a:extLst>
              <a:ext uri="{FF2B5EF4-FFF2-40B4-BE49-F238E27FC236}">
                <a16:creationId xmlns:a16="http://schemas.microsoft.com/office/drawing/2014/main" id="{BF337B1B-B02B-4B08-9058-3827FD79A768}"/>
              </a:ext>
            </a:extLst>
          </p:cNvPr>
          <p:cNvSpPr>
            <a:spLocks noGrp="1"/>
          </p:cNvSpPr>
          <p:nvPr>
            <p:ph type="title"/>
          </p:nvPr>
        </p:nvSpPr>
        <p:spPr>
          <a:xfrm>
            <a:off x="519177" y="21355"/>
            <a:ext cx="7886700" cy="1325563"/>
          </a:xfrm>
        </p:spPr>
        <p:txBody>
          <a:bodyPr/>
          <a:lstStyle/>
          <a:p>
            <a:r>
              <a:rPr lang="en-US" sz="4000" b="1" dirty="0"/>
              <a:t>DFS</a:t>
            </a:r>
            <a:r>
              <a:rPr lang="zh-CN" altLang="en-US" sz="4000" b="1" dirty="0"/>
              <a:t>算法回顾</a:t>
            </a:r>
            <a:endParaRPr lang="en-US" sz="4000" b="1" dirty="0"/>
          </a:p>
        </p:txBody>
      </p:sp>
    </p:spTree>
    <p:custDataLst>
      <p:tags r:id="rId1"/>
    </p:custDataLst>
    <p:extLst>
      <p:ext uri="{BB962C8B-B14F-4D97-AF65-F5344CB8AC3E}">
        <p14:creationId xmlns:p14="http://schemas.microsoft.com/office/powerpoint/2010/main" val="41434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38889E-6 7.40741E-7 L -1.38889E-6 -0.15903 " pathEditMode="relative" rAng="0" ptsTypes="AA">
                                      <p:cBhvr>
                                        <p:cTn id="6" dur="1000" fill="hold"/>
                                        <p:tgtEl>
                                          <p:spTgt spid="8"/>
                                        </p:tgtEl>
                                        <p:attrNameLst>
                                          <p:attrName>ppt_x</p:attrName>
                                          <p:attrName>ppt_y</p:attrName>
                                        </p:attrNameLst>
                                      </p:cBhvr>
                                      <p:rCtr x="0" y="-7963"/>
                                    </p:animMotion>
                                  </p:childTnLst>
                                </p:cTn>
                              </p:par>
                            </p:childTnLst>
                          </p:cTn>
                        </p:par>
                        <p:par>
                          <p:cTn id="7" fill="hold">
                            <p:stCondLst>
                              <p:cond delay="1000"/>
                            </p:stCondLst>
                            <p:childTnLst>
                              <p:par>
                                <p:cTn id="8" presetID="1" presetClass="exit" presetSubtype="0" fill="hold" grpId="1" nodeType="afterEffect">
                                  <p:stCondLst>
                                    <p:cond delay="0"/>
                                  </p:stCondLst>
                                  <p:childTnLst>
                                    <p:set>
                                      <p:cBhvr>
                                        <p:cTn id="9" dur="1" fill="hold">
                                          <p:stCondLst>
                                            <p:cond delay="0"/>
                                          </p:stCondLst>
                                        </p:cTn>
                                        <p:tgtEl>
                                          <p:spTgt spid="8"/>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grpId="0" nodeType="clickEffect">
                                  <p:stCondLst>
                                    <p:cond delay="0"/>
                                  </p:stCondLst>
                                  <p:childTnLst>
                                    <p:animMotion origin="layout" path="M 0 0 L 0 0 C 0.00261 -0.00116 0.00538 -0.00186 0.00799 -0.00325 C 0.00955 -0.00417 0.01736 -0.01135 0.01927 -0.01297 L 0.02413 -0.01737 C 0.02535 -0.01852 0.02674 -0.01968 0.02813 -0.02061 C 0.02917 -0.0213 0.03038 -0.022 0.03143 -0.02269 C 0.03212 -0.02338 0.03299 -0.02431 0.03386 -0.02477 C 0.03681 -0.02686 0.03802 -0.02709 0.04098 -0.02801 C 0.04254 -0.0301 0.04393 -0.03218 0.04584 -0.03334 C 0.05139 -0.03681 0.04931 -0.0345 0.054 -0.03658 C 0.05538 -0.03727 0.0566 -0.0382 0.05799 -0.03889 C 0.06111 -0.04028 0.06094 -0.03936 0.06354 -0.04098 C 0.07066 -0.04491 0.06354 -0.04167 0.06927 -0.04422 C 0.07014 -0.04491 0.07084 -0.04584 0.0717 -0.0463 C 0.07275 -0.047 0.07379 -0.047 0.07483 -0.04746 C 0.08073 -0.04954 0.07309 -0.04746 0.08143 -0.04954 C 0.08264 -0.0507 0.08403 -0.05162 0.08542 -0.05278 C 0.08611 -0.05348 0.08681 -0.05463 0.08785 -0.05487 C 0.08941 -0.05556 0.09098 -0.05556 0.09271 -0.05602 C 0.10243 -0.0625 0.09775 -0.06088 0.10625 -0.0625 C 0.10816 -0.06412 0.1099 -0.06575 0.11198 -0.06667 C 0.1132 -0.06737 0.11459 -0.0676 0.11598 -0.06783 C 0.1191 -0.072 0.11598 -0.06852 0.1217 -0.07107 C 0.1316 -0.07547 0.11736 -0.0713 0.129 -0.07431 C 0.12223 -0.07732 0.13091 -0.07385 0.11598 -0.07315 C 0.09688 -0.07223 0.07778 -0.07246 0.05868 -0.07223 C 0.05764 -0.07223 0.04011 -0.07292 0.03542 -0.07431 C 0.03403 -0.07477 0.03282 -0.07616 0.03143 -0.07639 C 0.02466 -0.07801 0.01424 -0.07755 0.00799 -0.07755 L 0.00469 -0.07848 " pathEditMode="relative" ptsTypes="AAAAAAAAAAAAAAAAAAAAAAAAAAAAAAA">
                                      <p:cBhvr>
                                        <p:cTn id="13" dur="2000" fill="hold"/>
                                        <p:tgtEl>
                                          <p:spTgt spid="3"/>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grpId="0" nodeType="clickEffect">
                                  <p:stCondLst>
                                    <p:cond delay="0"/>
                                  </p:stCondLst>
                                  <p:childTnLst>
                                    <p:animMotion origin="layout" path="M -2.77778E-7 2.96296E-6 L -0.00226 -0.25023 " pathEditMode="relative" rAng="0" ptsTypes="AA">
                                      <p:cBhvr>
                                        <p:cTn id="17" dur="1000" fill="hold"/>
                                        <p:tgtEl>
                                          <p:spTgt spid="86"/>
                                        </p:tgtEl>
                                        <p:attrNameLst>
                                          <p:attrName>ppt_x</p:attrName>
                                          <p:attrName>ppt_y</p:attrName>
                                        </p:attrNameLst>
                                      </p:cBhvr>
                                      <p:rCtr x="-122" y="-12523"/>
                                    </p:animMotion>
                                  </p:childTnLst>
                                </p:cTn>
                              </p:par>
                            </p:childTnLst>
                          </p:cTn>
                        </p:par>
                        <p:par>
                          <p:cTn id="18" fill="hold">
                            <p:stCondLst>
                              <p:cond delay="1000"/>
                            </p:stCondLst>
                            <p:childTnLst>
                              <p:par>
                                <p:cTn id="19" presetID="1" presetClass="exit" presetSubtype="0" fill="hold" grpId="1" nodeType="afterEffect">
                                  <p:stCondLst>
                                    <p:cond delay="0"/>
                                  </p:stCondLst>
                                  <p:childTnLst>
                                    <p:set>
                                      <p:cBhvr>
                                        <p:cTn id="20" dur="1" fill="hold">
                                          <p:stCondLst>
                                            <p:cond delay="0"/>
                                          </p:stCondLst>
                                        </p:cTn>
                                        <p:tgtEl>
                                          <p:spTgt spid="86"/>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1" nodeType="clickEffect">
                                  <p:stCondLst>
                                    <p:cond delay="0"/>
                                  </p:stCondLst>
                                  <p:childTnLst>
                                    <p:animMotion origin="layout" path="M 0.00469 -0.07847 L 0.00469 -0.07801 C 0.00694 -0.08079 0.00972 -0.08264 0.01181 -0.08518 C 0.01319 -0.0868 0.01389 -0.08889 0.0151 -0.09074 C 0.01684 -0.09282 0.01875 -0.09421 0.02066 -0.09606 C 0.02309 -0.09815 0.02604 -0.09977 0.02795 -0.10278 C 0.02899 -0.10393 0.02951 -0.10532 0.03038 -0.10694 C 0.03108 -0.10787 0.03212 -0.10903 0.03281 -0.11018 C 0.03368 -0.11204 0.03438 -0.11366 0.03524 -0.11574 C 0.03594 -0.1169 0.03698 -0.11736 0.03767 -0.11875 C 0.03802 -0.11944 0.0408 -0.12616 0.04167 -0.12778 C 0.04323 -0.12963 0.04497 -0.13171 0.04653 -0.13426 C 0.0474 -0.13495 0.04826 -0.13588 0.04896 -0.13727 C 0.05451 -0.14722 0.05191 -0.14352 0.05625 -0.1493 C 0.05781 -0.15602 0.0559 -0.1493 0.05868 -0.15486 C 0.05955 -0.15648 0.0599 -0.1588 0.06111 -0.16018 C 0.06181 -0.16111 0.06319 -0.16088 0.06424 -0.16134 C 0.06788 -0.16875 0.06563 -0.1669 0.06997 -0.16875 C 0.0783 -0.17639 0.0658 -0.16435 0.07396 -0.17523 C 0.07448 -0.17639 0.07552 -0.17592 0.07639 -0.17639 L 0.08125 -0.1831 C 0.08177 -0.18356 0.08212 -0.18449 0.08281 -0.18518 C 0.08767 -0.18773 0.08542 -0.1868 0.08924 -0.18842 C 0.09115 -0.1956 0.08854 -0.18819 0.09253 -0.19259 C 0.09358 -0.19375 0.09392 -0.1956 0.09497 -0.19699 C 0.09983 -0.2044 0.09878 -0.20301 0.10295 -0.20694 C 0.10365 -0.20949 0.10382 -0.21134 0.10538 -0.21342 C 0.1066 -0.21505 0.10816 -0.2162 0.10938 -0.21759 C 0.11007 -0.21875 0.11024 -0.22014 0.11094 -0.22083 C 0.1125 -0.22292 0.1158 -0.22546 0.1158 -0.22523 C 0.11632 -0.22685 0.11667 -0.22847 0.11753 -0.22963 C 0.11806 -0.23055 0.1191 -0.23102 0.11979 -0.23194 C 0.12153 -0.23356 0.12188 -0.23495 0.12309 -0.23727 C 0.12344 -0.23866 0.12326 -0.24051 0.12396 -0.2419 C 0.12448 -0.24259 0.12569 -0.24282 0.12639 -0.24398 C 0.1276 -0.2456 0.12847 -0.24815 0.12951 -0.25046 C 0.13003 -0.25139 0.13073 -0.25255 0.13108 -0.2537 C 0.13177 -0.25486 0.13212 -0.25648 0.13281 -0.25787 C 0.13333 -0.25903 0.13542 -0.26111 0.13438 -0.26111 C 0.1191 -0.26157 0.10382 -0.25995 0.08837 -0.25903 C 0.08385 -0.25903 0.07934 -0.25856 0.07465 -0.25787 L 0.04653 -0.25903 C 0.04201 -0.25926 0.03733 -0.25972 0.03281 -0.26018 C 0.01354 -0.26111 0.01719 -0.26111 0.00538 -0.26111 L 0.00538 -0.26088 " pathEditMode="relative" rAng="0" ptsTypes="AAAAAAAAAAAAAAAAAAAAAAAAAAAAAAAAAAAAAAAAAAAAA">
                                      <p:cBhvr>
                                        <p:cTn id="24" dur="2000" fill="hold"/>
                                        <p:tgtEl>
                                          <p:spTgt spid="3"/>
                                        </p:tgtEl>
                                        <p:attrNameLst>
                                          <p:attrName>ppt_x</p:attrName>
                                          <p:attrName>ppt_y</p:attrName>
                                        </p:attrNameLst>
                                      </p:cBhvr>
                                      <p:rCtr x="6493" y="-9120"/>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0" nodeType="clickEffect">
                                  <p:stCondLst>
                                    <p:cond delay="0"/>
                                  </p:stCondLst>
                                  <p:childTnLst>
                                    <p:animMotion origin="layout" path="M -2.77778E-7 7.40741E-7 L -2.77778E-7 -0.31736 " pathEditMode="relative" rAng="0" ptsTypes="AA">
                                      <p:cBhvr>
                                        <p:cTn id="28" dur="1000" fill="hold"/>
                                        <p:tgtEl>
                                          <p:spTgt spid="87"/>
                                        </p:tgtEl>
                                        <p:attrNameLst>
                                          <p:attrName>ppt_x</p:attrName>
                                          <p:attrName>ppt_y</p:attrName>
                                        </p:attrNameLst>
                                      </p:cBhvr>
                                      <p:rCtr x="0" y="-15880"/>
                                    </p:animMotion>
                                  </p:childTnLst>
                                </p:cTn>
                              </p:par>
                            </p:childTnLst>
                          </p:cTn>
                        </p:par>
                        <p:par>
                          <p:cTn id="29" fill="hold">
                            <p:stCondLst>
                              <p:cond delay="1000"/>
                            </p:stCondLst>
                            <p:childTnLst>
                              <p:par>
                                <p:cTn id="30" presetID="1" presetClass="exit" presetSubtype="0" fill="hold" grpId="1" nodeType="afterEffect">
                                  <p:stCondLst>
                                    <p:cond delay="0"/>
                                  </p:stCondLst>
                                  <p:childTnLst>
                                    <p:set>
                                      <p:cBhvr>
                                        <p:cTn id="31" dur="1" fill="hold">
                                          <p:stCondLst>
                                            <p:cond delay="0"/>
                                          </p:stCondLst>
                                        </p:cTn>
                                        <p:tgtEl>
                                          <p:spTgt spid="87"/>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grpId="2" nodeType="clickEffect">
                                  <p:stCondLst>
                                    <p:cond delay="0"/>
                                  </p:stCondLst>
                                  <p:childTnLst>
                                    <p:animMotion origin="layout" path="M 0.00677 -0.27639 L 0.00677 -0.27616 C 0.01024 -0.2787 0.01389 -0.28032 0.01719 -0.28287 C 0.02482 -0.28866 0.01406 -0.28426 0.02274 -0.28727 C 0.02361 -0.28796 0.02448 -0.28866 0.02517 -0.28935 C 0.02639 -0.29051 0.02725 -0.29166 0.02847 -0.29259 C 0.03055 -0.29444 0.0368 -0.29791 0.03889 -0.29907 C 0.04132 -0.30023 0.04375 -0.30116 0.04618 -0.30231 L 0.04861 -0.30347 C 0.05243 -0.30856 0.04774 -0.30278 0.05677 -0.30972 C 0.05798 -0.31088 0.0592 -0.31227 0.06076 -0.31296 C 0.06232 -0.31389 0.06389 -0.31366 0.06562 -0.31412 C 0.08038 -0.32546 0.06163 -0.31204 0.0776 -0.3206 C 0.07899 -0.32129 0.08038 -0.32199 0.08177 -0.32268 C 0.08246 -0.32315 0.08333 -0.32338 0.0842 -0.32384 C 0.08889 -0.32569 0.08889 -0.32546 0.09305 -0.32708 C 0.09409 -0.32778 0.09514 -0.32847 0.09618 -0.32916 C 0.09844 -0.33032 0.10034 -0.33079 0.1026 -0.33125 C 0.10538 -0.33495 0.10295 -0.33241 0.10677 -0.33449 C 0.11493 -0.33935 0.10816 -0.33727 0.11875 -0.33889 C 0.12899 -0.34699 0.11701 -0.33819 0.12691 -0.34305 C 0.12778 -0.34352 0.12847 -0.34467 0.12934 -0.34537 C 0.1309 -0.34629 0.1342 -0.34745 0.1342 -0.34722 C 0.14496 -0.35717 0.13854 -0.35046 0.1059 -0.35069 L 0.00833 -0.35069 L 0.00833 -0.35486 " pathEditMode="relative" rAng="0" ptsTypes="AAAAAAAAAAAAAAAAAAAAAAAAAA">
                                      <p:cBhvr>
                                        <p:cTn id="35" dur="2000" fill="hold"/>
                                        <p:tgtEl>
                                          <p:spTgt spid="3"/>
                                        </p:tgtEl>
                                        <p:attrNameLst>
                                          <p:attrName>ppt_x</p:attrName>
                                          <p:attrName>ppt_y</p:attrName>
                                        </p:attrNameLst>
                                      </p:cBhvr>
                                      <p:rCtr x="6597" y="-3912"/>
                                    </p:animMotion>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42" presetClass="path" presetSubtype="0" accel="50000" decel="50000" fill="hold" grpId="1" nodeType="withEffect">
                                  <p:stCondLst>
                                    <p:cond delay="0"/>
                                  </p:stCondLst>
                                  <p:childTnLst>
                                    <p:animMotion origin="layout" path="M 5.55556E-7 1.48148E-6 L 5.55556E-7 0.25 " pathEditMode="relative" rAng="0" ptsTypes="AA">
                                      <p:cBhvr>
                                        <p:cTn id="41" dur="1000" fill="hold"/>
                                        <p:tgtEl>
                                          <p:spTgt spid="5"/>
                                        </p:tgtEl>
                                        <p:attrNameLst>
                                          <p:attrName>ppt_x</p:attrName>
                                          <p:attrName>ppt_y</p:attrName>
                                        </p:attrNameLst>
                                      </p:cBhvr>
                                      <p:rCtr x="0" y="12500"/>
                                    </p:animMotion>
                                  </p:childTnLst>
                                </p:cTn>
                              </p:par>
                            </p:childTnLst>
                          </p:cTn>
                        </p:par>
                        <p:par>
                          <p:cTn id="42" fill="hold">
                            <p:stCondLst>
                              <p:cond delay="1000"/>
                            </p:stCondLst>
                            <p:childTnLst>
                              <p:par>
                                <p:cTn id="43" presetID="1" presetClass="entr" presetSubtype="0" fill="hold" grpId="0" nodeType="after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3" nodeType="clickEffect">
                                  <p:stCondLst>
                                    <p:cond delay="0"/>
                                  </p:stCondLst>
                                  <p:childTnLst>
                                    <p:animMotion origin="layout" path="M 0.00833 -0.35486 L 0.00833 -0.35486 L 0.05104 -0.35695 L 0.10087 -0.3581 C 0.10764 -0.35834 0.11441 -0.35972 0.12118 -0.36019 C 0.12969 -0.36088 0.14201 -0.36111 0.15087 -0.3625 C 0.15503 -0.36296 0.15903 -0.36389 0.16302 -0.36459 C 0.16458 -0.36528 0.16615 -0.36644 0.16788 -0.36667 C 0.19618 -0.3706 0.17951 -0.36528 0.19045 -0.36875 C 0.21597 -0.36621 0.20434 -0.36621 0.22517 -0.36783 C 0.22326 -0.3625 0.2224 -0.35625 0.21944 -0.35162 C 0.21719 -0.34815 0.21337 -0.34769 0.21059 -0.34514 C 0.20781 -0.34283 0.20521 -0.34005 0.20243 -0.33773 C 0.20069 -0.33611 0.19861 -0.33519 0.19687 -0.33334 C 0.18802 -0.32408 0.1941 -0.32871 0.18802 -0.3206 C 0.18681 -0.31898 0.18524 -0.31759 0.18403 -0.31621 C 0.18194 -0.31158 0.18194 -0.31065 0.17917 -0.30764 C 0.17847 -0.30671 0.17743 -0.30648 0.17674 -0.30556 C 0.16771 -0.29213 0.175 -0.29884 0.16701 -0.29259 C 0.16094 -0.28241 0.1651 -0.28889 0.15417 -0.27431 C 0.15278 -0.27246 0.15156 -0.27037 0.15017 -0.26898 C 0.14583 -0.26459 0.14097 -0.26111 0.13715 -0.25602 C 0.13594 -0.25417 0.13472 -0.25232 0.13316 -0.2507 C 0.13142 -0.24861 0.12934 -0.24722 0.1276 -0.24537 C 0.125 -0.24236 0.12274 -0.23889 0.12031 -0.23565 C 0.11944 -0.23449 0.11858 -0.23357 0.11788 -0.23241 C 0.1125 -0.22292 0.11562 -0.225 0.11059 -0.22269 C 0.1099 -0.22084 0.1092 -0.21898 0.10816 -0.21736 C 0.10347 -0.20972 0.10486 -0.21273 0.10087 -0.2088 C 0.09965 -0.20741 0.09826 -0.20579 0.09687 -0.2044 C 0.09566 -0.20324 0.09427 -0.20232 0.09288 -0.20116 C 0.09184 -0.20023 0.0908 -0.19908 0.08958 -0.19792 C 0.0875 -0.19607 0.08316 -0.19259 0.08316 -0.19259 C 0.08212 -0.19074 0.08125 -0.18866 0.08003 -0.18727 C 0.07934 -0.18658 0.0783 -0.18681 0.0776 -0.18611 C 0.07656 -0.18542 0.07031 -0.1794 0.06875 -0.17871 C 0.06719 -0.17801 0.06545 -0.17801 0.06389 -0.17755 C 0.05729 -0.16875 0.0658 -0.17917 0.05816 -0.17338 C 0.05729 -0.17246 0.05677 -0.17107 0.05573 -0.17014 C 0.05451 -0.16875 0.05312 -0.16783 0.05174 -0.1669 C 0.05087 -0.16621 0.05017 -0.16551 0.04931 -0.16459 C 0.04826 -0.16366 0.04722 -0.16227 0.04618 -0.16134 C 0.04531 -0.16088 0.04444 -0.16088 0.04375 -0.16042 C 0.04236 -0.15972 0.04097 -0.15926 0.03976 -0.15834 C 0.03854 -0.15741 0.03767 -0.15579 0.03646 -0.15509 C 0.03472 -0.15394 0.03264 -0.15371 0.0309 -0.15278 C 0.02326 -0.14977 0.03715 -0.15463 0.02187 -0.14954 L 0.01875 -0.14861 L 0.01632 -0.1463 L 0.01962 -0.14954 " pathEditMode="relative" ptsTypes="AAAAAAAAAAAAAAAAAAAAAAAAAAAAAAAAAAAAAAAAAAAAAAAAAA">
                                      <p:cBhvr>
                                        <p:cTn id="48" dur="2000" fill="hold"/>
                                        <p:tgtEl>
                                          <p:spTgt spid="3"/>
                                        </p:tgtEl>
                                        <p:attrNameLst>
                                          <p:attrName>ppt_x</p:attrName>
                                          <p:attrName>ppt_y</p:attrName>
                                        </p:attrNameLst>
                                      </p:cBhvr>
                                    </p:animMotion>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2" nodeType="clickEffect">
                                  <p:stCondLst>
                                    <p:cond delay="0"/>
                                  </p:stCondLst>
                                  <p:childTnLst>
                                    <p:animMotion origin="layout" path="M 5.55556E-7 0.25 L 5.55556E-7 1.48148E-6 " pathEditMode="relative" rAng="0" ptsTypes="AA">
                                      <p:cBhvr>
                                        <p:cTn id="52" dur="1000" fill="hold"/>
                                        <p:tgtEl>
                                          <p:spTgt spid="5"/>
                                        </p:tgtEl>
                                        <p:attrNameLst>
                                          <p:attrName>ppt_x</p:attrName>
                                          <p:attrName>ppt_y</p:attrName>
                                        </p:attrNameLst>
                                      </p:cBhvr>
                                      <p:rCtr x="0" y="-12500"/>
                                    </p:animMotion>
                                  </p:childTnLst>
                                </p:cTn>
                              </p:par>
                            </p:childTnLst>
                          </p:cTn>
                        </p:par>
                        <p:par>
                          <p:cTn id="53" fill="hold">
                            <p:stCondLst>
                              <p:cond delay="1000"/>
                            </p:stCondLst>
                            <p:childTnLst>
                              <p:par>
                                <p:cTn id="54" presetID="1" presetClass="exit" presetSubtype="0" fill="hold" grpId="3" nodeType="afterEffect">
                                  <p:stCondLst>
                                    <p:cond delay="0"/>
                                  </p:stCondLst>
                                  <p:childTnLst>
                                    <p:set>
                                      <p:cBhvr>
                                        <p:cTn id="55" dur="1" fill="hold">
                                          <p:stCondLst>
                                            <p:cond delay="0"/>
                                          </p:stCondLst>
                                        </p:cTn>
                                        <p:tgtEl>
                                          <p:spTgt spid="5"/>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0" presetClass="path" presetSubtype="0" accel="50000" decel="50000" fill="hold" grpId="4" nodeType="clickEffect">
                                  <p:stCondLst>
                                    <p:cond delay="0"/>
                                  </p:stCondLst>
                                  <p:childTnLst>
                                    <p:animMotion origin="layout" path="M 0.0118 -0.15787 L 0.0118 -0.15764 C 0.0283 -0.1743 0.01094 -0.15764 0.02239 -0.16759 C 0.02725 -0.17199 0.02361 -0.17014 0.02795 -0.17199 C 0.03403 -0.17986 0.02639 -0.17014 0.03368 -0.17847 C 0.03455 -0.1794 0.03524 -0.18055 0.03611 -0.18171 C 0.03732 -0.1831 0.03889 -0.18426 0.0401 -0.18588 C 0.04687 -0.19514 0.03941 -0.18819 0.04739 -0.19444 C 0.05347 -0.20532 0.04635 -0.19305 0.05225 -0.20208 C 0.05642 -0.20856 0.05364 -0.20671 0.05781 -0.20856 C 0.05868 -0.20949 0.05955 -0.21065 0.06024 -0.2118 C 0.06146 -0.21342 0.06215 -0.21551 0.06354 -0.21713 C 0.06475 -0.21852 0.06614 -0.21944 0.06753 -0.22037 C 0.06909 -0.22153 0.07083 -0.22245 0.07239 -0.22361 C 0.0743 -0.22477 0.07621 -0.22546 0.07812 -0.22685 C 0.08003 -0.22824 0.08194 -0.23032 0.08368 -0.23217 C 0.08559 -0.23426 0.08715 -0.2368 0.08941 -0.23866 C 0.10399 -0.25046 0.10243 -0.24768 0.11354 -0.25463 C 0.11684 -0.25671 0.11996 -0.25926 0.12326 -0.26111 C 0.13264 -0.2669 0.14288 -0.27129 0.15139 -0.2794 C 0.1533 -0.28125 0.15521 -0.2831 0.15712 -0.28472 C 0.15903 -0.28634 0.16094 -0.2875 0.16284 -0.28912 C 0.16406 -0.29028 0.16475 -0.29213 0.16597 -0.29352 C 0.16719 -0.29467 0.16875 -0.29537 0.16996 -0.29676 C 0.171 -0.29768 0.17153 -0.29884 0.17239 -0.3 C 0.18194 -0.31041 0.16423 -0.28866 0.17899 -0.30625 C 0.18038 -0.3081 0.18159 -0.30972 0.18298 -0.3118 C 0.18437 -0.31389 0.18541 -0.3162 0.18698 -0.31805 C 0.18837 -0.31991 0.19184 -0.32245 0.19184 -0.32222 C 0.19357 -0.32986 0.19114 -0.32106 0.19583 -0.33009 C 0.19774 -0.33333 0.19844 -0.33773 0.20069 -0.34074 C 0.20173 -0.34213 0.20295 -0.34352 0.20399 -0.34514 C 0.20451 -0.34606 0.20486 -0.34745 0.20555 -0.34815 C 0.20642 -0.3493 0.20764 -0.34977 0.20868 -0.35046 C 0.22066 -0.35764 0.20955 -0.35116 0.21771 -0.35463 C 0.21909 -0.35532 0.22031 -0.35648 0.2217 -0.35694 C 0.22326 -0.35717 0.23871 -0.35903 0.23941 -0.35903 C 0.23993 -0.35972 0.24028 -0.36065 0.24097 -0.36111 C 0.24392 -0.36296 0.2467 -0.36134 0.24097 -0.36319 L 0.19496 -0.36227 C 0.19132 -0.36204 0.1875 -0.3618 0.18368 -0.36111 C 0.18177 -0.36088 0.18003 -0.35949 0.17812 -0.35903 C 0.17552 -0.35833 0.17274 -0.35833 0.16996 -0.35787 C 0.15642 -0.35278 0.17448 -0.35903 0.15069 -0.35463 C 0.1493 -0.3544 0.14809 -0.35278 0.1467 -0.35254 C 0.14028 -0.35162 0.13368 -0.35185 0.12725 -0.35139 C 0.12048 -0.34699 0.12344 -0.34815 0.11024 -0.34815 L 0.01753 -0.3493 L 0.00712 -0.35139 L 0.00712 -0.35116 " pathEditMode="relative" rAng="0" ptsTypes="AAAAAAAAAAAAAAAAAAAAAAAAAAAAAAAAAAAAAAAAAAAAAAAAAA">
                                      <p:cBhvr>
                                        <p:cTn id="59" dur="2000" fill="hold"/>
                                        <p:tgtEl>
                                          <p:spTgt spid="3"/>
                                        </p:tgtEl>
                                        <p:attrNameLst>
                                          <p:attrName>ppt_x</p:attrName>
                                          <p:attrName>ppt_y</p:attrName>
                                        </p:attrNameLst>
                                      </p:cBhvr>
                                      <p:rCtr x="11389" y="-10255"/>
                                    </p:animMotion>
                                  </p:childTnLst>
                                </p:cTn>
                              </p:par>
                            </p:childTnLst>
                          </p:cTn>
                        </p:par>
                      </p:childTnLst>
                    </p:cTn>
                  </p:par>
                  <p:par>
                    <p:cTn id="60" fill="hold">
                      <p:stCondLst>
                        <p:cond delay="indefinite"/>
                      </p:stCondLst>
                      <p:childTnLst>
                        <p:par>
                          <p:cTn id="61" fill="hold">
                            <p:stCondLst>
                              <p:cond delay="0"/>
                            </p:stCondLst>
                            <p:childTnLst>
                              <p:par>
                                <p:cTn id="62" presetID="42" presetClass="path" presetSubtype="0" accel="50000" decel="50000" fill="hold" grpId="0" nodeType="clickEffect">
                                  <p:stCondLst>
                                    <p:cond delay="0"/>
                                  </p:stCondLst>
                                  <p:childTnLst>
                                    <p:animMotion origin="layout" path="M 3.61111E-6 -4.81481E-6 L 3.61111E-6 -0.36111 " pathEditMode="relative" rAng="0" ptsTypes="AA">
                                      <p:cBhvr>
                                        <p:cTn id="63" dur="1000" fill="hold"/>
                                        <p:tgtEl>
                                          <p:spTgt spid="80"/>
                                        </p:tgtEl>
                                        <p:attrNameLst>
                                          <p:attrName>ppt_x</p:attrName>
                                          <p:attrName>ppt_y</p:attrName>
                                        </p:attrNameLst>
                                      </p:cBhvr>
                                      <p:rCtr x="0" y="-18056"/>
                                    </p:animMotion>
                                  </p:childTnLst>
                                </p:cTn>
                              </p:par>
                            </p:childTnLst>
                          </p:cTn>
                        </p:par>
                        <p:par>
                          <p:cTn id="64" fill="hold">
                            <p:stCondLst>
                              <p:cond delay="1000"/>
                            </p:stCondLst>
                            <p:childTnLst>
                              <p:par>
                                <p:cTn id="65" presetID="1" presetClass="exit" presetSubtype="0" fill="hold" grpId="1" nodeType="afterEffect">
                                  <p:stCondLst>
                                    <p:cond delay="0"/>
                                  </p:stCondLst>
                                  <p:childTnLst>
                                    <p:set>
                                      <p:cBhvr>
                                        <p:cTn id="66" dur="1" fill="hold">
                                          <p:stCondLst>
                                            <p:cond delay="0"/>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3" grpId="0" animBg="1"/>
      <p:bldP spid="3" grpId="1" animBg="1"/>
      <p:bldP spid="3" grpId="2" animBg="1"/>
      <p:bldP spid="3" grpId="3" animBg="1"/>
      <p:bldP spid="3" grpId="4" animBg="1"/>
      <p:bldP spid="8" grpId="0"/>
      <p:bldP spid="8" grpId="1"/>
      <p:bldP spid="80" grpId="0"/>
      <p:bldP spid="80" grpId="1"/>
      <p:bldP spid="86" grpId="0"/>
      <p:bldP spid="86" grpId="1"/>
      <p:bldP spid="87" grpId="0"/>
      <p:bldP spid="87" grpId="1"/>
      <p:bldP spid="5" grpId="0"/>
      <p:bldP spid="5" grpId="1"/>
      <p:bldP spid="5" grpId="2"/>
      <p:bldP spid="5" grpId="3"/>
    </p:bld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8BBC991-5169-4372-BA95-A4EAD52B9A69}"/>
              </a:ext>
            </a:extLst>
          </p:cNvPr>
          <p:cNvSpPr>
            <a:spLocks noGrp="1" noChangeArrowheads="1"/>
          </p:cNvSpPr>
          <p:nvPr>
            <p:ph type="title"/>
          </p:nvPr>
        </p:nvSpPr>
        <p:spPr bwMode="auto">
          <a:xfrm>
            <a:off x="685800" y="228600"/>
            <a:ext cx="7772400" cy="9144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FF0000"/>
                </a:solidFill>
                <a:latin typeface="华文中宋" panose="02010600040101010101" pitchFamily="2" charset="-122"/>
              </a:rPr>
              <a:t>回溯法的基本思想</a:t>
            </a:r>
          </a:p>
        </p:txBody>
      </p:sp>
      <p:sp>
        <p:nvSpPr>
          <p:cNvPr id="20483" name="Rectangle 3">
            <a:extLst>
              <a:ext uri="{FF2B5EF4-FFF2-40B4-BE49-F238E27FC236}">
                <a16:creationId xmlns:a16="http://schemas.microsoft.com/office/drawing/2014/main" id="{29877A08-5EEB-4695-98D3-8C2D093A3911}"/>
              </a:ext>
            </a:extLst>
          </p:cNvPr>
          <p:cNvSpPr>
            <a:spLocks noGrp="1" noChangeArrowheads="1"/>
          </p:cNvSpPr>
          <p:nvPr>
            <p:ph type="body" idx="1"/>
          </p:nvPr>
        </p:nvSpPr>
        <p:spPr bwMode="auto">
          <a:xfrm>
            <a:off x="304800" y="1219200"/>
            <a:ext cx="86106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lnSpc>
                <a:spcPct val="110000"/>
              </a:lnSpc>
              <a:spcBef>
                <a:spcPct val="0"/>
              </a:spcBef>
              <a:buFontTx/>
              <a:buAutoNum type="arabicPeriod"/>
            </a:pPr>
            <a:r>
              <a:rPr kumimoji="0" lang="zh-CN" altLang="en-US" sz="2800" b="1" dirty="0">
                <a:latin typeface="华文中宋" panose="02010600040101010101" pitchFamily="2" charset="-122"/>
                <a:ea typeface="华文中宋" panose="02010600040101010101" pitchFamily="2" charset="-122"/>
              </a:rPr>
              <a:t>以深度优先方式搜索解空间。</a:t>
            </a:r>
            <a:endParaRPr kumimoji="0" lang="en-US" altLang="zh-CN" sz="2800" b="1" dirty="0">
              <a:latin typeface="华文中宋" panose="02010600040101010101" pitchFamily="2" charset="-122"/>
              <a:ea typeface="华文中宋" panose="02010600040101010101" pitchFamily="2" charset="-122"/>
            </a:endParaRPr>
          </a:p>
          <a:p>
            <a:pPr marL="533400" indent="-533400" eaLnBrk="1" hangingPunct="1">
              <a:lnSpc>
                <a:spcPct val="110000"/>
              </a:lnSpc>
              <a:spcBef>
                <a:spcPct val="0"/>
              </a:spcBef>
              <a:buFontTx/>
              <a:buAutoNum type="arabicPeriod"/>
            </a:pPr>
            <a:r>
              <a:rPr kumimoji="0" lang="zh-CN" altLang="en-US" sz="2800" b="1" dirty="0">
                <a:latin typeface="华文中宋" panose="02010600040101010101" pitchFamily="2" charset="-122"/>
                <a:ea typeface="华文中宋" panose="02010600040101010101" pitchFamily="2" charset="-122"/>
              </a:rPr>
              <a:t>开始时，根结点为活结点，也是当前的扩展结点。</a:t>
            </a:r>
          </a:p>
          <a:p>
            <a:pPr marL="533400" indent="-533400" eaLnBrk="1" hangingPunct="1">
              <a:lnSpc>
                <a:spcPct val="110000"/>
              </a:lnSpc>
              <a:spcBef>
                <a:spcPct val="0"/>
              </a:spcBef>
              <a:buFontTx/>
              <a:buAutoNum type="arabicPeriod"/>
            </a:pPr>
            <a:r>
              <a:rPr kumimoji="0" lang="zh-CN" altLang="en-US" sz="2800" b="1" dirty="0">
                <a:latin typeface="华文中宋" panose="02010600040101010101" pitchFamily="2" charset="-122"/>
                <a:ea typeface="华文中宋" panose="02010600040101010101" pitchFamily="2" charset="-122"/>
              </a:rPr>
              <a:t>对扩展结点，寻找儿子结点：</a:t>
            </a:r>
          </a:p>
          <a:p>
            <a:pPr marL="533400" indent="-533400" eaLnBrk="1" hangingPunct="1">
              <a:lnSpc>
                <a:spcPct val="110000"/>
              </a:lnSpc>
              <a:spcBef>
                <a:spcPct val="0"/>
              </a:spcBef>
              <a:buFontTx/>
              <a:buNone/>
            </a:pPr>
            <a:r>
              <a:rPr kumimoji="0" lang="zh-CN" altLang="en-US" sz="2800" b="1" dirty="0">
                <a:latin typeface="华文中宋" panose="02010600040101010101" pitchFamily="2" charset="-122"/>
                <a:ea typeface="华文中宋" panose="02010600040101010101" pitchFamily="2" charset="-122"/>
              </a:rPr>
              <a:t>     如找到新结点，新结点成为活结点并成为扩展结点。转</a:t>
            </a:r>
            <a:r>
              <a:rPr kumimoji="0" lang="en-US" altLang="zh-CN" sz="2800" b="1" dirty="0">
                <a:latin typeface="华文中宋" panose="02010600040101010101" pitchFamily="2" charset="-122"/>
                <a:ea typeface="华文中宋" panose="02010600040101010101" pitchFamily="2" charset="-122"/>
              </a:rPr>
              <a:t>3</a:t>
            </a:r>
            <a:r>
              <a:rPr kumimoji="0" lang="zh-CN" altLang="en-US" sz="2800" b="1" dirty="0">
                <a:latin typeface="华文中宋" panose="02010600040101010101" pitchFamily="2" charset="-122"/>
                <a:ea typeface="华文中宋" panose="02010600040101010101" pitchFamily="2" charset="-122"/>
              </a:rPr>
              <a:t>；</a:t>
            </a:r>
            <a:endParaRPr kumimoji="0" lang="en-US" altLang="zh-CN" sz="2800" b="1" dirty="0">
              <a:latin typeface="华文中宋" panose="02010600040101010101" pitchFamily="2" charset="-122"/>
              <a:ea typeface="华文中宋" panose="02010600040101010101" pitchFamily="2" charset="-122"/>
            </a:endParaRPr>
          </a:p>
          <a:p>
            <a:pPr marL="533400" indent="-533400" eaLnBrk="1" hangingPunct="1">
              <a:lnSpc>
                <a:spcPct val="110000"/>
              </a:lnSpc>
              <a:spcBef>
                <a:spcPct val="0"/>
              </a:spcBef>
              <a:buFontTx/>
              <a:buNone/>
            </a:pPr>
            <a:r>
              <a:rPr kumimoji="0" lang="en-US" altLang="zh-CN" sz="2800" b="1" dirty="0">
                <a:latin typeface="华文中宋" panose="02010600040101010101" pitchFamily="2" charset="-122"/>
                <a:ea typeface="华文中宋" panose="02010600040101010101" pitchFamily="2" charset="-122"/>
              </a:rPr>
              <a:t>     </a:t>
            </a:r>
            <a:r>
              <a:rPr kumimoji="0" lang="zh-CN" altLang="en-US" sz="2800" b="1" dirty="0">
                <a:latin typeface="华文中宋" panose="02010600040101010101" pitchFamily="2" charset="-122"/>
                <a:ea typeface="华文中宋" panose="02010600040101010101" pitchFamily="2" charset="-122"/>
              </a:rPr>
              <a:t>如找不到新结点，当前结点成为死结点，并回退到最近的一个活结点，使它成为扩展结点。转</a:t>
            </a:r>
            <a:r>
              <a:rPr kumimoji="0" lang="en-US" altLang="zh-CN" sz="2800" b="1" dirty="0">
                <a:latin typeface="华文中宋" panose="02010600040101010101" pitchFamily="2" charset="-122"/>
                <a:ea typeface="华文中宋" panose="02010600040101010101" pitchFamily="2" charset="-122"/>
              </a:rPr>
              <a:t>3</a:t>
            </a:r>
            <a:r>
              <a:rPr kumimoji="0" lang="zh-CN" altLang="en-US" sz="2800" b="1" dirty="0">
                <a:latin typeface="华文中宋" panose="02010600040101010101" pitchFamily="2" charset="-122"/>
                <a:ea typeface="华文中宋" panose="02010600040101010101" pitchFamily="2" charset="-122"/>
              </a:rPr>
              <a:t>；</a:t>
            </a:r>
          </a:p>
          <a:p>
            <a:pPr marL="533400" indent="-533400" eaLnBrk="1" hangingPunct="1">
              <a:lnSpc>
                <a:spcPct val="110000"/>
              </a:lnSpc>
              <a:spcBef>
                <a:spcPct val="0"/>
              </a:spcBef>
              <a:buFontTx/>
              <a:buAutoNum type="arabicPeriod" startAt="4"/>
            </a:pPr>
            <a:r>
              <a:rPr kumimoji="0" lang="zh-CN" altLang="en-US" sz="2800" b="1" dirty="0">
                <a:latin typeface="华文中宋" panose="02010600040101010101" pitchFamily="2" charset="-122"/>
                <a:ea typeface="华文中宋" panose="02010600040101010101" pitchFamily="2" charset="-122"/>
              </a:rPr>
              <a:t>搜索继续进行，直到找到所求的解或解空间中已无活结点时为止。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483">
                                            <p:txEl>
                                              <p:pRg st="5" end="5"/>
                                            </p:txEl>
                                          </p:spTgt>
                                        </p:tgtEl>
                                        <p:attrNameLst>
                                          <p:attrName>style.visibility</p:attrName>
                                        </p:attrNameLst>
                                      </p:cBhvr>
                                      <p:to>
                                        <p:strVal val="visible"/>
                                      </p:to>
                                    </p:set>
                                    <p:anim calcmode="lin" valueType="num">
                                      <p:cBhvr additive="base">
                                        <p:cTn id="37" dur="500" fill="hold"/>
                                        <p:tgtEl>
                                          <p:spTgt spid="204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4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5D3B9195-397C-4930-A215-2F55BE4F900B}"/>
              </a:ext>
            </a:extLst>
          </p:cNvPr>
          <p:cNvSpPr>
            <a:spLocks noGrp="1" noChangeArrowheads="1"/>
          </p:cNvSpPr>
          <p:nvPr>
            <p:ph type="body" idx="1"/>
          </p:nvPr>
        </p:nvSpPr>
        <p:spPr bwMode="auto">
          <a:xfrm>
            <a:off x="685800" y="1371600"/>
            <a:ext cx="7772400" cy="10668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kumimoji="0" lang="en-US" altLang="zh-CN" sz="2800" b="1" dirty="0">
                <a:latin typeface="华文中宋" panose="02010600040101010101" pitchFamily="2" charset="-122"/>
              </a:rPr>
              <a:t>n=3</a:t>
            </a:r>
            <a:r>
              <a:rPr kumimoji="0" lang="zh-CN" altLang="en-US" sz="2800" b="1" dirty="0">
                <a:latin typeface="华文中宋" panose="02010600040101010101" pitchFamily="2" charset="-122"/>
              </a:rPr>
              <a:t>时的</a:t>
            </a:r>
            <a:r>
              <a:rPr kumimoji="0" lang="en-US" altLang="zh-CN" sz="2800" b="1" dirty="0">
                <a:latin typeface="华文中宋" panose="02010600040101010101" pitchFamily="2" charset="-122"/>
              </a:rPr>
              <a:t>0-1</a:t>
            </a:r>
            <a:r>
              <a:rPr kumimoji="0" lang="zh-CN" altLang="en-US" sz="2800" b="1" dirty="0">
                <a:latin typeface="华文中宋" panose="02010600040101010101" pitchFamily="2" charset="-122"/>
              </a:rPr>
              <a:t>背包问题：</a:t>
            </a:r>
            <a:r>
              <a:rPr kumimoji="0" lang="en-US" altLang="zh-CN" sz="2800" b="1" dirty="0">
                <a:latin typeface="华文中宋" panose="02010600040101010101" pitchFamily="2" charset="-122"/>
              </a:rPr>
              <a:t>c=30,w=[16,15,15],v=[45,25,25]</a:t>
            </a:r>
          </a:p>
        </p:txBody>
      </p:sp>
      <p:pic>
        <p:nvPicPr>
          <p:cNvPr id="53252" name="Picture 4" descr="t51">
            <a:extLst>
              <a:ext uri="{FF2B5EF4-FFF2-40B4-BE49-F238E27FC236}">
                <a16:creationId xmlns:a16="http://schemas.microsoft.com/office/drawing/2014/main" id="{DD6DF2D6-871D-40FE-B760-65F088A4562A}"/>
              </a:ext>
            </a:extLst>
          </p:cNvPr>
          <p:cNvPicPr>
            <a:picLocks noGrp="1" noChangeAspect="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bwMode="auto">
          <a:xfrm>
            <a:off x="1692275" y="2492375"/>
            <a:ext cx="5562600" cy="3352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5">
            <a:extLst>
              <a:ext uri="{FF2B5EF4-FFF2-40B4-BE49-F238E27FC236}">
                <a16:creationId xmlns:a16="http://schemas.microsoft.com/office/drawing/2014/main" id="{AD424659-562A-4138-BC29-C9B7D3D281C8}"/>
              </a:ext>
            </a:extLst>
          </p:cNvPr>
          <p:cNvSpPr>
            <a:spLocks noGrp="1" noChangeArrowheads="1"/>
          </p:cNvSpPr>
          <p:nvPr>
            <p:ph type="title"/>
          </p:nvPr>
        </p:nvSpPr>
        <p:spPr bwMode="auto">
          <a:xfrm>
            <a:off x="685800" y="3810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4000" b="1" dirty="0">
                <a:solidFill>
                  <a:srgbClr val="FF0000"/>
                </a:solidFill>
                <a:latin typeface="华文中宋" panose="02010600040101010101" pitchFamily="2" charset="-122"/>
              </a:rPr>
              <a:t> </a:t>
            </a:r>
            <a:r>
              <a:rPr lang="zh-CN" altLang="en-US" sz="4000" b="1" dirty="0">
                <a:solidFill>
                  <a:srgbClr val="FF0000"/>
                </a:solidFill>
                <a:latin typeface="华文中宋" panose="02010600040101010101" pitchFamily="2" charset="-122"/>
              </a:rPr>
              <a:t>搜索过程举例</a:t>
            </a:r>
            <a:r>
              <a:rPr lang="en-US" altLang="zh-CN" sz="4000" b="1" dirty="0">
                <a:solidFill>
                  <a:srgbClr val="FF0000"/>
                </a:solidFill>
                <a:latin typeface="华文中宋" panose="02010600040101010101" pitchFamily="2" charset="-122"/>
              </a:rPr>
              <a:t>--</a:t>
            </a:r>
            <a:r>
              <a:rPr kumimoji="0" lang="en-US" altLang="zh-CN" sz="4000" b="1" dirty="0">
                <a:solidFill>
                  <a:srgbClr val="FF0000"/>
                </a:solidFill>
                <a:latin typeface="华文中宋" panose="02010600040101010101" pitchFamily="2" charset="-122"/>
              </a:rPr>
              <a:t>0-1</a:t>
            </a:r>
            <a:r>
              <a:rPr kumimoji="0" lang="zh-CN" altLang="en-US" sz="4000" b="1" dirty="0">
                <a:solidFill>
                  <a:srgbClr val="FF0000"/>
                </a:solidFill>
                <a:latin typeface="华文中宋" panose="02010600040101010101" pitchFamily="2" charset="-122"/>
              </a:rPr>
              <a:t>背包问题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3252"/>
                                        </p:tgtEl>
                                        <p:attrNameLst>
                                          <p:attrName>style.visibility</p:attrName>
                                        </p:attrNameLst>
                                      </p:cBhvr>
                                      <p:to>
                                        <p:strVal val="visible"/>
                                      </p:to>
                                    </p:set>
                                    <p:anim calcmode="lin" valueType="num">
                                      <p:cBhvr additive="base">
                                        <p:cTn id="7" dur="500" fill="hold"/>
                                        <p:tgtEl>
                                          <p:spTgt spid="53252"/>
                                        </p:tgtEl>
                                        <p:attrNameLst>
                                          <p:attrName>ppt_x</p:attrName>
                                        </p:attrNameLst>
                                      </p:cBhvr>
                                      <p:tavLst>
                                        <p:tav tm="0">
                                          <p:val>
                                            <p:strVal val="0-#ppt_w/2"/>
                                          </p:val>
                                        </p:tav>
                                        <p:tav tm="100000">
                                          <p:val>
                                            <p:strVal val="#ppt_x"/>
                                          </p:val>
                                        </p:tav>
                                      </p:tavLst>
                                    </p:anim>
                                    <p:anim calcmode="lin" valueType="num">
                                      <p:cBhvr additive="base">
                                        <p:cTn id="8" dur="500" fill="hold"/>
                                        <p:tgtEl>
                                          <p:spTgt spid="53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10B1549-04AD-4887-A938-396E5D2CE594}"/>
              </a:ext>
            </a:extLst>
          </p:cNvPr>
          <p:cNvSpPr>
            <a:spLocks noGrp="1" noChangeArrowheads="1"/>
          </p:cNvSpPr>
          <p:nvPr>
            <p:ph type="title"/>
          </p:nvPr>
        </p:nvSpPr>
        <p:spPr bwMode="auto">
          <a:xfrm>
            <a:off x="684213" y="188913"/>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t>回溯法解题步骤</a:t>
            </a:r>
          </a:p>
        </p:txBody>
      </p:sp>
      <p:sp>
        <p:nvSpPr>
          <p:cNvPr id="55299" name="Rectangle 3">
            <a:extLst>
              <a:ext uri="{FF2B5EF4-FFF2-40B4-BE49-F238E27FC236}">
                <a16:creationId xmlns:a16="http://schemas.microsoft.com/office/drawing/2014/main" id="{9BFE4B57-FAC1-403E-A9C5-10BA56F3219A}"/>
              </a:ext>
            </a:extLst>
          </p:cNvPr>
          <p:cNvSpPr>
            <a:spLocks noGrp="1" noChangeArrowheads="1"/>
          </p:cNvSpPr>
          <p:nvPr>
            <p:ph type="body" idx="1"/>
          </p:nvPr>
        </p:nvSpPr>
        <p:spPr bwMode="auto">
          <a:xfrm>
            <a:off x="468313" y="1052513"/>
            <a:ext cx="7772400" cy="3200400"/>
          </a:xfrm>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defRPr/>
            </a:pPr>
            <a:r>
              <a:rPr kumimoji="0" lang="en-US" altLang="zh-CN" sz="2800" b="1" dirty="0">
                <a:latin typeface="华文中宋" panose="02010600040101010101" pitchFamily="2" charset="-122"/>
              </a:rPr>
              <a:t>(1)</a:t>
            </a:r>
            <a:r>
              <a:rPr kumimoji="0" lang="zh-CN" altLang="en-US" sz="2800" b="1" dirty="0">
                <a:latin typeface="华文中宋" panose="02010600040101010101" pitchFamily="2" charset="-122"/>
              </a:rPr>
              <a:t>针对所给问题，定义问题的解空间；</a:t>
            </a:r>
          </a:p>
          <a:p>
            <a:pPr eaLnBrk="1" hangingPunct="1">
              <a:lnSpc>
                <a:spcPct val="130000"/>
              </a:lnSpc>
              <a:spcBef>
                <a:spcPct val="0"/>
              </a:spcBef>
              <a:buFontTx/>
              <a:buNone/>
              <a:defRPr/>
            </a:pPr>
            <a:r>
              <a:rPr kumimoji="0" lang="en-US" altLang="zh-CN" sz="2800" b="1" dirty="0">
                <a:latin typeface="华文中宋" panose="02010600040101010101" pitchFamily="2" charset="-122"/>
              </a:rPr>
              <a:t>(2)</a:t>
            </a:r>
            <a:r>
              <a:rPr kumimoji="0" lang="zh-CN" altLang="en-US" sz="2800" b="1" dirty="0">
                <a:latin typeface="华文中宋" panose="02010600040101010101" pitchFamily="2" charset="-122"/>
              </a:rPr>
              <a:t>确定合适的解空间结构；</a:t>
            </a:r>
          </a:p>
          <a:p>
            <a:pPr eaLnBrk="1" hangingPunct="1">
              <a:lnSpc>
                <a:spcPct val="130000"/>
              </a:lnSpc>
              <a:spcBef>
                <a:spcPct val="0"/>
              </a:spcBef>
              <a:buFontTx/>
              <a:buNone/>
              <a:defRPr/>
            </a:pPr>
            <a:r>
              <a:rPr kumimoji="0" lang="en-US" altLang="zh-CN" sz="2800" b="1" dirty="0">
                <a:latin typeface="华文中宋" panose="02010600040101010101" pitchFamily="2" charset="-122"/>
              </a:rPr>
              <a:t>(3)</a:t>
            </a:r>
            <a:r>
              <a:rPr kumimoji="0" lang="zh-CN" altLang="en-US" sz="2800" b="1" dirty="0">
                <a:latin typeface="华文中宋" panose="02010600040101010101" pitchFamily="2" charset="-122"/>
              </a:rPr>
              <a:t>以深度优先方式搜索解空间，并在搜索过程中用剪枝函数避免无效搜索，直到找到所求的解或解空间中已无活结点时为止。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299">
                                            <p:txEl>
                                              <p:pRg st="2" end="2"/>
                                            </p:txEl>
                                          </p:spTgt>
                                        </p:tgtEl>
                                        <p:attrNameLst>
                                          <p:attrName>style.visibility</p:attrName>
                                        </p:attrNameLst>
                                      </p:cBhvr>
                                      <p:to>
                                        <p:strVal val="visible"/>
                                      </p:to>
                                    </p:set>
                                    <p:anim calcmode="lin" valueType="num">
                                      <p:cBhvr additive="base">
                                        <p:cTn id="19" dur="500" fill="hold"/>
                                        <p:tgtEl>
                                          <p:spTgt spid="552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2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118ED53-DB6D-438C-A075-3E2E98D22758}"/>
              </a:ext>
            </a:extLst>
          </p:cNvPr>
          <p:cNvSpPr>
            <a:spLocks noGrp="1" noChangeArrowheads="1"/>
          </p:cNvSpPr>
          <p:nvPr>
            <p:ph type="title"/>
          </p:nvPr>
        </p:nvSpPr>
        <p:spPr bwMode="auto">
          <a:xfrm>
            <a:off x="685800" y="304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chemeClr val="tx1"/>
                </a:solidFill>
              </a:rPr>
              <a:t>回溯法形式描述</a:t>
            </a:r>
            <a:r>
              <a:rPr lang="en-US" altLang="zh-CN" sz="4000" b="1">
                <a:solidFill>
                  <a:schemeClr val="tx1"/>
                </a:solidFill>
              </a:rPr>
              <a:t>-</a:t>
            </a:r>
            <a:r>
              <a:rPr lang="zh-CN" altLang="en-US" sz="4000" b="1"/>
              <a:t>递归算法</a:t>
            </a:r>
            <a:endParaRPr lang="zh-CN" altLang="en-US" sz="4000" b="1">
              <a:solidFill>
                <a:schemeClr val="tx1"/>
              </a:solidFill>
            </a:endParaRPr>
          </a:p>
        </p:txBody>
      </p:sp>
      <p:sp>
        <p:nvSpPr>
          <p:cNvPr id="17411" name="Rectangle 3">
            <a:extLst>
              <a:ext uri="{FF2B5EF4-FFF2-40B4-BE49-F238E27FC236}">
                <a16:creationId xmlns:a16="http://schemas.microsoft.com/office/drawing/2014/main" id="{5A520AA7-E33B-439F-B2A3-0E18AC349105}"/>
              </a:ext>
            </a:extLst>
          </p:cNvPr>
          <p:cNvSpPr>
            <a:spLocks noGrp="1" noChangeArrowheads="1"/>
          </p:cNvSpPr>
          <p:nvPr>
            <p:ph type="body" idx="1"/>
          </p:nvPr>
        </p:nvSpPr>
        <p:spPr bwMode="auto">
          <a:xfrm>
            <a:off x="685800" y="1066800"/>
            <a:ext cx="8029575" cy="518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buFontTx/>
              <a:buNone/>
            </a:pPr>
            <a:r>
              <a:rPr lang="en-US" altLang="zh-CN" sz="2400" b="1" dirty="0">
                <a:latin typeface="Input" panose="02000506020000090004" pitchFamily="2" charset="0"/>
              </a:rPr>
              <a:t>void   BACKTRACK(int  t ) {  //n</a:t>
            </a:r>
            <a:r>
              <a:rPr lang="zh-CN" altLang="en-US" sz="2400" b="1" dirty="0">
                <a:latin typeface="Input" panose="02000506020000090004" pitchFamily="2" charset="0"/>
              </a:rPr>
              <a:t>为递归深度</a:t>
            </a:r>
            <a:r>
              <a:rPr lang="en-US" altLang="zh-CN" sz="2400" b="1" dirty="0">
                <a:latin typeface="Input" panose="02000506020000090004" pitchFamily="2" charset="0"/>
              </a:rPr>
              <a:t>,t</a:t>
            </a:r>
            <a:r>
              <a:rPr lang="zh-CN" altLang="en-US" sz="2400" b="1" dirty="0">
                <a:latin typeface="Input" panose="02000506020000090004" pitchFamily="2" charset="0"/>
              </a:rPr>
              <a:t>为当前深度</a:t>
            </a:r>
            <a:endParaRPr lang="en-US" altLang="zh-CN" sz="2400" b="1" dirty="0">
              <a:latin typeface="Input" panose="02000506020000090004" pitchFamily="2" charset="0"/>
            </a:endParaRPr>
          </a:p>
          <a:p>
            <a:pPr eaLnBrk="1" hangingPunct="1">
              <a:lnSpc>
                <a:spcPct val="80000"/>
              </a:lnSpc>
              <a:spcBef>
                <a:spcPct val="50000"/>
              </a:spcBef>
              <a:buFontTx/>
              <a:buNone/>
            </a:pPr>
            <a:r>
              <a:rPr lang="en-US" altLang="zh-CN" sz="2400" b="1" dirty="0">
                <a:latin typeface="Input" panose="02000506020000090004" pitchFamily="2" charset="0"/>
              </a:rPr>
              <a:t>     if   </a:t>
            </a:r>
            <a:r>
              <a:rPr lang="zh-CN" altLang="en-US" sz="2400" b="1" dirty="0">
                <a:latin typeface="Input" panose="02000506020000090004" pitchFamily="2" charset="0"/>
              </a:rPr>
              <a:t>（</a:t>
            </a:r>
            <a:r>
              <a:rPr lang="en-US" altLang="zh-CN" sz="2400" b="1" dirty="0">
                <a:latin typeface="Input" panose="02000506020000090004" pitchFamily="2" charset="0"/>
              </a:rPr>
              <a:t>t &gt;  n</a:t>
            </a:r>
            <a:r>
              <a:rPr lang="zh-CN" altLang="en-US" sz="2400" b="1" dirty="0">
                <a:latin typeface="Input" panose="02000506020000090004" pitchFamily="2" charset="0"/>
              </a:rPr>
              <a:t>）返回</a:t>
            </a:r>
            <a:r>
              <a:rPr lang="en-US" altLang="zh-CN" sz="2400" b="1" dirty="0">
                <a:latin typeface="Input" panose="02000506020000090004" pitchFamily="2" charset="0"/>
              </a:rPr>
              <a:t>;</a:t>
            </a:r>
            <a:endParaRPr lang="zh-CN" altLang="en-US" sz="2400" b="1" dirty="0">
              <a:latin typeface="Input" panose="02000506020000090004" pitchFamily="2" charset="0"/>
            </a:endParaRPr>
          </a:p>
          <a:p>
            <a:pPr eaLnBrk="1" hangingPunct="1">
              <a:lnSpc>
                <a:spcPct val="80000"/>
              </a:lnSpc>
              <a:spcBef>
                <a:spcPct val="50000"/>
              </a:spcBef>
              <a:buFontTx/>
              <a:buNone/>
            </a:pPr>
            <a:r>
              <a:rPr lang="zh-CN" altLang="en-US" sz="2400" b="1" dirty="0">
                <a:latin typeface="Input" panose="02000506020000090004" pitchFamily="2" charset="0"/>
              </a:rPr>
              <a:t>     </a:t>
            </a:r>
            <a:r>
              <a:rPr lang="en-US" altLang="zh-CN" sz="2400" b="1" dirty="0">
                <a:latin typeface="Input" panose="02000506020000090004" pitchFamily="2" charset="0"/>
              </a:rPr>
              <a:t>else</a:t>
            </a:r>
          </a:p>
          <a:p>
            <a:pPr eaLnBrk="1" hangingPunct="1">
              <a:lnSpc>
                <a:spcPct val="80000"/>
              </a:lnSpc>
              <a:spcBef>
                <a:spcPct val="50000"/>
              </a:spcBef>
              <a:buFontTx/>
              <a:buNone/>
            </a:pPr>
            <a:r>
              <a:rPr lang="en-US" altLang="zh-CN" sz="2400" b="1" dirty="0">
                <a:latin typeface="Input" panose="02000506020000090004" pitchFamily="2" charset="0"/>
              </a:rPr>
              <a:t>            while   (</a:t>
            </a:r>
            <a:r>
              <a:rPr lang="zh-CN" altLang="zh-CN" sz="2400" b="1" dirty="0">
                <a:latin typeface="Input" panose="02000506020000090004" pitchFamily="2" charset="0"/>
              </a:rPr>
              <a:t>存在合适的</a:t>
            </a:r>
            <a:r>
              <a:rPr lang="en-US" altLang="zh-CN" sz="2400" b="1" dirty="0" err="1">
                <a:latin typeface="Input" panose="02000506020000090004" pitchFamily="2" charset="0"/>
              </a:rPr>
              <a:t>x</a:t>
            </a:r>
            <a:r>
              <a:rPr lang="en-US" altLang="zh-CN" sz="2400" b="1" baseline="-25000" dirty="0" err="1">
                <a:latin typeface="Input" panose="02000506020000090004" pitchFamily="2" charset="0"/>
              </a:rPr>
              <a:t>t</a:t>
            </a:r>
            <a:r>
              <a:rPr lang="en-US" altLang="zh-CN" sz="2400" b="1" dirty="0">
                <a:latin typeface="Input" panose="02000506020000090004" pitchFamily="2" charset="0"/>
              </a:rPr>
              <a:t> )   </a:t>
            </a:r>
          </a:p>
          <a:p>
            <a:pPr eaLnBrk="1" hangingPunct="1">
              <a:lnSpc>
                <a:spcPct val="80000"/>
              </a:lnSpc>
              <a:spcBef>
                <a:spcPct val="50000"/>
              </a:spcBef>
              <a:buFontTx/>
              <a:buNone/>
            </a:pPr>
            <a:r>
              <a:rPr lang="en-US" altLang="zh-CN" sz="2400" b="1" dirty="0">
                <a:latin typeface="Input" panose="02000506020000090004" pitchFamily="2" charset="0"/>
              </a:rPr>
              <a:t>           {   if  (</a:t>
            </a:r>
            <a:r>
              <a:rPr lang="en-US" altLang="zh-CN" sz="2400" b="1" dirty="0">
                <a:solidFill>
                  <a:schemeClr val="tx2"/>
                </a:solidFill>
                <a:latin typeface="Input" panose="02000506020000090004" pitchFamily="2" charset="0"/>
                <a:sym typeface="Symbol" panose="05050102010706020507" pitchFamily="18" charset="2"/>
              </a:rPr>
              <a:t>x</a:t>
            </a:r>
            <a:r>
              <a:rPr lang="en-US" altLang="zh-CN" sz="2400" b="1" baseline="-25000" dirty="0">
                <a:solidFill>
                  <a:schemeClr val="tx2"/>
                </a:solidFill>
                <a:latin typeface="Input" panose="02000506020000090004" pitchFamily="2" charset="0"/>
                <a:sym typeface="Symbol" panose="05050102010706020507" pitchFamily="18" charset="2"/>
              </a:rPr>
              <a:t>1</a:t>
            </a:r>
            <a:r>
              <a:rPr lang="en-US" altLang="zh-CN" sz="2400" b="1" dirty="0">
                <a:solidFill>
                  <a:schemeClr val="tx2"/>
                </a:solidFill>
                <a:latin typeface="Input" panose="02000506020000090004" pitchFamily="2" charset="0"/>
                <a:sym typeface="Symbol" panose="05050102010706020507" pitchFamily="18" charset="2"/>
              </a:rPr>
              <a:t>,…,</a:t>
            </a:r>
            <a:r>
              <a:rPr lang="en-US" altLang="zh-CN" sz="2400" b="1" dirty="0" err="1">
                <a:solidFill>
                  <a:schemeClr val="tx2"/>
                </a:solidFill>
                <a:latin typeface="Input" panose="02000506020000090004" pitchFamily="2" charset="0"/>
                <a:sym typeface="Symbol" panose="05050102010706020507" pitchFamily="18" charset="2"/>
              </a:rPr>
              <a:t>x</a:t>
            </a:r>
            <a:r>
              <a:rPr lang="en-US" altLang="zh-CN" sz="2400" b="1" baseline="-25000" dirty="0" err="1">
                <a:solidFill>
                  <a:schemeClr val="tx2"/>
                </a:solidFill>
                <a:latin typeface="Input" panose="02000506020000090004" pitchFamily="2" charset="0"/>
                <a:sym typeface="Symbol" panose="05050102010706020507" pitchFamily="18" charset="2"/>
              </a:rPr>
              <a:t>t</a:t>
            </a:r>
            <a:r>
              <a:rPr lang="en-US" altLang="zh-CN" sz="2400" b="1" dirty="0">
                <a:latin typeface="Input" panose="02000506020000090004" pitchFamily="2" charset="0"/>
                <a:sym typeface="Symbol" panose="05050102010706020507" pitchFamily="18" charset="2"/>
              </a:rPr>
              <a:t>)</a:t>
            </a:r>
            <a:r>
              <a:rPr lang="zh-CN" altLang="zh-CN" sz="2400" b="1" dirty="0">
                <a:latin typeface="Input" panose="02000506020000090004" pitchFamily="2" charset="0"/>
              </a:rPr>
              <a:t>是解</a:t>
            </a:r>
          </a:p>
          <a:p>
            <a:pPr eaLnBrk="1" hangingPunct="1">
              <a:lnSpc>
                <a:spcPct val="80000"/>
              </a:lnSpc>
              <a:spcBef>
                <a:spcPct val="50000"/>
              </a:spcBef>
              <a:buFontTx/>
              <a:buNone/>
            </a:pPr>
            <a:r>
              <a:rPr lang="zh-CN" altLang="zh-CN" sz="2400" b="1" dirty="0">
                <a:latin typeface="Input" panose="02000506020000090004" pitchFamily="2" charset="0"/>
              </a:rPr>
              <a:t>                          </a:t>
            </a:r>
            <a:r>
              <a:rPr lang="zh-CN" altLang="en-US" sz="2400" b="1" dirty="0">
                <a:latin typeface="Input" panose="02000506020000090004" pitchFamily="2" charset="0"/>
              </a:rPr>
              <a:t> </a:t>
            </a:r>
            <a:r>
              <a:rPr lang="zh-CN" altLang="zh-CN" sz="2400" b="1" dirty="0">
                <a:latin typeface="Input" panose="02000506020000090004" pitchFamily="2" charset="0"/>
              </a:rPr>
              <a:t>输出解</a:t>
            </a:r>
            <a:r>
              <a:rPr lang="en-US" altLang="zh-CN" sz="2400" b="1" dirty="0">
                <a:solidFill>
                  <a:schemeClr val="tx2"/>
                </a:solidFill>
                <a:latin typeface="Input" panose="02000506020000090004" pitchFamily="2" charset="0"/>
                <a:sym typeface="Symbol" panose="05050102010706020507" pitchFamily="18" charset="2"/>
              </a:rPr>
              <a:t>x</a:t>
            </a:r>
            <a:r>
              <a:rPr lang="en-US" altLang="zh-CN" sz="2400" b="1" baseline="-25000" dirty="0">
                <a:solidFill>
                  <a:schemeClr val="tx2"/>
                </a:solidFill>
                <a:latin typeface="Input" panose="02000506020000090004" pitchFamily="2" charset="0"/>
                <a:sym typeface="Symbol" panose="05050102010706020507" pitchFamily="18" charset="2"/>
              </a:rPr>
              <a:t>1</a:t>
            </a:r>
            <a:r>
              <a:rPr lang="en-US" altLang="zh-CN" sz="2400" b="1" dirty="0">
                <a:solidFill>
                  <a:schemeClr val="tx2"/>
                </a:solidFill>
                <a:latin typeface="Input" panose="02000506020000090004" pitchFamily="2" charset="0"/>
                <a:sym typeface="Symbol" panose="05050102010706020507" pitchFamily="18" charset="2"/>
              </a:rPr>
              <a:t>,…,</a:t>
            </a:r>
            <a:r>
              <a:rPr lang="en-US" altLang="zh-CN" sz="2400" b="1" dirty="0" err="1">
                <a:solidFill>
                  <a:schemeClr val="tx2"/>
                </a:solidFill>
                <a:latin typeface="Input" panose="02000506020000090004" pitchFamily="2" charset="0"/>
                <a:sym typeface="Symbol" panose="05050102010706020507" pitchFamily="18" charset="2"/>
              </a:rPr>
              <a:t>x</a:t>
            </a:r>
            <a:r>
              <a:rPr lang="en-US" altLang="zh-CN" sz="2400" b="1" baseline="-25000" dirty="0" err="1">
                <a:solidFill>
                  <a:schemeClr val="tx2"/>
                </a:solidFill>
                <a:latin typeface="Input" panose="02000506020000090004" pitchFamily="2" charset="0"/>
                <a:sym typeface="Symbol" panose="05050102010706020507" pitchFamily="18" charset="2"/>
              </a:rPr>
              <a:t>t</a:t>
            </a:r>
            <a:r>
              <a:rPr lang="en-US" altLang="zh-CN" sz="2400" b="1" dirty="0">
                <a:latin typeface="Input" panose="02000506020000090004" pitchFamily="2" charset="0"/>
              </a:rPr>
              <a:t> </a:t>
            </a:r>
            <a:r>
              <a:rPr lang="zh-CN" altLang="en-US" sz="2400" b="1" dirty="0">
                <a:latin typeface="Input" panose="02000506020000090004" pitchFamily="2" charset="0"/>
              </a:rPr>
              <a:t>；</a:t>
            </a:r>
          </a:p>
          <a:p>
            <a:pPr eaLnBrk="1" hangingPunct="1">
              <a:lnSpc>
                <a:spcPct val="80000"/>
              </a:lnSpc>
              <a:spcBef>
                <a:spcPct val="50000"/>
              </a:spcBef>
              <a:buFontTx/>
              <a:buNone/>
            </a:pPr>
            <a:r>
              <a:rPr lang="zh-CN" altLang="en-US" sz="2400" b="1" dirty="0">
                <a:latin typeface="Input" panose="02000506020000090004" pitchFamily="2" charset="0"/>
              </a:rPr>
              <a:t>                      </a:t>
            </a:r>
            <a:r>
              <a:rPr lang="en-US" altLang="zh-CN" sz="2400" b="1" dirty="0">
                <a:latin typeface="Input" panose="02000506020000090004" pitchFamily="2" charset="0"/>
              </a:rPr>
              <a:t>BACKTRACK( t + 1 );</a:t>
            </a:r>
          </a:p>
          <a:p>
            <a:pPr eaLnBrk="1" hangingPunct="1">
              <a:lnSpc>
                <a:spcPct val="80000"/>
              </a:lnSpc>
              <a:spcBef>
                <a:spcPct val="50000"/>
              </a:spcBef>
              <a:buFontTx/>
              <a:buNone/>
            </a:pPr>
            <a:r>
              <a:rPr lang="en-US" altLang="zh-CN" sz="2400" b="1" dirty="0">
                <a:latin typeface="Input" panose="02000506020000090004" pitchFamily="2" charset="0"/>
              </a:rPr>
              <a:t>           }</a:t>
            </a:r>
          </a:p>
          <a:p>
            <a:pPr eaLnBrk="1" hangingPunct="1">
              <a:lnSpc>
                <a:spcPct val="80000"/>
              </a:lnSpc>
              <a:spcBef>
                <a:spcPct val="50000"/>
              </a:spcBef>
              <a:buFontTx/>
              <a:buNone/>
            </a:pPr>
            <a:r>
              <a:rPr lang="en-US" altLang="zh-CN" sz="2400" b="1" dirty="0">
                <a:latin typeface="Input" panose="02000506020000090004" pitchFamily="2" charset="0"/>
              </a:rPr>
              <a:t> }</a:t>
            </a:r>
          </a:p>
        </p:txBody>
      </p:sp>
      <p:sp>
        <p:nvSpPr>
          <p:cNvPr id="56324" name="AutoShape 4">
            <a:extLst>
              <a:ext uri="{FF2B5EF4-FFF2-40B4-BE49-F238E27FC236}">
                <a16:creationId xmlns:a16="http://schemas.microsoft.com/office/drawing/2014/main" id="{52137C2A-84E6-4E89-ACFA-40686B8257E3}"/>
              </a:ext>
            </a:extLst>
          </p:cNvPr>
          <p:cNvSpPr>
            <a:spLocks noChangeArrowheads="1"/>
          </p:cNvSpPr>
          <p:nvPr/>
        </p:nvSpPr>
        <p:spPr bwMode="auto">
          <a:xfrm>
            <a:off x="5292080" y="4653136"/>
            <a:ext cx="3657600" cy="2097360"/>
          </a:xfrm>
          <a:prstGeom prst="wedgeRectCallout">
            <a:avLst>
              <a:gd name="adj1" fmla="val -83573"/>
              <a:gd name="adj2" fmla="val -93907"/>
            </a:avLst>
          </a:prstGeom>
          <a:solidFill>
            <a:srgbClr val="FFFF00"/>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sz="2000" dirty="0">
                <a:ea typeface="华文中宋" panose="02010600040101010101" pitchFamily="2" charset="-122"/>
              </a:rPr>
              <a:t>另一种方式</a:t>
            </a:r>
          </a:p>
          <a:p>
            <a:pPr eaLnBrk="1" hangingPunct="1">
              <a:lnSpc>
                <a:spcPct val="110000"/>
              </a:lnSpc>
            </a:pPr>
            <a:r>
              <a:rPr lang="en-US" altLang="zh-CN" sz="2000" dirty="0">
                <a:ea typeface="华文中宋" panose="02010600040101010101" pitchFamily="2" charset="-122"/>
              </a:rPr>
              <a:t>for(int </a:t>
            </a:r>
            <a:r>
              <a:rPr lang="en-US" altLang="zh-CN" sz="2000" dirty="0" err="1">
                <a:ea typeface="华文中宋" panose="02010600040101010101" pitchFamily="2" charset="-122"/>
              </a:rPr>
              <a:t>i</a:t>
            </a:r>
            <a:r>
              <a:rPr lang="en-US" altLang="zh-CN" sz="2000" dirty="0">
                <a:ea typeface="华文中宋" panose="02010600040101010101" pitchFamily="2" charset="-122"/>
              </a:rPr>
              <a:t>=f(</a:t>
            </a:r>
            <a:r>
              <a:rPr lang="en-US" altLang="zh-CN" sz="2000" dirty="0" err="1">
                <a:ea typeface="华文中宋" panose="02010600040101010101" pitchFamily="2" charset="-122"/>
              </a:rPr>
              <a:t>n,t</a:t>
            </a:r>
            <a:r>
              <a:rPr lang="en-US" altLang="zh-CN" sz="2000" dirty="0">
                <a:ea typeface="华文中宋" panose="02010600040101010101" pitchFamily="2" charset="-122"/>
              </a:rPr>
              <a:t>);</a:t>
            </a:r>
            <a:r>
              <a:rPr lang="en-US" altLang="zh-CN" sz="2000" dirty="0" err="1">
                <a:ea typeface="华文中宋" panose="02010600040101010101" pitchFamily="2" charset="-122"/>
              </a:rPr>
              <a:t>i</a:t>
            </a:r>
            <a:r>
              <a:rPr lang="en-US" altLang="zh-CN" sz="2000" dirty="0">
                <a:ea typeface="华文中宋" panose="02010600040101010101" pitchFamily="2" charset="-122"/>
              </a:rPr>
              <a:t>&lt;=g(</a:t>
            </a:r>
            <a:r>
              <a:rPr lang="en-US" altLang="zh-CN" sz="2000" dirty="0" err="1">
                <a:ea typeface="华文中宋" panose="02010600040101010101" pitchFamily="2" charset="-122"/>
              </a:rPr>
              <a:t>n,t</a:t>
            </a:r>
            <a:r>
              <a:rPr lang="en-US" altLang="zh-CN" sz="2000" dirty="0">
                <a:ea typeface="华文中宋" panose="02010600040101010101" pitchFamily="2" charset="-122"/>
              </a:rPr>
              <a:t>);</a:t>
            </a:r>
            <a:r>
              <a:rPr lang="en-US" altLang="zh-CN" sz="2000" dirty="0" err="1">
                <a:ea typeface="华文中宋" panose="02010600040101010101" pitchFamily="2" charset="-122"/>
              </a:rPr>
              <a:t>i</a:t>
            </a:r>
            <a:r>
              <a:rPr lang="en-US" altLang="zh-CN" sz="2000" dirty="0">
                <a:ea typeface="华文中宋" panose="02010600040101010101" pitchFamily="2" charset="-122"/>
              </a:rPr>
              <a:t>++){</a:t>
            </a:r>
          </a:p>
          <a:p>
            <a:pPr eaLnBrk="1" hangingPunct="1">
              <a:lnSpc>
                <a:spcPct val="110000"/>
              </a:lnSpc>
            </a:pPr>
            <a:r>
              <a:rPr lang="en-US" altLang="zh-CN" sz="2000" dirty="0">
                <a:ea typeface="华文中宋" panose="02010600040101010101" pitchFamily="2" charset="-122"/>
              </a:rPr>
              <a:t>   x[t]=h(</a:t>
            </a:r>
            <a:r>
              <a:rPr lang="en-US" altLang="zh-CN" sz="2000" dirty="0" err="1">
                <a:ea typeface="华文中宋" panose="02010600040101010101" pitchFamily="2" charset="-122"/>
              </a:rPr>
              <a:t>i</a:t>
            </a:r>
            <a:r>
              <a:rPr lang="en-US" altLang="zh-CN" sz="2000" dirty="0">
                <a:ea typeface="华文中宋" panose="02010600040101010101" pitchFamily="2" charset="-122"/>
              </a:rPr>
              <a:t>);</a:t>
            </a:r>
          </a:p>
          <a:p>
            <a:pPr eaLnBrk="1" hangingPunct="1">
              <a:lnSpc>
                <a:spcPct val="110000"/>
              </a:lnSpc>
            </a:pPr>
            <a:r>
              <a:rPr lang="en-US" altLang="zh-CN" sz="2000" dirty="0">
                <a:ea typeface="华文中宋" panose="02010600040101010101" pitchFamily="2" charset="-122"/>
              </a:rPr>
              <a:t>   </a:t>
            </a:r>
            <a:r>
              <a:rPr lang="zh-CN" altLang="en-US" sz="2000" dirty="0">
                <a:ea typeface="华文中宋" panose="02010600040101010101" pitchFamily="2" charset="-122"/>
              </a:rPr>
              <a:t>若（</a:t>
            </a:r>
            <a:r>
              <a:rPr lang="en-US" altLang="zh-CN" sz="2000" dirty="0" err="1">
                <a:ea typeface="华文中宋" panose="02010600040101010101" pitchFamily="2" charset="-122"/>
              </a:rPr>
              <a:t>x</a:t>
            </a:r>
            <a:r>
              <a:rPr lang="en-US" altLang="zh-CN" sz="2000" baseline="-25000" dirty="0" err="1">
                <a:ea typeface="华文中宋" panose="02010600040101010101" pitchFamily="2" charset="-122"/>
              </a:rPr>
              <a:t>t</a:t>
            </a:r>
            <a:r>
              <a:rPr lang="en-US" altLang="zh-CN" sz="2000" baseline="-25000" dirty="0">
                <a:ea typeface="华文中宋" panose="02010600040101010101" pitchFamily="2" charset="-122"/>
              </a:rPr>
              <a:t> </a:t>
            </a:r>
            <a:r>
              <a:rPr lang="zh-CN" altLang="en-US" sz="2000" dirty="0">
                <a:ea typeface="华文中宋" panose="02010600040101010101" pitchFamily="2" charset="-122"/>
              </a:rPr>
              <a:t>满足约束和限界条件） </a:t>
            </a:r>
          </a:p>
          <a:p>
            <a:pPr eaLnBrk="1" hangingPunct="1">
              <a:lnSpc>
                <a:spcPct val="110000"/>
              </a:lnSpc>
            </a:pPr>
            <a:r>
              <a:rPr lang="zh-CN" altLang="en-US" sz="2000" dirty="0">
                <a:ea typeface="华文中宋" panose="02010600040101010101" pitchFamily="2" charset="-122"/>
              </a:rPr>
              <a:t>   </a:t>
            </a:r>
            <a:r>
              <a:rPr lang="en-US" altLang="zh-CN" sz="2000" dirty="0">
                <a:ea typeface="华文中宋" panose="02010600040101010101" pitchFamily="2" charset="-122"/>
              </a:rPr>
              <a:t>BACKTRACK( t + 1 )</a:t>
            </a:r>
          </a:p>
          <a:p>
            <a:pPr eaLnBrk="1" hangingPunct="1">
              <a:lnSpc>
                <a:spcPct val="110000"/>
              </a:lnSpc>
            </a:pPr>
            <a:r>
              <a:rPr lang="en-US" altLang="zh-CN" sz="2000" dirty="0">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 calcmode="lin" valueType="num">
                                      <p:cBhvr additive="base">
                                        <p:cTn id="7" dur="500" fill="hold"/>
                                        <p:tgtEl>
                                          <p:spTgt spid="56324"/>
                                        </p:tgtEl>
                                        <p:attrNameLst>
                                          <p:attrName>ppt_x</p:attrName>
                                        </p:attrNameLst>
                                      </p:cBhvr>
                                      <p:tavLst>
                                        <p:tav tm="0">
                                          <p:val>
                                            <p:strVal val="0-#ppt_w/2"/>
                                          </p:val>
                                        </p:tav>
                                        <p:tav tm="100000">
                                          <p:val>
                                            <p:strVal val="#ppt_x"/>
                                          </p:val>
                                        </p:tav>
                                      </p:tavLst>
                                    </p:anim>
                                    <p:anim calcmode="lin" valueType="num">
                                      <p:cBhvr additive="base">
                                        <p:cTn id="8"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AA99589-EDBD-4B40-B048-1470B59D4C26}"/>
              </a:ext>
            </a:extLst>
          </p:cNvPr>
          <p:cNvSpPr>
            <a:spLocks noGrp="1" noChangeArrowheads="1"/>
          </p:cNvSpPr>
          <p:nvPr>
            <p:ph type="title"/>
          </p:nvPr>
        </p:nvSpPr>
        <p:spPr bwMode="auto">
          <a:xfrm>
            <a:off x="685800" y="228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sz="4000" b="1">
                <a:solidFill>
                  <a:schemeClr val="tx1"/>
                </a:solidFill>
              </a:rPr>
              <a:t>回溯法形式描述</a:t>
            </a:r>
            <a:r>
              <a:rPr lang="en-US" altLang="zh-CN" sz="4000" b="1">
                <a:solidFill>
                  <a:schemeClr val="tx1"/>
                </a:solidFill>
              </a:rPr>
              <a:t>-</a:t>
            </a:r>
            <a:r>
              <a:rPr lang="zh-CN" altLang="en-US" sz="4000" b="1"/>
              <a:t>非递归算法</a:t>
            </a:r>
          </a:p>
        </p:txBody>
      </p:sp>
      <p:sp>
        <p:nvSpPr>
          <p:cNvPr id="57347" name="Rectangle 3">
            <a:extLst>
              <a:ext uri="{FF2B5EF4-FFF2-40B4-BE49-F238E27FC236}">
                <a16:creationId xmlns:a16="http://schemas.microsoft.com/office/drawing/2014/main" id="{BB98D69C-54DE-4CB1-A71F-552FC26C1D6C}"/>
              </a:ext>
            </a:extLst>
          </p:cNvPr>
          <p:cNvSpPr>
            <a:spLocks noGrp="1" noChangeArrowheads="1"/>
          </p:cNvSpPr>
          <p:nvPr>
            <p:ph type="body" idx="1"/>
          </p:nvPr>
        </p:nvSpPr>
        <p:spPr bwMode="auto">
          <a:xfrm>
            <a:off x="609600" y="914400"/>
            <a:ext cx="8320088" cy="213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70000"/>
              </a:lnSpc>
              <a:spcBef>
                <a:spcPct val="50000"/>
              </a:spcBef>
              <a:buFontTx/>
              <a:buNone/>
            </a:pPr>
            <a:r>
              <a:rPr lang="zh-CN" altLang="en-US" sz="2400" b="1" dirty="0"/>
              <a:t>迭代回溯</a:t>
            </a:r>
            <a:endParaRPr lang="en-US" altLang="zh-CN" sz="2400" b="1" dirty="0"/>
          </a:p>
          <a:p>
            <a:pPr eaLnBrk="1" hangingPunct="1">
              <a:lnSpc>
                <a:spcPct val="70000"/>
              </a:lnSpc>
              <a:spcBef>
                <a:spcPct val="50000"/>
              </a:spcBef>
              <a:buFontTx/>
              <a:buNone/>
            </a:pPr>
            <a:r>
              <a:rPr lang="en-US" altLang="zh-CN" sz="2400" b="1" dirty="0"/>
              <a:t>void    BACKTRACK(int n) {</a:t>
            </a:r>
          </a:p>
          <a:p>
            <a:pPr eaLnBrk="1" hangingPunct="1">
              <a:lnSpc>
                <a:spcPct val="70000"/>
              </a:lnSpc>
              <a:spcBef>
                <a:spcPct val="50000"/>
              </a:spcBef>
              <a:buFontTx/>
              <a:buNone/>
            </a:pPr>
            <a:r>
              <a:rPr lang="en-US" altLang="zh-CN" sz="2400" b="1" dirty="0"/>
              <a:t>     int t= 1;</a:t>
            </a:r>
          </a:p>
          <a:p>
            <a:pPr eaLnBrk="1" hangingPunct="1">
              <a:lnSpc>
                <a:spcPct val="70000"/>
              </a:lnSpc>
              <a:spcBef>
                <a:spcPct val="50000"/>
              </a:spcBef>
              <a:buFontTx/>
              <a:buNone/>
            </a:pPr>
            <a:r>
              <a:rPr lang="en-US" altLang="zh-CN" sz="2400" b="1" dirty="0"/>
              <a:t>     while   (t &gt; 0){</a:t>
            </a:r>
          </a:p>
          <a:p>
            <a:pPr eaLnBrk="1" hangingPunct="1">
              <a:lnSpc>
                <a:spcPct val="70000"/>
              </a:lnSpc>
              <a:spcBef>
                <a:spcPct val="50000"/>
              </a:spcBef>
              <a:buFontTx/>
              <a:buNone/>
            </a:pPr>
            <a:r>
              <a:rPr lang="en-US" altLang="zh-CN" sz="2400" b="1" dirty="0">
                <a:solidFill>
                  <a:srgbClr val="3333CC"/>
                </a:solidFill>
              </a:rPr>
              <a:t>         if   (</a:t>
            </a:r>
            <a:r>
              <a:rPr lang="zh-CN" altLang="en-US" sz="2400" b="1" dirty="0">
                <a:solidFill>
                  <a:srgbClr val="3333CC"/>
                </a:solidFill>
              </a:rPr>
              <a:t>有</a:t>
            </a:r>
            <a:r>
              <a:rPr lang="en-US" altLang="zh-CN" sz="2400" b="1" dirty="0" err="1">
                <a:solidFill>
                  <a:srgbClr val="3333CC"/>
                </a:solidFill>
              </a:rPr>
              <a:t>x</a:t>
            </a:r>
            <a:r>
              <a:rPr lang="en-US" altLang="zh-CN" sz="2400" b="1" baseline="-25000" dirty="0" err="1">
                <a:solidFill>
                  <a:srgbClr val="3333CC"/>
                </a:solidFill>
              </a:rPr>
              <a:t>t</a:t>
            </a:r>
            <a:r>
              <a:rPr lang="zh-CN" altLang="en-US" sz="2400" b="1" dirty="0">
                <a:solidFill>
                  <a:srgbClr val="3333CC"/>
                </a:solidFill>
              </a:rPr>
              <a:t>，满足 约束</a:t>
            </a:r>
            <a:r>
              <a:rPr lang="en-US" altLang="zh-CN" sz="2400" b="1" dirty="0">
                <a:solidFill>
                  <a:srgbClr val="3333CC"/>
                </a:solidFill>
                <a:sym typeface="Symbol" panose="05050102010706020507" pitchFamily="18" charset="2"/>
              </a:rPr>
              <a:t>C(x</a:t>
            </a:r>
            <a:r>
              <a:rPr lang="en-US" altLang="zh-CN" sz="2400" b="1" baseline="-25000" dirty="0">
                <a:solidFill>
                  <a:srgbClr val="3333CC"/>
                </a:solidFill>
                <a:sym typeface="Symbol" panose="05050102010706020507" pitchFamily="18" charset="2"/>
              </a:rPr>
              <a:t>1</a:t>
            </a:r>
            <a:r>
              <a:rPr lang="en-US" altLang="zh-CN" sz="2400" b="1" dirty="0">
                <a:solidFill>
                  <a:srgbClr val="3333CC"/>
                </a:solidFill>
                <a:sym typeface="Symbol" panose="05050102010706020507" pitchFamily="18" charset="2"/>
              </a:rPr>
              <a:t>,…,x </a:t>
            </a:r>
            <a:r>
              <a:rPr lang="en-US" altLang="zh-CN" sz="2400" b="1" baseline="-25000" dirty="0">
                <a:solidFill>
                  <a:srgbClr val="3333CC"/>
                </a:solidFill>
                <a:sym typeface="Symbol" panose="05050102010706020507" pitchFamily="18" charset="2"/>
              </a:rPr>
              <a:t>t</a:t>
            </a:r>
            <a:r>
              <a:rPr lang="en-US" altLang="zh-CN" sz="2400" b="1" dirty="0">
                <a:solidFill>
                  <a:srgbClr val="3333CC"/>
                </a:solidFill>
                <a:sym typeface="Symbol" panose="05050102010706020507" pitchFamily="18" charset="2"/>
              </a:rPr>
              <a:t>) &amp;&amp;</a:t>
            </a:r>
            <a:r>
              <a:rPr lang="zh-CN" altLang="en-US" sz="2400" b="1" dirty="0">
                <a:solidFill>
                  <a:srgbClr val="3333CC"/>
                </a:solidFill>
              </a:rPr>
              <a:t>限界</a:t>
            </a:r>
            <a:r>
              <a:rPr lang="en-US" altLang="zh-CN" sz="2400" b="1" dirty="0">
                <a:solidFill>
                  <a:srgbClr val="3333CC"/>
                </a:solidFill>
                <a:sym typeface="Symbol" panose="05050102010706020507" pitchFamily="18" charset="2"/>
              </a:rPr>
              <a:t>Bound(x</a:t>
            </a:r>
            <a:r>
              <a:rPr lang="en-US" altLang="zh-CN" sz="2400" b="1" baseline="-25000" dirty="0">
                <a:solidFill>
                  <a:srgbClr val="3333CC"/>
                </a:solidFill>
                <a:sym typeface="Symbol" panose="05050102010706020507" pitchFamily="18" charset="2"/>
              </a:rPr>
              <a:t>1</a:t>
            </a:r>
            <a:r>
              <a:rPr lang="en-US" altLang="zh-CN" sz="2400" b="1" dirty="0">
                <a:solidFill>
                  <a:srgbClr val="3333CC"/>
                </a:solidFill>
                <a:sym typeface="Symbol" panose="05050102010706020507" pitchFamily="18" charset="2"/>
              </a:rPr>
              <a:t>,…,</a:t>
            </a:r>
            <a:r>
              <a:rPr lang="en-US" altLang="zh-CN" sz="2400" b="1" dirty="0" err="1">
                <a:solidFill>
                  <a:srgbClr val="3333CC"/>
                </a:solidFill>
                <a:sym typeface="Symbol" panose="05050102010706020507" pitchFamily="18" charset="2"/>
              </a:rPr>
              <a:t>x</a:t>
            </a:r>
            <a:r>
              <a:rPr lang="en-US" altLang="zh-CN" sz="2400" b="1" baseline="-25000" dirty="0" err="1">
                <a:solidFill>
                  <a:srgbClr val="3333CC"/>
                </a:solidFill>
                <a:sym typeface="Symbol" panose="05050102010706020507" pitchFamily="18" charset="2"/>
              </a:rPr>
              <a:t>t</a:t>
            </a:r>
            <a:r>
              <a:rPr lang="en-US" altLang="zh-CN" sz="2400" b="1" dirty="0">
                <a:solidFill>
                  <a:srgbClr val="3333CC"/>
                </a:solidFill>
                <a:sym typeface="Symbol" panose="05050102010706020507" pitchFamily="18" charset="2"/>
              </a:rPr>
              <a:t>))</a:t>
            </a:r>
          </a:p>
        </p:txBody>
      </p:sp>
      <p:sp>
        <p:nvSpPr>
          <p:cNvPr id="57348" name="Text Box 4">
            <a:extLst>
              <a:ext uri="{FF2B5EF4-FFF2-40B4-BE49-F238E27FC236}">
                <a16:creationId xmlns:a16="http://schemas.microsoft.com/office/drawing/2014/main" id="{4BC42098-8C9B-49C9-9333-08405F8CA7E8}"/>
              </a:ext>
            </a:extLst>
          </p:cNvPr>
          <p:cNvSpPr txBox="1">
            <a:spLocks noChangeArrowheads="1"/>
          </p:cNvSpPr>
          <p:nvPr/>
        </p:nvSpPr>
        <p:spPr bwMode="auto">
          <a:xfrm>
            <a:off x="142875" y="3052763"/>
            <a:ext cx="7848600" cy="168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dirty="0">
                <a:solidFill>
                  <a:srgbClr val="3333CC"/>
                </a:solidFill>
                <a:ea typeface="华文中宋" panose="02010600040101010101" pitchFamily="2" charset="-122"/>
              </a:rPr>
              <a:t>               {  if  ((</a:t>
            </a:r>
            <a:r>
              <a:rPr lang="en-US" altLang="zh-CN" dirty="0">
                <a:solidFill>
                  <a:srgbClr val="3333CC"/>
                </a:solidFill>
                <a:ea typeface="华文中宋" panose="02010600040101010101" pitchFamily="2" charset="-122"/>
                <a:sym typeface="Symbol" panose="05050102010706020507" pitchFamily="18" charset="2"/>
              </a:rPr>
              <a:t>x</a:t>
            </a:r>
            <a:r>
              <a:rPr lang="en-US" altLang="zh-CN" baseline="-25000" dirty="0">
                <a:solidFill>
                  <a:srgbClr val="3333CC"/>
                </a:solidFill>
                <a:ea typeface="华文中宋" panose="02010600040101010101" pitchFamily="2" charset="-122"/>
                <a:sym typeface="Symbol" panose="05050102010706020507" pitchFamily="18" charset="2"/>
              </a:rPr>
              <a:t>1</a:t>
            </a:r>
            <a:r>
              <a:rPr lang="en-US" altLang="zh-CN" dirty="0">
                <a:solidFill>
                  <a:srgbClr val="3333CC"/>
                </a:solidFill>
                <a:ea typeface="华文中宋" panose="02010600040101010101" pitchFamily="2" charset="-122"/>
                <a:sym typeface="Symbol" panose="05050102010706020507" pitchFamily="18" charset="2"/>
              </a:rPr>
              <a:t>,…,</a:t>
            </a:r>
            <a:r>
              <a:rPr lang="en-US" altLang="zh-CN" dirty="0" err="1">
                <a:solidFill>
                  <a:srgbClr val="3333CC"/>
                </a:solidFill>
                <a:ea typeface="华文中宋" panose="02010600040101010101" pitchFamily="2" charset="-122"/>
                <a:sym typeface="Symbol" panose="05050102010706020507" pitchFamily="18" charset="2"/>
              </a:rPr>
              <a:t>x</a:t>
            </a:r>
            <a:r>
              <a:rPr lang="en-US" altLang="zh-CN" baseline="-25000" dirty="0" err="1">
                <a:solidFill>
                  <a:srgbClr val="3333CC"/>
                </a:solidFill>
                <a:ea typeface="华文中宋" panose="02010600040101010101" pitchFamily="2" charset="-122"/>
                <a:sym typeface="Symbol" panose="05050102010706020507" pitchFamily="18" charset="2"/>
              </a:rPr>
              <a:t>t</a:t>
            </a:r>
            <a:r>
              <a:rPr lang="en-US" altLang="zh-CN" dirty="0">
                <a:solidFill>
                  <a:srgbClr val="3333CC"/>
                </a:solidFill>
                <a:ea typeface="华文中宋" panose="02010600040101010101" pitchFamily="2" charset="-122"/>
                <a:sym typeface="Symbol" panose="05050102010706020507" pitchFamily="18" charset="2"/>
              </a:rPr>
              <a:t>)</a:t>
            </a:r>
            <a:r>
              <a:rPr lang="zh-CN" altLang="en-US" dirty="0">
                <a:solidFill>
                  <a:srgbClr val="3333CC"/>
                </a:solidFill>
                <a:ea typeface="华文中宋" panose="02010600040101010101" pitchFamily="2" charset="-122"/>
                <a:sym typeface="Symbol" panose="05050102010706020507" pitchFamily="18" charset="2"/>
              </a:rPr>
              <a:t>是问题的一个“解”</a:t>
            </a:r>
            <a:r>
              <a:rPr lang="en-US" altLang="zh-CN" dirty="0">
                <a:solidFill>
                  <a:srgbClr val="3333CC"/>
                </a:solidFill>
                <a:ea typeface="华文中宋" panose="02010600040101010101" pitchFamily="2" charset="-122"/>
                <a:sym typeface="Symbol" panose="05050102010706020507" pitchFamily="18" charset="2"/>
              </a:rPr>
              <a:t>)</a:t>
            </a:r>
          </a:p>
          <a:p>
            <a:pPr eaLnBrk="1" hangingPunct="1">
              <a:lnSpc>
                <a:spcPct val="70000"/>
              </a:lnSpc>
              <a:spcBef>
                <a:spcPct val="50000"/>
              </a:spcBef>
            </a:pPr>
            <a:r>
              <a:rPr lang="en-US" altLang="zh-CN" dirty="0">
                <a:solidFill>
                  <a:srgbClr val="3333CC"/>
                </a:solidFill>
                <a:ea typeface="华文中宋" panose="02010600040101010101" pitchFamily="2" charset="-122"/>
                <a:sym typeface="Symbol" panose="05050102010706020507" pitchFamily="18" charset="2"/>
              </a:rPr>
              <a:t>                          </a:t>
            </a:r>
            <a:r>
              <a:rPr lang="zh-CN" altLang="en-US" dirty="0">
                <a:solidFill>
                  <a:srgbClr val="3333CC"/>
                </a:solidFill>
                <a:ea typeface="华文中宋" panose="02010600040101010101" pitchFamily="2" charset="-122"/>
                <a:sym typeface="Symbol" panose="05050102010706020507" pitchFamily="18" charset="2"/>
              </a:rPr>
              <a:t>则 输出解</a:t>
            </a:r>
            <a:r>
              <a:rPr lang="en-US" altLang="zh-CN" dirty="0">
                <a:solidFill>
                  <a:srgbClr val="3333CC"/>
                </a:solidFill>
                <a:ea typeface="华文中宋" panose="02010600040101010101" pitchFamily="2" charset="-122"/>
                <a:sym typeface="Symbol" panose="05050102010706020507" pitchFamily="18" charset="2"/>
              </a:rPr>
              <a:t>(x</a:t>
            </a:r>
            <a:r>
              <a:rPr lang="en-US" altLang="zh-CN" baseline="-25000" dirty="0">
                <a:solidFill>
                  <a:srgbClr val="3333CC"/>
                </a:solidFill>
                <a:ea typeface="华文中宋" panose="02010600040101010101" pitchFamily="2" charset="-122"/>
                <a:sym typeface="Symbol" panose="05050102010706020507" pitchFamily="18" charset="2"/>
              </a:rPr>
              <a:t>1</a:t>
            </a:r>
            <a:r>
              <a:rPr lang="en-US" altLang="zh-CN" dirty="0">
                <a:solidFill>
                  <a:srgbClr val="3333CC"/>
                </a:solidFill>
                <a:ea typeface="华文中宋" panose="02010600040101010101" pitchFamily="2" charset="-122"/>
                <a:sym typeface="Symbol" panose="05050102010706020507" pitchFamily="18" charset="2"/>
              </a:rPr>
              <a:t>,…,</a:t>
            </a:r>
            <a:r>
              <a:rPr lang="en-US" altLang="zh-CN" dirty="0" err="1">
                <a:solidFill>
                  <a:srgbClr val="3333CC"/>
                </a:solidFill>
                <a:ea typeface="华文中宋" panose="02010600040101010101" pitchFamily="2" charset="-122"/>
                <a:sym typeface="Symbol" panose="05050102010706020507" pitchFamily="18" charset="2"/>
              </a:rPr>
              <a:t>x</a:t>
            </a:r>
            <a:r>
              <a:rPr lang="en-US" altLang="zh-CN" baseline="-25000" dirty="0" err="1">
                <a:solidFill>
                  <a:srgbClr val="3333CC"/>
                </a:solidFill>
                <a:ea typeface="华文中宋" panose="02010600040101010101" pitchFamily="2" charset="-122"/>
                <a:sym typeface="Symbol" panose="05050102010706020507" pitchFamily="18" charset="2"/>
              </a:rPr>
              <a:t>t</a:t>
            </a:r>
            <a:r>
              <a:rPr lang="en-US" altLang="zh-CN" dirty="0">
                <a:solidFill>
                  <a:srgbClr val="3333CC"/>
                </a:solidFill>
                <a:ea typeface="华文中宋" panose="02010600040101010101" pitchFamily="2" charset="-122"/>
                <a:sym typeface="Symbol" panose="05050102010706020507" pitchFamily="18" charset="2"/>
              </a:rPr>
              <a:t> )</a:t>
            </a:r>
            <a:r>
              <a:rPr lang="zh-CN" altLang="en-US" dirty="0">
                <a:solidFill>
                  <a:srgbClr val="3333CC"/>
                </a:solidFill>
                <a:ea typeface="华文中宋" panose="02010600040101010101" pitchFamily="2" charset="-122"/>
                <a:sym typeface="Symbol" panose="05050102010706020507" pitchFamily="18" charset="2"/>
              </a:rPr>
              <a:t>；</a:t>
            </a:r>
          </a:p>
          <a:p>
            <a:pPr eaLnBrk="1" hangingPunct="1">
              <a:lnSpc>
                <a:spcPct val="70000"/>
              </a:lnSpc>
              <a:spcBef>
                <a:spcPct val="50000"/>
              </a:spcBef>
            </a:pPr>
            <a:r>
              <a:rPr lang="zh-CN" altLang="en-US" dirty="0">
                <a:solidFill>
                  <a:srgbClr val="3333CC"/>
                </a:solidFill>
                <a:ea typeface="华文中宋" panose="02010600040101010101" pitchFamily="2" charset="-122"/>
                <a:sym typeface="Symbol" panose="05050102010706020507" pitchFamily="18" charset="2"/>
              </a:rPr>
              <a:t>                  </a:t>
            </a:r>
            <a:r>
              <a:rPr lang="en-US" altLang="zh-CN" dirty="0">
                <a:solidFill>
                  <a:srgbClr val="3333CC"/>
                </a:solidFill>
                <a:ea typeface="华文中宋" panose="02010600040101010101" pitchFamily="2" charset="-122"/>
                <a:sym typeface="Symbol" panose="05050102010706020507" pitchFamily="18" charset="2"/>
              </a:rPr>
              <a:t>else  t= t + 1      //“</a:t>
            </a:r>
            <a:r>
              <a:rPr lang="zh-CN" altLang="en-US" dirty="0">
                <a:solidFill>
                  <a:srgbClr val="3333CC"/>
                </a:solidFill>
                <a:ea typeface="华文中宋" panose="02010600040101010101" pitchFamily="2" charset="-122"/>
                <a:sym typeface="Symbol" panose="05050102010706020507" pitchFamily="18" charset="2"/>
              </a:rPr>
              <a:t>深入 ”一步 </a:t>
            </a:r>
          </a:p>
          <a:p>
            <a:pPr eaLnBrk="1" hangingPunct="1">
              <a:lnSpc>
                <a:spcPct val="70000"/>
              </a:lnSpc>
              <a:spcBef>
                <a:spcPct val="50000"/>
              </a:spcBef>
            </a:pPr>
            <a:r>
              <a:rPr lang="zh-CN" altLang="en-US" dirty="0">
                <a:solidFill>
                  <a:srgbClr val="3333CC"/>
                </a:solidFill>
                <a:ea typeface="华文中宋" panose="02010600040101010101" pitchFamily="2" charset="-122"/>
                <a:sym typeface="Symbol" panose="05050102010706020507" pitchFamily="18" charset="2"/>
              </a:rPr>
              <a:t>               </a:t>
            </a:r>
            <a:r>
              <a:rPr lang="en-US" altLang="zh-CN" dirty="0">
                <a:solidFill>
                  <a:srgbClr val="3333CC"/>
                </a:solidFill>
                <a:ea typeface="华文中宋" panose="02010600040101010101" pitchFamily="2" charset="-122"/>
                <a:sym typeface="Symbol" panose="05050102010706020507" pitchFamily="18" charset="2"/>
              </a:rPr>
              <a:t>}</a:t>
            </a:r>
            <a:endParaRPr lang="en-US" altLang="zh-CN" baseline="-25000" dirty="0">
              <a:solidFill>
                <a:srgbClr val="3333CC"/>
              </a:solidFill>
              <a:ea typeface="华文中宋" panose="02010600040101010101" pitchFamily="2" charset="-122"/>
              <a:sym typeface="Symbol" panose="05050102010706020507" pitchFamily="18" charset="2"/>
            </a:endParaRPr>
          </a:p>
        </p:txBody>
      </p:sp>
      <p:sp>
        <p:nvSpPr>
          <p:cNvPr id="57349" name="Text Box 5">
            <a:extLst>
              <a:ext uri="{FF2B5EF4-FFF2-40B4-BE49-F238E27FC236}">
                <a16:creationId xmlns:a16="http://schemas.microsoft.com/office/drawing/2014/main" id="{79B5ECB2-6058-4F10-B10E-84CE620312A5}"/>
              </a:ext>
            </a:extLst>
          </p:cNvPr>
          <p:cNvSpPr txBox="1">
            <a:spLocks noChangeArrowheads="1"/>
          </p:cNvSpPr>
          <p:nvPr/>
        </p:nvSpPr>
        <p:spPr bwMode="auto">
          <a:xfrm>
            <a:off x="152400" y="4876800"/>
            <a:ext cx="853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60000"/>
              </a:lnSpc>
              <a:spcBef>
                <a:spcPct val="50000"/>
              </a:spcBef>
            </a:pPr>
            <a:r>
              <a:rPr lang="en-US" altLang="zh-CN" dirty="0">
                <a:ea typeface="华文中宋" panose="02010600040101010101" pitchFamily="2" charset="-122"/>
              </a:rPr>
              <a:t>                else    t</a:t>
            </a:r>
            <a:r>
              <a:rPr lang="en-US" altLang="zh-CN" dirty="0">
                <a:solidFill>
                  <a:schemeClr val="tx2"/>
                </a:solidFill>
                <a:ea typeface="华文中宋" panose="02010600040101010101" pitchFamily="2" charset="-122"/>
              </a:rPr>
              <a:t>= t  -  1</a:t>
            </a:r>
            <a:r>
              <a:rPr lang="en-US" altLang="zh-CN" dirty="0">
                <a:ea typeface="华文中宋" panose="02010600040101010101" pitchFamily="2" charset="-122"/>
              </a:rPr>
              <a:t> ;   // “</a:t>
            </a:r>
            <a:r>
              <a:rPr lang="zh-CN" altLang="en-US" dirty="0">
                <a:ea typeface="华文中宋" panose="02010600040101010101" pitchFamily="2" charset="-122"/>
              </a:rPr>
              <a:t>回退”一步 </a:t>
            </a:r>
          </a:p>
          <a:p>
            <a:pPr eaLnBrk="1" hangingPunct="1">
              <a:lnSpc>
                <a:spcPct val="60000"/>
              </a:lnSpc>
              <a:spcBef>
                <a:spcPct val="50000"/>
              </a:spcBef>
            </a:pPr>
            <a:r>
              <a:rPr lang="zh-CN" altLang="en-US" dirty="0">
                <a:ea typeface="华文中宋" panose="02010600040101010101" pitchFamily="2" charset="-122"/>
              </a:rPr>
              <a:t>          </a:t>
            </a:r>
            <a:r>
              <a:rPr lang="en-US" altLang="zh-CN" dirty="0">
                <a:ea typeface="华文中宋" panose="02010600040101010101" pitchFamily="2" charset="-122"/>
              </a:rPr>
              <a:t>}</a:t>
            </a:r>
          </a:p>
          <a:p>
            <a:pPr eaLnBrk="1" hangingPunct="1">
              <a:lnSpc>
                <a:spcPct val="60000"/>
              </a:lnSpc>
              <a:spcBef>
                <a:spcPct val="50000"/>
              </a:spcBef>
            </a:pPr>
            <a:r>
              <a:rPr lang="en-US" altLang="zh-CN" dirty="0">
                <a:ea typeface="华文中宋" panose="02010600040101010101" pitchFamily="2" charset="-122"/>
              </a:rPr>
              <a:t>    }</a:t>
            </a:r>
          </a:p>
        </p:txBody>
      </p:sp>
      <p:sp>
        <p:nvSpPr>
          <p:cNvPr id="57351" name="AutoShape 7">
            <a:extLst>
              <a:ext uri="{FF2B5EF4-FFF2-40B4-BE49-F238E27FC236}">
                <a16:creationId xmlns:a16="http://schemas.microsoft.com/office/drawing/2014/main" id="{C5881850-DD72-4041-9955-86EEE79BAD81}"/>
              </a:ext>
            </a:extLst>
          </p:cNvPr>
          <p:cNvSpPr>
            <a:spLocks noChangeArrowheads="1"/>
          </p:cNvSpPr>
          <p:nvPr/>
        </p:nvSpPr>
        <p:spPr bwMode="auto">
          <a:xfrm>
            <a:off x="3779341" y="3933056"/>
            <a:ext cx="5221784" cy="2786063"/>
          </a:xfrm>
          <a:prstGeom prst="wedgeRectCallout">
            <a:avLst>
              <a:gd name="adj1" fmla="val 2852"/>
              <a:gd name="adj2" fmla="val -78972"/>
            </a:avLst>
          </a:prstGeom>
          <a:solidFill>
            <a:srgbClr val="FFCC00"/>
          </a:solidFill>
          <a:ln w="9525">
            <a:solidFill>
              <a:srgbClr val="000000"/>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kumimoji="0" lang="en-US" altLang="zh-CN" dirty="0">
                <a:ea typeface="华文中宋" panose="02010600040101010101" pitchFamily="2" charset="-122"/>
              </a:rPr>
              <a:t>if</a:t>
            </a:r>
            <a:r>
              <a:rPr kumimoji="0" lang="en-US" altLang="zh-CN" b="0" dirty="0">
                <a:ea typeface="华文中宋" panose="02010600040101010101" pitchFamily="2" charset="-122"/>
              </a:rPr>
              <a:t> (</a:t>
            </a:r>
            <a:r>
              <a:rPr kumimoji="0" lang="en-US" altLang="zh-CN" dirty="0">
                <a:ea typeface="华文中宋" panose="02010600040101010101" pitchFamily="2" charset="-122"/>
              </a:rPr>
              <a:t>f</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n,t</a:t>
            </a:r>
            <a:r>
              <a:rPr kumimoji="0" lang="en-US" altLang="zh-CN" b="0" dirty="0">
                <a:ea typeface="华文中宋" panose="02010600040101010101" pitchFamily="2" charset="-122"/>
              </a:rPr>
              <a:t>)&lt;=</a:t>
            </a:r>
            <a:r>
              <a:rPr kumimoji="0" lang="en-US" altLang="zh-CN" dirty="0">
                <a:ea typeface="华文中宋" panose="02010600040101010101" pitchFamily="2" charset="-122"/>
              </a:rPr>
              <a:t>g</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n,t</a:t>
            </a:r>
            <a:r>
              <a:rPr kumimoji="0" lang="en-US" altLang="zh-CN" b="0" dirty="0">
                <a:ea typeface="华文中宋" panose="02010600040101010101" pitchFamily="2" charset="-122"/>
              </a:rPr>
              <a:t>)) </a:t>
            </a:r>
          </a:p>
          <a:p>
            <a:pPr eaLnBrk="1" hangingPunct="1">
              <a:lnSpc>
                <a:spcPct val="90000"/>
              </a:lnSpc>
            </a:pPr>
            <a:r>
              <a:rPr kumimoji="0" lang="en-US" altLang="zh-CN" b="0" dirty="0">
                <a:ea typeface="华文中宋" panose="02010600040101010101" pitchFamily="2" charset="-122"/>
              </a:rPr>
              <a:t>      for (int </a:t>
            </a:r>
            <a:r>
              <a:rPr kumimoji="0" lang="en-US" altLang="zh-CN" b="0" dirty="0" err="1">
                <a:ea typeface="华文中宋" panose="02010600040101010101" pitchFamily="2" charset="-122"/>
              </a:rPr>
              <a:t>i</a:t>
            </a:r>
            <a:r>
              <a:rPr kumimoji="0" lang="en-US" altLang="zh-CN" b="0" dirty="0">
                <a:ea typeface="华文中宋" panose="02010600040101010101" pitchFamily="2" charset="-122"/>
              </a:rPr>
              <a:t>=</a:t>
            </a:r>
            <a:r>
              <a:rPr kumimoji="0" lang="en-US" altLang="zh-CN" dirty="0">
                <a:ea typeface="华文中宋" panose="02010600040101010101" pitchFamily="2" charset="-122"/>
              </a:rPr>
              <a:t>f</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n,t</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i</a:t>
            </a:r>
            <a:r>
              <a:rPr kumimoji="0" lang="en-US" altLang="zh-CN" b="0" dirty="0">
                <a:ea typeface="华文中宋" panose="02010600040101010101" pitchFamily="2" charset="-122"/>
              </a:rPr>
              <a:t>&lt;=</a:t>
            </a:r>
            <a:r>
              <a:rPr kumimoji="0" lang="en-US" altLang="zh-CN" dirty="0">
                <a:ea typeface="华文中宋" panose="02010600040101010101" pitchFamily="2" charset="-122"/>
              </a:rPr>
              <a:t>g</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n,t</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i</a:t>
            </a:r>
            <a:r>
              <a:rPr kumimoji="0" lang="en-US" altLang="zh-CN" b="0" dirty="0">
                <a:ea typeface="华文中宋" panose="02010600040101010101" pitchFamily="2" charset="-122"/>
              </a:rPr>
              <a:t>++) {</a:t>
            </a:r>
          </a:p>
          <a:p>
            <a:pPr eaLnBrk="1" hangingPunct="1">
              <a:lnSpc>
                <a:spcPct val="90000"/>
              </a:lnSpc>
            </a:pPr>
            <a:r>
              <a:rPr kumimoji="0" lang="en-US" altLang="zh-CN" b="0" dirty="0">
                <a:ea typeface="华文中宋" panose="02010600040101010101" pitchFamily="2" charset="-122"/>
              </a:rPr>
              <a:t>          x[t]=</a:t>
            </a:r>
            <a:r>
              <a:rPr kumimoji="0" lang="en-US" altLang="zh-CN" dirty="0">
                <a:ea typeface="华文中宋" panose="02010600040101010101" pitchFamily="2" charset="-122"/>
              </a:rPr>
              <a:t>h</a:t>
            </a:r>
            <a:r>
              <a:rPr kumimoji="0" lang="en-US" altLang="zh-CN" b="0" dirty="0">
                <a:ea typeface="华文中宋" panose="02010600040101010101" pitchFamily="2" charset="-122"/>
              </a:rPr>
              <a:t>(</a:t>
            </a:r>
            <a:r>
              <a:rPr kumimoji="0" lang="en-US" altLang="zh-CN" b="0" dirty="0" err="1">
                <a:ea typeface="华文中宋" panose="02010600040101010101" pitchFamily="2" charset="-122"/>
              </a:rPr>
              <a:t>i</a:t>
            </a:r>
            <a:r>
              <a:rPr kumimoji="0" lang="en-US" altLang="zh-CN" b="0" dirty="0">
                <a:ea typeface="华文中宋" panose="02010600040101010101" pitchFamily="2" charset="-122"/>
              </a:rPr>
              <a:t>);</a:t>
            </a:r>
          </a:p>
          <a:p>
            <a:pPr eaLnBrk="1" hangingPunct="1">
              <a:lnSpc>
                <a:spcPct val="90000"/>
              </a:lnSpc>
            </a:pPr>
            <a:r>
              <a:rPr kumimoji="0" lang="en-US" altLang="zh-CN" b="0" dirty="0">
                <a:ea typeface="华文中宋" panose="02010600040101010101" pitchFamily="2" charset="-122"/>
              </a:rPr>
              <a:t>          </a:t>
            </a:r>
            <a:r>
              <a:rPr kumimoji="0" lang="en-US" altLang="zh-CN" dirty="0">
                <a:ea typeface="华文中宋" panose="02010600040101010101" pitchFamily="2" charset="-122"/>
              </a:rPr>
              <a:t>if</a:t>
            </a:r>
            <a:r>
              <a:rPr kumimoji="0" lang="en-US" altLang="zh-CN" b="0" dirty="0">
                <a:ea typeface="华文中宋" panose="02010600040101010101" pitchFamily="2" charset="-122"/>
              </a:rPr>
              <a:t> (</a:t>
            </a:r>
            <a:r>
              <a:rPr kumimoji="0" lang="en-US" altLang="zh-CN" dirty="0">
                <a:ea typeface="华文中宋" panose="02010600040101010101" pitchFamily="2" charset="-122"/>
              </a:rPr>
              <a:t>Constraint</a:t>
            </a:r>
            <a:r>
              <a:rPr kumimoji="0" lang="en-US" altLang="zh-CN" b="0" dirty="0">
                <a:ea typeface="华文中宋" panose="02010600040101010101" pitchFamily="2" charset="-122"/>
              </a:rPr>
              <a:t>(t)&amp;&amp;</a:t>
            </a:r>
            <a:r>
              <a:rPr kumimoji="0" lang="en-US" altLang="zh-CN" dirty="0">
                <a:ea typeface="华文中宋" panose="02010600040101010101" pitchFamily="2" charset="-122"/>
              </a:rPr>
              <a:t>Bound</a:t>
            </a:r>
            <a:r>
              <a:rPr kumimoji="0" lang="en-US" altLang="zh-CN" b="0" dirty="0">
                <a:ea typeface="华文中宋" panose="02010600040101010101" pitchFamily="2" charset="-122"/>
              </a:rPr>
              <a:t>(t)) {</a:t>
            </a:r>
          </a:p>
          <a:p>
            <a:pPr eaLnBrk="1" hangingPunct="1">
              <a:lnSpc>
                <a:spcPct val="90000"/>
              </a:lnSpc>
            </a:pPr>
            <a:r>
              <a:rPr kumimoji="0" lang="en-US" altLang="zh-CN" b="0" dirty="0">
                <a:ea typeface="华文中宋" panose="02010600040101010101" pitchFamily="2" charset="-122"/>
              </a:rPr>
              <a:t>             </a:t>
            </a:r>
            <a:r>
              <a:rPr kumimoji="0" lang="en-US" altLang="zh-CN" dirty="0">
                <a:ea typeface="华文中宋" panose="02010600040101010101" pitchFamily="2" charset="-122"/>
              </a:rPr>
              <a:t>if</a:t>
            </a:r>
            <a:r>
              <a:rPr kumimoji="0" lang="en-US" altLang="zh-CN" b="0" dirty="0">
                <a:ea typeface="华文中宋" panose="02010600040101010101" pitchFamily="2" charset="-122"/>
              </a:rPr>
              <a:t> (</a:t>
            </a:r>
            <a:r>
              <a:rPr kumimoji="0" lang="en-US" altLang="zh-CN" dirty="0">
                <a:ea typeface="华文中宋" panose="02010600040101010101" pitchFamily="2" charset="-122"/>
              </a:rPr>
              <a:t>solution</a:t>
            </a:r>
            <a:r>
              <a:rPr kumimoji="0" lang="en-US" altLang="zh-CN" b="0" dirty="0">
                <a:ea typeface="华文中宋" panose="02010600040101010101" pitchFamily="2" charset="-122"/>
              </a:rPr>
              <a:t>(t)) </a:t>
            </a:r>
            <a:r>
              <a:rPr kumimoji="0" lang="en-US" altLang="zh-CN" dirty="0">
                <a:ea typeface="华文中宋" panose="02010600040101010101" pitchFamily="2" charset="-122"/>
              </a:rPr>
              <a:t>output</a:t>
            </a:r>
            <a:r>
              <a:rPr kumimoji="0" lang="en-US" altLang="zh-CN" b="0" dirty="0">
                <a:ea typeface="华文中宋" panose="02010600040101010101" pitchFamily="2" charset="-122"/>
              </a:rPr>
              <a:t>(x);</a:t>
            </a:r>
          </a:p>
          <a:p>
            <a:pPr eaLnBrk="1" hangingPunct="1">
              <a:lnSpc>
                <a:spcPct val="90000"/>
              </a:lnSpc>
            </a:pPr>
            <a:r>
              <a:rPr kumimoji="0" lang="en-US" altLang="zh-CN" b="0" dirty="0">
                <a:ea typeface="华文中宋" panose="02010600040101010101" pitchFamily="2" charset="-122"/>
              </a:rPr>
              <a:t>             </a:t>
            </a:r>
            <a:r>
              <a:rPr kumimoji="0" lang="en-US" altLang="zh-CN" dirty="0">
                <a:ea typeface="华文中宋" panose="02010600040101010101" pitchFamily="2" charset="-122"/>
              </a:rPr>
              <a:t>else</a:t>
            </a:r>
            <a:r>
              <a:rPr kumimoji="0" lang="en-US" altLang="zh-CN" b="0" dirty="0">
                <a:ea typeface="华文中宋" panose="02010600040101010101" pitchFamily="2" charset="-122"/>
              </a:rPr>
              <a:t> t++;</a:t>
            </a:r>
          </a:p>
          <a:p>
            <a:pPr eaLnBrk="1" hangingPunct="1">
              <a:lnSpc>
                <a:spcPct val="90000"/>
              </a:lnSpc>
            </a:pPr>
            <a:r>
              <a:rPr kumimoji="0" lang="en-US" altLang="zh-CN" b="0" dirty="0">
                <a:ea typeface="华文中宋" panose="02010600040101010101" pitchFamily="2" charset="-122"/>
              </a:rPr>
              <a:t>          }</a:t>
            </a:r>
          </a:p>
          <a:p>
            <a:pPr eaLnBrk="1" hangingPunct="1">
              <a:lnSpc>
                <a:spcPct val="90000"/>
              </a:lnSpc>
            </a:pPr>
            <a:r>
              <a:rPr kumimoji="0" lang="en-US" altLang="zh-CN" b="0" dirty="0">
                <a:ea typeface="华文中宋" panose="02010600040101010101" pitchFamily="2" charset="-122"/>
              </a:rPr>
              <a:t>      }</a:t>
            </a:r>
            <a:endParaRPr lang="en-US" altLang="zh-CN" b="0"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47">
                                            <p:txEl>
                                              <p:pRg st="1" end="1"/>
                                            </p:txEl>
                                          </p:spTgt>
                                        </p:tgtEl>
                                        <p:attrNameLst>
                                          <p:attrName>style.visibility</p:attrName>
                                        </p:attrNameLst>
                                      </p:cBhvr>
                                      <p:to>
                                        <p:strVal val="visible"/>
                                      </p:to>
                                    </p:set>
                                    <p:anim calcmode="lin" valueType="num">
                                      <p:cBhvr additive="base">
                                        <p:cTn id="13" dur="500" fill="hold"/>
                                        <p:tgtEl>
                                          <p:spTgt spid="573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73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7347">
                                            <p:txEl>
                                              <p:pRg st="2" end="2"/>
                                            </p:txEl>
                                          </p:spTgt>
                                        </p:tgtEl>
                                        <p:attrNameLst>
                                          <p:attrName>style.visibility</p:attrName>
                                        </p:attrNameLst>
                                      </p:cBhvr>
                                      <p:to>
                                        <p:strVal val="visible"/>
                                      </p:to>
                                    </p:set>
                                    <p:anim calcmode="lin" valueType="num">
                                      <p:cBhvr additive="base">
                                        <p:cTn id="19" dur="500" fill="hold"/>
                                        <p:tgtEl>
                                          <p:spTgt spid="573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73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7347">
                                            <p:txEl>
                                              <p:pRg st="3" end="3"/>
                                            </p:txEl>
                                          </p:spTgt>
                                        </p:tgtEl>
                                        <p:attrNameLst>
                                          <p:attrName>style.visibility</p:attrName>
                                        </p:attrNameLst>
                                      </p:cBhvr>
                                      <p:to>
                                        <p:strVal val="visible"/>
                                      </p:to>
                                    </p:set>
                                    <p:anim calcmode="lin" valueType="num">
                                      <p:cBhvr additive="base">
                                        <p:cTn id="25" dur="500" fill="hold"/>
                                        <p:tgtEl>
                                          <p:spTgt spid="573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73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7347">
                                            <p:txEl>
                                              <p:pRg st="4" end="4"/>
                                            </p:txEl>
                                          </p:spTgt>
                                        </p:tgtEl>
                                        <p:attrNameLst>
                                          <p:attrName>style.visibility</p:attrName>
                                        </p:attrNameLst>
                                      </p:cBhvr>
                                      <p:to>
                                        <p:strVal val="visible"/>
                                      </p:to>
                                    </p:set>
                                    <p:anim calcmode="lin" valueType="num">
                                      <p:cBhvr additive="base">
                                        <p:cTn id="31" dur="500" fill="hold"/>
                                        <p:tgtEl>
                                          <p:spTgt spid="573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73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7348"/>
                                        </p:tgtEl>
                                        <p:attrNameLst>
                                          <p:attrName>style.visibility</p:attrName>
                                        </p:attrNameLst>
                                      </p:cBhvr>
                                      <p:to>
                                        <p:strVal val="visible"/>
                                      </p:to>
                                    </p:set>
                                    <p:anim calcmode="lin" valueType="num">
                                      <p:cBhvr additive="base">
                                        <p:cTn id="37" dur="500" fill="hold"/>
                                        <p:tgtEl>
                                          <p:spTgt spid="57348"/>
                                        </p:tgtEl>
                                        <p:attrNameLst>
                                          <p:attrName>ppt_x</p:attrName>
                                        </p:attrNameLst>
                                      </p:cBhvr>
                                      <p:tavLst>
                                        <p:tav tm="0">
                                          <p:val>
                                            <p:strVal val="0-#ppt_w/2"/>
                                          </p:val>
                                        </p:tav>
                                        <p:tav tm="100000">
                                          <p:val>
                                            <p:strVal val="#ppt_x"/>
                                          </p:val>
                                        </p:tav>
                                      </p:tavLst>
                                    </p:anim>
                                    <p:anim calcmode="lin" valueType="num">
                                      <p:cBhvr additive="base">
                                        <p:cTn id="38" dur="500" fill="hold"/>
                                        <p:tgtEl>
                                          <p:spTgt spid="5734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7349"/>
                                        </p:tgtEl>
                                        <p:attrNameLst>
                                          <p:attrName>style.visibility</p:attrName>
                                        </p:attrNameLst>
                                      </p:cBhvr>
                                      <p:to>
                                        <p:strVal val="visible"/>
                                      </p:to>
                                    </p:set>
                                    <p:anim calcmode="lin" valueType="num">
                                      <p:cBhvr additive="base">
                                        <p:cTn id="43" dur="500" fill="hold"/>
                                        <p:tgtEl>
                                          <p:spTgt spid="57349"/>
                                        </p:tgtEl>
                                        <p:attrNameLst>
                                          <p:attrName>ppt_x</p:attrName>
                                        </p:attrNameLst>
                                      </p:cBhvr>
                                      <p:tavLst>
                                        <p:tav tm="0">
                                          <p:val>
                                            <p:strVal val="0-#ppt_w/2"/>
                                          </p:val>
                                        </p:tav>
                                        <p:tav tm="100000">
                                          <p:val>
                                            <p:strVal val="#ppt_x"/>
                                          </p:val>
                                        </p:tav>
                                      </p:tavLst>
                                    </p:anim>
                                    <p:anim calcmode="lin" valueType="num">
                                      <p:cBhvr additive="base">
                                        <p:cTn id="44" dur="500" fill="hold"/>
                                        <p:tgtEl>
                                          <p:spTgt spid="57349"/>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7351"/>
                                        </p:tgtEl>
                                        <p:attrNameLst>
                                          <p:attrName>style.visibility</p:attrName>
                                        </p:attrNameLst>
                                      </p:cBhvr>
                                      <p:to>
                                        <p:strVal val="visible"/>
                                      </p:to>
                                    </p:set>
                                    <p:anim calcmode="lin" valueType="num">
                                      <p:cBhvr additive="base">
                                        <p:cTn id="49" dur="500" fill="hold"/>
                                        <p:tgtEl>
                                          <p:spTgt spid="57351"/>
                                        </p:tgtEl>
                                        <p:attrNameLst>
                                          <p:attrName>ppt_x</p:attrName>
                                        </p:attrNameLst>
                                      </p:cBhvr>
                                      <p:tavLst>
                                        <p:tav tm="0">
                                          <p:val>
                                            <p:strVal val="0-#ppt_w/2"/>
                                          </p:val>
                                        </p:tav>
                                        <p:tav tm="100000">
                                          <p:val>
                                            <p:strVal val="#ppt_x"/>
                                          </p:val>
                                        </p:tav>
                                      </p:tavLst>
                                    </p:anim>
                                    <p:anim calcmode="lin" valueType="num">
                                      <p:cBhvr additive="base">
                                        <p:cTn id="50" dur="500" fill="hold"/>
                                        <p:tgtEl>
                                          <p:spTgt spid="573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autoUpdateAnimBg="0"/>
      <p:bldP spid="57348" grpId="0" autoUpdateAnimBg="0"/>
      <p:bldP spid="57349" grpId="0" autoUpdateAnimBg="0"/>
      <p:bldP spid="57351"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A90FA7D-57D0-4D1B-B2FB-0AFAB02B4431}"/>
              </a:ext>
            </a:extLst>
          </p:cNvPr>
          <p:cNvSpPr>
            <a:spLocks noGrp="1" noChangeArrowheads="1"/>
          </p:cNvSpPr>
          <p:nvPr>
            <p:ph type="title"/>
          </p:nvPr>
        </p:nvSpPr>
        <p:spPr bwMode="auto">
          <a:xfrm>
            <a:off x="685800" y="609600"/>
            <a:ext cx="7772400" cy="685800"/>
          </a:xfrm>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70000"/>
              </a:lnSpc>
              <a:defRPr/>
            </a:pPr>
            <a:r>
              <a:rPr lang="zh-CN" altLang="en-US" sz="4000" b="1" dirty="0">
                <a:effectLst>
                  <a:outerShdw blurRad="38100" dist="38100" dir="2700000" algn="tl">
                    <a:srgbClr val="C0C0C0"/>
                  </a:outerShdw>
                </a:effectLst>
                <a:latin typeface="华文中宋" panose="02010600040101010101" pitchFamily="2" charset="-122"/>
              </a:rPr>
              <a:t>子集树与排列树</a:t>
            </a:r>
          </a:p>
        </p:txBody>
      </p:sp>
      <p:sp>
        <p:nvSpPr>
          <p:cNvPr id="58371" name="Rectangle 3">
            <a:extLst>
              <a:ext uri="{FF2B5EF4-FFF2-40B4-BE49-F238E27FC236}">
                <a16:creationId xmlns:a16="http://schemas.microsoft.com/office/drawing/2014/main" id="{103D3A86-29CB-4BE4-ACAA-295AB879F73D}"/>
              </a:ext>
            </a:extLst>
          </p:cNvPr>
          <p:cNvSpPr>
            <a:spLocks noGrp="1" noChangeArrowheads="1"/>
          </p:cNvSpPr>
          <p:nvPr>
            <p:ph type="body" idx="1"/>
          </p:nvPr>
        </p:nvSpPr>
        <p:spPr bwMode="auto">
          <a:xfrm>
            <a:off x="1071563" y="5214938"/>
            <a:ext cx="3810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kumimoji="0" lang="zh-CN" altLang="en-US" sz="2800" b="1" dirty="0">
                <a:solidFill>
                  <a:srgbClr val="FF0000"/>
                </a:solidFill>
                <a:latin typeface="Arial" panose="020B0604020202020204" pitchFamily="34" charset="0"/>
              </a:rPr>
              <a:t>注意：</a:t>
            </a:r>
            <a:r>
              <a:rPr kumimoji="0" lang="en-US" altLang="zh-CN" sz="2800" b="1" dirty="0">
                <a:solidFill>
                  <a:srgbClr val="FF0000"/>
                </a:solidFill>
                <a:latin typeface="Arial" panose="020B0604020202020204" pitchFamily="34" charset="0"/>
              </a:rPr>
              <a:t>2</a:t>
            </a:r>
            <a:r>
              <a:rPr kumimoji="0" lang="en-US" altLang="zh-CN" sz="2800" b="1" baseline="30000" dirty="0">
                <a:solidFill>
                  <a:srgbClr val="FF0000"/>
                </a:solidFill>
                <a:latin typeface="Arial" panose="020B0604020202020204" pitchFamily="34" charset="0"/>
              </a:rPr>
              <a:t>n</a:t>
            </a:r>
            <a:r>
              <a:rPr kumimoji="0" lang="en-US" altLang="zh-CN" sz="2800" b="1" dirty="0">
                <a:solidFill>
                  <a:srgbClr val="FF0000"/>
                </a:solidFill>
                <a:latin typeface="Arial" panose="020B0604020202020204" pitchFamily="34" charset="0"/>
              </a:rPr>
              <a:t>&lt;&lt; n!</a:t>
            </a:r>
          </a:p>
        </p:txBody>
      </p:sp>
      <p:pic>
        <p:nvPicPr>
          <p:cNvPr id="58372" name="Picture 4" descr="t51">
            <a:extLst>
              <a:ext uri="{FF2B5EF4-FFF2-40B4-BE49-F238E27FC236}">
                <a16:creationId xmlns:a16="http://schemas.microsoft.com/office/drawing/2014/main" id="{E7DC52B7-C43E-4872-B654-FFBE1754B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4038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Text Box 6">
            <a:extLst>
              <a:ext uri="{FF2B5EF4-FFF2-40B4-BE49-F238E27FC236}">
                <a16:creationId xmlns:a16="http://schemas.microsoft.com/office/drawing/2014/main" id="{F9109DFD-8F7D-42EE-8D82-B4587FA580CA}"/>
              </a:ext>
            </a:extLst>
          </p:cNvPr>
          <p:cNvSpPr txBox="1">
            <a:spLocks noChangeArrowheads="1"/>
          </p:cNvSpPr>
          <p:nvPr/>
        </p:nvSpPr>
        <p:spPr bwMode="auto">
          <a:xfrm>
            <a:off x="168275" y="4419600"/>
            <a:ext cx="4065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dirty="0">
                <a:solidFill>
                  <a:srgbClr val="0000CC"/>
                </a:solidFill>
                <a:latin typeface="Arial" panose="020B0604020202020204" pitchFamily="34" charset="0"/>
                <a:ea typeface="华文中宋" panose="02010600040101010101" pitchFamily="2" charset="-122"/>
              </a:rPr>
              <a:t>遍历子集树需</a:t>
            </a:r>
            <a:r>
              <a:rPr kumimoji="0" lang="en-US" altLang="zh-CN" dirty="0">
                <a:solidFill>
                  <a:srgbClr val="0000CC"/>
                </a:solidFill>
                <a:latin typeface="Arial" panose="020B0604020202020204" pitchFamily="34" charset="0"/>
                <a:ea typeface="华文中宋" panose="02010600040101010101" pitchFamily="2" charset="-122"/>
              </a:rPr>
              <a:t>O(2</a:t>
            </a:r>
            <a:r>
              <a:rPr kumimoji="0" lang="en-US" altLang="zh-CN" baseline="30000" dirty="0">
                <a:solidFill>
                  <a:srgbClr val="0000CC"/>
                </a:solidFill>
                <a:latin typeface="Arial" panose="020B0604020202020204" pitchFamily="34" charset="0"/>
                <a:ea typeface="华文中宋" panose="02010600040101010101" pitchFamily="2" charset="-122"/>
              </a:rPr>
              <a:t>n</a:t>
            </a:r>
            <a:r>
              <a:rPr kumimoji="0" lang="en-US" altLang="zh-CN" dirty="0">
                <a:solidFill>
                  <a:srgbClr val="0000CC"/>
                </a:solidFill>
                <a:latin typeface="Arial" panose="020B0604020202020204" pitchFamily="34" charset="0"/>
                <a:ea typeface="华文中宋" panose="02010600040101010101" pitchFamily="2" charset="-122"/>
              </a:rPr>
              <a:t>)</a:t>
            </a:r>
            <a:r>
              <a:rPr kumimoji="0" lang="zh-CN" altLang="en-US" dirty="0">
                <a:solidFill>
                  <a:srgbClr val="0000CC"/>
                </a:solidFill>
                <a:latin typeface="Arial" panose="020B0604020202020204" pitchFamily="34" charset="0"/>
                <a:ea typeface="华文中宋" panose="02010600040101010101" pitchFamily="2" charset="-122"/>
              </a:rPr>
              <a:t>计算时间 </a:t>
            </a:r>
          </a:p>
        </p:txBody>
      </p:sp>
      <p:sp>
        <p:nvSpPr>
          <p:cNvPr id="58375" name="Text Box 7">
            <a:extLst>
              <a:ext uri="{FF2B5EF4-FFF2-40B4-BE49-F238E27FC236}">
                <a16:creationId xmlns:a16="http://schemas.microsoft.com/office/drawing/2014/main" id="{92703154-431B-4FCB-913E-12ADE5298E41}"/>
              </a:ext>
            </a:extLst>
          </p:cNvPr>
          <p:cNvSpPr txBox="1">
            <a:spLocks noChangeArrowheads="1"/>
          </p:cNvSpPr>
          <p:nvPr/>
        </p:nvSpPr>
        <p:spPr bwMode="auto">
          <a:xfrm>
            <a:off x="4699000" y="4419600"/>
            <a:ext cx="436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dirty="0">
                <a:solidFill>
                  <a:srgbClr val="0000CC"/>
                </a:solidFill>
                <a:latin typeface="Arial" panose="020B0604020202020204" pitchFamily="34" charset="0"/>
                <a:ea typeface="华文中宋" panose="02010600040101010101" pitchFamily="2" charset="-122"/>
              </a:rPr>
              <a:t>遍历排列树需要</a:t>
            </a:r>
            <a:r>
              <a:rPr kumimoji="0" lang="en-US" altLang="zh-CN" dirty="0">
                <a:solidFill>
                  <a:srgbClr val="0000CC"/>
                </a:solidFill>
                <a:latin typeface="Arial" panose="020B0604020202020204" pitchFamily="34" charset="0"/>
                <a:ea typeface="华文中宋" panose="02010600040101010101" pitchFamily="2" charset="-122"/>
              </a:rPr>
              <a:t>O(n!)</a:t>
            </a:r>
            <a:r>
              <a:rPr kumimoji="0" lang="zh-CN" altLang="en-US" dirty="0">
                <a:solidFill>
                  <a:srgbClr val="0000CC"/>
                </a:solidFill>
                <a:latin typeface="Arial" panose="020B0604020202020204" pitchFamily="34" charset="0"/>
                <a:ea typeface="华文中宋" panose="02010600040101010101" pitchFamily="2" charset="-122"/>
              </a:rPr>
              <a:t>计算时间 </a:t>
            </a:r>
          </a:p>
        </p:txBody>
      </p:sp>
      <p:grpSp>
        <p:nvGrpSpPr>
          <p:cNvPr id="19463" name="Group 60">
            <a:extLst>
              <a:ext uri="{FF2B5EF4-FFF2-40B4-BE49-F238E27FC236}">
                <a16:creationId xmlns:a16="http://schemas.microsoft.com/office/drawing/2014/main" id="{5181257F-2FB1-4684-ACBB-DCD80DCA5DEF}"/>
              </a:ext>
            </a:extLst>
          </p:cNvPr>
          <p:cNvGrpSpPr>
            <a:grpSpLocks/>
          </p:cNvGrpSpPr>
          <p:nvPr/>
        </p:nvGrpSpPr>
        <p:grpSpPr bwMode="auto">
          <a:xfrm>
            <a:off x="4791075" y="1295400"/>
            <a:ext cx="4200525" cy="3049588"/>
            <a:chOff x="3018" y="816"/>
            <a:chExt cx="2646" cy="1921"/>
          </a:xfrm>
        </p:grpSpPr>
        <p:grpSp>
          <p:nvGrpSpPr>
            <p:cNvPr id="19464" name="Group 9">
              <a:extLst>
                <a:ext uri="{FF2B5EF4-FFF2-40B4-BE49-F238E27FC236}">
                  <a16:creationId xmlns:a16="http://schemas.microsoft.com/office/drawing/2014/main" id="{FFF8E2D5-BB9A-43ED-967A-9AA9C55305FB}"/>
                </a:ext>
              </a:extLst>
            </p:cNvPr>
            <p:cNvGrpSpPr>
              <a:grpSpLocks/>
            </p:cNvGrpSpPr>
            <p:nvPr/>
          </p:nvGrpSpPr>
          <p:grpSpPr bwMode="auto">
            <a:xfrm>
              <a:off x="3338" y="1419"/>
              <a:ext cx="1954" cy="166"/>
              <a:chOff x="713" y="1536"/>
              <a:chExt cx="3607" cy="288"/>
            </a:xfrm>
          </p:grpSpPr>
          <p:sp>
            <p:nvSpPr>
              <p:cNvPr id="19510" name="Oval 10">
                <a:extLst>
                  <a:ext uri="{FF2B5EF4-FFF2-40B4-BE49-F238E27FC236}">
                    <a16:creationId xmlns:a16="http://schemas.microsoft.com/office/drawing/2014/main" id="{D1DB42E1-68D4-4973-9806-3D87967643DE}"/>
                  </a:ext>
                </a:extLst>
              </p:cNvPr>
              <p:cNvSpPr>
                <a:spLocks noChangeArrowheads="1"/>
              </p:cNvSpPr>
              <p:nvPr/>
            </p:nvSpPr>
            <p:spPr bwMode="auto">
              <a:xfrm>
                <a:off x="4032"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12</a:t>
                </a:r>
              </a:p>
            </p:txBody>
          </p:sp>
          <p:sp>
            <p:nvSpPr>
              <p:cNvPr id="19511" name="Oval 11">
                <a:extLst>
                  <a:ext uri="{FF2B5EF4-FFF2-40B4-BE49-F238E27FC236}">
                    <a16:creationId xmlns:a16="http://schemas.microsoft.com/office/drawing/2014/main" id="{53D59235-AB48-40CF-8BFE-DCF780EB70C5}"/>
                  </a:ext>
                </a:extLst>
              </p:cNvPr>
              <p:cNvSpPr>
                <a:spLocks noChangeArrowheads="1"/>
              </p:cNvSpPr>
              <p:nvPr/>
            </p:nvSpPr>
            <p:spPr bwMode="auto">
              <a:xfrm>
                <a:off x="713"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2</a:t>
                </a:r>
              </a:p>
            </p:txBody>
          </p:sp>
          <p:sp>
            <p:nvSpPr>
              <p:cNvPr id="19512" name="Oval 12">
                <a:extLst>
                  <a:ext uri="{FF2B5EF4-FFF2-40B4-BE49-F238E27FC236}">
                    <a16:creationId xmlns:a16="http://schemas.microsoft.com/office/drawing/2014/main" id="{06A0FBEC-76F2-49FD-99B4-EFB6A02819C0}"/>
                  </a:ext>
                </a:extLst>
              </p:cNvPr>
              <p:cNvSpPr>
                <a:spLocks noChangeArrowheads="1"/>
              </p:cNvSpPr>
              <p:nvPr/>
            </p:nvSpPr>
            <p:spPr bwMode="auto">
              <a:xfrm>
                <a:off x="2448" y="1536"/>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7</a:t>
                </a:r>
              </a:p>
            </p:txBody>
          </p:sp>
        </p:grpSp>
        <p:sp>
          <p:nvSpPr>
            <p:cNvPr id="19465" name="Oval 13">
              <a:extLst>
                <a:ext uri="{FF2B5EF4-FFF2-40B4-BE49-F238E27FC236}">
                  <a16:creationId xmlns:a16="http://schemas.microsoft.com/office/drawing/2014/main" id="{6692CAEE-CEB0-4E60-9C69-401EDD950B85}"/>
                </a:ext>
              </a:extLst>
            </p:cNvPr>
            <p:cNvSpPr>
              <a:spLocks noChangeArrowheads="1"/>
            </p:cNvSpPr>
            <p:nvPr/>
          </p:nvSpPr>
          <p:spPr bwMode="auto">
            <a:xfrm>
              <a:off x="4278" y="816"/>
              <a:ext cx="156" cy="165"/>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a:t>
              </a:r>
            </a:p>
          </p:txBody>
        </p:sp>
        <p:grpSp>
          <p:nvGrpSpPr>
            <p:cNvPr id="19466" name="Group 14">
              <a:extLst>
                <a:ext uri="{FF2B5EF4-FFF2-40B4-BE49-F238E27FC236}">
                  <a16:creationId xmlns:a16="http://schemas.microsoft.com/office/drawing/2014/main" id="{55BB9E2D-8A18-4D43-BAE1-892AF0797C7D}"/>
                </a:ext>
              </a:extLst>
            </p:cNvPr>
            <p:cNvGrpSpPr>
              <a:grpSpLocks/>
            </p:cNvGrpSpPr>
            <p:nvPr/>
          </p:nvGrpSpPr>
          <p:grpSpPr bwMode="auto">
            <a:xfrm>
              <a:off x="3130" y="2024"/>
              <a:ext cx="2422" cy="164"/>
              <a:chOff x="328" y="2592"/>
              <a:chExt cx="4472" cy="288"/>
            </a:xfrm>
          </p:grpSpPr>
          <p:sp>
            <p:nvSpPr>
              <p:cNvPr id="19504" name="Oval 15">
                <a:extLst>
                  <a:ext uri="{FF2B5EF4-FFF2-40B4-BE49-F238E27FC236}">
                    <a16:creationId xmlns:a16="http://schemas.microsoft.com/office/drawing/2014/main" id="{846210C7-DE96-466C-961E-658A02559D3C}"/>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8</a:t>
                </a:r>
              </a:p>
            </p:txBody>
          </p:sp>
          <p:sp>
            <p:nvSpPr>
              <p:cNvPr id="19505" name="Oval 16">
                <a:extLst>
                  <a:ext uri="{FF2B5EF4-FFF2-40B4-BE49-F238E27FC236}">
                    <a16:creationId xmlns:a16="http://schemas.microsoft.com/office/drawing/2014/main" id="{CDFDEA8B-6289-4B88-9767-AE9A854110EF}"/>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10</a:t>
                </a:r>
              </a:p>
            </p:txBody>
          </p:sp>
          <p:sp>
            <p:nvSpPr>
              <p:cNvPr id="19506" name="Oval 17">
                <a:extLst>
                  <a:ext uri="{FF2B5EF4-FFF2-40B4-BE49-F238E27FC236}">
                    <a16:creationId xmlns:a16="http://schemas.microsoft.com/office/drawing/2014/main" id="{A7C62DB6-2BE5-4EB2-B077-1EF42AFB371C}"/>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5</a:t>
                </a:r>
              </a:p>
            </p:txBody>
          </p:sp>
          <p:sp>
            <p:nvSpPr>
              <p:cNvPr id="19507" name="Oval 18">
                <a:extLst>
                  <a:ext uri="{FF2B5EF4-FFF2-40B4-BE49-F238E27FC236}">
                    <a16:creationId xmlns:a16="http://schemas.microsoft.com/office/drawing/2014/main" id="{3929E9CB-3909-41F0-AA69-530CD728D8EA}"/>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13</a:t>
                </a:r>
              </a:p>
            </p:txBody>
          </p:sp>
          <p:sp>
            <p:nvSpPr>
              <p:cNvPr id="19508" name="Oval 19">
                <a:extLst>
                  <a:ext uri="{FF2B5EF4-FFF2-40B4-BE49-F238E27FC236}">
                    <a16:creationId xmlns:a16="http://schemas.microsoft.com/office/drawing/2014/main" id="{9F27EA24-8C2D-4E86-9871-60417C6BFA42}"/>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3</a:t>
                </a:r>
              </a:p>
            </p:txBody>
          </p:sp>
          <p:sp>
            <p:nvSpPr>
              <p:cNvPr id="19509" name="Oval 20">
                <a:extLst>
                  <a:ext uri="{FF2B5EF4-FFF2-40B4-BE49-F238E27FC236}">
                    <a16:creationId xmlns:a16="http://schemas.microsoft.com/office/drawing/2014/main" id="{7FF22D19-621C-4F57-857D-4E7D3DFA04E1}"/>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15</a:t>
                </a:r>
              </a:p>
            </p:txBody>
          </p:sp>
        </p:grpSp>
        <p:grpSp>
          <p:nvGrpSpPr>
            <p:cNvPr id="19467" name="Group 21">
              <a:extLst>
                <a:ext uri="{FF2B5EF4-FFF2-40B4-BE49-F238E27FC236}">
                  <a16:creationId xmlns:a16="http://schemas.microsoft.com/office/drawing/2014/main" id="{A7DEE2B1-1209-403B-9C94-24EE91AE0252}"/>
                </a:ext>
              </a:extLst>
            </p:cNvPr>
            <p:cNvGrpSpPr>
              <a:grpSpLocks/>
            </p:cNvGrpSpPr>
            <p:nvPr/>
          </p:nvGrpSpPr>
          <p:grpSpPr bwMode="auto">
            <a:xfrm>
              <a:off x="3132" y="2572"/>
              <a:ext cx="2422" cy="165"/>
              <a:chOff x="328" y="2592"/>
              <a:chExt cx="4472" cy="288"/>
            </a:xfrm>
          </p:grpSpPr>
          <p:sp>
            <p:nvSpPr>
              <p:cNvPr id="19498" name="Oval 22">
                <a:extLst>
                  <a:ext uri="{FF2B5EF4-FFF2-40B4-BE49-F238E27FC236}">
                    <a16:creationId xmlns:a16="http://schemas.microsoft.com/office/drawing/2014/main" id="{2406DD6E-737A-46CE-A690-EB7D7B476F63}"/>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9</a:t>
                </a:r>
              </a:p>
            </p:txBody>
          </p:sp>
          <p:sp>
            <p:nvSpPr>
              <p:cNvPr id="19499" name="Oval 23">
                <a:extLst>
                  <a:ext uri="{FF2B5EF4-FFF2-40B4-BE49-F238E27FC236}">
                    <a16:creationId xmlns:a16="http://schemas.microsoft.com/office/drawing/2014/main" id="{EC1C22AD-4FFF-43DA-961E-2736DC55B22F}"/>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11</a:t>
                </a:r>
              </a:p>
            </p:txBody>
          </p:sp>
          <p:sp>
            <p:nvSpPr>
              <p:cNvPr id="19500" name="Oval 24">
                <a:extLst>
                  <a:ext uri="{FF2B5EF4-FFF2-40B4-BE49-F238E27FC236}">
                    <a16:creationId xmlns:a16="http://schemas.microsoft.com/office/drawing/2014/main" id="{C0392E6D-FF32-40B0-982F-E7EFE0833C62}"/>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6</a:t>
                </a:r>
              </a:p>
            </p:txBody>
          </p:sp>
          <p:sp>
            <p:nvSpPr>
              <p:cNvPr id="19501" name="Oval 25">
                <a:extLst>
                  <a:ext uri="{FF2B5EF4-FFF2-40B4-BE49-F238E27FC236}">
                    <a16:creationId xmlns:a16="http://schemas.microsoft.com/office/drawing/2014/main" id="{DF08363E-5B0C-46A7-B6AA-85E272BFB33C}"/>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14</a:t>
                </a:r>
              </a:p>
            </p:txBody>
          </p:sp>
          <p:sp>
            <p:nvSpPr>
              <p:cNvPr id="19502" name="Oval 26">
                <a:extLst>
                  <a:ext uri="{FF2B5EF4-FFF2-40B4-BE49-F238E27FC236}">
                    <a16:creationId xmlns:a16="http://schemas.microsoft.com/office/drawing/2014/main" id="{C0386534-2409-45AB-ABE6-F669869DB6F7}"/>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4</a:t>
                </a:r>
              </a:p>
            </p:txBody>
          </p:sp>
          <p:sp>
            <p:nvSpPr>
              <p:cNvPr id="19503" name="Oval 27">
                <a:extLst>
                  <a:ext uri="{FF2B5EF4-FFF2-40B4-BE49-F238E27FC236}">
                    <a16:creationId xmlns:a16="http://schemas.microsoft.com/office/drawing/2014/main" id="{30E93AA9-BD02-45A3-9CCD-A82EAD279E96}"/>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16</a:t>
                </a:r>
              </a:p>
            </p:txBody>
          </p:sp>
        </p:grpSp>
        <p:sp>
          <p:nvSpPr>
            <p:cNvPr id="19468" name="Line 29">
              <a:extLst>
                <a:ext uri="{FF2B5EF4-FFF2-40B4-BE49-F238E27FC236}">
                  <a16:creationId xmlns:a16="http://schemas.microsoft.com/office/drawing/2014/main" id="{73A9A775-8072-4B6D-AF82-061DB9D3FEFE}"/>
                </a:ext>
              </a:extLst>
            </p:cNvPr>
            <p:cNvSpPr>
              <a:spLocks noChangeShapeType="1"/>
            </p:cNvSpPr>
            <p:nvPr/>
          </p:nvSpPr>
          <p:spPr bwMode="auto">
            <a:xfrm>
              <a:off x="4356" y="980"/>
              <a:ext cx="0" cy="4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69" name="Line 30">
              <a:extLst>
                <a:ext uri="{FF2B5EF4-FFF2-40B4-BE49-F238E27FC236}">
                  <a16:creationId xmlns:a16="http://schemas.microsoft.com/office/drawing/2014/main" id="{FE8824BE-4112-4E26-ADA2-2A4FE7F00DAF}"/>
                </a:ext>
              </a:extLst>
            </p:cNvPr>
            <p:cNvSpPr>
              <a:spLocks noChangeShapeType="1"/>
            </p:cNvSpPr>
            <p:nvPr/>
          </p:nvSpPr>
          <p:spPr bwMode="auto">
            <a:xfrm flipH="1">
              <a:off x="3446" y="953"/>
              <a:ext cx="832" cy="4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0" name="Line 31">
              <a:extLst>
                <a:ext uri="{FF2B5EF4-FFF2-40B4-BE49-F238E27FC236}">
                  <a16:creationId xmlns:a16="http://schemas.microsoft.com/office/drawing/2014/main" id="{AD8F8F8C-52FA-4163-BBA9-5D53D2A273B0}"/>
                </a:ext>
              </a:extLst>
            </p:cNvPr>
            <p:cNvSpPr>
              <a:spLocks noChangeShapeType="1"/>
            </p:cNvSpPr>
            <p:nvPr/>
          </p:nvSpPr>
          <p:spPr bwMode="auto">
            <a:xfrm>
              <a:off x="4408" y="953"/>
              <a:ext cx="754" cy="46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1" name="Line 32">
              <a:extLst>
                <a:ext uri="{FF2B5EF4-FFF2-40B4-BE49-F238E27FC236}">
                  <a16:creationId xmlns:a16="http://schemas.microsoft.com/office/drawing/2014/main" id="{8520618F-A50C-4C50-BF47-3C7D351AB70C}"/>
                </a:ext>
              </a:extLst>
            </p:cNvPr>
            <p:cNvSpPr>
              <a:spLocks noChangeShapeType="1"/>
            </p:cNvSpPr>
            <p:nvPr/>
          </p:nvSpPr>
          <p:spPr bwMode="auto">
            <a:xfrm flipH="1">
              <a:off x="3212" y="1585"/>
              <a:ext cx="156" cy="4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2" name="Line 33">
              <a:extLst>
                <a:ext uri="{FF2B5EF4-FFF2-40B4-BE49-F238E27FC236}">
                  <a16:creationId xmlns:a16="http://schemas.microsoft.com/office/drawing/2014/main" id="{2A65FD00-0417-4A47-962E-FE4AED81026D}"/>
                </a:ext>
              </a:extLst>
            </p:cNvPr>
            <p:cNvSpPr>
              <a:spLocks noChangeShapeType="1"/>
            </p:cNvSpPr>
            <p:nvPr/>
          </p:nvSpPr>
          <p:spPr bwMode="auto">
            <a:xfrm>
              <a:off x="3446" y="1585"/>
              <a:ext cx="182" cy="4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3" name="Line 34">
              <a:extLst>
                <a:ext uri="{FF2B5EF4-FFF2-40B4-BE49-F238E27FC236}">
                  <a16:creationId xmlns:a16="http://schemas.microsoft.com/office/drawing/2014/main" id="{73F5FDFD-5C35-4B4F-BF82-F52A8E3224C9}"/>
                </a:ext>
              </a:extLst>
            </p:cNvPr>
            <p:cNvSpPr>
              <a:spLocks noChangeShapeType="1"/>
            </p:cNvSpPr>
            <p:nvPr/>
          </p:nvSpPr>
          <p:spPr bwMode="auto">
            <a:xfrm flipH="1">
              <a:off x="4122" y="1557"/>
              <a:ext cx="182" cy="4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4" name="Line 35">
              <a:extLst>
                <a:ext uri="{FF2B5EF4-FFF2-40B4-BE49-F238E27FC236}">
                  <a16:creationId xmlns:a16="http://schemas.microsoft.com/office/drawing/2014/main" id="{7D3F002B-D575-48EB-B8F7-B7A5F08ABEF3}"/>
                </a:ext>
              </a:extLst>
            </p:cNvPr>
            <p:cNvSpPr>
              <a:spLocks noChangeShapeType="1"/>
            </p:cNvSpPr>
            <p:nvPr/>
          </p:nvSpPr>
          <p:spPr bwMode="auto">
            <a:xfrm>
              <a:off x="4408" y="1557"/>
              <a:ext cx="208" cy="4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5" name="Line 36">
              <a:extLst>
                <a:ext uri="{FF2B5EF4-FFF2-40B4-BE49-F238E27FC236}">
                  <a16:creationId xmlns:a16="http://schemas.microsoft.com/office/drawing/2014/main" id="{B0E09DF8-41DA-4D89-AC10-18D6F1E10427}"/>
                </a:ext>
              </a:extLst>
            </p:cNvPr>
            <p:cNvSpPr>
              <a:spLocks noChangeShapeType="1"/>
            </p:cNvSpPr>
            <p:nvPr/>
          </p:nvSpPr>
          <p:spPr bwMode="auto">
            <a:xfrm flipH="1">
              <a:off x="5084" y="1585"/>
              <a:ext cx="104" cy="43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6" name="Line 37">
              <a:extLst>
                <a:ext uri="{FF2B5EF4-FFF2-40B4-BE49-F238E27FC236}">
                  <a16:creationId xmlns:a16="http://schemas.microsoft.com/office/drawing/2014/main" id="{2DF8AFE1-A7F4-4B9D-9641-5C7E2525B421}"/>
                </a:ext>
              </a:extLst>
            </p:cNvPr>
            <p:cNvSpPr>
              <a:spLocks noChangeShapeType="1"/>
            </p:cNvSpPr>
            <p:nvPr/>
          </p:nvSpPr>
          <p:spPr bwMode="auto">
            <a:xfrm>
              <a:off x="5266" y="1557"/>
              <a:ext cx="182" cy="4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7" name="Line 38">
              <a:extLst>
                <a:ext uri="{FF2B5EF4-FFF2-40B4-BE49-F238E27FC236}">
                  <a16:creationId xmlns:a16="http://schemas.microsoft.com/office/drawing/2014/main" id="{D652D98C-B049-46E9-91DB-4D6723AD0106}"/>
                </a:ext>
              </a:extLst>
            </p:cNvPr>
            <p:cNvSpPr>
              <a:spLocks noChangeShapeType="1"/>
            </p:cNvSpPr>
            <p:nvPr/>
          </p:nvSpPr>
          <p:spPr bwMode="auto">
            <a:xfrm>
              <a:off x="3212"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8" name="Line 39">
              <a:extLst>
                <a:ext uri="{FF2B5EF4-FFF2-40B4-BE49-F238E27FC236}">
                  <a16:creationId xmlns:a16="http://schemas.microsoft.com/office/drawing/2014/main" id="{6EFDA01C-84EC-4C42-939A-E0B366E1A589}"/>
                </a:ext>
              </a:extLst>
            </p:cNvPr>
            <p:cNvSpPr>
              <a:spLocks noChangeShapeType="1"/>
            </p:cNvSpPr>
            <p:nvPr/>
          </p:nvSpPr>
          <p:spPr bwMode="auto">
            <a:xfrm>
              <a:off x="3628"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79" name="Line 40">
              <a:extLst>
                <a:ext uri="{FF2B5EF4-FFF2-40B4-BE49-F238E27FC236}">
                  <a16:creationId xmlns:a16="http://schemas.microsoft.com/office/drawing/2014/main" id="{95FAAF7B-F7A5-493C-A029-AE678CC84B34}"/>
                </a:ext>
              </a:extLst>
            </p:cNvPr>
            <p:cNvSpPr>
              <a:spLocks noChangeShapeType="1"/>
            </p:cNvSpPr>
            <p:nvPr/>
          </p:nvSpPr>
          <p:spPr bwMode="auto">
            <a:xfrm>
              <a:off x="4122"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80" name="Line 41">
              <a:extLst>
                <a:ext uri="{FF2B5EF4-FFF2-40B4-BE49-F238E27FC236}">
                  <a16:creationId xmlns:a16="http://schemas.microsoft.com/office/drawing/2014/main" id="{F6646144-10CA-44A8-8F65-F5258DDFA27F}"/>
                </a:ext>
              </a:extLst>
            </p:cNvPr>
            <p:cNvSpPr>
              <a:spLocks noChangeShapeType="1"/>
            </p:cNvSpPr>
            <p:nvPr/>
          </p:nvSpPr>
          <p:spPr bwMode="auto">
            <a:xfrm>
              <a:off x="4616"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81" name="Line 42">
              <a:extLst>
                <a:ext uri="{FF2B5EF4-FFF2-40B4-BE49-F238E27FC236}">
                  <a16:creationId xmlns:a16="http://schemas.microsoft.com/office/drawing/2014/main" id="{AA7591E4-7F22-4A69-A36F-8951A71AB1D5}"/>
                </a:ext>
              </a:extLst>
            </p:cNvPr>
            <p:cNvSpPr>
              <a:spLocks noChangeShapeType="1"/>
            </p:cNvSpPr>
            <p:nvPr/>
          </p:nvSpPr>
          <p:spPr bwMode="auto">
            <a:xfrm>
              <a:off x="5058"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82" name="Line 43">
              <a:extLst>
                <a:ext uri="{FF2B5EF4-FFF2-40B4-BE49-F238E27FC236}">
                  <a16:creationId xmlns:a16="http://schemas.microsoft.com/office/drawing/2014/main" id="{79F9BC57-32CF-493D-B41B-AADEDF6EBB00}"/>
                </a:ext>
              </a:extLst>
            </p:cNvPr>
            <p:cNvSpPr>
              <a:spLocks noChangeShapeType="1"/>
            </p:cNvSpPr>
            <p:nvPr/>
          </p:nvSpPr>
          <p:spPr bwMode="auto">
            <a:xfrm>
              <a:off x="5474" y="2188"/>
              <a:ext cx="0" cy="38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9483" name="Text Box 44">
              <a:extLst>
                <a:ext uri="{FF2B5EF4-FFF2-40B4-BE49-F238E27FC236}">
                  <a16:creationId xmlns:a16="http://schemas.microsoft.com/office/drawing/2014/main" id="{4C6DCFE0-F36D-4AA6-93D8-24A132365649}"/>
                </a:ext>
              </a:extLst>
            </p:cNvPr>
            <p:cNvSpPr txBox="1">
              <a:spLocks noChangeArrowheads="1"/>
            </p:cNvSpPr>
            <p:nvPr/>
          </p:nvSpPr>
          <p:spPr bwMode="auto">
            <a:xfrm>
              <a:off x="3594" y="1056"/>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1</a:t>
              </a:r>
            </a:p>
          </p:txBody>
        </p:sp>
        <p:sp>
          <p:nvSpPr>
            <p:cNvPr id="19484" name="Text Box 45">
              <a:extLst>
                <a:ext uri="{FF2B5EF4-FFF2-40B4-BE49-F238E27FC236}">
                  <a16:creationId xmlns:a16="http://schemas.microsoft.com/office/drawing/2014/main" id="{839A759D-A674-42CE-A123-282EB322C7FF}"/>
                </a:ext>
              </a:extLst>
            </p:cNvPr>
            <p:cNvSpPr txBox="1">
              <a:spLocks noChangeArrowheads="1"/>
            </p:cNvSpPr>
            <p:nvPr/>
          </p:nvSpPr>
          <p:spPr bwMode="auto">
            <a:xfrm>
              <a:off x="4894" y="1056"/>
              <a:ext cx="3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3</a:t>
              </a:r>
            </a:p>
          </p:txBody>
        </p:sp>
        <p:sp>
          <p:nvSpPr>
            <p:cNvPr id="19485" name="Text Box 46">
              <a:extLst>
                <a:ext uri="{FF2B5EF4-FFF2-40B4-BE49-F238E27FC236}">
                  <a16:creationId xmlns:a16="http://schemas.microsoft.com/office/drawing/2014/main" id="{9CB7F657-9FDF-45AC-A9DD-CA933F41441E}"/>
                </a:ext>
              </a:extLst>
            </p:cNvPr>
            <p:cNvSpPr txBox="1">
              <a:spLocks noChangeArrowheads="1"/>
            </p:cNvSpPr>
            <p:nvPr/>
          </p:nvSpPr>
          <p:spPr bwMode="auto">
            <a:xfrm>
              <a:off x="4170" y="1056"/>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2</a:t>
              </a:r>
            </a:p>
          </p:txBody>
        </p:sp>
        <p:sp>
          <p:nvSpPr>
            <p:cNvPr id="19486" name="Text Box 47">
              <a:extLst>
                <a:ext uri="{FF2B5EF4-FFF2-40B4-BE49-F238E27FC236}">
                  <a16:creationId xmlns:a16="http://schemas.microsoft.com/office/drawing/2014/main" id="{345763AF-55C4-4AE5-BD07-BB5B20F4F4EB}"/>
                </a:ext>
              </a:extLst>
            </p:cNvPr>
            <p:cNvSpPr txBox="1">
              <a:spLocks noChangeArrowheads="1"/>
            </p:cNvSpPr>
            <p:nvPr/>
          </p:nvSpPr>
          <p:spPr bwMode="auto">
            <a:xfrm>
              <a:off x="3114" y="1694"/>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2</a:t>
              </a:r>
            </a:p>
          </p:txBody>
        </p:sp>
        <p:sp>
          <p:nvSpPr>
            <p:cNvPr id="19487" name="Text Box 48">
              <a:extLst>
                <a:ext uri="{FF2B5EF4-FFF2-40B4-BE49-F238E27FC236}">
                  <a16:creationId xmlns:a16="http://schemas.microsoft.com/office/drawing/2014/main" id="{7B69A1C4-77ED-4BA1-A004-F972EA324D9C}"/>
                </a:ext>
              </a:extLst>
            </p:cNvPr>
            <p:cNvSpPr txBox="1">
              <a:spLocks noChangeArrowheads="1"/>
            </p:cNvSpPr>
            <p:nvPr/>
          </p:nvSpPr>
          <p:spPr bwMode="auto">
            <a:xfrm>
              <a:off x="3524" y="1694"/>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 3</a:t>
              </a:r>
            </a:p>
          </p:txBody>
        </p:sp>
        <p:sp>
          <p:nvSpPr>
            <p:cNvPr id="19488" name="Text Box 49">
              <a:extLst>
                <a:ext uri="{FF2B5EF4-FFF2-40B4-BE49-F238E27FC236}">
                  <a16:creationId xmlns:a16="http://schemas.microsoft.com/office/drawing/2014/main" id="{DCC8AE1B-89D6-4EA3-B327-CB2788A221F7}"/>
                </a:ext>
              </a:extLst>
            </p:cNvPr>
            <p:cNvSpPr txBox="1">
              <a:spLocks noChangeArrowheads="1"/>
            </p:cNvSpPr>
            <p:nvPr/>
          </p:nvSpPr>
          <p:spPr bwMode="auto">
            <a:xfrm>
              <a:off x="3978" y="1694"/>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1</a:t>
              </a:r>
            </a:p>
          </p:txBody>
        </p:sp>
        <p:sp>
          <p:nvSpPr>
            <p:cNvPr id="19489" name="Text Box 50">
              <a:extLst>
                <a:ext uri="{FF2B5EF4-FFF2-40B4-BE49-F238E27FC236}">
                  <a16:creationId xmlns:a16="http://schemas.microsoft.com/office/drawing/2014/main" id="{7653A1B3-2A2F-4647-AB65-4EE2F5A1C090}"/>
                </a:ext>
              </a:extLst>
            </p:cNvPr>
            <p:cNvSpPr txBox="1">
              <a:spLocks noChangeArrowheads="1"/>
            </p:cNvSpPr>
            <p:nvPr/>
          </p:nvSpPr>
          <p:spPr bwMode="auto">
            <a:xfrm>
              <a:off x="4506" y="1694"/>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 3</a:t>
              </a:r>
            </a:p>
          </p:txBody>
        </p:sp>
        <p:sp>
          <p:nvSpPr>
            <p:cNvPr id="19490" name="Text Box 51">
              <a:extLst>
                <a:ext uri="{FF2B5EF4-FFF2-40B4-BE49-F238E27FC236}">
                  <a16:creationId xmlns:a16="http://schemas.microsoft.com/office/drawing/2014/main" id="{E9A1A802-19BA-4035-8E5F-C140D8CCD8E8}"/>
                </a:ext>
              </a:extLst>
            </p:cNvPr>
            <p:cNvSpPr txBox="1">
              <a:spLocks noChangeArrowheads="1"/>
            </p:cNvSpPr>
            <p:nvPr/>
          </p:nvSpPr>
          <p:spPr bwMode="auto">
            <a:xfrm>
              <a:off x="4890" y="1694"/>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1</a:t>
              </a:r>
            </a:p>
          </p:txBody>
        </p:sp>
        <p:sp>
          <p:nvSpPr>
            <p:cNvPr id="19491" name="Text Box 52">
              <a:extLst>
                <a:ext uri="{FF2B5EF4-FFF2-40B4-BE49-F238E27FC236}">
                  <a16:creationId xmlns:a16="http://schemas.microsoft.com/office/drawing/2014/main" id="{8DFDDC51-B729-47B5-8E1C-457AA310F38B}"/>
                </a:ext>
              </a:extLst>
            </p:cNvPr>
            <p:cNvSpPr txBox="1">
              <a:spLocks noChangeArrowheads="1"/>
            </p:cNvSpPr>
            <p:nvPr/>
          </p:nvSpPr>
          <p:spPr bwMode="auto">
            <a:xfrm>
              <a:off x="5418" y="1694"/>
              <a:ext cx="2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2</a:t>
              </a:r>
            </a:p>
          </p:txBody>
        </p:sp>
        <p:sp>
          <p:nvSpPr>
            <p:cNvPr id="19492" name="Text Box 53">
              <a:extLst>
                <a:ext uri="{FF2B5EF4-FFF2-40B4-BE49-F238E27FC236}">
                  <a16:creationId xmlns:a16="http://schemas.microsoft.com/office/drawing/2014/main" id="{11394C42-3825-464D-8F43-B6FE3BB4B994}"/>
                </a:ext>
              </a:extLst>
            </p:cNvPr>
            <p:cNvSpPr txBox="1">
              <a:spLocks noChangeArrowheads="1"/>
            </p:cNvSpPr>
            <p:nvPr/>
          </p:nvSpPr>
          <p:spPr bwMode="auto">
            <a:xfrm>
              <a:off x="3018" y="2270"/>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3</a:t>
              </a:r>
            </a:p>
          </p:txBody>
        </p:sp>
        <p:sp>
          <p:nvSpPr>
            <p:cNvPr id="19493" name="Text Box 54">
              <a:extLst>
                <a:ext uri="{FF2B5EF4-FFF2-40B4-BE49-F238E27FC236}">
                  <a16:creationId xmlns:a16="http://schemas.microsoft.com/office/drawing/2014/main" id="{A50E294E-D91D-4C66-A1C8-370F9440F01F}"/>
                </a:ext>
              </a:extLst>
            </p:cNvPr>
            <p:cNvSpPr txBox="1">
              <a:spLocks noChangeArrowheads="1"/>
            </p:cNvSpPr>
            <p:nvPr/>
          </p:nvSpPr>
          <p:spPr bwMode="auto">
            <a:xfrm>
              <a:off x="3691" y="2270"/>
              <a:ext cx="3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2</a:t>
              </a:r>
            </a:p>
          </p:txBody>
        </p:sp>
        <p:sp>
          <p:nvSpPr>
            <p:cNvPr id="19494" name="Text Box 55">
              <a:extLst>
                <a:ext uri="{FF2B5EF4-FFF2-40B4-BE49-F238E27FC236}">
                  <a16:creationId xmlns:a16="http://schemas.microsoft.com/office/drawing/2014/main" id="{9EBDDC2F-A6F9-4491-BA35-677807691203}"/>
                </a:ext>
              </a:extLst>
            </p:cNvPr>
            <p:cNvSpPr txBox="1">
              <a:spLocks noChangeArrowheads="1"/>
            </p:cNvSpPr>
            <p:nvPr/>
          </p:nvSpPr>
          <p:spPr bwMode="auto">
            <a:xfrm>
              <a:off x="4459" y="2270"/>
              <a:ext cx="3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1</a:t>
              </a:r>
            </a:p>
          </p:txBody>
        </p:sp>
        <p:sp>
          <p:nvSpPr>
            <p:cNvPr id="19495" name="Text Box 56">
              <a:extLst>
                <a:ext uri="{FF2B5EF4-FFF2-40B4-BE49-F238E27FC236}">
                  <a16:creationId xmlns:a16="http://schemas.microsoft.com/office/drawing/2014/main" id="{0C0DE695-1B8B-425A-8228-ED594D355E22}"/>
                </a:ext>
              </a:extLst>
            </p:cNvPr>
            <p:cNvSpPr txBox="1">
              <a:spLocks noChangeArrowheads="1"/>
            </p:cNvSpPr>
            <p:nvPr/>
          </p:nvSpPr>
          <p:spPr bwMode="auto">
            <a:xfrm>
              <a:off x="4890" y="2271"/>
              <a:ext cx="3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2</a:t>
              </a:r>
            </a:p>
          </p:txBody>
        </p:sp>
        <p:sp>
          <p:nvSpPr>
            <p:cNvPr id="19496" name="Text Box 58">
              <a:extLst>
                <a:ext uri="{FF2B5EF4-FFF2-40B4-BE49-F238E27FC236}">
                  <a16:creationId xmlns:a16="http://schemas.microsoft.com/office/drawing/2014/main" id="{37C0E2F8-E770-47A6-90F4-9310D8A10C92}"/>
                </a:ext>
              </a:extLst>
            </p:cNvPr>
            <p:cNvSpPr txBox="1">
              <a:spLocks noChangeArrowheads="1"/>
            </p:cNvSpPr>
            <p:nvPr/>
          </p:nvSpPr>
          <p:spPr bwMode="auto">
            <a:xfrm>
              <a:off x="3936" y="2256"/>
              <a:ext cx="3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3</a:t>
              </a:r>
            </a:p>
          </p:txBody>
        </p:sp>
        <p:sp>
          <p:nvSpPr>
            <p:cNvPr id="19497" name="Text Box 59">
              <a:extLst>
                <a:ext uri="{FF2B5EF4-FFF2-40B4-BE49-F238E27FC236}">
                  <a16:creationId xmlns:a16="http://schemas.microsoft.com/office/drawing/2014/main" id="{DB558B75-6A50-4A1F-BDDF-536800C91C87}"/>
                </a:ext>
              </a:extLst>
            </p:cNvPr>
            <p:cNvSpPr txBox="1">
              <a:spLocks noChangeArrowheads="1"/>
            </p:cNvSpPr>
            <p:nvPr/>
          </p:nvSpPr>
          <p:spPr bwMode="auto">
            <a:xfrm>
              <a:off x="5515" y="2256"/>
              <a:ext cx="1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rIns="180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anim calcmode="lin" valueType="num">
                                      <p:cBhvr additive="base">
                                        <p:cTn id="7" dur="500" fill="hold"/>
                                        <p:tgtEl>
                                          <p:spTgt spid="58372"/>
                                        </p:tgtEl>
                                        <p:attrNameLst>
                                          <p:attrName>ppt_x</p:attrName>
                                        </p:attrNameLst>
                                      </p:cBhvr>
                                      <p:tavLst>
                                        <p:tav tm="0">
                                          <p:val>
                                            <p:strVal val="0-#ppt_w/2"/>
                                          </p:val>
                                        </p:tav>
                                        <p:tav tm="100000">
                                          <p:val>
                                            <p:strVal val="#ppt_x"/>
                                          </p:val>
                                        </p:tav>
                                      </p:tavLst>
                                    </p:anim>
                                    <p:anim calcmode="lin" valueType="num">
                                      <p:cBhvr additive="base">
                                        <p:cTn id="8" dur="500" fill="hold"/>
                                        <p:tgtEl>
                                          <p:spTgt spid="5837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374"/>
                                        </p:tgtEl>
                                        <p:attrNameLst>
                                          <p:attrName>style.visibility</p:attrName>
                                        </p:attrNameLst>
                                      </p:cBhvr>
                                      <p:to>
                                        <p:strVal val="visible"/>
                                      </p:to>
                                    </p:set>
                                    <p:anim calcmode="lin" valueType="num">
                                      <p:cBhvr additive="base">
                                        <p:cTn id="13" dur="500" fill="hold"/>
                                        <p:tgtEl>
                                          <p:spTgt spid="58374"/>
                                        </p:tgtEl>
                                        <p:attrNameLst>
                                          <p:attrName>ppt_x</p:attrName>
                                        </p:attrNameLst>
                                      </p:cBhvr>
                                      <p:tavLst>
                                        <p:tav tm="0">
                                          <p:val>
                                            <p:strVal val="0-#ppt_w/2"/>
                                          </p:val>
                                        </p:tav>
                                        <p:tav tm="100000">
                                          <p:val>
                                            <p:strVal val="#ppt_x"/>
                                          </p:val>
                                        </p:tav>
                                      </p:tavLst>
                                    </p:anim>
                                    <p:anim calcmode="lin" valueType="num">
                                      <p:cBhvr additive="base">
                                        <p:cTn id="14" dur="500" fill="hold"/>
                                        <p:tgtEl>
                                          <p:spTgt spid="5837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75"/>
                                        </p:tgtEl>
                                        <p:attrNameLst>
                                          <p:attrName>style.visibility</p:attrName>
                                        </p:attrNameLst>
                                      </p:cBhvr>
                                      <p:to>
                                        <p:strVal val="visible"/>
                                      </p:to>
                                    </p:set>
                                    <p:anim calcmode="lin" valueType="num">
                                      <p:cBhvr additive="base">
                                        <p:cTn id="19" dur="500" fill="hold"/>
                                        <p:tgtEl>
                                          <p:spTgt spid="58375"/>
                                        </p:tgtEl>
                                        <p:attrNameLst>
                                          <p:attrName>ppt_x</p:attrName>
                                        </p:attrNameLst>
                                      </p:cBhvr>
                                      <p:tavLst>
                                        <p:tav tm="0">
                                          <p:val>
                                            <p:strVal val="0-#ppt_w/2"/>
                                          </p:val>
                                        </p:tav>
                                        <p:tav tm="100000">
                                          <p:val>
                                            <p:strVal val="#ppt_x"/>
                                          </p:val>
                                        </p:tav>
                                      </p:tavLst>
                                    </p:anim>
                                    <p:anim calcmode="lin" valueType="num">
                                      <p:cBhvr additive="base">
                                        <p:cTn id="20" dur="500" fill="hold"/>
                                        <p:tgtEl>
                                          <p:spTgt spid="5837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371">
                                            <p:txEl>
                                              <p:pRg st="0" end="0"/>
                                            </p:txEl>
                                          </p:spTgt>
                                        </p:tgtEl>
                                        <p:attrNameLst>
                                          <p:attrName>style.visibility</p:attrName>
                                        </p:attrNameLst>
                                      </p:cBhvr>
                                      <p:to>
                                        <p:strVal val="visible"/>
                                      </p:to>
                                    </p:set>
                                    <p:anim calcmode="lin" valueType="num">
                                      <p:cBhvr additive="base">
                                        <p:cTn id="25" dur="500" fill="hold"/>
                                        <p:tgtEl>
                                          <p:spTgt spid="58371">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83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P spid="58374" grpId="0" autoUpdateAnimBg="0"/>
      <p:bldP spid="58375"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EE779ED-3A2A-4149-AE1A-D47DDAAA7D49}"/>
              </a:ext>
            </a:extLst>
          </p:cNvPr>
          <p:cNvSpPr>
            <a:spLocks noGrp="1" noChangeArrowheads="1"/>
          </p:cNvSpPr>
          <p:nvPr>
            <p:ph type="title"/>
          </p:nvPr>
        </p:nvSpPr>
        <p:spPr bwMode="auto">
          <a:xfrm>
            <a:off x="457200" y="357188"/>
            <a:ext cx="83058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70000"/>
              </a:lnSpc>
              <a:defRPr/>
            </a:pPr>
            <a:r>
              <a:rPr lang="zh-CN" altLang="en-US" sz="4000" b="1" dirty="0">
                <a:solidFill>
                  <a:srgbClr val="FF0000"/>
                </a:solidFill>
                <a:effectLst>
                  <a:outerShdw blurRad="38100" dist="38100" dir="2700000" algn="tl">
                    <a:srgbClr val="C0C0C0"/>
                  </a:outerShdw>
                </a:effectLst>
                <a:latin typeface="华文中宋" panose="02010600040101010101" pitchFamily="2" charset="-122"/>
              </a:rPr>
              <a:t>子集树与排列树算法框架</a:t>
            </a:r>
            <a:r>
              <a:rPr lang="en-US" altLang="zh-CN" sz="4000" b="1" dirty="0">
                <a:solidFill>
                  <a:srgbClr val="FF0000"/>
                </a:solidFill>
                <a:effectLst>
                  <a:outerShdw blurRad="38100" dist="38100" dir="2700000" algn="tl">
                    <a:srgbClr val="C0C0C0"/>
                  </a:outerShdw>
                </a:effectLst>
                <a:latin typeface="华文中宋" panose="02010600040101010101" pitchFamily="2" charset="-122"/>
              </a:rPr>
              <a:t>-</a:t>
            </a:r>
            <a:r>
              <a:rPr lang="zh-CN" altLang="en-US" sz="4000" b="1" dirty="0">
                <a:solidFill>
                  <a:srgbClr val="FF0000"/>
                </a:solidFill>
                <a:effectLst>
                  <a:outerShdw blurRad="38100" dist="38100" dir="2700000" algn="tl">
                    <a:srgbClr val="C0C0C0"/>
                  </a:outerShdw>
                </a:effectLst>
                <a:latin typeface="华文中宋" panose="02010600040101010101" pitchFamily="2" charset="-122"/>
              </a:rPr>
              <a:t>递归形式</a:t>
            </a:r>
          </a:p>
        </p:txBody>
      </p:sp>
      <p:sp>
        <p:nvSpPr>
          <p:cNvPr id="59395" name="Rectangle 3">
            <a:extLst>
              <a:ext uri="{FF2B5EF4-FFF2-40B4-BE49-F238E27FC236}">
                <a16:creationId xmlns:a16="http://schemas.microsoft.com/office/drawing/2014/main" id="{DB1BF749-6AC8-478D-BB39-6C98BD29FB89}"/>
              </a:ext>
            </a:extLst>
          </p:cNvPr>
          <p:cNvSpPr>
            <a:spLocks noGrp="1" noChangeArrowheads="1"/>
          </p:cNvSpPr>
          <p:nvPr>
            <p:ph type="body" idx="1"/>
          </p:nvPr>
        </p:nvSpPr>
        <p:spPr bwMode="auto">
          <a:xfrm>
            <a:off x="31774" y="1119188"/>
            <a:ext cx="4387233" cy="4800600"/>
          </a:xfrm>
          <a:noFill/>
          <a:ln w="34925">
            <a:solidFill>
              <a:srgbClr val="FF9933"/>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spcBef>
                <a:spcPct val="0"/>
              </a:spcBef>
              <a:buFontTx/>
              <a:buNone/>
            </a:pPr>
            <a:r>
              <a:rPr kumimoji="0" lang="zh-CN" altLang="en-US" sz="2800" b="1" dirty="0"/>
              <a:t>子集树</a:t>
            </a:r>
          </a:p>
          <a:p>
            <a:pPr eaLnBrk="1" hangingPunct="1">
              <a:spcBef>
                <a:spcPct val="0"/>
              </a:spcBef>
              <a:buFontTx/>
              <a:buNone/>
            </a:pPr>
            <a:r>
              <a:rPr kumimoji="0" lang="en-US" altLang="zh-CN" sz="2300" b="1" dirty="0">
                <a:latin typeface="Input" panose="02000506020000090004" pitchFamily="2" charset="0"/>
              </a:rPr>
              <a:t>void backtrack (int t){</a:t>
            </a:r>
          </a:p>
          <a:p>
            <a:pPr eaLnBrk="1" hangingPunct="1">
              <a:spcBef>
                <a:spcPct val="0"/>
              </a:spcBef>
              <a:buFontTx/>
              <a:buNone/>
            </a:pPr>
            <a:r>
              <a:rPr kumimoji="0" lang="en-US" altLang="zh-CN" sz="2300" b="1" dirty="0">
                <a:latin typeface="Input" panose="02000506020000090004" pitchFamily="2" charset="0"/>
              </a:rPr>
              <a:t>  if (t&gt;n) output(x);</a:t>
            </a:r>
          </a:p>
          <a:p>
            <a:pPr eaLnBrk="1" hangingPunct="1">
              <a:spcBef>
                <a:spcPct val="0"/>
              </a:spcBef>
              <a:buFontTx/>
              <a:buNone/>
            </a:pPr>
            <a:r>
              <a:rPr kumimoji="0" lang="en-US" altLang="zh-CN" sz="2300" b="1" dirty="0">
                <a:latin typeface="Input" panose="02000506020000090004" pitchFamily="2" charset="0"/>
              </a:rPr>
              <a:t>    else</a:t>
            </a:r>
          </a:p>
          <a:p>
            <a:pPr eaLnBrk="1" hangingPunct="1">
              <a:spcBef>
                <a:spcPct val="0"/>
              </a:spcBef>
              <a:buFontTx/>
              <a:buNone/>
            </a:pPr>
            <a:r>
              <a:rPr kumimoji="0" lang="en-US" altLang="zh-CN" sz="2300" b="1" dirty="0">
                <a:latin typeface="Input" panose="02000506020000090004" pitchFamily="2" charset="0"/>
              </a:rPr>
              <a:t>      for (int </a:t>
            </a:r>
            <a:r>
              <a:rPr kumimoji="0" lang="en-US" altLang="zh-CN" sz="2300" b="1" dirty="0" err="1">
                <a:latin typeface="Input" panose="02000506020000090004" pitchFamily="2" charset="0"/>
              </a:rPr>
              <a:t>i</a:t>
            </a:r>
            <a:r>
              <a:rPr kumimoji="0" lang="en-US" altLang="zh-CN" sz="2300" b="1" dirty="0">
                <a:latin typeface="Input" panose="02000506020000090004" pitchFamily="2" charset="0"/>
              </a:rPr>
              <a:t>=0;i&lt;=1;i++) {</a:t>
            </a:r>
          </a:p>
          <a:p>
            <a:pPr eaLnBrk="1" hangingPunct="1">
              <a:spcBef>
                <a:spcPct val="0"/>
              </a:spcBef>
              <a:buFontTx/>
              <a:buNone/>
            </a:pPr>
            <a:r>
              <a:rPr kumimoji="0" lang="en-US" altLang="zh-CN" sz="2300" b="1" dirty="0">
                <a:latin typeface="Input" panose="02000506020000090004" pitchFamily="2" charset="0"/>
              </a:rPr>
              <a:t>        x[t]=</a:t>
            </a:r>
            <a:r>
              <a:rPr kumimoji="0" lang="en-US" altLang="zh-CN" sz="2300" b="1" dirty="0" err="1">
                <a:latin typeface="Input" panose="02000506020000090004" pitchFamily="2" charset="0"/>
              </a:rPr>
              <a:t>i</a:t>
            </a:r>
            <a:r>
              <a:rPr kumimoji="0" lang="en-US" altLang="zh-CN" sz="2300" b="1" dirty="0">
                <a:latin typeface="Input" panose="02000506020000090004" pitchFamily="2" charset="0"/>
              </a:rPr>
              <a:t>;</a:t>
            </a:r>
          </a:p>
          <a:p>
            <a:pPr eaLnBrk="1" hangingPunct="1">
              <a:spcBef>
                <a:spcPct val="0"/>
              </a:spcBef>
              <a:buFontTx/>
              <a:buNone/>
            </a:pPr>
            <a:r>
              <a:rPr kumimoji="0" lang="en-US" altLang="zh-CN" sz="2300" b="1" dirty="0">
                <a:latin typeface="Input" panose="02000506020000090004" pitchFamily="2" charset="0"/>
              </a:rPr>
              <a:t>        if (legal(t))   //</a:t>
            </a:r>
            <a:r>
              <a:rPr kumimoji="0" lang="zh-CN" altLang="en-US" sz="2300" b="1" dirty="0">
                <a:latin typeface="Input" panose="02000506020000090004" pitchFamily="2" charset="0"/>
              </a:rPr>
              <a:t>若合法</a:t>
            </a:r>
          </a:p>
          <a:p>
            <a:pPr eaLnBrk="1" hangingPunct="1">
              <a:spcBef>
                <a:spcPct val="0"/>
              </a:spcBef>
              <a:buFontTx/>
              <a:buNone/>
            </a:pPr>
            <a:r>
              <a:rPr kumimoji="0" lang="zh-CN" altLang="en-US" sz="2300" b="1" dirty="0">
                <a:latin typeface="Input" panose="02000506020000090004" pitchFamily="2" charset="0"/>
              </a:rPr>
              <a:t>           </a:t>
            </a:r>
            <a:r>
              <a:rPr kumimoji="0" lang="en-US" altLang="zh-CN" sz="2300" b="1" dirty="0">
                <a:latin typeface="Input" panose="02000506020000090004" pitchFamily="2" charset="0"/>
              </a:rPr>
              <a:t>backtrack(t+1);</a:t>
            </a:r>
          </a:p>
          <a:p>
            <a:pPr eaLnBrk="1" hangingPunct="1">
              <a:spcBef>
                <a:spcPct val="0"/>
              </a:spcBef>
              <a:buFontTx/>
              <a:buNone/>
            </a:pPr>
            <a:r>
              <a:rPr kumimoji="0" lang="en-US" altLang="zh-CN" sz="2300" b="1" dirty="0">
                <a:latin typeface="Input" panose="02000506020000090004" pitchFamily="2" charset="0"/>
              </a:rPr>
              <a:t>      }</a:t>
            </a:r>
          </a:p>
          <a:p>
            <a:pPr eaLnBrk="1" hangingPunct="1">
              <a:spcBef>
                <a:spcPct val="0"/>
              </a:spcBef>
              <a:buFontTx/>
              <a:buNone/>
            </a:pPr>
            <a:r>
              <a:rPr kumimoji="0" lang="en-US" altLang="zh-CN" sz="2300" b="1" dirty="0">
                <a:latin typeface="Input" panose="02000506020000090004" pitchFamily="2" charset="0"/>
              </a:rPr>
              <a:t>}</a:t>
            </a:r>
          </a:p>
        </p:txBody>
      </p:sp>
      <p:sp>
        <p:nvSpPr>
          <p:cNvPr id="59396" name="Rectangle 4">
            <a:extLst>
              <a:ext uri="{FF2B5EF4-FFF2-40B4-BE49-F238E27FC236}">
                <a16:creationId xmlns:a16="http://schemas.microsoft.com/office/drawing/2014/main" id="{B0DE19C4-0040-43C0-AD21-7714556D547D}"/>
              </a:ext>
            </a:extLst>
          </p:cNvPr>
          <p:cNvSpPr>
            <a:spLocks noChangeArrowheads="1"/>
          </p:cNvSpPr>
          <p:nvPr/>
        </p:nvSpPr>
        <p:spPr bwMode="auto">
          <a:xfrm>
            <a:off x="4431136" y="1119188"/>
            <a:ext cx="4681090" cy="4800600"/>
          </a:xfrm>
          <a:prstGeom prst="rect">
            <a:avLst/>
          </a:prstGeom>
          <a:noFill/>
          <a:ln w="34925">
            <a:solidFill>
              <a:srgbClr val="FF9933"/>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dirty="0">
                <a:ea typeface="华文中宋" panose="02010600040101010101" pitchFamily="2" charset="-122"/>
              </a:rPr>
              <a:t>排列树</a:t>
            </a:r>
          </a:p>
          <a:p>
            <a:pPr eaLnBrk="1" hangingPunct="1"/>
            <a:r>
              <a:rPr kumimoji="0" lang="en-US" altLang="zh-CN" sz="2300" dirty="0">
                <a:latin typeface="Input" panose="02000506020000090004" pitchFamily="2" charset="0"/>
                <a:ea typeface="华文中宋" panose="02010600040101010101" pitchFamily="2" charset="-122"/>
              </a:rPr>
              <a:t>void backtrack (int t){</a:t>
            </a:r>
          </a:p>
          <a:p>
            <a:pPr eaLnBrk="1" hangingPunct="1"/>
            <a:r>
              <a:rPr kumimoji="0" lang="en-US" altLang="zh-CN" sz="2300" dirty="0">
                <a:latin typeface="Input" panose="02000506020000090004" pitchFamily="2" charset="0"/>
                <a:ea typeface="华文中宋" panose="02010600040101010101" pitchFamily="2" charset="-122"/>
              </a:rPr>
              <a:t>  if (t&gt;n) output(x);</a:t>
            </a:r>
          </a:p>
          <a:p>
            <a:pPr eaLnBrk="1" hangingPunct="1"/>
            <a:r>
              <a:rPr kumimoji="0" lang="en-US" altLang="zh-CN" sz="2300" dirty="0">
                <a:latin typeface="Input" panose="02000506020000090004" pitchFamily="2" charset="0"/>
                <a:ea typeface="华文中宋" panose="02010600040101010101" pitchFamily="2" charset="-122"/>
              </a:rPr>
              <a:t>    else</a:t>
            </a:r>
          </a:p>
          <a:p>
            <a:pPr eaLnBrk="1" hangingPunct="1"/>
            <a:r>
              <a:rPr kumimoji="0" lang="en-US" altLang="zh-CN" sz="2300" dirty="0">
                <a:latin typeface="Input" panose="02000506020000090004" pitchFamily="2" charset="0"/>
                <a:ea typeface="华文中宋" panose="02010600040101010101" pitchFamily="2" charset="-122"/>
              </a:rPr>
              <a:t>      for (int </a:t>
            </a:r>
            <a:r>
              <a:rPr kumimoji="0" lang="en-US" altLang="zh-CN" sz="2300" dirty="0" err="1">
                <a:latin typeface="Input" panose="02000506020000090004" pitchFamily="2" charset="0"/>
                <a:ea typeface="华文中宋" panose="02010600040101010101" pitchFamily="2" charset="-122"/>
              </a:rPr>
              <a:t>i</a:t>
            </a:r>
            <a:r>
              <a:rPr kumimoji="0" lang="en-US" altLang="zh-CN" sz="2300" dirty="0">
                <a:latin typeface="Input" panose="02000506020000090004" pitchFamily="2" charset="0"/>
                <a:ea typeface="华文中宋" panose="02010600040101010101" pitchFamily="2" charset="-122"/>
              </a:rPr>
              <a:t>=</a:t>
            </a:r>
            <a:r>
              <a:rPr kumimoji="0" lang="en-US" altLang="zh-CN" sz="2300" dirty="0" err="1">
                <a:latin typeface="Input" panose="02000506020000090004" pitchFamily="2" charset="0"/>
                <a:ea typeface="华文中宋" panose="02010600040101010101" pitchFamily="2" charset="-122"/>
              </a:rPr>
              <a:t>t;i</a:t>
            </a:r>
            <a:r>
              <a:rPr kumimoji="0" lang="en-US" altLang="zh-CN" sz="2300" dirty="0">
                <a:latin typeface="Input" panose="02000506020000090004" pitchFamily="2" charset="0"/>
                <a:ea typeface="华文中宋" panose="02010600040101010101" pitchFamily="2" charset="-122"/>
              </a:rPr>
              <a:t>&lt;=</a:t>
            </a:r>
            <a:r>
              <a:rPr kumimoji="0" lang="en-US" altLang="zh-CN" sz="2300" dirty="0" err="1">
                <a:latin typeface="Input" panose="02000506020000090004" pitchFamily="2" charset="0"/>
                <a:ea typeface="华文中宋" panose="02010600040101010101" pitchFamily="2" charset="-122"/>
              </a:rPr>
              <a:t>n;i</a:t>
            </a:r>
            <a:r>
              <a:rPr kumimoji="0" lang="en-US" altLang="zh-CN" sz="2300" dirty="0">
                <a:latin typeface="Input" panose="02000506020000090004" pitchFamily="2" charset="0"/>
                <a:ea typeface="华文中宋" panose="02010600040101010101" pitchFamily="2" charset="-122"/>
              </a:rPr>
              <a:t>++) {</a:t>
            </a:r>
          </a:p>
          <a:p>
            <a:pPr eaLnBrk="1" hangingPunct="1"/>
            <a:r>
              <a:rPr kumimoji="0" lang="en-US" altLang="zh-CN" sz="2300" dirty="0">
                <a:latin typeface="Input" panose="02000506020000090004" pitchFamily="2" charset="0"/>
                <a:ea typeface="华文中宋" panose="02010600040101010101" pitchFamily="2" charset="-122"/>
              </a:rPr>
              <a:t>        swap(x[t], x[</a:t>
            </a:r>
            <a:r>
              <a:rPr kumimoji="0" lang="en-US" altLang="zh-CN" sz="2300" dirty="0" err="1">
                <a:latin typeface="Input" panose="02000506020000090004" pitchFamily="2" charset="0"/>
                <a:ea typeface="华文中宋" panose="02010600040101010101" pitchFamily="2" charset="-122"/>
              </a:rPr>
              <a:t>i</a:t>
            </a:r>
            <a:r>
              <a:rPr kumimoji="0" lang="en-US" altLang="zh-CN" sz="2300" dirty="0">
                <a:latin typeface="Input" panose="02000506020000090004" pitchFamily="2" charset="0"/>
                <a:ea typeface="华文中宋" panose="02010600040101010101" pitchFamily="2" charset="-122"/>
              </a:rPr>
              <a:t>]);</a:t>
            </a:r>
          </a:p>
          <a:p>
            <a:pPr eaLnBrk="1" hangingPunct="1"/>
            <a:r>
              <a:rPr kumimoji="0" lang="en-US" altLang="zh-CN" sz="2300" dirty="0">
                <a:latin typeface="Input" panose="02000506020000090004" pitchFamily="2" charset="0"/>
                <a:ea typeface="华文中宋" panose="02010600040101010101" pitchFamily="2" charset="-122"/>
              </a:rPr>
              <a:t>        if (legal(t)) //</a:t>
            </a:r>
            <a:r>
              <a:rPr kumimoji="0" lang="zh-CN" altLang="en-US" sz="2300" dirty="0">
                <a:latin typeface="Input" panose="02000506020000090004" pitchFamily="2" charset="0"/>
                <a:ea typeface="华文中宋" panose="02010600040101010101" pitchFamily="2" charset="-122"/>
              </a:rPr>
              <a:t>若合法</a:t>
            </a:r>
          </a:p>
          <a:p>
            <a:pPr eaLnBrk="1" hangingPunct="1"/>
            <a:r>
              <a:rPr kumimoji="0" lang="zh-CN" altLang="en-US" sz="2300" dirty="0">
                <a:latin typeface="Input" panose="02000506020000090004" pitchFamily="2" charset="0"/>
                <a:ea typeface="华文中宋" panose="02010600040101010101" pitchFamily="2" charset="-122"/>
              </a:rPr>
              <a:t>            </a:t>
            </a:r>
            <a:r>
              <a:rPr kumimoji="0" lang="en-US" altLang="zh-CN" sz="2300" dirty="0">
                <a:latin typeface="Input" panose="02000506020000090004" pitchFamily="2" charset="0"/>
                <a:ea typeface="华文中宋" panose="02010600040101010101" pitchFamily="2" charset="-122"/>
              </a:rPr>
              <a:t>backtrack(t+1);</a:t>
            </a:r>
          </a:p>
          <a:p>
            <a:pPr eaLnBrk="1" hangingPunct="1"/>
            <a:r>
              <a:rPr kumimoji="0" lang="en-US" altLang="zh-CN" sz="2300" dirty="0">
                <a:latin typeface="Input" panose="02000506020000090004" pitchFamily="2" charset="0"/>
                <a:ea typeface="华文中宋" panose="02010600040101010101" pitchFamily="2" charset="-122"/>
              </a:rPr>
              <a:t>        swap(x[t], x[</a:t>
            </a:r>
            <a:r>
              <a:rPr kumimoji="0" lang="en-US" altLang="zh-CN" sz="2300" dirty="0" err="1">
                <a:latin typeface="Input" panose="02000506020000090004" pitchFamily="2" charset="0"/>
                <a:ea typeface="华文中宋" panose="02010600040101010101" pitchFamily="2" charset="-122"/>
              </a:rPr>
              <a:t>i</a:t>
            </a:r>
            <a:r>
              <a:rPr kumimoji="0" lang="en-US" altLang="zh-CN" sz="2300" dirty="0">
                <a:latin typeface="Input" panose="02000506020000090004" pitchFamily="2" charset="0"/>
                <a:ea typeface="华文中宋" panose="02010600040101010101" pitchFamily="2" charset="-122"/>
              </a:rPr>
              <a:t>]);</a:t>
            </a:r>
          </a:p>
          <a:p>
            <a:pPr eaLnBrk="1" hangingPunct="1"/>
            <a:r>
              <a:rPr kumimoji="0" lang="en-US" altLang="zh-CN" sz="2300" dirty="0">
                <a:latin typeface="Input" panose="02000506020000090004" pitchFamily="2" charset="0"/>
                <a:ea typeface="华文中宋" panose="02010600040101010101" pitchFamily="2" charset="-122"/>
              </a:rPr>
              <a:t>      }</a:t>
            </a:r>
          </a:p>
          <a:p>
            <a:pPr eaLnBrk="1" hangingPunct="1"/>
            <a:r>
              <a:rPr kumimoji="0" lang="en-US" altLang="zh-CN" sz="2300" dirty="0">
                <a:latin typeface="Input" panose="02000506020000090004" pitchFamily="2" charset="0"/>
                <a:ea typeface="华文中宋" panose="02010600040101010101" pitchFamily="2" charset="-122"/>
              </a:rPr>
              <a:t>}</a:t>
            </a:r>
          </a:p>
        </p:txBody>
      </p:sp>
      <p:sp>
        <p:nvSpPr>
          <p:cNvPr id="5" name="矩形 4">
            <a:extLst>
              <a:ext uri="{FF2B5EF4-FFF2-40B4-BE49-F238E27FC236}">
                <a16:creationId xmlns:a16="http://schemas.microsoft.com/office/drawing/2014/main" id="{10165809-145B-4272-9A5F-C5193F2C5EA0}"/>
              </a:ext>
            </a:extLst>
          </p:cNvPr>
          <p:cNvSpPr>
            <a:spLocks noChangeArrowheads="1"/>
          </p:cNvSpPr>
          <p:nvPr/>
        </p:nvSpPr>
        <p:spPr bwMode="auto">
          <a:xfrm>
            <a:off x="500063" y="6000750"/>
            <a:ext cx="5126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dirty="0">
                <a:ea typeface="华文中宋" panose="02010600040101010101" pitchFamily="2" charset="-122"/>
              </a:rPr>
              <a:t>legal(t)) </a:t>
            </a:r>
            <a:r>
              <a:rPr kumimoji="0" lang="zh-CN" altLang="en-US" dirty="0">
                <a:ea typeface="华文中宋" panose="02010600040101010101" pitchFamily="2" charset="-122"/>
              </a:rPr>
              <a:t>为</a:t>
            </a:r>
            <a:r>
              <a:rPr kumimoji="0" lang="en-US" altLang="zh-CN" dirty="0">
                <a:ea typeface="华文中宋" panose="02010600040101010101" pitchFamily="2" charset="-122"/>
              </a:rPr>
              <a:t>Constraint</a:t>
            </a:r>
            <a:r>
              <a:rPr kumimoji="0" lang="en-US" altLang="zh-CN" b="0" dirty="0">
                <a:ea typeface="华文中宋" panose="02010600040101010101" pitchFamily="2" charset="-122"/>
              </a:rPr>
              <a:t>(t)&amp;&amp;</a:t>
            </a:r>
            <a:r>
              <a:rPr kumimoji="0" lang="en-US" altLang="zh-CN" dirty="0">
                <a:ea typeface="华文中宋" panose="02010600040101010101" pitchFamily="2" charset="-122"/>
              </a:rPr>
              <a:t>Bound</a:t>
            </a:r>
            <a:r>
              <a:rPr kumimoji="0" lang="en-US" altLang="zh-CN" b="0" dirty="0">
                <a:ea typeface="华文中宋" panose="02010600040101010101" pitchFamily="2" charset="-122"/>
              </a:rPr>
              <a:t>(t)</a:t>
            </a:r>
            <a:endParaRPr lang="zh-CN" altLang="en-US"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6"/>
                                        </p:tgtEl>
                                        <p:attrNameLst>
                                          <p:attrName>style.visibility</p:attrName>
                                        </p:attrNameLst>
                                      </p:cBhvr>
                                      <p:to>
                                        <p:strVal val="visible"/>
                                      </p:to>
                                    </p:set>
                                    <p:anim calcmode="lin" valueType="num">
                                      <p:cBhvr additive="base">
                                        <p:cTn id="13" dur="500" fill="hold"/>
                                        <p:tgtEl>
                                          <p:spTgt spid="59396"/>
                                        </p:tgtEl>
                                        <p:attrNameLst>
                                          <p:attrName>ppt_x</p:attrName>
                                        </p:attrNameLst>
                                      </p:cBhvr>
                                      <p:tavLst>
                                        <p:tav tm="0">
                                          <p:val>
                                            <p:strVal val="0-#ppt_w/2"/>
                                          </p:val>
                                        </p:tav>
                                        <p:tav tm="100000">
                                          <p:val>
                                            <p:strVal val="#ppt_x"/>
                                          </p:val>
                                        </p:tav>
                                      </p:tavLst>
                                    </p:anim>
                                    <p:anim calcmode="lin" valueType="num">
                                      <p:cBhvr additive="base">
                                        <p:cTn id="14"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nimBg="1" autoUpdateAnimBg="0"/>
      <p:bldP spid="59396" grpId="0" animBg="1" autoUpdateAnimBg="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76D9D3F1-4D0C-4843-9C44-237D31C038B3}"/>
              </a:ext>
            </a:extLst>
          </p:cNvPr>
          <p:cNvSpPr>
            <a:spLocks noGrp="1"/>
          </p:cNvSpPr>
          <p:nvPr>
            <p:ph type="title"/>
          </p:nvPr>
        </p:nvSpPr>
        <p:spPr bwMode="auto">
          <a:xfrm>
            <a:off x="457200" y="274638"/>
            <a:ext cx="8229600" cy="7254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a:t>例：</a:t>
            </a:r>
            <a:r>
              <a:rPr lang="en-US" altLang="zh-CN" sz="4000" b="1"/>
              <a:t>n=3</a:t>
            </a:r>
            <a:r>
              <a:rPr lang="zh-CN" altLang="en-US" sz="4000" b="1"/>
              <a:t>的排列生成</a:t>
            </a:r>
          </a:p>
        </p:txBody>
      </p:sp>
      <p:sp>
        <p:nvSpPr>
          <p:cNvPr id="4" name="Rectangle 4">
            <a:extLst>
              <a:ext uri="{FF2B5EF4-FFF2-40B4-BE49-F238E27FC236}">
                <a16:creationId xmlns:a16="http://schemas.microsoft.com/office/drawing/2014/main" id="{F51B109A-D736-404B-B61C-61924B3D80B0}"/>
              </a:ext>
            </a:extLst>
          </p:cNvPr>
          <p:cNvSpPr>
            <a:spLocks noChangeArrowheads="1"/>
          </p:cNvSpPr>
          <p:nvPr/>
        </p:nvSpPr>
        <p:spPr bwMode="auto">
          <a:xfrm>
            <a:off x="285750" y="1071563"/>
            <a:ext cx="4429125" cy="5500687"/>
          </a:xfrm>
          <a:prstGeom prst="rect">
            <a:avLst/>
          </a:prstGeom>
          <a:noFill/>
          <a:ln w="34925">
            <a:solidFill>
              <a:srgbClr val="FF9933"/>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ea typeface="华文中宋" panose="02010600040101010101" pitchFamily="2" charset="-122"/>
              </a:rPr>
              <a:t>初始排列</a:t>
            </a:r>
            <a:r>
              <a:rPr kumimoji="0" lang="en-US" altLang="zh-CN" dirty="0">
                <a:ea typeface="华文中宋" panose="02010600040101010101" pitchFamily="2" charset="-122"/>
              </a:rPr>
              <a:t>x[]=1 2 3</a:t>
            </a:r>
          </a:p>
          <a:p>
            <a:pPr eaLnBrk="1" hangingPunct="1"/>
            <a:r>
              <a:rPr kumimoji="0" lang="en-US" altLang="zh-CN" dirty="0">
                <a:ea typeface="华文中宋" panose="02010600040101010101" pitchFamily="2" charset="-122"/>
              </a:rPr>
              <a:t>backtrack (1):  </a:t>
            </a:r>
            <a:r>
              <a:rPr kumimoji="0" lang="en-US" altLang="zh-CN" dirty="0">
                <a:solidFill>
                  <a:srgbClr val="FF0000"/>
                </a:solidFill>
                <a:ea typeface="华文中宋" panose="02010600040101010101" pitchFamily="2" charset="-122"/>
              </a:rPr>
              <a:t>// t=1</a:t>
            </a:r>
          </a:p>
          <a:p>
            <a:pPr eaLnBrk="1" hangingPunct="1"/>
            <a:r>
              <a:rPr kumimoji="0" lang="en-US" altLang="zh-CN" dirty="0">
                <a:ea typeface="华文中宋" panose="02010600040101010101" pitchFamily="2" charset="-122"/>
              </a:rPr>
              <a:t>   </a:t>
            </a:r>
            <a:r>
              <a:rPr kumimoji="0" lang="en-US" altLang="zh-CN" dirty="0" err="1">
                <a:ea typeface="华文中宋" panose="02010600040101010101" pitchFamily="2" charset="-122"/>
              </a:rPr>
              <a:t>i</a:t>
            </a:r>
            <a:r>
              <a:rPr kumimoji="0" lang="en-US" altLang="zh-CN" dirty="0">
                <a:ea typeface="华文中宋" panose="02010600040101010101" pitchFamily="2" charset="-122"/>
              </a:rPr>
              <a:t>=1..3 </a:t>
            </a:r>
            <a:r>
              <a:rPr kumimoji="0" lang="zh-CN" altLang="en-US" dirty="0">
                <a:ea typeface="华文中宋" panose="02010600040101010101" pitchFamily="2" charset="-122"/>
              </a:rPr>
              <a:t>分别做</a:t>
            </a:r>
            <a:r>
              <a:rPr kumimoji="0" lang="en-US" altLang="zh-CN" dirty="0">
                <a:ea typeface="华文中宋" panose="02010600040101010101" pitchFamily="2" charset="-122"/>
              </a:rPr>
              <a:t>{ swap(x[t], x[</a:t>
            </a:r>
            <a:r>
              <a:rPr kumimoji="0" lang="en-US" altLang="zh-CN" dirty="0" err="1">
                <a:ea typeface="华文中宋" panose="02010600040101010101" pitchFamily="2" charset="-122"/>
              </a:rPr>
              <a:t>i</a:t>
            </a:r>
            <a:r>
              <a:rPr kumimoji="0" lang="en-US" altLang="zh-CN" dirty="0">
                <a:ea typeface="华文中宋" panose="02010600040101010101" pitchFamily="2" charset="-122"/>
              </a:rPr>
              <a:t>]);</a:t>
            </a:r>
          </a:p>
          <a:p>
            <a:pPr eaLnBrk="1" hangingPunct="1"/>
            <a:r>
              <a:rPr kumimoji="0" lang="en-US" altLang="zh-CN" dirty="0">
                <a:ea typeface="华文中宋" panose="02010600040101010101" pitchFamily="2" charset="-122"/>
              </a:rPr>
              <a:t>        </a:t>
            </a:r>
            <a:r>
              <a:rPr kumimoji="0" lang="zh-CN" altLang="en-US" dirty="0">
                <a:solidFill>
                  <a:srgbClr val="FF0000"/>
                </a:solidFill>
                <a:ea typeface="华文中宋" panose="02010600040101010101" pitchFamily="2" charset="-122"/>
              </a:rPr>
              <a:t>做</a:t>
            </a:r>
            <a:r>
              <a:rPr kumimoji="0" lang="en-US" altLang="zh-CN" dirty="0">
                <a:solidFill>
                  <a:srgbClr val="FF0000"/>
                </a:solidFill>
                <a:ea typeface="华文中宋" panose="02010600040101010101" pitchFamily="2" charset="-122"/>
              </a:rPr>
              <a:t>backtrack(2)</a:t>
            </a:r>
            <a:r>
              <a:rPr kumimoji="0" lang="en-US" altLang="zh-CN" dirty="0">
                <a:ea typeface="华文中宋" panose="02010600040101010101" pitchFamily="2" charset="-122"/>
              </a:rPr>
              <a:t>; </a:t>
            </a:r>
            <a:r>
              <a:rPr kumimoji="0" lang="en-US" altLang="zh-CN" dirty="0">
                <a:solidFill>
                  <a:srgbClr val="FF0000"/>
                </a:solidFill>
                <a:ea typeface="华文中宋" panose="02010600040101010101" pitchFamily="2" charset="-122"/>
              </a:rPr>
              <a:t>// t=2</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        swap(x[t], x[</a:t>
            </a:r>
            <a:r>
              <a:rPr kumimoji="0" lang="en-US" altLang="zh-CN" dirty="0" err="1">
                <a:ea typeface="华文中宋" panose="02010600040101010101" pitchFamily="2" charset="-122"/>
              </a:rPr>
              <a:t>i</a:t>
            </a:r>
            <a:r>
              <a:rPr kumimoji="0" lang="en-US" altLang="zh-CN" dirty="0">
                <a:ea typeface="华文中宋" panose="02010600040101010101" pitchFamily="2" charset="-122"/>
              </a:rPr>
              <a:t>]);  } </a:t>
            </a:r>
            <a:r>
              <a:rPr kumimoji="0" lang="zh-CN" altLang="en-US" dirty="0">
                <a:ea typeface="华文中宋" panose="02010600040101010101" pitchFamily="2" charset="-122"/>
              </a:rPr>
              <a:t>分别讨论</a:t>
            </a:r>
            <a:endParaRPr kumimoji="0" lang="en-US" altLang="zh-CN" dirty="0">
              <a:ea typeface="华文中宋" panose="02010600040101010101" pitchFamily="2" charset="-122"/>
            </a:endParaRPr>
          </a:p>
          <a:p>
            <a:pPr eaLnBrk="1" hangingPunct="1">
              <a:spcBef>
                <a:spcPts val="1200"/>
              </a:spcBef>
            </a:pPr>
            <a:r>
              <a:rPr kumimoji="0" lang="en-US" altLang="zh-CN" dirty="0" err="1">
                <a:ea typeface="华文中宋" panose="02010600040101010101" pitchFamily="2" charset="-122"/>
              </a:rPr>
              <a:t>i</a:t>
            </a:r>
            <a:r>
              <a:rPr kumimoji="0" lang="en-US" altLang="zh-CN" dirty="0">
                <a:ea typeface="华文中宋" panose="02010600040101010101" pitchFamily="2" charset="-122"/>
              </a:rPr>
              <a:t>=1</a:t>
            </a:r>
            <a:r>
              <a:rPr kumimoji="0" lang="zh-CN" altLang="en-US" dirty="0">
                <a:ea typeface="华文中宋" panose="02010600040101010101" pitchFamily="2" charset="-122"/>
              </a:rPr>
              <a:t>时，开始</a:t>
            </a:r>
            <a:r>
              <a:rPr kumimoji="0" lang="en-US" altLang="zh-CN" dirty="0">
                <a:ea typeface="华文中宋" panose="02010600040101010101" pitchFamily="2" charset="-122"/>
              </a:rPr>
              <a:t>x[]=1 2 3</a:t>
            </a:r>
            <a:r>
              <a:rPr kumimoji="0" lang="zh-CN" altLang="en-US" dirty="0">
                <a:ea typeface="华文中宋" panose="02010600040101010101" pitchFamily="2" charset="-122"/>
              </a:rPr>
              <a:t>，</a:t>
            </a:r>
            <a:r>
              <a:rPr kumimoji="0" lang="en-US" altLang="zh-CN" dirty="0">
                <a:solidFill>
                  <a:srgbClr val="FF0000"/>
                </a:solidFill>
                <a:ea typeface="华文中宋" panose="02010600040101010101" pitchFamily="2" charset="-122"/>
              </a:rPr>
              <a:t>t=1</a:t>
            </a:r>
            <a:r>
              <a:rPr kumimoji="0" lang="en-US" altLang="zh-CN" dirty="0">
                <a:ea typeface="华文中宋" panose="02010600040101010101" pitchFamily="2" charset="-122"/>
              </a:rPr>
              <a:t>,</a:t>
            </a:r>
            <a:r>
              <a:rPr kumimoji="0" lang="zh-CN" altLang="en-US" dirty="0">
                <a:ea typeface="华文中宋" panose="02010600040101010101" pitchFamily="2" charset="-122"/>
              </a:rPr>
              <a:t>未交换仍为</a:t>
            </a:r>
            <a:r>
              <a:rPr kumimoji="0" lang="en-US" altLang="zh-CN" dirty="0">
                <a:ea typeface="华文中宋" panose="02010600040101010101" pitchFamily="2" charset="-122"/>
              </a:rPr>
              <a:t>123</a:t>
            </a:r>
            <a:r>
              <a:rPr kumimoji="0" lang="zh-CN" altLang="en-US" dirty="0">
                <a:ea typeface="华文中宋" panose="02010600040101010101" pitchFamily="2" charset="-122"/>
              </a:rPr>
              <a:t>，做 </a:t>
            </a:r>
            <a:r>
              <a:rPr kumimoji="0" lang="en-US" altLang="zh-CN" dirty="0">
                <a:ea typeface="华文中宋" panose="02010600040101010101" pitchFamily="2" charset="-122"/>
              </a:rPr>
              <a:t>backtrack(2)</a:t>
            </a:r>
            <a:r>
              <a:rPr kumimoji="0" lang="zh-CN" altLang="en-US" dirty="0">
                <a:ea typeface="华文中宋" panose="02010600040101010101" pitchFamily="2" charset="-122"/>
              </a:rPr>
              <a:t>后，</a:t>
            </a:r>
            <a:r>
              <a:rPr kumimoji="0" lang="zh-CN" altLang="en-US" dirty="0">
                <a:solidFill>
                  <a:srgbClr val="0000CC"/>
                </a:solidFill>
                <a:ea typeface="华文中宋" panose="02010600040101010101" pitchFamily="2" charset="-122"/>
              </a:rPr>
              <a:t>分别</a:t>
            </a:r>
            <a:r>
              <a:rPr kumimoji="0" lang="zh-CN" altLang="en-US" dirty="0">
                <a:solidFill>
                  <a:srgbClr val="3333CC"/>
                </a:solidFill>
                <a:ea typeface="华文中宋" panose="02010600040101010101" pitchFamily="2" charset="-122"/>
              </a:rPr>
              <a:t>输出</a:t>
            </a:r>
            <a:r>
              <a:rPr kumimoji="0" lang="en-US" altLang="zh-CN" dirty="0">
                <a:solidFill>
                  <a:srgbClr val="3333CC"/>
                </a:solidFill>
                <a:ea typeface="华文中宋" panose="02010600040101010101" pitchFamily="2" charset="-122"/>
              </a:rPr>
              <a:t>123</a:t>
            </a:r>
            <a:r>
              <a:rPr kumimoji="0" lang="zh-CN" altLang="en-US" dirty="0">
                <a:solidFill>
                  <a:srgbClr val="3333CC"/>
                </a:solidFill>
                <a:ea typeface="华文中宋" panose="02010600040101010101" pitchFamily="2" charset="-122"/>
              </a:rPr>
              <a:t>与</a:t>
            </a:r>
            <a:r>
              <a:rPr kumimoji="0" lang="en-US" altLang="zh-CN" dirty="0">
                <a:solidFill>
                  <a:srgbClr val="3333CC"/>
                </a:solidFill>
                <a:ea typeface="华文中宋" panose="02010600040101010101" pitchFamily="2" charset="-122"/>
              </a:rPr>
              <a:t>132</a:t>
            </a:r>
          </a:p>
          <a:p>
            <a:pPr eaLnBrk="1" hangingPunct="1"/>
            <a:r>
              <a:rPr kumimoji="0" lang="en-US" altLang="zh-CN" dirty="0" err="1">
                <a:ea typeface="华文中宋" panose="02010600040101010101" pitchFamily="2" charset="-122"/>
              </a:rPr>
              <a:t>i</a:t>
            </a:r>
            <a:r>
              <a:rPr kumimoji="0" lang="en-US" altLang="zh-CN" dirty="0">
                <a:ea typeface="华文中宋" panose="02010600040101010101" pitchFamily="2" charset="-122"/>
              </a:rPr>
              <a:t>=2</a:t>
            </a:r>
            <a:r>
              <a:rPr kumimoji="0" lang="zh-CN" altLang="en-US" dirty="0">
                <a:ea typeface="华文中宋" panose="02010600040101010101" pitchFamily="2" charset="-122"/>
              </a:rPr>
              <a:t>时，</a:t>
            </a:r>
            <a:r>
              <a:rPr kumimoji="0" lang="en-US" altLang="zh-CN" dirty="0">
                <a:ea typeface="华文中宋" panose="02010600040101010101" pitchFamily="2" charset="-122"/>
              </a:rPr>
              <a:t>x[]=123</a:t>
            </a:r>
            <a:r>
              <a:rPr kumimoji="0" lang="zh-CN" altLang="en-US" dirty="0">
                <a:ea typeface="华文中宋" panose="02010600040101010101" pitchFamily="2" charset="-122"/>
              </a:rPr>
              <a:t>经交换后为</a:t>
            </a:r>
            <a:r>
              <a:rPr kumimoji="0" lang="en-US" altLang="zh-CN" dirty="0">
                <a:ea typeface="华文中宋" panose="02010600040101010101" pitchFamily="2" charset="-122"/>
              </a:rPr>
              <a:t>213</a:t>
            </a:r>
          </a:p>
          <a:p>
            <a:pPr eaLnBrk="1" hangingPunct="1"/>
            <a:r>
              <a:rPr kumimoji="0" lang="en-US" altLang="zh-CN" dirty="0">
                <a:ea typeface="华文中宋" panose="02010600040101010101" pitchFamily="2" charset="-122"/>
              </a:rPr>
              <a:t>    </a:t>
            </a:r>
            <a:r>
              <a:rPr kumimoji="0" lang="zh-CN" altLang="en-US" dirty="0">
                <a:ea typeface="华文中宋" panose="02010600040101010101" pitchFamily="2" charset="-122"/>
              </a:rPr>
              <a:t>做</a:t>
            </a:r>
            <a:r>
              <a:rPr kumimoji="0" lang="en-US" altLang="zh-CN" dirty="0">
                <a:ea typeface="华文中宋" panose="02010600040101010101" pitchFamily="2" charset="-122"/>
              </a:rPr>
              <a:t>backtrack(2)</a:t>
            </a:r>
            <a:r>
              <a:rPr kumimoji="0" lang="zh-CN" altLang="en-US" dirty="0">
                <a:ea typeface="华文中宋" panose="02010600040101010101" pitchFamily="2" charset="-122"/>
              </a:rPr>
              <a:t>后，</a:t>
            </a:r>
            <a:r>
              <a:rPr kumimoji="0" lang="zh-CN" altLang="en-US" dirty="0">
                <a:solidFill>
                  <a:srgbClr val="0000CC"/>
                </a:solidFill>
                <a:ea typeface="华文中宋" panose="02010600040101010101" pitchFamily="2" charset="-122"/>
              </a:rPr>
              <a:t>分别</a:t>
            </a:r>
            <a:r>
              <a:rPr kumimoji="0" lang="zh-CN" altLang="en-US" dirty="0">
                <a:solidFill>
                  <a:srgbClr val="3333CC"/>
                </a:solidFill>
                <a:ea typeface="华文中宋" panose="02010600040101010101" pitchFamily="2" charset="-122"/>
              </a:rPr>
              <a:t>输出</a:t>
            </a:r>
            <a:r>
              <a:rPr kumimoji="0" lang="en-US" altLang="zh-CN" dirty="0">
                <a:solidFill>
                  <a:srgbClr val="3333CC"/>
                </a:solidFill>
                <a:ea typeface="华文中宋" panose="02010600040101010101" pitchFamily="2" charset="-122"/>
              </a:rPr>
              <a:t>213</a:t>
            </a:r>
            <a:r>
              <a:rPr kumimoji="0" lang="zh-CN" altLang="en-US" dirty="0">
                <a:solidFill>
                  <a:srgbClr val="3333CC"/>
                </a:solidFill>
                <a:ea typeface="华文中宋" panose="02010600040101010101" pitchFamily="2" charset="-122"/>
              </a:rPr>
              <a:t>与</a:t>
            </a:r>
            <a:r>
              <a:rPr kumimoji="0" lang="en-US" altLang="zh-CN" dirty="0">
                <a:solidFill>
                  <a:srgbClr val="3333CC"/>
                </a:solidFill>
                <a:ea typeface="华文中宋" panose="02010600040101010101" pitchFamily="2" charset="-122"/>
              </a:rPr>
              <a:t>231</a:t>
            </a:r>
          </a:p>
          <a:p>
            <a:pPr eaLnBrk="1" hangingPunct="1"/>
            <a:r>
              <a:rPr kumimoji="0" lang="en-US" altLang="zh-CN" dirty="0" err="1">
                <a:ea typeface="华文中宋" panose="02010600040101010101" pitchFamily="2" charset="-122"/>
              </a:rPr>
              <a:t>i</a:t>
            </a:r>
            <a:r>
              <a:rPr kumimoji="0" lang="en-US" altLang="zh-CN" dirty="0">
                <a:ea typeface="华文中宋" panose="02010600040101010101" pitchFamily="2" charset="-122"/>
              </a:rPr>
              <a:t>=3</a:t>
            </a:r>
            <a:r>
              <a:rPr kumimoji="0" lang="zh-CN" altLang="en-US" dirty="0">
                <a:ea typeface="华文中宋" panose="02010600040101010101" pitchFamily="2" charset="-122"/>
              </a:rPr>
              <a:t>时，</a:t>
            </a:r>
            <a:r>
              <a:rPr kumimoji="0" lang="en-US" altLang="zh-CN" dirty="0">
                <a:ea typeface="华文中宋" panose="02010600040101010101" pitchFamily="2" charset="-122"/>
              </a:rPr>
              <a:t>x[]=123</a:t>
            </a:r>
            <a:r>
              <a:rPr kumimoji="0" lang="zh-CN" altLang="en-US" dirty="0">
                <a:ea typeface="华文中宋" panose="02010600040101010101" pitchFamily="2" charset="-122"/>
              </a:rPr>
              <a:t>经交换后为</a:t>
            </a:r>
            <a:r>
              <a:rPr kumimoji="0" lang="en-US" altLang="zh-CN" dirty="0">
                <a:ea typeface="华文中宋" panose="02010600040101010101" pitchFamily="2" charset="-122"/>
              </a:rPr>
              <a:t>321</a:t>
            </a:r>
          </a:p>
          <a:p>
            <a:pPr eaLnBrk="1" hangingPunct="1"/>
            <a:r>
              <a:rPr kumimoji="0" lang="en-US" altLang="zh-CN" dirty="0">
                <a:ea typeface="华文中宋" panose="02010600040101010101" pitchFamily="2" charset="-122"/>
              </a:rPr>
              <a:t>    </a:t>
            </a:r>
            <a:r>
              <a:rPr kumimoji="0" lang="zh-CN" altLang="en-US" dirty="0">
                <a:ea typeface="华文中宋" panose="02010600040101010101" pitchFamily="2" charset="-122"/>
              </a:rPr>
              <a:t>做</a:t>
            </a:r>
            <a:r>
              <a:rPr kumimoji="0" lang="en-US" altLang="zh-CN" dirty="0">
                <a:ea typeface="华文中宋" panose="02010600040101010101" pitchFamily="2" charset="-122"/>
              </a:rPr>
              <a:t>backtrack(2)</a:t>
            </a:r>
            <a:r>
              <a:rPr kumimoji="0" lang="zh-CN" altLang="en-US" dirty="0">
                <a:ea typeface="华文中宋" panose="02010600040101010101" pitchFamily="2" charset="-122"/>
              </a:rPr>
              <a:t>后，</a:t>
            </a:r>
            <a:r>
              <a:rPr kumimoji="0" lang="zh-CN" altLang="en-US" dirty="0">
                <a:solidFill>
                  <a:srgbClr val="0000CC"/>
                </a:solidFill>
                <a:ea typeface="华文中宋" panose="02010600040101010101" pitchFamily="2" charset="-122"/>
              </a:rPr>
              <a:t>分别</a:t>
            </a:r>
            <a:r>
              <a:rPr kumimoji="0" lang="zh-CN" altLang="en-US" dirty="0">
                <a:solidFill>
                  <a:srgbClr val="3333CC"/>
                </a:solidFill>
                <a:ea typeface="华文中宋" panose="02010600040101010101" pitchFamily="2" charset="-122"/>
              </a:rPr>
              <a:t>输出</a:t>
            </a:r>
            <a:r>
              <a:rPr kumimoji="0" lang="en-US" altLang="zh-CN" dirty="0">
                <a:solidFill>
                  <a:srgbClr val="3333CC"/>
                </a:solidFill>
                <a:ea typeface="华文中宋" panose="02010600040101010101" pitchFamily="2" charset="-122"/>
              </a:rPr>
              <a:t>312</a:t>
            </a:r>
            <a:r>
              <a:rPr kumimoji="0" lang="zh-CN" altLang="en-US" dirty="0">
                <a:solidFill>
                  <a:srgbClr val="3333CC"/>
                </a:solidFill>
                <a:ea typeface="华文中宋" panose="02010600040101010101" pitchFamily="2" charset="-122"/>
              </a:rPr>
              <a:t>与</a:t>
            </a:r>
            <a:r>
              <a:rPr kumimoji="0" lang="en-US" altLang="zh-CN" dirty="0">
                <a:solidFill>
                  <a:srgbClr val="3333CC"/>
                </a:solidFill>
                <a:ea typeface="华文中宋" panose="02010600040101010101" pitchFamily="2" charset="-122"/>
              </a:rPr>
              <a:t>321</a:t>
            </a: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p:txBody>
      </p:sp>
      <p:sp>
        <p:nvSpPr>
          <p:cNvPr id="5" name="Rectangle 4">
            <a:extLst>
              <a:ext uri="{FF2B5EF4-FFF2-40B4-BE49-F238E27FC236}">
                <a16:creationId xmlns:a16="http://schemas.microsoft.com/office/drawing/2014/main" id="{14C2A466-BA77-4135-AC6A-9F9243FAC481}"/>
              </a:ext>
            </a:extLst>
          </p:cNvPr>
          <p:cNvSpPr>
            <a:spLocks noChangeArrowheads="1"/>
          </p:cNvSpPr>
          <p:nvPr/>
        </p:nvSpPr>
        <p:spPr bwMode="auto">
          <a:xfrm>
            <a:off x="4786313" y="1071563"/>
            <a:ext cx="4143375" cy="5500687"/>
          </a:xfrm>
          <a:prstGeom prst="rect">
            <a:avLst/>
          </a:prstGeom>
          <a:noFill/>
          <a:ln w="34925">
            <a:solidFill>
              <a:srgbClr val="FF9933"/>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ea typeface="华文中宋" panose="02010600040101010101" pitchFamily="2" charset="-122"/>
              </a:rPr>
              <a:t>对排列</a:t>
            </a:r>
            <a:r>
              <a:rPr kumimoji="0" lang="en-US" altLang="zh-CN" dirty="0">
                <a:ea typeface="华文中宋" panose="02010600040101010101" pitchFamily="2" charset="-122"/>
              </a:rPr>
              <a:t>x[]=x1, x2, x3</a:t>
            </a:r>
          </a:p>
          <a:p>
            <a:pPr eaLnBrk="1" hangingPunct="1"/>
            <a:r>
              <a:rPr kumimoji="0" lang="en-US" altLang="zh-CN" dirty="0">
                <a:solidFill>
                  <a:srgbClr val="FF0000"/>
                </a:solidFill>
                <a:ea typeface="华文中宋" panose="02010600040101010101" pitchFamily="2" charset="-122"/>
              </a:rPr>
              <a:t>backtrack (2)</a:t>
            </a:r>
            <a:r>
              <a:rPr kumimoji="0" lang="en-US" altLang="zh-CN" dirty="0">
                <a:ea typeface="华文中宋" panose="02010600040101010101" pitchFamily="2" charset="-122"/>
              </a:rPr>
              <a:t>:</a:t>
            </a:r>
            <a:r>
              <a:rPr kumimoji="0" lang="en-US" altLang="zh-CN" dirty="0">
                <a:solidFill>
                  <a:srgbClr val="FF0000"/>
                </a:solidFill>
                <a:ea typeface="华文中宋" panose="02010600040101010101" pitchFamily="2" charset="-122"/>
              </a:rPr>
              <a:t> // t=2</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   j=2..3</a:t>
            </a:r>
            <a:r>
              <a:rPr kumimoji="0" lang="zh-CN" altLang="en-US" dirty="0">
                <a:ea typeface="华文中宋" panose="02010600040101010101" pitchFamily="2" charset="-122"/>
              </a:rPr>
              <a:t>做</a:t>
            </a:r>
            <a:r>
              <a:rPr kumimoji="0" lang="en-US" altLang="zh-CN" dirty="0">
                <a:ea typeface="华文中宋" panose="02010600040101010101" pitchFamily="2" charset="-122"/>
              </a:rPr>
              <a:t>{</a:t>
            </a:r>
          </a:p>
          <a:p>
            <a:pPr eaLnBrk="1" hangingPunct="1"/>
            <a:r>
              <a:rPr kumimoji="0" lang="en-US" altLang="zh-CN" dirty="0">
                <a:ea typeface="华文中宋" panose="02010600040101010101" pitchFamily="2" charset="-122"/>
              </a:rPr>
              <a:t>        swap(x[2], x[j]);</a:t>
            </a:r>
          </a:p>
          <a:p>
            <a:pPr eaLnBrk="1" hangingPunct="1"/>
            <a:r>
              <a:rPr kumimoji="0" lang="en-US" altLang="zh-CN" dirty="0">
                <a:ea typeface="华文中宋" panose="02010600040101010101" pitchFamily="2" charset="-122"/>
              </a:rPr>
              <a:t>        backtrack(3);</a:t>
            </a:r>
            <a:r>
              <a:rPr kumimoji="0" lang="en-US" altLang="zh-CN" dirty="0">
                <a:solidFill>
                  <a:srgbClr val="FF0000"/>
                </a:solidFill>
                <a:ea typeface="华文中宋" panose="02010600040101010101" pitchFamily="2" charset="-122"/>
              </a:rPr>
              <a:t> // t=3</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        swap(x[2], x[j]);</a:t>
            </a:r>
          </a:p>
          <a:p>
            <a:pPr eaLnBrk="1" hangingPunct="1"/>
            <a:r>
              <a:rPr kumimoji="0" lang="en-US" altLang="zh-CN" dirty="0">
                <a:ea typeface="华文中宋" panose="02010600040101010101" pitchFamily="2" charset="-122"/>
              </a:rPr>
              <a:t>      }</a:t>
            </a:r>
          </a:p>
          <a:p>
            <a:pPr eaLnBrk="1" hangingPunct="1">
              <a:spcBef>
                <a:spcPts val="1200"/>
              </a:spcBef>
            </a:pPr>
            <a:r>
              <a:rPr kumimoji="0" lang="zh-CN" altLang="en-US" dirty="0">
                <a:solidFill>
                  <a:srgbClr val="0000CC"/>
                </a:solidFill>
                <a:ea typeface="华文中宋" panose="02010600040101010101" pitchFamily="2" charset="-122"/>
              </a:rPr>
              <a:t>分别讨论：</a:t>
            </a:r>
            <a:endParaRPr kumimoji="0" lang="en-US" altLang="zh-CN" dirty="0">
              <a:solidFill>
                <a:srgbClr val="0000CC"/>
              </a:solidFill>
              <a:ea typeface="华文中宋" panose="02010600040101010101" pitchFamily="2" charset="-122"/>
            </a:endParaRPr>
          </a:p>
          <a:p>
            <a:pPr eaLnBrk="1" hangingPunct="1"/>
            <a:r>
              <a:rPr kumimoji="0" lang="en-US" altLang="zh-CN" dirty="0">
                <a:ea typeface="华文中宋" panose="02010600040101010101" pitchFamily="2" charset="-122"/>
              </a:rPr>
              <a:t>j=2</a:t>
            </a:r>
            <a:r>
              <a:rPr kumimoji="0" lang="zh-CN" altLang="en-US" dirty="0">
                <a:ea typeface="华文中宋" panose="02010600040101010101" pitchFamily="2" charset="-122"/>
              </a:rPr>
              <a:t>时，</a:t>
            </a:r>
            <a:r>
              <a:rPr kumimoji="0" lang="en-US" altLang="zh-CN" dirty="0">
                <a:ea typeface="华文中宋" panose="02010600040101010101" pitchFamily="2" charset="-122"/>
              </a:rPr>
              <a:t> x[]</a:t>
            </a:r>
            <a:r>
              <a:rPr kumimoji="0" lang="zh-CN" altLang="en-US" dirty="0">
                <a:ea typeface="华文中宋" panose="02010600040101010101" pitchFamily="2" charset="-122"/>
              </a:rPr>
              <a:t>仍为</a:t>
            </a:r>
            <a:r>
              <a:rPr kumimoji="0" lang="en-US" altLang="zh-CN" dirty="0">
                <a:ea typeface="华文中宋" panose="02010600040101010101" pitchFamily="2" charset="-122"/>
              </a:rPr>
              <a:t>x1, x2, x3</a:t>
            </a:r>
          </a:p>
          <a:p>
            <a:pPr eaLnBrk="1" hangingPunct="1"/>
            <a:r>
              <a:rPr kumimoji="0" lang="en-US" altLang="zh-CN" dirty="0">
                <a:ea typeface="华文中宋" panose="02010600040101010101" pitchFamily="2" charset="-122"/>
              </a:rPr>
              <a:t>      </a:t>
            </a:r>
            <a:r>
              <a:rPr kumimoji="0" lang="zh-CN" altLang="en-US" dirty="0">
                <a:ea typeface="华文中宋" panose="02010600040101010101" pitchFamily="2" charset="-122"/>
              </a:rPr>
              <a:t>经</a:t>
            </a:r>
            <a:r>
              <a:rPr kumimoji="0" lang="en-US" altLang="zh-CN" dirty="0">
                <a:ea typeface="华文中宋" panose="02010600040101010101" pitchFamily="2" charset="-122"/>
              </a:rPr>
              <a:t>backtrack(3)</a:t>
            </a:r>
            <a:r>
              <a:rPr kumimoji="0" lang="zh-CN" altLang="en-US" dirty="0">
                <a:ea typeface="华文中宋" panose="02010600040101010101" pitchFamily="2" charset="-122"/>
              </a:rPr>
              <a:t>后</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      x[]</a:t>
            </a:r>
            <a:r>
              <a:rPr kumimoji="0" lang="zh-CN" altLang="en-US" dirty="0">
                <a:ea typeface="华文中宋" panose="02010600040101010101" pitchFamily="2" charset="-122"/>
              </a:rPr>
              <a:t>仍为</a:t>
            </a:r>
            <a:r>
              <a:rPr kumimoji="0" lang="en-US" altLang="zh-CN" dirty="0">
                <a:ea typeface="华文中宋" panose="02010600040101010101" pitchFamily="2" charset="-122"/>
              </a:rPr>
              <a:t>x1 x2 x3</a:t>
            </a:r>
            <a:r>
              <a:rPr kumimoji="0" lang="zh-CN" altLang="en-US" dirty="0">
                <a:ea typeface="华文中宋" panose="02010600040101010101" pitchFamily="2" charset="-122"/>
              </a:rPr>
              <a:t>并输出</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j=3</a:t>
            </a:r>
            <a:r>
              <a:rPr kumimoji="0" lang="zh-CN" altLang="en-US" dirty="0">
                <a:ea typeface="华文中宋" panose="02010600040101010101" pitchFamily="2" charset="-122"/>
              </a:rPr>
              <a:t>时，</a:t>
            </a:r>
            <a:r>
              <a:rPr kumimoji="0" lang="en-US" altLang="zh-CN" dirty="0">
                <a:ea typeface="华文中宋" panose="02010600040101010101" pitchFamily="2" charset="-122"/>
              </a:rPr>
              <a:t> x[]</a:t>
            </a:r>
            <a:r>
              <a:rPr kumimoji="0" lang="zh-CN" altLang="en-US" dirty="0">
                <a:ea typeface="华文中宋" panose="02010600040101010101" pitchFamily="2" charset="-122"/>
              </a:rPr>
              <a:t>变为</a:t>
            </a:r>
            <a:r>
              <a:rPr kumimoji="0" lang="en-US" altLang="zh-CN" dirty="0">
                <a:ea typeface="华文中宋" panose="02010600040101010101" pitchFamily="2" charset="-122"/>
              </a:rPr>
              <a:t>x1 x3 x2</a:t>
            </a:r>
          </a:p>
          <a:p>
            <a:pPr eaLnBrk="1" hangingPunct="1"/>
            <a:r>
              <a:rPr kumimoji="0" lang="en-US" altLang="zh-CN" dirty="0">
                <a:ea typeface="华文中宋" panose="02010600040101010101" pitchFamily="2" charset="-122"/>
              </a:rPr>
              <a:t>      </a:t>
            </a:r>
            <a:r>
              <a:rPr kumimoji="0" lang="zh-CN" altLang="en-US" dirty="0">
                <a:ea typeface="华文中宋" panose="02010600040101010101" pitchFamily="2" charset="-122"/>
              </a:rPr>
              <a:t>经</a:t>
            </a:r>
            <a:r>
              <a:rPr kumimoji="0" lang="en-US" altLang="zh-CN" dirty="0">
                <a:ea typeface="华文中宋" panose="02010600040101010101" pitchFamily="2" charset="-122"/>
              </a:rPr>
              <a:t>backtrack(3)</a:t>
            </a:r>
            <a:r>
              <a:rPr kumimoji="0" lang="zh-CN" altLang="en-US" dirty="0">
                <a:ea typeface="华文中宋" panose="02010600040101010101" pitchFamily="2" charset="-122"/>
              </a:rPr>
              <a:t>后</a:t>
            </a:r>
            <a:endParaRPr kumimoji="0" lang="en-US" altLang="zh-CN" dirty="0">
              <a:ea typeface="华文中宋" panose="02010600040101010101" pitchFamily="2" charset="-122"/>
            </a:endParaRPr>
          </a:p>
          <a:p>
            <a:pPr eaLnBrk="1" hangingPunct="1"/>
            <a:r>
              <a:rPr kumimoji="0" lang="en-US" altLang="zh-CN" dirty="0">
                <a:ea typeface="华文中宋" panose="02010600040101010101" pitchFamily="2" charset="-122"/>
              </a:rPr>
              <a:t>      x[]</a:t>
            </a:r>
            <a:r>
              <a:rPr kumimoji="0" lang="zh-CN" altLang="en-US" dirty="0">
                <a:ea typeface="华文中宋" panose="02010600040101010101" pitchFamily="2" charset="-122"/>
              </a:rPr>
              <a:t>仍为</a:t>
            </a:r>
            <a:r>
              <a:rPr kumimoji="0" lang="en-US" altLang="zh-CN" dirty="0">
                <a:ea typeface="华文中宋" panose="02010600040101010101" pitchFamily="2" charset="-122"/>
              </a:rPr>
              <a:t>x1 x3 x2</a:t>
            </a:r>
            <a:r>
              <a:rPr kumimoji="0" lang="zh-CN" altLang="en-US" dirty="0">
                <a:ea typeface="华文中宋" panose="02010600040101010101" pitchFamily="2" charset="-122"/>
              </a:rPr>
              <a:t>并输出</a:t>
            </a:r>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a:p>
            <a:pPr eaLnBrk="1" hangingPunct="1"/>
            <a:endParaRPr kumimoji="0" lang="en-US" altLang="zh-CN"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123FF25-E73B-4DF3-AFF4-4FAF2888DF19}"/>
              </a:ext>
            </a:extLst>
          </p:cNvPr>
          <p:cNvSpPr>
            <a:spLocks noGrp="1" noChangeArrowheads="1"/>
          </p:cNvSpPr>
          <p:nvPr>
            <p:ph type="title"/>
          </p:nvPr>
        </p:nvSpPr>
        <p:spPr bwMode="auto">
          <a:xfrm>
            <a:off x="685800" y="2492896"/>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b="1" dirty="0">
                <a:solidFill>
                  <a:srgbClr val="AC2F36"/>
                </a:solidFill>
                <a:effectLst>
                  <a:outerShdw blurRad="38100" dist="38100" dir="2700000" algn="tl">
                    <a:srgbClr val="C0C0C0"/>
                  </a:outerShdw>
                </a:effectLst>
                <a:latin typeface="华文中宋" panose="02010600040101010101" pitchFamily="2" charset="-122"/>
              </a:rPr>
              <a:t>5.2</a:t>
            </a:r>
            <a:r>
              <a:rPr lang="en-US" altLang="zh-CN" sz="3600" b="1" dirty="0">
                <a:solidFill>
                  <a:srgbClr val="AC2F36"/>
                </a:solidFill>
                <a:latin typeface="华文中宋" panose="02010600040101010101" pitchFamily="2" charset="-122"/>
              </a:rPr>
              <a:t> </a:t>
            </a:r>
            <a:r>
              <a:rPr lang="zh-CN" altLang="en-US" b="1" dirty="0">
                <a:solidFill>
                  <a:srgbClr val="AC2F36"/>
                </a:solidFill>
                <a:effectLst>
                  <a:outerShdw blurRad="38100" dist="38100" dir="2700000" algn="tl">
                    <a:srgbClr val="C0C0C0"/>
                  </a:outerShdw>
                </a:effectLst>
                <a:latin typeface="华文中宋" panose="02010600040101010101" pitchFamily="2" charset="-122"/>
              </a:rPr>
              <a:t>装载问题</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52755E0-DFD1-4A53-9698-170725C8E261}"/>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a:t>装载问题描述</a:t>
            </a:r>
          </a:p>
        </p:txBody>
      </p:sp>
      <p:sp>
        <p:nvSpPr>
          <p:cNvPr id="61443" name="Rectangle 3">
            <a:extLst>
              <a:ext uri="{FF2B5EF4-FFF2-40B4-BE49-F238E27FC236}">
                <a16:creationId xmlns:a16="http://schemas.microsoft.com/office/drawing/2014/main" id="{559A325F-B12D-441B-A877-5B13ACF02BFD}"/>
              </a:ext>
            </a:extLst>
          </p:cNvPr>
          <p:cNvSpPr>
            <a:spLocks noGrp="1" noChangeArrowheads="1"/>
          </p:cNvSpPr>
          <p:nvPr>
            <p:ph type="body" idx="1"/>
          </p:nvPr>
        </p:nvSpPr>
        <p:spPr bwMode="auto">
          <a:xfrm>
            <a:off x="381000" y="1676400"/>
            <a:ext cx="8458200" cy="1371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pPr>
            <a:r>
              <a:rPr kumimoji="0" lang="zh-CN" altLang="en-US" sz="2800" b="1" dirty="0">
                <a:solidFill>
                  <a:srgbClr val="0000CC"/>
                </a:solidFill>
                <a:latin typeface="华文中宋" panose="02010600040101010101" pitchFamily="2" charset="-122"/>
              </a:rPr>
              <a:t>有一批共</a:t>
            </a:r>
            <a:r>
              <a:rPr kumimoji="0" lang="en-US" altLang="zh-CN" sz="2800" b="1" dirty="0">
                <a:solidFill>
                  <a:srgbClr val="0000CC"/>
                </a:solidFill>
                <a:latin typeface="华文中宋" panose="02010600040101010101" pitchFamily="2" charset="-122"/>
              </a:rPr>
              <a:t>n</a:t>
            </a:r>
            <a:r>
              <a:rPr kumimoji="0" lang="zh-CN" altLang="en-US" sz="2800" b="1" dirty="0">
                <a:solidFill>
                  <a:srgbClr val="0000CC"/>
                </a:solidFill>
                <a:latin typeface="华文中宋" panose="02010600040101010101" pitchFamily="2" charset="-122"/>
              </a:rPr>
              <a:t>个集装箱要装上</a:t>
            </a:r>
            <a:r>
              <a:rPr kumimoji="0" lang="en-US" altLang="zh-CN" sz="2800" b="1" dirty="0">
                <a:solidFill>
                  <a:srgbClr val="0000CC"/>
                </a:solidFill>
                <a:latin typeface="华文中宋" panose="02010600040101010101" pitchFamily="2" charset="-122"/>
              </a:rPr>
              <a:t>2</a:t>
            </a:r>
            <a:r>
              <a:rPr kumimoji="0" lang="zh-CN" altLang="en-US" sz="2800" b="1" dirty="0">
                <a:solidFill>
                  <a:srgbClr val="0000CC"/>
                </a:solidFill>
                <a:latin typeface="华文中宋" panose="02010600040101010101" pitchFamily="2" charset="-122"/>
              </a:rPr>
              <a:t>艘载重量分别为</a:t>
            </a:r>
            <a:r>
              <a:rPr kumimoji="0" lang="en-US" altLang="zh-CN" sz="2800" b="1" dirty="0">
                <a:solidFill>
                  <a:srgbClr val="0000CC"/>
                </a:solidFill>
                <a:latin typeface="华文中宋" panose="02010600040101010101" pitchFamily="2" charset="-122"/>
              </a:rPr>
              <a:t>c</a:t>
            </a:r>
            <a:r>
              <a:rPr kumimoji="0" lang="en-US" altLang="zh-CN" sz="2800" b="1" baseline="-25000" dirty="0">
                <a:solidFill>
                  <a:srgbClr val="0000CC"/>
                </a:solidFill>
                <a:latin typeface="华文中宋" panose="02010600040101010101" pitchFamily="2" charset="-122"/>
              </a:rPr>
              <a:t>1</a:t>
            </a:r>
            <a:r>
              <a:rPr kumimoji="0" lang="zh-CN" altLang="en-US" sz="2800" b="1" dirty="0">
                <a:solidFill>
                  <a:srgbClr val="0000CC"/>
                </a:solidFill>
                <a:latin typeface="华文中宋" panose="02010600040101010101" pitchFamily="2" charset="-122"/>
              </a:rPr>
              <a:t>和</a:t>
            </a:r>
            <a:r>
              <a:rPr kumimoji="0" lang="en-US" altLang="zh-CN" sz="2800" b="1" dirty="0">
                <a:solidFill>
                  <a:srgbClr val="0000CC"/>
                </a:solidFill>
                <a:latin typeface="华文中宋" panose="02010600040101010101" pitchFamily="2" charset="-122"/>
              </a:rPr>
              <a:t>c</a:t>
            </a:r>
            <a:r>
              <a:rPr kumimoji="0" lang="en-US" altLang="zh-CN" sz="2800" b="1" baseline="-25000" dirty="0">
                <a:solidFill>
                  <a:srgbClr val="0000CC"/>
                </a:solidFill>
                <a:latin typeface="华文中宋" panose="02010600040101010101" pitchFamily="2" charset="-122"/>
              </a:rPr>
              <a:t>2</a:t>
            </a:r>
            <a:r>
              <a:rPr kumimoji="0" lang="zh-CN" altLang="en-US" sz="2800" b="1" dirty="0">
                <a:solidFill>
                  <a:srgbClr val="0000CC"/>
                </a:solidFill>
                <a:latin typeface="华文中宋" panose="02010600040101010101" pitchFamily="2" charset="-122"/>
              </a:rPr>
              <a:t>的轮船，其中集装箱</a:t>
            </a:r>
            <a:r>
              <a:rPr kumimoji="0" lang="en-US" altLang="zh-CN" sz="2800" b="1" dirty="0" err="1">
                <a:solidFill>
                  <a:srgbClr val="0000CC"/>
                </a:solidFill>
                <a:latin typeface="华文中宋" panose="02010600040101010101" pitchFamily="2" charset="-122"/>
              </a:rPr>
              <a:t>i</a:t>
            </a:r>
            <a:r>
              <a:rPr kumimoji="0" lang="zh-CN" altLang="en-US" sz="2800" b="1" dirty="0">
                <a:solidFill>
                  <a:srgbClr val="0000CC"/>
                </a:solidFill>
                <a:latin typeface="华文中宋" panose="02010600040101010101" pitchFamily="2" charset="-122"/>
              </a:rPr>
              <a:t>的重量为</a:t>
            </a:r>
            <a:r>
              <a:rPr kumimoji="0" lang="en-US" altLang="zh-CN" sz="2800" b="1" dirty="0" err="1">
                <a:solidFill>
                  <a:srgbClr val="0000CC"/>
                </a:solidFill>
                <a:latin typeface="华文中宋" panose="02010600040101010101" pitchFamily="2" charset="-122"/>
              </a:rPr>
              <a:t>w</a:t>
            </a:r>
            <a:r>
              <a:rPr kumimoji="0" lang="en-US" altLang="zh-CN" sz="2800" b="1" baseline="-25000" dirty="0" err="1">
                <a:solidFill>
                  <a:srgbClr val="0000CC"/>
                </a:solidFill>
                <a:latin typeface="华文中宋" panose="02010600040101010101" pitchFamily="2" charset="-122"/>
              </a:rPr>
              <a:t>i</a:t>
            </a:r>
            <a:r>
              <a:rPr kumimoji="0" lang="zh-CN" altLang="en-US" sz="2800" b="1" dirty="0">
                <a:solidFill>
                  <a:srgbClr val="0000CC"/>
                </a:solidFill>
                <a:latin typeface="华文中宋" panose="02010600040101010101" pitchFamily="2" charset="-122"/>
              </a:rPr>
              <a:t>，且</a:t>
            </a:r>
          </a:p>
        </p:txBody>
      </p:sp>
      <p:graphicFrame>
        <p:nvGraphicFramePr>
          <p:cNvPr id="61444" name="Object 4">
            <a:extLst>
              <a:ext uri="{FF2B5EF4-FFF2-40B4-BE49-F238E27FC236}">
                <a16:creationId xmlns:a16="http://schemas.microsoft.com/office/drawing/2014/main" id="{5453EA89-03C2-4694-B2DF-C62B5FC7ACA3}"/>
              </a:ext>
            </a:extLst>
          </p:cNvPr>
          <p:cNvGraphicFramePr>
            <a:graphicFrameLocks noChangeAspect="1"/>
          </p:cNvGraphicFramePr>
          <p:nvPr/>
        </p:nvGraphicFramePr>
        <p:xfrm>
          <a:off x="6781800" y="2133600"/>
          <a:ext cx="1816100" cy="838200"/>
        </p:xfrm>
        <a:graphic>
          <a:graphicData uri="http://schemas.openxmlformats.org/presentationml/2006/ole">
            <mc:AlternateContent xmlns:mc="http://schemas.openxmlformats.org/markup-compatibility/2006">
              <mc:Choice xmlns:v="urn:schemas-microsoft-com:vml" Requires="v">
                <p:oleObj name="公式" r:id="rId3" imgW="927100" imgH="431800" progId="Equation.3">
                  <p:embed/>
                </p:oleObj>
              </mc:Choice>
              <mc:Fallback>
                <p:oleObj name="公式" r:id="rId3" imgW="9271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1800" y="2133600"/>
                        <a:ext cx="18161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45" name="Text Box 5">
            <a:extLst>
              <a:ext uri="{FF2B5EF4-FFF2-40B4-BE49-F238E27FC236}">
                <a16:creationId xmlns:a16="http://schemas.microsoft.com/office/drawing/2014/main" id="{6969A327-8F53-44DF-830C-C6639B42F610}"/>
              </a:ext>
            </a:extLst>
          </p:cNvPr>
          <p:cNvSpPr txBox="1">
            <a:spLocks noChangeArrowheads="1"/>
          </p:cNvSpPr>
          <p:nvPr/>
        </p:nvSpPr>
        <p:spPr bwMode="auto">
          <a:xfrm>
            <a:off x="609600" y="2895600"/>
            <a:ext cx="838200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zh-CN" altLang="en-US" dirty="0">
                <a:latin typeface="华文中宋" panose="02010600040101010101" pitchFamily="2" charset="-122"/>
                <a:ea typeface="华文中宋" panose="02010600040101010101" pitchFamily="2" charset="-122"/>
              </a:rPr>
              <a:t>装载问题要求确定是否有一个合理的装载方案可将这个集装箱装上这</a:t>
            </a:r>
            <a:r>
              <a:rPr kumimoji="0" lang="en-US" altLang="zh-CN" dirty="0">
                <a:latin typeface="华文中宋" panose="02010600040101010101" pitchFamily="2" charset="-122"/>
                <a:ea typeface="华文中宋" panose="02010600040101010101" pitchFamily="2" charset="-122"/>
              </a:rPr>
              <a:t>2</a:t>
            </a:r>
            <a:r>
              <a:rPr kumimoji="0" lang="zh-CN" altLang="en-US" dirty="0">
                <a:latin typeface="华文中宋" panose="02010600040101010101" pitchFamily="2" charset="-122"/>
                <a:ea typeface="华文中宋" panose="02010600040101010101" pitchFamily="2" charset="-122"/>
              </a:rPr>
              <a:t>艘轮船。如果有，找出一种装载方案。</a:t>
            </a:r>
          </a:p>
        </p:txBody>
      </p:sp>
      <p:sp>
        <p:nvSpPr>
          <p:cNvPr id="61446" name="Text Box 6">
            <a:extLst>
              <a:ext uri="{FF2B5EF4-FFF2-40B4-BE49-F238E27FC236}">
                <a16:creationId xmlns:a16="http://schemas.microsoft.com/office/drawing/2014/main" id="{BFBB5953-0130-4AED-8DB1-61020EB89D36}"/>
              </a:ext>
            </a:extLst>
          </p:cNvPr>
          <p:cNvSpPr txBox="1">
            <a:spLocks noChangeArrowheads="1"/>
          </p:cNvSpPr>
          <p:nvPr/>
        </p:nvSpPr>
        <p:spPr bwMode="auto">
          <a:xfrm>
            <a:off x="685800" y="4038600"/>
            <a:ext cx="7315200" cy="1570038"/>
          </a:xfrm>
          <a:prstGeom prst="rect">
            <a:avLst/>
          </a:prstGeom>
          <a:noFill/>
          <a:ln w="9525">
            <a:noFill/>
            <a:miter lim="800000"/>
            <a:headEnd/>
            <a:tailEnd/>
          </a:ln>
        </p:spPr>
        <p:txBody>
          <a:bodyPr>
            <a:spAutoFit/>
          </a:bodyPr>
          <a:lstStyle/>
          <a:p>
            <a:pPr eaLnBrk="1" hangingPunct="1">
              <a:spcBef>
                <a:spcPct val="50000"/>
              </a:spcBef>
              <a:defRPr/>
            </a:pPr>
            <a:r>
              <a:rPr lang="zh-CN" altLang="en-US" dirty="0">
                <a:ea typeface="华文中宋" panose="02010600040101010101" pitchFamily="2" charset="-122"/>
              </a:rPr>
              <a:t>例子</a:t>
            </a:r>
          </a:p>
          <a:p>
            <a:pPr marL="457200" indent="-457200" eaLnBrk="1" hangingPunct="1">
              <a:spcBef>
                <a:spcPct val="50000"/>
              </a:spcBef>
              <a:buFont typeface="+mj-lt"/>
              <a:buAutoNum type="arabicPeriod"/>
              <a:defRPr/>
            </a:pPr>
            <a:r>
              <a:rPr lang="zh-CN" altLang="en-US" dirty="0">
                <a:ea typeface="华文中宋" panose="02010600040101010101" pitchFamily="2" charset="-122"/>
              </a:rPr>
              <a:t>    </a:t>
            </a:r>
            <a:r>
              <a:rPr lang="en-US" altLang="zh-CN" dirty="0">
                <a:ea typeface="华文中宋" panose="02010600040101010101" pitchFamily="2" charset="-122"/>
              </a:rPr>
              <a:t>n=3, c1=c2=50,  w=[10,40,40], </a:t>
            </a:r>
            <a:r>
              <a:rPr lang="zh-CN" altLang="en-US" dirty="0">
                <a:ea typeface="华文中宋" panose="02010600040101010101" pitchFamily="2" charset="-122"/>
              </a:rPr>
              <a:t>有解</a:t>
            </a:r>
          </a:p>
          <a:p>
            <a:pPr marL="457200" indent="-457200" eaLnBrk="1" hangingPunct="1">
              <a:spcBef>
                <a:spcPct val="50000"/>
              </a:spcBef>
              <a:buFont typeface="+mj-lt"/>
              <a:buAutoNum type="arabicPeriod"/>
              <a:defRPr/>
            </a:pPr>
            <a:r>
              <a:rPr lang="zh-CN" altLang="en-US" dirty="0">
                <a:ea typeface="华文中宋" panose="02010600040101010101" pitchFamily="2" charset="-122"/>
              </a:rPr>
              <a:t>    </a:t>
            </a:r>
            <a:r>
              <a:rPr lang="en-US" altLang="zh-CN" dirty="0">
                <a:ea typeface="华文中宋" panose="02010600040101010101" pitchFamily="2" charset="-122"/>
              </a:rPr>
              <a:t>n=3, c1=c2=50,  w=[20,40,40], </a:t>
            </a:r>
            <a:r>
              <a:rPr lang="zh-CN" altLang="en-US" dirty="0">
                <a:ea typeface="华文中宋" panose="02010600040101010101" pitchFamily="2" charset="-122"/>
              </a:rPr>
              <a:t>无解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61444"/>
                                        </p:tgtEl>
                                        <p:attrNameLst>
                                          <p:attrName>style.visibility</p:attrName>
                                        </p:attrNameLst>
                                      </p:cBhvr>
                                      <p:to>
                                        <p:strVal val="visible"/>
                                      </p:to>
                                    </p:set>
                                    <p:anim calcmode="lin" valueType="num">
                                      <p:cBhvr additive="base">
                                        <p:cTn id="12" dur="500" fill="hold"/>
                                        <p:tgtEl>
                                          <p:spTgt spid="61444"/>
                                        </p:tgtEl>
                                        <p:attrNameLst>
                                          <p:attrName>ppt_x</p:attrName>
                                        </p:attrNameLst>
                                      </p:cBhvr>
                                      <p:tavLst>
                                        <p:tav tm="0">
                                          <p:val>
                                            <p:strVal val="0-#ppt_w/2"/>
                                          </p:val>
                                        </p:tav>
                                        <p:tav tm="100000">
                                          <p:val>
                                            <p:strVal val="#ppt_x"/>
                                          </p:val>
                                        </p:tav>
                                      </p:tavLst>
                                    </p:anim>
                                    <p:anim calcmode="lin" valueType="num">
                                      <p:cBhvr additive="base">
                                        <p:cTn id="13"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1445"/>
                                        </p:tgtEl>
                                        <p:attrNameLst>
                                          <p:attrName>style.visibility</p:attrName>
                                        </p:attrNameLst>
                                      </p:cBhvr>
                                      <p:to>
                                        <p:strVal val="visible"/>
                                      </p:to>
                                    </p:set>
                                    <p:anim calcmode="lin" valueType="num">
                                      <p:cBhvr additive="base">
                                        <p:cTn id="18" dur="500" fill="hold"/>
                                        <p:tgtEl>
                                          <p:spTgt spid="61445"/>
                                        </p:tgtEl>
                                        <p:attrNameLst>
                                          <p:attrName>ppt_x</p:attrName>
                                        </p:attrNameLst>
                                      </p:cBhvr>
                                      <p:tavLst>
                                        <p:tav tm="0">
                                          <p:val>
                                            <p:strVal val="0-#ppt_w/2"/>
                                          </p:val>
                                        </p:tav>
                                        <p:tav tm="100000">
                                          <p:val>
                                            <p:strVal val="#ppt_x"/>
                                          </p:val>
                                        </p:tav>
                                      </p:tavLst>
                                    </p:anim>
                                    <p:anim calcmode="lin" valueType="num">
                                      <p:cBhvr additive="base">
                                        <p:cTn id="19" dur="500" fill="hold"/>
                                        <p:tgtEl>
                                          <p:spTgt spid="6144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1446"/>
                                        </p:tgtEl>
                                        <p:attrNameLst>
                                          <p:attrName>style.visibility</p:attrName>
                                        </p:attrNameLst>
                                      </p:cBhvr>
                                      <p:to>
                                        <p:strVal val="visible"/>
                                      </p:to>
                                    </p:set>
                                    <p:anim calcmode="lin" valueType="num">
                                      <p:cBhvr additive="base">
                                        <p:cTn id="24" dur="500" fill="hold"/>
                                        <p:tgtEl>
                                          <p:spTgt spid="61446"/>
                                        </p:tgtEl>
                                        <p:attrNameLst>
                                          <p:attrName>ppt_x</p:attrName>
                                        </p:attrNameLst>
                                      </p:cBhvr>
                                      <p:tavLst>
                                        <p:tav tm="0">
                                          <p:val>
                                            <p:strVal val="0-#ppt_w/2"/>
                                          </p:val>
                                        </p:tav>
                                        <p:tav tm="100000">
                                          <p:val>
                                            <p:strVal val="#ppt_x"/>
                                          </p:val>
                                        </p:tav>
                                      </p:tavLst>
                                    </p:anim>
                                    <p:anim calcmode="lin" valueType="num">
                                      <p:cBhvr additive="base">
                                        <p:cTn id="25" dur="500" fill="hold"/>
                                        <p:tgtEl>
                                          <p:spTgt spid="614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P spid="61445" grpId="0" autoUpdateAnimBg="0"/>
      <p:bldP spid="61446"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3263D66-3A97-40A1-8C2B-E475761B9C08}"/>
              </a:ext>
            </a:extLst>
          </p:cNvPr>
          <p:cNvSpPr>
            <a:spLocks noGrp="1" noChangeArrowheads="1"/>
          </p:cNvSpPr>
          <p:nvPr>
            <p:ph type="title"/>
          </p:nvPr>
        </p:nvSpPr>
        <p:spPr bwMode="auto">
          <a:xfrm>
            <a:off x="6858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20000"/>
              </a:lnSpc>
            </a:pPr>
            <a:r>
              <a:rPr lang="zh-CN" altLang="en-US" sz="4000" b="1"/>
              <a:t>最优装载方案</a:t>
            </a:r>
          </a:p>
        </p:txBody>
      </p:sp>
      <p:sp>
        <p:nvSpPr>
          <p:cNvPr id="62467" name="Rectangle 3">
            <a:extLst>
              <a:ext uri="{FF2B5EF4-FFF2-40B4-BE49-F238E27FC236}">
                <a16:creationId xmlns:a16="http://schemas.microsoft.com/office/drawing/2014/main" id="{D984C3A4-6818-4D0F-841C-91D1B1F82214}"/>
              </a:ext>
            </a:extLst>
          </p:cNvPr>
          <p:cNvSpPr>
            <a:spLocks noGrp="1" noChangeArrowheads="1"/>
          </p:cNvSpPr>
          <p:nvPr>
            <p:ph type="body" idx="1"/>
          </p:nvPr>
        </p:nvSpPr>
        <p:spPr bwMode="auto">
          <a:xfrm>
            <a:off x="685800" y="1219200"/>
            <a:ext cx="77724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en-US" altLang="zh-CN" sz="2800" b="1" dirty="0">
                <a:latin typeface="Arial" panose="020B0604020202020204" pitchFamily="34" charset="0"/>
              </a:rPr>
              <a:t>(1)</a:t>
            </a:r>
            <a:r>
              <a:rPr kumimoji="0" lang="zh-CN" altLang="en-US" sz="2800" b="1" dirty="0">
                <a:latin typeface="Arial" panose="020B0604020202020204" pitchFamily="34" charset="0"/>
              </a:rPr>
              <a:t>首先将第一艘轮船尽可能装满；</a:t>
            </a:r>
          </a:p>
          <a:p>
            <a:pPr eaLnBrk="1" hangingPunct="1">
              <a:lnSpc>
                <a:spcPct val="120000"/>
              </a:lnSpc>
              <a:spcBef>
                <a:spcPct val="0"/>
              </a:spcBef>
              <a:buFontTx/>
              <a:buNone/>
            </a:pPr>
            <a:r>
              <a:rPr kumimoji="0" lang="en-US" altLang="zh-CN" sz="2800" b="1" dirty="0">
                <a:latin typeface="Arial" panose="020B0604020202020204" pitchFamily="34" charset="0"/>
              </a:rPr>
              <a:t>(2)</a:t>
            </a:r>
            <a:r>
              <a:rPr kumimoji="0" lang="zh-CN" altLang="en-US" sz="2800" b="1" dirty="0">
                <a:latin typeface="Arial" panose="020B0604020202020204" pitchFamily="34" charset="0"/>
              </a:rPr>
              <a:t>将剩余的集装箱装上第二艘轮船。</a:t>
            </a:r>
          </a:p>
        </p:txBody>
      </p:sp>
      <p:sp>
        <p:nvSpPr>
          <p:cNvPr id="62468" name="Text Box 4">
            <a:extLst>
              <a:ext uri="{FF2B5EF4-FFF2-40B4-BE49-F238E27FC236}">
                <a16:creationId xmlns:a16="http://schemas.microsoft.com/office/drawing/2014/main" id="{BCEBC7B2-815F-455E-9279-351956A713DB}"/>
              </a:ext>
            </a:extLst>
          </p:cNvPr>
          <p:cNvSpPr txBox="1">
            <a:spLocks noChangeArrowheads="1"/>
          </p:cNvSpPr>
          <p:nvPr/>
        </p:nvSpPr>
        <p:spPr bwMode="auto">
          <a:xfrm>
            <a:off x="500063" y="2286000"/>
            <a:ext cx="8262937"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288" indent="-268288">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kumimoji="0" lang="zh-CN" altLang="en-US" sz="2800" dirty="0">
                <a:latin typeface="Arial" panose="020B0604020202020204" pitchFamily="34" charset="0"/>
                <a:ea typeface="华文中宋" panose="02010600040101010101" pitchFamily="2" charset="-122"/>
              </a:rPr>
              <a:t>将第一艘轮船尽可能装满等价于选取全体集装箱集合的一个子集，使该子集中集装箱重量之和最接近</a:t>
            </a:r>
            <a:r>
              <a:rPr kumimoji="0" lang="en-US" altLang="zh-CN" sz="2800" dirty="0">
                <a:latin typeface="Arial" panose="020B0604020202020204" pitchFamily="34" charset="0"/>
                <a:ea typeface="华文中宋" panose="02010600040101010101" pitchFamily="2" charset="-122"/>
              </a:rPr>
              <a:t>c</a:t>
            </a:r>
            <a:r>
              <a:rPr kumimoji="0" lang="en-US" altLang="zh-CN" sz="2800" baseline="-25000" dirty="0">
                <a:latin typeface="Arial" panose="020B0604020202020204" pitchFamily="34" charset="0"/>
                <a:ea typeface="华文中宋" panose="02010600040101010101" pitchFamily="2" charset="-122"/>
              </a:rPr>
              <a:t>1</a:t>
            </a:r>
            <a:r>
              <a:rPr kumimoji="0" lang="zh-CN" altLang="en-US" sz="2800" dirty="0">
                <a:latin typeface="Arial" panose="020B0604020202020204" pitchFamily="34" charset="0"/>
                <a:ea typeface="华文中宋" panose="02010600040101010101" pitchFamily="2" charset="-122"/>
              </a:rPr>
              <a:t>。</a:t>
            </a:r>
          </a:p>
          <a:p>
            <a:pPr eaLnBrk="1" hangingPunct="1">
              <a:spcBef>
                <a:spcPct val="50000"/>
              </a:spcBef>
              <a:buFontTx/>
              <a:buChar char="•"/>
            </a:pPr>
            <a:r>
              <a:rPr kumimoji="0" lang="zh-CN" altLang="en-US" sz="2800" dirty="0">
                <a:latin typeface="Arial" panose="020B0604020202020204" pitchFamily="34" charset="0"/>
                <a:ea typeface="华文中宋" panose="02010600040101010101" pitchFamily="2" charset="-122"/>
              </a:rPr>
              <a:t>装载问题等价于以下特殊的</a:t>
            </a:r>
            <a:r>
              <a:rPr kumimoji="0" lang="en-US" altLang="zh-CN" sz="2800" dirty="0">
                <a:latin typeface="Arial" panose="020B0604020202020204" pitchFamily="34" charset="0"/>
                <a:ea typeface="华文中宋" panose="02010600040101010101" pitchFamily="2" charset="-122"/>
              </a:rPr>
              <a:t>0-1</a:t>
            </a:r>
            <a:r>
              <a:rPr kumimoji="0" lang="zh-CN" altLang="en-US" sz="2800" dirty="0">
                <a:latin typeface="Arial" panose="020B0604020202020204" pitchFamily="34" charset="0"/>
                <a:ea typeface="华文中宋" panose="02010600040101010101" pitchFamily="2" charset="-122"/>
              </a:rPr>
              <a:t>背包问题。但跟第四章的装载问题不同。</a:t>
            </a:r>
          </a:p>
        </p:txBody>
      </p:sp>
      <p:graphicFrame>
        <p:nvGraphicFramePr>
          <p:cNvPr id="62469" name="Object 5">
            <a:extLst>
              <a:ext uri="{FF2B5EF4-FFF2-40B4-BE49-F238E27FC236}">
                <a16:creationId xmlns:a16="http://schemas.microsoft.com/office/drawing/2014/main" id="{9974F80D-BC3B-4C37-BB35-55A3F57D2FEA}"/>
              </a:ext>
            </a:extLst>
          </p:cNvPr>
          <p:cNvGraphicFramePr>
            <a:graphicFrameLocks noChangeAspect="1"/>
          </p:cNvGraphicFramePr>
          <p:nvPr/>
        </p:nvGraphicFramePr>
        <p:xfrm>
          <a:off x="5286375" y="4214813"/>
          <a:ext cx="2633663" cy="2143125"/>
        </p:xfrm>
        <a:graphic>
          <a:graphicData uri="http://schemas.openxmlformats.org/presentationml/2006/ole">
            <mc:AlternateContent xmlns:mc="http://schemas.openxmlformats.org/markup-compatibility/2006">
              <mc:Choice xmlns:v="urn:schemas-microsoft-com:vml" Requires="v">
                <p:oleObj name="Equation" r:id="rId3" imgW="1104900" imgH="1104900" progId="Equation.3">
                  <p:embed/>
                </p:oleObj>
              </mc:Choice>
              <mc:Fallback>
                <p:oleObj name="Equation" r:id="rId3" imgW="1104900" imgH="11049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75" y="4214813"/>
                        <a:ext cx="26336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 calcmode="lin" valueType="num">
                                      <p:cBhvr additive="base">
                                        <p:cTn id="7" dur="500" fill="hold"/>
                                        <p:tgtEl>
                                          <p:spTgt spid="624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24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2467">
                                            <p:txEl>
                                              <p:pRg st="1" end="1"/>
                                            </p:txEl>
                                          </p:spTgt>
                                        </p:tgtEl>
                                        <p:attrNameLst>
                                          <p:attrName>style.visibility</p:attrName>
                                        </p:attrNameLst>
                                      </p:cBhvr>
                                      <p:to>
                                        <p:strVal val="visible"/>
                                      </p:to>
                                    </p:set>
                                    <p:anim calcmode="lin" valueType="num">
                                      <p:cBhvr additive="base">
                                        <p:cTn id="13" dur="500" fill="hold"/>
                                        <p:tgtEl>
                                          <p:spTgt spid="624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24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68"/>
                                        </p:tgtEl>
                                        <p:attrNameLst>
                                          <p:attrName>style.visibility</p:attrName>
                                        </p:attrNameLst>
                                      </p:cBhvr>
                                      <p:to>
                                        <p:strVal val="visible"/>
                                      </p:to>
                                    </p:set>
                                    <p:anim calcmode="lin" valueType="num">
                                      <p:cBhvr additive="base">
                                        <p:cTn id="19" dur="500" fill="hold"/>
                                        <p:tgtEl>
                                          <p:spTgt spid="62468"/>
                                        </p:tgtEl>
                                        <p:attrNameLst>
                                          <p:attrName>ppt_x</p:attrName>
                                        </p:attrNameLst>
                                      </p:cBhvr>
                                      <p:tavLst>
                                        <p:tav tm="0">
                                          <p:val>
                                            <p:strVal val="0-#ppt_w/2"/>
                                          </p:val>
                                        </p:tav>
                                        <p:tav tm="100000">
                                          <p:val>
                                            <p:strVal val="#ppt_x"/>
                                          </p:val>
                                        </p:tav>
                                      </p:tavLst>
                                    </p:anim>
                                    <p:anim calcmode="lin" valueType="num">
                                      <p:cBhvr additive="base">
                                        <p:cTn id="20" dur="500" fill="hold"/>
                                        <p:tgtEl>
                                          <p:spTgt spid="6246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62469"/>
                                        </p:tgtEl>
                                        <p:attrNameLst>
                                          <p:attrName>style.visibility</p:attrName>
                                        </p:attrNameLst>
                                      </p:cBhvr>
                                      <p:to>
                                        <p:strVal val="visible"/>
                                      </p:to>
                                    </p:set>
                                    <p:anim calcmode="lin" valueType="num">
                                      <p:cBhvr additive="base">
                                        <p:cTn id="25" dur="500" fill="hold"/>
                                        <p:tgtEl>
                                          <p:spTgt spid="62469"/>
                                        </p:tgtEl>
                                        <p:attrNameLst>
                                          <p:attrName>ppt_x</p:attrName>
                                        </p:attrNameLst>
                                      </p:cBhvr>
                                      <p:tavLst>
                                        <p:tav tm="0">
                                          <p:val>
                                            <p:strVal val="0-#ppt_w/2"/>
                                          </p:val>
                                        </p:tav>
                                        <p:tav tm="100000">
                                          <p:val>
                                            <p:strVal val="#ppt_x"/>
                                          </p:val>
                                        </p:tav>
                                      </p:tavLst>
                                    </p:anim>
                                    <p:anim calcmode="lin" valueType="num">
                                      <p:cBhvr additive="base">
                                        <p:cTn id="26" dur="500" fill="hold"/>
                                        <p:tgtEl>
                                          <p:spTgt spid="62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autoUpdateAnimBg="0"/>
      <p:bldP spid="6246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8A4B691-DF05-4D08-BB04-4E22AC069597}"/>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a:t>装载问题的回溯法</a:t>
            </a:r>
          </a:p>
        </p:txBody>
      </p:sp>
      <p:sp>
        <p:nvSpPr>
          <p:cNvPr id="25603" name="Rectangle 3">
            <a:extLst>
              <a:ext uri="{FF2B5EF4-FFF2-40B4-BE49-F238E27FC236}">
                <a16:creationId xmlns:a16="http://schemas.microsoft.com/office/drawing/2014/main" id="{9F203AE3-1C6C-48D7-9FD2-CFACF915D287}"/>
              </a:ext>
            </a:extLst>
          </p:cNvPr>
          <p:cNvSpPr>
            <a:spLocks noGrp="1" noChangeArrowheads="1"/>
          </p:cNvSpPr>
          <p:nvPr>
            <p:ph type="body" idx="1"/>
          </p:nvPr>
        </p:nvSpPr>
        <p:spPr bwMode="auto">
          <a:xfrm>
            <a:off x="685800" y="1371600"/>
            <a:ext cx="77724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0"/>
              </a:spcBef>
              <a:buClr>
                <a:schemeClr val="accent2"/>
              </a:buClr>
            </a:pPr>
            <a:r>
              <a:rPr kumimoji="0" lang="zh-CN" altLang="en-US" sz="2800" b="1" dirty="0">
                <a:latin typeface="华文中宋" panose="02010600040101010101" pitchFamily="2" charset="-122"/>
              </a:rPr>
              <a:t>解空间：子集树，完全二叉树</a:t>
            </a:r>
          </a:p>
          <a:p>
            <a:pPr eaLnBrk="1" hangingPunct="1">
              <a:lnSpc>
                <a:spcPct val="110000"/>
              </a:lnSpc>
              <a:spcBef>
                <a:spcPct val="0"/>
              </a:spcBef>
              <a:buClr>
                <a:schemeClr val="accent2"/>
              </a:buClr>
            </a:pPr>
            <a:r>
              <a:rPr lang="zh-CN" altLang="en-US" sz="2800" b="1" dirty="0">
                <a:latin typeface="华文中宋" panose="02010600040101010101" pitchFamily="2" charset="-122"/>
              </a:rPr>
              <a:t>设定解向量：</a:t>
            </a:r>
            <a:r>
              <a:rPr lang="en-US" altLang="zh-CN" sz="2800" b="1" dirty="0">
                <a:latin typeface="华文中宋" panose="02010600040101010101" pitchFamily="2" charset="-122"/>
              </a:rPr>
              <a:t>(x</a:t>
            </a:r>
            <a:r>
              <a:rPr lang="en-US" altLang="zh-CN" sz="2800" b="1" baseline="-25000" dirty="0">
                <a:latin typeface="华文中宋" panose="02010600040101010101" pitchFamily="2" charset="-122"/>
              </a:rPr>
              <a:t>1</a:t>
            </a:r>
            <a:r>
              <a:rPr lang="en-US" altLang="zh-CN" sz="2800" b="1" dirty="0">
                <a:latin typeface="华文中宋" panose="02010600040101010101" pitchFamily="2" charset="-122"/>
              </a:rPr>
              <a:t>, x</a:t>
            </a:r>
            <a:r>
              <a:rPr lang="en-US" altLang="zh-CN" sz="2800" b="1" baseline="-25000" dirty="0">
                <a:latin typeface="华文中宋" panose="02010600040101010101" pitchFamily="2" charset="-122"/>
              </a:rPr>
              <a:t>2</a:t>
            </a:r>
            <a:r>
              <a:rPr lang="en-US" altLang="zh-CN" sz="2800" b="1" dirty="0">
                <a:latin typeface="华文中宋" panose="02010600040101010101" pitchFamily="2" charset="-122"/>
              </a:rPr>
              <a:t>, </a:t>
            </a:r>
            <a:r>
              <a:rPr lang="en-US" altLang="zh-CN" sz="2800" b="1" dirty="0"/>
              <a:t>…</a:t>
            </a:r>
            <a:r>
              <a:rPr lang="en-US" altLang="zh-CN" sz="2800" b="1" dirty="0">
                <a:latin typeface="华文中宋" panose="02010600040101010101" pitchFamily="2" charset="-122"/>
              </a:rPr>
              <a:t> , </a:t>
            </a:r>
            <a:r>
              <a:rPr lang="en-US" altLang="zh-CN" sz="2800" b="1" dirty="0" err="1">
                <a:latin typeface="华文中宋" panose="02010600040101010101" pitchFamily="2" charset="-122"/>
              </a:rPr>
              <a:t>x</a:t>
            </a:r>
            <a:r>
              <a:rPr lang="en-US" altLang="zh-CN" sz="2800" b="1" baseline="-25000" dirty="0" err="1">
                <a:latin typeface="华文中宋" panose="02010600040101010101" pitchFamily="2" charset="-122"/>
              </a:rPr>
              <a:t>n</a:t>
            </a:r>
            <a:r>
              <a:rPr lang="en-US" altLang="zh-CN" sz="2800" b="1" dirty="0">
                <a:latin typeface="华文中宋" panose="02010600040101010101" pitchFamily="2" charset="-122"/>
              </a:rPr>
              <a:t>)</a:t>
            </a:r>
          </a:p>
        </p:txBody>
      </p:sp>
      <p:sp>
        <p:nvSpPr>
          <p:cNvPr id="25604" name="Rectangle 5">
            <a:extLst>
              <a:ext uri="{FF2B5EF4-FFF2-40B4-BE49-F238E27FC236}">
                <a16:creationId xmlns:a16="http://schemas.microsoft.com/office/drawing/2014/main" id="{BFFFAE7C-344E-4631-B93B-FA11198E9D22}"/>
              </a:ext>
            </a:extLst>
          </p:cNvPr>
          <p:cNvSpPr>
            <a:spLocks noChangeArrowheads="1"/>
          </p:cNvSpPr>
          <p:nvPr/>
        </p:nvSpPr>
        <p:spPr bwMode="auto">
          <a:xfrm>
            <a:off x="762000" y="2667000"/>
            <a:ext cx="77724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ea typeface="华文中宋" panose="02010600040101010101" pitchFamily="2" charset="-122"/>
              </a:rPr>
              <a:t>约束条件</a:t>
            </a:r>
          </a:p>
          <a:p>
            <a:pPr eaLnBrk="1" hangingPunct="1">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1. </a:t>
            </a:r>
            <a:r>
              <a:rPr lang="zh-CN" altLang="en-US" sz="2800" dirty="0">
                <a:ea typeface="华文中宋" panose="02010600040101010101" pitchFamily="2" charset="-122"/>
              </a:rPr>
              <a:t>显式约束：</a:t>
            </a:r>
            <a:r>
              <a:rPr lang="en-US" altLang="zh-CN" sz="2800" dirty="0">
                <a:ea typeface="华文中宋" panose="02010600040101010101" pitchFamily="2" charset="-122"/>
              </a:rPr>
              <a:t>x</a:t>
            </a:r>
            <a:r>
              <a:rPr lang="en-US" altLang="zh-CN" sz="2800" baseline="-25000" dirty="0">
                <a:ea typeface="华文中宋" panose="02010600040101010101" pitchFamily="2" charset="-122"/>
              </a:rPr>
              <a:t>i</a:t>
            </a:r>
            <a:r>
              <a:rPr lang="en-US" altLang="zh-CN" sz="2800" dirty="0">
                <a:ea typeface="华文中宋" panose="02010600040101010101" pitchFamily="2" charset="-122"/>
              </a:rPr>
              <a:t> = 0, 1     (</a:t>
            </a:r>
            <a:r>
              <a:rPr lang="en-US" altLang="zh-CN" sz="2800" dirty="0" err="1">
                <a:ea typeface="华文中宋" panose="02010600040101010101" pitchFamily="2" charset="-122"/>
              </a:rPr>
              <a:t>i</a:t>
            </a:r>
            <a:r>
              <a:rPr lang="en-US" altLang="zh-CN" sz="2800" dirty="0">
                <a:ea typeface="华文中宋" panose="02010600040101010101" pitchFamily="2" charset="-122"/>
              </a:rPr>
              <a:t>=1, 2, …, n)</a:t>
            </a:r>
          </a:p>
          <a:p>
            <a:pPr eaLnBrk="1" hangingPunct="1">
              <a:spcBef>
                <a:spcPct val="50000"/>
              </a:spcBef>
            </a:pPr>
            <a:r>
              <a:rPr lang="en-US" altLang="zh-CN" sz="2800" dirty="0">
                <a:ea typeface="华文中宋" panose="02010600040101010101" pitchFamily="2" charset="-122"/>
              </a:rPr>
              <a:t>  2. </a:t>
            </a:r>
            <a:r>
              <a:rPr lang="zh-CN" altLang="en-US" sz="2800" dirty="0">
                <a:ea typeface="华文中宋" panose="02010600040101010101" pitchFamily="2" charset="-122"/>
              </a:rPr>
              <a:t>隐式约束：无</a:t>
            </a:r>
          </a:p>
        </p:txBody>
      </p:sp>
      <p:sp>
        <p:nvSpPr>
          <p:cNvPr id="25605" name="Text Box 6">
            <a:extLst>
              <a:ext uri="{FF2B5EF4-FFF2-40B4-BE49-F238E27FC236}">
                <a16:creationId xmlns:a16="http://schemas.microsoft.com/office/drawing/2014/main" id="{D214FA7D-9EF5-4F04-8B62-C85D7CD74AFB}"/>
              </a:ext>
            </a:extLst>
          </p:cNvPr>
          <p:cNvSpPr txBox="1">
            <a:spLocks noChangeArrowheads="1"/>
          </p:cNvSpPr>
          <p:nvPr/>
        </p:nvSpPr>
        <p:spPr bwMode="auto">
          <a:xfrm>
            <a:off x="838200" y="4648200"/>
            <a:ext cx="7543800" cy="107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chemeClr val="accent2"/>
              </a:buClr>
            </a:pPr>
            <a:r>
              <a:rPr kumimoji="0" lang="zh-CN" altLang="en-US" sz="2800" dirty="0">
                <a:latin typeface="华文中宋" panose="02010600040101010101" pitchFamily="2" charset="-122"/>
                <a:ea typeface="华文中宋" panose="02010600040101010101" pitchFamily="2" charset="-122"/>
              </a:rPr>
              <a:t>约束函数（整体）：</a:t>
            </a:r>
          </a:p>
          <a:p>
            <a:pPr eaLnBrk="1" hangingPunct="1">
              <a:lnSpc>
                <a:spcPct val="120000"/>
              </a:lnSpc>
              <a:buClr>
                <a:schemeClr val="accent2"/>
              </a:buClr>
            </a:pPr>
            <a:r>
              <a:rPr kumimoji="0" lang="zh-CN" altLang="en-US" sz="2800" dirty="0">
                <a:latin typeface="华文中宋" panose="02010600040101010101" pitchFamily="2" charset="-122"/>
                <a:ea typeface="华文中宋" panose="02010600040101010101" pitchFamily="2" charset="-122"/>
              </a:rPr>
              <a:t>    </a:t>
            </a:r>
            <a:endParaRPr lang="zh-CN" altLang="en-US" sz="2800" dirty="0">
              <a:latin typeface="华文中宋" panose="02010600040101010101" pitchFamily="2" charset="-122"/>
              <a:ea typeface="华文中宋" panose="02010600040101010101" pitchFamily="2" charset="-122"/>
            </a:endParaRPr>
          </a:p>
        </p:txBody>
      </p:sp>
      <p:graphicFrame>
        <p:nvGraphicFramePr>
          <p:cNvPr id="25606" name="Object 4">
            <a:extLst>
              <a:ext uri="{FF2B5EF4-FFF2-40B4-BE49-F238E27FC236}">
                <a16:creationId xmlns:a16="http://schemas.microsoft.com/office/drawing/2014/main" id="{999C1431-B3F7-4661-B420-F6DFBF13AEB2}"/>
              </a:ext>
            </a:extLst>
          </p:cNvPr>
          <p:cNvGraphicFramePr>
            <a:graphicFrameLocks noChangeAspect="1"/>
          </p:cNvGraphicFramePr>
          <p:nvPr/>
        </p:nvGraphicFramePr>
        <p:xfrm>
          <a:off x="4346575" y="4495800"/>
          <a:ext cx="1597025" cy="996950"/>
        </p:xfrm>
        <a:graphic>
          <a:graphicData uri="http://schemas.openxmlformats.org/presentationml/2006/ole">
            <mc:AlternateContent xmlns:mc="http://schemas.openxmlformats.org/markup-compatibility/2006">
              <mc:Choice xmlns:v="urn:schemas-microsoft-com:vml" Requires="v">
                <p:oleObj name="公式" r:id="rId2" imgW="761669" imgH="431613" progId="Equation.3">
                  <p:embed/>
                </p:oleObj>
              </mc:Choice>
              <mc:Fallback>
                <p:oleObj name="公式" r:id="rId2" imgW="761669" imgH="43161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6575" y="4495800"/>
                        <a:ext cx="1597025"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1" name="Rectangle 4">
            <a:extLst>
              <a:ext uri="{FF2B5EF4-FFF2-40B4-BE49-F238E27FC236}">
                <a16:creationId xmlns:a16="http://schemas.microsoft.com/office/drawing/2014/main" id="{987E589E-027E-4FC7-AE6C-B80F134EE282}"/>
              </a:ext>
            </a:extLst>
          </p:cNvPr>
          <p:cNvSpPr>
            <a:spLocks noGrp="1" noChangeArrowheads="1"/>
          </p:cNvSpPr>
          <p:nvPr>
            <p:ph type="body" idx="1"/>
          </p:nvPr>
        </p:nvSpPr>
        <p:spPr bwMode="auto">
          <a:xfrm>
            <a:off x="159767" y="1035844"/>
            <a:ext cx="8824465" cy="4786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266700" eaLnBrk="1" hangingPunct="1">
              <a:lnSpc>
                <a:spcPct val="120000"/>
              </a:lnSpc>
              <a:spcBef>
                <a:spcPct val="0"/>
              </a:spcBef>
              <a:buFontTx/>
              <a:buNone/>
            </a:pPr>
            <a:r>
              <a:rPr lang="en-US" altLang="zh-CN" sz="2400" b="1" dirty="0">
                <a:latin typeface="Input" panose="02000506020000090004" pitchFamily="2" charset="0"/>
              </a:rPr>
              <a:t>void backtrack (int </a:t>
            </a:r>
            <a:r>
              <a:rPr lang="en-US" altLang="zh-CN" sz="2400" b="1" dirty="0" err="1">
                <a:latin typeface="Input" panose="02000506020000090004" pitchFamily="2" charset="0"/>
              </a:rPr>
              <a:t>i</a:t>
            </a:r>
            <a:r>
              <a:rPr lang="en-US" altLang="zh-CN" sz="2400" b="1" dirty="0">
                <a:latin typeface="Input" panose="02000506020000090004" pitchFamily="2" charset="0"/>
              </a:rPr>
              <a:t>) // </a:t>
            </a:r>
            <a:r>
              <a:rPr lang="zh-CN" altLang="en-US" sz="2400" b="1" dirty="0">
                <a:latin typeface="Input" panose="02000506020000090004" pitchFamily="2" charset="0"/>
              </a:rPr>
              <a:t>搜索第</a:t>
            </a:r>
            <a:r>
              <a:rPr lang="en-US" altLang="zh-CN" sz="2400" b="1" dirty="0" err="1">
                <a:latin typeface="Input" panose="02000506020000090004" pitchFamily="2" charset="0"/>
              </a:rPr>
              <a:t>i</a:t>
            </a:r>
            <a:r>
              <a:rPr lang="zh-CN" altLang="en-US" sz="2400" b="1" dirty="0">
                <a:latin typeface="Input" panose="02000506020000090004" pitchFamily="2" charset="0"/>
              </a:rPr>
              <a:t>层结点</a:t>
            </a:r>
            <a:endParaRPr lang="en-US" altLang="zh-CN" sz="2400" b="1" dirty="0">
              <a:latin typeface="Input" panose="02000506020000090004" pitchFamily="2" charset="0"/>
            </a:endParaRPr>
          </a:p>
          <a:p>
            <a:pPr marL="0" indent="266700" eaLnBrk="1" hangingPunct="1">
              <a:lnSpc>
                <a:spcPct val="120000"/>
              </a:lnSpc>
              <a:spcBef>
                <a:spcPct val="0"/>
              </a:spcBef>
              <a:buFontTx/>
              <a:buNone/>
            </a:pPr>
            <a:r>
              <a:rPr lang="en-US" altLang="zh-CN" sz="2400" b="1" dirty="0">
                <a:solidFill>
                  <a:srgbClr val="FF3399"/>
                </a:solidFill>
                <a:latin typeface="Input" panose="02000506020000090004" pitchFamily="2" charset="0"/>
              </a:rPr>
              <a:t>{</a:t>
            </a: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if (</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&gt; n)  </a:t>
            </a:r>
            <a:r>
              <a:rPr lang="en-US" altLang="zh-CN" sz="2400" b="1" dirty="0">
                <a:solidFill>
                  <a:srgbClr val="7030A0"/>
                </a:solidFill>
                <a:latin typeface="Input" panose="02000506020000090004" pitchFamily="2" charset="0"/>
              </a:rPr>
              <a:t>{</a:t>
            </a:r>
            <a:r>
              <a:rPr lang="en-US" altLang="zh-CN" sz="2400" b="1" dirty="0">
                <a:solidFill>
                  <a:srgbClr val="3333CC"/>
                </a:solidFill>
                <a:latin typeface="Input" panose="02000506020000090004" pitchFamily="2" charset="0"/>
              </a:rPr>
              <a:t> // </a:t>
            </a:r>
            <a:r>
              <a:rPr lang="zh-CN" altLang="en-US" sz="2400" b="1" dirty="0">
                <a:solidFill>
                  <a:srgbClr val="3333CC"/>
                </a:solidFill>
                <a:latin typeface="Input" panose="02000506020000090004" pitchFamily="2" charset="0"/>
              </a:rPr>
              <a:t>到达叶结点</a:t>
            </a:r>
            <a:endParaRPr lang="en-US" altLang="zh-CN" sz="2400" b="1" dirty="0">
              <a:solidFill>
                <a:srgbClr val="3333CC"/>
              </a:solidFill>
              <a:latin typeface="Input" panose="02000506020000090004" pitchFamily="2" charset="0"/>
            </a:endParaRP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a:t>
            </a:r>
            <a:r>
              <a:rPr lang="en-US" altLang="zh-CN" sz="2400" b="1" dirty="0">
                <a:latin typeface="Input" panose="02000506020000090004" pitchFamily="2" charset="0"/>
              </a:rPr>
              <a:t>if (</a:t>
            </a:r>
            <a:r>
              <a:rPr lang="en-US" altLang="zh-CN" sz="2400" b="1" dirty="0" err="1">
                <a:latin typeface="Input" panose="02000506020000090004" pitchFamily="2" charset="0"/>
              </a:rPr>
              <a:t>cw</a:t>
            </a:r>
            <a:r>
              <a:rPr lang="en-US" altLang="zh-CN" sz="2400" b="1" dirty="0">
                <a:latin typeface="Input" panose="02000506020000090004" pitchFamily="2" charset="0"/>
              </a:rPr>
              <a:t>&gt;</a:t>
            </a:r>
            <a:r>
              <a:rPr lang="en-US" altLang="zh-CN" sz="2400" b="1" dirty="0" err="1">
                <a:latin typeface="Input" panose="02000506020000090004" pitchFamily="2" charset="0"/>
              </a:rPr>
              <a:t>bestw</a:t>
            </a:r>
            <a:r>
              <a:rPr lang="en-US" altLang="zh-CN" sz="2400" b="1" dirty="0">
                <a:latin typeface="Input" panose="02000506020000090004" pitchFamily="2" charset="0"/>
              </a:rPr>
              <a:t>) </a:t>
            </a:r>
            <a:r>
              <a:rPr lang="en-US" altLang="zh-CN" sz="2400" b="1" dirty="0" err="1">
                <a:latin typeface="Input" panose="02000506020000090004" pitchFamily="2" charset="0"/>
              </a:rPr>
              <a:t>bestw</a:t>
            </a:r>
            <a:r>
              <a:rPr lang="en-US" altLang="zh-CN" sz="2400" b="1" dirty="0">
                <a:latin typeface="Input" panose="02000506020000090004" pitchFamily="2" charset="0"/>
              </a:rPr>
              <a:t>=</a:t>
            </a:r>
            <a:r>
              <a:rPr lang="en-US" altLang="zh-CN" sz="2400" b="1" dirty="0" err="1">
                <a:latin typeface="Input" panose="02000506020000090004" pitchFamily="2" charset="0"/>
              </a:rPr>
              <a:t>cw</a:t>
            </a:r>
            <a:r>
              <a:rPr lang="en-US" altLang="zh-CN" sz="2400" b="1" dirty="0">
                <a:latin typeface="Input" panose="02000506020000090004" pitchFamily="2" charset="0"/>
              </a:rPr>
              <a:t>; //</a:t>
            </a:r>
            <a:r>
              <a:rPr lang="zh-CN" altLang="en-US" sz="2400" b="1" dirty="0">
                <a:latin typeface="Input" panose="02000506020000090004" pitchFamily="2" charset="0"/>
              </a:rPr>
              <a:t>修正最优值</a:t>
            </a:r>
            <a:endParaRPr lang="en-US" altLang="zh-CN" sz="2400" b="1" dirty="0">
              <a:latin typeface="Input" panose="02000506020000090004" pitchFamily="2" charset="0"/>
            </a:endParaRPr>
          </a:p>
          <a:p>
            <a:pPr marL="0" indent="266700" eaLnBrk="1" hangingPunct="1">
              <a:lnSpc>
                <a:spcPct val="120000"/>
              </a:lnSpc>
              <a:spcBef>
                <a:spcPct val="0"/>
              </a:spcBef>
              <a:buFontTx/>
              <a:buNone/>
            </a:pPr>
            <a:r>
              <a:rPr lang="en-US" altLang="zh-CN" sz="2400" b="1" dirty="0">
                <a:latin typeface="Input" panose="02000506020000090004" pitchFamily="2" charset="0"/>
              </a:rPr>
              <a:t>           return;</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a:solidFill>
                  <a:srgbClr val="7030A0"/>
                </a:solidFill>
                <a:latin typeface="Input" panose="02000506020000090004" pitchFamily="2" charset="0"/>
              </a:rPr>
              <a:t>}</a:t>
            </a: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if (</a:t>
            </a:r>
            <a:r>
              <a:rPr lang="en-US" altLang="zh-CN" sz="2400" b="1" dirty="0" err="1">
                <a:solidFill>
                  <a:srgbClr val="3333CC"/>
                </a:solidFill>
                <a:latin typeface="Input" panose="02000506020000090004" pitchFamily="2" charset="0"/>
              </a:rPr>
              <a:t>cw</a:t>
            </a:r>
            <a:r>
              <a:rPr lang="en-US" altLang="zh-CN" sz="2400" b="1" dirty="0">
                <a:solidFill>
                  <a:srgbClr val="3333CC"/>
                </a:solidFill>
                <a:latin typeface="Input" panose="02000506020000090004" pitchFamily="2" charset="0"/>
              </a:rPr>
              <a:t> + w[</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&lt;= c) </a:t>
            </a:r>
            <a:r>
              <a:rPr lang="en-US" altLang="zh-CN" sz="2400" b="1" dirty="0">
                <a:solidFill>
                  <a:srgbClr val="7030A0"/>
                </a:solidFill>
                <a:latin typeface="Input" panose="02000506020000090004" pitchFamily="2" charset="0"/>
              </a:rPr>
              <a:t>{</a:t>
            </a:r>
            <a:r>
              <a:rPr lang="en-US" altLang="zh-CN" sz="2400" b="1" dirty="0">
                <a:solidFill>
                  <a:srgbClr val="3333CC"/>
                </a:solidFill>
                <a:latin typeface="Input" panose="02000506020000090004" pitchFamily="2" charset="0"/>
              </a:rPr>
              <a:t>// </a:t>
            </a:r>
            <a:r>
              <a:rPr lang="zh-CN" altLang="en-US" sz="2400" b="1" dirty="0">
                <a:solidFill>
                  <a:srgbClr val="3333CC"/>
                </a:solidFill>
                <a:latin typeface="Input" panose="02000506020000090004" pitchFamily="2" charset="0"/>
              </a:rPr>
              <a:t>搜索左子树</a:t>
            </a:r>
          </a:p>
          <a:p>
            <a:pPr marL="0" indent="266700" eaLnBrk="1" hangingPunct="1">
              <a:lnSpc>
                <a:spcPct val="120000"/>
              </a:lnSpc>
              <a:spcBef>
                <a:spcPct val="0"/>
              </a:spcBef>
              <a:buFontTx/>
              <a:buNone/>
            </a:pPr>
            <a:r>
              <a:rPr lang="zh-CN" altLang="en-US" sz="2400" b="1" dirty="0">
                <a:latin typeface="Input" panose="02000506020000090004" pitchFamily="2" charset="0"/>
              </a:rPr>
              <a:t>         </a:t>
            </a:r>
            <a:r>
              <a:rPr lang="en-US" altLang="zh-CN" sz="2400" b="1" dirty="0" err="1">
                <a:latin typeface="Input" panose="02000506020000090004" pitchFamily="2" charset="0"/>
              </a:rPr>
              <a:t>cw</a:t>
            </a:r>
            <a:r>
              <a:rPr lang="en-US" altLang="zh-CN" sz="2400" b="1" dirty="0">
                <a:latin typeface="Input" panose="02000506020000090004" pitchFamily="2" charset="0"/>
              </a:rPr>
              <a:t> += w[</a:t>
            </a:r>
            <a:r>
              <a:rPr lang="en-US" altLang="zh-CN" sz="2400" b="1" dirty="0" err="1">
                <a:latin typeface="Input" panose="02000506020000090004" pitchFamily="2" charset="0"/>
              </a:rPr>
              <a:t>i</a:t>
            </a:r>
            <a:r>
              <a:rPr lang="en-US" altLang="zh-CN" sz="2400" b="1" dirty="0">
                <a:latin typeface="Input" panose="02000506020000090004" pitchFamily="2" charset="0"/>
              </a:rPr>
              <a:t>];</a:t>
            </a:r>
          </a:p>
          <a:p>
            <a:pPr marL="0" indent="266700" eaLnBrk="1" hangingPunct="1">
              <a:lnSpc>
                <a:spcPct val="120000"/>
              </a:lnSpc>
              <a:spcBef>
                <a:spcPct val="0"/>
              </a:spcBef>
              <a:buFontTx/>
              <a:buNone/>
            </a:pPr>
            <a:r>
              <a:rPr lang="en-US" altLang="zh-CN" sz="2400" b="1" dirty="0">
                <a:latin typeface="Input" panose="02000506020000090004" pitchFamily="2" charset="0"/>
              </a:rPr>
              <a:t>         backtrack(</a:t>
            </a:r>
            <a:r>
              <a:rPr lang="en-US" altLang="zh-CN" sz="2400" b="1" dirty="0" err="1">
                <a:latin typeface="Input" panose="02000506020000090004" pitchFamily="2" charset="0"/>
              </a:rPr>
              <a:t>i</a:t>
            </a:r>
            <a:r>
              <a:rPr lang="en-US" altLang="zh-CN" sz="2400" b="1" dirty="0">
                <a:latin typeface="Input" panose="02000506020000090004" pitchFamily="2" charset="0"/>
              </a:rPr>
              <a:t> + 1);</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err="1">
                <a:latin typeface="Input" panose="02000506020000090004" pitchFamily="2" charset="0"/>
              </a:rPr>
              <a:t>cw</a:t>
            </a:r>
            <a:r>
              <a:rPr lang="en-US" altLang="zh-CN" sz="2400" b="1" dirty="0">
                <a:latin typeface="Input" panose="02000506020000090004" pitchFamily="2" charset="0"/>
              </a:rPr>
              <a:t> -= w[</a:t>
            </a:r>
            <a:r>
              <a:rPr lang="en-US" altLang="zh-CN" sz="2400" b="1" dirty="0" err="1">
                <a:latin typeface="Input" panose="02000506020000090004" pitchFamily="2" charset="0"/>
              </a:rPr>
              <a:t>i</a:t>
            </a:r>
            <a:r>
              <a:rPr lang="en-US" altLang="zh-CN" sz="2400" b="1" dirty="0">
                <a:latin typeface="Input" panose="02000506020000090004" pitchFamily="2" charset="0"/>
              </a:rPr>
              <a:t>];      </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a:solidFill>
                  <a:srgbClr val="7030A0"/>
                </a:solidFill>
                <a:latin typeface="Input" panose="02000506020000090004" pitchFamily="2" charset="0"/>
              </a:rPr>
              <a:t>}</a:t>
            </a:r>
            <a:r>
              <a:rPr lang="en-US" altLang="zh-CN" sz="2400" b="1" dirty="0">
                <a:latin typeface="Input" panose="02000506020000090004" pitchFamily="2" charset="0"/>
              </a:rPr>
              <a:t>           //</a:t>
            </a:r>
            <a:r>
              <a:rPr lang="zh-CN" altLang="en-US" sz="2400" b="1" dirty="0">
                <a:latin typeface="Input" panose="02000506020000090004" pitchFamily="2" charset="0"/>
              </a:rPr>
              <a:t>回退</a:t>
            </a:r>
          </a:p>
          <a:p>
            <a:pPr marL="0" indent="266700" eaLnBrk="1" hangingPunct="1">
              <a:lnSpc>
                <a:spcPct val="120000"/>
              </a:lnSpc>
              <a:spcBef>
                <a:spcPct val="0"/>
              </a:spcBef>
              <a:buFontTx/>
              <a:buNone/>
            </a:pPr>
            <a:r>
              <a:rPr lang="zh-CN" altLang="en-US" sz="2400" b="1" dirty="0">
                <a:solidFill>
                  <a:srgbClr val="3333CC"/>
                </a:solidFill>
                <a:latin typeface="Input" panose="02000506020000090004" pitchFamily="2" charset="0"/>
              </a:rPr>
              <a:t>     </a:t>
            </a:r>
            <a:r>
              <a:rPr lang="en-US" altLang="zh-CN" sz="2400" b="1" dirty="0">
                <a:solidFill>
                  <a:srgbClr val="3333CC"/>
                </a:solidFill>
                <a:latin typeface="Input" panose="02000506020000090004" pitchFamily="2" charset="0"/>
              </a:rPr>
              <a:t>backtrack(</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+ 1); // </a:t>
            </a:r>
            <a:r>
              <a:rPr lang="zh-CN" altLang="en-US" sz="2400" b="1" dirty="0">
                <a:solidFill>
                  <a:srgbClr val="3333CC"/>
                </a:solidFill>
                <a:latin typeface="Input" panose="02000506020000090004" pitchFamily="2" charset="0"/>
              </a:rPr>
              <a:t>搜索右子树</a:t>
            </a:r>
          </a:p>
          <a:p>
            <a:pPr marL="0" indent="266700" eaLnBrk="1" hangingPunct="1">
              <a:lnSpc>
                <a:spcPct val="120000"/>
              </a:lnSpc>
              <a:spcBef>
                <a:spcPct val="0"/>
              </a:spcBef>
              <a:buFontTx/>
              <a:buNone/>
            </a:pPr>
            <a:r>
              <a:rPr lang="zh-CN" altLang="en-US" sz="2400" b="1" dirty="0">
                <a:latin typeface="Input" panose="02000506020000090004" pitchFamily="2" charset="0"/>
              </a:rPr>
              <a:t>  </a:t>
            </a:r>
            <a:r>
              <a:rPr lang="en-US" altLang="zh-CN" sz="2400" b="1" dirty="0">
                <a:solidFill>
                  <a:srgbClr val="FF3399"/>
                </a:solidFill>
                <a:latin typeface="Input" panose="02000506020000090004" pitchFamily="2" charset="0"/>
              </a:rPr>
              <a:t>}</a:t>
            </a:r>
          </a:p>
        </p:txBody>
      </p:sp>
      <p:sp>
        <p:nvSpPr>
          <p:cNvPr id="27652" name="Rectangle 5">
            <a:extLst>
              <a:ext uri="{FF2B5EF4-FFF2-40B4-BE49-F238E27FC236}">
                <a16:creationId xmlns:a16="http://schemas.microsoft.com/office/drawing/2014/main" id="{14DF3F3E-00A8-4FDC-8634-2E3107BCF170}"/>
              </a:ext>
            </a:extLst>
          </p:cNvPr>
          <p:cNvSpPr>
            <a:spLocks noChangeArrowheads="1"/>
          </p:cNvSpPr>
          <p:nvPr/>
        </p:nvSpPr>
        <p:spPr bwMode="auto">
          <a:xfrm>
            <a:off x="5652120" y="4149080"/>
            <a:ext cx="3410928" cy="857250"/>
          </a:xfrm>
          <a:prstGeom prst="rect">
            <a:avLst/>
          </a:prstGeom>
          <a:noFill/>
          <a:ln w="3492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ea typeface="华文中宋" panose="02010600040101010101" pitchFamily="2" charset="-122"/>
              </a:rPr>
              <a:t>设</a:t>
            </a:r>
            <a:r>
              <a:rPr lang="en-US" altLang="zh-CN" dirty="0" err="1">
                <a:solidFill>
                  <a:srgbClr val="FF0000"/>
                </a:solidFill>
                <a:ea typeface="华文中宋" panose="02010600040101010101" pitchFamily="2" charset="-122"/>
              </a:rPr>
              <a:t>cw</a:t>
            </a:r>
            <a:r>
              <a:rPr lang="zh-CN" altLang="en-US" dirty="0">
                <a:solidFill>
                  <a:srgbClr val="FF0000"/>
                </a:solidFill>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是当前载重量</a:t>
            </a:r>
          </a:p>
          <a:p>
            <a:pPr eaLnBrk="1" hangingPunct="1"/>
            <a:r>
              <a:rPr lang="en-US" altLang="zh-CN" dirty="0" err="1">
                <a:solidFill>
                  <a:srgbClr val="FF0000"/>
                </a:solidFill>
                <a:latin typeface="华文中宋" panose="02010600040101010101" pitchFamily="2" charset="-122"/>
                <a:ea typeface="华文中宋" panose="02010600040101010101" pitchFamily="2" charset="-122"/>
              </a:rPr>
              <a:t>b</a:t>
            </a:r>
            <a:r>
              <a:rPr lang="en-US" altLang="zh-CN" dirty="0" err="1">
                <a:solidFill>
                  <a:srgbClr val="FF0000"/>
                </a:solidFill>
                <a:ea typeface="华文中宋" panose="02010600040101010101" pitchFamily="2" charset="-122"/>
              </a:rPr>
              <a:t>estw</a:t>
            </a:r>
            <a:r>
              <a:rPr lang="zh-CN" altLang="en-US" dirty="0">
                <a:solidFill>
                  <a:srgbClr val="FF0000"/>
                </a:solidFill>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当前最优载重量</a:t>
            </a:r>
          </a:p>
        </p:txBody>
      </p:sp>
      <p:sp>
        <p:nvSpPr>
          <p:cNvPr id="64518" name="Text Box 6">
            <a:extLst>
              <a:ext uri="{FF2B5EF4-FFF2-40B4-BE49-F238E27FC236}">
                <a16:creationId xmlns:a16="http://schemas.microsoft.com/office/drawing/2014/main" id="{0773750E-D746-493F-A6F2-917B92BF7D0B}"/>
              </a:ext>
            </a:extLst>
          </p:cNvPr>
          <p:cNvSpPr txBox="1">
            <a:spLocks noChangeArrowheads="1"/>
          </p:cNvSpPr>
          <p:nvPr/>
        </p:nvSpPr>
        <p:spPr bwMode="auto">
          <a:xfrm>
            <a:off x="6876256" y="5396560"/>
            <a:ext cx="2147384" cy="1082476"/>
          </a:xfrm>
          <a:prstGeom prst="rect">
            <a:avLst/>
          </a:prstGeom>
          <a:noFill/>
          <a:ln w="381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chemeClr val="accent2"/>
              </a:buClr>
            </a:pPr>
            <a:r>
              <a:rPr kumimoji="0" lang="zh-CN" altLang="en-US" sz="2800" dirty="0">
                <a:latin typeface="华文中宋" panose="02010600040101010101" pitchFamily="2" charset="-122"/>
                <a:ea typeface="华文中宋" panose="02010600040101010101" pitchFamily="2" charset="-122"/>
              </a:rPr>
              <a:t>约束函数：</a:t>
            </a:r>
          </a:p>
          <a:p>
            <a:pPr eaLnBrk="1" hangingPunct="1">
              <a:lnSpc>
                <a:spcPct val="120000"/>
              </a:lnSpc>
              <a:buClr>
                <a:schemeClr val="accent2"/>
              </a:buClr>
            </a:pPr>
            <a:r>
              <a:rPr lang="en-US" altLang="zh-CN" dirty="0" err="1">
                <a:solidFill>
                  <a:srgbClr val="FF0000"/>
                </a:solidFill>
                <a:ea typeface="华文中宋" panose="02010600040101010101" pitchFamily="2" charset="-122"/>
              </a:rPr>
              <a:t>cw</a:t>
            </a:r>
            <a:r>
              <a:rPr lang="en-US" altLang="zh-CN" dirty="0">
                <a:solidFill>
                  <a:srgbClr val="FF0000"/>
                </a:solidFill>
                <a:ea typeface="华文中宋" panose="02010600040101010101" pitchFamily="2" charset="-122"/>
              </a:rPr>
              <a:t> + w[</a:t>
            </a:r>
            <a:r>
              <a:rPr lang="en-US" altLang="zh-CN" dirty="0" err="1">
                <a:solidFill>
                  <a:srgbClr val="FF0000"/>
                </a:solidFill>
                <a:ea typeface="华文中宋" panose="02010600040101010101" pitchFamily="2" charset="-122"/>
              </a:rPr>
              <a:t>i</a:t>
            </a:r>
            <a:r>
              <a:rPr lang="en-US" altLang="zh-CN" dirty="0">
                <a:solidFill>
                  <a:srgbClr val="FF0000"/>
                </a:solidFill>
                <a:ea typeface="华文中宋" panose="02010600040101010101" pitchFamily="2" charset="-122"/>
              </a:rPr>
              <a:t>]</a:t>
            </a:r>
            <a:r>
              <a:rPr lang="en-US" altLang="zh-CN" dirty="0">
                <a:ea typeface="华文中宋" panose="02010600040101010101" pitchFamily="2" charset="-122"/>
              </a:rPr>
              <a:t> &lt;= c</a:t>
            </a:r>
            <a:r>
              <a:rPr kumimoji="0" lang="en-US" altLang="zh-CN" sz="2800" dirty="0">
                <a:latin typeface="华文中宋" panose="02010600040101010101" pitchFamily="2" charset="-122"/>
                <a:ea typeface="华文中宋" panose="02010600040101010101" pitchFamily="2" charset="-122"/>
              </a:rPr>
              <a:t>    </a:t>
            </a:r>
          </a:p>
        </p:txBody>
      </p:sp>
      <p:sp>
        <p:nvSpPr>
          <p:cNvPr id="8" name="Rectangle 2">
            <a:extLst>
              <a:ext uri="{FF2B5EF4-FFF2-40B4-BE49-F238E27FC236}">
                <a16:creationId xmlns:a16="http://schemas.microsoft.com/office/drawing/2014/main" id="{3A1B8D05-F54E-43BC-8895-CBFB8A4B67BC}"/>
              </a:ext>
            </a:extLst>
          </p:cNvPr>
          <p:cNvSpPr>
            <a:spLocks noGrp="1" noChangeArrowheads="1"/>
          </p:cNvSpPr>
          <p:nvPr>
            <p:ph type="title"/>
          </p:nvPr>
        </p:nvSpPr>
        <p:spPr bwMode="auto">
          <a:xfrm>
            <a:off x="642938" y="285750"/>
            <a:ext cx="7772400" cy="785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kumimoji="0" lang="zh-CN" altLang="en-US" sz="4000" b="1" dirty="0">
                <a:latin typeface="华文中宋" panose="02010600040101010101" pitchFamily="2" charset="-122"/>
              </a:rPr>
              <a:t>程序框架</a:t>
            </a:r>
            <a:endParaRPr lang="zh-CN" altLang="en-US" sz="4000" b="1" dirty="0">
              <a:solidFill>
                <a:srgbClr val="FF0000"/>
              </a:solidFill>
            </a:endParaRPr>
          </a:p>
        </p:txBody>
      </p:sp>
      <p:sp>
        <p:nvSpPr>
          <p:cNvPr id="9" name="矩形 5">
            <a:extLst>
              <a:ext uri="{FF2B5EF4-FFF2-40B4-BE49-F238E27FC236}">
                <a16:creationId xmlns:a16="http://schemas.microsoft.com/office/drawing/2014/main" id="{848C93B5-30A5-416A-AFB0-068BE17BC64A}"/>
              </a:ext>
            </a:extLst>
          </p:cNvPr>
          <p:cNvSpPr>
            <a:spLocks noChangeArrowheads="1"/>
          </p:cNvSpPr>
          <p:nvPr/>
        </p:nvSpPr>
        <p:spPr bwMode="auto">
          <a:xfrm>
            <a:off x="1979712" y="2420888"/>
            <a:ext cx="4752527" cy="792088"/>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0" name="矩形 6">
            <a:extLst>
              <a:ext uri="{FF2B5EF4-FFF2-40B4-BE49-F238E27FC236}">
                <a16:creationId xmlns:a16="http://schemas.microsoft.com/office/drawing/2014/main" id="{341A8D71-0ADA-4531-A812-3EF7842E359E}"/>
              </a:ext>
            </a:extLst>
          </p:cNvPr>
          <p:cNvSpPr>
            <a:spLocks noChangeArrowheads="1"/>
          </p:cNvSpPr>
          <p:nvPr/>
        </p:nvSpPr>
        <p:spPr bwMode="auto">
          <a:xfrm>
            <a:off x="1835696" y="4165943"/>
            <a:ext cx="2289304" cy="396358"/>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1" name="矩形 6">
            <a:extLst>
              <a:ext uri="{FF2B5EF4-FFF2-40B4-BE49-F238E27FC236}">
                <a16:creationId xmlns:a16="http://schemas.microsoft.com/office/drawing/2014/main" id="{EFA4CAB4-04E2-44D5-8EF9-D23992E7B204}"/>
              </a:ext>
            </a:extLst>
          </p:cNvPr>
          <p:cNvSpPr>
            <a:spLocks noChangeArrowheads="1"/>
          </p:cNvSpPr>
          <p:nvPr/>
        </p:nvSpPr>
        <p:spPr bwMode="auto">
          <a:xfrm>
            <a:off x="1850648" y="5069883"/>
            <a:ext cx="2289304" cy="357188"/>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8"/>
                                        </p:tgtEl>
                                        <p:attrNameLst>
                                          <p:attrName>style.visibility</p:attrName>
                                        </p:attrNameLst>
                                      </p:cBhvr>
                                      <p:to>
                                        <p:strVal val="visible"/>
                                      </p:to>
                                    </p:set>
                                    <p:anim calcmode="lin" valueType="num">
                                      <p:cBhvr additive="base">
                                        <p:cTn id="7" dur="500" fill="hold"/>
                                        <p:tgtEl>
                                          <p:spTgt spid="64518"/>
                                        </p:tgtEl>
                                        <p:attrNameLst>
                                          <p:attrName>ppt_x</p:attrName>
                                        </p:attrNameLst>
                                      </p:cBhvr>
                                      <p:tavLst>
                                        <p:tav tm="0">
                                          <p:val>
                                            <p:strVal val="0-#ppt_w/2"/>
                                          </p:val>
                                        </p:tav>
                                        <p:tav tm="100000">
                                          <p:val>
                                            <p:strVal val="#ppt_x"/>
                                          </p:val>
                                        </p:tav>
                                      </p:tavLst>
                                    </p:anim>
                                    <p:anim calcmode="lin" valueType="num">
                                      <p:cBhvr additive="base">
                                        <p:cTn id="8" dur="500" fill="hold"/>
                                        <p:tgtEl>
                                          <p:spTgt spid="645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8"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4">
            <a:extLst>
              <a:ext uri="{FF2B5EF4-FFF2-40B4-BE49-F238E27FC236}">
                <a16:creationId xmlns:a16="http://schemas.microsoft.com/office/drawing/2014/main" id="{987E589E-027E-4FC7-AE6C-B80F134EE282}"/>
              </a:ext>
            </a:extLst>
          </p:cNvPr>
          <p:cNvSpPr>
            <a:spLocks noGrp="1" noChangeArrowheads="1"/>
          </p:cNvSpPr>
          <p:nvPr>
            <p:ph type="body" idx="1"/>
          </p:nvPr>
        </p:nvSpPr>
        <p:spPr bwMode="auto">
          <a:xfrm>
            <a:off x="159767" y="1035844"/>
            <a:ext cx="8824465" cy="47863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266700" eaLnBrk="1" hangingPunct="1">
              <a:lnSpc>
                <a:spcPct val="120000"/>
              </a:lnSpc>
              <a:spcBef>
                <a:spcPct val="0"/>
              </a:spcBef>
              <a:buFontTx/>
              <a:buNone/>
            </a:pPr>
            <a:r>
              <a:rPr lang="en-US" altLang="zh-CN" sz="2400" b="1" dirty="0">
                <a:latin typeface="Input" panose="02000506020000090004" pitchFamily="2" charset="0"/>
              </a:rPr>
              <a:t>void backtrack (int </a:t>
            </a:r>
            <a:r>
              <a:rPr lang="en-US" altLang="zh-CN" sz="2400" b="1" dirty="0" err="1">
                <a:latin typeface="Input" panose="02000506020000090004" pitchFamily="2" charset="0"/>
              </a:rPr>
              <a:t>i</a:t>
            </a:r>
            <a:r>
              <a:rPr lang="en-US" altLang="zh-CN" sz="2400" b="1" dirty="0">
                <a:latin typeface="Input" panose="02000506020000090004" pitchFamily="2" charset="0"/>
              </a:rPr>
              <a:t>) // </a:t>
            </a:r>
            <a:r>
              <a:rPr lang="zh-CN" altLang="en-US" sz="2400" b="1" dirty="0">
                <a:latin typeface="Input" panose="02000506020000090004" pitchFamily="2" charset="0"/>
              </a:rPr>
              <a:t>搜索第</a:t>
            </a:r>
            <a:r>
              <a:rPr lang="en-US" altLang="zh-CN" sz="2400" b="1" dirty="0" err="1">
                <a:latin typeface="Input" panose="02000506020000090004" pitchFamily="2" charset="0"/>
              </a:rPr>
              <a:t>i</a:t>
            </a:r>
            <a:r>
              <a:rPr lang="zh-CN" altLang="en-US" sz="2400" b="1" dirty="0">
                <a:latin typeface="Input" panose="02000506020000090004" pitchFamily="2" charset="0"/>
              </a:rPr>
              <a:t>层结点</a:t>
            </a:r>
            <a:endParaRPr lang="en-US" altLang="zh-CN" sz="2400" b="1" dirty="0">
              <a:latin typeface="Input" panose="02000506020000090004" pitchFamily="2" charset="0"/>
            </a:endParaRPr>
          </a:p>
          <a:p>
            <a:pPr marL="0" indent="266700" eaLnBrk="1" hangingPunct="1">
              <a:lnSpc>
                <a:spcPct val="120000"/>
              </a:lnSpc>
              <a:spcBef>
                <a:spcPct val="0"/>
              </a:spcBef>
              <a:buFontTx/>
              <a:buNone/>
            </a:pPr>
            <a:r>
              <a:rPr lang="en-US" altLang="zh-CN" sz="2400" b="1" dirty="0">
                <a:solidFill>
                  <a:srgbClr val="FF3399"/>
                </a:solidFill>
                <a:latin typeface="Input" panose="02000506020000090004" pitchFamily="2" charset="0"/>
              </a:rPr>
              <a:t>{</a:t>
            </a: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if (</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&gt; n)  </a:t>
            </a:r>
            <a:r>
              <a:rPr lang="en-US" altLang="zh-CN" sz="2400" b="1" dirty="0">
                <a:solidFill>
                  <a:srgbClr val="7030A0"/>
                </a:solidFill>
                <a:latin typeface="Input" panose="02000506020000090004" pitchFamily="2" charset="0"/>
              </a:rPr>
              <a:t>{</a:t>
            </a:r>
            <a:r>
              <a:rPr lang="en-US" altLang="zh-CN" sz="2400" b="1" dirty="0">
                <a:solidFill>
                  <a:srgbClr val="3333CC"/>
                </a:solidFill>
                <a:latin typeface="Input" panose="02000506020000090004" pitchFamily="2" charset="0"/>
              </a:rPr>
              <a:t> // </a:t>
            </a:r>
            <a:r>
              <a:rPr lang="zh-CN" altLang="en-US" sz="2400" b="1" dirty="0">
                <a:solidFill>
                  <a:srgbClr val="3333CC"/>
                </a:solidFill>
                <a:latin typeface="Input" panose="02000506020000090004" pitchFamily="2" charset="0"/>
              </a:rPr>
              <a:t>到达叶结点</a:t>
            </a:r>
            <a:endParaRPr lang="en-US" altLang="zh-CN" sz="2400" b="1" dirty="0">
              <a:solidFill>
                <a:srgbClr val="3333CC"/>
              </a:solidFill>
              <a:latin typeface="Input" panose="02000506020000090004" pitchFamily="2" charset="0"/>
            </a:endParaRP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a:t>
            </a:r>
            <a:r>
              <a:rPr lang="en-US" altLang="zh-CN" sz="2400" b="1" dirty="0">
                <a:latin typeface="Input" panose="02000506020000090004" pitchFamily="2" charset="0"/>
              </a:rPr>
              <a:t>if (</a:t>
            </a:r>
            <a:r>
              <a:rPr lang="en-US" altLang="zh-CN" sz="2400" b="1" dirty="0" err="1">
                <a:latin typeface="Input" panose="02000506020000090004" pitchFamily="2" charset="0"/>
              </a:rPr>
              <a:t>cw</a:t>
            </a:r>
            <a:r>
              <a:rPr lang="en-US" altLang="zh-CN" sz="2400" b="1" dirty="0">
                <a:latin typeface="Input" panose="02000506020000090004" pitchFamily="2" charset="0"/>
              </a:rPr>
              <a:t>&gt;</a:t>
            </a:r>
            <a:r>
              <a:rPr lang="en-US" altLang="zh-CN" sz="2400" b="1" dirty="0" err="1">
                <a:latin typeface="Input" panose="02000506020000090004" pitchFamily="2" charset="0"/>
              </a:rPr>
              <a:t>bestw</a:t>
            </a:r>
            <a:r>
              <a:rPr lang="en-US" altLang="zh-CN" sz="2400" b="1" dirty="0">
                <a:latin typeface="Input" panose="02000506020000090004" pitchFamily="2" charset="0"/>
              </a:rPr>
              <a:t>) </a:t>
            </a:r>
            <a:r>
              <a:rPr lang="en-US" altLang="zh-CN" sz="2400" b="1" dirty="0" err="1">
                <a:latin typeface="Input" panose="02000506020000090004" pitchFamily="2" charset="0"/>
              </a:rPr>
              <a:t>bestw</a:t>
            </a:r>
            <a:r>
              <a:rPr lang="en-US" altLang="zh-CN" sz="2400" b="1" dirty="0">
                <a:latin typeface="Input" panose="02000506020000090004" pitchFamily="2" charset="0"/>
              </a:rPr>
              <a:t>=</a:t>
            </a:r>
            <a:r>
              <a:rPr lang="en-US" altLang="zh-CN" sz="2400" b="1" dirty="0" err="1">
                <a:latin typeface="Input" panose="02000506020000090004" pitchFamily="2" charset="0"/>
              </a:rPr>
              <a:t>cw</a:t>
            </a:r>
            <a:r>
              <a:rPr lang="en-US" altLang="zh-CN" sz="2400" b="1" dirty="0">
                <a:latin typeface="Input" panose="02000506020000090004" pitchFamily="2" charset="0"/>
              </a:rPr>
              <a:t>; //</a:t>
            </a:r>
            <a:r>
              <a:rPr lang="zh-CN" altLang="en-US" sz="2400" b="1" dirty="0">
                <a:latin typeface="Input" panose="02000506020000090004" pitchFamily="2" charset="0"/>
              </a:rPr>
              <a:t>修正最优值</a:t>
            </a:r>
            <a:endParaRPr lang="en-US" altLang="zh-CN" sz="2400" b="1" dirty="0">
              <a:latin typeface="Input" panose="02000506020000090004" pitchFamily="2" charset="0"/>
            </a:endParaRPr>
          </a:p>
          <a:p>
            <a:pPr marL="0" indent="266700" eaLnBrk="1" hangingPunct="1">
              <a:lnSpc>
                <a:spcPct val="120000"/>
              </a:lnSpc>
              <a:spcBef>
                <a:spcPct val="0"/>
              </a:spcBef>
              <a:buFontTx/>
              <a:buNone/>
            </a:pPr>
            <a:r>
              <a:rPr lang="en-US" altLang="zh-CN" sz="2400" b="1" dirty="0">
                <a:latin typeface="Input" panose="02000506020000090004" pitchFamily="2" charset="0"/>
              </a:rPr>
              <a:t>           return;</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a:solidFill>
                  <a:srgbClr val="7030A0"/>
                </a:solidFill>
                <a:latin typeface="Input" panose="02000506020000090004" pitchFamily="2" charset="0"/>
              </a:rPr>
              <a:t>}</a:t>
            </a:r>
          </a:p>
          <a:p>
            <a:pPr marL="0" indent="266700" eaLnBrk="1" hangingPunct="1">
              <a:lnSpc>
                <a:spcPct val="120000"/>
              </a:lnSpc>
              <a:spcBef>
                <a:spcPct val="0"/>
              </a:spcBef>
              <a:buFontTx/>
              <a:buNone/>
            </a:pPr>
            <a:r>
              <a:rPr lang="en-US" altLang="zh-CN" sz="2400" b="1" dirty="0">
                <a:solidFill>
                  <a:srgbClr val="3333CC"/>
                </a:solidFill>
                <a:latin typeface="Input" panose="02000506020000090004" pitchFamily="2" charset="0"/>
              </a:rPr>
              <a:t>     if (</a:t>
            </a:r>
            <a:r>
              <a:rPr lang="en-US" altLang="zh-CN" sz="2400" b="1" dirty="0" err="1">
                <a:solidFill>
                  <a:srgbClr val="3333CC"/>
                </a:solidFill>
                <a:latin typeface="Input" panose="02000506020000090004" pitchFamily="2" charset="0"/>
              </a:rPr>
              <a:t>cw</a:t>
            </a:r>
            <a:r>
              <a:rPr lang="en-US" altLang="zh-CN" sz="2400" b="1" dirty="0">
                <a:solidFill>
                  <a:srgbClr val="3333CC"/>
                </a:solidFill>
                <a:latin typeface="Input" panose="02000506020000090004" pitchFamily="2" charset="0"/>
              </a:rPr>
              <a:t> + w[</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&lt;= c) </a:t>
            </a:r>
            <a:r>
              <a:rPr lang="en-US" altLang="zh-CN" sz="2400" b="1" dirty="0">
                <a:solidFill>
                  <a:srgbClr val="7030A0"/>
                </a:solidFill>
                <a:latin typeface="Input" panose="02000506020000090004" pitchFamily="2" charset="0"/>
              </a:rPr>
              <a:t>{</a:t>
            </a:r>
            <a:r>
              <a:rPr lang="en-US" altLang="zh-CN" sz="2400" b="1" dirty="0">
                <a:solidFill>
                  <a:srgbClr val="3333CC"/>
                </a:solidFill>
                <a:latin typeface="Input" panose="02000506020000090004" pitchFamily="2" charset="0"/>
              </a:rPr>
              <a:t>// </a:t>
            </a:r>
            <a:r>
              <a:rPr lang="zh-CN" altLang="en-US" sz="2400" b="1" dirty="0">
                <a:solidFill>
                  <a:srgbClr val="3333CC"/>
                </a:solidFill>
                <a:latin typeface="Input" panose="02000506020000090004" pitchFamily="2" charset="0"/>
              </a:rPr>
              <a:t>搜索左子树</a:t>
            </a:r>
          </a:p>
          <a:p>
            <a:pPr marL="0" indent="266700" eaLnBrk="1" hangingPunct="1">
              <a:lnSpc>
                <a:spcPct val="120000"/>
              </a:lnSpc>
              <a:spcBef>
                <a:spcPct val="0"/>
              </a:spcBef>
              <a:buFontTx/>
              <a:buNone/>
            </a:pPr>
            <a:r>
              <a:rPr lang="zh-CN" altLang="en-US" sz="2400" b="1" dirty="0">
                <a:latin typeface="Input" panose="02000506020000090004" pitchFamily="2" charset="0"/>
              </a:rPr>
              <a:t>         </a:t>
            </a:r>
            <a:r>
              <a:rPr lang="en-US" altLang="zh-CN" sz="2400" b="1" dirty="0" err="1">
                <a:latin typeface="Input" panose="02000506020000090004" pitchFamily="2" charset="0"/>
              </a:rPr>
              <a:t>cw</a:t>
            </a:r>
            <a:r>
              <a:rPr lang="en-US" altLang="zh-CN" sz="2400" b="1" dirty="0">
                <a:latin typeface="Input" panose="02000506020000090004" pitchFamily="2" charset="0"/>
              </a:rPr>
              <a:t> += w[</a:t>
            </a:r>
            <a:r>
              <a:rPr lang="en-US" altLang="zh-CN" sz="2400" b="1" dirty="0" err="1">
                <a:latin typeface="Input" panose="02000506020000090004" pitchFamily="2" charset="0"/>
              </a:rPr>
              <a:t>i</a:t>
            </a:r>
            <a:r>
              <a:rPr lang="en-US" altLang="zh-CN" sz="2400" b="1" dirty="0">
                <a:latin typeface="Input" panose="02000506020000090004" pitchFamily="2" charset="0"/>
              </a:rPr>
              <a:t>];</a:t>
            </a:r>
          </a:p>
          <a:p>
            <a:pPr marL="0" indent="266700" eaLnBrk="1" hangingPunct="1">
              <a:lnSpc>
                <a:spcPct val="120000"/>
              </a:lnSpc>
              <a:spcBef>
                <a:spcPct val="0"/>
              </a:spcBef>
              <a:buFontTx/>
              <a:buNone/>
            </a:pPr>
            <a:r>
              <a:rPr lang="en-US" altLang="zh-CN" sz="2400" b="1" dirty="0">
                <a:latin typeface="Input" panose="02000506020000090004" pitchFamily="2" charset="0"/>
              </a:rPr>
              <a:t>         backtrack(</a:t>
            </a:r>
            <a:r>
              <a:rPr lang="en-US" altLang="zh-CN" sz="2400" b="1" dirty="0" err="1">
                <a:latin typeface="Input" panose="02000506020000090004" pitchFamily="2" charset="0"/>
              </a:rPr>
              <a:t>i</a:t>
            </a:r>
            <a:r>
              <a:rPr lang="en-US" altLang="zh-CN" sz="2400" b="1" dirty="0">
                <a:latin typeface="Input" panose="02000506020000090004" pitchFamily="2" charset="0"/>
              </a:rPr>
              <a:t> + 1);</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err="1">
                <a:latin typeface="Input" panose="02000506020000090004" pitchFamily="2" charset="0"/>
              </a:rPr>
              <a:t>cw</a:t>
            </a:r>
            <a:r>
              <a:rPr lang="en-US" altLang="zh-CN" sz="2400" b="1" dirty="0">
                <a:latin typeface="Input" panose="02000506020000090004" pitchFamily="2" charset="0"/>
              </a:rPr>
              <a:t> -= w[</a:t>
            </a:r>
            <a:r>
              <a:rPr lang="en-US" altLang="zh-CN" sz="2400" b="1" dirty="0" err="1">
                <a:latin typeface="Input" panose="02000506020000090004" pitchFamily="2" charset="0"/>
              </a:rPr>
              <a:t>i</a:t>
            </a:r>
            <a:r>
              <a:rPr lang="en-US" altLang="zh-CN" sz="2400" b="1" dirty="0">
                <a:latin typeface="Input" panose="02000506020000090004" pitchFamily="2" charset="0"/>
              </a:rPr>
              <a:t>];      </a:t>
            </a:r>
          </a:p>
          <a:p>
            <a:pPr marL="0" indent="266700" eaLnBrk="1" hangingPunct="1">
              <a:lnSpc>
                <a:spcPct val="120000"/>
              </a:lnSpc>
              <a:spcBef>
                <a:spcPct val="0"/>
              </a:spcBef>
              <a:buFontTx/>
              <a:buNone/>
            </a:pPr>
            <a:r>
              <a:rPr lang="en-US" altLang="zh-CN" sz="2400" b="1" dirty="0">
                <a:latin typeface="Input" panose="02000506020000090004" pitchFamily="2" charset="0"/>
              </a:rPr>
              <a:t>     </a:t>
            </a:r>
            <a:r>
              <a:rPr lang="en-US" altLang="zh-CN" sz="2400" b="1" dirty="0">
                <a:solidFill>
                  <a:srgbClr val="7030A0"/>
                </a:solidFill>
                <a:latin typeface="Input" panose="02000506020000090004" pitchFamily="2" charset="0"/>
              </a:rPr>
              <a:t>}</a:t>
            </a:r>
            <a:r>
              <a:rPr lang="en-US" altLang="zh-CN" sz="2400" b="1" dirty="0">
                <a:latin typeface="Input" panose="02000506020000090004" pitchFamily="2" charset="0"/>
              </a:rPr>
              <a:t>           //</a:t>
            </a:r>
            <a:r>
              <a:rPr lang="zh-CN" altLang="en-US" sz="2400" b="1" dirty="0">
                <a:latin typeface="Input" panose="02000506020000090004" pitchFamily="2" charset="0"/>
              </a:rPr>
              <a:t>回退</a:t>
            </a:r>
          </a:p>
          <a:p>
            <a:pPr marL="0" indent="266700" eaLnBrk="1" hangingPunct="1">
              <a:lnSpc>
                <a:spcPct val="120000"/>
              </a:lnSpc>
              <a:spcBef>
                <a:spcPct val="0"/>
              </a:spcBef>
              <a:buFontTx/>
              <a:buNone/>
            </a:pPr>
            <a:r>
              <a:rPr lang="zh-CN" altLang="en-US" sz="2400" b="1" dirty="0">
                <a:solidFill>
                  <a:srgbClr val="3333CC"/>
                </a:solidFill>
                <a:latin typeface="Input" panose="02000506020000090004" pitchFamily="2" charset="0"/>
              </a:rPr>
              <a:t>     </a:t>
            </a:r>
            <a:r>
              <a:rPr lang="en-US" altLang="zh-CN" sz="2400" b="1" dirty="0">
                <a:solidFill>
                  <a:srgbClr val="3333CC"/>
                </a:solidFill>
                <a:latin typeface="Input" panose="02000506020000090004" pitchFamily="2" charset="0"/>
              </a:rPr>
              <a:t>backtrack(</a:t>
            </a:r>
            <a:r>
              <a:rPr lang="en-US" altLang="zh-CN" sz="2400" b="1" dirty="0" err="1">
                <a:solidFill>
                  <a:srgbClr val="3333CC"/>
                </a:solidFill>
                <a:latin typeface="Input" panose="02000506020000090004" pitchFamily="2" charset="0"/>
              </a:rPr>
              <a:t>i</a:t>
            </a:r>
            <a:r>
              <a:rPr lang="en-US" altLang="zh-CN" sz="2400" b="1" dirty="0">
                <a:solidFill>
                  <a:srgbClr val="3333CC"/>
                </a:solidFill>
                <a:latin typeface="Input" panose="02000506020000090004" pitchFamily="2" charset="0"/>
              </a:rPr>
              <a:t> + 1); // </a:t>
            </a:r>
            <a:r>
              <a:rPr lang="zh-CN" altLang="en-US" sz="2400" b="1" dirty="0">
                <a:solidFill>
                  <a:srgbClr val="3333CC"/>
                </a:solidFill>
                <a:latin typeface="Input" panose="02000506020000090004" pitchFamily="2" charset="0"/>
              </a:rPr>
              <a:t>搜索右子树</a:t>
            </a:r>
          </a:p>
          <a:p>
            <a:pPr marL="0" indent="266700" eaLnBrk="1" hangingPunct="1">
              <a:lnSpc>
                <a:spcPct val="120000"/>
              </a:lnSpc>
              <a:spcBef>
                <a:spcPct val="0"/>
              </a:spcBef>
              <a:buFontTx/>
              <a:buNone/>
            </a:pPr>
            <a:r>
              <a:rPr lang="zh-CN" altLang="en-US" sz="2400" b="1" dirty="0">
                <a:latin typeface="Input" panose="02000506020000090004" pitchFamily="2" charset="0"/>
              </a:rPr>
              <a:t>  </a:t>
            </a:r>
            <a:r>
              <a:rPr lang="en-US" altLang="zh-CN" sz="2400" b="1" dirty="0">
                <a:solidFill>
                  <a:srgbClr val="FF3399"/>
                </a:solidFill>
                <a:latin typeface="Input" panose="02000506020000090004" pitchFamily="2" charset="0"/>
              </a:rPr>
              <a:t>}</a:t>
            </a:r>
          </a:p>
        </p:txBody>
      </p:sp>
      <p:sp>
        <p:nvSpPr>
          <p:cNvPr id="27652" name="Rectangle 5">
            <a:extLst>
              <a:ext uri="{FF2B5EF4-FFF2-40B4-BE49-F238E27FC236}">
                <a16:creationId xmlns:a16="http://schemas.microsoft.com/office/drawing/2014/main" id="{14DF3F3E-00A8-4FDC-8634-2E3107BCF170}"/>
              </a:ext>
            </a:extLst>
          </p:cNvPr>
          <p:cNvSpPr>
            <a:spLocks noChangeArrowheads="1"/>
          </p:cNvSpPr>
          <p:nvPr/>
        </p:nvSpPr>
        <p:spPr bwMode="auto">
          <a:xfrm>
            <a:off x="5652120" y="4149080"/>
            <a:ext cx="3410928" cy="857250"/>
          </a:xfrm>
          <a:prstGeom prst="rect">
            <a:avLst/>
          </a:prstGeom>
          <a:noFill/>
          <a:ln w="3492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ea typeface="华文中宋" panose="02010600040101010101" pitchFamily="2" charset="-122"/>
              </a:rPr>
              <a:t>设</a:t>
            </a:r>
            <a:r>
              <a:rPr lang="en-US" altLang="zh-CN" dirty="0" err="1">
                <a:solidFill>
                  <a:srgbClr val="FF0000"/>
                </a:solidFill>
                <a:ea typeface="华文中宋" panose="02010600040101010101" pitchFamily="2" charset="-122"/>
              </a:rPr>
              <a:t>cw</a:t>
            </a:r>
            <a:r>
              <a:rPr lang="zh-CN" altLang="en-US" dirty="0">
                <a:solidFill>
                  <a:srgbClr val="FF0000"/>
                </a:solidFill>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是当前载重量</a:t>
            </a:r>
          </a:p>
          <a:p>
            <a:pPr eaLnBrk="1" hangingPunct="1"/>
            <a:r>
              <a:rPr lang="en-US" altLang="zh-CN" dirty="0" err="1">
                <a:solidFill>
                  <a:srgbClr val="FF0000"/>
                </a:solidFill>
                <a:latin typeface="华文中宋" panose="02010600040101010101" pitchFamily="2" charset="-122"/>
                <a:ea typeface="华文中宋" panose="02010600040101010101" pitchFamily="2" charset="-122"/>
              </a:rPr>
              <a:t>b</a:t>
            </a:r>
            <a:r>
              <a:rPr lang="en-US" altLang="zh-CN" dirty="0" err="1">
                <a:solidFill>
                  <a:srgbClr val="FF0000"/>
                </a:solidFill>
                <a:ea typeface="华文中宋" panose="02010600040101010101" pitchFamily="2" charset="-122"/>
              </a:rPr>
              <a:t>estw</a:t>
            </a:r>
            <a:r>
              <a:rPr lang="zh-CN" altLang="en-US" dirty="0">
                <a:solidFill>
                  <a:srgbClr val="FF0000"/>
                </a:solidFill>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当前最优载重量</a:t>
            </a:r>
          </a:p>
        </p:txBody>
      </p:sp>
      <p:sp>
        <p:nvSpPr>
          <p:cNvPr id="64518" name="Text Box 6">
            <a:extLst>
              <a:ext uri="{FF2B5EF4-FFF2-40B4-BE49-F238E27FC236}">
                <a16:creationId xmlns:a16="http://schemas.microsoft.com/office/drawing/2014/main" id="{0773750E-D746-493F-A6F2-917B92BF7D0B}"/>
              </a:ext>
            </a:extLst>
          </p:cNvPr>
          <p:cNvSpPr txBox="1">
            <a:spLocks noChangeArrowheads="1"/>
          </p:cNvSpPr>
          <p:nvPr/>
        </p:nvSpPr>
        <p:spPr bwMode="auto">
          <a:xfrm>
            <a:off x="6876256" y="5396560"/>
            <a:ext cx="2147384" cy="1082476"/>
          </a:xfrm>
          <a:prstGeom prst="rect">
            <a:avLst/>
          </a:prstGeom>
          <a:noFill/>
          <a:ln w="381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Clr>
                <a:schemeClr val="accent2"/>
              </a:buClr>
            </a:pPr>
            <a:r>
              <a:rPr kumimoji="0" lang="zh-CN" altLang="en-US" sz="2800" dirty="0">
                <a:latin typeface="华文中宋" panose="02010600040101010101" pitchFamily="2" charset="-122"/>
                <a:ea typeface="华文中宋" panose="02010600040101010101" pitchFamily="2" charset="-122"/>
              </a:rPr>
              <a:t>约束函数：</a:t>
            </a:r>
          </a:p>
          <a:p>
            <a:pPr eaLnBrk="1" hangingPunct="1">
              <a:lnSpc>
                <a:spcPct val="120000"/>
              </a:lnSpc>
              <a:buClr>
                <a:schemeClr val="accent2"/>
              </a:buClr>
            </a:pPr>
            <a:r>
              <a:rPr lang="en-US" altLang="zh-CN" dirty="0" err="1">
                <a:solidFill>
                  <a:srgbClr val="FF0000"/>
                </a:solidFill>
                <a:ea typeface="华文中宋" panose="02010600040101010101" pitchFamily="2" charset="-122"/>
              </a:rPr>
              <a:t>cw</a:t>
            </a:r>
            <a:r>
              <a:rPr lang="en-US" altLang="zh-CN" dirty="0">
                <a:solidFill>
                  <a:srgbClr val="FF0000"/>
                </a:solidFill>
                <a:ea typeface="华文中宋" panose="02010600040101010101" pitchFamily="2" charset="-122"/>
              </a:rPr>
              <a:t> + w[</a:t>
            </a:r>
            <a:r>
              <a:rPr lang="en-US" altLang="zh-CN" dirty="0" err="1">
                <a:solidFill>
                  <a:srgbClr val="FF0000"/>
                </a:solidFill>
                <a:ea typeface="华文中宋" panose="02010600040101010101" pitchFamily="2" charset="-122"/>
              </a:rPr>
              <a:t>i</a:t>
            </a:r>
            <a:r>
              <a:rPr lang="en-US" altLang="zh-CN" dirty="0">
                <a:solidFill>
                  <a:srgbClr val="FF0000"/>
                </a:solidFill>
                <a:ea typeface="华文中宋" panose="02010600040101010101" pitchFamily="2" charset="-122"/>
              </a:rPr>
              <a:t>]</a:t>
            </a:r>
            <a:r>
              <a:rPr lang="en-US" altLang="zh-CN" dirty="0">
                <a:ea typeface="华文中宋" panose="02010600040101010101" pitchFamily="2" charset="-122"/>
              </a:rPr>
              <a:t> &lt;= c</a:t>
            </a:r>
            <a:r>
              <a:rPr kumimoji="0" lang="en-US" altLang="zh-CN" sz="2800" dirty="0">
                <a:latin typeface="华文中宋" panose="02010600040101010101" pitchFamily="2" charset="-122"/>
                <a:ea typeface="华文中宋" panose="02010600040101010101" pitchFamily="2" charset="-122"/>
              </a:rPr>
              <a:t>    </a:t>
            </a:r>
          </a:p>
        </p:txBody>
      </p:sp>
      <p:sp>
        <p:nvSpPr>
          <p:cNvPr id="8" name="Rectangle 2">
            <a:extLst>
              <a:ext uri="{FF2B5EF4-FFF2-40B4-BE49-F238E27FC236}">
                <a16:creationId xmlns:a16="http://schemas.microsoft.com/office/drawing/2014/main" id="{3A1B8D05-F54E-43BC-8895-CBFB8A4B67BC}"/>
              </a:ext>
            </a:extLst>
          </p:cNvPr>
          <p:cNvSpPr>
            <a:spLocks noGrp="1" noChangeArrowheads="1"/>
          </p:cNvSpPr>
          <p:nvPr>
            <p:ph type="title"/>
          </p:nvPr>
        </p:nvSpPr>
        <p:spPr bwMode="auto">
          <a:xfrm>
            <a:off x="642938" y="285750"/>
            <a:ext cx="7772400" cy="785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kumimoji="0" lang="zh-CN" altLang="en-US" sz="4000" b="1" dirty="0">
                <a:latin typeface="华文中宋" panose="02010600040101010101" pitchFamily="2" charset="-122"/>
              </a:rPr>
              <a:t>程序框架</a:t>
            </a:r>
            <a:endParaRPr lang="zh-CN" altLang="en-US" sz="4000" b="1" dirty="0">
              <a:solidFill>
                <a:srgbClr val="FF0000"/>
              </a:solidFill>
            </a:endParaRPr>
          </a:p>
        </p:txBody>
      </p:sp>
    </p:spTree>
    <p:extLst>
      <p:ext uri="{BB962C8B-B14F-4D97-AF65-F5344CB8AC3E}">
        <p14:creationId xmlns:p14="http://schemas.microsoft.com/office/powerpoint/2010/main" val="4041965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9D54287-3077-4A9D-8291-49D741A7B836}"/>
              </a:ext>
            </a:extLst>
          </p:cNvPr>
          <p:cNvSpPr>
            <a:spLocks noGrp="1" noChangeArrowheads="1"/>
          </p:cNvSpPr>
          <p:nvPr>
            <p:ph type="title"/>
          </p:nvPr>
        </p:nvSpPr>
        <p:spPr bwMode="auto">
          <a:xfrm>
            <a:off x="762000" y="1524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latin typeface="华文中宋" panose="02010600040101010101" pitchFamily="2" charset="-122"/>
              </a:rPr>
              <a:t>剪枝处理</a:t>
            </a:r>
            <a:r>
              <a:rPr lang="en-US" altLang="zh-CN" sz="3600" b="1" dirty="0">
                <a:solidFill>
                  <a:srgbClr val="FF0000"/>
                </a:solidFill>
              </a:rPr>
              <a:t>—</a:t>
            </a:r>
            <a:r>
              <a:rPr lang="zh-CN" altLang="en-US" sz="3600" b="1" dirty="0">
                <a:solidFill>
                  <a:srgbClr val="FF0000"/>
                </a:solidFill>
              </a:rPr>
              <a:t>求最优值</a:t>
            </a:r>
          </a:p>
        </p:txBody>
      </p:sp>
      <p:sp>
        <p:nvSpPr>
          <p:cNvPr id="65539" name="Rectangle 3">
            <a:extLst>
              <a:ext uri="{FF2B5EF4-FFF2-40B4-BE49-F238E27FC236}">
                <a16:creationId xmlns:a16="http://schemas.microsoft.com/office/drawing/2014/main" id="{AEC1B3DD-A2F0-4E4C-A7F6-96F9F88C5D25}"/>
              </a:ext>
            </a:extLst>
          </p:cNvPr>
          <p:cNvSpPr>
            <a:spLocks noGrp="1" noChangeArrowheads="1"/>
          </p:cNvSpPr>
          <p:nvPr>
            <p:ph type="body" idx="1"/>
          </p:nvPr>
        </p:nvSpPr>
        <p:spPr bwMode="auto">
          <a:xfrm>
            <a:off x="685800" y="9144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dirty="0" err="1"/>
              <a:t>cw</a:t>
            </a:r>
            <a:r>
              <a:rPr lang="zh-CN" altLang="en-US" sz="2400" b="1" dirty="0"/>
              <a:t>：</a:t>
            </a:r>
            <a:r>
              <a:rPr lang="zh-CN" altLang="en-US" sz="2400" b="1" dirty="0">
                <a:latin typeface="华文中宋" panose="02010600040101010101" pitchFamily="2" charset="-122"/>
              </a:rPr>
              <a:t>是当前载重量，</a:t>
            </a:r>
            <a:r>
              <a:rPr lang="en-US" altLang="zh-CN" sz="2400" b="1" dirty="0" err="1">
                <a:latin typeface="华文中宋" panose="02010600040101010101" pitchFamily="2" charset="-122"/>
              </a:rPr>
              <a:t>b</a:t>
            </a:r>
            <a:r>
              <a:rPr lang="en-US" altLang="zh-CN" sz="2400" b="1" dirty="0" err="1"/>
              <a:t>estw</a:t>
            </a:r>
            <a:r>
              <a:rPr lang="zh-CN" altLang="en-US" sz="2400" b="1" dirty="0"/>
              <a:t>：</a:t>
            </a:r>
            <a:r>
              <a:rPr lang="zh-CN" altLang="en-US" sz="2400" b="1" dirty="0">
                <a:latin typeface="华文中宋" panose="02010600040101010101" pitchFamily="2" charset="-122"/>
              </a:rPr>
              <a:t>当前最优载重量</a:t>
            </a:r>
          </a:p>
          <a:p>
            <a:pPr eaLnBrk="1" hangingPunct="1"/>
            <a:r>
              <a:rPr lang="en-US" altLang="zh-CN" sz="2400" b="1" dirty="0"/>
              <a:t>r</a:t>
            </a:r>
            <a:r>
              <a:rPr lang="zh-CN" altLang="en-US" sz="2400" b="1" dirty="0"/>
              <a:t>：</a:t>
            </a:r>
            <a:r>
              <a:rPr lang="zh-CN" altLang="en-US" sz="2400" b="1" dirty="0">
                <a:latin typeface="华文中宋" panose="02010600040101010101" pitchFamily="2" charset="-122"/>
              </a:rPr>
              <a:t>剩余集装箱的重量，</a:t>
            </a:r>
            <a:r>
              <a:rPr lang="zh-CN" altLang="en-US" sz="2400" b="1" dirty="0">
                <a:solidFill>
                  <a:srgbClr val="FF0000"/>
                </a:solidFill>
              </a:rPr>
              <a:t>限界</a:t>
            </a:r>
            <a:r>
              <a:rPr lang="zh-CN" altLang="en-US" sz="2400" b="1" dirty="0">
                <a:solidFill>
                  <a:srgbClr val="FF0000"/>
                </a:solidFill>
                <a:latin typeface="华文中宋" panose="02010600040101010101" pitchFamily="2" charset="-122"/>
              </a:rPr>
              <a:t>函数：</a:t>
            </a:r>
            <a:r>
              <a:rPr lang="en-US" altLang="zh-CN" sz="2400" b="1" dirty="0" err="1">
                <a:solidFill>
                  <a:srgbClr val="FF0000"/>
                </a:solidFill>
              </a:rPr>
              <a:t>cw+r</a:t>
            </a:r>
            <a:r>
              <a:rPr lang="en-US" altLang="zh-CN" sz="2400" b="1" dirty="0">
                <a:solidFill>
                  <a:srgbClr val="FF0000"/>
                </a:solidFill>
              </a:rPr>
              <a:t> </a:t>
            </a:r>
            <a:r>
              <a:rPr lang="en-US" altLang="zh-CN" sz="2200" b="1" dirty="0">
                <a:solidFill>
                  <a:srgbClr val="CC6600"/>
                </a:solidFill>
              </a:rPr>
              <a:t>&gt; </a:t>
            </a:r>
            <a:r>
              <a:rPr lang="en-US" altLang="zh-CN" sz="2200" b="1" dirty="0" err="1">
                <a:solidFill>
                  <a:srgbClr val="CC6600"/>
                </a:solidFill>
              </a:rPr>
              <a:t>bestw</a:t>
            </a:r>
            <a:endParaRPr lang="en-US" altLang="zh-CN" sz="2200" b="1" dirty="0">
              <a:solidFill>
                <a:srgbClr val="CC6600"/>
              </a:solidFill>
            </a:endParaRPr>
          </a:p>
        </p:txBody>
      </p:sp>
      <p:sp>
        <p:nvSpPr>
          <p:cNvPr id="65540" name="Rectangle 4">
            <a:extLst>
              <a:ext uri="{FF2B5EF4-FFF2-40B4-BE49-F238E27FC236}">
                <a16:creationId xmlns:a16="http://schemas.microsoft.com/office/drawing/2014/main" id="{3F0E420B-EF0F-4B56-B7F8-46A01565DEF9}"/>
              </a:ext>
            </a:extLst>
          </p:cNvPr>
          <p:cNvSpPr>
            <a:spLocks noChangeArrowheads="1"/>
          </p:cNvSpPr>
          <p:nvPr/>
        </p:nvSpPr>
        <p:spPr bwMode="auto">
          <a:xfrm>
            <a:off x="928688" y="1954213"/>
            <a:ext cx="6462712"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spAutoFit/>
          </a:bodyPr>
          <a:lstStyle>
            <a:lvl1pPr indent="2667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dirty="0">
                <a:ea typeface="华文中宋" panose="02010600040101010101" pitchFamily="2" charset="-122"/>
              </a:rPr>
              <a:t>void backtrack (int </a:t>
            </a:r>
            <a:r>
              <a:rPr lang="en-US" altLang="zh-CN" sz="2200" dirty="0" err="1">
                <a:ea typeface="华文中宋" panose="02010600040101010101" pitchFamily="2" charset="-122"/>
              </a:rPr>
              <a:t>i</a:t>
            </a:r>
            <a:r>
              <a:rPr lang="en-US" altLang="zh-CN" sz="2200" dirty="0">
                <a:ea typeface="华文中宋" panose="02010600040101010101" pitchFamily="2" charset="-122"/>
              </a:rPr>
              <a:t>)  {// </a:t>
            </a:r>
            <a:r>
              <a:rPr lang="zh-CN" altLang="en-US" sz="2200" dirty="0">
                <a:ea typeface="华文中宋" panose="02010600040101010101" pitchFamily="2" charset="-122"/>
              </a:rPr>
              <a:t>搜索第</a:t>
            </a:r>
            <a:r>
              <a:rPr lang="en-US" altLang="zh-CN" sz="2200" dirty="0" err="1">
                <a:ea typeface="华文中宋" panose="02010600040101010101" pitchFamily="2" charset="-122"/>
              </a:rPr>
              <a:t>i</a:t>
            </a:r>
            <a:r>
              <a:rPr lang="zh-CN" altLang="en-US" sz="2200" dirty="0">
                <a:ea typeface="华文中宋" panose="02010600040101010101" pitchFamily="2" charset="-122"/>
              </a:rPr>
              <a:t>层结点</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if (</a:t>
            </a:r>
            <a:r>
              <a:rPr lang="en-US" altLang="zh-CN" sz="2200" dirty="0" err="1">
                <a:ea typeface="华文中宋" panose="02010600040101010101" pitchFamily="2" charset="-122"/>
              </a:rPr>
              <a:t>i</a:t>
            </a:r>
            <a:r>
              <a:rPr lang="en-US" altLang="zh-CN" sz="2200" dirty="0">
                <a:ea typeface="华文中宋" panose="02010600040101010101" pitchFamily="2" charset="-122"/>
              </a:rPr>
              <a:t> &gt; n) { // </a:t>
            </a:r>
            <a:r>
              <a:rPr lang="zh-CN" altLang="en-US" sz="2200" dirty="0">
                <a:ea typeface="华文中宋" panose="02010600040101010101" pitchFamily="2" charset="-122"/>
              </a:rPr>
              <a:t>到达叶结点</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if (</a:t>
            </a:r>
            <a:r>
              <a:rPr lang="en-US" altLang="zh-CN" sz="2200" dirty="0" err="1">
                <a:ea typeface="华文中宋" panose="02010600040101010101" pitchFamily="2" charset="-122"/>
              </a:rPr>
              <a:t>cw</a:t>
            </a:r>
            <a:r>
              <a:rPr lang="en-US" altLang="zh-CN" sz="2200" dirty="0">
                <a:ea typeface="华文中宋" panose="02010600040101010101" pitchFamily="2" charset="-122"/>
              </a:rPr>
              <a:t>&gt;</a:t>
            </a:r>
            <a:r>
              <a:rPr lang="en-US" altLang="zh-CN" sz="2200" dirty="0" err="1">
                <a:ea typeface="华文中宋" panose="02010600040101010101" pitchFamily="2" charset="-122"/>
              </a:rPr>
              <a:t>bestw</a:t>
            </a:r>
            <a:r>
              <a:rPr lang="en-US" altLang="zh-CN" sz="2200" dirty="0">
                <a:ea typeface="华文中宋" panose="02010600040101010101" pitchFamily="2" charset="-122"/>
              </a:rPr>
              <a:t>)  </a:t>
            </a:r>
            <a:r>
              <a:rPr lang="en-US" altLang="zh-CN" sz="2200" dirty="0" err="1">
                <a:ea typeface="华文中宋" panose="02010600040101010101" pitchFamily="2" charset="-122"/>
              </a:rPr>
              <a:t>bestw</a:t>
            </a:r>
            <a:r>
              <a:rPr lang="en-US" altLang="zh-CN" sz="2200" dirty="0">
                <a:ea typeface="华文中宋" panose="02010600040101010101" pitchFamily="2" charset="-122"/>
              </a:rPr>
              <a:t>=</a:t>
            </a:r>
            <a:r>
              <a:rPr lang="en-US" altLang="zh-CN" sz="2200" dirty="0" err="1">
                <a:ea typeface="华文中宋" panose="02010600040101010101" pitchFamily="2" charset="-122"/>
              </a:rPr>
              <a:t>cw</a:t>
            </a:r>
            <a:r>
              <a:rPr lang="en-US" altLang="zh-CN" sz="2200" dirty="0">
                <a:ea typeface="华文中宋" panose="02010600040101010101" pitchFamily="2" charset="-122"/>
              </a:rPr>
              <a:t>;</a:t>
            </a:r>
          </a:p>
          <a:p>
            <a:pPr eaLnBrk="1" hangingPunct="1"/>
            <a:r>
              <a:rPr lang="en-US" altLang="zh-CN" sz="2200" dirty="0">
                <a:ea typeface="华文中宋" panose="02010600040101010101" pitchFamily="2" charset="-122"/>
              </a:rPr>
              <a:t>         return;}</a:t>
            </a:r>
          </a:p>
          <a:p>
            <a:pPr eaLnBrk="1" hangingPunct="1"/>
            <a:r>
              <a:rPr lang="en-US" altLang="zh-CN" sz="2200" dirty="0">
                <a:ea typeface="华文中宋" panose="02010600040101010101" pitchFamily="2" charset="-122"/>
              </a:rPr>
              <a:t>       </a:t>
            </a:r>
            <a:r>
              <a:rPr lang="en-US" altLang="zh-CN" sz="2200" dirty="0">
                <a:solidFill>
                  <a:srgbClr val="FF0000"/>
                </a:solidFill>
                <a:ea typeface="华文中宋" panose="02010600040101010101" pitchFamily="2" charset="-122"/>
              </a:rPr>
              <a:t>r -= w[</a:t>
            </a:r>
            <a:r>
              <a:rPr lang="en-US" altLang="zh-CN" sz="2200" dirty="0" err="1">
                <a:solidFill>
                  <a:srgbClr val="FF0000"/>
                </a:solidFill>
                <a:ea typeface="华文中宋" panose="02010600040101010101" pitchFamily="2" charset="-122"/>
              </a:rPr>
              <a:t>i</a:t>
            </a:r>
            <a:r>
              <a:rPr lang="en-US" altLang="zh-CN" sz="2200" dirty="0">
                <a:solidFill>
                  <a:srgbClr val="FF0000"/>
                </a:solidFill>
                <a:ea typeface="华文中宋" panose="02010600040101010101" pitchFamily="2" charset="-122"/>
              </a:rPr>
              <a:t>];</a:t>
            </a:r>
          </a:p>
          <a:p>
            <a:pPr eaLnBrk="1" hangingPunct="1"/>
            <a:r>
              <a:rPr lang="en-US" altLang="zh-CN" sz="2200" dirty="0">
                <a:ea typeface="华文中宋" panose="02010600040101010101" pitchFamily="2" charset="-122"/>
              </a:rPr>
              <a:t>       if (</a:t>
            </a:r>
            <a:r>
              <a:rPr lang="en-US" altLang="zh-CN" sz="2200" dirty="0" err="1">
                <a:solidFill>
                  <a:srgbClr val="CC6600"/>
                </a:solidFill>
                <a:ea typeface="华文中宋" panose="02010600040101010101" pitchFamily="2" charset="-122"/>
              </a:rPr>
              <a:t>cw</a:t>
            </a:r>
            <a:r>
              <a:rPr lang="en-US" altLang="zh-CN" sz="2200" dirty="0">
                <a:solidFill>
                  <a:srgbClr val="CC6600"/>
                </a:solidFill>
                <a:ea typeface="华文中宋" panose="02010600040101010101" pitchFamily="2" charset="-122"/>
              </a:rPr>
              <a:t> + w[</a:t>
            </a:r>
            <a:r>
              <a:rPr lang="en-US" altLang="zh-CN" sz="2200" dirty="0" err="1">
                <a:solidFill>
                  <a:srgbClr val="CC6600"/>
                </a:solidFill>
                <a:ea typeface="华文中宋" panose="02010600040101010101" pitchFamily="2" charset="-122"/>
              </a:rPr>
              <a:t>i</a:t>
            </a:r>
            <a:r>
              <a:rPr lang="en-US" altLang="zh-CN" sz="2200" dirty="0">
                <a:solidFill>
                  <a:srgbClr val="CC6600"/>
                </a:solidFill>
                <a:ea typeface="华文中宋" panose="02010600040101010101" pitchFamily="2" charset="-122"/>
              </a:rPr>
              <a:t>] &lt;= c</a:t>
            </a:r>
            <a:r>
              <a:rPr lang="en-US" altLang="zh-CN" sz="2200" dirty="0">
                <a:ea typeface="华文中宋" panose="02010600040101010101" pitchFamily="2" charset="-122"/>
              </a:rPr>
              <a:t>) {// </a:t>
            </a:r>
            <a:r>
              <a:rPr lang="zh-CN" altLang="en-US" sz="2200" dirty="0">
                <a:ea typeface="华文中宋" panose="02010600040101010101" pitchFamily="2" charset="-122"/>
              </a:rPr>
              <a:t>搜索左子树</a:t>
            </a:r>
          </a:p>
          <a:p>
            <a:pPr eaLnBrk="1" hangingPunct="1"/>
            <a:r>
              <a:rPr lang="zh-CN" altLang="en-US" sz="2200" dirty="0">
                <a:ea typeface="华文中宋" panose="02010600040101010101" pitchFamily="2" charset="-122"/>
              </a:rPr>
              <a:t>           </a:t>
            </a:r>
            <a:r>
              <a:rPr lang="en-US" altLang="zh-CN" sz="2200" dirty="0" err="1">
                <a:solidFill>
                  <a:schemeClr val="accent2"/>
                </a:solidFill>
                <a:ea typeface="华文中宋" panose="02010600040101010101" pitchFamily="2" charset="-122"/>
              </a:rPr>
              <a:t>cw</a:t>
            </a:r>
            <a:r>
              <a:rPr lang="en-US" altLang="zh-CN" sz="2200" dirty="0">
                <a:solidFill>
                  <a:schemeClr val="accent2"/>
                </a:solidFill>
                <a:ea typeface="华文中宋" panose="02010600040101010101" pitchFamily="2" charset="-122"/>
              </a:rPr>
              <a:t> += w[</a:t>
            </a:r>
            <a:r>
              <a:rPr lang="en-US" altLang="zh-CN" sz="2200" dirty="0" err="1">
                <a:solidFill>
                  <a:schemeClr val="accent2"/>
                </a:solidFill>
                <a:ea typeface="华文中宋" panose="02010600040101010101" pitchFamily="2" charset="-122"/>
              </a:rPr>
              <a:t>i</a:t>
            </a:r>
            <a:r>
              <a:rPr lang="en-US" altLang="zh-CN" sz="2200" dirty="0">
                <a:solidFill>
                  <a:schemeClr val="accent2"/>
                </a:solidFill>
                <a:ea typeface="华文中宋" panose="02010600040101010101" pitchFamily="2" charset="-122"/>
              </a:rPr>
              <a:t>];</a:t>
            </a:r>
          </a:p>
          <a:p>
            <a:pPr eaLnBrk="1" hangingPunct="1"/>
            <a:r>
              <a:rPr lang="en-US" altLang="zh-CN" sz="2200" dirty="0">
                <a:ea typeface="华文中宋" panose="02010600040101010101" pitchFamily="2" charset="-122"/>
              </a:rPr>
              <a:t>           backtrack(</a:t>
            </a:r>
            <a:r>
              <a:rPr lang="en-US" altLang="zh-CN" sz="2200" dirty="0" err="1">
                <a:ea typeface="华文中宋" panose="02010600040101010101" pitchFamily="2" charset="-122"/>
              </a:rPr>
              <a:t>i</a:t>
            </a:r>
            <a:r>
              <a:rPr lang="en-US" altLang="zh-CN" sz="2200" dirty="0">
                <a:ea typeface="华文中宋" panose="02010600040101010101" pitchFamily="2" charset="-122"/>
              </a:rPr>
              <a:t> + 1);</a:t>
            </a:r>
          </a:p>
          <a:p>
            <a:pPr eaLnBrk="1" hangingPunct="1"/>
            <a:r>
              <a:rPr lang="en-US" altLang="zh-CN" sz="2200" dirty="0">
                <a:ea typeface="华文中宋" panose="02010600040101010101" pitchFamily="2" charset="-122"/>
              </a:rPr>
              <a:t>           </a:t>
            </a:r>
            <a:r>
              <a:rPr lang="en-US" altLang="zh-CN" sz="2200" dirty="0" err="1">
                <a:solidFill>
                  <a:schemeClr val="accent2"/>
                </a:solidFill>
                <a:ea typeface="华文中宋" panose="02010600040101010101" pitchFamily="2" charset="-122"/>
              </a:rPr>
              <a:t>cw</a:t>
            </a:r>
            <a:r>
              <a:rPr lang="en-US" altLang="zh-CN" sz="2200" dirty="0">
                <a:solidFill>
                  <a:schemeClr val="accent2"/>
                </a:solidFill>
                <a:ea typeface="华文中宋" panose="02010600040101010101" pitchFamily="2" charset="-122"/>
              </a:rPr>
              <a:t> -= w[</a:t>
            </a:r>
            <a:r>
              <a:rPr lang="en-US" altLang="zh-CN" sz="2200" dirty="0" err="1">
                <a:solidFill>
                  <a:schemeClr val="accent2"/>
                </a:solidFill>
                <a:ea typeface="华文中宋" panose="02010600040101010101" pitchFamily="2" charset="-122"/>
              </a:rPr>
              <a:t>i</a:t>
            </a:r>
            <a:r>
              <a:rPr lang="en-US" altLang="zh-CN" sz="2200" dirty="0">
                <a:solidFill>
                  <a:schemeClr val="accent2"/>
                </a:solidFill>
                <a:ea typeface="华文中宋" panose="02010600040101010101" pitchFamily="2" charset="-122"/>
              </a:rPr>
              <a:t>];</a:t>
            </a:r>
            <a:r>
              <a:rPr lang="en-US" altLang="zh-CN" sz="2200" dirty="0">
                <a:ea typeface="华文中宋" panose="02010600040101010101" pitchFamily="2" charset="-122"/>
              </a:rPr>
              <a:t>      }</a:t>
            </a:r>
          </a:p>
          <a:p>
            <a:pPr eaLnBrk="1" hangingPunct="1"/>
            <a:r>
              <a:rPr lang="en-US" altLang="zh-CN" sz="2200" dirty="0">
                <a:ea typeface="华文中宋" panose="02010600040101010101" pitchFamily="2" charset="-122"/>
              </a:rPr>
              <a:t>       if (</a:t>
            </a:r>
            <a:r>
              <a:rPr lang="en-US" altLang="zh-CN" sz="2200" dirty="0" err="1">
                <a:solidFill>
                  <a:srgbClr val="CC6600"/>
                </a:solidFill>
                <a:ea typeface="华文中宋" panose="02010600040101010101" pitchFamily="2" charset="-122"/>
              </a:rPr>
              <a:t>cw</a:t>
            </a:r>
            <a:r>
              <a:rPr lang="en-US" altLang="zh-CN" sz="2200" dirty="0">
                <a:solidFill>
                  <a:srgbClr val="CC6600"/>
                </a:solidFill>
                <a:ea typeface="华文中宋" panose="02010600040101010101" pitchFamily="2" charset="-122"/>
              </a:rPr>
              <a:t> + r &gt; </a:t>
            </a:r>
            <a:r>
              <a:rPr lang="en-US" altLang="zh-CN" sz="2200" dirty="0" err="1">
                <a:solidFill>
                  <a:srgbClr val="CC6600"/>
                </a:solidFill>
                <a:ea typeface="华文中宋" panose="02010600040101010101" pitchFamily="2" charset="-122"/>
              </a:rPr>
              <a:t>bestw</a:t>
            </a:r>
            <a:r>
              <a:rPr lang="en-US" altLang="zh-CN" sz="2200" dirty="0">
                <a:solidFill>
                  <a:srgbClr val="CC6600"/>
                </a:solidFill>
                <a:ea typeface="华文中宋" panose="02010600040101010101" pitchFamily="2" charset="-122"/>
              </a:rPr>
              <a:t>     </a:t>
            </a:r>
            <a:r>
              <a:rPr lang="en-US" altLang="zh-CN" sz="2200" dirty="0">
                <a:ea typeface="华文中宋" panose="02010600040101010101" pitchFamily="2" charset="-122"/>
              </a:rPr>
              <a:t>)  { // </a:t>
            </a:r>
            <a:r>
              <a:rPr lang="zh-CN" altLang="en-US" sz="2200" dirty="0">
                <a:ea typeface="华文中宋" panose="02010600040101010101" pitchFamily="2" charset="-122"/>
              </a:rPr>
              <a:t>搜索右子树</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backtrack(</a:t>
            </a:r>
            <a:r>
              <a:rPr lang="en-US" altLang="zh-CN" sz="2200" dirty="0" err="1">
                <a:ea typeface="华文中宋" panose="02010600040101010101" pitchFamily="2" charset="-122"/>
              </a:rPr>
              <a:t>i</a:t>
            </a:r>
            <a:r>
              <a:rPr lang="en-US" altLang="zh-CN" sz="2200" dirty="0">
                <a:ea typeface="华文中宋" panose="02010600040101010101" pitchFamily="2" charset="-122"/>
              </a:rPr>
              <a:t> + 1);   }</a:t>
            </a:r>
          </a:p>
          <a:p>
            <a:pPr eaLnBrk="1" hangingPunct="1"/>
            <a:r>
              <a:rPr lang="en-US" altLang="zh-CN" sz="2200" dirty="0">
                <a:ea typeface="华文中宋" panose="02010600040101010101" pitchFamily="2" charset="-122"/>
              </a:rPr>
              <a:t>           </a:t>
            </a:r>
            <a:r>
              <a:rPr lang="en-US" altLang="zh-CN" sz="2200" dirty="0">
                <a:solidFill>
                  <a:srgbClr val="FF0000"/>
                </a:solidFill>
                <a:ea typeface="华文中宋" panose="02010600040101010101" pitchFamily="2" charset="-122"/>
              </a:rPr>
              <a:t>r += w[</a:t>
            </a:r>
            <a:r>
              <a:rPr lang="en-US" altLang="zh-CN" sz="2200" dirty="0" err="1">
                <a:solidFill>
                  <a:srgbClr val="FF0000"/>
                </a:solidFill>
                <a:ea typeface="华文中宋" panose="02010600040101010101" pitchFamily="2" charset="-122"/>
              </a:rPr>
              <a:t>i</a:t>
            </a:r>
            <a:r>
              <a:rPr lang="en-US" altLang="zh-CN" sz="2200" dirty="0">
                <a:solidFill>
                  <a:srgbClr val="FF0000"/>
                </a:solidFill>
                <a:ea typeface="华文中宋" panose="02010600040101010101" pitchFamily="2" charset="-122"/>
              </a:rPr>
              <a:t>];</a:t>
            </a:r>
          </a:p>
          <a:p>
            <a:pPr eaLnBrk="1" hangingPunct="1"/>
            <a:r>
              <a:rPr lang="en-US" altLang="zh-CN" sz="2200" dirty="0">
                <a:ea typeface="华文中宋" panose="02010600040101010101" pitchFamily="2" charset="-122"/>
              </a:rPr>
              <a:t>   }</a:t>
            </a:r>
          </a:p>
        </p:txBody>
      </p:sp>
      <p:sp>
        <p:nvSpPr>
          <p:cNvPr id="6" name="矩形 5">
            <a:extLst>
              <a:ext uri="{FF2B5EF4-FFF2-40B4-BE49-F238E27FC236}">
                <a16:creationId xmlns:a16="http://schemas.microsoft.com/office/drawing/2014/main" id="{063DA33C-461C-47F1-984F-268BC6DE0E16}"/>
              </a:ext>
            </a:extLst>
          </p:cNvPr>
          <p:cNvSpPr>
            <a:spLocks noChangeArrowheads="1"/>
          </p:cNvSpPr>
          <p:nvPr/>
        </p:nvSpPr>
        <p:spPr bwMode="auto">
          <a:xfrm>
            <a:off x="1785938" y="3357563"/>
            <a:ext cx="1571625" cy="357187"/>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7" name="矩形 6">
            <a:extLst>
              <a:ext uri="{FF2B5EF4-FFF2-40B4-BE49-F238E27FC236}">
                <a16:creationId xmlns:a16="http://schemas.microsoft.com/office/drawing/2014/main" id="{5482070D-6170-427B-93F1-21D0F1B1C21D}"/>
              </a:ext>
            </a:extLst>
          </p:cNvPr>
          <p:cNvSpPr>
            <a:spLocks noChangeArrowheads="1"/>
          </p:cNvSpPr>
          <p:nvPr/>
        </p:nvSpPr>
        <p:spPr bwMode="auto">
          <a:xfrm>
            <a:off x="2071688" y="5715000"/>
            <a:ext cx="1571625" cy="357188"/>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8" name="矩形 7">
            <a:extLst>
              <a:ext uri="{FF2B5EF4-FFF2-40B4-BE49-F238E27FC236}">
                <a16:creationId xmlns:a16="http://schemas.microsoft.com/office/drawing/2014/main" id="{BF750066-DAD8-49B1-825B-7CACBA640781}"/>
              </a:ext>
            </a:extLst>
          </p:cNvPr>
          <p:cNvSpPr>
            <a:spLocks noChangeArrowheads="1"/>
          </p:cNvSpPr>
          <p:nvPr/>
        </p:nvSpPr>
        <p:spPr bwMode="auto">
          <a:xfrm>
            <a:off x="2103438" y="5000625"/>
            <a:ext cx="1968500" cy="428625"/>
          </a:xfrm>
          <a:prstGeom prst="rect">
            <a:avLst/>
          </a:prstGeom>
          <a:solidFill>
            <a:schemeClr val="accent1"/>
          </a:solidFill>
          <a:ln w="9525" algn="ctr">
            <a:solidFill>
              <a:schemeClr val="tx1"/>
            </a:solidFill>
            <a:round/>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Tree>
    <p:extLst>
      <p:ext uri="{BB962C8B-B14F-4D97-AF65-F5344CB8AC3E}">
        <p14:creationId xmlns:p14="http://schemas.microsoft.com/office/powerpoint/2010/main" val="1288034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5539">
                                            <p:txEl>
                                              <p:pRg st="1" end="1"/>
                                            </p:txEl>
                                          </p:spTgt>
                                        </p:tgtEl>
                                        <p:attrNameLst>
                                          <p:attrName>style.visibility</p:attrName>
                                        </p:attrNameLst>
                                      </p:cBhvr>
                                      <p:to>
                                        <p:strVal val="visible"/>
                                      </p:to>
                                    </p:set>
                                    <p:anim calcmode="lin" valueType="num">
                                      <p:cBhvr additive="base">
                                        <p:cTn id="13" dur="500" fill="hold"/>
                                        <p:tgtEl>
                                          <p:spTgt spid="655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55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5540"/>
                                        </p:tgtEl>
                                        <p:attrNameLst>
                                          <p:attrName>style.visibility</p:attrName>
                                        </p:attrNameLst>
                                      </p:cBhvr>
                                      <p:to>
                                        <p:strVal val="visible"/>
                                      </p:to>
                                    </p:set>
                                    <p:anim calcmode="lin" valueType="num">
                                      <p:cBhvr additive="base">
                                        <p:cTn id="19" dur="500" fill="hold"/>
                                        <p:tgtEl>
                                          <p:spTgt spid="65540"/>
                                        </p:tgtEl>
                                        <p:attrNameLst>
                                          <p:attrName>ppt_x</p:attrName>
                                        </p:attrNameLst>
                                      </p:cBhvr>
                                      <p:tavLst>
                                        <p:tav tm="0">
                                          <p:val>
                                            <p:strVal val="0-#ppt_w/2"/>
                                          </p:val>
                                        </p:tav>
                                        <p:tav tm="100000">
                                          <p:val>
                                            <p:strVal val="#ppt_x"/>
                                          </p:val>
                                        </p:tav>
                                      </p:tavLst>
                                    </p:anim>
                                    <p:anim calcmode="lin" valueType="num">
                                      <p:cBhvr additive="base">
                                        <p:cTn id="20" dur="500" fill="hold"/>
                                        <p:tgtEl>
                                          <p:spTgt spid="65540"/>
                                        </p:tgtEl>
                                        <p:attrNameLst>
                                          <p:attrName>ppt_y</p:attrName>
                                        </p:attrNameLst>
                                      </p:cBhvr>
                                      <p:tavLst>
                                        <p:tav tm="0">
                                          <p:val>
                                            <p:strVal val="#ppt_y"/>
                                          </p:val>
                                        </p:tav>
                                        <p:tav tm="100000">
                                          <p:val>
                                            <p:strVal val="#ppt_y"/>
                                          </p:val>
                                        </p:tav>
                                      </p:tavLst>
                                    </p:anim>
                                  </p:childTnLst>
                                </p:cTn>
                              </p:par>
                              <p:par>
                                <p:cTn id="21" presetID="2" presetClass="entr" presetSubtype="8" fill="hold" grpId="1"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1"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0-#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par>
                                <p:cTn id="29" presetID="2" presetClass="entr" presetSubtype="8" fill="hold" grpId="1"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P spid="65540" grpId="0" autoUpdateAnimBg="0"/>
      <p:bldP spid="6" grpId="1" animBg="1"/>
      <p:bldP spid="7" grpId="1" animBg="1"/>
      <p:bldP spid="8" grpId="1"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9D54287-3077-4A9D-8291-49D741A7B836}"/>
              </a:ext>
            </a:extLst>
          </p:cNvPr>
          <p:cNvSpPr>
            <a:spLocks noGrp="1" noChangeArrowheads="1"/>
          </p:cNvSpPr>
          <p:nvPr>
            <p:ph type="title"/>
          </p:nvPr>
        </p:nvSpPr>
        <p:spPr bwMode="auto">
          <a:xfrm>
            <a:off x="762000" y="1524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latin typeface="华文中宋" panose="02010600040101010101" pitchFamily="2" charset="-122"/>
              </a:rPr>
              <a:t>剪枝处理</a:t>
            </a:r>
            <a:r>
              <a:rPr lang="en-US" altLang="zh-CN" sz="3600" b="1" dirty="0">
                <a:solidFill>
                  <a:srgbClr val="FF0000"/>
                </a:solidFill>
              </a:rPr>
              <a:t>—</a:t>
            </a:r>
            <a:r>
              <a:rPr lang="zh-CN" altLang="en-US" sz="3600" b="1" dirty="0">
                <a:solidFill>
                  <a:srgbClr val="FF0000"/>
                </a:solidFill>
              </a:rPr>
              <a:t>求最优值</a:t>
            </a:r>
          </a:p>
        </p:txBody>
      </p:sp>
      <p:sp>
        <p:nvSpPr>
          <p:cNvPr id="65539" name="Rectangle 3">
            <a:extLst>
              <a:ext uri="{FF2B5EF4-FFF2-40B4-BE49-F238E27FC236}">
                <a16:creationId xmlns:a16="http://schemas.microsoft.com/office/drawing/2014/main" id="{AEC1B3DD-A2F0-4E4C-A7F6-96F9F88C5D25}"/>
              </a:ext>
            </a:extLst>
          </p:cNvPr>
          <p:cNvSpPr>
            <a:spLocks noGrp="1" noChangeArrowheads="1"/>
          </p:cNvSpPr>
          <p:nvPr>
            <p:ph type="body" idx="1"/>
          </p:nvPr>
        </p:nvSpPr>
        <p:spPr bwMode="auto">
          <a:xfrm>
            <a:off x="685800" y="9144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dirty="0" err="1"/>
              <a:t>cw</a:t>
            </a:r>
            <a:r>
              <a:rPr lang="zh-CN" altLang="en-US" sz="2400" b="1" dirty="0"/>
              <a:t>：</a:t>
            </a:r>
            <a:r>
              <a:rPr lang="zh-CN" altLang="en-US" sz="2400" b="1" dirty="0">
                <a:latin typeface="华文中宋" panose="02010600040101010101" pitchFamily="2" charset="-122"/>
              </a:rPr>
              <a:t>是当前载重量，</a:t>
            </a:r>
            <a:r>
              <a:rPr lang="en-US" altLang="zh-CN" sz="2400" b="1" dirty="0" err="1">
                <a:latin typeface="华文中宋" panose="02010600040101010101" pitchFamily="2" charset="-122"/>
              </a:rPr>
              <a:t>b</a:t>
            </a:r>
            <a:r>
              <a:rPr lang="en-US" altLang="zh-CN" sz="2400" b="1" dirty="0" err="1"/>
              <a:t>estw</a:t>
            </a:r>
            <a:r>
              <a:rPr lang="zh-CN" altLang="en-US" sz="2400" b="1" dirty="0"/>
              <a:t>：</a:t>
            </a:r>
            <a:r>
              <a:rPr lang="zh-CN" altLang="en-US" sz="2400" b="1" dirty="0">
                <a:latin typeface="华文中宋" panose="02010600040101010101" pitchFamily="2" charset="-122"/>
              </a:rPr>
              <a:t>当前最优载重量</a:t>
            </a:r>
          </a:p>
          <a:p>
            <a:pPr eaLnBrk="1" hangingPunct="1"/>
            <a:r>
              <a:rPr lang="en-US" altLang="zh-CN" sz="2400" b="1" dirty="0"/>
              <a:t>r</a:t>
            </a:r>
            <a:r>
              <a:rPr lang="zh-CN" altLang="en-US" sz="2400" b="1" dirty="0"/>
              <a:t>：</a:t>
            </a:r>
            <a:r>
              <a:rPr lang="zh-CN" altLang="en-US" sz="2400" b="1" dirty="0">
                <a:latin typeface="华文中宋" panose="02010600040101010101" pitchFamily="2" charset="-122"/>
              </a:rPr>
              <a:t>剩余集装箱的重量，</a:t>
            </a:r>
            <a:r>
              <a:rPr lang="zh-CN" altLang="en-US" sz="2400" b="1" dirty="0">
                <a:solidFill>
                  <a:srgbClr val="FF0000"/>
                </a:solidFill>
              </a:rPr>
              <a:t>限界</a:t>
            </a:r>
            <a:r>
              <a:rPr lang="zh-CN" altLang="en-US" sz="2400" b="1" dirty="0">
                <a:solidFill>
                  <a:srgbClr val="FF0000"/>
                </a:solidFill>
                <a:latin typeface="华文中宋" panose="02010600040101010101" pitchFamily="2" charset="-122"/>
              </a:rPr>
              <a:t>函数：</a:t>
            </a:r>
            <a:r>
              <a:rPr lang="en-US" altLang="zh-CN" sz="2400" b="1" dirty="0" err="1">
                <a:solidFill>
                  <a:srgbClr val="FF0000"/>
                </a:solidFill>
              </a:rPr>
              <a:t>cw+r</a:t>
            </a:r>
            <a:r>
              <a:rPr lang="en-US" altLang="zh-CN" sz="2400" b="1" dirty="0">
                <a:solidFill>
                  <a:srgbClr val="FF0000"/>
                </a:solidFill>
              </a:rPr>
              <a:t> </a:t>
            </a:r>
            <a:r>
              <a:rPr lang="en-US" altLang="zh-CN" sz="2200" b="1" dirty="0">
                <a:solidFill>
                  <a:srgbClr val="CC6600"/>
                </a:solidFill>
              </a:rPr>
              <a:t>&gt; </a:t>
            </a:r>
            <a:r>
              <a:rPr lang="en-US" altLang="zh-CN" sz="2200" b="1" dirty="0" err="1">
                <a:solidFill>
                  <a:srgbClr val="CC6600"/>
                </a:solidFill>
              </a:rPr>
              <a:t>bestw</a:t>
            </a:r>
            <a:endParaRPr lang="en-US" altLang="zh-CN" sz="2200" b="1" dirty="0">
              <a:solidFill>
                <a:srgbClr val="CC6600"/>
              </a:solidFill>
            </a:endParaRPr>
          </a:p>
        </p:txBody>
      </p:sp>
      <p:sp>
        <p:nvSpPr>
          <p:cNvPr id="65540" name="Rectangle 4">
            <a:extLst>
              <a:ext uri="{FF2B5EF4-FFF2-40B4-BE49-F238E27FC236}">
                <a16:creationId xmlns:a16="http://schemas.microsoft.com/office/drawing/2014/main" id="{3F0E420B-EF0F-4B56-B7F8-46A01565DEF9}"/>
              </a:ext>
            </a:extLst>
          </p:cNvPr>
          <p:cNvSpPr>
            <a:spLocks noChangeArrowheads="1"/>
          </p:cNvSpPr>
          <p:nvPr/>
        </p:nvSpPr>
        <p:spPr bwMode="auto">
          <a:xfrm>
            <a:off x="928688" y="1954213"/>
            <a:ext cx="6462712"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nchor="ctr">
            <a:spAutoFit/>
          </a:bodyPr>
          <a:lstStyle>
            <a:lvl1pPr indent="2667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dirty="0">
                <a:ea typeface="华文中宋" panose="02010600040101010101" pitchFamily="2" charset="-122"/>
              </a:rPr>
              <a:t>void backtrack (int </a:t>
            </a:r>
            <a:r>
              <a:rPr lang="en-US" altLang="zh-CN" sz="2200" dirty="0" err="1">
                <a:ea typeface="华文中宋" panose="02010600040101010101" pitchFamily="2" charset="-122"/>
              </a:rPr>
              <a:t>i</a:t>
            </a:r>
            <a:r>
              <a:rPr lang="en-US" altLang="zh-CN" sz="2200" dirty="0">
                <a:ea typeface="华文中宋" panose="02010600040101010101" pitchFamily="2" charset="-122"/>
              </a:rPr>
              <a:t>)  {// </a:t>
            </a:r>
            <a:r>
              <a:rPr lang="zh-CN" altLang="en-US" sz="2200" dirty="0">
                <a:ea typeface="华文中宋" panose="02010600040101010101" pitchFamily="2" charset="-122"/>
              </a:rPr>
              <a:t>搜索第</a:t>
            </a:r>
            <a:r>
              <a:rPr lang="en-US" altLang="zh-CN" sz="2200" dirty="0" err="1">
                <a:ea typeface="华文中宋" panose="02010600040101010101" pitchFamily="2" charset="-122"/>
              </a:rPr>
              <a:t>i</a:t>
            </a:r>
            <a:r>
              <a:rPr lang="zh-CN" altLang="en-US" sz="2200" dirty="0">
                <a:ea typeface="华文中宋" panose="02010600040101010101" pitchFamily="2" charset="-122"/>
              </a:rPr>
              <a:t>层结点</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if (</a:t>
            </a:r>
            <a:r>
              <a:rPr lang="en-US" altLang="zh-CN" sz="2200" dirty="0" err="1">
                <a:ea typeface="华文中宋" panose="02010600040101010101" pitchFamily="2" charset="-122"/>
              </a:rPr>
              <a:t>i</a:t>
            </a:r>
            <a:r>
              <a:rPr lang="en-US" altLang="zh-CN" sz="2200" dirty="0">
                <a:ea typeface="华文中宋" panose="02010600040101010101" pitchFamily="2" charset="-122"/>
              </a:rPr>
              <a:t> &gt; n) { // </a:t>
            </a:r>
            <a:r>
              <a:rPr lang="zh-CN" altLang="en-US" sz="2200" dirty="0">
                <a:ea typeface="华文中宋" panose="02010600040101010101" pitchFamily="2" charset="-122"/>
              </a:rPr>
              <a:t>到达叶结点</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if (</a:t>
            </a:r>
            <a:r>
              <a:rPr lang="en-US" altLang="zh-CN" sz="2200" dirty="0" err="1">
                <a:ea typeface="华文中宋" panose="02010600040101010101" pitchFamily="2" charset="-122"/>
              </a:rPr>
              <a:t>cw</a:t>
            </a:r>
            <a:r>
              <a:rPr lang="en-US" altLang="zh-CN" sz="2200" dirty="0">
                <a:ea typeface="华文中宋" panose="02010600040101010101" pitchFamily="2" charset="-122"/>
              </a:rPr>
              <a:t>&gt;</a:t>
            </a:r>
            <a:r>
              <a:rPr lang="en-US" altLang="zh-CN" sz="2200" dirty="0" err="1">
                <a:ea typeface="华文中宋" panose="02010600040101010101" pitchFamily="2" charset="-122"/>
              </a:rPr>
              <a:t>bestw</a:t>
            </a:r>
            <a:r>
              <a:rPr lang="en-US" altLang="zh-CN" sz="2200" dirty="0">
                <a:ea typeface="华文中宋" panose="02010600040101010101" pitchFamily="2" charset="-122"/>
              </a:rPr>
              <a:t>)  </a:t>
            </a:r>
            <a:r>
              <a:rPr lang="en-US" altLang="zh-CN" sz="2200" dirty="0" err="1">
                <a:ea typeface="华文中宋" panose="02010600040101010101" pitchFamily="2" charset="-122"/>
              </a:rPr>
              <a:t>bestw</a:t>
            </a:r>
            <a:r>
              <a:rPr lang="en-US" altLang="zh-CN" sz="2200" dirty="0">
                <a:ea typeface="华文中宋" panose="02010600040101010101" pitchFamily="2" charset="-122"/>
              </a:rPr>
              <a:t>=</a:t>
            </a:r>
            <a:r>
              <a:rPr lang="en-US" altLang="zh-CN" sz="2200" dirty="0" err="1">
                <a:ea typeface="华文中宋" panose="02010600040101010101" pitchFamily="2" charset="-122"/>
              </a:rPr>
              <a:t>cw</a:t>
            </a:r>
            <a:r>
              <a:rPr lang="en-US" altLang="zh-CN" sz="2200" dirty="0">
                <a:ea typeface="华文中宋" panose="02010600040101010101" pitchFamily="2" charset="-122"/>
              </a:rPr>
              <a:t>;</a:t>
            </a:r>
          </a:p>
          <a:p>
            <a:pPr eaLnBrk="1" hangingPunct="1"/>
            <a:r>
              <a:rPr lang="en-US" altLang="zh-CN" sz="2200" dirty="0">
                <a:ea typeface="华文中宋" panose="02010600040101010101" pitchFamily="2" charset="-122"/>
              </a:rPr>
              <a:t>         return;}</a:t>
            </a:r>
          </a:p>
          <a:p>
            <a:pPr eaLnBrk="1" hangingPunct="1"/>
            <a:r>
              <a:rPr lang="en-US" altLang="zh-CN" sz="2200" dirty="0">
                <a:ea typeface="华文中宋" panose="02010600040101010101" pitchFamily="2" charset="-122"/>
              </a:rPr>
              <a:t>       </a:t>
            </a:r>
            <a:r>
              <a:rPr lang="en-US" altLang="zh-CN" sz="2200" dirty="0">
                <a:solidFill>
                  <a:srgbClr val="FF0000"/>
                </a:solidFill>
                <a:ea typeface="华文中宋" panose="02010600040101010101" pitchFamily="2" charset="-122"/>
              </a:rPr>
              <a:t>r -= w[</a:t>
            </a:r>
            <a:r>
              <a:rPr lang="en-US" altLang="zh-CN" sz="2200" dirty="0" err="1">
                <a:solidFill>
                  <a:srgbClr val="FF0000"/>
                </a:solidFill>
                <a:ea typeface="华文中宋" panose="02010600040101010101" pitchFamily="2" charset="-122"/>
              </a:rPr>
              <a:t>i</a:t>
            </a:r>
            <a:r>
              <a:rPr lang="en-US" altLang="zh-CN" sz="2200" dirty="0">
                <a:solidFill>
                  <a:srgbClr val="FF0000"/>
                </a:solidFill>
                <a:ea typeface="华文中宋" panose="02010600040101010101" pitchFamily="2" charset="-122"/>
              </a:rPr>
              <a:t>];</a:t>
            </a:r>
          </a:p>
          <a:p>
            <a:pPr eaLnBrk="1" hangingPunct="1"/>
            <a:r>
              <a:rPr lang="en-US" altLang="zh-CN" sz="2200" dirty="0">
                <a:ea typeface="华文中宋" panose="02010600040101010101" pitchFamily="2" charset="-122"/>
              </a:rPr>
              <a:t>       if (</a:t>
            </a:r>
            <a:r>
              <a:rPr lang="en-US" altLang="zh-CN" sz="2200" dirty="0" err="1">
                <a:solidFill>
                  <a:srgbClr val="CC6600"/>
                </a:solidFill>
                <a:ea typeface="华文中宋" panose="02010600040101010101" pitchFamily="2" charset="-122"/>
              </a:rPr>
              <a:t>cw</a:t>
            </a:r>
            <a:r>
              <a:rPr lang="en-US" altLang="zh-CN" sz="2200" dirty="0">
                <a:solidFill>
                  <a:srgbClr val="CC6600"/>
                </a:solidFill>
                <a:ea typeface="华文中宋" panose="02010600040101010101" pitchFamily="2" charset="-122"/>
              </a:rPr>
              <a:t> + w[</a:t>
            </a:r>
            <a:r>
              <a:rPr lang="en-US" altLang="zh-CN" sz="2200" dirty="0" err="1">
                <a:solidFill>
                  <a:srgbClr val="CC6600"/>
                </a:solidFill>
                <a:ea typeface="华文中宋" panose="02010600040101010101" pitchFamily="2" charset="-122"/>
              </a:rPr>
              <a:t>i</a:t>
            </a:r>
            <a:r>
              <a:rPr lang="en-US" altLang="zh-CN" sz="2200" dirty="0">
                <a:solidFill>
                  <a:srgbClr val="CC6600"/>
                </a:solidFill>
                <a:ea typeface="华文中宋" panose="02010600040101010101" pitchFamily="2" charset="-122"/>
              </a:rPr>
              <a:t>] &lt;= c</a:t>
            </a:r>
            <a:r>
              <a:rPr lang="en-US" altLang="zh-CN" sz="2200" dirty="0">
                <a:ea typeface="华文中宋" panose="02010600040101010101" pitchFamily="2" charset="-122"/>
              </a:rPr>
              <a:t>) {// </a:t>
            </a:r>
            <a:r>
              <a:rPr lang="zh-CN" altLang="en-US" sz="2200" dirty="0">
                <a:ea typeface="华文中宋" panose="02010600040101010101" pitchFamily="2" charset="-122"/>
              </a:rPr>
              <a:t>搜索左子树</a:t>
            </a:r>
          </a:p>
          <a:p>
            <a:pPr eaLnBrk="1" hangingPunct="1"/>
            <a:r>
              <a:rPr lang="zh-CN" altLang="en-US" sz="2200" dirty="0">
                <a:ea typeface="华文中宋" panose="02010600040101010101" pitchFamily="2" charset="-122"/>
              </a:rPr>
              <a:t>           </a:t>
            </a:r>
            <a:r>
              <a:rPr lang="en-US" altLang="zh-CN" sz="2200" dirty="0" err="1">
                <a:solidFill>
                  <a:schemeClr val="accent2"/>
                </a:solidFill>
                <a:ea typeface="华文中宋" panose="02010600040101010101" pitchFamily="2" charset="-122"/>
              </a:rPr>
              <a:t>cw</a:t>
            </a:r>
            <a:r>
              <a:rPr lang="en-US" altLang="zh-CN" sz="2200" dirty="0">
                <a:solidFill>
                  <a:schemeClr val="accent2"/>
                </a:solidFill>
                <a:ea typeface="华文中宋" panose="02010600040101010101" pitchFamily="2" charset="-122"/>
              </a:rPr>
              <a:t> += w[</a:t>
            </a:r>
            <a:r>
              <a:rPr lang="en-US" altLang="zh-CN" sz="2200" dirty="0" err="1">
                <a:solidFill>
                  <a:schemeClr val="accent2"/>
                </a:solidFill>
                <a:ea typeface="华文中宋" panose="02010600040101010101" pitchFamily="2" charset="-122"/>
              </a:rPr>
              <a:t>i</a:t>
            </a:r>
            <a:r>
              <a:rPr lang="en-US" altLang="zh-CN" sz="2200" dirty="0">
                <a:solidFill>
                  <a:schemeClr val="accent2"/>
                </a:solidFill>
                <a:ea typeface="华文中宋" panose="02010600040101010101" pitchFamily="2" charset="-122"/>
              </a:rPr>
              <a:t>];</a:t>
            </a:r>
          </a:p>
          <a:p>
            <a:pPr eaLnBrk="1" hangingPunct="1"/>
            <a:r>
              <a:rPr lang="en-US" altLang="zh-CN" sz="2200" dirty="0">
                <a:ea typeface="华文中宋" panose="02010600040101010101" pitchFamily="2" charset="-122"/>
              </a:rPr>
              <a:t>           backtrack(</a:t>
            </a:r>
            <a:r>
              <a:rPr lang="en-US" altLang="zh-CN" sz="2200" dirty="0" err="1">
                <a:ea typeface="华文中宋" panose="02010600040101010101" pitchFamily="2" charset="-122"/>
              </a:rPr>
              <a:t>i</a:t>
            </a:r>
            <a:r>
              <a:rPr lang="en-US" altLang="zh-CN" sz="2200" dirty="0">
                <a:ea typeface="华文中宋" panose="02010600040101010101" pitchFamily="2" charset="-122"/>
              </a:rPr>
              <a:t> + 1);</a:t>
            </a:r>
          </a:p>
          <a:p>
            <a:pPr eaLnBrk="1" hangingPunct="1"/>
            <a:r>
              <a:rPr lang="en-US" altLang="zh-CN" sz="2200" dirty="0">
                <a:ea typeface="华文中宋" panose="02010600040101010101" pitchFamily="2" charset="-122"/>
              </a:rPr>
              <a:t>           </a:t>
            </a:r>
            <a:r>
              <a:rPr lang="en-US" altLang="zh-CN" sz="2200" dirty="0" err="1">
                <a:solidFill>
                  <a:schemeClr val="accent2"/>
                </a:solidFill>
                <a:ea typeface="华文中宋" panose="02010600040101010101" pitchFamily="2" charset="-122"/>
              </a:rPr>
              <a:t>cw</a:t>
            </a:r>
            <a:r>
              <a:rPr lang="en-US" altLang="zh-CN" sz="2200" dirty="0">
                <a:solidFill>
                  <a:schemeClr val="accent2"/>
                </a:solidFill>
                <a:ea typeface="华文中宋" panose="02010600040101010101" pitchFamily="2" charset="-122"/>
              </a:rPr>
              <a:t> -= w[</a:t>
            </a:r>
            <a:r>
              <a:rPr lang="en-US" altLang="zh-CN" sz="2200" dirty="0" err="1">
                <a:solidFill>
                  <a:schemeClr val="accent2"/>
                </a:solidFill>
                <a:ea typeface="华文中宋" panose="02010600040101010101" pitchFamily="2" charset="-122"/>
              </a:rPr>
              <a:t>i</a:t>
            </a:r>
            <a:r>
              <a:rPr lang="en-US" altLang="zh-CN" sz="2200" dirty="0">
                <a:solidFill>
                  <a:schemeClr val="accent2"/>
                </a:solidFill>
                <a:ea typeface="华文中宋" panose="02010600040101010101" pitchFamily="2" charset="-122"/>
              </a:rPr>
              <a:t>];</a:t>
            </a:r>
            <a:r>
              <a:rPr lang="en-US" altLang="zh-CN" sz="2200" dirty="0">
                <a:ea typeface="华文中宋" panose="02010600040101010101" pitchFamily="2" charset="-122"/>
              </a:rPr>
              <a:t>      }</a:t>
            </a:r>
          </a:p>
          <a:p>
            <a:pPr eaLnBrk="1" hangingPunct="1"/>
            <a:r>
              <a:rPr lang="en-US" altLang="zh-CN" sz="2200" dirty="0">
                <a:ea typeface="华文中宋" panose="02010600040101010101" pitchFamily="2" charset="-122"/>
              </a:rPr>
              <a:t>       if (</a:t>
            </a:r>
            <a:r>
              <a:rPr lang="en-US" altLang="zh-CN" sz="2200" dirty="0" err="1">
                <a:solidFill>
                  <a:srgbClr val="CC6600"/>
                </a:solidFill>
                <a:ea typeface="华文中宋" panose="02010600040101010101" pitchFamily="2" charset="-122"/>
              </a:rPr>
              <a:t>cw</a:t>
            </a:r>
            <a:r>
              <a:rPr lang="en-US" altLang="zh-CN" sz="2200" dirty="0">
                <a:solidFill>
                  <a:srgbClr val="CC6600"/>
                </a:solidFill>
                <a:ea typeface="华文中宋" panose="02010600040101010101" pitchFamily="2" charset="-122"/>
              </a:rPr>
              <a:t> + r &gt; </a:t>
            </a:r>
            <a:r>
              <a:rPr lang="en-US" altLang="zh-CN" sz="2200" dirty="0" err="1">
                <a:solidFill>
                  <a:srgbClr val="CC6600"/>
                </a:solidFill>
                <a:ea typeface="华文中宋" panose="02010600040101010101" pitchFamily="2" charset="-122"/>
              </a:rPr>
              <a:t>bestw</a:t>
            </a:r>
            <a:r>
              <a:rPr lang="en-US" altLang="zh-CN" sz="2200" dirty="0">
                <a:solidFill>
                  <a:srgbClr val="CC6600"/>
                </a:solidFill>
                <a:ea typeface="华文中宋" panose="02010600040101010101" pitchFamily="2" charset="-122"/>
              </a:rPr>
              <a:t>     </a:t>
            </a:r>
            <a:r>
              <a:rPr lang="en-US" altLang="zh-CN" sz="2200" dirty="0">
                <a:ea typeface="华文中宋" panose="02010600040101010101" pitchFamily="2" charset="-122"/>
              </a:rPr>
              <a:t>)  { // </a:t>
            </a:r>
            <a:r>
              <a:rPr lang="zh-CN" altLang="en-US" sz="2200" dirty="0">
                <a:ea typeface="华文中宋" panose="02010600040101010101" pitchFamily="2" charset="-122"/>
              </a:rPr>
              <a:t>搜索右子树</a:t>
            </a:r>
          </a:p>
          <a:p>
            <a:pPr eaLnBrk="1" hangingPunct="1"/>
            <a:r>
              <a:rPr lang="zh-CN" altLang="en-US" sz="2200" dirty="0">
                <a:ea typeface="华文中宋" panose="02010600040101010101" pitchFamily="2" charset="-122"/>
              </a:rPr>
              <a:t>           </a:t>
            </a:r>
            <a:r>
              <a:rPr lang="en-US" altLang="zh-CN" sz="2200" dirty="0">
                <a:ea typeface="华文中宋" panose="02010600040101010101" pitchFamily="2" charset="-122"/>
              </a:rPr>
              <a:t>backtrack(</a:t>
            </a:r>
            <a:r>
              <a:rPr lang="en-US" altLang="zh-CN" sz="2200" dirty="0" err="1">
                <a:ea typeface="华文中宋" panose="02010600040101010101" pitchFamily="2" charset="-122"/>
              </a:rPr>
              <a:t>i</a:t>
            </a:r>
            <a:r>
              <a:rPr lang="en-US" altLang="zh-CN" sz="2200" dirty="0">
                <a:ea typeface="华文中宋" panose="02010600040101010101" pitchFamily="2" charset="-122"/>
              </a:rPr>
              <a:t> + 1);   }</a:t>
            </a:r>
          </a:p>
          <a:p>
            <a:pPr eaLnBrk="1" hangingPunct="1"/>
            <a:r>
              <a:rPr lang="en-US" altLang="zh-CN" sz="2200" dirty="0">
                <a:ea typeface="华文中宋" panose="02010600040101010101" pitchFamily="2" charset="-122"/>
              </a:rPr>
              <a:t>           </a:t>
            </a:r>
            <a:r>
              <a:rPr lang="en-US" altLang="zh-CN" sz="2200" dirty="0">
                <a:solidFill>
                  <a:srgbClr val="FF0000"/>
                </a:solidFill>
                <a:ea typeface="华文中宋" panose="02010600040101010101" pitchFamily="2" charset="-122"/>
              </a:rPr>
              <a:t>r += w[</a:t>
            </a:r>
            <a:r>
              <a:rPr lang="en-US" altLang="zh-CN" sz="2200" dirty="0" err="1">
                <a:solidFill>
                  <a:srgbClr val="FF0000"/>
                </a:solidFill>
                <a:ea typeface="华文中宋" panose="02010600040101010101" pitchFamily="2" charset="-122"/>
              </a:rPr>
              <a:t>i</a:t>
            </a:r>
            <a:r>
              <a:rPr lang="en-US" altLang="zh-CN" sz="2200" dirty="0">
                <a:solidFill>
                  <a:srgbClr val="FF0000"/>
                </a:solidFill>
                <a:ea typeface="华文中宋" panose="02010600040101010101" pitchFamily="2" charset="-122"/>
              </a:rPr>
              <a:t>];</a:t>
            </a:r>
          </a:p>
          <a:p>
            <a:pPr eaLnBrk="1" hangingPunct="1"/>
            <a:r>
              <a:rPr lang="en-US" altLang="zh-CN" sz="2200" dirty="0">
                <a:ea typeface="华文中宋" panose="02010600040101010101" pitchFamily="2" charset="-122"/>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9A46377-C2D9-4CC4-9273-725D82F5B70E}"/>
                  </a:ext>
                </a:extLst>
              </p14:cNvPr>
              <p14:cNvContentPartPr/>
              <p14:nvPr/>
            </p14:nvContentPartPr>
            <p14:xfrm>
              <a:off x="1704240" y="3687480"/>
              <a:ext cx="2349000" cy="2378880"/>
            </p14:xfrm>
          </p:contentPart>
        </mc:Choice>
        <mc:Fallback xmlns="">
          <p:pic>
            <p:nvPicPr>
              <p:cNvPr id="2" name="墨迹 1">
                <a:extLst>
                  <a:ext uri="{FF2B5EF4-FFF2-40B4-BE49-F238E27FC236}">
                    <a16:creationId xmlns:a16="http://schemas.microsoft.com/office/drawing/2014/main" id="{19A46377-C2D9-4CC4-9273-725D82F5B70E}"/>
                  </a:ext>
                </a:extLst>
              </p:cNvPr>
              <p:cNvPicPr/>
              <p:nvPr/>
            </p:nvPicPr>
            <p:blipFill>
              <a:blip r:embed="rId3"/>
              <a:stretch>
                <a:fillRect/>
              </a:stretch>
            </p:blipFill>
            <p:spPr>
              <a:xfrm>
                <a:off x="1694880" y="3678120"/>
                <a:ext cx="2367720" cy="239760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C61874B-4128-49F0-98D8-9A529894D616}"/>
              </a:ext>
            </a:extLst>
          </p:cNvPr>
          <p:cNvSpPr>
            <a:spLocks noGrp="1" noChangeArrowheads="1"/>
          </p:cNvSpPr>
          <p:nvPr>
            <p:ph type="title"/>
          </p:nvPr>
        </p:nvSpPr>
        <p:spPr bwMode="auto">
          <a:xfrm>
            <a:off x="685800" y="228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latin typeface="华文中宋" panose="02010600040101010101" pitchFamily="2" charset="-122"/>
              </a:rPr>
              <a:t>求最优解</a:t>
            </a:r>
            <a:r>
              <a:rPr lang="en-US" altLang="zh-CN" sz="3600" b="1" dirty="0">
                <a:solidFill>
                  <a:srgbClr val="FF0000"/>
                </a:solidFill>
              </a:rPr>
              <a:t>—</a:t>
            </a:r>
            <a:r>
              <a:rPr lang="zh-CN" altLang="en-US" sz="3600" b="1" dirty="0">
                <a:solidFill>
                  <a:srgbClr val="FF0000"/>
                </a:solidFill>
              </a:rPr>
              <a:t>记录路径</a:t>
            </a:r>
            <a:r>
              <a:rPr lang="zh-CN" altLang="en-US" sz="3600" dirty="0"/>
              <a:t> </a:t>
            </a:r>
          </a:p>
        </p:txBody>
      </p:sp>
      <p:sp>
        <p:nvSpPr>
          <p:cNvPr id="66564" name="Rectangle 4">
            <a:extLst>
              <a:ext uri="{FF2B5EF4-FFF2-40B4-BE49-F238E27FC236}">
                <a16:creationId xmlns:a16="http://schemas.microsoft.com/office/drawing/2014/main" id="{A76D6553-81BA-4E47-92A0-01E38CBBCC8F}"/>
              </a:ext>
            </a:extLst>
          </p:cNvPr>
          <p:cNvSpPr>
            <a:spLocks noGrp="1" noChangeArrowheads="1"/>
          </p:cNvSpPr>
          <p:nvPr>
            <p:ph type="body" idx="1"/>
          </p:nvPr>
        </p:nvSpPr>
        <p:spPr bwMode="auto">
          <a:xfrm>
            <a:off x="228600" y="990600"/>
            <a:ext cx="77724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266700" eaLnBrk="1" hangingPunct="1">
              <a:spcBef>
                <a:spcPct val="0"/>
              </a:spcBef>
              <a:buFontTx/>
              <a:buNone/>
            </a:pPr>
            <a:r>
              <a:rPr lang="en-US" altLang="zh-CN" sz="2400" b="1" dirty="0"/>
              <a:t>void backtrack (int </a:t>
            </a:r>
            <a:r>
              <a:rPr lang="en-US" altLang="zh-CN" sz="2400" b="1" dirty="0" err="1"/>
              <a:t>i</a:t>
            </a:r>
            <a:r>
              <a:rPr lang="en-US" altLang="zh-CN" sz="2400" b="1" dirty="0"/>
              <a:t>)  {// </a:t>
            </a:r>
            <a:r>
              <a:rPr lang="zh-CN" altLang="en-US" sz="2400" b="1" dirty="0"/>
              <a:t>搜索第</a:t>
            </a:r>
            <a:r>
              <a:rPr lang="en-US" altLang="zh-CN" sz="2400" b="1" dirty="0" err="1"/>
              <a:t>i</a:t>
            </a:r>
            <a:r>
              <a:rPr lang="zh-CN" altLang="en-US" sz="2400" b="1" dirty="0"/>
              <a:t>层结点</a:t>
            </a:r>
          </a:p>
          <a:p>
            <a:pPr marL="0" indent="266700" eaLnBrk="1" hangingPunct="1">
              <a:spcBef>
                <a:spcPct val="0"/>
              </a:spcBef>
              <a:buFontTx/>
              <a:buNone/>
            </a:pPr>
            <a:r>
              <a:rPr lang="zh-CN" altLang="en-US" sz="2400" b="1" dirty="0"/>
              <a:t>      </a:t>
            </a:r>
            <a:r>
              <a:rPr lang="en-US" altLang="zh-CN" sz="2400" b="1" dirty="0"/>
              <a:t>if (</a:t>
            </a:r>
            <a:r>
              <a:rPr lang="en-US" altLang="zh-CN" sz="2400" b="1" dirty="0" err="1"/>
              <a:t>i</a:t>
            </a:r>
            <a:r>
              <a:rPr lang="en-US" altLang="zh-CN" sz="2400" b="1" dirty="0"/>
              <a:t> &gt; n)  // </a:t>
            </a:r>
            <a:r>
              <a:rPr lang="zh-CN" altLang="en-US" sz="2400" b="1" dirty="0"/>
              <a:t>到达叶结点</a:t>
            </a:r>
          </a:p>
          <a:p>
            <a:pPr marL="0" indent="266700" eaLnBrk="1" hangingPunct="1">
              <a:spcBef>
                <a:spcPct val="0"/>
              </a:spcBef>
              <a:buFontTx/>
              <a:buNone/>
            </a:pPr>
            <a:r>
              <a:rPr lang="zh-CN" altLang="en-US" sz="2400" b="1" dirty="0"/>
              <a:t>      </a:t>
            </a:r>
            <a:r>
              <a:rPr lang="en-US" altLang="zh-CN" sz="2400" b="1" dirty="0"/>
              <a:t>{ </a:t>
            </a:r>
            <a:r>
              <a:rPr lang="zh-CN" altLang="en-US" sz="2400" b="1" dirty="0"/>
              <a:t>更新最优解</a:t>
            </a:r>
            <a:r>
              <a:rPr lang="en-US" altLang="zh-CN" sz="2400" b="1" dirty="0" err="1"/>
              <a:t>bestx,bestw;return</a:t>
            </a:r>
            <a:r>
              <a:rPr lang="en-US" altLang="zh-CN" sz="2400" b="1" dirty="0"/>
              <a:t>; }</a:t>
            </a:r>
          </a:p>
          <a:p>
            <a:pPr marL="0" indent="266700" eaLnBrk="1" hangingPunct="1">
              <a:spcBef>
                <a:spcPct val="0"/>
              </a:spcBef>
              <a:buFontTx/>
              <a:buNone/>
            </a:pPr>
            <a:r>
              <a:rPr lang="en-US" altLang="zh-CN" sz="2400" b="1" dirty="0"/>
              <a:t>      </a:t>
            </a:r>
            <a:r>
              <a:rPr lang="en-US" altLang="zh-CN" sz="2400" b="1" dirty="0">
                <a:solidFill>
                  <a:srgbClr val="FF0000"/>
                </a:solidFill>
              </a:rPr>
              <a:t>r -= w[</a:t>
            </a:r>
            <a:r>
              <a:rPr lang="en-US" altLang="zh-CN" sz="2400" b="1" dirty="0" err="1">
                <a:solidFill>
                  <a:srgbClr val="FF0000"/>
                </a:solidFill>
              </a:rPr>
              <a:t>i</a:t>
            </a:r>
            <a:r>
              <a:rPr lang="en-US" altLang="zh-CN" sz="2400" b="1" dirty="0">
                <a:solidFill>
                  <a:srgbClr val="FF0000"/>
                </a:solidFill>
              </a:rPr>
              <a:t>];</a:t>
            </a:r>
          </a:p>
          <a:p>
            <a:pPr marL="0" indent="266700" eaLnBrk="1" hangingPunct="1">
              <a:spcBef>
                <a:spcPct val="0"/>
              </a:spcBef>
              <a:buFontTx/>
              <a:buNone/>
            </a:pPr>
            <a:r>
              <a:rPr lang="en-US" altLang="zh-CN" sz="2400" b="1" dirty="0"/>
              <a:t>      if (</a:t>
            </a:r>
            <a:r>
              <a:rPr lang="en-US" altLang="zh-CN" sz="2400" b="1" dirty="0" err="1"/>
              <a:t>cw</a:t>
            </a:r>
            <a:r>
              <a:rPr lang="en-US" altLang="zh-CN" sz="2400" b="1" dirty="0"/>
              <a:t> + w[</a:t>
            </a:r>
            <a:r>
              <a:rPr lang="en-US" altLang="zh-CN" sz="2400" b="1" dirty="0" err="1"/>
              <a:t>i</a:t>
            </a:r>
            <a:r>
              <a:rPr lang="en-US" altLang="zh-CN" sz="2400" b="1" dirty="0"/>
              <a:t>] &lt;= c) {// </a:t>
            </a:r>
            <a:r>
              <a:rPr lang="zh-CN" altLang="en-US" sz="2400" b="1" dirty="0"/>
              <a:t>搜索左子树</a:t>
            </a:r>
          </a:p>
          <a:p>
            <a:pPr marL="0" indent="266700" eaLnBrk="1" hangingPunct="1">
              <a:spcBef>
                <a:spcPct val="0"/>
              </a:spcBef>
              <a:buFontTx/>
              <a:buNone/>
            </a:pPr>
            <a:r>
              <a:rPr lang="zh-CN" altLang="en-US" sz="2400" b="1" dirty="0"/>
              <a:t>         </a:t>
            </a:r>
            <a:r>
              <a:rPr lang="en-US" altLang="zh-CN" sz="2400" b="1" dirty="0">
                <a:solidFill>
                  <a:srgbClr val="FF0000"/>
                </a:solidFill>
              </a:rPr>
              <a:t>x[</a:t>
            </a:r>
            <a:r>
              <a:rPr lang="en-US" altLang="zh-CN" sz="2400" b="1" dirty="0" err="1">
                <a:solidFill>
                  <a:srgbClr val="FF0000"/>
                </a:solidFill>
              </a:rPr>
              <a:t>i</a:t>
            </a:r>
            <a:r>
              <a:rPr lang="en-US" altLang="zh-CN" sz="2400" b="1" dirty="0">
                <a:solidFill>
                  <a:srgbClr val="FF0000"/>
                </a:solidFill>
              </a:rPr>
              <a:t>] = 1;</a:t>
            </a:r>
          </a:p>
          <a:p>
            <a:pPr marL="0" indent="266700" eaLnBrk="1" hangingPunct="1">
              <a:spcBef>
                <a:spcPct val="0"/>
              </a:spcBef>
              <a:buFontTx/>
              <a:buNone/>
            </a:pPr>
            <a:r>
              <a:rPr lang="en-US" altLang="zh-CN" sz="2400" b="1" dirty="0"/>
              <a:t>         </a:t>
            </a:r>
            <a:r>
              <a:rPr lang="en-US" altLang="zh-CN" sz="2400" b="1" dirty="0" err="1">
                <a:solidFill>
                  <a:srgbClr val="0000CC"/>
                </a:solidFill>
              </a:rPr>
              <a:t>cw</a:t>
            </a:r>
            <a:r>
              <a:rPr lang="en-US" altLang="zh-CN" sz="2400" b="1" dirty="0">
                <a:solidFill>
                  <a:srgbClr val="0000CC"/>
                </a:solidFill>
              </a:rPr>
              <a:t> += w[</a:t>
            </a:r>
            <a:r>
              <a:rPr lang="en-US" altLang="zh-CN" sz="2400" b="1" dirty="0" err="1">
                <a:solidFill>
                  <a:srgbClr val="0000CC"/>
                </a:solidFill>
              </a:rPr>
              <a:t>i</a:t>
            </a:r>
            <a:r>
              <a:rPr lang="en-US" altLang="zh-CN" sz="2400" b="1" dirty="0">
                <a:solidFill>
                  <a:srgbClr val="0000CC"/>
                </a:solidFill>
              </a:rPr>
              <a:t>];</a:t>
            </a:r>
          </a:p>
          <a:p>
            <a:pPr marL="0" indent="266700" eaLnBrk="1" hangingPunct="1">
              <a:spcBef>
                <a:spcPct val="0"/>
              </a:spcBef>
              <a:buFontTx/>
              <a:buNone/>
            </a:pPr>
            <a:r>
              <a:rPr lang="en-US" altLang="zh-CN" sz="2400" b="1" dirty="0"/>
              <a:t>         backtrack(</a:t>
            </a:r>
            <a:r>
              <a:rPr lang="en-US" altLang="zh-CN" sz="2400" b="1" dirty="0" err="1"/>
              <a:t>i</a:t>
            </a:r>
            <a:r>
              <a:rPr lang="en-US" altLang="zh-CN" sz="2400" b="1" dirty="0"/>
              <a:t> + 1);</a:t>
            </a:r>
          </a:p>
          <a:p>
            <a:pPr marL="0" indent="266700" eaLnBrk="1" hangingPunct="1">
              <a:spcBef>
                <a:spcPct val="0"/>
              </a:spcBef>
              <a:buFontTx/>
              <a:buNone/>
            </a:pPr>
            <a:r>
              <a:rPr lang="en-US" altLang="zh-CN" sz="2400" b="1" dirty="0"/>
              <a:t>         </a:t>
            </a:r>
            <a:r>
              <a:rPr lang="en-US" altLang="zh-CN" sz="2400" b="1" dirty="0" err="1">
                <a:solidFill>
                  <a:srgbClr val="0000CC"/>
                </a:solidFill>
              </a:rPr>
              <a:t>cw</a:t>
            </a:r>
            <a:r>
              <a:rPr lang="en-US" altLang="zh-CN" sz="2400" b="1" dirty="0">
                <a:solidFill>
                  <a:srgbClr val="0000CC"/>
                </a:solidFill>
              </a:rPr>
              <a:t> -= w[</a:t>
            </a:r>
            <a:r>
              <a:rPr lang="en-US" altLang="zh-CN" sz="2400" b="1" dirty="0" err="1">
                <a:solidFill>
                  <a:srgbClr val="0000CC"/>
                </a:solidFill>
              </a:rPr>
              <a:t>i</a:t>
            </a:r>
            <a:r>
              <a:rPr lang="en-US" altLang="zh-CN" sz="2400" b="1" dirty="0">
                <a:solidFill>
                  <a:srgbClr val="0000CC"/>
                </a:solidFill>
              </a:rPr>
              <a:t>];</a:t>
            </a:r>
            <a:r>
              <a:rPr lang="en-US" altLang="zh-CN" sz="2400" b="1" dirty="0"/>
              <a:t>      }</a:t>
            </a:r>
          </a:p>
          <a:p>
            <a:pPr marL="0" indent="266700" eaLnBrk="1" hangingPunct="1">
              <a:spcBef>
                <a:spcPct val="0"/>
              </a:spcBef>
              <a:buFontTx/>
              <a:buNone/>
            </a:pPr>
            <a:r>
              <a:rPr lang="en-US" altLang="zh-CN" sz="2400" b="1" dirty="0"/>
              <a:t>      if (</a:t>
            </a:r>
            <a:r>
              <a:rPr lang="en-US" altLang="zh-CN" sz="2400" b="1" dirty="0" err="1"/>
              <a:t>cw</a:t>
            </a:r>
            <a:r>
              <a:rPr lang="en-US" altLang="zh-CN" sz="2400" b="1" dirty="0"/>
              <a:t> + r &gt; </a:t>
            </a:r>
            <a:r>
              <a:rPr lang="en-US" altLang="zh-CN" sz="2400" b="1" dirty="0" err="1"/>
              <a:t>bestw</a:t>
            </a:r>
            <a:r>
              <a:rPr lang="en-US" altLang="zh-CN" sz="2400" b="1" dirty="0"/>
              <a:t>)  {</a:t>
            </a:r>
          </a:p>
          <a:p>
            <a:pPr marL="0" indent="266700" eaLnBrk="1" hangingPunct="1">
              <a:spcBef>
                <a:spcPct val="0"/>
              </a:spcBef>
              <a:buFontTx/>
              <a:buNone/>
            </a:pPr>
            <a:r>
              <a:rPr lang="en-US" altLang="zh-CN" sz="2400" b="1" dirty="0">
                <a:solidFill>
                  <a:srgbClr val="FF0000"/>
                </a:solidFill>
              </a:rPr>
              <a:t>         x[</a:t>
            </a:r>
            <a:r>
              <a:rPr lang="en-US" altLang="zh-CN" sz="2400" b="1" dirty="0" err="1">
                <a:solidFill>
                  <a:srgbClr val="FF0000"/>
                </a:solidFill>
              </a:rPr>
              <a:t>i</a:t>
            </a:r>
            <a:r>
              <a:rPr lang="en-US" altLang="zh-CN" sz="2400" b="1" dirty="0">
                <a:solidFill>
                  <a:srgbClr val="FF0000"/>
                </a:solidFill>
              </a:rPr>
              <a:t>] = 0;  </a:t>
            </a:r>
            <a:r>
              <a:rPr lang="en-US" altLang="zh-CN" sz="2400" b="1" dirty="0"/>
              <a:t>// </a:t>
            </a:r>
            <a:r>
              <a:rPr lang="zh-CN" altLang="en-US" sz="2400" b="1" dirty="0"/>
              <a:t>搜索右子树</a:t>
            </a:r>
          </a:p>
          <a:p>
            <a:pPr marL="0" indent="266700" eaLnBrk="1" hangingPunct="1">
              <a:spcBef>
                <a:spcPct val="0"/>
              </a:spcBef>
              <a:buFontTx/>
              <a:buNone/>
            </a:pPr>
            <a:r>
              <a:rPr lang="zh-CN" altLang="en-US" sz="2400" b="1" dirty="0"/>
              <a:t>         </a:t>
            </a:r>
            <a:r>
              <a:rPr lang="en-US" altLang="zh-CN" sz="2400" b="1" dirty="0"/>
              <a:t>backtrack(</a:t>
            </a:r>
            <a:r>
              <a:rPr lang="en-US" altLang="zh-CN" sz="2400" b="1" dirty="0" err="1"/>
              <a:t>i</a:t>
            </a:r>
            <a:r>
              <a:rPr lang="en-US" altLang="zh-CN" sz="2400" b="1" dirty="0"/>
              <a:t> + 1);      }</a:t>
            </a:r>
          </a:p>
          <a:p>
            <a:pPr marL="0" indent="266700" eaLnBrk="1" hangingPunct="1">
              <a:spcBef>
                <a:spcPct val="0"/>
              </a:spcBef>
              <a:buFontTx/>
              <a:buNone/>
            </a:pPr>
            <a:r>
              <a:rPr lang="en-US" altLang="zh-CN" sz="2400" b="1" dirty="0"/>
              <a:t>      </a:t>
            </a:r>
            <a:r>
              <a:rPr lang="en-US" altLang="zh-CN" sz="2400" b="1" dirty="0">
                <a:solidFill>
                  <a:srgbClr val="FF0000"/>
                </a:solidFill>
              </a:rPr>
              <a:t>r += w[</a:t>
            </a:r>
            <a:r>
              <a:rPr lang="en-US" altLang="zh-CN" sz="2400" b="1" dirty="0" err="1">
                <a:solidFill>
                  <a:srgbClr val="FF0000"/>
                </a:solidFill>
              </a:rPr>
              <a:t>i</a:t>
            </a:r>
            <a:r>
              <a:rPr lang="en-US" altLang="zh-CN" sz="2400" b="1" dirty="0">
                <a:solidFill>
                  <a:srgbClr val="FF0000"/>
                </a:solidFill>
              </a:rPr>
              <a:t>];</a:t>
            </a:r>
          </a:p>
          <a:p>
            <a:pPr marL="0" indent="266700" eaLnBrk="1" hangingPunct="1">
              <a:spcBef>
                <a:spcPct val="0"/>
              </a:spcBef>
              <a:buFontTx/>
              <a:buNone/>
            </a:pPr>
            <a:r>
              <a:rPr lang="en-US" altLang="zh-CN" sz="2400" b="1" dirty="0"/>
              <a:t>   }</a:t>
            </a:r>
          </a:p>
        </p:txBody>
      </p:sp>
      <p:sp>
        <p:nvSpPr>
          <p:cNvPr id="66565" name="AutoShape 5">
            <a:extLst>
              <a:ext uri="{FF2B5EF4-FFF2-40B4-BE49-F238E27FC236}">
                <a16:creationId xmlns:a16="http://schemas.microsoft.com/office/drawing/2014/main" id="{36908972-8CA9-4BEE-A79D-33F656092BA3}"/>
              </a:ext>
            </a:extLst>
          </p:cNvPr>
          <p:cNvSpPr>
            <a:spLocks noChangeArrowheads="1"/>
          </p:cNvSpPr>
          <p:nvPr/>
        </p:nvSpPr>
        <p:spPr bwMode="auto">
          <a:xfrm>
            <a:off x="5562600" y="1752600"/>
            <a:ext cx="3429000" cy="1828800"/>
          </a:xfrm>
          <a:prstGeom prst="wedgeRectCallout">
            <a:avLst>
              <a:gd name="adj1" fmla="val -89074"/>
              <a:gd name="adj2" fmla="val -35505"/>
            </a:avLst>
          </a:prstGeom>
          <a:solidFill>
            <a:srgbClr val="FFCC00"/>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dirty="0">
                <a:ea typeface="华文中宋" panose="02010600040101010101" pitchFamily="2" charset="-122"/>
              </a:rPr>
              <a:t>if (</a:t>
            </a:r>
            <a:r>
              <a:rPr lang="en-US" altLang="zh-CN" sz="2200" dirty="0" err="1">
                <a:ea typeface="华文中宋" panose="02010600040101010101" pitchFamily="2" charset="-122"/>
              </a:rPr>
              <a:t>cw</a:t>
            </a:r>
            <a:r>
              <a:rPr lang="en-US" altLang="zh-CN" sz="2200" dirty="0">
                <a:ea typeface="华文中宋" panose="02010600040101010101" pitchFamily="2" charset="-122"/>
              </a:rPr>
              <a:t>&gt;</a:t>
            </a:r>
            <a:r>
              <a:rPr lang="en-US" altLang="zh-CN" sz="2200" dirty="0" err="1">
                <a:ea typeface="华文中宋" panose="02010600040101010101" pitchFamily="2" charset="-122"/>
              </a:rPr>
              <a:t>bestw</a:t>
            </a:r>
            <a:r>
              <a:rPr lang="en-US" altLang="zh-CN" sz="2200" dirty="0">
                <a:ea typeface="华文中宋" panose="02010600040101010101" pitchFamily="2" charset="-122"/>
              </a:rPr>
              <a:t>) {</a:t>
            </a:r>
          </a:p>
          <a:p>
            <a:pPr algn="ctr" eaLnBrk="1" hangingPunct="1"/>
            <a:r>
              <a:rPr lang="en-US" altLang="zh-CN" b="0" dirty="0">
                <a:ea typeface="华文中宋" panose="02010600040101010101" pitchFamily="2" charset="-122"/>
              </a:rPr>
              <a:t>for(int j=1; j&lt;=n; </a:t>
            </a:r>
            <a:r>
              <a:rPr lang="en-US" altLang="zh-CN" b="0" dirty="0" err="1">
                <a:ea typeface="华文中宋" panose="02010600040101010101" pitchFamily="2" charset="-122"/>
              </a:rPr>
              <a:t>j++</a:t>
            </a:r>
            <a:r>
              <a:rPr lang="en-US" altLang="zh-CN" b="0" dirty="0">
                <a:ea typeface="华文中宋" panose="02010600040101010101" pitchFamily="2" charset="-122"/>
              </a:rPr>
              <a:t>)</a:t>
            </a:r>
          </a:p>
          <a:p>
            <a:pPr algn="ctr" eaLnBrk="1" hangingPunct="1"/>
            <a:r>
              <a:rPr lang="en-US" altLang="zh-CN" b="0" dirty="0" err="1">
                <a:ea typeface="华文中宋" panose="02010600040101010101" pitchFamily="2" charset="-122"/>
              </a:rPr>
              <a:t>bestx</a:t>
            </a:r>
            <a:r>
              <a:rPr lang="en-US" altLang="zh-CN" b="0" dirty="0">
                <a:ea typeface="华文中宋" panose="02010600040101010101" pitchFamily="2" charset="-122"/>
              </a:rPr>
              <a:t>[j]=x[j]; </a:t>
            </a:r>
          </a:p>
          <a:p>
            <a:pPr eaLnBrk="1" hangingPunct="1"/>
            <a:r>
              <a:rPr lang="en-US" altLang="zh-CN" b="0" dirty="0">
                <a:ea typeface="华文中宋" panose="02010600040101010101" pitchFamily="2" charset="-122"/>
              </a:rPr>
              <a:t>          </a:t>
            </a:r>
            <a:r>
              <a:rPr lang="en-US" altLang="zh-CN" b="0" dirty="0" err="1">
                <a:ea typeface="华文中宋" panose="02010600040101010101" pitchFamily="2" charset="-122"/>
              </a:rPr>
              <a:t>bestw</a:t>
            </a:r>
            <a:r>
              <a:rPr lang="en-US" altLang="zh-CN" b="0" dirty="0">
                <a:ea typeface="华文中宋" panose="02010600040101010101" pitchFamily="2" charset="-122"/>
              </a:rPr>
              <a:t>=</a:t>
            </a:r>
            <a:r>
              <a:rPr lang="en-US" altLang="zh-CN" b="0" dirty="0" err="1">
                <a:ea typeface="华文中宋" panose="02010600040101010101" pitchFamily="2" charset="-122"/>
              </a:rPr>
              <a:t>cw</a:t>
            </a:r>
            <a:r>
              <a:rPr lang="en-US" altLang="zh-CN" b="0" dirty="0">
                <a:ea typeface="华文中宋" panose="02010600040101010101" pitchFamily="2" charset="-122"/>
              </a:rPr>
              <a:t>;</a:t>
            </a:r>
          </a:p>
          <a:p>
            <a:pPr eaLnBrk="1" hangingPunct="1"/>
            <a:r>
              <a:rPr lang="en-US" altLang="zh-CN" b="0" dirty="0">
                <a:ea typeface="华文中宋" panose="02010600040101010101" pitchFamily="2" charset="-122"/>
              </a:rPr>
              <a:t>}</a:t>
            </a:r>
          </a:p>
        </p:txBody>
      </p:sp>
      <p:pic>
        <p:nvPicPr>
          <p:cNvPr id="66566" name="Picture 6" descr="t51">
            <a:extLst>
              <a:ext uri="{FF2B5EF4-FFF2-40B4-BE49-F238E27FC236}">
                <a16:creationId xmlns:a16="http://schemas.microsoft.com/office/drawing/2014/main" id="{482266D2-1155-4036-8A01-EC37C7F49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3886200"/>
            <a:ext cx="4419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403571A1-22E3-4290-9B75-864CAB9D99BD}"/>
                  </a:ext>
                </a:extLst>
              </p14:cNvPr>
              <p14:cNvContentPartPr/>
              <p14:nvPr/>
            </p14:nvContentPartPr>
            <p14:xfrm>
              <a:off x="975240" y="2050920"/>
              <a:ext cx="4536000" cy="3207600"/>
            </p14:xfrm>
          </p:contentPart>
        </mc:Choice>
        <mc:Fallback xmlns="">
          <p:pic>
            <p:nvPicPr>
              <p:cNvPr id="2" name="墨迹 1">
                <a:extLst>
                  <a:ext uri="{FF2B5EF4-FFF2-40B4-BE49-F238E27FC236}">
                    <a16:creationId xmlns:a16="http://schemas.microsoft.com/office/drawing/2014/main" id="{403571A1-22E3-4290-9B75-864CAB9D99BD}"/>
                  </a:ext>
                </a:extLst>
              </p:cNvPr>
              <p:cNvPicPr/>
              <p:nvPr/>
            </p:nvPicPr>
            <p:blipFill>
              <a:blip r:embed="rId4"/>
              <a:stretch>
                <a:fillRect/>
              </a:stretch>
            </p:blipFill>
            <p:spPr>
              <a:xfrm>
                <a:off x="965880" y="2041560"/>
                <a:ext cx="4554720" cy="3226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 calcmode="lin" valueType="num">
                                      <p:cBhvr additive="base">
                                        <p:cTn id="7" dur="500" fill="hold"/>
                                        <p:tgtEl>
                                          <p:spTgt spid="66564"/>
                                        </p:tgtEl>
                                        <p:attrNameLst>
                                          <p:attrName>ppt_x</p:attrName>
                                        </p:attrNameLst>
                                      </p:cBhvr>
                                      <p:tavLst>
                                        <p:tav tm="0">
                                          <p:val>
                                            <p:strVal val="0-#ppt_w/2"/>
                                          </p:val>
                                        </p:tav>
                                        <p:tav tm="100000">
                                          <p:val>
                                            <p:strVal val="#ppt_x"/>
                                          </p:val>
                                        </p:tav>
                                      </p:tavLst>
                                    </p:anim>
                                    <p:anim calcmode="lin" valueType="num">
                                      <p:cBhvr additive="base">
                                        <p:cTn id="8" dur="500" fill="hold"/>
                                        <p:tgtEl>
                                          <p:spTgt spid="6656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66566"/>
                                        </p:tgtEl>
                                        <p:attrNameLst>
                                          <p:attrName>style.visibility</p:attrName>
                                        </p:attrNameLst>
                                      </p:cBhvr>
                                      <p:to>
                                        <p:strVal val="visible"/>
                                      </p:to>
                                    </p:set>
                                    <p:anim calcmode="lin" valueType="num">
                                      <p:cBhvr additive="base">
                                        <p:cTn id="12" dur="500" fill="hold"/>
                                        <p:tgtEl>
                                          <p:spTgt spid="66566"/>
                                        </p:tgtEl>
                                        <p:attrNameLst>
                                          <p:attrName>ppt_x</p:attrName>
                                        </p:attrNameLst>
                                      </p:cBhvr>
                                      <p:tavLst>
                                        <p:tav tm="0">
                                          <p:val>
                                            <p:strVal val="0-#ppt_w/2"/>
                                          </p:val>
                                        </p:tav>
                                        <p:tav tm="100000">
                                          <p:val>
                                            <p:strVal val="#ppt_x"/>
                                          </p:val>
                                        </p:tav>
                                      </p:tavLst>
                                    </p:anim>
                                    <p:anim calcmode="lin" valueType="num">
                                      <p:cBhvr additive="base">
                                        <p:cTn id="13" dur="500" fill="hold"/>
                                        <p:tgtEl>
                                          <p:spTgt spid="6656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6565"/>
                                        </p:tgtEl>
                                        <p:attrNameLst>
                                          <p:attrName>style.visibility</p:attrName>
                                        </p:attrNameLst>
                                      </p:cBhvr>
                                      <p:to>
                                        <p:strVal val="visible"/>
                                      </p:to>
                                    </p:set>
                                    <p:anim calcmode="lin" valueType="num">
                                      <p:cBhvr additive="base">
                                        <p:cTn id="18" dur="500" fill="hold"/>
                                        <p:tgtEl>
                                          <p:spTgt spid="66565"/>
                                        </p:tgtEl>
                                        <p:attrNameLst>
                                          <p:attrName>ppt_x</p:attrName>
                                        </p:attrNameLst>
                                      </p:cBhvr>
                                      <p:tavLst>
                                        <p:tav tm="0">
                                          <p:val>
                                            <p:strVal val="0-#ppt_w/2"/>
                                          </p:val>
                                        </p:tav>
                                        <p:tav tm="100000">
                                          <p:val>
                                            <p:strVal val="#ppt_x"/>
                                          </p:val>
                                        </p:tav>
                                      </p:tavLst>
                                    </p:anim>
                                    <p:anim calcmode="lin" valueType="num">
                                      <p:cBhvr additive="base">
                                        <p:cTn id="19" dur="500" fill="hold"/>
                                        <p:tgtEl>
                                          <p:spTgt spid="665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autoUpdateAnimBg="0"/>
      <p:bldP spid="66565"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1F0B79C-7FAC-4B61-81D5-2943B11FA652}"/>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t>迭代回溯</a:t>
            </a:r>
          </a:p>
        </p:txBody>
      </p:sp>
      <p:sp>
        <p:nvSpPr>
          <p:cNvPr id="30723" name="Rectangle 3">
            <a:extLst>
              <a:ext uri="{FF2B5EF4-FFF2-40B4-BE49-F238E27FC236}">
                <a16:creationId xmlns:a16="http://schemas.microsoft.com/office/drawing/2014/main" id="{4C76F694-8FAA-4344-ABDD-31C1F937122E}"/>
              </a:ext>
            </a:extLst>
          </p:cNvPr>
          <p:cNvSpPr>
            <a:spLocks noGrp="1" noChangeArrowheads="1"/>
          </p:cNvSpPr>
          <p:nvPr>
            <p:ph type="body" idx="1"/>
          </p:nvPr>
        </p:nvSpPr>
        <p:spPr bwMode="auto">
          <a:xfrm>
            <a:off x="685800" y="1714500"/>
            <a:ext cx="8029575"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华文中宋" panose="02010600040101010101" pitchFamily="2" charset="-122"/>
              </a:rPr>
              <a:t>将回溯法表示成非递归的形式</a:t>
            </a:r>
            <a:r>
              <a:rPr lang="zh-CN" altLang="en-US" sz="2800" b="1" dirty="0"/>
              <a:t> </a:t>
            </a:r>
          </a:p>
          <a:p>
            <a:pPr eaLnBrk="1" hangingPunct="1"/>
            <a:r>
              <a:rPr lang="zh-CN" altLang="en-US" sz="2800" b="1" dirty="0">
                <a:latin typeface="华文中宋" panose="02010600040101010101" pitchFamily="2" charset="-122"/>
              </a:rPr>
              <a:t>算法</a:t>
            </a:r>
            <a:r>
              <a:rPr lang="en-US" altLang="zh-CN" sz="2800" b="1" dirty="0" err="1"/>
              <a:t>Maxloading</a:t>
            </a:r>
            <a:r>
              <a:rPr lang="zh-CN" altLang="en-US" sz="2800" b="1" dirty="0">
                <a:latin typeface="华文中宋" panose="02010600040101010101" pitchFamily="2" charset="-122"/>
              </a:rPr>
              <a:t>所需的计算时间仍为</a:t>
            </a:r>
            <a:r>
              <a:rPr lang="en-US" altLang="zh-CN" sz="2800" b="1" dirty="0"/>
              <a:t>O(2</a:t>
            </a:r>
            <a:r>
              <a:rPr lang="en-US" altLang="zh-CN" sz="2800" b="1" baseline="30000" dirty="0"/>
              <a:t>n</a:t>
            </a:r>
            <a:r>
              <a:rPr lang="en-US" altLang="zh-CN" sz="2800" b="1" dirty="0"/>
              <a:t>)</a:t>
            </a:r>
            <a:r>
              <a:rPr lang="zh-CN" altLang="en-US" sz="2800" b="1" dirty="0"/>
              <a:t>。 </a:t>
            </a:r>
          </a:p>
          <a:p>
            <a:pPr eaLnBrk="1" hangingPunct="1"/>
            <a:endParaRPr lang="en-US" altLang="zh-CN" sz="2800" b="1" dirty="0"/>
          </a:p>
          <a:p>
            <a:pPr eaLnBrk="1" hangingPunct="1"/>
            <a:endParaRPr lang="en-US" altLang="zh-CN" sz="2800" b="1" dirty="0"/>
          </a:p>
          <a:p>
            <a:pPr eaLnBrk="1" hangingPunct="1"/>
            <a:r>
              <a:rPr lang="zh-CN" altLang="en-US" sz="2800" b="1" dirty="0">
                <a:solidFill>
                  <a:srgbClr val="3333CC"/>
                </a:solidFill>
              </a:rPr>
              <a:t>优化：修改递归回溯程序，使</a:t>
            </a:r>
            <a:r>
              <a:rPr lang="zh-CN" altLang="en-US" sz="2800" b="1" dirty="0">
                <a:solidFill>
                  <a:srgbClr val="3333CC"/>
                </a:solidFill>
                <a:latin typeface="华文中宋" panose="02010600040101010101" pitchFamily="2" charset="-122"/>
              </a:rPr>
              <a:t>所需的计算时间仍为</a:t>
            </a:r>
            <a:r>
              <a:rPr lang="en-US" altLang="zh-CN" sz="2800" b="1" dirty="0">
                <a:solidFill>
                  <a:srgbClr val="3333CC"/>
                </a:solidFill>
              </a:rPr>
              <a:t>O(2</a:t>
            </a:r>
            <a:r>
              <a:rPr lang="en-US" altLang="zh-CN" sz="2800" b="1" baseline="30000" dirty="0">
                <a:solidFill>
                  <a:srgbClr val="3333CC"/>
                </a:solidFill>
              </a:rPr>
              <a:t>n</a:t>
            </a:r>
            <a:r>
              <a:rPr lang="en-US" altLang="zh-CN" sz="2800" b="1" dirty="0">
                <a:solidFill>
                  <a:srgbClr val="3333CC"/>
                </a:solidFill>
              </a:rPr>
              <a:t>)</a:t>
            </a:r>
            <a:r>
              <a:rPr lang="zh-CN" altLang="en-US" sz="2800" b="1" dirty="0">
                <a:solidFill>
                  <a:srgbClr val="3333CC"/>
                </a:solidFil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0573A5AA-2990-4AED-A04B-EF1A6E6912CF}"/>
              </a:ext>
            </a:extLst>
          </p:cNvPr>
          <p:cNvSpPr>
            <a:spLocks noGrp="1" noChangeArrowheads="1"/>
          </p:cNvSpPr>
          <p:nvPr>
            <p:ph type="title"/>
          </p:nvPr>
        </p:nvSpPr>
        <p:spPr bwMode="auto">
          <a:xfrm>
            <a:off x="685800" y="22860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b="1" dirty="0">
                <a:solidFill>
                  <a:srgbClr val="AC2F36"/>
                </a:solidFill>
                <a:effectLst>
                  <a:outerShdw blurRad="38100" dist="38100" dir="2700000" algn="tl">
                    <a:srgbClr val="C0C0C0"/>
                  </a:outerShdw>
                </a:effectLst>
                <a:latin typeface="Palatino Linotype" panose="02040502050505030304" pitchFamily="18" charset="0"/>
              </a:rPr>
              <a:t>5.3</a:t>
            </a:r>
            <a:r>
              <a:rPr lang="en-US" altLang="zh-CN" b="1" dirty="0">
                <a:solidFill>
                  <a:srgbClr val="AC2F36"/>
                </a:solidFill>
                <a:effectLst>
                  <a:outerShdw blurRad="38100" dist="38100" dir="2700000" algn="tl">
                    <a:srgbClr val="C0C0C0"/>
                  </a:outerShdw>
                </a:effectLst>
                <a:latin typeface="华文中宋" panose="02010600040101010101" pitchFamily="2" charset="-122"/>
              </a:rPr>
              <a:t> </a:t>
            </a:r>
            <a:r>
              <a:rPr lang="zh-CN" altLang="en-US" b="1" dirty="0">
                <a:solidFill>
                  <a:srgbClr val="AC2F36"/>
                </a:solidFill>
                <a:effectLst>
                  <a:outerShdw blurRad="38100" dist="38100" dir="2700000" algn="tl">
                    <a:srgbClr val="C0C0C0"/>
                  </a:outerShdw>
                </a:effectLst>
                <a:latin typeface="华文中宋" panose="02010600040101010101" pitchFamily="2" charset="-122"/>
              </a:rPr>
              <a:t>批处理作业调度</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4C4EF88-10DB-4D98-898B-E39519B71DA0}"/>
              </a:ext>
            </a:extLst>
          </p:cNvPr>
          <p:cNvSpPr>
            <a:spLocks noGrp="1" noChangeArrowheads="1"/>
          </p:cNvSpPr>
          <p:nvPr>
            <p:ph type="title"/>
          </p:nvPr>
        </p:nvSpPr>
        <p:spPr bwMode="auto">
          <a:xfrm>
            <a:off x="685800" y="6096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3600" b="1" dirty="0">
                <a:solidFill>
                  <a:srgbClr val="AC2F36"/>
                </a:solidFill>
                <a:effectLst>
                  <a:outerShdw blurRad="38100" dist="38100" dir="2700000" algn="tl">
                    <a:srgbClr val="C0C0C0"/>
                  </a:outerShdw>
                </a:effectLst>
                <a:latin typeface="华文中宋" panose="02010600040101010101" pitchFamily="2" charset="-122"/>
              </a:rPr>
              <a:t>批处理作业调度问题描述</a:t>
            </a:r>
          </a:p>
        </p:txBody>
      </p:sp>
      <p:sp>
        <p:nvSpPr>
          <p:cNvPr id="73731" name="Rectangle 3">
            <a:extLst>
              <a:ext uri="{FF2B5EF4-FFF2-40B4-BE49-F238E27FC236}">
                <a16:creationId xmlns:a16="http://schemas.microsoft.com/office/drawing/2014/main" id="{0F39F816-B8B1-4A30-B84A-007D50C9DE2A}"/>
              </a:ext>
            </a:extLst>
          </p:cNvPr>
          <p:cNvSpPr>
            <a:spLocks noGrp="1" noChangeArrowheads="1"/>
          </p:cNvSpPr>
          <p:nvPr>
            <p:ph type="body" idx="1"/>
          </p:nvPr>
        </p:nvSpPr>
        <p:spPr bwMode="auto">
          <a:xfrm>
            <a:off x="685800" y="1447800"/>
            <a:ext cx="7772400" cy="190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2600" b="1" dirty="0">
                <a:latin typeface="Arial" panose="020B0604020202020204" pitchFamily="34" charset="0"/>
              </a:rPr>
              <a:t>给定</a:t>
            </a:r>
            <a:r>
              <a:rPr kumimoji="0" lang="en-US" altLang="zh-CN" sz="2600" b="1" dirty="0">
                <a:latin typeface="Arial" panose="020B0604020202020204" pitchFamily="34" charset="0"/>
              </a:rPr>
              <a:t>n</a:t>
            </a:r>
            <a:r>
              <a:rPr kumimoji="0" lang="zh-CN" altLang="en-US" sz="2600" b="1" dirty="0">
                <a:latin typeface="Arial" panose="020B0604020202020204" pitchFamily="34" charset="0"/>
              </a:rPr>
              <a:t>个作业的集合</a:t>
            </a:r>
            <a:r>
              <a:rPr kumimoji="0" lang="en-US" altLang="zh-CN" sz="2600" b="1" dirty="0">
                <a:latin typeface="Arial" panose="020B0604020202020204" pitchFamily="34" charset="0"/>
              </a:rPr>
              <a:t>J={J</a:t>
            </a:r>
            <a:r>
              <a:rPr kumimoji="0" lang="en-US" altLang="zh-CN" sz="2600" b="1" baseline="-25000" dirty="0">
                <a:latin typeface="Arial" panose="020B0604020202020204" pitchFamily="34" charset="0"/>
              </a:rPr>
              <a:t>1</a:t>
            </a:r>
            <a:r>
              <a:rPr kumimoji="0" lang="en-US" altLang="zh-CN" sz="2600" b="1" dirty="0">
                <a:latin typeface="Arial" panose="020B0604020202020204" pitchFamily="34" charset="0"/>
              </a:rPr>
              <a:t>,J</a:t>
            </a:r>
            <a:r>
              <a:rPr kumimoji="0" lang="en-US" altLang="zh-CN" sz="2600" b="1" baseline="-25000" dirty="0">
                <a:latin typeface="Arial" panose="020B0604020202020204" pitchFamily="34" charset="0"/>
              </a:rPr>
              <a:t>2</a:t>
            </a:r>
            <a:r>
              <a:rPr kumimoji="0" lang="en-US" altLang="zh-CN" sz="2600" b="1" dirty="0">
                <a:latin typeface="Arial" panose="020B0604020202020204" pitchFamily="34" charset="0"/>
              </a:rPr>
              <a:t>,…,J</a:t>
            </a:r>
            <a:r>
              <a:rPr kumimoji="0" lang="en-US" altLang="zh-CN" sz="2600" b="1" baseline="-25000" dirty="0">
                <a:latin typeface="Arial" panose="020B0604020202020204" pitchFamily="34" charset="0"/>
              </a:rPr>
              <a:t>n</a:t>
            </a:r>
            <a:r>
              <a:rPr kumimoji="0" lang="en-US" altLang="zh-CN" sz="2600" b="1" dirty="0">
                <a:latin typeface="Arial" panose="020B0604020202020204" pitchFamily="34" charset="0"/>
              </a:rPr>
              <a:t>}</a:t>
            </a:r>
            <a:r>
              <a:rPr kumimoji="0" lang="zh-CN" altLang="en-US" sz="2600" b="1" dirty="0">
                <a:latin typeface="Arial" panose="020B0604020202020204" pitchFamily="34" charset="0"/>
              </a:rPr>
              <a:t>。每个作业必须先由机器</a:t>
            </a:r>
            <a:r>
              <a:rPr kumimoji="0" lang="en-US" altLang="zh-CN" sz="2600" b="1" dirty="0">
                <a:latin typeface="Arial" panose="020B0604020202020204" pitchFamily="34" charset="0"/>
              </a:rPr>
              <a:t>M1</a:t>
            </a:r>
            <a:r>
              <a:rPr kumimoji="0" lang="zh-CN" altLang="en-US" sz="2600" b="1" dirty="0">
                <a:latin typeface="Arial" panose="020B0604020202020204" pitchFamily="34" charset="0"/>
              </a:rPr>
              <a:t>处理，然后由机器</a:t>
            </a:r>
            <a:r>
              <a:rPr kumimoji="0" lang="en-US" altLang="zh-CN" sz="2600" b="1" dirty="0">
                <a:latin typeface="Arial" panose="020B0604020202020204" pitchFamily="34" charset="0"/>
              </a:rPr>
              <a:t>M2</a:t>
            </a:r>
            <a:r>
              <a:rPr kumimoji="0" lang="zh-CN" altLang="en-US" sz="2600" b="1" dirty="0">
                <a:latin typeface="Arial" panose="020B0604020202020204" pitchFamily="34" charset="0"/>
              </a:rPr>
              <a:t>处理。作业</a:t>
            </a:r>
            <a:r>
              <a:rPr kumimoji="0" lang="en-US" altLang="zh-CN" sz="2600" b="1" dirty="0">
                <a:latin typeface="Arial" panose="020B0604020202020204" pitchFamily="34" charset="0"/>
              </a:rPr>
              <a:t>J</a:t>
            </a:r>
            <a:r>
              <a:rPr kumimoji="0" lang="en-US" altLang="zh-CN" sz="2600" b="1" baseline="-25000" dirty="0">
                <a:latin typeface="Arial" panose="020B0604020202020204" pitchFamily="34" charset="0"/>
              </a:rPr>
              <a:t>i</a:t>
            </a:r>
            <a:r>
              <a:rPr kumimoji="0" lang="zh-CN" altLang="en-US" sz="2600" b="1" dirty="0">
                <a:latin typeface="Arial" panose="020B0604020202020204" pitchFamily="34" charset="0"/>
              </a:rPr>
              <a:t>需要机器</a:t>
            </a:r>
            <a:r>
              <a:rPr kumimoji="0" lang="en-US" altLang="zh-CN" sz="2600" b="1" dirty="0">
                <a:latin typeface="Arial" panose="020B0604020202020204" pitchFamily="34" charset="0"/>
              </a:rPr>
              <a:t>j</a:t>
            </a:r>
            <a:r>
              <a:rPr kumimoji="0" lang="zh-CN" altLang="en-US" sz="2600" b="1" dirty="0">
                <a:latin typeface="Arial" panose="020B0604020202020204" pitchFamily="34" charset="0"/>
              </a:rPr>
              <a:t>的处理时间为</a:t>
            </a:r>
            <a:r>
              <a:rPr kumimoji="0" lang="en-US" altLang="zh-CN" sz="2600" b="1" dirty="0" err="1">
                <a:latin typeface="Arial" panose="020B0604020202020204" pitchFamily="34" charset="0"/>
              </a:rPr>
              <a:t>t</a:t>
            </a:r>
            <a:r>
              <a:rPr kumimoji="0" lang="en-US" altLang="zh-CN" sz="2600" b="1" baseline="-25000" dirty="0" err="1">
                <a:latin typeface="Arial" panose="020B0604020202020204" pitchFamily="34" charset="0"/>
              </a:rPr>
              <a:t>ji</a:t>
            </a:r>
            <a:r>
              <a:rPr kumimoji="0" lang="zh-CN" altLang="en-US" sz="2600" b="1" dirty="0">
                <a:latin typeface="Arial" panose="020B0604020202020204" pitchFamily="34" charset="0"/>
              </a:rPr>
              <a:t>。对于一个确定的作业调度，设</a:t>
            </a:r>
            <a:r>
              <a:rPr kumimoji="0" lang="en-US" altLang="zh-CN" sz="2600" b="1" dirty="0" err="1">
                <a:latin typeface="Arial" panose="020B0604020202020204" pitchFamily="34" charset="0"/>
              </a:rPr>
              <a:t>F</a:t>
            </a:r>
            <a:r>
              <a:rPr kumimoji="0" lang="en-US" altLang="zh-CN" sz="2600" b="1" baseline="-25000" dirty="0" err="1">
                <a:latin typeface="Arial" panose="020B0604020202020204" pitchFamily="34" charset="0"/>
              </a:rPr>
              <a:t>ji</a:t>
            </a:r>
            <a:r>
              <a:rPr kumimoji="0" lang="zh-CN" altLang="en-US" sz="2600" b="1" dirty="0">
                <a:latin typeface="Arial" panose="020B0604020202020204" pitchFamily="34" charset="0"/>
              </a:rPr>
              <a:t>是作业</a:t>
            </a:r>
            <a:r>
              <a:rPr kumimoji="0" lang="en-US" altLang="zh-CN" sz="2600" b="1" dirty="0" err="1">
                <a:latin typeface="Arial" panose="020B0604020202020204" pitchFamily="34" charset="0"/>
              </a:rPr>
              <a:t>i</a:t>
            </a:r>
            <a:r>
              <a:rPr kumimoji="0" lang="zh-CN" altLang="en-US" sz="2600" b="1" dirty="0">
                <a:latin typeface="Arial" panose="020B0604020202020204" pitchFamily="34" charset="0"/>
              </a:rPr>
              <a:t>在机器</a:t>
            </a:r>
            <a:r>
              <a:rPr kumimoji="0" lang="en-US" altLang="zh-CN" sz="2600" b="1" dirty="0">
                <a:latin typeface="Arial" panose="020B0604020202020204" pitchFamily="34" charset="0"/>
              </a:rPr>
              <a:t>j</a:t>
            </a:r>
            <a:r>
              <a:rPr kumimoji="0" lang="zh-CN" altLang="en-US" sz="2600" b="1" dirty="0">
                <a:latin typeface="Arial" panose="020B0604020202020204" pitchFamily="34" charset="0"/>
              </a:rPr>
              <a:t>上完成处理的时间。</a:t>
            </a:r>
          </a:p>
        </p:txBody>
      </p:sp>
      <p:grpSp>
        <p:nvGrpSpPr>
          <p:cNvPr id="2" name="Group 6">
            <a:extLst>
              <a:ext uri="{FF2B5EF4-FFF2-40B4-BE49-F238E27FC236}">
                <a16:creationId xmlns:a16="http://schemas.microsoft.com/office/drawing/2014/main" id="{8B701B43-55E1-41F5-9559-3F8D516E1A2E}"/>
              </a:ext>
            </a:extLst>
          </p:cNvPr>
          <p:cNvGrpSpPr>
            <a:grpSpLocks/>
          </p:cNvGrpSpPr>
          <p:nvPr/>
        </p:nvGrpSpPr>
        <p:grpSpPr bwMode="auto">
          <a:xfrm>
            <a:off x="4343400" y="4114800"/>
            <a:ext cx="2743200" cy="914400"/>
            <a:chOff x="480" y="2784"/>
            <a:chExt cx="1728" cy="576"/>
          </a:xfrm>
        </p:grpSpPr>
        <p:sp>
          <p:nvSpPr>
            <p:cNvPr id="32775" name="Text Box 4">
              <a:extLst>
                <a:ext uri="{FF2B5EF4-FFF2-40B4-BE49-F238E27FC236}">
                  <a16:creationId xmlns:a16="http://schemas.microsoft.com/office/drawing/2014/main" id="{44CCEC01-DC3E-4D5B-A270-BF14250E145B}"/>
                </a:ext>
              </a:extLst>
            </p:cNvPr>
            <p:cNvSpPr txBox="1">
              <a:spLocks noChangeArrowheads="1"/>
            </p:cNvSpPr>
            <p:nvPr/>
          </p:nvSpPr>
          <p:spPr bwMode="auto">
            <a:xfrm>
              <a:off x="480" y="2928"/>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f=          </a:t>
              </a:r>
              <a:endParaRPr kumimoji="0" lang="en-US" altLang="zh-CN" b="0" baseline="-25000" dirty="0">
                <a:latin typeface="Arial" panose="020B0604020202020204" pitchFamily="34" charset="0"/>
                <a:ea typeface="华文中宋" panose="02010600040101010101" pitchFamily="2" charset="-122"/>
              </a:endParaRPr>
            </a:p>
          </p:txBody>
        </p:sp>
        <p:graphicFrame>
          <p:nvGraphicFramePr>
            <p:cNvPr id="32776" name="Object 5">
              <a:extLst>
                <a:ext uri="{FF2B5EF4-FFF2-40B4-BE49-F238E27FC236}">
                  <a16:creationId xmlns:a16="http://schemas.microsoft.com/office/drawing/2014/main" id="{7EF5E554-55A0-4ABE-9A6D-778DE6E47BCB}"/>
                </a:ext>
              </a:extLst>
            </p:cNvPr>
            <p:cNvGraphicFramePr>
              <a:graphicFrameLocks noChangeAspect="1"/>
            </p:cNvGraphicFramePr>
            <p:nvPr/>
          </p:nvGraphicFramePr>
          <p:xfrm>
            <a:off x="816" y="2784"/>
            <a:ext cx="672" cy="576"/>
          </p:xfrm>
          <a:graphic>
            <a:graphicData uri="http://schemas.openxmlformats.org/presentationml/2006/ole">
              <mc:AlternateContent xmlns:mc="http://schemas.openxmlformats.org/markup-compatibility/2006">
                <mc:Choice xmlns:v="urn:schemas-microsoft-com:vml" Requires="v">
                  <p:oleObj name="Equation" r:id="rId2" imgW="406224" imgH="431613" progId="Equation.DSMT4">
                    <p:embed/>
                  </p:oleObj>
                </mc:Choice>
                <mc:Fallback>
                  <p:oleObj name="Equation" r:id="rId2" imgW="406224" imgH="431613"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 y="2784"/>
                          <a:ext cx="672"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3735" name="Rectangle 7">
            <a:extLst>
              <a:ext uri="{FF2B5EF4-FFF2-40B4-BE49-F238E27FC236}">
                <a16:creationId xmlns:a16="http://schemas.microsoft.com/office/drawing/2014/main" id="{1E64FEEE-8684-43ED-8754-D73560A02038}"/>
              </a:ext>
            </a:extLst>
          </p:cNvPr>
          <p:cNvSpPr>
            <a:spLocks noChangeArrowheads="1"/>
          </p:cNvSpPr>
          <p:nvPr/>
        </p:nvSpPr>
        <p:spPr bwMode="auto">
          <a:xfrm>
            <a:off x="685800" y="34290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kumimoji="0" lang="zh-CN" altLang="en-US" sz="2600" dirty="0">
                <a:latin typeface="Arial" panose="020B0604020202020204" pitchFamily="34" charset="0"/>
                <a:ea typeface="华文中宋" panose="02010600040101010101" pitchFamily="2" charset="-122"/>
              </a:rPr>
              <a:t>所有作业在机器</a:t>
            </a:r>
            <a:r>
              <a:rPr kumimoji="0" lang="en-US" altLang="zh-CN" sz="2600" dirty="0">
                <a:latin typeface="Arial" panose="020B0604020202020204" pitchFamily="34" charset="0"/>
                <a:ea typeface="华文中宋" panose="02010600040101010101" pitchFamily="2" charset="-122"/>
              </a:rPr>
              <a:t>M2</a:t>
            </a:r>
            <a:r>
              <a:rPr kumimoji="0" lang="zh-CN" altLang="en-US" sz="2600" dirty="0">
                <a:latin typeface="Arial" panose="020B0604020202020204" pitchFamily="34" charset="0"/>
                <a:ea typeface="华文中宋" panose="02010600040101010101" pitchFamily="2" charset="-122"/>
              </a:rPr>
              <a:t>上完成处理的时间和称为该作业调度的完成时间和。</a:t>
            </a:r>
          </a:p>
        </p:txBody>
      </p:sp>
      <p:sp>
        <p:nvSpPr>
          <p:cNvPr id="73736" name="Rectangle 8">
            <a:extLst>
              <a:ext uri="{FF2B5EF4-FFF2-40B4-BE49-F238E27FC236}">
                <a16:creationId xmlns:a16="http://schemas.microsoft.com/office/drawing/2014/main" id="{5E40291C-14AC-4015-9F9B-C3B55C2F611A}"/>
              </a:ext>
            </a:extLst>
          </p:cNvPr>
          <p:cNvSpPr>
            <a:spLocks noChangeArrowheads="1"/>
          </p:cNvSpPr>
          <p:nvPr/>
        </p:nvSpPr>
        <p:spPr bwMode="auto">
          <a:xfrm>
            <a:off x="609600" y="5105400"/>
            <a:ext cx="7772400" cy="990600"/>
          </a:xfrm>
          <a:prstGeom prst="rect">
            <a:avLst/>
          </a:prstGeom>
          <a:noFill/>
          <a:ln w="9525">
            <a:noFill/>
            <a:miter lim="800000"/>
            <a:headEnd/>
            <a:tailEnd/>
          </a:ln>
          <a:effectLst/>
        </p:spPr>
        <p:txBody>
          <a:bodyPr/>
          <a:lstStyle/>
          <a:p>
            <a:pPr marL="342900" indent="-342900" eaLnBrk="1" hangingPunct="1">
              <a:lnSpc>
                <a:spcPct val="90000"/>
              </a:lnSpc>
              <a:spcBef>
                <a:spcPct val="20000"/>
              </a:spcBef>
              <a:buFontTx/>
              <a:buChar char="•"/>
              <a:defRPr/>
            </a:pPr>
            <a:r>
              <a:rPr lang="zh-CN" altLang="en-US" sz="2600" dirty="0">
                <a:solidFill>
                  <a:srgbClr val="AC2F36"/>
                </a:solidFill>
                <a:effectLst>
                  <a:outerShdw blurRad="38100" dist="38100" dir="2700000" algn="tl">
                    <a:srgbClr val="C0C0C0"/>
                  </a:outerShdw>
                </a:effectLst>
                <a:latin typeface="华文中宋" panose="02010600040101010101" pitchFamily="2" charset="-122"/>
                <a:ea typeface="华文中宋" panose="02010600040101010101" pitchFamily="2" charset="-122"/>
              </a:rPr>
              <a:t>批处理作业调度问题</a:t>
            </a:r>
            <a:r>
              <a:rPr kumimoji="0" lang="zh-CN" altLang="en-US" sz="2600" dirty="0">
                <a:latin typeface="华文中宋" panose="02010600040101010101" pitchFamily="2" charset="-122"/>
                <a:ea typeface="华文中宋" panose="02010600040101010101" pitchFamily="2" charset="-122"/>
              </a:rPr>
              <a:t>要求对于给定的</a:t>
            </a:r>
            <a:r>
              <a:rPr kumimoji="0" lang="en-US" altLang="zh-CN" sz="2600" dirty="0">
                <a:latin typeface="华文中宋" panose="02010600040101010101" pitchFamily="2" charset="-122"/>
                <a:ea typeface="华文中宋" panose="02010600040101010101" pitchFamily="2" charset="-122"/>
              </a:rPr>
              <a:t>n</a:t>
            </a:r>
            <a:r>
              <a:rPr kumimoji="0" lang="zh-CN" altLang="en-US" sz="2600" dirty="0">
                <a:latin typeface="华文中宋" panose="02010600040101010101" pitchFamily="2" charset="-122"/>
                <a:ea typeface="华文中宋" panose="02010600040101010101" pitchFamily="2" charset="-122"/>
              </a:rPr>
              <a:t>个作业，制定最佳作业调度方案，使其完成时间和达到最小。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3735">
                                            <p:txEl>
                                              <p:pRg st="0" end="0"/>
                                            </p:txEl>
                                          </p:spTgt>
                                        </p:tgtEl>
                                        <p:attrNameLst>
                                          <p:attrName>style.visibility</p:attrName>
                                        </p:attrNameLst>
                                      </p:cBhvr>
                                      <p:to>
                                        <p:strVal val="visible"/>
                                      </p:to>
                                    </p:set>
                                    <p:anim calcmode="lin" valueType="num">
                                      <p:cBhvr additive="base">
                                        <p:cTn id="13" dur="500" fill="hold"/>
                                        <p:tgtEl>
                                          <p:spTgt spid="7373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37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36">
                                            <p:txEl>
                                              <p:pRg st="0" end="0"/>
                                            </p:txEl>
                                          </p:spTgt>
                                        </p:tgtEl>
                                        <p:attrNameLst>
                                          <p:attrName>style.visibility</p:attrName>
                                        </p:attrNameLst>
                                      </p:cBhvr>
                                      <p:to>
                                        <p:strVal val="visible"/>
                                      </p:to>
                                    </p:set>
                                    <p:anim calcmode="lin" valueType="num">
                                      <p:cBhvr additive="base">
                                        <p:cTn id="25" dur="500" fill="hold"/>
                                        <p:tgtEl>
                                          <p:spTgt spid="73736">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373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autoUpdateAnimBg="0"/>
      <p:bldP spid="73735" grpId="0" build="p" autoUpdateAnimBg="0"/>
      <p:bldP spid="73736"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8A6C39F-0CC2-481F-B23D-C822126BF5CA}"/>
              </a:ext>
            </a:extLst>
          </p:cNvPr>
          <p:cNvSpPr>
            <a:spLocks noGrp="1" noChangeArrowheads="1"/>
          </p:cNvSpPr>
          <p:nvPr>
            <p:ph type="title"/>
          </p:nvPr>
        </p:nvSpPr>
        <p:spPr bwMode="auto">
          <a:xfrm>
            <a:off x="685800" y="228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dirty="0">
                <a:solidFill>
                  <a:srgbClr val="AC2F36"/>
                </a:solidFill>
                <a:latin typeface="Arial" panose="020B0604020202020204" pitchFamily="34" charset="0"/>
              </a:rPr>
              <a:t>实例</a:t>
            </a:r>
          </a:p>
        </p:txBody>
      </p:sp>
      <p:sp>
        <p:nvSpPr>
          <p:cNvPr id="74755" name="Rectangle 3">
            <a:extLst>
              <a:ext uri="{FF2B5EF4-FFF2-40B4-BE49-F238E27FC236}">
                <a16:creationId xmlns:a16="http://schemas.microsoft.com/office/drawing/2014/main" id="{70872868-3852-40FF-8970-FFB538BAAA0E}"/>
              </a:ext>
            </a:extLst>
          </p:cNvPr>
          <p:cNvSpPr>
            <a:spLocks noGrp="1" noChangeArrowheads="1"/>
          </p:cNvSpPr>
          <p:nvPr>
            <p:ph type="body" idx="1"/>
          </p:nvPr>
        </p:nvSpPr>
        <p:spPr bwMode="auto">
          <a:xfrm>
            <a:off x="685800" y="35560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a:t>共有</a:t>
            </a:r>
            <a:r>
              <a:rPr lang="en-US" altLang="zh-CN"/>
              <a:t>3</a:t>
            </a:r>
            <a:r>
              <a:rPr lang="zh-CN" altLang="en-US"/>
              <a:t>！</a:t>
            </a:r>
            <a:r>
              <a:rPr lang="en-US" altLang="zh-CN"/>
              <a:t>=6</a:t>
            </a:r>
            <a:r>
              <a:rPr lang="zh-CN" altLang="en-US"/>
              <a:t>种调度方案，例</a:t>
            </a:r>
          </a:p>
        </p:txBody>
      </p:sp>
      <p:graphicFrame>
        <p:nvGraphicFramePr>
          <p:cNvPr id="74778" name="Group 26">
            <a:extLst>
              <a:ext uri="{FF2B5EF4-FFF2-40B4-BE49-F238E27FC236}">
                <a16:creationId xmlns:a16="http://schemas.microsoft.com/office/drawing/2014/main" id="{E319021C-C766-4C7B-AF13-0B5A8F7C7595}"/>
              </a:ext>
            </a:extLst>
          </p:cNvPr>
          <p:cNvGraphicFramePr>
            <a:graphicFrameLocks noGrp="1"/>
          </p:cNvGraphicFramePr>
          <p:nvPr/>
        </p:nvGraphicFramePr>
        <p:xfrm>
          <a:off x="1524000" y="990600"/>
          <a:ext cx="5486400" cy="2413000"/>
        </p:xfrm>
        <a:graphic>
          <a:graphicData uri="http://schemas.openxmlformats.org/drawingml/2006/table">
            <a:tbl>
              <a:tblPr/>
              <a:tblGrid>
                <a:gridCol w="1828800">
                  <a:extLst>
                    <a:ext uri="{9D8B030D-6E8A-4147-A177-3AD203B41FA5}">
                      <a16:colId xmlns:a16="http://schemas.microsoft.com/office/drawing/2014/main" val="1701282366"/>
                    </a:ext>
                  </a:extLst>
                </a:gridCol>
                <a:gridCol w="1828800">
                  <a:extLst>
                    <a:ext uri="{9D8B030D-6E8A-4147-A177-3AD203B41FA5}">
                      <a16:colId xmlns:a16="http://schemas.microsoft.com/office/drawing/2014/main" val="3426177695"/>
                    </a:ext>
                  </a:extLst>
                </a:gridCol>
                <a:gridCol w="1828800">
                  <a:extLst>
                    <a:ext uri="{9D8B030D-6E8A-4147-A177-3AD203B41FA5}">
                      <a16:colId xmlns:a16="http://schemas.microsoft.com/office/drawing/2014/main" val="2265379613"/>
                    </a:ext>
                  </a:extLst>
                </a:gridCol>
              </a:tblGrid>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err="1">
                          <a:ln>
                            <a:noFill/>
                          </a:ln>
                          <a:solidFill>
                            <a:srgbClr val="0000CC"/>
                          </a:solidFill>
                          <a:effectLst/>
                          <a:latin typeface="Arial" panose="020B0604020202020204" pitchFamily="34" charset="0"/>
                          <a:ea typeface="华文中宋" panose="02010600040101010101" pitchFamily="2" charset="-122"/>
                        </a:rPr>
                        <a:t>t</a:t>
                      </a:r>
                      <a:r>
                        <a:rPr kumimoji="0" lang="en-US" altLang="zh-CN" sz="2000" b="1" i="0" u="none" strike="noStrike" cap="none" normalizeH="0" baseline="-25000" dirty="0" err="1">
                          <a:ln>
                            <a:noFill/>
                          </a:ln>
                          <a:solidFill>
                            <a:srgbClr val="0000CC"/>
                          </a:solidFill>
                          <a:effectLst/>
                          <a:latin typeface="Arial" panose="020B0604020202020204" pitchFamily="34" charset="0"/>
                          <a:ea typeface="华文中宋" panose="02010600040101010101" pitchFamily="2" charset="-122"/>
                        </a:rPr>
                        <a:t>ji</a:t>
                      </a:r>
                      <a:endPar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M1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M2</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9894418"/>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1</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008202"/>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2</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1</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9552718"/>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3</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0460582"/>
                  </a:ext>
                </a:extLst>
              </a:tr>
            </a:tbl>
          </a:graphicData>
        </a:graphic>
      </p:graphicFrame>
      <p:sp>
        <p:nvSpPr>
          <p:cNvPr id="74779" name="Rectangle 27">
            <a:extLst>
              <a:ext uri="{FF2B5EF4-FFF2-40B4-BE49-F238E27FC236}">
                <a16:creationId xmlns:a16="http://schemas.microsoft.com/office/drawing/2014/main" id="{0DF8A202-D9C0-4A2F-B052-EB305DB596DC}"/>
              </a:ext>
            </a:extLst>
          </p:cNvPr>
          <p:cNvSpPr>
            <a:spLocks noChangeArrowheads="1"/>
          </p:cNvSpPr>
          <p:nvPr/>
        </p:nvSpPr>
        <p:spPr bwMode="auto">
          <a:xfrm>
            <a:off x="685800" y="4165600"/>
            <a:ext cx="480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3200" b="0" dirty="0">
                <a:ea typeface="华文中宋" panose="02010600040101010101" pitchFamily="2" charset="-122"/>
              </a:rPr>
              <a:t>调度</a:t>
            </a:r>
            <a:r>
              <a:rPr lang="en-US" altLang="zh-CN" sz="3200" b="0" dirty="0">
                <a:ea typeface="华文中宋" panose="02010600040101010101" pitchFamily="2" charset="-122"/>
              </a:rPr>
              <a:t>123   f=3+6+10=19  </a:t>
            </a:r>
          </a:p>
        </p:txBody>
      </p:sp>
      <p:sp>
        <p:nvSpPr>
          <p:cNvPr id="74780" name="Rectangle 28">
            <a:extLst>
              <a:ext uri="{FF2B5EF4-FFF2-40B4-BE49-F238E27FC236}">
                <a16:creationId xmlns:a16="http://schemas.microsoft.com/office/drawing/2014/main" id="{2DF7722C-4F86-45E1-A109-4E805CD35703}"/>
              </a:ext>
            </a:extLst>
          </p:cNvPr>
          <p:cNvSpPr>
            <a:spLocks noChangeArrowheads="1"/>
          </p:cNvSpPr>
          <p:nvPr/>
        </p:nvSpPr>
        <p:spPr bwMode="auto">
          <a:xfrm>
            <a:off x="685800" y="4775200"/>
            <a:ext cx="480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3200" b="0" dirty="0">
                <a:ea typeface="华文中宋" panose="02010600040101010101" pitchFamily="2" charset="-122"/>
              </a:rPr>
              <a:t>调度</a:t>
            </a:r>
            <a:r>
              <a:rPr lang="en-US" altLang="zh-CN" sz="3200" b="0" dirty="0">
                <a:ea typeface="华文中宋" panose="02010600040101010101" pitchFamily="2" charset="-122"/>
              </a:rPr>
              <a:t>132   f=3+7+8=18  </a:t>
            </a:r>
          </a:p>
        </p:txBody>
      </p:sp>
      <p:sp>
        <p:nvSpPr>
          <p:cNvPr id="74781" name="Rectangle 29">
            <a:extLst>
              <a:ext uri="{FF2B5EF4-FFF2-40B4-BE49-F238E27FC236}">
                <a16:creationId xmlns:a16="http://schemas.microsoft.com/office/drawing/2014/main" id="{44057033-3E33-4EF2-B886-63B59732735E}"/>
              </a:ext>
            </a:extLst>
          </p:cNvPr>
          <p:cNvSpPr>
            <a:spLocks noChangeArrowheads="1"/>
          </p:cNvSpPr>
          <p:nvPr/>
        </p:nvSpPr>
        <p:spPr bwMode="auto">
          <a:xfrm>
            <a:off x="685800" y="5384800"/>
            <a:ext cx="480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3200" b="0" dirty="0">
                <a:ea typeface="华文中宋" panose="02010600040101010101" pitchFamily="2" charset="-122"/>
              </a:rPr>
              <a:t>调度</a:t>
            </a:r>
            <a:r>
              <a:rPr lang="en-US" altLang="zh-CN" sz="3200" b="0" dirty="0">
                <a:ea typeface="华文中宋" panose="02010600040101010101" pitchFamily="2" charset="-122"/>
              </a:rPr>
              <a:t>213   f=4+6+10=20  </a:t>
            </a:r>
          </a:p>
        </p:txBody>
      </p:sp>
      <p:sp>
        <p:nvSpPr>
          <p:cNvPr id="74782" name="Text Box 30">
            <a:extLst>
              <a:ext uri="{FF2B5EF4-FFF2-40B4-BE49-F238E27FC236}">
                <a16:creationId xmlns:a16="http://schemas.microsoft.com/office/drawing/2014/main" id="{1054EA0E-A199-47FF-A592-50D9C54F4F58}"/>
              </a:ext>
            </a:extLst>
          </p:cNvPr>
          <p:cNvSpPr txBox="1">
            <a:spLocks noChangeArrowheads="1"/>
          </p:cNvSpPr>
          <p:nvPr/>
        </p:nvSpPr>
        <p:spPr bwMode="auto">
          <a:xfrm>
            <a:off x="5486400" y="5156200"/>
            <a:ext cx="312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solidFill>
                  <a:srgbClr val="AC2F36"/>
                </a:solidFill>
                <a:latin typeface="Arial" panose="020B0604020202020204" pitchFamily="34" charset="0"/>
                <a:ea typeface="华文中宋" panose="02010600040101010101" pitchFamily="2" charset="-122"/>
              </a:rPr>
              <a:t>最佳调度方案是</a:t>
            </a:r>
            <a:r>
              <a:rPr kumimoji="0" lang="en-US" altLang="zh-CN" dirty="0">
                <a:solidFill>
                  <a:srgbClr val="AC2F36"/>
                </a:solidFill>
                <a:latin typeface="Arial" panose="020B0604020202020204" pitchFamily="34" charset="0"/>
                <a:ea typeface="华文中宋" panose="02010600040101010101" pitchFamily="2" charset="-122"/>
              </a:rPr>
              <a:t>1,3,2</a:t>
            </a:r>
            <a:r>
              <a:rPr kumimoji="0" lang="zh-CN" altLang="en-US" dirty="0">
                <a:solidFill>
                  <a:srgbClr val="AC2F36"/>
                </a:solidFill>
                <a:latin typeface="Arial" panose="020B0604020202020204" pitchFamily="34" charset="0"/>
                <a:ea typeface="华文中宋" panose="02010600040101010101" pitchFamily="2" charset="-122"/>
              </a:rPr>
              <a:t>，其完成时间和为</a:t>
            </a:r>
            <a:r>
              <a:rPr kumimoji="0" lang="en-US" altLang="zh-CN" dirty="0">
                <a:solidFill>
                  <a:srgbClr val="AC2F36"/>
                </a:solidFill>
                <a:latin typeface="Arial" panose="020B0604020202020204" pitchFamily="34" charset="0"/>
                <a:ea typeface="华文中宋" panose="02010600040101010101" pitchFamily="2" charset="-122"/>
              </a:rPr>
              <a:t>18</a:t>
            </a:r>
            <a:r>
              <a:rPr kumimoji="0" lang="zh-CN" altLang="en-US" dirty="0">
                <a:solidFill>
                  <a:srgbClr val="AC2F36"/>
                </a:solidFill>
                <a:latin typeface="Arial" panose="020B0604020202020204" pitchFamily="34" charset="0"/>
                <a:ea typeface="华文中宋" panose="02010600040101010101" pitchFamily="2" charset="-122"/>
              </a:rPr>
              <a:t>。</a:t>
            </a:r>
            <a:endParaRPr lang="zh-CN" altLang="en-US" dirty="0">
              <a:solidFill>
                <a:srgbClr val="AC2F36"/>
              </a:solidFill>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4778"/>
                                        </p:tgtEl>
                                        <p:attrNameLst>
                                          <p:attrName>style.visibility</p:attrName>
                                        </p:attrNameLst>
                                      </p:cBhvr>
                                      <p:to>
                                        <p:strVal val="visible"/>
                                      </p:to>
                                    </p:set>
                                    <p:anim calcmode="lin" valueType="num">
                                      <p:cBhvr additive="base">
                                        <p:cTn id="7" dur="500" fill="hold"/>
                                        <p:tgtEl>
                                          <p:spTgt spid="74778"/>
                                        </p:tgtEl>
                                        <p:attrNameLst>
                                          <p:attrName>ppt_x</p:attrName>
                                        </p:attrNameLst>
                                      </p:cBhvr>
                                      <p:tavLst>
                                        <p:tav tm="0">
                                          <p:val>
                                            <p:strVal val="0-#ppt_w/2"/>
                                          </p:val>
                                        </p:tav>
                                        <p:tav tm="100000">
                                          <p:val>
                                            <p:strVal val="#ppt_x"/>
                                          </p:val>
                                        </p:tav>
                                      </p:tavLst>
                                    </p:anim>
                                    <p:anim calcmode="lin" valueType="num">
                                      <p:cBhvr additive="base">
                                        <p:cTn id="8" dur="500" fill="hold"/>
                                        <p:tgtEl>
                                          <p:spTgt spid="7477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755">
                                            <p:txEl>
                                              <p:pRg st="0" end="0"/>
                                            </p:txEl>
                                          </p:spTgt>
                                        </p:tgtEl>
                                        <p:attrNameLst>
                                          <p:attrName>style.visibility</p:attrName>
                                        </p:attrNameLst>
                                      </p:cBhvr>
                                      <p:to>
                                        <p:strVal val="visible"/>
                                      </p:to>
                                    </p:set>
                                    <p:anim calcmode="lin" valueType="num">
                                      <p:cBhvr additive="base">
                                        <p:cTn id="13" dur="500" fill="hold"/>
                                        <p:tgtEl>
                                          <p:spTgt spid="7475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47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79"/>
                                        </p:tgtEl>
                                        <p:attrNameLst>
                                          <p:attrName>style.visibility</p:attrName>
                                        </p:attrNameLst>
                                      </p:cBhvr>
                                      <p:to>
                                        <p:strVal val="visible"/>
                                      </p:to>
                                    </p:set>
                                    <p:anim calcmode="lin" valueType="num">
                                      <p:cBhvr additive="base">
                                        <p:cTn id="19" dur="500" fill="hold"/>
                                        <p:tgtEl>
                                          <p:spTgt spid="74779"/>
                                        </p:tgtEl>
                                        <p:attrNameLst>
                                          <p:attrName>ppt_x</p:attrName>
                                        </p:attrNameLst>
                                      </p:cBhvr>
                                      <p:tavLst>
                                        <p:tav tm="0">
                                          <p:val>
                                            <p:strVal val="0-#ppt_w/2"/>
                                          </p:val>
                                        </p:tav>
                                        <p:tav tm="100000">
                                          <p:val>
                                            <p:strVal val="#ppt_x"/>
                                          </p:val>
                                        </p:tav>
                                      </p:tavLst>
                                    </p:anim>
                                    <p:anim calcmode="lin" valueType="num">
                                      <p:cBhvr additive="base">
                                        <p:cTn id="20" dur="500" fill="hold"/>
                                        <p:tgtEl>
                                          <p:spTgt spid="7477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4780"/>
                                        </p:tgtEl>
                                        <p:attrNameLst>
                                          <p:attrName>style.visibility</p:attrName>
                                        </p:attrNameLst>
                                      </p:cBhvr>
                                      <p:to>
                                        <p:strVal val="visible"/>
                                      </p:to>
                                    </p:set>
                                    <p:anim calcmode="lin" valueType="num">
                                      <p:cBhvr additive="base">
                                        <p:cTn id="25" dur="500" fill="hold"/>
                                        <p:tgtEl>
                                          <p:spTgt spid="74780"/>
                                        </p:tgtEl>
                                        <p:attrNameLst>
                                          <p:attrName>ppt_x</p:attrName>
                                        </p:attrNameLst>
                                      </p:cBhvr>
                                      <p:tavLst>
                                        <p:tav tm="0">
                                          <p:val>
                                            <p:strVal val="0-#ppt_w/2"/>
                                          </p:val>
                                        </p:tav>
                                        <p:tav tm="100000">
                                          <p:val>
                                            <p:strVal val="#ppt_x"/>
                                          </p:val>
                                        </p:tav>
                                      </p:tavLst>
                                    </p:anim>
                                    <p:anim calcmode="lin" valueType="num">
                                      <p:cBhvr additive="base">
                                        <p:cTn id="26" dur="500" fill="hold"/>
                                        <p:tgtEl>
                                          <p:spTgt spid="7478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4781"/>
                                        </p:tgtEl>
                                        <p:attrNameLst>
                                          <p:attrName>style.visibility</p:attrName>
                                        </p:attrNameLst>
                                      </p:cBhvr>
                                      <p:to>
                                        <p:strVal val="visible"/>
                                      </p:to>
                                    </p:set>
                                    <p:anim calcmode="lin" valueType="num">
                                      <p:cBhvr additive="base">
                                        <p:cTn id="31" dur="500" fill="hold"/>
                                        <p:tgtEl>
                                          <p:spTgt spid="74781"/>
                                        </p:tgtEl>
                                        <p:attrNameLst>
                                          <p:attrName>ppt_x</p:attrName>
                                        </p:attrNameLst>
                                      </p:cBhvr>
                                      <p:tavLst>
                                        <p:tav tm="0">
                                          <p:val>
                                            <p:strVal val="0-#ppt_w/2"/>
                                          </p:val>
                                        </p:tav>
                                        <p:tav tm="100000">
                                          <p:val>
                                            <p:strVal val="#ppt_x"/>
                                          </p:val>
                                        </p:tav>
                                      </p:tavLst>
                                    </p:anim>
                                    <p:anim calcmode="lin" valueType="num">
                                      <p:cBhvr additive="base">
                                        <p:cTn id="32" dur="500" fill="hold"/>
                                        <p:tgtEl>
                                          <p:spTgt spid="7478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4782"/>
                                        </p:tgtEl>
                                        <p:attrNameLst>
                                          <p:attrName>style.visibility</p:attrName>
                                        </p:attrNameLst>
                                      </p:cBhvr>
                                      <p:to>
                                        <p:strVal val="visible"/>
                                      </p:to>
                                    </p:set>
                                    <p:anim calcmode="lin" valueType="num">
                                      <p:cBhvr additive="base">
                                        <p:cTn id="37" dur="500" fill="hold"/>
                                        <p:tgtEl>
                                          <p:spTgt spid="74782"/>
                                        </p:tgtEl>
                                        <p:attrNameLst>
                                          <p:attrName>ppt_x</p:attrName>
                                        </p:attrNameLst>
                                      </p:cBhvr>
                                      <p:tavLst>
                                        <p:tav tm="0">
                                          <p:val>
                                            <p:strVal val="0-#ppt_w/2"/>
                                          </p:val>
                                        </p:tav>
                                        <p:tav tm="100000">
                                          <p:val>
                                            <p:strVal val="#ppt_x"/>
                                          </p:val>
                                        </p:tav>
                                      </p:tavLst>
                                    </p:anim>
                                    <p:anim calcmode="lin" valueType="num">
                                      <p:cBhvr additive="base">
                                        <p:cTn id="38" dur="500" fill="hold"/>
                                        <p:tgtEl>
                                          <p:spTgt spid="747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autoUpdateAnimBg="0"/>
      <p:bldP spid="74779" grpId="0" autoUpdateAnimBg="0"/>
      <p:bldP spid="74780" grpId="0" autoUpdateAnimBg="0"/>
      <p:bldP spid="74781" grpId="0" autoUpdateAnimBg="0"/>
      <p:bldP spid="74782"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8AF5A079-6911-46FC-ACB2-E83F4AE09FC3}"/>
              </a:ext>
            </a:extLst>
          </p:cNvPr>
          <p:cNvSpPr>
            <a:spLocks noGrp="1" noChangeArrowheads="1"/>
          </p:cNvSpPr>
          <p:nvPr>
            <p:ph type="title"/>
          </p:nvPr>
        </p:nvSpPr>
        <p:spPr bwMode="auto">
          <a:xfrm>
            <a:off x="762000" y="3810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t>算法设计</a:t>
            </a:r>
          </a:p>
        </p:txBody>
      </p:sp>
      <p:sp>
        <p:nvSpPr>
          <p:cNvPr id="34819" name="Rectangle 3">
            <a:extLst>
              <a:ext uri="{FF2B5EF4-FFF2-40B4-BE49-F238E27FC236}">
                <a16:creationId xmlns:a16="http://schemas.microsoft.com/office/drawing/2014/main" id="{C82A0445-45C3-4BB0-A9FC-39A19C566321}"/>
              </a:ext>
            </a:extLst>
          </p:cNvPr>
          <p:cNvSpPr>
            <a:spLocks noGrp="1" noChangeArrowheads="1"/>
          </p:cNvSpPr>
          <p:nvPr>
            <p:ph type="body" idx="1"/>
          </p:nvPr>
        </p:nvSpPr>
        <p:spPr bwMode="auto">
          <a:xfrm>
            <a:off x="609600" y="1219200"/>
            <a:ext cx="77724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华文中宋" panose="02010600040101010101" pitchFamily="2" charset="-122"/>
              </a:rPr>
              <a:t>设</a:t>
            </a:r>
            <a:r>
              <a:rPr lang="en-US" altLang="zh-CN" sz="2800" b="1" dirty="0">
                <a:latin typeface="华文中宋" panose="02010600040101010101" pitchFamily="2" charset="-122"/>
              </a:rPr>
              <a:t>x[1..n]</a:t>
            </a:r>
            <a:r>
              <a:rPr lang="zh-CN" altLang="en-US" sz="2800" b="1" dirty="0">
                <a:latin typeface="华文中宋" panose="02010600040101010101" pitchFamily="2" charset="-122"/>
              </a:rPr>
              <a:t>是</a:t>
            </a:r>
            <a:r>
              <a:rPr lang="en-US" altLang="zh-CN" sz="2800" b="1" dirty="0">
                <a:latin typeface="华文中宋" panose="02010600040101010101" pitchFamily="2" charset="-122"/>
              </a:rPr>
              <a:t>n</a:t>
            </a:r>
            <a:r>
              <a:rPr lang="zh-CN" altLang="en-US" sz="2800" b="1" dirty="0">
                <a:latin typeface="华文中宋" panose="02010600040101010101" pitchFamily="2" charset="-122"/>
              </a:rPr>
              <a:t>个作业，</a:t>
            </a:r>
            <a:r>
              <a:rPr kumimoji="0" lang="zh-CN" altLang="en-US" sz="2800" b="1" dirty="0">
                <a:latin typeface="华文中宋" panose="02010600040101010101" pitchFamily="2" charset="-122"/>
              </a:rPr>
              <a:t>解空间为排列树</a:t>
            </a:r>
            <a:endParaRPr lang="zh-CN" altLang="en-US" sz="2800" b="1" dirty="0">
              <a:latin typeface="华文中宋" panose="02010600040101010101" pitchFamily="2" charset="-122"/>
            </a:endParaRPr>
          </a:p>
          <a:p>
            <a:pPr eaLnBrk="1" hangingPunct="1"/>
            <a:r>
              <a:rPr lang="zh-CN" altLang="en-US" sz="2800" b="1" dirty="0">
                <a:latin typeface="华文中宋" panose="02010600040101010101" pitchFamily="2" charset="-122"/>
              </a:rPr>
              <a:t>需从排列树中找出一个解（即作业排列）</a:t>
            </a:r>
          </a:p>
          <a:p>
            <a:pPr eaLnBrk="1" hangingPunct="1"/>
            <a:r>
              <a:rPr lang="zh-CN" altLang="en-US" sz="2800" b="1" dirty="0">
                <a:latin typeface="华文中宋" panose="02010600040101010101" pitchFamily="2" charset="-122"/>
              </a:rPr>
              <a:t>设</a:t>
            </a:r>
            <a:r>
              <a:rPr lang="en-US" altLang="zh-CN" sz="2800" b="1" dirty="0" err="1">
                <a:latin typeface="华文中宋" panose="02010600040101010101" pitchFamily="2" charset="-122"/>
              </a:rPr>
              <a:t>bestx</a:t>
            </a:r>
            <a:r>
              <a:rPr lang="zh-CN" altLang="en-US" sz="2800" b="1" dirty="0">
                <a:latin typeface="华文中宋" panose="02010600040101010101" pitchFamily="2" charset="-122"/>
              </a:rPr>
              <a:t>是返回的最佳作业调度，</a:t>
            </a:r>
            <a:r>
              <a:rPr lang="en-US" altLang="zh-CN" sz="2800" b="1" dirty="0" err="1">
                <a:latin typeface="华文中宋" panose="02010600040101010101" pitchFamily="2" charset="-122"/>
              </a:rPr>
              <a:t>bestf</a:t>
            </a:r>
            <a:r>
              <a:rPr lang="zh-CN" altLang="en-US" sz="2800" b="1" dirty="0">
                <a:latin typeface="华文中宋" panose="02010600040101010101" pitchFamily="2" charset="-122"/>
              </a:rPr>
              <a:t>是当前最小完成时间</a:t>
            </a:r>
          </a:p>
        </p:txBody>
      </p:sp>
      <p:grpSp>
        <p:nvGrpSpPr>
          <p:cNvPr id="34820" name="Group 56">
            <a:extLst>
              <a:ext uri="{FF2B5EF4-FFF2-40B4-BE49-F238E27FC236}">
                <a16:creationId xmlns:a16="http://schemas.microsoft.com/office/drawing/2014/main" id="{B116434D-3A0B-4C30-B09D-5D73B0397812}"/>
              </a:ext>
            </a:extLst>
          </p:cNvPr>
          <p:cNvGrpSpPr>
            <a:grpSpLocks/>
          </p:cNvGrpSpPr>
          <p:nvPr/>
        </p:nvGrpSpPr>
        <p:grpSpPr bwMode="auto">
          <a:xfrm>
            <a:off x="2328863" y="3276600"/>
            <a:ext cx="5976937" cy="2743200"/>
            <a:chOff x="1467" y="2352"/>
            <a:chExt cx="4036" cy="1968"/>
          </a:xfrm>
        </p:grpSpPr>
        <p:grpSp>
          <p:nvGrpSpPr>
            <p:cNvPr id="34821" name="Group 6">
              <a:extLst>
                <a:ext uri="{FF2B5EF4-FFF2-40B4-BE49-F238E27FC236}">
                  <a16:creationId xmlns:a16="http://schemas.microsoft.com/office/drawing/2014/main" id="{BB443E30-ED8A-48BD-8E47-E64D42E6CF2D}"/>
                </a:ext>
              </a:extLst>
            </p:cNvPr>
            <p:cNvGrpSpPr>
              <a:grpSpLocks/>
            </p:cNvGrpSpPr>
            <p:nvPr/>
          </p:nvGrpSpPr>
          <p:grpSpPr bwMode="auto">
            <a:xfrm>
              <a:off x="2094" y="2970"/>
              <a:ext cx="2750" cy="169"/>
              <a:chOff x="713" y="1536"/>
              <a:chExt cx="3607" cy="288"/>
            </a:xfrm>
          </p:grpSpPr>
          <p:sp>
            <p:nvSpPr>
              <p:cNvPr id="34868" name="Oval 7">
                <a:extLst>
                  <a:ext uri="{FF2B5EF4-FFF2-40B4-BE49-F238E27FC236}">
                    <a16:creationId xmlns:a16="http://schemas.microsoft.com/office/drawing/2014/main" id="{CF99A757-4861-476F-ABE4-BA125D35F1E8}"/>
                  </a:ext>
                </a:extLst>
              </p:cNvPr>
              <p:cNvSpPr>
                <a:spLocks noChangeArrowheads="1"/>
              </p:cNvSpPr>
              <p:nvPr/>
            </p:nvSpPr>
            <p:spPr bwMode="auto">
              <a:xfrm>
                <a:off x="4032" y="1536"/>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12</a:t>
                </a:r>
              </a:p>
            </p:txBody>
          </p:sp>
          <p:sp>
            <p:nvSpPr>
              <p:cNvPr id="34869" name="Oval 8">
                <a:extLst>
                  <a:ext uri="{FF2B5EF4-FFF2-40B4-BE49-F238E27FC236}">
                    <a16:creationId xmlns:a16="http://schemas.microsoft.com/office/drawing/2014/main" id="{5FFDD933-C10D-41E3-890F-2E5C94C40C14}"/>
                  </a:ext>
                </a:extLst>
              </p:cNvPr>
              <p:cNvSpPr>
                <a:spLocks noChangeArrowheads="1"/>
              </p:cNvSpPr>
              <p:nvPr/>
            </p:nvSpPr>
            <p:spPr bwMode="auto">
              <a:xfrm>
                <a:off x="713" y="1536"/>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2</a:t>
                </a:r>
              </a:p>
            </p:txBody>
          </p:sp>
          <p:sp>
            <p:nvSpPr>
              <p:cNvPr id="34870" name="Oval 9">
                <a:extLst>
                  <a:ext uri="{FF2B5EF4-FFF2-40B4-BE49-F238E27FC236}">
                    <a16:creationId xmlns:a16="http://schemas.microsoft.com/office/drawing/2014/main" id="{9DDAA442-FBAC-493F-A87B-4EF8F3147BD6}"/>
                  </a:ext>
                </a:extLst>
              </p:cNvPr>
              <p:cNvSpPr>
                <a:spLocks noChangeArrowheads="1"/>
              </p:cNvSpPr>
              <p:nvPr/>
            </p:nvSpPr>
            <p:spPr bwMode="auto">
              <a:xfrm>
                <a:off x="2448" y="1536"/>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7</a:t>
                </a:r>
              </a:p>
            </p:txBody>
          </p:sp>
        </p:grpSp>
        <p:sp>
          <p:nvSpPr>
            <p:cNvPr id="34822" name="Oval 10">
              <a:extLst>
                <a:ext uri="{FF2B5EF4-FFF2-40B4-BE49-F238E27FC236}">
                  <a16:creationId xmlns:a16="http://schemas.microsoft.com/office/drawing/2014/main" id="{578D449E-D46B-4545-AE98-5A3B5777419A}"/>
                </a:ext>
              </a:extLst>
            </p:cNvPr>
            <p:cNvSpPr>
              <a:spLocks noChangeArrowheads="1"/>
            </p:cNvSpPr>
            <p:nvPr/>
          </p:nvSpPr>
          <p:spPr bwMode="auto">
            <a:xfrm>
              <a:off x="3417" y="2352"/>
              <a:ext cx="219" cy="169"/>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a:t>
              </a:r>
            </a:p>
          </p:txBody>
        </p:sp>
        <p:grpSp>
          <p:nvGrpSpPr>
            <p:cNvPr id="34823" name="Group 11">
              <a:extLst>
                <a:ext uri="{FF2B5EF4-FFF2-40B4-BE49-F238E27FC236}">
                  <a16:creationId xmlns:a16="http://schemas.microsoft.com/office/drawing/2014/main" id="{ADFDA519-4C45-456F-8947-F71045B96B73}"/>
                </a:ext>
              </a:extLst>
            </p:cNvPr>
            <p:cNvGrpSpPr>
              <a:grpSpLocks/>
            </p:cNvGrpSpPr>
            <p:nvPr/>
          </p:nvGrpSpPr>
          <p:grpSpPr bwMode="auto">
            <a:xfrm>
              <a:off x="1800" y="3589"/>
              <a:ext cx="3410" cy="169"/>
              <a:chOff x="328" y="2592"/>
              <a:chExt cx="4472" cy="288"/>
            </a:xfrm>
          </p:grpSpPr>
          <p:sp>
            <p:nvSpPr>
              <p:cNvPr id="34862" name="Oval 12">
                <a:extLst>
                  <a:ext uri="{FF2B5EF4-FFF2-40B4-BE49-F238E27FC236}">
                    <a16:creationId xmlns:a16="http://schemas.microsoft.com/office/drawing/2014/main" id="{8BA066C0-E552-4B07-B205-C370357FE095}"/>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8</a:t>
                </a:r>
              </a:p>
            </p:txBody>
          </p:sp>
          <p:sp>
            <p:nvSpPr>
              <p:cNvPr id="34863" name="Oval 13">
                <a:extLst>
                  <a:ext uri="{FF2B5EF4-FFF2-40B4-BE49-F238E27FC236}">
                    <a16:creationId xmlns:a16="http://schemas.microsoft.com/office/drawing/2014/main" id="{21B31202-6196-47C1-99B5-A23810FAAEA0}"/>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10</a:t>
                </a:r>
              </a:p>
            </p:txBody>
          </p:sp>
          <p:sp>
            <p:nvSpPr>
              <p:cNvPr id="34864" name="Oval 14">
                <a:extLst>
                  <a:ext uri="{FF2B5EF4-FFF2-40B4-BE49-F238E27FC236}">
                    <a16:creationId xmlns:a16="http://schemas.microsoft.com/office/drawing/2014/main" id="{94AD1C39-3302-4703-85D3-DC9FE4525E2D}"/>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5</a:t>
                </a:r>
              </a:p>
            </p:txBody>
          </p:sp>
          <p:sp>
            <p:nvSpPr>
              <p:cNvPr id="34865" name="Oval 15">
                <a:extLst>
                  <a:ext uri="{FF2B5EF4-FFF2-40B4-BE49-F238E27FC236}">
                    <a16:creationId xmlns:a16="http://schemas.microsoft.com/office/drawing/2014/main" id="{349FB271-19EA-484F-8A02-3178A9E5BCDA}"/>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13</a:t>
                </a:r>
              </a:p>
            </p:txBody>
          </p:sp>
          <p:sp>
            <p:nvSpPr>
              <p:cNvPr id="34866" name="Oval 16">
                <a:extLst>
                  <a:ext uri="{FF2B5EF4-FFF2-40B4-BE49-F238E27FC236}">
                    <a16:creationId xmlns:a16="http://schemas.microsoft.com/office/drawing/2014/main" id="{6F7B523E-4E6B-42DC-83B7-186FC20B08AE}"/>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3</a:t>
                </a:r>
              </a:p>
            </p:txBody>
          </p:sp>
          <p:sp>
            <p:nvSpPr>
              <p:cNvPr id="34867" name="Oval 17">
                <a:extLst>
                  <a:ext uri="{FF2B5EF4-FFF2-40B4-BE49-F238E27FC236}">
                    <a16:creationId xmlns:a16="http://schemas.microsoft.com/office/drawing/2014/main" id="{39596B62-D255-488B-AAD3-A273F27350E4}"/>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15</a:t>
                </a:r>
              </a:p>
            </p:txBody>
          </p:sp>
        </p:grpSp>
        <p:grpSp>
          <p:nvGrpSpPr>
            <p:cNvPr id="34824" name="Group 18">
              <a:extLst>
                <a:ext uri="{FF2B5EF4-FFF2-40B4-BE49-F238E27FC236}">
                  <a16:creationId xmlns:a16="http://schemas.microsoft.com/office/drawing/2014/main" id="{47C6DD09-0889-4F17-8733-DD8848C64699}"/>
                </a:ext>
              </a:extLst>
            </p:cNvPr>
            <p:cNvGrpSpPr>
              <a:grpSpLocks/>
            </p:cNvGrpSpPr>
            <p:nvPr/>
          </p:nvGrpSpPr>
          <p:grpSpPr bwMode="auto">
            <a:xfrm>
              <a:off x="1804" y="4151"/>
              <a:ext cx="3409" cy="169"/>
              <a:chOff x="328" y="2592"/>
              <a:chExt cx="4472" cy="288"/>
            </a:xfrm>
          </p:grpSpPr>
          <p:sp>
            <p:nvSpPr>
              <p:cNvPr id="34856" name="Oval 19">
                <a:extLst>
                  <a:ext uri="{FF2B5EF4-FFF2-40B4-BE49-F238E27FC236}">
                    <a16:creationId xmlns:a16="http://schemas.microsoft.com/office/drawing/2014/main" id="{480E0950-379B-470F-995D-BC0ECD57CC04}"/>
                  </a:ext>
                </a:extLst>
              </p:cNvPr>
              <p:cNvSpPr>
                <a:spLocks noChangeArrowheads="1"/>
              </p:cNvSpPr>
              <p:nvPr/>
            </p:nvSpPr>
            <p:spPr bwMode="auto">
              <a:xfrm>
                <a:off x="2016"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9</a:t>
                </a:r>
              </a:p>
            </p:txBody>
          </p:sp>
          <p:sp>
            <p:nvSpPr>
              <p:cNvPr id="34857" name="Oval 20">
                <a:extLst>
                  <a:ext uri="{FF2B5EF4-FFF2-40B4-BE49-F238E27FC236}">
                    <a16:creationId xmlns:a16="http://schemas.microsoft.com/office/drawing/2014/main" id="{4C7ACD0D-44AB-47AF-8B98-ECEA0087D9A4}"/>
                  </a:ext>
                </a:extLst>
              </p:cNvPr>
              <p:cNvSpPr>
                <a:spLocks noChangeArrowheads="1"/>
              </p:cNvSpPr>
              <p:nvPr/>
            </p:nvSpPr>
            <p:spPr bwMode="auto">
              <a:xfrm>
                <a:off x="2943"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11</a:t>
                </a:r>
              </a:p>
            </p:txBody>
          </p:sp>
          <p:sp>
            <p:nvSpPr>
              <p:cNvPr id="34858" name="Oval 21">
                <a:extLst>
                  <a:ext uri="{FF2B5EF4-FFF2-40B4-BE49-F238E27FC236}">
                    <a16:creationId xmlns:a16="http://schemas.microsoft.com/office/drawing/2014/main" id="{8DDD1B84-D3BC-413B-99FD-E9F8FED4D7DE}"/>
                  </a:ext>
                </a:extLst>
              </p:cNvPr>
              <p:cNvSpPr>
                <a:spLocks noChangeArrowheads="1"/>
              </p:cNvSpPr>
              <p:nvPr/>
            </p:nvSpPr>
            <p:spPr bwMode="auto">
              <a:xfrm>
                <a:off x="1115"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6</a:t>
                </a:r>
              </a:p>
            </p:txBody>
          </p:sp>
          <p:sp>
            <p:nvSpPr>
              <p:cNvPr id="34859" name="Oval 22">
                <a:extLst>
                  <a:ext uri="{FF2B5EF4-FFF2-40B4-BE49-F238E27FC236}">
                    <a16:creationId xmlns:a16="http://schemas.microsoft.com/office/drawing/2014/main" id="{4065E7D6-D72E-43AD-903B-1897C1269DB4}"/>
                  </a:ext>
                </a:extLst>
              </p:cNvPr>
              <p:cNvSpPr>
                <a:spLocks noChangeArrowheads="1"/>
              </p:cNvSpPr>
              <p:nvPr/>
            </p:nvSpPr>
            <p:spPr bwMode="auto">
              <a:xfrm>
                <a:off x="3744"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14</a:t>
                </a:r>
              </a:p>
            </p:txBody>
          </p:sp>
          <p:sp>
            <p:nvSpPr>
              <p:cNvPr id="34860" name="Oval 23">
                <a:extLst>
                  <a:ext uri="{FF2B5EF4-FFF2-40B4-BE49-F238E27FC236}">
                    <a16:creationId xmlns:a16="http://schemas.microsoft.com/office/drawing/2014/main" id="{D6ED801B-5538-45CD-AD61-8D4009BF9FC8}"/>
                  </a:ext>
                </a:extLst>
              </p:cNvPr>
              <p:cNvSpPr>
                <a:spLocks noChangeArrowheads="1"/>
              </p:cNvSpPr>
              <p:nvPr/>
            </p:nvSpPr>
            <p:spPr bwMode="auto">
              <a:xfrm>
                <a:off x="328"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4</a:t>
                </a:r>
              </a:p>
            </p:txBody>
          </p:sp>
          <p:sp>
            <p:nvSpPr>
              <p:cNvPr id="34861" name="Oval 24">
                <a:extLst>
                  <a:ext uri="{FF2B5EF4-FFF2-40B4-BE49-F238E27FC236}">
                    <a16:creationId xmlns:a16="http://schemas.microsoft.com/office/drawing/2014/main" id="{503380FD-A5B5-4447-BFDE-98403DE67C0B}"/>
                  </a:ext>
                </a:extLst>
              </p:cNvPr>
              <p:cNvSpPr>
                <a:spLocks noChangeArrowheads="1"/>
              </p:cNvSpPr>
              <p:nvPr/>
            </p:nvSpPr>
            <p:spPr bwMode="auto">
              <a:xfrm>
                <a:off x="4512" y="2592"/>
                <a:ext cx="288" cy="288"/>
              </a:xfrm>
              <a:prstGeom prst="ellipse">
                <a:avLst/>
              </a:prstGeom>
              <a:solidFill>
                <a:schemeClr val="bg1"/>
              </a:solidFill>
              <a:ln w="28575">
                <a:solidFill>
                  <a:schemeClr val="tx1"/>
                </a:solidFill>
                <a:round/>
                <a:headEnd/>
                <a:tailEnd/>
              </a:ln>
            </p:spPr>
            <p:txBody>
              <a:bodyPr wrap="none" lIns="180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dirty="0">
                    <a:ea typeface="华文中宋" panose="02010600040101010101" pitchFamily="2" charset="-122"/>
                  </a:rPr>
                  <a:t>16</a:t>
                </a:r>
              </a:p>
            </p:txBody>
          </p:sp>
        </p:grpSp>
        <p:grpSp>
          <p:nvGrpSpPr>
            <p:cNvPr id="34825" name="Group 25">
              <a:extLst>
                <a:ext uri="{FF2B5EF4-FFF2-40B4-BE49-F238E27FC236}">
                  <a16:creationId xmlns:a16="http://schemas.microsoft.com/office/drawing/2014/main" id="{52E83368-8B15-4D5F-AB8E-A1858494ECE4}"/>
                </a:ext>
              </a:extLst>
            </p:cNvPr>
            <p:cNvGrpSpPr>
              <a:grpSpLocks/>
            </p:cNvGrpSpPr>
            <p:nvPr/>
          </p:nvGrpSpPr>
          <p:grpSpPr bwMode="auto">
            <a:xfrm>
              <a:off x="2246" y="2493"/>
              <a:ext cx="2415" cy="477"/>
              <a:chOff x="912" y="720"/>
              <a:chExt cx="3168" cy="816"/>
            </a:xfrm>
          </p:grpSpPr>
          <p:sp>
            <p:nvSpPr>
              <p:cNvPr id="34853" name="Line 26">
                <a:extLst>
                  <a:ext uri="{FF2B5EF4-FFF2-40B4-BE49-F238E27FC236}">
                    <a16:creationId xmlns:a16="http://schemas.microsoft.com/office/drawing/2014/main" id="{E8DE848F-83D8-454B-B061-AF478E67D575}"/>
                  </a:ext>
                </a:extLst>
              </p:cNvPr>
              <p:cNvSpPr>
                <a:spLocks noChangeShapeType="1"/>
              </p:cNvSpPr>
              <p:nvPr/>
            </p:nvSpPr>
            <p:spPr bwMode="auto">
              <a:xfrm>
                <a:off x="2592" y="768"/>
                <a:ext cx="0" cy="7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54" name="Line 27">
                <a:extLst>
                  <a:ext uri="{FF2B5EF4-FFF2-40B4-BE49-F238E27FC236}">
                    <a16:creationId xmlns:a16="http://schemas.microsoft.com/office/drawing/2014/main" id="{3CBA5771-6995-45B8-9241-E07A5B9DDB90}"/>
                  </a:ext>
                </a:extLst>
              </p:cNvPr>
              <p:cNvSpPr>
                <a:spLocks noChangeShapeType="1"/>
              </p:cNvSpPr>
              <p:nvPr/>
            </p:nvSpPr>
            <p:spPr bwMode="auto">
              <a:xfrm flipH="1">
                <a:off x="912" y="720"/>
                <a:ext cx="1536"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55" name="Line 28">
                <a:extLst>
                  <a:ext uri="{FF2B5EF4-FFF2-40B4-BE49-F238E27FC236}">
                    <a16:creationId xmlns:a16="http://schemas.microsoft.com/office/drawing/2014/main" id="{AB81A4DD-DAA5-4CB8-A5FA-831A4617E9BF}"/>
                  </a:ext>
                </a:extLst>
              </p:cNvPr>
              <p:cNvSpPr>
                <a:spLocks noChangeShapeType="1"/>
              </p:cNvSpPr>
              <p:nvPr/>
            </p:nvSpPr>
            <p:spPr bwMode="auto">
              <a:xfrm>
                <a:off x="2688" y="720"/>
                <a:ext cx="1392"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grpSp>
        <p:sp>
          <p:nvSpPr>
            <p:cNvPr id="34826" name="Line 29">
              <a:extLst>
                <a:ext uri="{FF2B5EF4-FFF2-40B4-BE49-F238E27FC236}">
                  <a16:creationId xmlns:a16="http://schemas.microsoft.com/office/drawing/2014/main" id="{6150A671-6EF9-4113-B666-AC579447E3D7}"/>
                </a:ext>
              </a:extLst>
            </p:cNvPr>
            <p:cNvSpPr>
              <a:spLocks noChangeShapeType="1"/>
            </p:cNvSpPr>
            <p:nvPr/>
          </p:nvSpPr>
          <p:spPr bwMode="auto">
            <a:xfrm flipH="1">
              <a:off x="1916" y="3139"/>
              <a:ext cx="220" cy="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27" name="Line 30">
              <a:extLst>
                <a:ext uri="{FF2B5EF4-FFF2-40B4-BE49-F238E27FC236}">
                  <a16:creationId xmlns:a16="http://schemas.microsoft.com/office/drawing/2014/main" id="{752C6F0A-6C00-4EBE-8364-3E38A5D556EF}"/>
                </a:ext>
              </a:extLst>
            </p:cNvPr>
            <p:cNvSpPr>
              <a:spLocks noChangeShapeType="1"/>
            </p:cNvSpPr>
            <p:nvPr/>
          </p:nvSpPr>
          <p:spPr bwMode="auto">
            <a:xfrm>
              <a:off x="2246" y="3139"/>
              <a:ext cx="255" cy="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28" name="Line 31">
              <a:extLst>
                <a:ext uri="{FF2B5EF4-FFF2-40B4-BE49-F238E27FC236}">
                  <a16:creationId xmlns:a16="http://schemas.microsoft.com/office/drawing/2014/main" id="{05A2F944-BB3D-44C8-BD43-536E0421EE8D}"/>
                </a:ext>
              </a:extLst>
            </p:cNvPr>
            <p:cNvSpPr>
              <a:spLocks noChangeShapeType="1"/>
            </p:cNvSpPr>
            <p:nvPr/>
          </p:nvSpPr>
          <p:spPr bwMode="auto">
            <a:xfrm flipH="1">
              <a:off x="3197" y="3111"/>
              <a:ext cx="256" cy="4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29" name="Line 32">
              <a:extLst>
                <a:ext uri="{FF2B5EF4-FFF2-40B4-BE49-F238E27FC236}">
                  <a16:creationId xmlns:a16="http://schemas.microsoft.com/office/drawing/2014/main" id="{BDA9D8B7-B45D-40D0-AC19-11324160A2B5}"/>
                </a:ext>
              </a:extLst>
            </p:cNvPr>
            <p:cNvSpPr>
              <a:spLocks noChangeShapeType="1"/>
            </p:cNvSpPr>
            <p:nvPr/>
          </p:nvSpPr>
          <p:spPr bwMode="auto">
            <a:xfrm>
              <a:off x="3599" y="3111"/>
              <a:ext cx="294" cy="4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0" name="Line 33">
              <a:extLst>
                <a:ext uri="{FF2B5EF4-FFF2-40B4-BE49-F238E27FC236}">
                  <a16:creationId xmlns:a16="http://schemas.microsoft.com/office/drawing/2014/main" id="{D11CB1B8-6CF5-463E-8DB2-40EF9DA9232E}"/>
                </a:ext>
              </a:extLst>
            </p:cNvPr>
            <p:cNvSpPr>
              <a:spLocks noChangeShapeType="1"/>
            </p:cNvSpPr>
            <p:nvPr/>
          </p:nvSpPr>
          <p:spPr bwMode="auto">
            <a:xfrm flipH="1">
              <a:off x="4551" y="3139"/>
              <a:ext cx="146" cy="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1" name="Line 34">
              <a:extLst>
                <a:ext uri="{FF2B5EF4-FFF2-40B4-BE49-F238E27FC236}">
                  <a16:creationId xmlns:a16="http://schemas.microsoft.com/office/drawing/2014/main" id="{AC421361-3F63-4834-AB59-6BA713423375}"/>
                </a:ext>
              </a:extLst>
            </p:cNvPr>
            <p:cNvSpPr>
              <a:spLocks noChangeShapeType="1"/>
            </p:cNvSpPr>
            <p:nvPr/>
          </p:nvSpPr>
          <p:spPr bwMode="auto">
            <a:xfrm>
              <a:off x="4807" y="3111"/>
              <a:ext cx="257" cy="4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2" name="Line 35">
              <a:extLst>
                <a:ext uri="{FF2B5EF4-FFF2-40B4-BE49-F238E27FC236}">
                  <a16:creationId xmlns:a16="http://schemas.microsoft.com/office/drawing/2014/main" id="{012287F6-FC78-47BB-9472-B9B13933A213}"/>
                </a:ext>
              </a:extLst>
            </p:cNvPr>
            <p:cNvSpPr>
              <a:spLocks noChangeShapeType="1"/>
            </p:cNvSpPr>
            <p:nvPr/>
          </p:nvSpPr>
          <p:spPr bwMode="auto">
            <a:xfrm>
              <a:off x="1916"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3" name="Line 36">
              <a:extLst>
                <a:ext uri="{FF2B5EF4-FFF2-40B4-BE49-F238E27FC236}">
                  <a16:creationId xmlns:a16="http://schemas.microsoft.com/office/drawing/2014/main" id="{BE5AB4E7-B685-4690-94F5-AA1C75F10C35}"/>
                </a:ext>
              </a:extLst>
            </p:cNvPr>
            <p:cNvSpPr>
              <a:spLocks noChangeShapeType="1"/>
            </p:cNvSpPr>
            <p:nvPr/>
          </p:nvSpPr>
          <p:spPr bwMode="auto">
            <a:xfrm>
              <a:off x="2501"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4" name="Line 37">
              <a:extLst>
                <a:ext uri="{FF2B5EF4-FFF2-40B4-BE49-F238E27FC236}">
                  <a16:creationId xmlns:a16="http://schemas.microsoft.com/office/drawing/2014/main" id="{B674C611-C9E2-4B5D-98EC-F794B2129E4D}"/>
                </a:ext>
              </a:extLst>
            </p:cNvPr>
            <p:cNvSpPr>
              <a:spLocks noChangeShapeType="1"/>
            </p:cNvSpPr>
            <p:nvPr/>
          </p:nvSpPr>
          <p:spPr bwMode="auto">
            <a:xfrm>
              <a:off x="3197"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5" name="Line 38">
              <a:extLst>
                <a:ext uri="{FF2B5EF4-FFF2-40B4-BE49-F238E27FC236}">
                  <a16:creationId xmlns:a16="http://schemas.microsoft.com/office/drawing/2014/main" id="{9DF06C87-2721-40FF-8C0B-16BC5999F907}"/>
                </a:ext>
              </a:extLst>
            </p:cNvPr>
            <p:cNvSpPr>
              <a:spLocks noChangeShapeType="1"/>
            </p:cNvSpPr>
            <p:nvPr/>
          </p:nvSpPr>
          <p:spPr bwMode="auto">
            <a:xfrm>
              <a:off x="3893"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6" name="Line 39">
              <a:extLst>
                <a:ext uri="{FF2B5EF4-FFF2-40B4-BE49-F238E27FC236}">
                  <a16:creationId xmlns:a16="http://schemas.microsoft.com/office/drawing/2014/main" id="{C3485619-3528-4060-B4E1-2DCCEBA37E64}"/>
                </a:ext>
              </a:extLst>
            </p:cNvPr>
            <p:cNvSpPr>
              <a:spLocks noChangeShapeType="1"/>
            </p:cNvSpPr>
            <p:nvPr/>
          </p:nvSpPr>
          <p:spPr bwMode="auto">
            <a:xfrm>
              <a:off x="4515"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7" name="Line 40">
              <a:extLst>
                <a:ext uri="{FF2B5EF4-FFF2-40B4-BE49-F238E27FC236}">
                  <a16:creationId xmlns:a16="http://schemas.microsoft.com/office/drawing/2014/main" id="{51EC375C-A6CD-4235-ABCF-DD5117E45A60}"/>
                </a:ext>
              </a:extLst>
            </p:cNvPr>
            <p:cNvSpPr>
              <a:spLocks noChangeShapeType="1"/>
            </p:cNvSpPr>
            <p:nvPr/>
          </p:nvSpPr>
          <p:spPr bwMode="auto">
            <a:xfrm>
              <a:off x="5100" y="3758"/>
              <a:ext cx="0" cy="39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18000" anchor="ctr" anchorCtr="1"/>
            <a:lstStyle/>
            <a:p>
              <a:endParaRPr lang="zh-CN" altLang="en-US" dirty="0">
                <a:ea typeface="华文中宋" panose="02010600040101010101" pitchFamily="2" charset="-122"/>
              </a:endParaRPr>
            </a:p>
          </p:txBody>
        </p:sp>
        <p:sp>
          <p:nvSpPr>
            <p:cNvPr id="34838" name="Text Box 41">
              <a:extLst>
                <a:ext uri="{FF2B5EF4-FFF2-40B4-BE49-F238E27FC236}">
                  <a16:creationId xmlns:a16="http://schemas.microsoft.com/office/drawing/2014/main" id="{D11F3AFE-E9D1-45B2-A2A2-55C6E3B0EFE3}"/>
                </a:ext>
              </a:extLst>
            </p:cNvPr>
            <p:cNvSpPr txBox="1">
              <a:spLocks noChangeArrowheads="1"/>
            </p:cNvSpPr>
            <p:nvPr/>
          </p:nvSpPr>
          <p:spPr bwMode="auto">
            <a:xfrm>
              <a:off x="2249" y="2574"/>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1</a:t>
              </a:r>
              <a:r>
                <a:rPr lang="en-US" altLang="zh-CN" sz="2000" dirty="0">
                  <a:solidFill>
                    <a:schemeClr val="tx2"/>
                  </a:solidFill>
                  <a:ea typeface="华文中宋" panose="02010600040101010101" pitchFamily="2" charset="-122"/>
                </a:rPr>
                <a:t>=1</a:t>
              </a:r>
            </a:p>
          </p:txBody>
        </p:sp>
        <p:sp>
          <p:nvSpPr>
            <p:cNvPr id="34839" name="Text Box 42">
              <a:extLst>
                <a:ext uri="{FF2B5EF4-FFF2-40B4-BE49-F238E27FC236}">
                  <a16:creationId xmlns:a16="http://schemas.microsoft.com/office/drawing/2014/main" id="{50B7B2B7-78F1-4283-AF42-6C0B5B2B09F9}"/>
                </a:ext>
              </a:extLst>
            </p:cNvPr>
            <p:cNvSpPr txBox="1">
              <a:spLocks noChangeArrowheads="1"/>
            </p:cNvSpPr>
            <p:nvPr/>
          </p:nvSpPr>
          <p:spPr bwMode="auto">
            <a:xfrm>
              <a:off x="4285" y="2574"/>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1</a:t>
              </a:r>
              <a:r>
                <a:rPr lang="en-US" altLang="zh-CN" sz="2000" dirty="0">
                  <a:solidFill>
                    <a:schemeClr val="tx2"/>
                  </a:solidFill>
                  <a:ea typeface="华文中宋" panose="02010600040101010101" pitchFamily="2" charset="-122"/>
                </a:rPr>
                <a:t>=3</a:t>
              </a:r>
            </a:p>
          </p:txBody>
        </p:sp>
        <p:sp>
          <p:nvSpPr>
            <p:cNvPr id="34840" name="Text Box 43">
              <a:extLst>
                <a:ext uri="{FF2B5EF4-FFF2-40B4-BE49-F238E27FC236}">
                  <a16:creationId xmlns:a16="http://schemas.microsoft.com/office/drawing/2014/main" id="{E79CAA36-AAD9-4E25-AE71-DDB9D7B746F1}"/>
                </a:ext>
              </a:extLst>
            </p:cNvPr>
            <p:cNvSpPr txBox="1">
              <a:spLocks noChangeArrowheads="1"/>
            </p:cNvSpPr>
            <p:nvPr/>
          </p:nvSpPr>
          <p:spPr bwMode="auto">
            <a:xfrm>
              <a:off x="3072" y="2623"/>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1</a:t>
              </a:r>
              <a:r>
                <a:rPr lang="en-US" altLang="zh-CN" sz="2000" dirty="0">
                  <a:solidFill>
                    <a:schemeClr val="tx2"/>
                  </a:solidFill>
                  <a:ea typeface="华文中宋" panose="02010600040101010101" pitchFamily="2" charset="-122"/>
                </a:rPr>
                <a:t>=2</a:t>
              </a:r>
            </a:p>
          </p:txBody>
        </p:sp>
        <p:sp>
          <p:nvSpPr>
            <p:cNvPr id="34841" name="Text Box 44">
              <a:extLst>
                <a:ext uri="{FF2B5EF4-FFF2-40B4-BE49-F238E27FC236}">
                  <a16:creationId xmlns:a16="http://schemas.microsoft.com/office/drawing/2014/main" id="{DC38EC65-912D-46DC-90C3-F2CB267CCC71}"/>
                </a:ext>
              </a:extLst>
            </p:cNvPr>
            <p:cNvSpPr txBox="1">
              <a:spLocks noChangeArrowheads="1"/>
            </p:cNvSpPr>
            <p:nvPr/>
          </p:nvSpPr>
          <p:spPr bwMode="auto">
            <a:xfrm>
              <a:off x="1584"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=2</a:t>
              </a:r>
            </a:p>
          </p:txBody>
        </p:sp>
        <p:sp>
          <p:nvSpPr>
            <p:cNvPr id="34842" name="Text Box 45">
              <a:extLst>
                <a:ext uri="{FF2B5EF4-FFF2-40B4-BE49-F238E27FC236}">
                  <a16:creationId xmlns:a16="http://schemas.microsoft.com/office/drawing/2014/main" id="{CDA90155-5BE9-4B39-B782-291FAA097C67}"/>
                </a:ext>
              </a:extLst>
            </p:cNvPr>
            <p:cNvSpPr txBox="1">
              <a:spLocks noChangeArrowheads="1"/>
            </p:cNvSpPr>
            <p:nvPr/>
          </p:nvSpPr>
          <p:spPr bwMode="auto">
            <a:xfrm>
              <a:off x="2356"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=3</a:t>
              </a:r>
            </a:p>
          </p:txBody>
        </p:sp>
        <p:sp>
          <p:nvSpPr>
            <p:cNvPr id="34843" name="Text Box 46">
              <a:extLst>
                <a:ext uri="{FF2B5EF4-FFF2-40B4-BE49-F238E27FC236}">
                  <a16:creationId xmlns:a16="http://schemas.microsoft.com/office/drawing/2014/main" id="{F447669F-278B-4BD8-9ADA-BA5A2425C3D3}"/>
                </a:ext>
              </a:extLst>
            </p:cNvPr>
            <p:cNvSpPr txBox="1">
              <a:spLocks noChangeArrowheads="1"/>
            </p:cNvSpPr>
            <p:nvPr/>
          </p:nvSpPr>
          <p:spPr bwMode="auto">
            <a:xfrm>
              <a:off x="2879"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=1</a:t>
              </a:r>
            </a:p>
          </p:txBody>
        </p:sp>
        <p:sp>
          <p:nvSpPr>
            <p:cNvPr id="34844" name="Text Box 47">
              <a:extLst>
                <a:ext uri="{FF2B5EF4-FFF2-40B4-BE49-F238E27FC236}">
                  <a16:creationId xmlns:a16="http://schemas.microsoft.com/office/drawing/2014/main" id="{E596A78E-E94E-4AE4-AB5B-A39BF465E282}"/>
                </a:ext>
              </a:extLst>
            </p:cNvPr>
            <p:cNvSpPr txBox="1">
              <a:spLocks noChangeArrowheads="1"/>
            </p:cNvSpPr>
            <p:nvPr/>
          </p:nvSpPr>
          <p:spPr bwMode="auto">
            <a:xfrm>
              <a:off x="3732"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=3</a:t>
              </a:r>
            </a:p>
          </p:txBody>
        </p:sp>
        <p:sp>
          <p:nvSpPr>
            <p:cNvPr id="34845" name="Text Box 48">
              <a:extLst>
                <a:ext uri="{FF2B5EF4-FFF2-40B4-BE49-F238E27FC236}">
                  <a16:creationId xmlns:a16="http://schemas.microsoft.com/office/drawing/2014/main" id="{3FB8F67B-CB18-41C2-ACF9-85061F431151}"/>
                </a:ext>
              </a:extLst>
            </p:cNvPr>
            <p:cNvSpPr txBox="1">
              <a:spLocks noChangeArrowheads="1"/>
            </p:cNvSpPr>
            <p:nvPr/>
          </p:nvSpPr>
          <p:spPr bwMode="auto">
            <a:xfrm>
              <a:off x="4198"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=1</a:t>
              </a:r>
            </a:p>
          </p:txBody>
        </p:sp>
        <p:sp>
          <p:nvSpPr>
            <p:cNvPr id="34846" name="Text Box 49">
              <a:extLst>
                <a:ext uri="{FF2B5EF4-FFF2-40B4-BE49-F238E27FC236}">
                  <a16:creationId xmlns:a16="http://schemas.microsoft.com/office/drawing/2014/main" id="{BFCEBF7F-53F0-4677-BAF5-933104E40475}"/>
                </a:ext>
              </a:extLst>
            </p:cNvPr>
            <p:cNvSpPr txBox="1">
              <a:spLocks noChangeArrowheads="1"/>
            </p:cNvSpPr>
            <p:nvPr/>
          </p:nvSpPr>
          <p:spPr bwMode="auto">
            <a:xfrm>
              <a:off x="4954" y="3269"/>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2</a:t>
              </a:r>
              <a:r>
                <a:rPr lang="en-US" altLang="zh-CN" sz="2000" dirty="0">
                  <a:solidFill>
                    <a:schemeClr val="tx2"/>
                  </a:solidFill>
                  <a:ea typeface="华文中宋" panose="02010600040101010101" pitchFamily="2" charset="-122"/>
                </a:rPr>
                <a:t>=2</a:t>
              </a:r>
            </a:p>
          </p:txBody>
        </p:sp>
        <p:sp>
          <p:nvSpPr>
            <p:cNvPr id="34847" name="Text Box 50">
              <a:extLst>
                <a:ext uri="{FF2B5EF4-FFF2-40B4-BE49-F238E27FC236}">
                  <a16:creationId xmlns:a16="http://schemas.microsoft.com/office/drawing/2014/main" id="{00C4F31C-C1A6-46C7-BA04-A660413C8A77}"/>
                </a:ext>
              </a:extLst>
            </p:cNvPr>
            <p:cNvSpPr txBox="1">
              <a:spLocks noChangeArrowheads="1"/>
            </p:cNvSpPr>
            <p:nvPr/>
          </p:nvSpPr>
          <p:spPr bwMode="auto">
            <a:xfrm>
              <a:off x="1467" y="3860"/>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=3</a:t>
              </a:r>
            </a:p>
          </p:txBody>
        </p:sp>
        <p:sp>
          <p:nvSpPr>
            <p:cNvPr id="34848" name="Text Box 51">
              <a:extLst>
                <a:ext uri="{FF2B5EF4-FFF2-40B4-BE49-F238E27FC236}">
                  <a16:creationId xmlns:a16="http://schemas.microsoft.com/office/drawing/2014/main" id="{19078FA0-4401-4E47-9D51-0AF54AF1917D}"/>
                </a:ext>
              </a:extLst>
            </p:cNvPr>
            <p:cNvSpPr txBox="1">
              <a:spLocks noChangeArrowheads="1"/>
            </p:cNvSpPr>
            <p:nvPr/>
          </p:nvSpPr>
          <p:spPr bwMode="auto">
            <a:xfrm>
              <a:off x="2771" y="3860"/>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=3</a:t>
              </a:r>
            </a:p>
          </p:txBody>
        </p:sp>
        <p:sp>
          <p:nvSpPr>
            <p:cNvPr id="34849" name="Text Box 52">
              <a:extLst>
                <a:ext uri="{FF2B5EF4-FFF2-40B4-BE49-F238E27FC236}">
                  <a16:creationId xmlns:a16="http://schemas.microsoft.com/office/drawing/2014/main" id="{E800EC8A-3F89-44F7-B16D-2A323896F202}"/>
                </a:ext>
              </a:extLst>
            </p:cNvPr>
            <p:cNvSpPr txBox="1">
              <a:spLocks noChangeArrowheads="1"/>
            </p:cNvSpPr>
            <p:nvPr/>
          </p:nvSpPr>
          <p:spPr bwMode="auto">
            <a:xfrm>
              <a:off x="3457" y="3860"/>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=1</a:t>
              </a:r>
            </a:p>
          </p:txBody>
        </p:sp>
        <p:sp>
          <p:nvSpPr>
            <p:cNvPr id="34850" name="Text Box 53">
              <a:extLst>
                <a:ext uri="{FF2B5EF4-FFF2-40B4-BE49-F238E27FC236}">
                  <a16:creationId xmlns:a16="http://schemas.microsoft.com/office/drawing/2014/main" id="{6E6D58EB-7447-44F3-ABA8-0CF3B7E7F9C1}"/>
                </a:ext>
              </a:extLst>
            </p:cNvPr>
            <p:cNvSpPr txBox="1">
              <a:spLocks noChangeArrowheads="1"/>
            </p:cNvSpPr>
            <p:nvPr/>
          </p:nvSpPr>
          <p:spPr bwMode="auto">
            <a:xfrm>
              <a:off x="4101" y="3860"/>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=2</a:t>
              </a:r>
            </a:p>
          </p:txBody>
        </p:sp>
        <p:sp>
          <p:nvSpPr>
            <p:cNvPr id="34851" name="Text Box 54">
              <a:extLst>
                <a:ext uri="{FF2B5EF4-FFF2-40B4-BE49-F238E27FC236}">
                  <a16:creationId xmlns:a16="http://schemas.microsoft.com/office/drawing/2014/main" id="{2E8628B1-DAD2-4F45-AB25-CC1A8509E599}"/>
                </a:ext>
              </a:extLst>
            </p:cNvPr>
            <p:cNvSpPr txBox="1">
              <a:spLocks noChangeArrowheads="1"/>
            </p:cNvSpPr>
            <p:nvPr/>
          </p:nvSpPr>
          <p:spPr bwMode="auto">
            <a:xfrm>
              <a:off x="2043" y="3861"/>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=2</a:t>
              </a:r>
            </a:p>
          </p:txBody>
        </p:sp>
        <p:sp>
          <p:nvSpPr>
            <p:cNvPr id="34852" name="Text Box 55">
              <a:extLst>
                <a:ext uri="{FF2B5EF4-FFF2-40B4-BE49-F238E27FC236}">
                  <a16:creationId xmlns:a16="http://schemas.microsoft.com/office/drawing/2014/main" id="{A6A3758A-6D21-4D90-9A2F-1FE4B7061568}"/>
                </a:ext>
              </a:extLst>
            </p:cNvPr>
            <p:cNvSpPr txBox="1">
              <a:spLocks noChangeArrowheads="1"/>
            </p:cNvSpPr>
            <p:nvPr/>
          </p:nvSpPr>
          <p:spPr bwMode="auto">
            <a:xfrm>
              <a:off x="4683" y="3823"/>
              <a:ext cx="54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1800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chemeClr val="tx2"/>
                  </a:solidFill>
                  <a:ea typeface="华文中宋" panose="02010600040101010101" pitchFamily="2" charset="-122"/>
                </a:rPr>
                <a:t>x</a:t>
              </a:r>
              <a:r>
                <a:rPr lang="en-US" altLang="zh-CN" sz="2000" baseline="-25000" dirty="0">
                  <a:solidFill>
                    <a:schemeClr val="tx2"/>
                  </a:solidFill>
                  <a:ea typeface="华文中宋" panose="02010600040101010101" pitchFamily="2" charset="-122"/>
                </a:rPr>
                <a:t>3</a:t>
              </a:r>
              <a:r>
                <a:rPr lang="en-US" altLang="zh-CN" sz="2000" dirty="0">
                  <a:solidFill>
                    <a:schemeClr val="tx2"/>
                  </a:solidFill>
                  <a:ea typeface="华文中宋" panose="02010600040101010101" pitchFamily="2" charset="-122"/>
                </a:rPr>
                <a:t>=1</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7060120-45E2-4B1F-B7E8-10C40961AD5B}"/>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t>算法设计</a:t>
            </a:r>
          </a:p>
        </p:txBody>
      </p:sp>
      <p:sp>
        <p:nvSpPr>
          <p:cNvPr id="35843" name="Rectangle 3">
            <a:extLst>
              <a:ext uri="{FF2B5EF4-FFF2-40B4-BE49-F238E27FC236}">
                <a16:creationId xmlns:a16="http://schemas.microsoft.com/office/drawing/2014/main" id="{AED844B7-2F14-4513-A03A-F83E0A8065C3}"/>
              </a:ext>
            </a:extLst>
          </p:cNvPr>
          <p:cNvSpPr>
            <a:spLocks noGrp="1" noChangeArrowheads="1"/>
          </p:cNvSpPr>
          <p:nvPr>
            <p:ph type="body" idx="1"/>
          </p:nvPr>
        </p:nvSpPr>
        <p:spPr bwMode="auto">
          <a:xfrm>
            <a:off x="457200" y="1196975"/>
            <a:ext cx="8229600" cy="49291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华文中宋" panose="02010600040101010101" pitchFamily="2" charset="-122"/>
              </a:rPr>
              <a:t>尝试将</a:t>
            </a:r>
            <a:r>
              <a:rPr lang="en-US" altLang="zh-CN" sz="2800" b="1" dirty="0">
                <a:latin typeface="华文中宋" panose="02010600040101010101" pitchFamily="2" charset="-122"/>
              </a:rPr>
              <a:t>x[1]</a:t>
            </a:r>
            <a:r>
              <a:rPr lang="zh-CN" altLang="en-US" sz="2800" b="1" dirty="0">
                <a:latin typeface="华文中宋" panose="02010600040101010101" pitchFamily="2" charset="-122"/>
              </a:rPr>
              <a:t>（取值</a:t>
            </a:r>
            <a:r>
              <a:rPr lang="en-US" altLang="zh-CN" sz="2800" b="1" dirty="0">
                <a:latin typeface="华文中宋" panose="02010600040101010101" pitchFamily="2" charset="-122"/>
              </a:rPr>
              <a:t>1</a:t>
            </a:r>
            <a:r>
              <a:rPr lang="zh-CN" altLang="en-US" sz="2800" b="1" dirty="0">
                <a:latin typeface="华文中宋" panose="02010600040101010101" pitchFamily="2" charset="-122"/>
              </a:rPr>
              <a:t>、</a:t>
            </a:r>
            <a:r>
              <a:rPr lang="en-US" altLang="zh-CN" sz="2800" b="1" dirty="0">
                <a:latin typeface="华文中宋" panose="02010600040101010101" pitchFamily="2" charset="-122"/>
              </a:rPr>
              <a:t>2</a:t>
            </a:r>
            <a:r>
              <a:rPr lang="zh-CN" altLang="en-US" sz="2800" b="1" dirty="0">
                <a:latin typeface="华文中宋" panose="02010600040101010101" pitchFamily="2" charset="-122"/>
              </a:rPr>
              <a:t>、</a:t>
            </a:r>
            <a:r>
              <a:rPr lang="en-US" altLang="zh-CN" sz="2800" b="1" dirty="0">
                <a:latin typeface="华文中宋" panose="02010600040101010101" pitchFamily="2" charset="-122"/>
              </a:rPr>
              <a:t>…</a:t>
            </a:r>
            <a:r>
              <a:rPr lang="zh-CN" altLang="en-US" sz="2800" b="1" dirty="0">
                <a:latin typeface="华文中宋" panose="02010600040101010101" pitchFamily="2" charset="-122"/>
              </a:rPr>
              <a:t>、</a:t>
            </a:r>
            <a:r>
              <a:rPr lang="en-US" altLang="zh-CN" sz="2800" b="1" dirty="0">
                <a:latin typeface="华文中宋" panose="02010600040101010101" pitchFamily="2" charset="-122"/>
              </a:rPr>
              <a:t>n</a:t>
            </a:r>
            <a:r>
              <a:rPr lang="zh-CN" altLang="en-US" sz="2800" b="1" dirty="0">
                <a:latin typeface="华文中宋" panose="02010600040101010101" pitchFamily="2" charset="-122"/>
              </a:rPr>
              <a:t>）先排入作业队列，计算完成</a:t>
            </a:r>
            <a:r>
              <a:rPr lang="en-US" altLang="zh-CN" sz="2800" b="1" dirty="0">
                <a:latin typeface="华文中宋" panose="02010600040101010101" pitchFamily="2" charset="-122"/>
              </a:rPr>
              <a:t>x[1]</a:t>
            </a:r>
            <a:r>
              <a:rPr lang="zh-CN" altLang="en-US" sz="2800" b="1" dirty="0">
                <a:latin typeface="华文中宋" panose="02010600040101010101" pitchFamily="2" charset="-122"/>
              </a:rPr>
              <a:t>所需的</a:t>
            </a:r>
            <a:r>
              <a:rPr lang="en-US" altLang="zh-CN" sz="2800" b="1" dirty="0">
                <a:latin typeface="华文中宋" panose="02010600040101010101" pitchFamily="2" charset="-122"/>
              </a:rPr>
              <a:t>M1</a:t>
            </a:r>
            <a:r>
              <a:rPr lang="zh-CN" altLang="en-US" sz="2800" b="1" dirty="0">
                <a:latin typeface="华文中宋" panose="02010600040101010101" pitchFamily="2" charset="-122"/>
              </a:rPr>
              <a:t>上的作业时间</a:t>
            </a:r>
            <a:r>
              <a:rPr lang="en-US" altLang="zh-CN" sz="2800" b="1" dirty="0">
                <a:latin typeface="华文中宋" panose="02010600040101010101" pitchFamily="2" charset="-122"/>
              </a:rPr>
              <a:t>f1[1]</a:t>
            </a:r>
            <a:r>
              <a:rPr lang="zh-CN" altLang="en-US" sz="2800" b="1" dirty="0">
                <a:latin typeface="华文中宋" panose="02010600040101010101" pitchFamily="2" charset="-122"/>
              </a:rPr>
              <a:t>，</a:t>
            </a:r>
            <a:r>
              <a:rPr lang="en-US" altLang="zh-CN" sz="2800" b="1" dirty="0">
                <a:latin typeface="华文中宋" panose="02010600040101010101" pitchFamily="2" charset="-122"/>
              </a:rPr>
              <a:t>M2</a:t>
            </a:r>
            <a:r>
              <a:rPr lang="zh-CN" altLang="en-US" sz="2800" b="1" dirty="0">
                <a:latin typeface="华文中宋" panose="02010600040101010101" pitchFamily="2" charset="-122"/>
              </a:rPr>
              <a:t>上做完所需的时间</a:t>
            </a:r>
            <a:r>
              <a:rPr lang="en-US" altLang="zh-CN" sz="2800" b="1" dirty="0">
                <a:latin typeface="华文中宋" panose="02010600040101010101" pitchFamily="2" charset="-122"/>
              </a:rPr>
              <a:t>f2[1] </a:t>
            </a:r>
            <a:r>
              <a:rPr lang="zh-CN" altLang="en-US" sz="2800" b="1" dirty="0">
                <a:latin typeface="华文中宋" panose="02010600040101010101" pitchFamily="2" charset="-122"/>
              </a:rPr>
              <a:t>。选择一个使</a:t>
            </a:r>
            <a:r>
              <a:rPr lang="en-US" altLang="zh-CN" sz="2800" b="1" dirty="0">
                <a:latin typeface="华文中宋" panose="02010600040101010101" pitchFamily="2" charset="-122"/>
              </a:rPr>
              <a:t>f2[1] </a:t>
            </a:r>
            <a:r>
              <a:rPr lang="zh-CN" altLang="en-US" sz="2800" b="1" dirty="0">
                <a:latin typeface="华文中宋" panose="02010600040101010101" pitchFamily="2" charset="-122"/>
              </a:rPr>
              <a:t>最小的安排。</a:t>
            </a:r>
          </a:p>
          <a:p>
            <a:pPr eaLnBrk="1" hangingPunct="1"/>
            <a:r>
              <a:rPr lang="zh-CN" altLang="en-US" sz="2800" b="1" dirty="0">
                <a:latin typeface="华文中宋" panose="02010600040101010101" pitchFamily="2" charset="-122"/>
              </a:rPr>
              <a:t>假定现在已安排好前</a:t>
            </a:r>
            <a:r>
              <a:rPr lang="en-US" altLang="zh-CN" sz="2800" b="1" dirty="0">
                <a:latin typeface="华文中宋" panose="02010600040101010101" pitchFamily="2" charset="-122"/>
              </a:rPr>
              <a:t>i-1</a:t>
            </a:r>
            <a:r>
              <a:rPr lang="zh-CN" altLang="en-US" sz="2800" b="1" dirty="0">
                <a:latin typeface="华文中宋" panose="02010600040101010101" pitchFamily="2" charset="-122"/>
              </a:rPr>
              <a:t>个作业，</a:t>
            </a:r>
            <a:r>
              <a:rPr lang="en-US" altLang="zh-CN" sz="2800" b="1" dirty="0">
                <a:latin typeface="华文中宋" panose="02010600040101010101" pitchFamily="2" charset="-122"/>
              </a:rPr>
              <a:t>M1</a:t>
            </a:r>
            <a:r>
              <a:rPr lang="zh-CN" altLang="en-US" sz="2800" b="1" dirty="0">
                <a:latin typeface="华文中宋" panose="02010600040101010101" pitchFamily="2" charset="-122"/>
              </a:rPr>
              <a:t>、</a:t>
            </a:r>
            <a:r>
              <a:rPr lang="en-US" altLang="zh-CN" sz="2800" b="1" dirty="0">
                <a:latin typeface="华文中宋" panose="02010600040101010101" pitchFamily="2" charset="-122"/>
              </a:rPr>
              <a:t>M2</a:t>
            </a:r>
            <a:r>
              <a:rPr lang="zh-CN" altLang="en-US" sz="2800" b="1" dirty="0">
                <a:latin typeface="华文中宋" panose="02010600040101010101" pitchFamily="2" charset="-122"/>
              </a:rPr>
              <a:t>上作业时间为</a:t>
            </a:r>
            <a:r>
              <a:rPr lang="en-US" altLang="zh-CN" sz="2800" b="1" dirty="0">
                <a:latin typeface="华文中宋" panose="02010600040101010101" pitchFamily="2" charset="-122"/>
              </a:rPr>
              <a:t>f1[i-1]</a:t>
            </a:r>
            <a:r>
              <a:rPr lang="zh-CN" altLang="en-US" sz="2800" b="1" dirty="0">
                <a:latin typeface="华文中宋" panose="02010600040101010101" pitchFamily="2" charset="-122"/>
              </a:rPr>
              <a:t>、 </a:t>
            </a:r>
            <a:r>
              <a:rPr lang="en-US" altLang="zh-CN" sz="2800" b="1" dirty="0">
                <a:latin typeface="华文中宋" panose="02010600040101010101" pitchFamily="2" charset="-122"/>
              </a:rPr>
              <a:t>f2[i-1] </a:t>
            </a:r>
            <a:r>
              <a:rPr lang="zh-CN" altLang="en-US" sz="2800" b="1" dirty="0">
                <a:latin typeface="华文中宋" panose="02010600040101010101" pitchFamily="2" charset="-122"/>
              </a:rPr>
              <a:t>。</a:t>
            </a:r>
          </a:p>
          <a:p>
            <a:pPr eaLnBrk="1" hangingPunct="1"/>
            <a:r>
              <a:rPr lang="zh-CN" altLang="en-US" sz="2800" b="1" dirty="0">
                <a:latin typeface="华文中宋" panose="02010600040101010101" pitchFamily="2" charset="-122"/>
              </a:rPr>
              <a:t>现在考虑第</a:t>
            </a:r>
            <a:r>
              <a:rPr lang="en-US" altLang="zh-CN" sz="2800" b="1" dirty="0" err="1">
                <a:latin typeface="华文中宋" panose="02010600040101010101" pitchFamily="2" charset="-122"/>
              </a:rPr>
              <a:t>i</a:t>
            </a:r>
            <a:r>
              <a:rPr lang="zh-CN" altLang="en-US" sz="2800" b="1" dirty="0">
                <a:latin typeface="华文中宋" panose="02010600040101010101" pitchFamily="2" charset="-122"/>
              </a:rPr>
              <a:t>个作业。在没有安排的作业中任选一个进行考察，即取 </a:t>
            </a:r>
            <a:r>
              <a:rPr lang="en-US" altLang="zh-CN" sz="2800" b="1" dirty="0">
                <a:latin typeface="华文中宋" panose="02010600040101010101" pitchFamily="2" charset="-122"/>
              </a:rPr>
              <a:t>x[j]</a:t>
            </a:r>
            <a:r>
              <a:rPr lang="zh-CN" altLang="en-US" sz="2800" b="1" dirty="0">
                <a:latin typeface="华文中宋" panose="02010600040101010101" pitchFamily="2" charset="-12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8AE1848-54E4-40BC-95F9-C2FD57623BA8}"/>
              </a:ext>
            </a:extLst>
          </p:cNvPr>
          <p:cNvSpPr>
            <a:spLocks noGrp="1" noChangeArrowheads="1"/>
          </p:cNvSpPr>
          <p:nvPr>
            <p:ph type="title"/>
          </p:nvPr>
        </p:nvSpPr>
        <p:spPr bwMode="auto">
          <a:xfrm>
            <a:off x="152400" y="76200"/>
            <a:ext cx="2514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solidFill>
                  <a:srgbClr val="FF6600"/>
                </a:solidFill>
              </a:rPr>
              <a:t>图示分析</a:t>
            </a:r>
          </a:p>
        </p:txBody>
      </p:sp>
      <p:sp>
        <p:nvSpPr>
          <p:cNvPr id="100383" name="Rectangle 31">
            <a:extLst>
              <a:ext uri="{FF2B5EF4-FFF2-40B4-BE49-F238E27FC236}">
                <a16:creationId xmlns:a16="http://schemas.microsoft.com/office/drawing/2014/main" id="{E834E002-D596-4BAE-8584-54592C6645F4}"/>
              </a:ext>
            </a:extLst>
          </p:cNvPr>
          <p:cNvSpPr>
            <a:spLocks noGrp="1" noChangeArrowheads="1"/>
          </p:cNvSpPr>
          <p:nvPr>
            <p:ph type="body" idx="1"/>
          </p:nvPr>
        </p:nvSpPr>
        <p:spPr bwMode="auto">
          <a:xfrm>
            <a:off x="228600" y="990600"/>
            <a:ext cx="2286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sz="2800"/>
              <a:t>情况</a:t>
            </a:r>
            <a:r>
              <a:rPr lang="en-US" altLang="zh-CN" sz="2800"/>
              <a:t>1</a:t>
            </a:r>
          </a:p>
          <a:p>
            <a:pPr eaLnBrk="1" hangingPunct="1">
              <a:lnSpc>
                <a:spcPct val="90000"/>
              </a:lnSpc>
            </a:pPr>
            <a:endParaRPr lang="en-US" altLang="zh-CN" sz="2800"/>
          </a:p>
          <a:p>
            <a:pPr eaLnBrk="1" hangingPunct="1">
              <a:lnSpc>
                <a:spcPct val="90000"/>
              </a:lnSpc>
              <a:buFontTx/>
              <a:buNone/>
            </a:pPr>
            <a:r>
              <a:rPr lang="en-US" altLang="zh-CN" sz="2800"/>
              <a:t>M1</a:t>
            </a:r>
          </a:p>
          <a:p>
            <a:pPr eaLnBrk="1" hangingPunct="1">
              <a:lnSpc>
                <a:spcPct val="90000"/>
              </a:lnSpc>
              <a:buFontTx/>
              <a:buNone/>
            </a:pPr>
            <a:endParaRPr lang="en-US" altLang="zh-CN" sz="2800"/>
          </a:p>
          <a:p>
            <a:pPr eaLnBrk="1" hangingPunct="1">
              <a:lnSpc>
                <a:spcPct val="90000"/>
              </a:lnSpc>
              <a:buFontTx/>
              <a:buNone/>
            </a:pPr>
            <a:r>
              <a:rPr lang="en-US" altLang="zh-CN" sz="2800"/>
              <a:t>M2</a:t>
            </a:r>
          </a:p>
        </p:txBody>
      </p:sp>
      <p:grpSp>
        <p:nvGrpSpPr>
          <p:cNvPr id="2" name="Group 50">
            <a:extLst>
              <a:ext uri="{FF2B5EF4-FFF2-40B4-BE49-F238E27FC236}">
                <a16:creationId xmlns:a16="http://schemas.microsoft.com/office/drawing/2014/main" id="{2C8B5389-0EA5-4EC9-8D3D-AFD77FA32D68}"/>
              </a:ext>
            </a:extLst>
          </p:cNvPr>
          <p:cNvGrpSpPr>
            <a:grpSpLocks/>
          </p:cNvGrpSpPr>
          <p:nvPr/>
        </p:nvGrpSpPr>
        <p:grpSpPr bwMode="auto">
          <a:xfrm>
            <a:off x="1219200" y="685800"/>
            <a:ext cx="7924800" cy="2971800"/>
            <a:chOff x="672" y="624"/>
            <a:chExt cx="4800" cy="1872"/>
          </a:xfrm>
        </p:grpSpPr>
        <p:sp>
          <p:nvSpPr>
            <p:cNvPr id="36894" name="Text Box 5">
              <a:extLst>
                <a:ext uri="{FF2B5EF4-FFF2-40B4-BE49-F238E27FC236}">
                  <a16:creationId xmlns:a16="http://schemas.microsoft.com/office/drawing/2014/main" id="{70B77037-9132-4B02-9D4B-EB0EA43F72EB}"/>
                </a:ext>
              </a:extLst>
            </p:cNvPr>
            <p:cNvSpPr txBox="1">
              <a:spLocks noChangeArrowheads="1"/>
            </p:cNvSpPr>
            <p:nvPr/>
          </p:nvSpPr>
          <p:spPr bwMode="auto">
            <a:xfrm>
              <a:off x="2112" y="1670"/>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FF0000"/>
                  </a:solidFill>
                  <a:ea typeface="华文中宋" panose="02010600040101010101" pitchFamily="2" charset="-122"/>
                </a:rPr>
                <a:t>f2[i-1]</a:t>
              </a:r>
            </a:p>
          </p:txBody>
        </p:sp>
        <p:sp>
          <p:nvSpPr>
            <p:cNvPr id="36895" name="Line 6">
              <a:extLst>
                <a:ext uri="{FF2B5EF4-FFF2-40B4-BE49-F238E27FC236}">
                  <a16:creationId xmlns:a16="http://schemas.microsoft.com/office/drawing/2014/main" id="{13CF5F27-B6CC-4FF4-82CE-478C26471136}"/>
                </a:ext>
              </a:extLst>
            </p:cNvPr>
            <p:cNvSpPr>
              <a:spLocks noChangeShapeType="1"/>
            </p:cNvSpPr>
            <p:nvPr/>
          </p:nvSpPr>
          <p:spPr bwMode="auto">
            <a:xfrm>
              <a:off x="672" y="1430"/>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96" name="Line 7">
              <a:extLst>
                <a:ext uri="{FF2B5EF4-FFF2-40B4-BE49-F238E27FC236}">
                  <a16:creationId xmlns:a16="http://schemas.microsoft.com/office/drawing/2014/main" id="{DEB7FEB2-3DA7-4126-8921-056E01901221}"/>
                </a:ext>
              </a:extLst>
            </p:cNvPr>
            <p:cNvSpPr>
              <a:spLocks noChangeShapeType="1"/>
            </p:cNvSpPr>
            <p:nvPr/>
          </p:nvSpPr>
          <p:spPr bwMode="auto">
            <a:xfrm>
              <a:off x="672" y="2054"/>
              <a:ext cx="43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97" name="AutoShape 8">
              <a:extLst>
                <a:ext uri="{FF2B5EF4-FFF2-40B4-BE49-F238E27FC236}">
                  <a16:creationId xmlns:a16="http://schemas.microsoft.com/office/drawing/2014/main" id="{866E2A21-AC8A-4485-A5CD-66B826BDB9F6}"/>
                </a:ext>
              </a:extLst>
            </p:cNvPr>
            <p:cNvSpPr>
              <a:spLocks/>
            </p:cNvSpPr>
            <p:nvPr/>
          </p:nvSpPr>
          <p:spPr bwMode="auto">
            <a:xfrm rot="5400000">
              <a:off x="1944" y="254"/>
              <a:ext cx="144" cy="2112"/>
            </a:xfrm>
            <a:prstGeom prst="leftBrace">
              <a:avLst>
                <a:gd name="adj1" fmla="val 122222"/>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98" name="AutoShape 9">
              <a:extLst>
                <a:ext uri="{FF2B5EF4-FFF2-40B4-BE49-F238E27FC236}">
                  <a16:creationId xmlns:a16="http://schemas.microsoft.com/office/drawing/2014/main" id="{09964742-F4D9-47DB-83BD-E8BD15996645}"/>
                </a:ext>
              </a:extLst>
            </p:cNvPr>
            <p:cNvSpPr>
              <a:spLocks/>
            </p:cNvSpPr>
            <p:nvPr/>
          </p:nvSpPr>
          <p:spPr bwMode="auto">
            <a:xfrm rot="16200000" flipV="1">
              <a:off x="2616" y="398"/>
              <a:ext cx="192" cy="3504"/>
            </a:xfrm>
            <a:prstGeom prst="leftBrace">
              <a:avLst>
                <a:gd name="adj1" fmla="val 152083"/>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99" name="Line 10">
              <a:extLst>
                <a:ext uri="{FF2B5EF4-FFF2-40B4-BE49-F238E27FC236}">
                  <a16:creationId xmlns:a16="http://schemas.microsoft.com/office/drawing/2014/main" id="{DBCAEEE5-1C0F-49A0-A676-5337D9351102}"/>
                </a:ext>
              </a:extLst>
            </p:cNvPr>
            <p:cNvSpPr>
              <a:spLocks noChangeShapeType="1"/>
            </p:cNvSpPr>
            <p:nvPr/>
          </p:nvSpPr>
          <p:spPr bwMode="auto">
            <a:xfrm>
              <a:off x="912" y="1046"/>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00" name="Line 11">
              <a:extLst>
                <a:ext uri="{FF2B5EF4-FFF2-40B4-BE49-F238E27FC236}">
                  <a16:creationId xmlns:a16="http://schemas.microsoft.com/office/drawing/2014/main" id="{D393A2A8-179A-491F-957A-8A7DD8039331}"/>
                </a:ext>
              </a:extLst>
            </p:cNvPr>
            <p:cNvSpPr>
              <a:spLocks noChangeShapeType="1"/>
            </p:cNvSpPr>
            <p:nvPr/>
          </p:nvSpPr>
          <p:spPr bwMode="auto">
            <a:xfrm>
              <a:off x="3984" y="1766"/>
              <a:ext cx="0" cy="480"/>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01" name="Line 12">
              <a:extLst>
                <a:ext uri="{FF2B5EF4-FFF2-40B4-BE49-F238E27FC236}">
                  <a16:creationId xmlns:a16="http://schemas.microsoft.com/office/drawing/2014/main" id="{8C1A8506-DE7B-46A9-A38B-BCE5239E13B5}"/>
                </a:ext>
              </a:extLst>
            </p:cNvPr>
            <p:cNvSpPr>
              <a:spLocks noChangeShapeType="1"/>
            </p:cNvSpPr>
            <p:nvPr/>
          </p:nvSpPr>
          <p:spPr bwMode="auto">
            <a:xfrm>
              <a:off x="3120" y="1046"/>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02" name="AutoShape 13">
              <a:extLst>
                <a:ext uri="{FF2B5EF4-FFF2-40B4-BE49-F238E27FC236}">
                  <a16:creationId xmlns:a16="http://schemas.microsoft.com/office/drawing/2014/main" id="{74D31F41-7ABC-42BA-B182-7BE309F55472}"/>
                </a:ext>
              </a:extLst>
            </p:cNvPr>
            <p:cNvSpPr>
              <a:spLocks/>
            </p:cNvSpPr>
            <p:nvPr/>
          </p:nvSpPr>
          <p:spPr bwMode="auto">
            <a:xfrm rot="5400000">
              <a:off x="4128" y="1766"/>
              <a:ext cx="144" cy="432"/>
            </a:xfrm>
            <a:prstGeom prst="leftBrace">
              <a:avLst>
                <a:gd name="adj1" fmla="val 25000"/>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903" name="Text Box 14">
              <a:extLst>
                <a:ext uri="{FF2B5EF4-FFF2-40B4-BE49-F238E27FC236}">
                  <a16:creationId xmlns:a16="http://schemas.microsoft.com/office/drawing/2014/main" id="{CE73E26B-CE11-4782-BE8A-899A16597706}"/>
                </a:ext>
              </a:extLst>
            </p:cNvPr>
            <p:cNvSpPr txBox="1">
              <a:spLocks noChangeArrowheads="1"/>
            </p:cNvSpPr>
            <p:nvPr/>
          </p:nvSpPr>
          <p:spPr bwMode="auto">
            <a:xfrm>
              <a:off x="1152" y="720"/>
              <a:ext cx="1776"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dirty="0">
                  <a:solidFill>
                    <a:srgbClr val="3333CC"/>
                  </a:solidFill>
                  <a:latin typeface="华文中宋" panose="02010600040101010101" pitchFamily="2" charset="-122"/>
                  <a:ea typeface="华文中宋" panose="02010600040101010101" pitchFamily="2" charset="-122"/>
                </a:rPr>
                <a:t>初步安排好前</a:t>
              </a:r>
              <a:r>
                <a:rPr lang="en-US" altLang="zh-CN" sz="2000" dirty="0">
                  <a:solidFill>
                    <a:srgbClr val="3333CC"/>
                  </a:solidFill>
                  <a:latin typeface="华文中宋" panose="02010600040101010101" pitchFamily="2" charset="-122"/>
                  <a:ea typeface="华文中宋" panose="02010600040101010101" pitchFamily="2" charset="-122"/>
                </a:rPr>
                <a:t>i-1</a:t>
              </a:r>
              <a:r>
                <a:rPr lang="zh-CN" altLang="en-US" sz="2000" dirty="0">
                  <a:solidFill>
                    <a:srgbClr val="3333CC"/>
                  </a:solidFill>
                  <a:latin typeface="华文中宋" panose="02010600040101010101" pitchFamily="2" charset="-122"/>
                  <a:ea typeface="华文中宋" panose="02010600040101010101" pitchFamily="2" charset="-122"/>
                </a:rPr>
                <a:t>个作业，作业时间为</a:t>
              </a:r>
              <a:r>
                <a:rPr lang="en-US" altLang="zh-CN" sz="2200" dirty="0">
                  <a:solidFill>
                    <a:srgbClr val="FF0000"/>
                  </a:solidFill>
                  <a:latin typeface="华文中宋" panose="02010600040101010101" pitchFamily="2" charset="-122"/>
                  <a:ea typeface="华文中宋" panose="02010600040101010101" pitchFamily="2" charset="-122"/>
                </a:rPr>
                <a:t>f1[i-1]</a:t>
              </a:r>
            </a:p>
          </p:txBody>
        </p:sp>
        <p:sp>
          <p:nvSpPr>
            <p:cNvPr id="36904" name="AutoShape 32">
              <a:extLst>
                <a:ext uri="{FF2B5EF4-FFF2-40B4-BE49-F238E27FC236}">
                  <a16:creationId xmlns:a16="http://schemas.microsoft.com/office/drawing/2014/main" id="{5852EEC0-D463-49C7-A68D-D0735688D1B8}"/>
                </a:ext>
              </a:extLst>
            </p:cNvPr>
            <p:cNvSpPr>
              <a:spLocks/>
            </p:cNvSpPr>
            <p:nvPr/>
          </p:nvSpPr>
          <p:spPr bwMode="auto">
            <a:xfrm rot="16200000" flipV="1">
              <a:off x="2256" y="240"/>
              <a:ext cx="144" cy="2736"/>
            </a:xfrm>
            <a:prstGeom prst="leftBrace">
              <a:avLst>
                <a:gd name="adj1" fmla="val 158333"/>
                <a:gd name="adj2" fmla="val 5008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905" name="Text Box 33">
              <a:extLst>
                <a:ext uri="{FF2B5EF4-FFF2-40B4-BE49-F238E27FC236}">
                  <a16:creationId xmlns:a16="http://schemas.microsoft.com/office/drawing/2014/main" id="{7C526FB8-BD8B-45E8-ADB4-38F258381387}"/>
                </a:ext>
              </a:extLst>
            </p:cNvPr>
            <p:cNvSpPr txBox="1">
              <a:spLocks noChangeArrowheads="1"/>
            </p:cNvSpPr>
            <p:nvPr/>
          </p:nvSpPr>
          <p:spPr bwMode="auto">
            <a:xfrm>
              <a:off x="2112" y="139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3333CC"/>
                  </a:solidFill>
                  <a:ea typeface="华文中宋" panose="02010600040101010101" pitchFamily="2" charset="-122"/>
                </a:rPr>
                <a:t>f1[</a:t>
              </a:r>
              <a:r>
                <a:rPr lang="en-US" altLang="zh-CN" dirty="0" err="1">
                  <a:solidFill>
                    <a:srgbClr val="3333CC"/>
                  </a:solidFill>
                  <a:ea typeface="华文中宋" panose="02010600040101010101" pitchFamily="2" charset="-122"/>
                </a:rPr>
                <a:t>i</a:t>
              </a:r>
              <a:r>
                <a:rPr lang="en-US" altLang="zh-CN" dirty="0">
                  <a:solidFill>
                    <a:srgbClr val="3333CC"/>
                  </a:solidFill>
                  <a:ea typeface="华文中宋" panose="02010600040101010101" pitchFamily="2" charset="-122"/>
                </a:rPr>
                <a:t>]</a:t>
              </a:r>
            </a:p>
          </p:txBody>
        </p:sp>
        <p:sp>
          <p:nvSpPr>
            <p:cNvPr id="36906" name="Line 34">
              <a:extLst>
                <a:ext uri="{FF2B5EF4-FFF2-40B4-BE49-F238E27FC236}">
                  <a16:creationId xmlns:a16="http://schemas.microsoft.com/office/drawing/2014/main" id="{BC9171C7-7756-499F-8C84-CC493D9F23F7}"/>
                </a:ext>
              </a:extLst>
            </p:cNvPr>
            <p:cNvSpPr>
              <a:spLocks noChangeShapeType="1"/>
            </p:cNvSpPr>
            <p:nvPr/>
          </p:nvSpPr>
          <p:spPr bwMode="auto">
            <a:xfrm>
              <a:off x="3696" y="1056"/>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07" name="Text Box 35">
              <a:extLst>
                <a:ext uri="{FF2B5EF4-FFF2-40B4-BE49-F238E27FC236}">
                  <a16:creationId xmlns:a16="http://schemas.microsoft.com/office/drawing/2014/main" id="{83C1792F-2273-4FBA-AC9F-DA8C09CA48FF}"/>
                </a:ext>
              </a:extLst>
            </p:cNvPr>
            <p:cNvSpPr txBox="1">
              <a:spLocks noChangeArrowheads="1"/>
            </p:cNvSpPr>
            <p:nvPr/>
          </p:nvSpPr>
          <p:spPr bwMode="auto">
            <a:xfrm>
              <a:off x="3072" y="778"/>
              <a:ext cx="72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dirty="0">
                  <a:solidFill>
                    <a:srgbClr val="FF0000"/>
                  </a:solidFill>
                  <a:ea typeface="华文中宋" panose="02010600040101010101" pitchFamily="2" charset="-122"/>
                </a:rPr>
                <a:t>尝试作业</a:t>
              </a:r>
              <a:r>
                <a:rPr lang="en-US" altLang="zh-CN" dirty="0">
                  <a:solidFill>
                    <a:srgbClr val="FF0000"/>
                  </a:solidFill>
                  <a:ea typeface="华文中宋" panose="02010600040101010101" pitchFamily="2" charset="-122"/>
                </a:rPr>
                <a:t>x[j]</a:t>
              </a:r>
              <a:endParaRPr lang="en-US" altLang="zh-CN" baseline="-25000" dirty="0">
                <a:solidFill>
                  <a:srgbClr val="FF0000"/>
                </a:solidFill>
                <a:ea typeface="华文中宋" panose="02010600040101010101" pitchFamily="2" charset="-122"/>
              </a:endParaRPr>
            </a:p>
          </p:txBody>
        </p:sp>
        <p:sp>
          <p:nvSpPr>
            <p:cNvPr id="36908" name="Line 36">
              <a:extLst>
                <a:ext uri="{FF2B5EF4-FFF2-40B4-BE49-F238E27FC236}">
                  <a16:creationId xmlns:a16="http://schemas.microsoft.com/office/drawing/2014/main" id="{CD94FF82-0365-48E7-817F-560F05861784}"/>
                </a:ext>
              </a:extLst>
            </p:cNvPr>
            <p:cNvSpPr>
              <a:spLocks noChangeShapeType="1"/>
            </p:cNvSpPr>
            <p:nvPr/>
          </p:nvSpPr>
          <p:spPr bwMode="auto">
            <a:xfrm>
              <a:off x="3120" y="1440"/>
              <a:ext cx="576" cy="0"/>
            </a:xfrm>
            <a:prstGeom prst="line">
              <a:avLst/>
            </a:prstGeom>
            <a:noFill/>
            <a:ln w="22225">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09" name="Rectangle 37">
              <a:extLst>
                <a:ext uri="{FF2B5EF4-FFF2-40B4-BE49-F238E27FC236}">
                  <a16:creationId xmlns:a16="http://schemas.microsoft.com/office/drawing/2014/main" id="{87E72838-C810-45ED-AD42-A61F119C9FB9}"/>
                </a:ext>
              </a:extLst>
            </p:cNvPr>
            <p:cNvSpPr>
              <a:spLocks noChangeArrowheads="1"/>
            </p:cNvSpPr>
            <p:nvPr/>
          </p:nvSpPr>
          <p:spPr bwMode="auto">
            <a:xfrm>
              <a:off x="3044" y="1392"/>
              <a:ext cx="6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800" dirty="0">
                  <a:solidFill>
                    <a:srgbClr val="0000CC"/>
                  </a:solidFill>
                  <a:latin typeface="华文中宋" panose="02010600040101010101" pitchFamily="2" charset="-122"/>
                  <a:ea typeface="华文中宋" panose="02010600040101010101" pitchFamily="2" charset="-122"/>
                </a:rPr>
                <a:t>m1[x[j]]</a:t>
              </a:r>
            </a:p>
          </p:txBody>
        </p:sp>
        <p:sp>
          <p:nvSpPr>
            <p:cNvPr id="36910" name="Rectangle 38">
              <a:extLst>
                <a:ext uri="{FF2B5EF4-FFF2-40B4-BE49-F238E27FC236}">
                  <a16:creationId xmlns:a16="http://schemas.microsoft.com/office/drawing/2014/main" id="{E177504F-3903-460C-89FA-2E83E3F9084E}"/>
                </a:ext>
              </a:extLst>
            </p:cNvPr>
            <p:cNvSpPr>
              <a:spLocks noChangeArrowheads="1"/>
            </p:cNvSpPr>
            <p:nvPr/>
          </p:nvSpPr>
          <p:spPr bwMode="auto">
            <a:xfrm>
              <a:off x="3956" y="1728"/>
              <a:ext cx="6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800" dirty="0">
                  <a:solidFill>
                    <a:srgbClr val="0000CC"/>
                  </a:solidFill>
                  <a:latin typeface="华文中宋" panose="02010600040101010101" pitchFamily="2" charset="-122"/>
                  <a:ea typeface="华文中宋" panose="02010600040101010101" pitchFamily="2" charset="-122"/>
                </a:rPr>
                <a:t>m2[x[j]]</a:t>
              </a:r>
            </a:p>
          </p:txBody>
        </p:sp>
        <p:sp>
          <p:nvSpPr>
            <p:cNvPr id="36911" name="AutoShape 41">
              <a:extLst>
                <a:ext uri="{FF2B5EF4-FFF2-40B4-BE49-F238E27FC236}">
                  <a16:creationId xmlns:a16="http://schemas.microsoft.com/office/drawing/2014/main" id="{C09F86A2-905C-4D34-AB0D-5E88CE9089F2}"/>
                </a:ext>
              </a:extLst>
            </p:cNvPr>
            <p:cNvSpPr>
              <a:spLocks/>
            </p:cNvSpPr>
            <p:nvPr/>
          </p:nvSpPr>
          <p:spPr bwMode="auto">
            <a:xfrm rot="5400000">
              <a:off x="2400" y="480"/>
              <a:ext cx="96" cy="2976"/>
            </a:xfrm>
            <a:prstGeom prst="leftBrace">
              <a:avLst>
                <a:gd name="adj1" fmla="val 258333"/>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912" name="Line 42">
              <a:extLst>
                <a:ext uri="{FF2B5EF4-FFF2-40B4-BE49-F238E27FC236}">
                  <a16:creationId xmlns:a16="http://schemas.microsoft.com/office/drawing/2014/main" id="{01F3541F-0AA9-4235-A995-E4528D31C4D8}"/>
                </a:ext>
              </a:extLst>
            </p:cNvPr>
            <p:cNvSpPr>
              <a:spLocks noChangeShapeType="1"/>
            </p:cNvSpPr>
            <p:nvPr/>
          </p:nvSpPr>
          <p:spPr bwMode="auto">
            <a:xfrm>
              <a:off x="4464" y="1824"/>
              <a:ext cx="0" cy="48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913" name="Text Box 43">
              <a:extLst>
                <a:ext uri="{FF2B5EF4-FFF2-40B4-BE49-F238E27FC236}">
                  <a16:creationId xmlns:a16="http://schemas.microsoft.com/office/drawing/2014/main" id="{F887A38D-1583-4586-82C9-6E2F72B86D63}"/>
                </a:ext>
              </a:extLst>
            </p:cNvPr>
            <p:cNvSpPr txBox="1">
              <a:spLocks noChangeArrowheads="1"/>
            </p:cNvSpPr>
            <p:nvPr/>
          </p:nvSpPr>
          <p:spPr bwMode="auto">
            <a:xfrm>
              <a:off x="2544" y="2208"/>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3333CC"/>
                  </a:solidFill>
                  <a:ea typeface="华文中宋" panose="02010600040101010101" pitchFamily="2" charset="-122"/>
                </a:rPr>
                <a:t>f2[</a:t>
              </a:r>
              <a:r>
                <a:rPr lang="en-US" altLang="zh-CN" dirty="0" err="1">
                  <a:solidFill>
                    <a:srgbClr val="3333CC"/>
                  </a:solidFill>
                  <a:ea typeface="华文中宋" panose="02010600040101010101" pitchFamily="2" charset="-122"/>
                </a:rPr>
                <a:t>i</a:t>
              </a:r>
              <a:r>
                <a:rPr lang="en-US" altLang="zh-CN" dirty="0">
                  <a:solidFill>
                    <a:srgbClr val="3333CC"/>
                  </a:solidFill>
                  <a:ea typeface="华文中宋" panose="02010600040101010101" pitchFamily="2" charset="-122"/>
                </a:rPr>
                <a:t>]</a:t>
              </a:r>
            </a:p>
          </p:txBody>
        </p:sp>
        <p:sp>
          <p:nvSpPr>
            <p:cNvPr id="36914" name="AutoShape 44">
              <a:extLst>
                <a:ext uri="{FF2B5EF4-FFF2-40B4-BE49-F238E27FC236}">
                  <a16:creationId xmlns:a16="http://schemas.microsoft.com/office/drawing/2014/main" id="{D1D8523C-D8CD-4E3F-ABAF-6CAD66F79B1E}"/>
                </a:ext>
              </a:extLst>
            </p:cNvPr>
            <p:cNvSpPr>
              <a:spLocks noChangeArrowheads="1"/>
            </p:cNvSpPr>
            <p:nvPr/>
          </p:nvSpPr>
          <p:spPr bwMode="auto">
            <a:xfrm>
              <a:off x="4044" y="624"/>
              <a:ext cx="1428" cy="288"/>
            </a:xfrm>
            <a:prstGeom prst="wedgeRoundRectCallout">
              <a:avLst>
                <a:gd name="adj1" fmla="val -74653"/>
                <a:gd name="adj2" fmla="val 131551"/>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dirty="0">
                  <a:ea typeface="华文中宋" panose="02010600040101010101" pitchFamily="2" charset="-122"/>
                </a:rPr>
                <a:t>j=i,i+1,…,n</a:t>
              </a:r>
              <a:r>
                <a:rPr lang="zh-CN" altLang="en-US" dirty="0">
                  <a:solidFill>
                    <a:srgbClr val="FF0000"/>
                  </a:solidFill>
                  <a:ea typeface="华文中宋" panose="02010600040101010101" pitchFamily="2" charset="-122"/>
                </a:rPr>
                <a:t>依次</a:t>
              </a:r>
            </a:p>
          </p:txBody>
        </p:sp>
      </p:grpSp>
      <p:grpSp>
        <p:nvGrpSpPr>
          <p:cNvPr id="3" name="Group 74">
            <a:extLst>
              <a:ext uri="{FF2B5EF4-FFF2-40B4-BE49-F238E27FC236}">
                <a16:creationId xmlns:a16="http://schemas.microsoft.com/office/drawing/2014/main" id="{041A852C-6317-4BEA-AE4D-B7001C72ACFF}"/>
              </a:ext>
            </a:extLst>
          </p:cNvPr>
          <p:cNvGrpSpPr>
            <a:grpSpLocks/>
          </p:cNvGrpSpPr>
          <p:nvPr/>
        </p:nvGrpSpPr>
        <p:grpSpPr bwMode="auto">
          <a:xfrm>
            <a:off x="1143000" y="4038600"/>
            <a:ext cx="7924800" cy="2819400"/>
            <a:chOff x="672" y="2496"/>
            <a:chExt cx="4800" cy="1776"/>
          </a:xfrm>
        </p:grpSpPr>
        <p:sp>
          <p:nvSpPr>
            <p:cNvPr id="36873" name="Text Box 52">
              <a:extLst>
                <a:ext uri="{FF2B5EF4-FFF2-40B4-BE49-F238E27FC236}">
                  <a16:creationId xmlns:a16="http://schemas.microsoft.com/office/drawing/2014/main" id="{71CC5357-AA52-4294-B525-0F026B24ABD3}"/>
                </a:ext>
              </a:extLst>
            </p:cNvPr>
            <p:cNvSpPr txBox="1">
              <a:spLocks noChangeArrowheads="1"/>
            </p:cNvSpPr>
            <p:nvPr/>
          </p:nvSpPr>
          <p:spPr bwMode="auto">
            <a:xfrm>
              <a:off x="2112" y="3446"/>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FF0000"/>
                  </a:solidFill>
                  <a:ea typeface="华文中宋" panose="02010600040101010101" pitchFamily="2" charset="-122"/>
                </a:rPr>
                <a:t>f2[i-1]</a:t>
              </a:r>
            </a:p>
          </p:txBody>
        </p:sp>
        <p:sp>
          <p:nvSpPr>
            <p:cNvPr id="36874" name="Line 53">
              <a:extLst>
                <a:ext uri="{FF2B5EF4-FFF2-40B4-BE49-F238E27FC236}">
                  <a16:creationId xmlns:a16="http://schemas.microsoft.com/office/drawing/2014/main" id="{BBC2C2FD-6A73-44C8-B8AF-C0BABDFFBE2F}"/>
                </a:ext>
              </a:extLst>
            </p:cNvPr>
            <p:cNvSpPr>
              <a:spLocks noChangeShapeType="1"/>
            </p:cNvSpPr>
            <p:nvPr/>
          </p:nvSpPr>
          <p:spPr bwMode="auto">
            <a:xfrm>
              <a:off x="672" y="3206"/>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75" name="Line 54">
              <a:extLst>
                <a:ext uri="{FF2B5EF4-FFF2-40B4-BE49-F238E27FC236}">
                  <a16:creationId xmlns:a16="http://schemas.microsoft.com/office/drawing/2014/main" id="{8D542E8C-DDDD-4325-AD68-B40DAA894C55}"/>
                </a:ext>
              </a:extLst>
            </p:cNvPr>
            <p:cNvSpPr>
              <a:spLocks noChangeShapeType="1"/>
            </p:cNvSpPr>
            <p:nvPr/>
          </p:nvSpPr>
          <p:spPr bwMode="auto">
            <a:xfrm>
              <a:off x="672" y="3830"/>
              <a:ext cx="43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76" name="AutoShape 55">
              <a:extLst>
                <a:ext uri="{FF2B5EF4-FFF2-40B4-BE49-F238E27FC236}">
                  <a16:creationId xmlns:a16="http://schemas.microsoft.com/office/drawing/2014/main" id="{C345C169-1057-452E-8740-0BC81D4E6B30}"/>
                </a:ext>
              </a:extLst>
            </p:cNvPr>
            <p:cNvSpPr>
              <a:spLocks/>
            </p:cNvSpPr>
            <p:nvPr/>
          </p:nvSpPr>
          <p:spPr bwMode="auto">
            <a:xfrm rot="5400000">
              <a:off x="1944" y="2030"/>
              <a:ext cx="144" cy="2112"/>
            </a:xfrm>
            <a:prstGeom prst="leftBrace">
              <a:avLst>
                <a:gd name="adj1" fmla="val 122222"/>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77" name="AutoShape 56">
              <a:extLst>
                <a:ext uri="{FF2B5EF4-FFF2-40B4-BE49-F238E27FC236}">
                  <a16:creationId xmlns:a16="http://schemas.microsoft.com/office/drawing/2014/main" id="{DE1A521E-F6D9-4BA3-AC11-C2F1DB4B71AA}"/>
                </a:ext>
              </a:extLst>
            </p:cNvPr>
            <p:cNvSpPr>
              <a:spLocks/>
            </p:cNvSpPr>
            <p:nvPr/>
          </p:nvSpPr>
          <p:spPr bwMode="auto">
            <a:xfrm rot="16200000" flipV="1">
              <a:off x="2472" y="2318"/>
              <a:ext cx="192" cy="3216"/>
            </a:xfrm>
            <a:prstGeom prst="leftBrace">
              <a:avLst>
                <a:gd name="adj1" fmla="val 139583"/>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78" name="Line 57">
              <a:extLst>
                <a:ext uri="{FF2B5EF4-FFF2-40B4-BE49-F238E27FC236}">
                  <a16:creationId xmlns:a16="http://schemas.microsoft.com/office/drawing/2014/main" id="{ADDA935C-B20A-4B85-A6AC-69D94895C318}"/>
                </a:ext>
              </a:extLst>
            </p:cNvPr>
            <p:cNvSpPr>
              <a:spLocks noChangeShapeType="1"/>
            </p:cNvSpPr>
            <p:nvPr/>
          </p:nvSpPr>
          <p:spPr bwMode="auto">
            <a:xfrm>
              <a:off x="912" y="2822"/>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79" name="Line 58">
              <a:extLst>
                <a:ext uri="{FF2B5EF4-FFF2-40B4-BE49-F238E27FC236}">
                  <a16:creationId xmlns:a16="http://schemas.microsoft.com/office/drawing/2014/main" id="{A6BF325A-EBA0-4697-9914-48F26FFE0298}"/>
                </a:ext>
              </a:extLst>
            </p:cNvPr>
            <p:cNvSpPr>
              <a:spLocks noChangeShapeType="1"/>
            </p:cNvSpPr>
            <p:nvPr/>
          </p:nvSpPr>
          <p:spPr bwMode="auto">
            <a:xfrm>
              <a:off x="3552" y="3542"/>
              <a:ext cx="0" cy="480"/>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80" name="Line 59">
              <a:extLst>
                <a:ext uri="{FF2B5EF4-FFF2-40B4-BE49-F238E27FC236}">
                  <a16:creationId xmlns:a16="http://schemas.microsoft.com/office/drawing/2014/main" id="{CC770998-5476-490F-A9B9-164820F6117C}"/>
                </a:ext>
              </a:extLst>
            </p:cNvPr>
            <p:cNvSpPr>
              <a:spLocks noChangeShapeType="1"/>
            </p:cNvSpPr>
            <p:nvPr/>
          </p:nvSpPr>
          <p:spPr bwMode="auto">
            <a:xfrm>
              <a:off x="3120" y="2822"/>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81" name="AutoShape 60">
              <a:extLst>
                <a:ext uri="{FF2B5EF4-FFF2-40B4-BE49-F238E27FC236}">
                  <a16:creationId xmlns:a16="http://schemas.microsoft.com/office/drawing/2014/main" id="{80C7871A-E740-4313-99D1-B0B9C013A744}"/>
                </a:ext>
              </a:extLst>
            </p:cNvPr>
            <p:cNvSpPr>
              <a:spLocks/>
            </p:cNvSpPr>
            <p:nvPr/>
          </p:nvSpPr>
          <p:spPr bwMode="auto">
            <a:xfrm rot="5400000">
              <a:off x="3840" y="3542"/>
              <a:ext cx="144" cy="432"/>
            </a:xfrm>
            <a:prstGeom prst="leftBrace">
              <a:avLst>
                <a:gd name="adj1" fmla="val 25000"/>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82" name="Text Box 61">
              <a:extLst>
                <a:ext uri="{FF2B5EF4-FFF2-40B4-BE49-F238E27FC236}">
                  <a16:creationId xmlns:a16="http://schemas.microsoft.com/office/drawing/2014/main" id="{272B598A-D9D6-411C-AD52-A33C15F47963}"/>
                </a:ext>
              </a:extLst>
            </p:cNvPr>
            <p:cNvSpPr txBox="1">
              <a:spLocks noChangeArrowheads="1"/>
            </p:cNvSpPr>
            <p:nvPr/>
          </p:nvSpPr>
          <p:spPr bwMode="auto">
            <a:xfrm>
              <a:off x="1152" y="2496"/>
              <a:ext cx="17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dirty="0">
                  <a:solidFill>
                    <a:srgbClr val="3333CC"/>
                  </a:solidFill>
                  <a:latin typeface="华文中宋" panose="02010600040101010101" pitchFamily="2" charset="-122"/>
                  <a:ea typeface="华文中宋" panose="02010600040101010101" pitchFamily="2" charset="-122"/>
                </a:rPr>
                <a:t>初步安排好前</a:t>
              </a:r>
              <a:r>
                <a:rPr lang="en-US" altLang="zh-CN" sz="2000" dirty="0">
                  <a:solidFill>
                    <a:srgbClr val="3333CC"/>
                  </a:solidFill>
                  <a:latin typeface="华文中宋" panose="02010600040101010101" pitchFamily="2" charset="-122"/>
                  <a:ea typeface="华文中宋" panose="02010600040101010101" pitchFamily="2" charset="-122"/>
                </a:rPr>
                <a:t>i-1</a:t>
              </a:r>
              <a:r>
                <a:rPr lang="zh-CN" altLang="en-US" sz="2000" dirty="0">
                  <a:solidFill>
                    <a:srgbClr val="3333CC"/>
                  </a:solidFill>
                  <a:latin typeface="华文中宋" panose="02010600040101010101" pitchFamily="2" charset="-122"/>
                  <a:ea typeface="华文中宋" panose="02010600040101010101" pitchFamily="2" charset="-122"/>
                </a:rPr>
                <a:t>个作业，作业时间</a:t>
              </a:r>
              <a:r>
                <a:rPr lang="en-US" altLang="zh-CN" sz="2000" dirty="0">
                  <a:solidFill>
                    <a:srgbClr val="3333CC"/>
                  </a:solidFill>
                  <a:latin typeface="华文中宋" panose="02010600040101010101" pitchFamily="2" charset="-122"/>
                  <a:ea typeface="华文中宋" panose="02010600040101010101" pitchFamily="2" charset="-122"/>
                </a:rPr>
                <a:t>f1[i-1]</a:t>
              </a:r>
            </a:p>
          </p:txBody>
        </p:sp>
        <p:sp>
          <p:nvSpPr>
            <p:cNvPr id="36883" name="AutoShape 62">
              <a:extLst>
                <a:ext uri="{FF2B5EF4-FFF2-40B4-BE49-F238E27FC236}">
                  <a16:creationId xmlns:a16="http://schemas.microsoft.com/office/drawing/2014/main" id="{4875022C-4C29-44B3-B760-D985C125A629}"/>
                </a:ext>
              </a:extLst>
            </p:cNvPr>
            <p:cNvSpPr>
              <a:spLocks/>
            </p:cNvSpPr>
            <p:nvPr/>
          </p:nvSpPr>
          <p:spPr bwMode="auto">
            <a:xfrm rot="16200000" flipV="1">
              <a:off x="2256" y="2016"/>
              <a:ext cx="144" cy="2736"/>
            </a:xfrm>
            <a:prstGeom prst="leftBrace">
              <a:avLst>
                <a:gd name="adj1" fmla="val 158333"/>
                <a:gd name="adj2" fmla="val 50088"/>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84" name="Text Box 63">
              <a:extLst>
                <a:ext uri="{FF2B5EF4-FFF2-40B4-BE49-F238E27FC236}">
                  <a16:creationId xmlns:a16="http://schemas.microsoft.com/office/drawing/2014/main" id="{6E721528-2113-41C8-87F8-0906B5A301F5}"/>
                </a:ext>
              </a:extLst>
            </p:cNvPr>
            <p:cNvSpPr txBox="1">
              <a:spLocks noChangeArrowheads="1"/>
            </p:cNvSpPr>
            <p:nvPr/>
          </p:nvSpPr>
          <p:spPr bwMode="auto">
            <a:xfrm>
              <a:off x="2112" y="3168"/>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3333CC"/>
                  </a:solidFill>
                  <a:ea typeface="华文中宋" panose="02010600040101010101" pitchFamily="2" charset="-122"/>
                </a:rPr>
                <a:t>f1[</a:t>
              </a:r>
              <a:r>
                <a:rPr lang="en-US" altLang="zh-CN" dirty="0" err="1">
                  <a:solidFill>
                    <a:srgbClr val="3333CC"/>
                  </a:solidFill>
                  <a:ea typeface="华文中宋" panose="02010600040101010101" pitchFamily="2" charset="-122"/>
                </a:rPr>
                <a:t>i</a:t>
              </a:r>
              <a:r>
                <a:rPr lang="en-US" altLang="zh-CN" dirty="0">
                  <a:solidFill>
                    <a:srgbClr val="3333CC"/>
                  </a:solidFill>
                  <a:ea typeface="华文中宋" panose="02010600040101010101" pitchFamily="2" charset="-122"/>
                </a:rPr>
                <a:t>]</a:t>
              </a:r>
            </a:p>
          </p:txBody>
        </p:sp>
        <p:sp>
          <p:nvSpPr>
            <p:cNvPr id="36885" name="Line 64">
              <a:extLst>
                <a:ext uri="{FF2B5EF4-FFF2-40B4-BE49-F238E27FC236}">
                  <a16:creationId xmlns:a16="http://schemas.microsoft.com/office/drawing/2014/main" id="{35F2BDF9-B6E7-4CD9-A32A-35DD4F3F5262}"/>
                </a:ext>
              </a:extLst>
            </p:cNvPr>
            <p:cNvSpPr>
              <a:spLocks noChangeShapeType="1"/>
            </p:cNvSpPr>
            <p:nvPr/>
          </p:nvSpPr>
          <p:spPr bwMode="auto">
            <a:xfrm>
              <a:off x="3696" y="2832"/>
              <a:ext cx="0" cy="1392"/>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86" name="Text Box 65">
              <a:extLst>
                <a:ext uri="{FF2B5EF4-FFF2-40B4-BE49-F238E27FC236}">
                  <a16:creationId xmlns:a16="http://schemas.microsoft.com/office/drawing/2014/main" id="{E81EC89A-740A-432D-AA87-9AFA0F782D17}"/>
                </a:ext>
              </a:extLst>
            </p:cNvPr>
            <p:cNvSpPr txBox="1">
              <a:spLocks noChangeArrowheads="1"/>
            </p:cNvSpPr>
            <p:nvPr/>
          </p:nvSpPr>
          <p:spPr bwMode="auto">
            <a:xfrm>
              <a:off x="3072" y="2554"/>
              <a:ext cx="72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dirty="0">
                  <a:solidFill>
                    <a:srgbClr val="FF0000"/>
                  </a:solidFill>
                  <a:ea typeface="华文中宋" panose="02010600040101010101" pitchFamily="2" charset="-122"/>
                </a:rPr>
                <a:t>尝试作业</a:t>
              </a:r>
              <a:r>
                <a:rPr lang="en-US" altLang="zh-CN" dirty="0">
                  <a:solidFill>
                    <a:srgbClr val="FF0000"/>
                  </a:solidFill>
                  <a:ea typeface="华文中宋" panose="02010600040101010101" pitchFamily="2" charset="-122"/>
                </a:rPr>
                <a:t>x[j]</a:t>
              </a:r>
              <a:endParaRPr lang="en-US" altLang="zh-CN" baseline="-25000" dirty="0">
                <a:solidFill>
                  <a:srgbClr val="FF0000"/>
                </a:solidFill>
                <a:ea typeface="华文中宋" panose="02010600040101010101" pitchFamily="2" charset="-122"/>
              </a:endParaRPr>
            </a:p>
          </p:txBody>
        </p:sp>
        <p:sp>
          <p:nvSpPr>
            <p:cNvPr id="36887" name="Line 66">
              <a:extLst>
                <a:ext uri="{FF2B5EF4-FFF2-40B4-BE49-F238E27FC236}">
                  <a16:creationId xmlns:a16="http://schemas.microsoft.com/office/drawing/2014/main" id="{FF6D1F52-CA9E-458C-BFE0-F9DC1E5C94F9}"/>
                </a:ext>
              </a:extLst>
            </p:cNvPr>
            <p:cNvSpPr>
              <a:spLocks noChangeShapeType="1"/>
            </p:cNvSpPr>
            <p:nvPr/>
          </p:nvSpPr>
          <p:spPr bwMode="auto">
            <a:xfrm>
              <a:off x="3120" y="3216"/>
              <a:ext cx="576" cy="0"/>
            </a:xfrm>
            <a:prstGeom prst="line">
              <a:avLst/>
            </a:prstGeom>
            <a:noFill/>
            <a:ln w="22225">
              <a:solidFill>
                <a:srgbClr val="FFCC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88" name="Rectangle 67">
              <a:extLst>
                <a:ext uri="{FF2B5EF4-FFF2-40B4-BE49-F238E27FC236}">
                  <a16:creationId xmlns:a16="http://schemas.microsoft.com/office/drawing/2014/main" id="{288B6096-0684-4082-B7B2-997F43B592C1}"/>
                </a:ext>
              </a:extLst>
            </p:cNvPr>
            <p:cNvSpPr>
              <a:spLocks noChangeArrowheads="1"/>
            </p:cNvSpPr>
            <p:nvPr/>
          </p:nvSpPr>
          <p:spPr bwMode="auto">
            <a:xfrm>
              <a:off x="3044" y="3168"/>
              <a:ext cx="6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800" dirty="0">
                  <a:solidFill>
                    <a:srgbClr val="0000CC"/>
                  </a:solidFill>
                  <a:latin typeface="华文中宋" panose="02010600040101010101" pitchFamily="2" charset="-122"/>
                  <a:ea typeface="华文中宋" panose="02010600040101010101" pitchFamily="2" charset="-122"/>
                </a:rPr>
                <a:t>m1[x[j]]</a:t>
              </a:r>
            </a:p>
          </p:txBody>
        </p:sp>
        <p:sp>
          <p:nvSpPr>
            <p:cNvPr id="36889" name="Rectangle 68">
              <a:extLst>
                <a:ext uri="{FF2B5EF4-FFF2-40B4-BE49-F238E27FC236}">
                  <a16:creationId xmlns:a16="http://schemas.microsoft.com/office/drawing/2014/main" id="{85E90994-D18C-4A9D-8002-B1C55DAE5195}"/>
                </a:ext>
              </a:extLst>
            </p:cNvPr>
            <p:cNvSpPr>
              <a:spLocks noChangeArrowheads="1"/>
            </p:cNvSpPr>
            <p:nvPr/>
          </p:nvSpPr>
          <p:spPr bwMode="auto">
            <a:xfrm>
              <a:off x="3696" y="3504"/>
              <a:ext cx="6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1800" dirty="0">
                  <a:solidFill>
                    <a:srgbClr val="0000CC"/>
                  </a:solidFill>
                  <a:latin typeface="华文中宋" panose="02010600040101010101" pitchFamily="2" charset="-122"/>
                  <a:ea typeface="华文中宋" panose="02010600040101010101" pitchFamily="2" charset="-122"/>
                </a:rPr>
                <a:t>m2[x[j]]</a:t>
              </a:r>
            </a:p>
          </p:txBody>
        </p:sp>
        <p:sp>
          <p:nvSpPr>
            <p:cNvPr id="36890" name="AutoShape 69">
              <a:extLst>
                <a:ext uri="{FF2B5EF4-FFF2-40B4-BE49-F238E27FC236}">
                  <a16:creationId xmlns:a16="http://schemas.microsoft.com/office/drawing/2014/main" id="{AF075CC7-2924-426F-974E-48FFDEBDFF2B}"/>
                </a:ext>
              </a:extLst>
            </p:cNvPr>
            <p:cNvSpPr>
              <a:spLocks/>
            </p:cNvSpPr>
            <p:nvPr/>
          </p:nvSpPr>
          <p:spPr bwMode="auto">
            <a:xfrm rot="5400000">
              <a:off x="2208" y="2448"/>
              <a:ext cx="96" cy="2592"/>
            </a:xfrm>
            <a:prstGeom prst="leftBrace">
              <a:avLst>
                <a:gd name="adj1" fmla="val 225000"/>
                <a:gd name="adj2" fmla="val 49333"/>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36891" name="Line 70">
              <a:extLst>
                <a:ext uri="{FF2B5EF4-FFF2-40B4-BE49-F238E27FC236}">
                  <a16:creationId xmlns:a16="http://schemas.microsoft.com/office/drawing/2014/main" id="{FF127AFB-7423-491C-811B-0E77C2E7A6BA}"/>
                </a:ext>
              </a:extLst>
            </p:cNvPr>
            <p:cNvSpPr>
              <a:spLocks noChangeShapeType="1"/>
            </p:cNvSpPr>
            <p:nvPr/>
          </p:nvSpPr>
          <p:spPr bwMode="auto">
            <a:xfrm>
              <a:off x="4176" y="3600"/>
              <a:ext cx="0" cy="48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36892" name="Text Box 71">
              <a:extLst>
                <a:ext uri="{FF2B5EF4-FFF2-40B4-BE49-F238E27FC236}">
                  <a16:creationId xmlns:a16="http://schemas.microsoft.com/office/drawing/2014/main" id="{6978866D-716C-4E39-B087-D0BC6512ADF3}"/>
                </a:ext>
              </a:extLst>
            </p:cNvPr>
            <p:cNvSpPr txBox="1">
              <a:spLocks noChangeArrowheads="1"/>
            </p:cNvSpPr>
            <p:nvPr/>
          </p:nvSpPr>
          <p:spPr bwMode="auto">
            <a:xfrm>
              <a:off x="2544" y="398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solidFill>
                    <a:srgbClr val="3333CC"/>
                  </a:solidFill>
                  <a:ea typeface="华文中宋" panose="02010600040101010101" pitchFamily="2" charset="-122"/>
                </a:rPr>
                <a:t>f2[</a:t>
              </a:r>
              <a:r>
                <a:rPr lang="en-US" altLang="zh-CN" dirty="0" err="1">
                  <a:solidFill>
                    <a:srgbClr val="3333CC"/>
                  </a:solidFill>
                  <a:ea typeface="华文中宋" panose="02010600040101010101" pitchFamily="2" charset="-122"/>
                </a:rPr>
                <a:t>i</a:t>
              </a:r>
              <a:r>
                <a:rPr lang="en-US" altLang="zh-CN" dirty="0">
                  <a:solidFill>
                    <a:srgbClr val="3333CC"/>
                  </a:solidFill>
                  <a:ea typeface="华文中宋" panose="02010600040101010101" pitchFamily="2" charset="-122"/>
                </a:rPr>
                <a:t>]</a:t>
              </a:r>
            </a:p>
          </p:txBody>
        </p:sp>
        <p:sp>
          <p:nvSpPr>
            <p:cNvPr id="36893" name="AutoShape 72">
              <a:extLst>
                <a:ext uri="{FF2B5EF4-FFF2-40B4-BE49-F238E27FC236}">
                  <a16:creationId xmlns:a16="http://schemas.microsoft.com/office/drawing/2014/main" id="{E9699BAF-B79A-4383-A4C3-98C166169C54}"/>
                </a:ext>
              </a:extLst>
            </p:cNvPr>
            <p:cNvSpPr>
              <a:spLocks noChangeArrowheads="1"/>
            </p:cNvSpPr>
            <p:nvPr/>
          </p:nvSpPr>
          <p:spPr bwMode="auto">
            <a:xfrm>
              <a:off x="4224" y="2544"/>
              <a:ext cx="1248" cy="288"/>
            </a:xfrm>
            <a:prstGeom prst="wedgeRoundRectCallout">
              <a:avLst>
                <a:gd name="adj1" fmla="val -90704"/>
                <a:gd name="adj2" fmla="val 124653"/>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0" dirty="0">
                  <a:ea typeface="华文中宋" panose="02010600040101010101" pitchFamily="2" charset="-122"/>
                </a:rPr>
                <a:t>j=i,i+1,…,n</a:t>
              </a:r>
            </a:p>
          </p:txBody>
        </p:sp>
      </p:grpSp>
      <p:sp>
        <p:nvSpPr>
          <p:cNvPr id="100425" name="Rectangle 73">
            <a:extLst>
              <a:ext uri="{FF2B5EF4-FFF2-40B4-BE49-F238E27FC236}">
                <a16:creationId xmlns:a16="http://schemas.microsoft.com/office/drawing/2014/main" id="{F7E244B8-3566-4BC9-8B64-6CFE7CF5A806}"/>
              </a:ext>
            </a:extLst>
          </p:cNvPr>
          <p:cNvSpPr>
            <a:spLocks noChangeArrowheads="1"/>
          </p:cNvSpPr>
          <p:nvPr/>
        </p:nvSpPr>
        <p:spPr bwMode="auto">
          <a:xfrm>
            <a:off x="228600" y="3886200"/>
            <a:ext cx="228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r>
              <a:rPr lang="zh-CN" altLang="en-US" sz="2800" b="0" dirty="0">
                <a:ea typeface="华文中宋" panose="02010600040101010101" pitchFamily="2" charset="-122"/>
              </a:rPr>
              <a:t>情况</a:t>
            </a:r>
            <a:r>
              <a:rPr lang="en-US" altLang="zh-CN" sz="2800" b="0" dirty="0">
                <a:ea typeface="华文中宋" panose="02010600040101010101" pitchFamily="2" charset="-122"/>
              </a:rPr>
              <a:t>2</a:t>
            </a:r>
          </a:p>
          <a:p>
            <a:pPr eaLnBrk="1" hangingPunct="1">
              <a:lnSpc>
                <a:spcPct val="90000"/>
              </a:lnSpc>
              <a:spcBef>
                <a:spcPct val="20000"/>
              </a:spcBef>
              <a:buFontTx/>
              <a:buChar char="•"/>
            </a:pPr>
            <a:endParaRPr lang="en-US" altLang="zh-CN" sz="2800" b="0" dirty="0">
              <a:ea typeface="华文中宋" panose="02010600040101010101" pitchFamily="2" charset="-122"/>
            </a:endParaRPr>
          </a:p>
          <a:p>
            <a:pPr eaLnBrk="1" hangingPunct="1">
              <a:lnSpc>
                <a:spcPct val="90000"/>
              </a:lnSpc>
              <a:spcBef>
                <a:spcPct val="20000"/>
              </a:spcBef>
            </a:pPr>
            <a:r>
              <a:rPr lang="en-US" altLang="zh-CN" sz="2800" b="0" dirty="0">
                <a:ea typeface="华文中宋" panose="02010600040101010101" pitchFamily="2" charset="-122"/>
              </a:rPr>
              <a:t>M1</a:t>
            </a:r>
          </a:p>
          <a:p>
            <a:pPr eaLnBrk="1" hangingPunct="1">
              <a:lnSpc>
                <a:spcPct val="90000"/>
              </a:lnSpc>
              <a:spcBef>
                <a:spcPct val="20000"/>
              </a:spcBef>
            </a:pPr>
            <a:endParaRPr lang="en-US" altLang="zh-CN" sz="2800" b="0" dirty="0">
              <a:ea typeface="华文中宋" panose="02010600040101010101" pitchFamily="2" charset="-122"/>
            </a:endParaRPr>
          </a:p>
          <a:p>
            <a:pPr eaLnBrk="1" hangingPunct="1">
              <a:lnSpc>
                <a:spcPct val="90000"/>
              </a:lnSpc>
              <a:spcBef>
                <a:spcPct val="20000"/>
              </a:spcBef>
            </a:pPr>
            <a:r>
              <a:rPr lang="en-US" altLang="zh-CN" sz="2800" b="0" dirty="0">
                <a:ea typeface="华文中宋" panose="02010600040101010101" pitchFamily="2" charset="-122"/>
              </a:rPr>
              <a:t>M2</a:t>
            </a:r>
          </a:p>
        </p:txBody>
      </p:sp>
      <p:sp>
        <p:nvSpPr>
          <p:cNvPr id="100427" name="AutoShape 75">
            <a:extLst>
              <a:ext uri="{FF2B5EF4-FFF2-40B4-BE49-F238E27FC236}">
                <a16:creationId xmlns:a16="http://schemas.microsoft.com/office/drawing/2014/main" id="{33BA1946-CB89-4D1E-96E0-461C8279B585}"/>
              </a:ext>
            </a:extLst>
          </p:cNvPr>
          <p:cNvSpPr>
            <a:spLocks noChangeArrowheads="1"/>
          </p:cNvSpPr>
          <p:nvPr/>
        </p:nvSpPr>
        <p:spPr bwMode="auto">
          <a:xfrm>
            <a:off x="6729413" y="3643313"/>
            <a:ext cx="2057400" cy="357187"/>
          </a:xfrm>
          <a:prstGeom prst="wedgeRectCallout">
            <a:avLst>
              <a:gd name="adj1" fmla="val -50671"/>
              <a:gd name="adj2" fmla="val -238463"/>
            </a:avLst>
          </a:prstGeom>
          <a:solidFill>
            <a:srgbClr val="FF99CC"/>
          </a:solidFill>
          <a:ln w="9525">
            <a:solidFill>
              <a:schemeClr val="tx1"/>
            </a:solidFill>
            <a:miter lim="800000"/>
            <a:headEnd/>
            <a:tailEnd/>
          </a:ln>
        </p:spPr>
        <p:txBody>
          <a:bodyPr lIns="0" tIns="0" rIns="0" bIns="0"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ea typeface="华文中宋" panose="02010600040101010101" pitchFamily="2" charset="-122"/>
              </a:rPr>
              <a:t>尚未完成，需等</a:t>
            </a:r>
          </a:p>
        </p:txBody>
      </p:sp>
      <p:sp>
        <p:nvSpPr>
          <p:cNvPr id="100428" name="AutoShape 76">
            <a:extLst>
              <a:ext uri="{FF2B5EF4-FFF2-40B4-BE49-F238E27FC236}">
                <a16:creationId xmlns:a16="http://schemas.microsoft.com/office/drawing/2014/main" id="{25E8DA73-D553-4B8C-80FF-07CBBC2EEED9}"/>
              </a:ext>
            </a:extLst>
          </p:cNvPr>
          <p:cNvSpPr>
            <a:spLocks noChangeArrowheads="1"/>
          </p:cNvSpPr>
          <p:nvPr/>
        </p:nvSpPr>
        <p:spPr bwMode="auto">
          <a:xfrm>
            <a:off x="6584950" y="5072063"/>
            <a:ext cx="1916113" cy="271462"/>
          </a:xfrm>
          <a:prstGeom prst="wedgeRectCallout">
            <a:avLst>
              <a:gd name="adj1" fmla="val -70616"/>
              <a:gd name="adj2" fmla="val 217583"/>
            </a:avLst>
          </a:prstGeom>
          <a:solidFill>
            <a:srgbClr val="FF99CC"/>
          </a:solidFill>
          <a:ln w="9525">
            <a:solidFill>
              <a:schemeClr val="tx1"/>
            </a:solidFill>
            <a:miter lim="800000"/>
            <a:headEnd/>
            <a:tailEnd/>
          </a:ln>
        </p:spPr>
        <p:txBody>
          <a:bodyPr lIns="0" tIns="0" rIns="0" bIns="0"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ea typeface="华文中宋" panose="02010600040101010101" pitchFamily="2" charset="-122"/>
              </a:rPr>
              <a:t>已完成，不必等</a:t>
            </a:r>
          </a:p>
        </p:txBody>
      </p:sp>
      <mc:AlternateContent xmlns:mc="http://schemas.openxmlformats.org/markup-compatibility/2006" xmlns:p14="http://schemas.microsoft.com/office/powerpoint/2010/main">
        <mc:Choice Requires="p14">
          <p:contentPart p14:bwMode="auto" r:id="rId2">
            <p14:nvContentPartPr>
              <p14:cNvPr id="4" name="墨迹 3">
                <a:extLst>
                  <a:ext uri="{FF2B5EF4-FFF2-40B4-BE49-F238E27FC236}">
                    <a16:creationId xmlns:a16="http://schemas.microsoft.com/office/drawing/2014/main" id="{0E42D933-EB84-4D40-B8BD-90E04CBC89BA}"/>
                  </a:ext>
                </a:extLst>
              </p14:cNvPr>
              <p14:cNvContentPartPr/>
              <p14:nvPr/>
            </p14:nvContentPartPr>
            <p14:xfrm>
              <a:off x="4368960" y="1686240"/>
              <a:ext cx="1860480" cy="5233320"/>
            </p14:xfrm>
          </p:contentPart>
        </mc:Choice>
        <mc:Fallback xmlns="">
          <p:pic>
            <p:nvPicPr>
              <p:cNvPr id="4" name="墨迹 3">
                <a:extLst>
                  <a:ext uri="{FF2B5EF4-FFF2-40B4-BE49-F238E27FC236}">
                    <a16:creationId xmlns:a16="http://schemas.microsoft.com/office/drawing/2014/main" id="{0E42D933-EB84-4D40-B8BD-90E04CBC89BA}"/>
                  </a:ext>
                </a:extLst>
              </p:cNvPr>
              <p:cNvPicPr/>
              <p:nvPr/>
            </p:nvPicPr>
            <p:blipFill>
              <a:blip r:embed="rId3"/>
              <a:stretch>
                <a:fillRect/>
              </a:stretch>
            </p:blipFill>
            <p:spPr>
              <a:xfrm>
                <a:off x="4359600" y="1676880"/>
                <a:ext cx="1879200" cy="5252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9D0A0592-5BFE-97D0-AA84-3DBFF1556537}"/>
                  </a:ext>
                </a:extLst>
              </p14:cNvPr>
              <p14:cNvContentPartPr/>
              <p14:nvPr/>
            </p14:nvContentPartPr>
            <p14:xfrm>
              <a:off x="5622480" y="1365120"/>
              <a:ext cx="627840" cy="4003200"/>
            </p14:xfrm>
          </p:contentPart>
        </mc:Choice>
        <mc:Fallback xmlns="">
          <p:pic>
            <p:nvPicPr>
              <p:cNvPr id="5" name="墨迹 4">
                <a:extLst>
                  <a:ext uri="{FF2B5EF4-FFF2-40B4-BE49-F238E27FC236}">
                    <a16:creationId xmlns:a16="http://schemas.microsoft.com/office/drawing/2014/main" id="{9D0A0592-5BFE-97D0-AA84-3DBFF1556537}"/>
                  </a:ext>
                </a:extLst>
              </p:cNvPr>
              <p:cNvPicPr/>
              <p:nvPr/>
            </p:nvPicPr>
            <p:blipFill>
              <a:blip r:embed="rId5"/>
              <a:stretch>
                <a:fillRect/>
              </a:stretch>
            </p:blipFill>
            <p:spPr>
              <a:xfrm>
                <a:off x="5613120" y="1355760"/>
                <a:ext cx="646560" cy="4021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0383"/>
                                        </p:tgtEl>
                                        <p:attrNameLst>
                                          <p:attrName>style.visibility</p:attrName>
                                        </p:attrNameLst>
                                      </p:cBhvr>
                                      <p:to>
                                        <p:strVal val="visible"/>
                                      </p:to>
                                    </p:set>
                                    <p:anim calcmode="lin" valueType="num">
                                      <p:cBhvr additive="base">
                                        <p:cTn id="7" dur="500" fill="hold"/>
                                        <p:tgtEl>
                                          <p:spTgt spid="100383"/>
                                        </p:tgtEl>
                                        <p:attrNameLst>
                                          <p:attrName>ppt_x</p:attrName>
                                        </p:attrNameLst>
                                      </p:cBhvr>
                                      <p:tavLst>
                                        <p:tav tm="0">
                                          <p:val>
                                            <p:strVal val="0-#ppt_w/2"/>
                                          </p:val>
                                        </p:tav>
                                        <p:tav tm="100000">
                                          <p:val>
                                            <p:strVal val="#ppt_x"/>
                                          </p:val>
                                        </p:tav>
                                      </p:tavLst>
                                    </p:anim>
                                    <p:anim calcmode="lin" valueType="num">
                                      <p:cBhvr additive="base">
                                        <p:cTn id="8" dur="500" fill="hold"/>
                                        <p:tgtEl>
                                          <p:spTgt spid="100383"/>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00427"/>
                                        </p:tgtEl>
                                        <p:attrNameLst>
                                          <p:attrName>style.visibility</p:attrName>
                                        </p:attrNameLst>
                                      </p:cBhvr>
                                      <p:to>
                                        <p:strVal val="visible"/>
                                      </p:to>
                                    </p:set>
                                    <p:animEffect transition="in" filter="checkerboard(across)">
                                      <p:cBhvr>
                                        <p:cTn id="18" dur="500"/>
                                        <p:tgtEl>
                                          <p:spTgt spid="10042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100425"/>
                                        </p:tgtEl>
                                        <p:attrNameLst>
                                          <p:attrName>style.visibility</p:attrName>
                                        </p:attrNameLst>
                                      </p:cBhvr>
                                      <p:to>
                                        <p:strVal val="visible"/>
                                      </p:to>
                                    </p:set>
                                    <p:anim calcmode="lin" valueType="num">
                                      <p:cBhvr additive="base">
                                        <p:cTn id="28" dur="500" fill="hold"/>
                                        <p:tgtEl>
                                          <p:spTgt spid="100425"/>
                                        </p:tgtEl>
                                        <p:attrNameLst>
                                          <p:attrName>ppt_x</p:attrName>
                                        </p:attrNameLst>
                                      </p:cBhvr>
                                      <p:tavLst>
                                        <p:tav tm="0">
                                          <p:val>
                                            <p:strVal val="0-#ppt_w/2"/>
                                          </p:val>
                                        </p:tav>
                                        <p:tav tm="100000">
                                          <p:val>
                                            <p:strVal val="#ppt_x"/>
                                          </p:val>
                                        </p:tav>
                                      </p:tavLst>
                                    </p:anim>
                                    <p:anim calcmode="lin" valueType="num">
                                      <p:cBhvr additive="base">
                                        <p:cTn id="29" dur="500" fill="hold"/>
                                        <p:tgtEl>
                                          <p:spTgt spid="100425"/>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0428"/>
                                        </p:tgtEl>
                                        <p:attrNameLst>
                                          <p:attrName>style.visibility</p:attrName>
                                        </p:attrNameLst>
                                      </p:cBhvr>
                                      <p:to>
                                        <p:strVal val="visible"/>
                                      </p:to>
                                    </p:set>
                                    <p:anim calcmode="lin" valueType="num">
                                      <p:cBhvr additive="base">
                                        <p:cTn id="34" dur="500" fill="hold"/>
                                        <p:tgtEl>
                                          <p:spTgt spid="100428"/>
                                        </p:tgtEl>
                                        <p:attrNameLst>
                                          <p:attrName>ppt_x</p:attrName>
                                        </p:attrNameLst>
                                      </p:cBhvr>
                                      <p:tavLst>
                                        <p:tav tm="0">
                                          <p:val>
                                            <p:strVal val="#ppt_x"/>
                                          </p:val>
                                        </p:tav>
                                        <p:tav tm="100000">
                                          <p:val>
                                            <p:strVal val="#ppt_x"/>
                                          </p:val>
                                        </p:tav>
                                      </p:tavLst>
                                    </p:anim>
                                    <p:anim calcmode="lin" valueType="num">
                                      <p:cBhvr additive="base">
                                        <p:cTn id="35" dur="500" fill="hold"/>
                                        <p:tgtEl>
                                          <p:spTgt spid="1004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83" grpId="0" autoUpdateAnimBg="0"/>
      <p:bldP spid="100425" grpId="0" autoUpdateAnimBg="0"/>
      <p:bldP spid="100427" grpId="0" animBg="1"/>
      <p:bldP spid="100428"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33117039-1C9E-46F9-B6A0-C678B95DBA2E}"/>
              </a:ext>
            </a:extLst>
          </p:cNvPr>
          <p:cNvSpPr>
            <a:spLocks noGrp="1" noChangeArrowheads="1"/>
          </p:cNvSpPr>
          <p:nvPr>
            <p:ph type="title"/>
          </p:nvPr>
        </p:nvSpPr>
        <p:spPr bwMode="auto">
          <a:xfrm>
            <a:off x="685800" y="609600"/>
            <a:ext cx="7772400" cy="9144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b="1" dirty="0">
                <a:solidFill>
                  <a:srgbClr val="FF0000"/>
                </a:solidFill>
                <a:latin typeface="华文中宋" panose="02010600040101010101" pitchFamily="2" charset="-122"/>
              </a:rPr>
              <a:t>f2[</a:t>
            </a:r>
            <a:r>
              <a:rPr lang="en-US" altLang="zh-CN" sz="3600" b="1" dirty="0" err="1">
                <a:solidFill>
                  <a:srgbClr val="FF0000"/>
                </a:solidFill>
                <a:latin typeface="华文中宋" panose="02010600040101010101" pitchFamily="2" charset="-122"/>
              </a:rPr>
              <a:t>i</a:t>
            </a:r>
            <a:r>
              <a:rPr lang="en-US" altLang="zh-CN" sz="3600" b="1" dirty="0">
                <a:solidFill>
                  <a:srgbClr val="FF0000"/>
                </a:solidFill>
                <a:latin typeface="华文中宋" panose="02010600040101010101" pitchFamily="2" charset="-122"/>
              </a:rPr>
              <a:t>]</a:t>
            </a:r>
            <a:r>
              <a:rPr lang="zh-CN" altLang="en-US" sz="3600" b="1" dirty="0">
                <a:solidFill>
                  <a:srgbClr val="FF0000"/>
                </a:solidFill>
                <a:latin typeface="华文中宋" panose="02010600040101010101" pitchFamily="2" charset="-122"/>
              </a:rPr>
              <a:t>的计算</a:t>
            </a:r>
          </a:p>
        </p:txBody>
      </p:sp>
      <p:sp>
        <p:nvSpPr>
          <p:cNvPr id="37891" name="Rectangle 3">
            <a:extLst>
              <a:ext uri="{FF2B5EF4-FFF2-40B4-BE49-F238E27FC236}">
                <a16:creationId xmlns:a16="http://schemas.microsoft.com/office/drawing/2014/main" id="{B3B59752-55E2-4B55-842D-7BA8032ECA0B}"/>
              </a:ext>
            </a:extLst>
          </p:cNvPr>
          <p:cNvSpPr>
            <a:spLocks noGrp="1" noChangeArrowheads="1"/>
          </p:cNvSpPr>
          <p:nvPr>
            <p:ph type="body" idx="1"/>
          </p:nvPr>
        </p:nvSpPr>
        <p:spPr bwMode="auto">
          <a:xfrm>
            <a:off x="685800" y="1981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pPr>
            <a:r>
              <a:rPr kumimoji="0" lang="en-US" altLang="zh-CN" b="1" dirty="0">
                <a:latin typeface="华文中宋" panose="02010600040101010101" pitchFamily="2" charset="-122"/>
              </a:rPr>
              <a:t> f1= f1 + m[x[j]][1];</a:t>
            </a:r>
          </a:p>
          <a:p>
            <a:pPr eaLnBrk="1" hangingPunct="1">
              <a:lnSpc>
                <a:spcPct val="130000"/>
              </a:lnSpc>
              <a:spcBef>
                <a:spcPct val="0"/>
              </a:spcBef>
              <a:buFontTx/>
              <a:buNone/>
            </a:pPr>
            <a:r>
              <a:rPr kumimoji="0" lang="en-US" altLang="zh-CN" b="1" dirty="0">
                <a:latin typeface="华文中宋" panose="02010600040101010101" pitchFamily="2" charset="-122"/>
              </a:rPr>
              <a:t> f2[</a:t>
            </a:r>
            <a:r>
              <a:rPr kumimoji="0" lang="en-US" altLang="zh-CN" b="1" dirty="0" err="1">
                <a:latin typeface="华文中宋" panose="02010600040101010101" pitchFamily="2" charset="-122"/>
              </a:rPr>
              <a:t>i</a:t>
            </a:r>
            <a:r>
              <a:rPr kumimoji="0" lang="en-US" altLang="zh-CN" b="1" dirty="0">
                <a:latin typeface="华文中宋" panose="02010600040101010101" pitchFamily="2" charset="-122"/>
              </a:rPr>
              <a:t>]=((f2[i-1]&gt;f1[</a:t>
            </a:r>
            <a:r>
              <a:rPr kumimoji="0" lang="en-US" altLang="zh-CN" b="1" dirty="0" err="1">
                <a:latin typeface="华文中宋" panose="02010600040101010101" pitchFamily="2" charset="-122"/>
              </a:rPr>
              <a:t>i</a:t>
            </a:r>
            <a:r>
              <a:rPr kumimoji="0" lang="en-US" altLang="zh-CN" b="1" dirty="0">
                <a:latin typeface="华文中宋" panose="02010600040101010101" pitchFamily="2" charset="-122"/>
              </a:rPr>
              <a:t>])? f2[i-1]:f1[</a:t>
            </a:r>
            <a:r>
              <a:rPr kumimoji="0" lang="en-US" altLang="zh-CN" b="1" dirty="0" err="1">
                <a:latin typeface="华文中宋" panose="02010600040101010101" pitchFamily="2" charset="-122"/>
              </a:rPr>
              <a:t>i</a:t>
            </a:r>
            <a:r>
              <a:rPr kumimoji="0" lang="en-US" altLang="zh-CN" b="1" dirty="0">
                <a:latin typeface="华文中宋" panose="02010600040101010101" pitchFamily="2" charset="-122"/>
              </a:rPr>
              <a:t>])</a:t>
            </a:r>
          </a:p>
          <a:p>
            <a:pPr eaLnBrk="1" hangingPunct="1">
              <a:lnSpc>
                <a:spcPct val="130000"/>
              </a:lnSpc>
              <a:spcBef>
                <a:spcPct val="0"/>
              </a:spcBef>
              <a:buFontTx/>
              <a:buNone/>
            </a:pPr>
            <a:r>
              <a:rPr kumimoji="0" lang="en-US" altLang="zh-CN" b="1" dirty="0">
                <a:latin typeface="华文中宋" panose="02010600040101010101" pitchFamily="2" charset="-122"/>
              </a:rPr>
              <a:t>           +m[x[j]][2] </a:t>
            </a:r>
          </a:p>
        </p:txBody>
      </p:sp>
      <p:sp>
        <p:nvSpPr>
          <p:cNvPr id="37892" name="Rectangle 4">
            <a:extLst>
              <a:ext uri="{FF2B5EF4-FFF2-40B4-BE49-F238E27FC236}">
                <a16:creationId xmlns:a16="http://schemas.microsoft.com/office/drawing/2014/main" id="{3DB34D96-9006-4DF3-9150-2FCD3BDF35DB}"/>
              </a:ext>
            </a:extLst>
          </p:cNvPr>
          <p:cNvSpPr>
            <a:spLocks noChangeArrowheads="1"/>
          </p:cNvSpPr>
          <p:nvPr/>
        </p:nvSpPr>
        <p:spPr bwMode="auto">
          <a:xfrm>
            <a:off x="1371600" y="4572000"/>
            <a:ext cx="601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0" dirty="0">
                <a:ea typeface="华文中宋" panose="02010600040101010101" pitchFamily="2" charset="-122"/>
              </a:rPr>
              <a:t>对</a:t>
            </a:r>
            <a:r>
              <a:rPr lang="en-US" altLang="zh-CN" sz="2800" b="0" dirty="0">
                <a:ea typeface="华文中宋" panose="02010600040101010101" pitchFamily="2" charset="-122"/>
              </a:rPr>
              <a:t>j=i,i+1,…,n</a:t>
            </a:r>
            <a:r>
              <a:rPr lang="zh-CN" altLang="en-US" sz="2800" dirty="0">
                <a:solidFill>
                  <a:srgbClr val="FF0000"/>
                </a:solidFill>
                <a:ea typeface="华文中宋" panose="02010600040101010101" pitchFamily="2" charset="-122"/>
              </a:rPr>
              <a:t>依次尝试</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E9D0F8E1-ABC3-4810-AED3-5FD4CA6EAF0D}"/>
              </a:ext>
            </a:extLst>
          </p:cNvPr>
          <p:cNvSpPr>
            <a:spLocks noGrp="1"/>
          </p:cNvSpPr>
          <p:nvPr>
            <p:ph type="title"/>
          </p:nvPr>
        </p:nvSpPr>
        <p:spPr bwMode="auto">
          <a:xfrm>
            <a:off x="457200" y="274638"/>
            <a:ext cx="8229600" cy="8683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a:t>算法框架</a:t>
            </a:r>
          </a:p>
        </p:txBody>
      </p:sp>
      <p:sp>
        <p:nvSpPr>
          <p:cNvPr id="4" name="Rectangle 4">
            <a:extLst>
              <a:ext uri="{FF2B5EF4-FFF2-40B4-BE49-F238E27FC236}">
                <a16:creationId xmlns:a16="http://schemas.microsoft.com/office/drawing/2014/main" id="{A9CAFFFF-9A09-4852-B758-FD9460F2B3F1}"/>
              </a:ext>
            </a:extLst>
          </p:cNvPr>
          <p:cNvSpPr>
            <a:spLocks noChangeArrowheads="1"/>
          </p:cNvSpPr>
          <p:nvPr/>
        </p:nvSpPr>
        <p:spPr bwMode="auto">
          <a:xfrm>
            <a:off x="571500" y="928688"/>
            <a:ext cx="8215313" cy="5643562"/>
          </a:xfrm>
          <a:prstGeom prst="rect">
            <a:avLst/>
          </a:prstGeom>
          <a:noFill/>
          <a:ln w="34925">
            <a:solidFill>
              <a:srgbClr val="FF9933"/>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800" dirty="0">
                <a:ea typeface="华文中宋" panose="02010600040101010101" pitchFamily="2" charset="-122"/>
              </a:rPr>
              <a:t>void backtrack (int </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a:t>
            </a:r>
          </a:p>
          <a:p>
            <a:pPr eaLnBrk="1" hangingPunct="1"/>
            <a:r>
              <a:rPr kumimoji="0" lang="en-US" altLang="zh-CN" sz="2800" dirty="0">
                <a:ea typeface="华文中宋" panose="02010600040101010101" pitchFamily="2" charset="-122"/>
              </a:rPr>
              <a:t>  if (</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&gt;n) output(x);  //</a:t>
            </a:r>
            <a:r>
              <a:rPr kumimoji="0" lang="zh-CN" altLang="en-US" sz="2800" dirty="0">
                <a:ea typeface="华文中宋" panose="02010600040101010101" pitchFamily="2" charset="-122"/>
              </a:rPr>
              <a:t>记录或修正解</a:t>
            </a:r>
            <a:endParaRPr kumimoji="0" lang="en-US" altLang="zh-CN" sz="2800" dirty="0">
              <a:ea typeface="华文中宋" panose="02010600040101010101" pitchFamily="2" charset="-122"/>
            </a:endParaRPr>
          </a:p>
          <a:p>
            <a:pPr eaLnBrk="1" hangingPunct="1"/>
            <a:r>
              <a:rPr kumimoji="0" lang="en-US" altLang="zh-CN" sz="2800" dirty="0">
                <a:ea typeface="华文中宋" panose="02010600040101010101" pitchFamily="2" charset="-122"/>
              </a:rPr>
              <a:t>    else</a:t>
            </a:r>
          </a:p>
          <a:p>
            <a:pPr eaLnBrk="1" hangingPunct="1"/>
            <a:r>
              <a:rPr kumimoji="0" lang="en-US" altLang="zh-CN" sz="2800" dirty="0">
                <a:ea typeface="华文中宋" panose="02010600040101010101" pitchFamily="2" charset="-122"/>
              </a:rPr>
              <a:t>      for (int j=</a:t>
            </a:r>
            <a:r>
              <a:rPr kumimoji="0" lang="en-US" altLang="zh-CN" sz="2800" dirty="0" err="1">
                <a:ea typeface="华文中宋" panose="02010600040101010101" pitchFamily="2" charset="-122"/>
              </a:rPr>
              <a:t>i;j</a:t>
            </a:r>
            <a:r>
              <a:rPr kumimoji="0" lang="en-US" altLang="zh-CN" sz="2800" dirty="0">
                <a:ea typeface="华文中宋" panose="02010600040101010101" pitchFamily="2" charset="-122"/>
              </a:rPr>
              <a:t>&lt;=</a:t>
            </a:r>
            <a:r>
              <a:rPr kumimoji="0" lang="en-US" altLang="zh-CN" sz="2800" dirty="0" err="1">
                <a:ea typeface="华文中宋" panose="02010600040101010101" pitchFamily="2" charset="-122"/>
              </a:rPr>
              <a:t>n;j</a:t>
            </a:r>
            <a:r>
              <a:rPr kumimoji="0" lang="en-US" altLang="zh-CN" sz="2800" dirty="0">
                <a:ea typeface="华文中宋" panose="02010600040101010101" pitchFamily="2" charset="-122"/>
              </a:rPr>
              <a:t>++) {</a:t>
            </a:r>
          </a:p>
          <a:p>
            <a:pPr eaLnBrk="1" hangingPunct="1"/>
            <a:r>
              <a:rPr kumimoji="0" lang="en-US" altLang="zh-CN" sz="2800" dirty="0">
                <a:ea typeface="华文中宋" panose="02010600040101010101" pitchFamily="2" charset="-122"/>
              </a:rPr>
              <a:t>         //</a:t>
            </a:r>
            <a:r>
              <a:rPr kumimoji="0" lang="zh-CN" altLang="en-US" sz="2800" dirty="0">
                <a:ea typeface="华文中宋" panose="02010600040101010101" pitchFamily="2" charset="-122"/>
              </a:rPr>
              <a:t>此处做一些必要的工作，如计算</a:t>
            </a:r>
            <a:r>
              <a:rPr kumimoji="0" lang="en-US" altLang="zh-CN" sz="2800" dirty="0">
                <a:ea typeface="华文中宋" panose="02010600040101010101" pitchFamily="2" charset="-122"/>
              </a:rPr>
              <a:t>f1,f2[</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a:t>
            </a:r>
          </a:p>
          <a:p>
            <a:pPr eaLnBrk="1" hangingPunct="1"/>
            <a:r>
              <a:rPr kumimoji="0" lang="en-US" altLang="zh-CN" sz="2800" dirty="0">
                <a:ea typeface="华文中宋" panose="02010600040101010101" pitchFamily="2" charset="-122"/>
              </a:rPr>
              <a:t>         //</a:t>
            </a:r>
            <a:r>
              <a:rPr kumimoji="0" lang="zh-CN" altLang="en-US" sz="2800" dirty="0">
                <a:ea typeface="华文中宋" panose="02010600040101010101" pitchFamily="2" charset="-122"/>
              </a:rPr>
              <a:t>当前完成时间</a:t>
            </a:r>
            <a:r>
              <a:rPr kumimoji="0" lang="en-US" altLang="zh-CN" sz="2800" dirty="0">
                <a:ea typeface="华文中宋" panose="02010600040101010101" pitchFamily="2" charset="-122"/>
              </a:rPr>
              <a:t>f</a:t>
            </a:r>
          </a:p>
          <a:p>
            <a:pPr eaLnBrk="1" hangingPunct="1"/>
            <a:r>
              <a:rPr kumimoji="0" lang="en-US" altLang="zh-CN" sz="2800" dirty="0">
                <a:ea typeface="华文中宋" panose="02010600040101010101" pitchFamily="2" charset="-122"/>
              </a:rPr>
              <a:t>          swap(x[</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 x[j]);</a:t>
            </a:r>
          </a:p>
          <a:p>
            <a:pPr eaLnBrk="1" hangingPunct="1"/>
            <a:r>
              <a:rPr kumimoji="0" lang="en-US" altLang="zh-CN" sz="2800" dirty="0">
                <a:ea typeface="华文中宋" panose="02010600040101010101" pitchFamily="2" charset="-122"/>
              </a:rPr>
              <a:t>          if (legal(</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 //</a:t>
            </a:r>
            <a:r>
              <a:rPr kumimoji="0" lang="zh-CN" altLang="en-US" sz="2800" dirty="0">
                <a:ea typeface="华文中宋" panose="02010600040101010101" pitchFamily="2" charset="-122"/>
              </a:rPr>
              <a:t>若合法、满足限界</a:t>
            </a:r>
          </a:p>
          <a:p>
            <a:pPr eaLnBrk="1" hangingPunct="1"/>
            <a:r>
              <a:rPr kumimoji="0" lang="zh-CN" altLang="en-US" sz="2800" dirty="0">
                <a:ea typeface="华文中宋" panose="02010600040101010101" pitchFamily="2" charset="-122"/>
              </a:rPr>
              <a:t>              </a:t>
            </a:r>
            <a:r>
              <a:rPr kumimoji="0" lang="en-US" altLang="zh-CN" sz="2800" dirty="0">
                <a:ea typeface="华文中宋" panose="02010600040101010101" pitchFamily="2" charset="-122"/>
              </a:rPr>
              <a:t>backtrack(i+1);</a:t>
            </a:r>
          </a:p>
          <a:p>
            <a:pPr eaLnBrk="1" hangingPunct="1"/>
            <a:r>
              <a:rPr kumimoji="0" lang="en-US" altLang="zh-CN" sz="2800" dirty="0">
                <a:ea typeface="华文中宋" panose="02010600040101010101" pitchFamily="2" charset="-122"/>
              </a:rPr>
              <a:t>          swap(x[</a:t>
            </a:r>
            <a:r>
              <a:rPr kumimoji="0" lang="en-US" altLang="zh-CN" sz="2800" dirty="0" err="1">
                <a:ea typeface="华文中宋" panose="02010600040101010101" pitchFamily="2" charset="-122"/>
              </a:rPr>
              <a:t>i</a:t>
            </a:r>
            <a:r>
              <a:rPr kumimoji="0" lang="en-US" altLang="zh-CN" sz="2800" dirty="0">
                <a:ea typeface="华文中宋" panose="02010600040101010101" pitchFamily="2" charset="-122"/>
              </a:rPr>
              <a:t>], x[j]);</a:t>
            </a:r>
          </a:p>
          <a:p>
            <a:pPr eaLnBrk="1" hangingPunct="1"/>
            <a:r>
              <a:rPr kumimoji="0" lang="en-US" altLang="zh-CN" sz="2800" dirty="0">
                <a:ea typeface="华文中宋" panose="02010600040101010101" pitchFamily="2" charset="-122"/>
              </a:rPr>
              <a:t>       }</a:t>
            </a:r>
          </a:p>
          <a:p>
            <a:pPr eaLnBrk="1" hangingPunct="1"/>
            <a:r>
              <a:rPr kumimoji="0" lang="en-US" altLang="zh-CN" sz="2800" dirty="0">
                <a:ea typeface="华文中宋" panose="02010600040101010101" pitchFamily="2" charset="-122"/>
              </a:rPr>
              <a:t>       //</a:t>
            </a:r>
            <a:r>
              <a:rPr kumimoji="0" lang="zh-CN" altLang="en-US" sz="2800" dirty="0">
                <a:ea typeface="华文中宋" panose="02010600040101010101" pitchFamily="2" charset="-122"/>
              </a:rPr>
              <a:t>完成回退操作</a:t>
            </a:r>
            <a:endParaRPr kumimoji="0" lang="en-US" altLang="zh-CN" sz="2800" dirty="0">
              <a:ea typeface="华文中宋" panose="02010600040101010101" pitchFamily="2" charset="-122"/>
            </a:endParaRPr>
          </a:p>
          <a:p>
            <a:pPr eaLnBrk="1" hangingPunct="1"/>
            <a:r>
              <a:rPr kumimoji="0" lang="en-US" altLang="zh-CN" sz="2800" dirty="0">
                <a:ea typeface="华文中宋" panose="0201060004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8253E463-4F35-4AC7-BB45-C8B9E78927AE}"/>
                  </a:ext>
                </a:extLst>
              </p14:cNvPr>
              <p14:cNvContentPartPr/>
              <p14:nvPr/>
            </p14:nvContentPartPr>
            <p14:xfrm>
              <a:off x="1910160" y="4353120"/>
              <a:ext cx="1116360" cy="46080"/>
            </p14:xfrm>
          </p:contentPart>
        </mc:Choice>
        <mc:Fallback xmlns="">
          <p:pic>
            <p:nvPicPr>
              <p:cNvPr id="2" name="墨迹 1">
                <a:extLst>
                  <a:ext uri="{FF2B5EF4-FFF2-40B4-BE49-F238E27FC236}">
                    <a16:creationId xmlns:a16="http://schemas.microsoft.com/office/drawing/2014/main" id="{8253E463-4F35-4AC7-BB45-C8B9E78927AE}"/>
                  </a:ext>
                </a:extLst>
              </p:cNvPr>
              <p:cNvPicPr/>
              <p:nvPr/>
            </p:nvPicPr>
            <p:blipFill>
              <a:blip r:embed="rId3"/>
              <a:stretch>
                <a:fillRect/>
              </a:stretch>
            </p:blipFill>
            <p:spPr>
              <a:xfrm>
                <a:off x="1900800" y="4343760"/>
                <a:ext cx="1135080" cy="64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A786B72-10D7-490B-B752-AFEA3F133A6A}"/>
              </a:ext>
            </a:extLst>
          </p:cNvPr>
          <p:cNvSpPr>
            <a:spLocks noGrp="1" noChangeArrowheads="1"/>
          </p:cNvSpPr>
          <p:nvPr>
            <p:ph type="title"/>
          </p:nvPr>
        </p:nvSpPr>
        <p:spPr bwMode="auto">
          <a:xfrm>
            <a:off x="1143000" y="1524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t>算法实现</a:t>
            </a:r>
          </a:p>
        </p:txBody>
      </p:sp>
      <p:sp>
        <p:nvSpPr>
          <p:cNvPr id="39939" name="Rectangle 3">
            <a:extLst>
              <a:ext uri="{FF2B5EF4-FFF2-40B4-BE49-F238E27FC236}">
                <a16:creationId xmlns:a16="http://schemas.microsoft.com/office/drawing/2014/main" id="{FB56E651-208A-4D5D-9704-2CC1809EF190}"/>
              </a:ext>
            </a:extLst>
          </p:cNvPr>
          <p:cNvSpPr>
            <a:spLocks noGrp="1" noChangeArrowheads="1"/>
          </p:cNvSpPr>
          <p:nvPr>
            <p:ph type="body" idx="1"/>
          </p:nvPr>
        </p:nvSpPr>
        <p:spPr bwMode="auto">
          <a:xfrm>
            <a:off x="228600" y="457200"/>
            <a:ext cx="5029200" cy="586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0"/>
              </a:spcBef>
              <a:buFontTx/>
              <a:buNone/>
            </a:pPr>
            <a:r>
              <a:rPr kumimoji="0" lang="en-US" altLang="zh-CN" sz="2200" b="1" dirty="0"/>
              <a:t>void backtrack(int </a:t>
            </a:r>
            <a:r>
              <a:rPr kumimoji="0" lang="en-US" altLang="zh-CN" sz="2200" b="1" dirty="0" err="1"/>
              <a:t>i</a:t>
            </a:r>
            <a:r>
              <a:rPr kumimoji="0" lang="en-US" altLang="zh-CN" sz="2200" b="1" dirty="0"/>
              <a:t>){</a:t>
            </a:r>
          </a:p>
          <a:p>
            <a:pPr eaLnBrk="1" hangingPunct="1">
              <a:lnSpc>
                <a:spcPct val="90000"/>
              </a:lnSpc>
              <a:spcBef>
                <a:spcPct val="0"/>
              </a:spcBef>
              <a:buFontTx/>
              <a:buNone/>
            </a:pPr>
            <a:r>
              <a:rPr kumimoji="0" lang="en-US" altLang="zh-CN" sz="2200" b="1" dirty="0"/>
              <a:t>   if (</a:t>
            </a:r>
            <a:r>
              <a:rPr kumimoji="0" lang="en-US" altLang="zh-CN" sz="2200" b="1" dirty="0" err="1"/>
              <a:t>i</a:t>
            </a:r>
            <a:r>
              <a:rPr kumimoji="0" lang="en-US" altLang="zh-CN" sz="2200" b="1" dirty="0"/>
              <a:t> &gt; n) {</a:t>
            </a:r>
          </a:p>
          <a:p>
            <a:pPr eaLnBrk="1" hangingPunct="1">
              <a:lnSpc>
                <a:spcPct val="90000"/>
              </a:lnSpc>
              <a:spcBef>
                <a:spcPct val="0"/>
              </a:spcBef>
              <a:buFontTx/>
              <a:buNone/>
            </a:pPr>
            <a:r>
              <a:rPr kumimoji="0" lang="en-US" altLang="zh-CN" sz="2200" b="1" dirty="0"/>
              <a:t>     for (int j = 1; j &lt;= n; </a:t>
            </a:r>
            <a:r>
              <a:rPr kumimoji="0" lang="en-US" altLang="zh-CN" sz="2200" b="1" dirty="0" err="1"/>
              <a:t>j++</a:t>
            </a:r>
            <a:r>
              <a:rPr kumimoji="0" lang="en-US" altLang="zh-CN" sz="2200" b="1" dirty="0"/>
              <a:t>)</a:t>
            </a:r>
          </a:p>
          <a:p>
            <a:pPr eaLnBrk="1" hangingPunct="1">
              <a:lnSpc>
                <a:spcPct val="90000"/>
              </a:lnSpc>
              <a:spcBef>
                <a:spcPct val="0"/>
              </a:spcBef>
              <a:buFontTx/>
              <a:buNone/>
            </a:pPr>
            <a:r>
              <a:rPr kumimoji="0" lang="en-US" altLang="zh-CN" sz="2200" b="1" dirty="0"/>
              <a:t>       </a:t>
            </a:r>
            <a:r>
              <a:rPr kumimoji="0" lang="en-US" altLang="zh-CN" sz="2200" b="1" dirty="0" err="1"/>
              <a:t>bestx</a:t>
            </a:r>
            <a:r>
              <a:rPr kumimoji="0" lang="en-US" altLang="zh-CN" sz="2200" b="1" dirty="0"/>
              <a:t>[j] = x[j];  </a:t>
            </a:r>
            <a:r>
              <a:rPr kumimoji="0" lang="en-US" altLang="zh-CN" sz="2200" b="1" dirty="0" err="1"/>
              <a:t>bestf</a:t>
            </a:r>
            <a:r>
              <a:rPr kumimoji="0" lang="en-US" altLang="zh-CN" sz="2200" b="1" dirty="0"/>
              <a:t> = f;</a:t>
            </a:r>
          </a:p>
          <a:p>
            <a:pPr eaLnBrk="1" hangingPunct="1">
              <a:lnSpc>
                <a:spcPct val="90000"/>
              </a:lnSpc>
              <a:spcBef>
                <a:spcPct val="0"/>
              </a:spcBef>
              <a:buFontTx/>
              <a:buNone/>
            </a:pPr>
            <a:r>
              <a:rPr kumimoji="0" lang="en-US" altLang="zh-CN" sz="2200" b="1" dirty="0"/>
              <a:t>     }  </a:t>
            </a:r>
          </a:p>
          <a:p>
            <a:pPr eaLnBrk="1" hangingPunct="1">
              <a:lnSpc>
                <a:spcPct val="90000"/>
              </a:lnSpc>
              <a:spcBef>
                <a:spcPct val="0"/>
              </a:spcBef>
              <a:buFontTx/>
              <a:buNone/>
            </a:pPr>
            <a:r>
              <a:rPr kumimoji="0" lang="en-US" altLang="zh-CN" sz="2200" b="1" dirty="0"/>
              <a:t>    else</a:t>
            </a:r>
          </a:p>
          <a:p>
            <a:pPr eaLnBrk="1" hangingPunct="1">
              <a:lnSpc>
                <a:spcPct val="90000"/>
              </a:lnSpc>
              <a:spcBef>
                <a:spcPct val="0"/>
              </a:spcBef>
              <a:buFontTx/>
              <a:buNone/>
            </a:pPr>
            <a:r>
              <a:rPr kumimoji="0" lang="en-US" altLang="zh-CN" sz="2200" b="1" dirty="0"/>
              <a:t>      for (int j = </a:t>
            </a:r>
            <a:r>
              <a:rPr kumimoji="0" lang="en-US" altLang="zh-CN" sz="2200" b="1" dirty="0" err="1"/>
              <a:t>i</a:t>
            </a:r>
            <a:r>
              <a:rPr kumimoji="0" lang="en-US" altLang="zh-CN" sz="2200" b="1" dirty="0"/>
              <a:t>; j &lt;= n; </a:t>
            </a:r>
            <a:r>
              <a:rPr kumimoji="0" lang="en-US" altLang="zh-CN" sz="2200" b="1" dirty="0" err="1"/>
              <a:t>j++</a:t>
            </a:r>
            <a:r>
              <a:rPr kumimoji="0" lang="en-US" altLang="zh-CN" sz="2200" b="1" dirty="0"/>
              <a:t>) {</a:t>
            </a:r>
          </a:p>
          <a:p>
            <a:pPr eaLnBrk="1" hangingPunct="1">
              <a:lnSpc>
                <a:spcPct val="90000"/>
              </a:lnSpc>
              <a:spcBef>
                <a:spcPct val="0"/>
              </a:spcBef>
              <a:buFontTx/>
              <a:buNone/>
            </a:pPr>
            <a:r>
              <a:rPr kumimoji="0" lang="en-US" altLang="zh-CN" sz="2200" b="1" dirty="0"/>
              <a:t>         f1+=m[x[j]][1];</a:t>
            </a:r>
          </a:p>
          <a:p>
            <a:pPr eaLnBrk="1" hangingPunct="1">
              <a:lnSpc>
                <a:spcPct val="90000"/>
              </a:lnSpc>
              <a:spcBef>
                <a:spcPct val="0"/>
              </a:spcBef>
              <a:buFontTx/>
              <a:buNone/>
            </a:pPr>
            <a:r>
              <a:rPr kumimoji="0" lang="en-US" altLang="zh-CN" sz="2200" b="1" dirty="0"/>
              <a:t>         f2[</a:t>
            </a:r>
            <a:r>
              <a:rPr kumimoji="0" lang="en-US" altLang="zh-CN" sz="2200" b="1" dirty="0" err="1"/>
              <a:t>i</a:t>
            </a:r>
            <a:r>
              <a:rPr kumimoji="0" lang="en-US" altLang="zh-CN" sz="2200" b="1" dirty="0"/>
              <a:t>]=((f2[i-1]&gt;f1)?f2[i-1]:f1)    +m[x[j]][2];</a:t>
            </a:r>
          </a:p>
          <a:p>
            <a:pPr eaLnBrk="1" hangingPunct="1">
              <a:lnSpc>
                <a:spcPct val="90000"/>
              </a:lnSpc>
              <a:spcBef>
                <a:spcPct val="0"/>
              </a:spcBef>
              <a:buFontTx/>
              <a:buNone/>
            </a:pPr>
            <a:r>
              <a:rPr kumimoji="0" lang="en-US" altLang="zh-CN" sz="2200" b="1" dirty="0"/>
              <a:t>         f+=f2[</a:t>
            </a:r>
            <a:r>
              <a:rPr kumimoji="0" lang="en-US" altLang="zh-CN" sz="2200" b="1" dirty="0" err="1"/>
              <a:t>i</a:t>
            </a:r>
            <a:r>
              <a:rPr kumimoji="0" lang="en-US" altLang="zh-CN" sz="2200" b="1" dirty="0"/>
              <a:t>];</a:t>
            </a:r>
          </a:p>
          <a:p>
            <a:pPr eaLnBrk="1" hangingPunct="1">
              <a:lnSpc>
                <a:spcPct val="90000"/>
              </a:lnSpc>
              <a:spcBef>
                <a:spcPct val="0"/>
              </a:spcBef>
              <a:buFontTx/>
              <a:buNone/>
            </a:pPr>
            <a:r>
              <a:rPr kumimoji="0" lang="en-US" altLang="zh-CN" sz="2200" b="1" dirty="0"/>
              <a:t>         if (f &lt; </a:t>
            </a:r>
            <a:r>
              <a:rPr kumimoji="0" lang="en-US" altLang="zh-CN" sz="2200" b="1" dirty="0" err="1"/>
              <a:t>bestf</a:t>
            </a:r>
            <a:r>
              <a:rPr kumimoji="0" lang="en-US" altLang="zh-CN" sz="2200" b="1" dirty="0"/>
              <a:t>) {</a:t>
            </a:r>
          </a:p>
          <a:p>
            <a:pPr eaLnBrk="1" hangingPunct="1">
              <a:lnSpc>
                <a:spcPct val="90000"/>
              </a:lnSpc>
              <a:spcBef>
                <a:spcPct val="0"/>
              </a:spcBef>
              <a:buFontTx/>
              <a:buNone/>
            </a:pPr>
            <a:r>
              <a:rPr kumimoji="0" lang="en-US" altLang="zh-CN" sz="2200" b="1" dirty="0"/>
              <a:t>            swap(</a:t>
            </a:r>
            <a:r>
              <a:rPr kumimoji="0" lang="en-US" altLang="zh-CN" sz="2200" b="1" dirty="0" err="1"/>
              <a:t>x,i,j</a:t>
            </a:r>
            <a:r>
              <a:rPr kumimoji="0" lang="en-US" altLang="zh-CN" sz="2200" b="1" dirty="0"/>
              <a:t>);</a:t>
            </a:r>
          </a:p>
          <a:p>
            <a:pPr eaLnBrk="1" hangingPunct="1">
              <a:lnSpc>
                <a:spcPct val="90000"/>
              </a:lnSpc>
              <a:spcBef>
                <a:spcPct val="0"/>
              </a:spcBef>
              <a:buFontTx/>
              <a:buNone/>
            </a:pPr>
            <a:r>
              <a:rPr kumimoji="0" lang="en-US" altLang="zh-CN" sz="2200" b="1" dirty="0"/>
              <a:t>            backtrack(i+1);</a:t>
            </a:r>
          </a:p>
          <a:p>
            <a:pPr eaLnBrk="1" hangingPunct="1">
              <a:lnSpc>
                <a:spcPct val="90000"/>
              </a:lnSpc>
              <a:spcBef>
                <a:spcPct val="0"/>
              </a:spcBef>
              <a:buFontTx/>
              <a:buNone/>
            </a:pPr>
            <a:r>
              <a:rPr kumimoji="0" lang="en-US" altLang="zh-CN" sz="2200" b="1" dirty="0"/>
              <a:t>            swap(</a:t>
            </a:r>
            <a:r>
              <a:rPr kumimoji="0" lang="en-US" altLang="zh-CN" sz="2200" b="1" dirty="0" err="1"/>
              <a:t>x,i,j</a:t>
            </a:r>
            <a:r>
              <a:rPr kumimoji="0" lang="en-US" altLang="zh-CN" sz="2200" b="1" dirty="0"/>
              <a:t>);</a:t>
            </a:r>
          </a:p>
          <a:p>
            <a:pPr eaLnBrk="1" hangingPunct="1">
              <a:lnSpc>
                <a:spcPct val="90000"/>
              </a:lnSpc>
              <a:spcBef>
                <a:spcPct val="0"/>
              </a:spcBef>
              <a:buFontTx/>
              <a:buNone/>
            </a:pPr>
            <a:r>
              <a:rPr kumimoji="0" lang="en-US" altLang="zh-CN" sz="2200" b="1" dirty="0"/>
              <a:t>         }</a:t>
            </a:r>
          </a:p>
          <a:p>
            <a:pPr eaLnBrk="1" hangingPunct="1">
              <a:lnSpc>
                <a:spcPct val="90000"/>
              </a:lnSpc>
              <a:spcBef>
                <a:spcPct val="0"/>
              </a:spcBef>
              <a:buFontTx/>
              <a:buNone/>
            </a:pPr>
            <a:r>
              <a:rPr kumimoji="0" lang="en-US" altLang="zh-CN" sz="2200" b="1" dirty="0"/>
              <a:t>         f1-=m[x[j]][1];     f-=f2[</a:t>
            </a:r>
            <a:r>
              <a:rPr kumimoji="0" lang="en-US" altLang="zh-CN" sz="2200" b="1" dirty="0" err="1"/>
              <a:t>i</a:t>
            </a:r>
            <a:r>
              <a:rPr kumimoji="0" lang="en-US" altLang="zh-CN" sz="2200" b="1" dirty="0"/>
              <a:t>];</a:t>
            </a:r>
          </a:p>
          <a:p>
            <a:pPr eaLnBrk="1" hangingPunct="1">
              <a:lnSpc>
                <a:spcPct val="90000"/>
              </a:lnSpc>
              <a:spcBef>
                <a:spcPct val="0"/>
              </a:spcBef>
              <a:buFontTx/>
              <a:buNone/>
            </a:pPr>
            <a:r>
              <a:rPr kumimoji="0" lang="en-US" altLang="zh-CN" sz="2200" b="1" dirty="0"/>
              <a:t>      }</a:t>
            </a:r>
          </a:p>
          <a:p>
            <a:pPr eaLnBrk="1" hangingPunct="1">
              <a:lnSpc>
                <a:spcPct val="90000"/>
              </a:lnSpc>
              <a:spcBef>
                <a:spcPct val="0"/>
              </a:spcBef>
              <a:buFontTx/>
              <a:buNone/>
            </a:pPr>
            <a:r>
              <a:rPr kumimoji="0" lang="en-US" altLang="zh-CN" sz="2200" b="1" dirty="0"/>
              <a:t> }</a:t>
            </a:r>
          </a:p>
        </p:txBody>
      </p:sp>
      <p:sp>
        <p:nvSpPr>
          <p:cNvPr id="39940" name="Text Box 4">
            <a:extLst>
              <a:ext uri="{FF2B5EF4-FFF2-40B4-BE49-F238E27FC236}">
                <a16:creationId xmlns:a16="http://schemas.microsoft.com/office/drawing/2014/main" id="{AD01BAED-0575-47A5-90FC-3542FF1CA670}"/>
              </a:ext>
            </a:extLst>
          </p:cNvPr>
          <p:cNvSpPr txBox="1">
            <a:spLocks noChangeArrowheads="1"/>
          </p:cNvSpPr>
          <p:nvPr/>
        </p:nvSpPr>
        <p:spPr bwMode="auto">
          <a:xfrm>
            <a:off x="4643438" y="908050"/>
            <a:ext cx="4500562" cy="3477875"/>
          </a:xfrm>
          <a:prstGeom prst="rect">
            <a:avLst/>
          </a:prstGeom>
          <a:solidFill>
            <a:schemeClr val="hlink"/>
          </a:solidFill>
          <a:ln w="50800">
            <a:solidFill>
              <a:srgbClr val="FF6600"/>
            </a:solidFill>
            <a:miter lim="800000"/>
            <a:headEnd/>
            <a:tailEnd/>
          </a:ln>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0" dirty="0">
                <a:ea typeface="华文中宋" panose="02010600040101010101" pitchFamily="2" charset="-122"/>
              </a:rPr>
              <a:t>有关的变量定义，可用类定义</a:t>
            </a:r>
          </a:p>
          <a:p>
            <a:pPr eaLnBrk="1" hangingPunct="1"/>
            <a:r>
              <a:rPr kumimoji="0" lang="zh-CN" altLang="en-US" sz="2000" dirty="0">
                <a:ea typeface="华文中宋" panose="02010600040101010101" pitchFamily="2" charset="-122"/>
              </a:rPr>
              <a:t> </a:t>
            </a:r>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int  n,      // </a:t>
            </a:r>
            <a:r>
              <a:rPr kumimoji="0" lang="zh-CN" altLang="en-US" sz="2000" b="0" dirty="0">
                <a:ea typeface="华文中宋" panose="02010600040101010101" pitchFamily="2" charset="-122"/>
              </a:rPr>
              <a:t>作业数</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f1,   // </a:t>
            </a:r>
            <a:r>
              <a:rPr kumimoji="0" lang="zh-CN" altLang="en-US" sz="2000" b="0" dirty="0">
                <a:ea typeface="华文中宋" panose="02010600040101010101" pitchFamily="2" charset="-122"/>
              </a:rPr>
              <a:t>机器</a:t>
            </a:r>
            <a:r>
              <a:rPr kumimoji="0" lang="en-US" altLang="zh-CN" sz="2000" b="0" dirty="0">
                <a:ea typeface="华文中宋" panose="02010600040101010101" pitchFamily="2" charset="-122"/>
              </a:rPr>
              <a:t>1</a:t>
            </a:r>
            <a:r>
              <a:rPr kumimoji="0" lang="zh-CN" altLang="en-US" sz="2000" b="0" dirty="0">
                <a:ea typeface="华文中宋" panose="02010600040101010101" pitchFamily="2" charset="-122"/>
              </a:rPr>
              <a:t>完成处理时间</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f,    // </a:t>
            </a:r>
            <a:r>
              <a:rPr kumimoji="0" lang="zh-CN" altLang="en-US" sz="2000" b="0" dirty="0">
                <a:ea typeface="华文中宋" panose="02010600040101010101" pitchFamily="2" charset="-122"/>
              </a:rPr>
              <a:t>完成时间和</a:t>
            </a:r>
          </a:p>
          <a:p>
            <a:pPr eaLnBrk="1" hangingPunct="1"/>
            <a:r>
              <a:rPr kumimoji="0" lang="zh-CN" altLang="en-US" sz="2000" b="0" dirty="0">
                <a:ea typeface="华文中宋" panose="02010600040101010101" pitchFamily="2" charset="-122"/>
              </a:rPr>
              <a:t>          </a:t>
            </a:r>
            <a:r>
              <a:rPr kumimoji="0" lang="en-US" altLang="zh-CN" sz="2000" b="0" dirty="0" err="1">
                <a:ea typeface="华文中宋" panose="02010600040101010101" pitchFamily="2" charset="-122"/>
              </a:rPr>
              <a:t>bestf</a:t>
            </a:r>
            <a:r>
              <a:rPr kumimoji="0" lang="en-US" altLang="zh-CN" sz="2000" b="0" dirty="0">
                <a:ea typeface="华文中宋" panose="02010600040101010101" pitchFamily="2" charset="-122"/>
              </a:rPr>
              <a:t>;   // </a:t>
            </a:r>
            <a:r>
              <a:rPr kumimoji="0" lang="zh-CN" altLang="en-US" sz="2000" b="0" dirty="0">
                <a:ea typeface="华文中宋" panose="02010600040101010101" pitchFamily="2" charset="-122"/>
              </a:rPr>
              <a:t>当前最优值</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int **m;   // </a:t>
            </a:r>
            <a:r>
              <a:rPr kumimoji="0" lang="zh-CN" altLang="en-US" sz="2000" b="0" dirty="0">
                <a:ea typeface="华文中宋" panose="02010600040101010101" pitchFamily="2" charset="-122"/>
              </a:rPr>
              <a:t>各作业所需的处理时间</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int *x;    // </a:t>
            </a:r>
            <a:r>
              <a:rPr kumimoji="0" lang="zh-CN" altLang="en-US" sz="2000" b="0" dirty="0">
                <a:ea typeface="华文中宋" panose="02010600040101010101" pitchFamily="2" charset="-122"/>
              </a:rPr>
              <a:t>当前作业调度</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int *</a:t>
            </a:r>
            <a:r>
              <a:rPr kumimoji="0" lang="en-US" altLang="zh-CN" sz="2000" b="0" dirty="0" err="1">
                <a:ea typeface="华文中宋" panose="02010600040101010101" pitchFamily="2" charset="-122"/>
              </a:rPr>
              <a:t>bestx</a:t>
            </a:r>
            <a:r>
              <a:rPr kumimoji="0" lang="en-US" altLang="zh-CN" sz="2000" b="0" dirty="0">
                <a:ea typeface="华文中宋" panose="02010600040101010101" pitchFamily="2" charset="-122"/>
              </a:rPr>
              <a:t>;  // </a:t>
            </a:r>
            <a:r>
              <a:rPr kumimoji="0" lang="zh-CN" altLang="en-US" sz="2000" b="0" dirty="0">
                <a:ea typeface="华文中宋" panose="02010600040101010101" pitchFamily="2" charset="-122"/>
              </a:rPr>
              <a:t>当前最优作业调度</a:t>
            </a:r>
          </a:p>
          <a:p>
            <a:pPr eaLnBrk="1" hangingPunct="1"/>
            <a:r>
              <a:rPr kumimoji="0" lang="zh-CN" altLang="en-US" sz="2000" b="0" dirty="0">
                <a:ea typeface="华文中宋" panose="02010600040101010101" pitchFamily="2" charset="-122"/>
              </a:rPr>
              <a:t>          </a:t>
            </a:r>
            <a:r>
              <a:rPr kumimoji="0" lang="en-US" altLang="zh-CN" sz="2000" b="0" dirty="0">
                <a:ea typeface="华文中宋" panose="02010600040101010101" pitchFamily="2" charset="-122"/>
              </a:rPr>
              <a:t>int *f2;   // </a:t>
            </a:r>
            <a:r>
              <a:rPr kumimoji="0" lang="zh-CN" altLang="en-US" sz="2000" b="0" dirty="0">
                <a:ea typeface="华文中宋" panose="02010600040101010101" pitchFamily="2" charset="-122"/>
              </a:rPr>
              <a:t>机器</a:t>
            </a:r>
            <a:r>
              <a:rPr kumimoji="0" lang="en-US" altLang="zh-CN" sz="2000" b="0" dirty="0">
                <a:ea typeface="华文中宋" panose="02010600040101010101" pitchFamily="2" charset="-122"/>
              </a:rPr>
              <a:t>2</a:t>
            </a:r>
            <a:r>
              <a:rPr kumimoji="0" lang="zh-CN" altLang="en-US" sz="2000" b="0" dirty="0">
                <a:ea typeface="华文中宋" panose="02010600040101010101" pitchFamily="2" charset="-122"/>
              </a:rPr>
              <a:t>完成处理</a:t>
            </a:r>
          </a:p>
          <a:p>
            <a:pPr eaLnBrk="1" hangingPunct="1"/>
            <a:endParaRPr kumimoji="0" lang="en-US" altLang="zh-CN" sz="2000" b="0" dirty="0">
              <a:ea typeface="华文中宋" panose="02010600040101010101" pitchFamily="2" charset="-122"/>
            </a:endParaRPr>
          </a:p>
        </p:txBody>
      </p:sp>
      <p:grpSp>
        <p:nvGrpSpPr>
          <p:cNvPr id="39941" name="Group 21">
            <a:extLst>
              <a:ext uri="{FF2B5EF4-FFF2-40B4-BE49-F238E27FC236}">
                <a16:creationId xmlns:a16="http://schemas.microsoft.com/office/drawing/2014/main" id="{53118B37-CEFB-4ACA-ABCA-C7267C12195A}"/>
              </a:ext>
            </a:extLst>
          </p:cNvPr>
          <p:cNvGrpSpPr>
            <a:grpSpLocks/>
          </p:cNvGrpSpPr>
          <p:nvPr/>
        </p:nvGrpSpPr>
        <p:grpSpPr bwMode="auto">
          <a:xfrm>
            <a:off x="4500563" y="5516563"/>
            <a:ext cx="4392612" cy="838200"/>
            <a:chOff x="2835" y="3475"/>
            <a:chExt cx="2767" cy="528"/>
          </a:xfrm>
        </p:grpSpPr>
        <p:sp>
          <p:nvSpPr>
            <p:cNvPr id="39942" name="Text Box 6">
              <a:extLst>
                <a:ext uri="{FF2B5EF4-FFF2-40B4-BE49-F238E27FC236}">
                  <a16:creationId xmlns:a16="http://schemas.microsoft.com/office/drawing/2014/main" id="{4E77FD88-2D11-40AB-9044-D28E4499A3C4}"/>
                </a:ext>
              </a:extLst>
            </p:cNvPr>
            <p:cNvSpPr txBox="1">
              <a:spLocks noChangeArrowheads="1"/>
            </p:cNvSpPr>
            <p:nvPr/>
          </p:nvSpPr>
          <p:spPr bwMode="auto">
            <a:xfrm>
              <a:off x="3787" y="3603"/>
              <a:ext cx="17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f=          </a:t>
              </a:r>
              <a:endParaRPr kumimoji="0" lang="en-US" altLang="zh-CN" b="0" baseline="-25000" dirty="0">
                <a:latin typeface="Arial" panose="020B0604020202020204" pitchFamily="34" charset="0"/>
                <a:ea typeface="华文中宋" panose="02010600040101010101" pitchFamily="2" charset="-122"/>
              </a:endParaRPr>
            </a:p>
          </p:txBody>
        </p:sp>
        <p:graphicFrame>
          <p:nvGraphicFramePr>
            <p:cNvPr id="39943" name="Object 16">
              <a:extLst>
                <a:ext uri="{FF2B5EF4-FFF2-40B4-BE49-F238E27FC236}">
                  <a16:creationId xmlns:a16="http://schemas.microsoft.com/office/drawing/2014/main" id="{CF62F9DB-90C1-4EDA-8279-098F64F4F678}"/>
                </a:ext>
              </a:extLst>
            </p:cNvPr>
            <p:cNvGraphicFramePr>
              <a:graphicFrameLocks noChangeAspect="1"/>
            </p:cNvGraphicFramePr>
            <p:nvPr/>
          </p:nvGraphicFramePr>
          <p:xfrm>
            <a:off x="4059" y="3475"/>
            <a:ext cx="1543" cy="528"/>
          </p:xfrm>
          <a:graphic>
            <a:graphicData uri="http://schemas.openxmlformats.org/presentationml/2006/ole">
              <mc:AlternateContent xmlns:mc="http://schemas.openxmlformats.org/markup-compatibility/2006">
                <mc:Choice xmlns:v="urn:schemas-microsoft-com:vml" Requires="v">
                  <p:oleObj name="公式" r:id="rId2" imgW="1028254" imgH="431613" progId="Equation.3">
                    <p:embed/>
                  </p:oleObj>
                </mc:Choice>
                <mc:Fallback>
                  <p:oleObj name="公式" r:id="rId2" imgW="1028254" imgH="431613"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9" y="3475"/>
                          <a:ext cx="1543"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4" name="Text Box 18">
              <a:extLst>
                <a:ext uri="{FF2B5EF4-FFF2-40B4-BE49-F238E27FC236}">
                  <a16:creationId xmlns:a16="http://schemas.microsoft.com/office/drawing/2014/main" id="{A019CBBD-348B-45F7-A8F3-554F9347E5E9}"/>
                </a:ext>
              </a:extLst>
            </p:cNvPr>
            <p:cNvSpPr txBox="1">
              <a:spLocks noChangeArrowheads="1"/>
            </p:cNvSpPr>
            <p:nvPr/>
          </p:nvSpPr>
          <p:spPr bwMode="auto">
            <a:xfrm>
              <a:off x="2835" y="3587"/>
              <a:ext cx="1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0000"/>
                  </a:solidFill>
                  <a:ea typeface="华文中宋" panose="02010600040101010101" pitchFamily="2" charset="-122"/>
                </a:rPr>
                <a:t>限界</a:t>
              </a:r>
              <a:r>
                <a:rPr lang="zh-CN" altLang="en-US" dirty="0">
                  <a:solidFill>
                    <a:srgbClr val="FF0000"/>
                  </a:solidFill>
                  <a:latin typeface="华文中宋" panose="02010600040101010101" pitchFamily="2" charset="-122"/>
                  <a:ea typeface="华文中宋" panose="02010600040101010101" pitchFamily="2" charset="-122"/>
                </a:rPr>
                <a:t>函数：</a:t>
              </a:r>
            </a:p>
          </p:txBody>
        </p:sp>
      </p:grpSp>
      <mc:AlternateContent xmlns:mc="http://schemas.openxmlformats.org/markup-compatibility/2006">
        <mc:Choice xmlns:p14="http://schemas.microsoft.com/office/powerpoint/2010/main" Requires="p14">
          <p:contentPart p14:bwMode="auto" r:id="rId4">
            <p14:nvContentPartPr>
              <p14:cNvPr id="2" name="墨迹 1">
                <a:extLst>
                  <a:ext uri="{FF2B5EF4-FFF2-40B4-BE49-F238E27FC236}">
                    <a16:creationId xmlns:a16="http://schemas.microsoft.com/office/drawing/2014/main" id="{4195D3EE-D0E7-4017-9356-B2063B819284}"/>
                  </a:ext>
                </a:extLst>
              </p14:cNvPr>
              <p14:cNvContentPartPr/>
              <p14:nvPr/>
            </p14:nvContentPartPr>
            <p14:xfrm>
              <a:off x="645840" y="3070800"/>
              <a:ext cx="3657960" cy="1058040"/>
            </p14:xfrm>
          </p:contentPart>
        </mc:Choice>
        <mc:Fallback>
          <p:pic>
            <p:nvPicPr>
              <p:cNvPr id="2" name="墨迹 1">
                <a:extLst>
                  <a:ext uri="{FF2B5EF4-FFF2-40B4-BE49-F238E27FC236}">
                    <a16:creationId xmlns:a16="http://schemas.microsoft.com/office/drawing/2014/main" id="{4195D3EE-D0E7-4017-9356-B2063B819284}"/>
                  </a:ext>
                </a:extLst>
              </p:cNvPr>
              <p:cNvPicPr/>
              <p:nvPr/>
            </p:nvPicPr>
            <p:blipFill>
              <a:blip r:embed="rId5"/>
              <a:stretch>
                <a:fillRect/>
              </a:stretch>
            </p:blipFill>
            <p:spPr>
              <a:xfrm>
                <a:off x="636480" y="3061440"/>
                <a:ext cx="3676680" cy="1076760"/>
              </a:xfrm>
              <a:prstGeom prst="rect">
                <a:avLst/>
              </a:prstGeom>
            </p:spPr>
          </p:pic>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33AA665-64B2-4953-A988-A44442F3558D}"/>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200" b="1" dirty="0">
                <a:latin typeface="华文中宋" panose="02010600040101010101" pitchFamily="2" charset="-122"/>
              </a:rPr>
              <a:t>初始化、调用、算法复杂性</a:t>
            </a:r>
          </a:p>
        </p:txBody>
      </p:sp>
      <p:sp>
        <p:nvSpPr>
          <p:cNvPr id="40963" name="Rectangle 3">
            <a:extLst>
              <a:ext uri="{FF2B5EF4-FFF2-40B4-BE49-F238E27FC236}">
                <a16:creationId xmlns:a16="http://schemas.microsoft.com/office/drawing/2014/main" id="{49936FEC-4171-4479-A669-E012B000FB3C}"/>
              </a:ext>
            </a:extLst>
          </p:cNvPr>
          <p:cNvSpPr>
            <a:spLocks noGrp="1" noChangeArrowheads="1"/>
          </p:cNvSpPr>
          <p:nvPr>
            <p:ph type="body" idx="1"/>
          </p:nvPr>
        </p:nvSpPr>
        <p:spPr bwMode="auto">
          <a:xfrm>
            <a:off x="685800" y="1600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华文中宋" panose="02010600040101010101" pitchFamily="2" charset="-122"/>
              </a:rPr>
              <a:t>初始作业队列</a:t>
            </a:r>
            <a:r>
              <a:rPr lang="en-US" altLang="zh-CN" sz="2800" b="1" dirty="0">
                <a:latin typeface="华文中宋" panose="02010600040101010101" pitchFamily="2" charset="-122"/>
              </a:rPr>
              <a:t>1234</a:t>
            </a:r>
            <a:r>
              <a:rPr lang="en-US" altLang="zh-CN" sz="2800" b="1" dirty="0"/>
              <a:t>…</a:t>
            </a:r>
            <a:r>
              <a:rPr lang="en-US" altLang="zh-CN" sz="2800" b="1" dirty="0">
                <a:latin typeface="华文中宋" panose="02010600040101010101" pitchFamily="2" charset="-122"/>
              </a:rPr>
              <a:t>n</a:t>
            </a:r>
            <a:r>
              <a:rPr lang="zh-CN" altLang="en-US" sz="2800" b="1" dirty="0">
                <a:latin typeface="华文中宋" panose="02010600040101010101" pitchFamily="2" charset="-122"/>
              </a:rPr>
              <a:t>，</a:t>
            </a:r>
            <a:r>
              <a:rPr lang="en-US" altLang="zh-CN" sz="2800" b="1" dirty="0" err="1">
                <a:latin typeface="华文中宋" panose="02010600040101010101" pitchFamily="2" charset="-122"/>
              </a:rPr>
              <a:t>bestf</a:t>
            </a:r>
            <a:r>
              <a:rPr lang="en-US" altLang="zh-CN" sz="2800" b="1" dirty="0">
                <a:latin typeface="华文中宋" panose="02010600040101010101" pitchFamily="2" charset="-122"/>
              </a:rPr>
              <a:t>=</a:t>
            </a:r>
            <a:r>
              <a:rPr lang="zh-CN" altLang="en-US" sz="2800" b="1" dirty="0">
                <a:latin typeface="华文中宋" panose="02010600040101010101" pitchFamily="2" charset="-122"/>
              </a:rPr>
              <a:t>无穷大</a:t>
            </a:r>
            <a:endParaRPr lang="en-US" altLang="zh-CN" sz="2800" b="1" dirty="0">
              <a:latin typeface="华文中宋" panose="02010600040101010101" pitchFamily="2" charset="-122"/>
            </a:endParaRPr>
          </a:p>
          <a:p>
            <a:pPr eaLnBrk="1" hangingPunct="1"/>
            <a:r>
              <a:rPr kumimoji="0" lang="zh-CN" altLang="en-US" sz="2800" b="1" dirty="0">
                <a:latin typeface="华文中宋" panose="02010600040101010101" pitchFamily="2" charset="-122"/>
              </a:rPr>
              <a:t>调用</a:t>
            </a:r>
            <a:r>
              <a:rPr kumimoji="0" lang="en-US" altLang="zh-CN" sz="2800" b="1" dirty="0">
                <a:latin typeface="华文中宋" panose="02010600040101010101" pitchFamily="2" charset="-122"/>
              </a:rPr>
              <a:t>Backtrack(1)</a:t>
            </a:r>
            <a:endParaRPr lang="en-US" altLang="zh-CN" sz="2800" b="1" dirty="0">
              <a:latin typeface="华文中宋" panose="02010600040101010101" pitchFamily="2" charset="-122"/>
            </a:endParaRPr>
          </a:p>
          <a:p>
            <a:pPr eaLnBrk="1" hangingPunct="1"/>
            <a:r>
              <a:rPr lang="zh-CN" altLang="en-US" sz="2800" b="1" dirty="0">
                <a:latin typeface="华文中宋" panose="02010600040101010101" pitchFamily="2" charset="-122"/>
              </a:rPr>
              <a:t>时间复杂性</a:t>
            </a:r>
            <a:r>
              <a:rPr lang="en-US" altLang="zh-CN" sz="2800" b="1" dirty="0">
                <a:latin typeface="华文中宋" panose="02010600040101010101" pitchFamily="2" charset="-122"/>
              </a:rPr>
              <a:t>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847D0638-9115-4088-B0A2-992F6A98CDCB}"/>
              </a:ext>
            </a:extLst>
          </p:cNvPr>
          <p:cNvSpPr>
            <a:spLocks noGrp="1" noChangeArrowheads="1"/>
          </p:cNvSpPr>
          <p:nvPr>
            <p:ph type="title"/>
          </p:nvPr>
        </p:nvSpPr>
        <p:spPr bwMode="auto">
          <a:xfrm>
            <a:off x="685800" y="609600"/>
            <a:ext cx="7772400" cy="1066800"/>
          </a:xfrm>
          <a:ln>
            <a:miter lim="800000"/>
            <a:headEnd/>
            <a:tailEnd/>
          </a:ln>
        </p:spPr>
        <p:txBody>
          <a:bodyPr vert="horz" wrap="square" lIns="91440" tIns="45720" rIns="91440" bIns="45720" numCol="1" anchor="t" anchorCtr="0" compatLnSpc="1">
            <a:prstTxWarp prst="textNoShape">
              <a:avLst/>
            </a:prstTxWarp>
          </a:bodyPr>
          <a:lstStyle/>
          <a:p>
            <a:pPr algn="l" eaLnBrk="1" hangingPunct="1">
              <a:defRPr/>
            </a:pPr>
            <a:r>
              <a:rPr lang="zh-CN" altLang="en-US" sz="2800" b="1" dirty="0">
                <a:latin typeface="华文中宋" panose="02010600040101010101" pitchFamily="2" charset="-122"/>
                <a:ea typeface="黑体" pitchFamily="2" charset="-122"/>
              </a:rPr>
              <a:t>练习：确定</a:t>
            </a:r>
            <a:r>
              <a:rPr lang="zh-CN" altLang="en-US" sz="2800" b="1" dirty="0">
                <a:solidFill>
                  <a:srgbClr val="FF0000"/>
                </a:solidFill>
                <a:effectLst>
                  <a:outerShdw blurRad="38100" dist="38100" dir="2700000" algn="tl">
                    <a:srgbClr val="C0C0C0"/>
                  </a:outerShdw>
                </a:effectLst>
                <a:ea typeface="黑体" pitchFamily="2" charset="-122"/>
              </a:rPr>
              <a:t>批处理作业</a:t>
            </a:r>
            <a:r>
              <a:rPr kumimoji="0" lang="zh-CN" altLang="en-US" sz="2800" b="1" dirty="0">
                <a:solidFill>
                  <a:schemeClr val="tx1"/>
                </a:solidFill>
                <a:latin typeface="黑体" pitchFamily="2" charset="-122"/>
                <a:ea typeface="黑体" pitchFamily="2" charset="-122"/>
              </a:rPr>
              <a:t>最佳作业调度方案，使其完成时间和达到最小。</a:t>
            </a:r>
          </a:p>
        </p:txBody>
      </p:sp>
      <p:graphicFrame>
        <p:nvGraphicFramePr>
          <p:cNvPr id="78888" name="Group 40">
            <a:extLst>
              <a:ext uri="{FF2B5EF4-FFF2-40B4-BE49-F238E27FC236}">
                <a16:creationId xmlns:a16="http://schemas.microsoft.com/office/drawing/2014/main" id="{74CDF8C4-BA71-4D55-AAF5-F69546200896}"/>
              </a:ext>
            </a:extLst>
          </p:cNvPr>
          <p:cNvGraphicFramePr>
            <a:graphicFrameLocks noGrp="1"/>
          </p:cNvGraphicFramePr>
          <p:nvPr/>
        </p:nvGraphicFramePr>
        <p:xfrm>
          <a:off x="1524000" y="1930400"/>
          <a:ext cx="5486400" cy="3016250"/>
        </p:xfrm>
        <a:graphic>
          <a:graphicData uri="http://schemas.openxmlformats.org/drawingml/2006/table">
            <a:tbl>
              <a:tblPr/>
              <a:tblGrid>
                <a:gridCol w="1828800">
                  <a:extLst>
                    <a:ext uri="{9D8B030D-6E8A-4147-A177-3AD203B41FA5}">
                      <a16:colId xmlns:a16="http://schemas.microsoft.com/office/drawing/2014/main" val="1296233371"/>
                    </a:ext>
                  </a:extLst>
                </a:gridCol>
                <a:gridCol w="1828800">
                  <a:extLst>
                    <a:ext uri="{9D8B030D-6E8A-4147-A177-3AD203B41FA5}">
                      <a16:colId xmlns:a16="http://schemas.microsoft.com/office/drawing/2014/main" val="1136350044"/>
                    </a:ext>
                  </a:extLst>
                </a:gridCol>
                <a:gridCol w="1828800">
                  <a:extLst>
                    <a:ext uri="{9D8B030D-6E8A-4147-A177-3AD203B41FA5}">
                      <a16:colId xmlns:a16="http://schemas.microsoft.com/office/drawing/2014/main" val="3861433937"/>
                    </a:ext>
                  </a:extLst>
                </a:gridCol>
              </a:tblGrid>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err="1">
                          <a:ln>
                            <a:noFill/>
                          </a:ln>
                          <a:solidFill>
                            <a:srgbClr val="0000CC"/>
                          </a:solidFill>
                          <a:effectLst/>
                          <a:latin typeface="Arial" panose="020B0604020202020204" pitchFamily="34" charset="0"/>
                          <a:ea typeface="华文中宋" panose="02010600040101010101" pitchFamily="2" charset="-122"/>
                        </a:rPr>
                        <a:t>t</a:t>
                      </a:r>
                      <a:r>
                        <a:rPr kumimoji="0" lang="en-US" altLang="zh-CN" sz="2000" b="1" i="0" u="none" strike="noStrike" cap="none" normalizeH="0" baseline="-25000" dirty="0" err="1">
                          <a:ln>
                            <a:noFill/>
                          </a:ln>
                          <a:solidFill>
                            <a:srgbClr val="0000CC"/>
                          </a:solidFill>
                          <a:effectLst/>
                          <a:latin typeface="Arial" panose="020B0604020202020204" pitchFamily="34" charset="0"/>
                          <a:ea typeface="华文中宋" panose="02010600040101010101" pitchFamily="2" charset="-122"/>
                        </a:rPr>
                        <a:t>ji</a:t>
                      </a:r>
                      <a:endPar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endParaRP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M1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M2</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7287872"/>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3255947"/>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2</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5</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0559022"/>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3</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7</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7667932"/>
                  </a:ext>
                </a:extLst>
              </a:tr>
              <a:tr h="603250">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J</a:t>
                      </a:r>
                      <a:r>
                        <a:rPr kumimoji="0" lang="en-US" altLang="zh-CN" sz="2000" b="1" i="0" u="none" strike="noStrike" cap="none" normalizeH="0" baseline="-25000" dirty="0">
                          <a:ln>
                            <a:noFill/>
                          </a:ln>
                          <a:solidFill>
                            <a:srgbClr val="0000CC"/>
                          </a:solidFill>
                          <a:effectLst/>
                          <a:latin typeface="Arial" panose="020B0604020202020204" pitchFamily="34" charset="0"/>
                          <a:ea typeface="华文中宋" panose="02010600040101010101" pitchFamily="2" charset="-122"/>
                        </a:rPr>
                        <a:t>4</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rgbClr val="0000CC"/>
                          </a:solidFill>
                          <a:effectLst/>
                          <a:latin typeface="Times New Roman" panose="02020603050405020304" pitchFamily="18" charset="0"/>
                          <a:ea typeface="华文中宋" panose="02010600040101010101" pitchFamily="2" charset="-122"/>
                        </a:rPr>
                        <a:t>8</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76189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8888"/>
                                        </p:tgtEl>
                                        <p:attrNameLst>
                                          <p:attrName>style.visibility</p:attrName>
                                        </p:attrNameLst>
                                      </p:cBhvr>
                                      <p:to>
                                        <p:strVal val="visible"/>
                                      </p:to>
                                    </p:set>
                                    <p:anim calcmode="lin" valueType="num">
                                      <p:cBhvr additive="base">
                                        <p:cTn id="7" dur="500" fill="hold"/>
                                        <p:tgtEl>
                                          <p:spTgt spid="78888"/>
                                        </p:tgtEl>
                                        <p:attrNameLst>
                                          <p:attrName>ppt_x</p:attrName>
                                        </p:attrNameLst>
                                      </p:cBhvr>
                                      <p:tavLst>
                                        <p:tav tm="0">
                                          <p:val>
                                            <p:strVal val="0-#ppt_w/2"/>
                                          </p:val>
                                        </p:tav>
                                        <p:tav tm="100000">
                                          <p:val>
                                            <p:strVal val="#ppt_x"/>
                                          </p:val>
                                        </p:tav>
                                      </p:tavLst>
                                    </p:anim>
                                    <p:anim calcmode="lin" valueType="num">
                                      <p:cBhvr additive="base">
                                        <p:cTn id="8" dur="500" fill="hold"/>
                                        <p:tgtEl>
                                          <p:spTgt spid="788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FAE89D8-7C01-4B78-9A6A-4E133B7ACCD5}"/>
              </a:ext>
            </a:extLst>
          </p:cNvPr>
          <p:cNvSpPr>
            <a:spLocks noGrp="1" noChangeArrowheads="1"/>
          </p:cNvSpPr>
          <p:nvPr>
            <p:ph type="title"/>
          </p:nvPr>
        </p:nvSpPr>
        <p:spPr bwMode="auto">
          <a:xfrm>
            <a:off x="609600" y="22098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dirty="0">
                <a:solidFill>
                  <a:srgbClr val="AC2F36"/>
                </a:solidFill>
                <a:effectLst>
                  <a:outerShdw blurRad="38100" dist="38100" dir="2700000" algn="tl">
                    <a:srgbClr val="C0C0C0"/>
                  </a:outerShdw>
                </a:effectLst>
                <a:latin typeface="Palatino Linotype" panose="02040502050505030304" pitchFamily="18" charset="0"/>
              </a:rPr>
              <a:t>5.5  n</a:t>
            </a:r>
            <a:r>
              <a:rPr lang="zh-CN" altLang="en-US" dirty="0">
                <a:solidFill>
                  <a:srgbClr val="AC2F36"/>
                </a:solidFill>
                <a:effectLst>
                  <a:outerShdw blurRad="38100" dist="38100" dir="2700000" algn="tl">
                    <a:srgbClr val="C0C0C0"/>
                  </a:outerShdw>
                </a:effectLst>
                <a:latin typeface="Onyx" panose="04050602080702020203" pitchFamily="82" charset="0"/>
              </a:rPr>
              <a:t>后问题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7F352695-1C21-42D1-B94D-6614081C025F}"/>
              </a:ext>
            </a:extLst>
          </p:cNvPr>
          <p:cNvSpPr>
            <a:spLocks noGrp="1" noChangeArrowheads="1"/>
          </p:cNvSpPr>
          <p:nvPr>
            <p:ph type="title"/>
          </p:nvPr>
        </p:nvSpPr>
        <p:spPr bwMode="auto">
          <a:xfrm>
            <a:off x="685800" y="228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dirty="0">
                <a:latin typeface="Palatino Linotype" panose="02040502050505030304" pitchFamily="18" charset="0"/>
              </a:rPr>
              <a:t>n</a:t>
            </a:r>
            <a:r>
              <a:rPr kumimoji="0" lang="zh-CN" altLang="en-US" sz="3600" b="1" dirty="0">
                <a:latin typeface="Arial" panose="020B0604020202020204" pitchFamily="34" charset="0"/>
              </a:rPr>
              <a:t>皇后问题描述</a:t>
            </a:r>
          </a:p>
        </p:txBody>
      </p:sp>
      <p:sp>
        <p:nvSpPr>
          <p:cNvPr id="44035" name="Rectangle 3">
            <a:extLst>
              <a:ext uri="{FF2B5EF4-FFF2-40B4-BE49-F238E27FC236}">
                <a16:creationId xmlns:a16="http://schemas.microsoft.com/office/drawing/2014/main" id="{57C473D6-8AF0-48B1-A730-A1D30EF965DD}"/>
              </a:ext>
            </a:extLst>
          </p:cNvPr>
          <p:cNvSpPr>
            <a:spLocks noGrp="1" noChangeArrowheads="1"/>
          </p:cNvSpPr>
          <p:nvPr>
            <p:ph type="body" idx="1"/>
          </p:nvPr>
        </p:nvSpPr>
        <p:spPr bwMode="auto">
          <a:xfrm>
            <a:off x="381000" y="990600"/>
            <a:ext cx="8534400" cy="160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2400" b="1" dirty="0">
                <a:latin typeface="Arial" panose="020B0604020202020204" pitchFamily="34" charset="0"/>
              </a:rPr>
              <a:t>在</a:t>
            </a:r>
            <a:r>
              <a:rPr kumimoji="0" lang="en-US" altLang="zh-CN" sz="2400" b="1" dirty="0" err="1">
                <a:latin typeface="Palatino Linotype" panose="02040502050505030304" pitchFamily="18" charset="0"/>
              </a:rPr>
              <a:t>n×n</a:t>
            </a:r>
            <a:r>
              <a:rPr kumimoji="0" lang="zh-CN" altLang="en-US" sz="2400" b="1" dirty="0">
                <a:latin typeface="Arial" panose="020B0604020202020204" pitchFamily="34" charset="0"/>
              </a:rPr>
              <a:t>格的棋盘上放置彼此不受攻击的</a:t>
            </a:r>
            <a:r>
              <a:rPr kumimoji="0" lang="en-US" altLang="zh-CN" sz="2400" b="1" dirty="0">
                <a:latin typeface="Arial" panose="020B0604020202020204" pitchFamily="34" charset="0"/>
              </a:rPr>
              <a:t>n</a:t>
            </a:r>
            <a:r>
              <a:rPr kumimoji="0" lang="zh-CN" altLang="en-US" sz="2400" b="1" dirty="0">
                <a:latin typeface="Arial" panose="020B0604020202020204" pitchFamily="34" charset="0"/>
              </a:rPr>
              <a:t>个皇后。按照国际象棋的规则，皇后可以攻击与它处在同一行或同一列或同一斜线上的棋子。</a:t>
            </a:r>
            <a:r>
              <a:rPr kumimoji="0" lang="en-US" altLang="zh-CN" sz="2400" b="1" dirty="0">
                <a:latin typeface="Arial" panose="020B0604020202020204" pitchFamily="34" charset="0"/>
              </a:rPr>
              <a:t>n</a:t>
            </a:r>
            <a:r>
              <a:rPr kumimoji="0" lang="zh-CN" altLang="en-US" sz="2400" b="1" dirty="0">
                <a:latin typeface="Arial" panose="020B0604020202020204" pitchFamily="34" charset="0"/>
              </a:rPr>
              <a:t>后问题等价于在</a:t>
            </a:r>
            <a:r>
              <a:rPr kumimoji="0" lang="en-US" altLang="zh-CN" sz="2400" b="1" dirty="0" err="1">
                <a:latin typeface="Arial" panose="020B0604020202020204" pitchFamily="34" charset="0"/>
              </a:rPr>
              <a:t>n×n</a:t>
            </a:r>
            <a:r>
              <a:rPr kumimoji="0" lang="zh-CN" altLang="en-US" sz="2400" b="1" dirty="0">
                <a:latin typeface="Arial" panose="020B0604020202020204" pitchFamily="34" charset="0"/>
              </a:rPr>
              <a:t>格的棋盘上放置</a:t>
            </a:r>
            <a:r>
              <a:rPr kumimoji="0" lang="en-US" altLang="zh-CN" sz="2400" b="1" dirty="0">
                <a:latin typeface="Arial" panose="020B0604020202020204" pitchFamily="34" charset="0"/>
              </a:rPr>
              <a:t>n</a:t>
            </a:r>
            <a:r>
              <a:rPr kumimoji="0" lang="zh-CN" altLang="en-US" sz="2400" b="1" dirty="0">
                <a:latin typeface="Arial" panose="020B0604020202020204" pitchFamily="34" charset="0"/>
              </a:rPr>
              <a:t>个皇后，任何</a:t>
            </a:r>
            <a:r>
              <a:rPr kumimoji="0" lang="en-US" altLang="zh-CN" sz="2400" b="1" dirty="0">
                <a:latin typeface="Arial" panose="020B0604020202020204" pitchFamily="34" charset="0"/>
              </a:rPr>
              <a:t>2</a:t>
            </a:r>
            <a:r>
              <a:rPr kumimoji="0" lang="zh-CN" altLang="en-US" sz="2400" b="1" dirty="0">
                <a:latin typeface="Arial" panose="020B0604020202020204" pitchFamily="34" charset="0"/>
              </a:rPr>
              <a:t>个皇后不放在同一行或同一列或同一斜线上。</a:t>
            </a:r>
          </a:p>
        </p:txBody>
      </p:sp>
      <p:grpSp>
        <p:nvGrpSpPr>
          <p:cNvPr id="44036" name="Group 4">
            <a:extLst>
              <a:ext uri="{FF2B5EF4-FFF2-40B4-BE49-F238E27FC236}">
                <a16:creationId xmlns:a16="http://schemas.microsoft.com/office/drawing/2014/main" id="{14E57467-57BA-4B98-9E2A-1213E92C1078}"/>
              </a:ext>
            </a:extLst>
          </p:cNvPr>
          <p:cNvGrpSpPr>
            <a:grpSpLocks/>
          </p:cNvGrpSpPr>
          <p:nvPr/>
        </p:nvGrpSpPr>
        <p:grpSpPr bwMode="auto">
          <a:xfrm>
            <a:off x="1979613" y="2667000"/>
            <a:ext cx="4598987" cy="4000500"/>
            <a:chOff x="1282" y="1724"/>
            <a:chExt cx="2897" cy="2520"/>
          </a:xfrm>
        </p:grpSpPr>
        <p:sp>
          <p:nvSpPr>
            <p:cNvPr id="44037" name="Rectangle 5">
              <a:extLst>
                <a:ext uri="{FF2B5EF4-FFF2-40B4-BE49-F238E27FC236}">
                  <a16:creationId xmlns:a16="http://schemas.microsoft.com/office/drawing/2014/main" id="{384C23C0-DE67-40FB-860D-E1709F517731}"/>
                </a:ext>
              </a:extLst>
            </p:cNvPr>
            <p:cNvSpPr>
              <a:spLocks noChangeArrowheads="1"/>
            </p:cNvSpPr>
            <p:nvPr/>
          </p:nvSpPr>
          <p:spPr bwMode="auto">
            <a:xfrm>
              <a:off x="1617" y="1728"/>
              <a:ext cx="2544" cy="2208"/>
            </a:xfrm>
            <a:prstGeom prst="rect">
              <a:avLst/>
            </a:prstGeom>
            <a:solidFill>
              <a:schemeClr val="accent1"/>
            </a:solidFill>
            <a:ln w="19050">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44038" name="Line 6">
              <a:extLst>
                <a:ext uri="{FF2B5EF4-FFF2-40B4-BE49-F238E27FC236}">
                  <a16:creationId xmlns:a16="http://schemas.microsoft.com/office/drawing/2014/main" id="{31388F2C-6F69-4C6E-ADFD-74D20CA0BCCF}"/>
                </a:ext>
              </a:extLst>
            </p:cNvPr>
            <p:cNvSpPr>
              <a:spLocks noChangeShapeType="1"/>
            </p:cNvSpPr>
            <p:nvPr/>
          </p:nvSpPr>
          <p:spPr bwMode="auto">
            <a:xfrm flipV="1">
              <a:off x="1616" y="2864"/>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39" name="Line 7">
              <a:extLst>
                <a:ext uri="{FF2B5EF4-FFF2-40B4-BE49-F238E27FC236}">
                  <a16:creationId xmlns:a16="http://schemas.microsoft.com/office/drawing/2014/main" id="{184CAC89-EAE5-4222-B87D-945A5FC89E6F}"/>
                </a:ext>
              </a:extLst>
            </p:cNvPr>
            <p:cNvSpPr>
              <a:spLocks noChangeShapeType="1"/>
            </p:cNvSpPr>
            <p:nvPr/>
          </p:nvSpPr>
          <p:spPr bwMode="auto">
            <a:xfrm>
              <a:off x="2888" y="1732"/>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0" name="Line 8">
              <a:extLst>
                <a:ext uri="{FF2B5EF4-FFF2-40B4-BE49-F238E27FC236}">
                  <a16:creationId xmlns:a16="http://schemas.microsoft.com/office/drawing/2014/main" id="{8D15BF7C-C5B8-4B8E-822F-42476AEF7031}"/>
                </a:ext>
              </a:extLst>
            </p:cNvPr>
            <p:cNvSpPr>
              <a:spLocks noChangeShapeType="1"/>
            </p:cNvSpPr>
            <p:nvPr/>
          </p:nvSpPr>
          <p:spPr bwMode="auto">
            <a:xfrm flipV="1">
              <a:off x="1621" y="3152"/>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1" name="Line 9">
              <a:extLst>
                <a:ext uri="{FF2B5EF4-FFF2-40B4-BE49-F238E27FC236}">
                  <a16:creationId xmlns:a16="http://schemas.microsoft.com/office/drawing/2014/main" id="{CFFD3B9E-B33A-48A5-A1CF-71E5163B662D}"/>
                </a:ext>
              </a:extLst>
            </p:cNvPr>
            <p:cNvSpPr>
              <a:spLocks noChangeShapeType="1"/>
            </p:cNvSpPr>
            <p:nvPr/>
          </p:nvSpPr>
          <p:spPr bwMode="auto">
            <a:xfrm flipV="1">
              <a:off x="1619" y="3414"/>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2" name="Line 10">
              <a:extLst>
                <a:ext uri="{FF2B5EF4-FFF2-40B4-BE49-F238E27FC236}">
                  <a16:creationId xmlns:a16="http://schemas.microsoft.com/office/drawing/2014/main" id="{9AC3BB07-A38F-4E90-9B5B-EB1100FE77F5}"/>
                </a:ext>
              </a:extLst>
            </p:cNvPr>
            <p:cNvSpPr>
              <a:spLocks noChangeShapeType="1"/>
            </p:cNvSpPr>
            <p:nvPr/>
          </p:nvSpPr>
          <p:spPr bwMode="auto">
            <a:xfrm flipV="1">
              <a:off x="1621" y="3677"/>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3" name="Line 11">
              <a:extLst>
                <a:ext uri="{FF2B5EF4-FFF2-40B4-BE49-F238E27FC236}">
                  <a16:creationId xmlns:a16="http://schemas.microsoft.com/office/drawing/2014/main" id="{A9642486-1DDB-4E4A-AC7B-BD178B60A925}"/>
                </a:ext>
              </a:extLst>
            </p:cNvPr>
            <p:cNvSpPr>
              <a:spLocks noChangeShapeType="1"/>
            </p:cNvSpPr>
            <p:nvPr/>
          </p:nvSpPr>
          <p:spPr bwMode="auto">
            <a:xfrm flipV="1">
              <a:off x="1620" y="2604"/>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4" name="Line 12">
              <a:extLst>
                <a:ext uri="{FF2B5EF4-FFF2-40B4-BE49-F238E27FC236}">
                  <a16:creationId xmlns:a16="http://schemas.microsoft.com/office/drawing/2014/main" id="{7058EF1A-7557-4113-8E6F-7C3D8BDE4005}"/>
                </a:ext>
              </a:extLst>
            </p:cNvPr>
            <p:cNvSpPr>
              <a:spLocks noChangeShapeType="1"/>
            </p:cNvSpPr>
            <p:nvPr/>
          </p:nvSpPr>
          <p:spPr bwMode="auto">
            <a:xfrm flipV="1">
              <a:off x="1624" y="2048"/>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5" name="Line 13">
              <a:extLst>
                <a:ext uri="{FF2B5EF4-FFF2-40B4-BE49-F238E27FC236}">
                  <a16:creationId xmlns:a16="http://schemas.microsoft.com/office/drawing/2014/main" id="{F1FC6443-2AEF-4371-AD9B-48E0C73193F4}"/>
                </a:ext>
              </a:extLst>
            </p:cNvPr>
            <p:cNvSpPr>
              <a:spLocks noChangeShapeType="1"/>
            </p:cNvSpPr>
            <p:nvPr/>
          </p:nvSpPr>
          <p:spPr bwMode="auto">
            <a:xfrm flipV="1">
              <a:off x="1624" y="2336"/>
              <a:ext cx="2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6" name="Line 14">
              <a:extLst>
                <a:ext uri="{FF2B5EF4-FFF2-40B4-BE49-F238E27FC236}">
                  <a16:creationId xmlns:a16="http://schemas.microsoft.com/office/drawing/2014/main" id="{9DF0A753-1C54-4E85-873E-CD8E5A3EAE57}"/>
                </a:ext>
              </a:extLst>
            </p:cNvPr>
            <p:cNvSpPr>
              <a:spLocks noChangeShapeType="1"/>
            </p:cNvSpPr>
            <p:nvPr/>
          </p:nvSpPr>
          <p:spPr bwMode="auto">
            <a:xfrm>
              <a:off x="1918" y="1724"/>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7" name="Line 15">
              <a:extLst>
                <a:ext uri="{FF2B5EF4-FFF2-40B4-BE49-F238E27FC236}">
                  <a16:creationId xmlns:a16="http://schemas.microsoft.com/office/drawing/2014/main" id="{8F247DCD-973E-457B-B8CD-9F1009968ED9}"/>
                </a:ext>
              </a:extLst>
            </p:cNvPr>
            <p:cNvSpPr>
              <a:spLocks noChangeShapeType="1"/>
            </p:cNvSpPr>
            <p:nvPr/>
          </p:nvSpPr>
          <p:spPr bwMode="auto">
            <a:xfrm>
              <a:off x="2566" y="1727"/>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8" name="Line 16">
              <a:extLst>
                <a:ext uri="{FF2B5EF4-FFF2-40B4-BE49-F238E27FC236}">
                  <a16:creationId xmlns:a16="http://schemas.microsoft.com/office/drawing/2014/main" id="{B1769351-6EE7-47D0-A597-0D47DACAC45B}"/>
                </a:ext>
              </a:extLst>
            </p:cNvPr>
            <p:cNvSpPr>
              <a:spLocks noChangeShapeType="1"/>
            </p:cNvSpPr>
            <p:nvPr/>
          </p:nvSpPr>
          <p:spPr bwMode="auto">
            <a:xfrm>
              <a:off x="2256" y="1727"/>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49" name="Line 17">
              <a:extLst>
                <a:ext uri="{FF2B5EF4-FFF2-40B4-BE49-F238E27FC236}">
                  <a16:creationId xmlns:a16="http://schemas.microsoft.com/office/drawing/2014/main" id="{E7A4B280-12B5-4596-9110-7FBFC589A4FE}"/>
                </a:ext>
              </a:extLst>
            </p:cNvPr>
            <p:cNvSpPr>
              <a:spLocks noChangeShapeType="1"/>
            </p:cNvSpPr>
            <p:nvPr/>
          </p:nvSpPr>
          <p:spPr bwMode="auto">
            <a:xfrm>
              <a:off x="3184" y="1730"/>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50" name="Line 18">
              <a:extLst>
                <a:ext uri="{FF2B5EF4-FFF2-40B4-BE49-F238E27FC236}">
                  <a16:creationId xmlns:a16="http://schemas.microsoft.com/office/drawing/2014/main" id="{0CD6F066-3C7B-4EF7-B1E2-73414035EF3B}"/>
                </a:ext>
              </a:extLst>
            </p:cNvPr>
            <p:cNvSpPr>
              <a:spLocks noChangeShapeType="1"/>
            </p:cNvSpPr>
            <p:nvPr/>
          </p:nvSpPr>
          <p:spPr bwMode="auto">
            <a:xfrm>
              <a:off x="3832" y="1729"/>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51" name="Line 19">
              <a:extLst>
                <a:ext uri="{FF2B5EF4-FFF2-40B4-BE49-F238E27FC236}">
                  <a16:creationId xmlns:a16="http://schemas.microsoft.com/office/drawing/2014/main" id="{1D583798-A82B-4437-905A-7208F122A687}"/>
                </a:ext>
              </a:extLst>
            </p:cNvPr>
            <p:cNvSpPr>
              <a:spLocks noChangeShapeType="1"/>
            </p:cNvSpPr>
            <p:nvPr/>
          </p:nvSpPr>
          <p:spPr bwMode="auto">
            <a:xfrm>
              <a:off x="3507" y="1729"/>
              <a:ext cx="0" cy="22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dirty="0">
                <a:ea typeface="华文中宋" panose="02010600040101010101" pitchFamily="2" charset="-122"/>
              </a:endParaRPr>
            </a:p>
          </p:txBody>
        </p:sp>
        <p:sp>
          <p:nvSpPr>
            <p:cNvPr id="44052" name="Text Box 20">
              <a:extLst>
                <a:ext uri="{FF2B5EF4-FFF2-40B4-BE49-F238E27FC236}">
                  <a16:creationId xmlns:a16="http://schemas.microsoft.com/office/drawing/2014/main" id="{9C8035CC-00BC-43C6-8F04-03F5FCFE0080}"/>
                </a:ext>
              </a:extLst>
            </p:cNvPr>
            <p:cNvSpPr txBox="1">
              <a:spLocks noChangeArrowheads="1"/>
            </p:cNvSpPr>
            <p:nvPr/>
          </p:nvSpPr>
          <p:spPr bwMode="auto">
            <a:xfrm>
              <a:off x="1591" y="3956"/>
              <a:ext cx="25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1    2   3   4   5   6   7   8</a:t>
              </a:r>
            </a:p>
          </p:txBody>
        </p:sp>
        <p:sp>
          <p:nvSpPr>
            <p:cNvPr id="44053" name="Text Box 21">
              <a:extLst>
                <a:ext uri="{FF2B5EF4-FFF2-40B4-BE49-F238E27FC236}">
                  <a16:creationId xmlns:a16="http://schemas.microsoft.com/office/drawing/2014/main" id="{B1B1279D-C987-4C5F-B993-CAFB4A607747}"/>
                </a:ext>
              </a:extLst>
            </p:cNvPr>
            <p:cNvSpPr txBox="1">
              <a:spLocks noChangeArrowheads="1"/>
            </p:cNvSpPr>
            <p:nvPr/>
          </p:nvSpPr>
          <p:spPr bwMode="auto">
            <a:xfrm>
              <a:off x="1302" y="1728"/>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1</a:t>
              </a:r>
            </a:p>
          </p:txBody>
        </p:sp>
        <p:sp>
          <p:nvSpPr>
            <p:cNvPr id="44054" name="Text Box 22">
              <a:extLst>
                <a:ext uri="{FF2B5EF4-FFF2-40B4-BE49-F238E27FC236}">
                  <a16:creationId xmlns:a16="http://schemas.microsoft.com/office/drawing/2014/main" id="{DE0F63FB-D70C-4A13-993A-811B4B4FC445}"/>
                </a:ext>
              </a:extLst>
            </p:cNvPr>
            <p:cNvSpPr txBox="1">
              <a:spLocks noChangeArrowheads="1"/>
            </p:cNvSpPr>
            <p:nvPr/>
          </p:nvSpPr>
          <p:spPr bwMode="auto">
            <a:xfrm>
              <a:off x="1302" y="2028"/>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2</a:t>
              </a:r>
            </a:p>
          </p:txBody>
        </p:sp>
        <p:sp>
          <p:nvSpPr>
            <p:cNvPr id="44055" name="Text Box 23">
              <a:extLst>
                <a:ext uri="{FF2B5EF4-FFF2-40B4-BE49-F238E27FC236}">
                  <a16:creationId xmlns:a16="http://schemas.microsoft.com/office/drawing/2014/main" id="{5FF940DA-004E-49B7-B89E-EB1DC36F350D}"/>
                </a:ext>
              </a:extLst>
            </p:cNvPr>
            <p:cNvSpPr txBox="1">
              <a:spLocks noChangeArrowheads="1"/>
            </p:cNvSpPr>
            <p:nvPr/>
          </p:nvSpPr>
          <p:spPr bwMode="auto">
            <a:xfrm>
              <a:off x="1298" y="2312"/>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3</a:t>
              </a:r>
            </a:p>
          </p:txBody>
        </p:sp>
        <p:sp>
          <p:nvSpPr>
            <p:cNvPr id="44056" name="Text Box 24">
              <a:extLst>
                <a:ext uri="{FF2B5EF4-FFF2-40B4-BE49-F238E27FC236}">
                  <a16:creationId xmlns:a16="http://schemas.microsoft.com/office/drawing/2014/main" id="{2E18F6E4-77F2-4809-BD5A-58C7F706D901}"/>
                </a:ext>
              </a:extLst>
            </p:cNvPr>
            <p:cNvSpPr txBox="1">
              <a:spLocks noChangeArrowheads="1"/>
            </p:cNvSpPr>
            <p:nvPr/>
          </p:nvSpPr>
          <p:spPr bwMode="auto">
            <a:xfrm>
              <a:off x="1290" y="2588"/>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4</a:t>
              </a:r>
            </a:p>
          </p:txBody>
        </p:sp>
        <p:sp>
          <p:nvSpPr>
            <p:cNvPr id="44057" name="Text Box 25">
              <a:extLst>
                <a:ext uri="{FF2B5EF4-FFF2-40B4-BE49-F238E27FC236}">
                  <a16:creationId xmlns:a16="http://schemas.microsoft.com/office/drawing/2014/main" id="{2BE5BC68-64AE-43A1-926D-A1CD266C826A}"/>
                </a:ext>
              </a:extLst>
            </p:cNvPr>
            <p:cNvSpPr txBox="1">
              <a:spLocks noChangeArrowheads="1"/>
            </p:cNvSpPr>
            <p:nvPr/>
          </p:nvSpPr>
          <p:spPr bwMode="auto">
            <a:xfrm>
              <a:off x="1286" y="2848"/>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5</a:t>
              </a:r>
            </a:p>
          </p:txBody>
        </p:sp>
        <p:sp>
          <p:nvSpPr>
            <p:cNvPr id="44058" name="Text Box 26">
              <a:extLst>
                <a:ext uri="{FF2B5EF4-FFF2-40B4-BE49-F238E27FC236}">
                  <a16:creationId xmlns:a16="http://schemas.microsoft.com/office/drawing/2014/main" id="{4435DB29-5AEF-4467-B432-5C42C838E0DE}"/>
                </a:ext>
              </a:extLst>
            </p:cNvPr>
            <p:cNvSpPr txBox="1">
              <a:spLocks noChangeArrowheads="1"/>
            </p:cNvSpPr>
            <p:nvPr/>
          </p:nvSpPr>
          <p:spPr bwMode="auto">
            <a:xfrm>
              <a:off x="1286" y="3152"/>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6</a:t>
              </a:r>
            </a:p>
          </p:txBody>
        </p:sp>
        <p:sp>
          <p:nvSpPr>
            <p:cNvPr id="44059" name="Text Box 27">
              <a:extLst>
                <a:ext uri="{FF2B5EF4-FFF2-40B4-BE49-F238E27FC236}">
                  <a16:creationId xmlns:a16="http://schemas.microsoft.com/office/drawing/2014/main" id="{D617B6FB-142D-4E94-A281-C1A353F8D6A7}"/>
                </a:ext>
              </a:extLst>
            </p:cNvPr>
            <p:cNvSpPr txBox="1">
              <a:spLocks noChangeArrowheads="1"/>
            </p:cNvSpPr>
            <p:nvPr/>
          </p:nvSpPr>
          <p:spPr bwMode="auto">
            <a:xfrm>
              <a:off x="1282" y="3392"/>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7</a:t>
              </a:r>
            </a:p>
          </p:txBody>
        </p:sp>
        <p:sp>
          <p:nvSpPr>
            <p:cNvPr id="44060" name="Text Box 28">
              <a:extLst>
                <a:ext uri="{FF2B5EF4-FFF2-40B4-BE49-F238E27FC236}">
                  <a16:creationId xmlns:a16="http://schemas.microsoft.com/office/drawing/2014/main" id="{E3C9CB2F-1C4C-4E62-B554-EAFD46980FF2}"/>
                </a:ext>
              </a:extLst>
            </p:cNvPr>
            <p:cNvSpPr txBox="1">
              <a:spLocks noChangeArrowheads="1"/>
            </p:cNvSpPr>
            <p:nvPr/>
          </p:nvSpPr>
          <p:spPr bwMode="auto">
            <a:xfrm>
              <a:off x="1282" y="3652"/>
              <a:ext cx="23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b="0">
                  <a:latin typeface="Verdana" panose="020B0604030504040204" pitchFamily="34" charset="0"/>
                  <a:ea typeface="黑体" panose="02010609060101010101" pitchFamily="49" charset="-122"/>
                </a:rPr>
                <a:t>8</a:t>
              </a:r>
            </a:p>
          </p:txBody>
        </p:sp>
        <p:sp>
          <p:nvSpPr>
            <p:cNvPr id="44061" name="Text Box 29">
              <a:extLst>
                <a:ext uri="{FF2B5EF4-FFF2-40B4-BE49-F238E27FC236}">
                  <a16:creationId xmlns:a16="http://schemas.microsoft.com/office/drawing/2014/main" id="{7EBA12D3-7CE6-4E89-A8E3-B4332CFAB39E}"/>
                </a:ext>
              </a:extLst>
            </p:cNvPr>
            <p:cNvSpPr txBox="1">
              <a:spLocks noChangeArrowheads="1"/>
            </p:cNvSpPr>
            <p:nvPr/>
          </p:nvSpPr>
          <p:spPr bwMode="auto">
            <a:xfrm>
              <a:off x="3206" y="2048"/>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2" name="Text Box 30">
              <a:extLst>
                <a:ext uri="{FF2B5EF4-FFF2-40B4-BE49-F238E27FC236}">
                  <a16:creationId xmlns:a16="http://schemas.microsoft.com/office/drawing/2014/main" id="{DCF9C27A-359C-490C-AE1F-77B3F579E9BC}"/>
                </a:ext>
              </a:extLst>
            </p:cNvPr>
            <p:cNvSpPr txBox="1">
              <a:spLocks noChangeArrowheads="1"/>
            </p:cNvSpPr>
            <p:nvPr/>
          </p:nvSpPr>
          <p:spPr bwMode="auto">
            <a:xfrm>
              <a:off x="3854" y="2328"/>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3" name="Text Box 31">
              <a:extLst>
                <a:ext uri="{FF2B5EF4-FFF2-40B4-BE49-F238E27FC236}">
                  <a16:creationId xmlns:a16="http://schemas.microsoft.com/office/drawing/2014/main" id="{0438930E-EC0C-4567-80C0-0B2721BE4157}"/>
                </a:ext>
              </a:extLst>
            </p:cNvPr>
            <p:cNvSpPr txBox="1">
              <a:spLocks noChangeArrowheads="1"/>
            </p:cNvSpPr>
            <p:nvPr/>
          </p:nvSpPr>
          <p:spPr bwMode="auto">
            <a:xfrm>
              <a:off x="1958" y="2588"/>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4" name="Text Box 32">
              <a:extLst>
                <a:ext uri="{FF2B5EF4-FFF2-40B4-BE49-F238E27FC236}">
                  <a16:creationId xmlns:a16="http://schemas.microsoft.com/office/drawing/2014/main" id="{624FA789-D2C9-45C8-9E8C-7B6015B61C3E}"/>
                </a:ext>
              </a:extLst>
            </p:cNvPr>
            <p:cNvSpPr txBox="1">
              <a:spLocks noChangeArrowheads="1"/>
            </p:cNvSpPr>
            <p:nvPr/>
          </p:nvSpPr>
          <p:spPr bwMode="auto">
            <a:xfrm>
              <a:off x="3534" y="2868"/>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5" name="Text Box 33">
              <a:extLst>
                <a:ext uri="{FF2B5EF4-FFF2-40B4-BE49-F238E27FC236}">
                  <a16:creationId xmlns:a16="http://schemas.microsoft.com/office/drawing/2014/main" id="{4B14676E-9D3A-40A2-B17B-DA186A00D6A9}"/>
                </a:ext>
              </a:extLst>
            </p:cNvPr>
            <p:cNvSpPr txBox="1">
              <a:spLocks noChangeArrowheads="1"/>
            </p:cNvSpPr>
            <p:nvPr/>
          </p:nvSpPr>
          <p:spPr bwMode="auto">
            <a:xfrm>
              <a:off x="2278" y="3396"/>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6" name="Text Box 34">
              <a:extLst>
                <a:ext uri="{FF2B5EF4-FFF2-40B4-BE49-F238E27FC236}">
                  <a16:creationId xmlns:a16="http://schemas.microsoft.com/office/drawing/2014/main" id="{FF4EDD81-302F-444C-94D0-09085DC44CBB}"/>
                </a:ext>
              </a:extLst>
            </p:cNvPr>
            <p:cNvSpPr txBox="1">
              <a:spLocks noChangeArrowheads="1"/>
            </p:cNvSpPr>
            <p:nvPr/>
          </p:nvSpPr>
          <p:spPr bwMode="auto">
            <a:xfrm>
              <a:off x="1634" y="3136"/>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7" name="Text Box 35">
              <a:extLst>
                <a:ext uri="{FF2B5EF4-FFF2-40B4-BE49-F238E27FC236}">
                  <a16:creationId xmlns:a16="http://schemas.microsoft.com/office/drawing/2014/main" id="{41CDEA6A-8D21-4514-92BC-34A65FD42686}"/>
                </a:ext>
              </a:extLst>
            </p:cNvPr>
            <p:cNvSpPr txBox="1">
              <a:spLocks noChangeArrowheads="1"/>
            </p:cNvSpPr>
            <p:nvPr/>
          </p:nvSpPr>
          <p:spPr bwMode="auto">
            <a:xfrm>
              <a:off x="2902" y="3664"/>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sp>
          <p:nvSpPr>
            <p:cNvPr id="44068" name="Text Box 36">
              <a:extLst>
                <a:ext uri="{FF2B5EF4-FFF2-40B4-BE49-F238E27FC236}">
                  <a16:creationId xmlns:a16="http://schemas.microsoft.com/office/drawing/2014/main" id="{B7ACD4BE-1BDC-40F5-9C05-C25E8E836C86}"/>
                </a:ext>
              </a:extLst>
            </p:cNvPr>
            <p:cNvSpPr txBox="1">
              <a:spLocks noChangeArrowheads="1"/>
            </p:cNvSpPr>
            <p:nvPr/>
          </p:nvSpPr>
          <p:spPr bwMode="auto">
            <a:xfrm>
              <a:off x="2594" y="1752"/>
              <a:ext cx="2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ja-JP" b="0">
                  <a:latin typeface="Verdana" panose="020B0604030504040204" pitchFamily="34" charset="0"/>
                  <a:ea typeface="黑体" panose="02010609060101010101" pitchFamily="49" charset="-122"/>
                </a:rPr>
                <a:t>Q</a:t>
              </a:r>
            </a:p>
          </p:txBody>
        </p:sp>
      </p:gr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8D2651C2-6461-4378-A0CF-0C896BEF5C7C}"/>
                  </a:ext>
                </a:extLst>
              </p14:cNvPr>
              <p14:cNvContentPartPr/>
              <p14:nvPr/>
            </p14:nvContentPartPr>
            <p14:xfrm>
              <a:off x="3097800" y="4101840"/>
              <a:ext cx="1376640" cy="1210320"/>
            </p14:xfrm>
          </p:contentPart>
        </mc:Choice>
        <mc:Fallback xmlns="">
          <p:pic>
            <p:nvPicPr>
              <p:cNvPr id="2" name="墨迹 1">
                <a:extLst>
                  <a:ext uri="{FF2B5EF4-FFF2-40B4-BE49-F238E27FC236}">
                    <a16:creationId xmlns:a16="http://schemas.microsoft.com/office/drawing/2014/main" id="{8D2651C2-6461-4378-A0CF-0C896BEF5C7C}"/>
                  </a:ext>
                </a:extLst>
              </p:cNvPr>
              <p:cNvPicPr/>
              <p:nvPr/>
            </p:nvPicPr>
            <p:blipFill>
              <a:blip r:embed="rId3"/>
              <a:stretch>
                <a:fillRect/>
              </a:stretch>
            </p:blipFill>
            <p:spPr>
              <a:xfrm>
                <a:off x="3088440" y="4092480"/>
                <a:ext cx="1395360" cy="122904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12CC1EE-0D78-499B-BA8F-47AF70F2841F}"/>
              </a:ext>
            </a:extLst>
          </p:cNvPr>
          <p:cNvSpPr>
            <a:spLocks noGrp="1" noChangeArrowheads="1"/>
          </p:cNvSpPr>
          <p:nvPr>
            <p:ph type="title"/>
          </p:nvPr>
        </p:nvSpPr>
        <p:spPr bwMode="auto">
          <a:xfrm>
            <a:off x="762000" y="76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dirty="0">
                <a:latin typeface="Arial" panose="020B0604020202020204" pitchFamily="34" charset="0"/>
              </a:rPr>
              <a:t>算法分析</a:t>
            </a:r>
          </a:p>
        </p:txBody>
      </p:sp>
      <p:sp>
        <p:nvSpPr>
          <p:cNvPr id="69635" name="Rectangle 3">
            <a:extLst>
              <a:ext uri="{FF2B5EF4-FFF2-40B4-BE49-F238E27FC236}">
                <a16:creationId xmlns:a16="http://schemas.microsoft.com/office/drawing/2014/main" id="{BBFB22DD-698B-4BF7-AC09-6103A65F37DA}"/>
              </a:ext>
            </a:extLst>
          </p:cNvPr>
          <p:cNvSpPr>
            <a:spLocks noGrp="1" noChangeArrowheads="1"/>
          </p:cNvSpPr>
          <p:nvPr>
            <p:ph type="body" idx="1"/>
          </p:nvPr>
        </p:nvSpPr>
        <p:spPr bwMode="auto">
          <a:xfrm>
            <a:off x="685800" y="7620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t>1</a:t>
            </a:r>
            <a:r>
              <a:rPr lang="zh-CN" altLang="en-US" sz="2800" b="1" dirty="0"/>
              <a:t>、设定解向量：</a:t>
            </a:r>
            <a:r>
              <a:rPr lang="en-US" altLang="zh-CN" sz="2800" b="1" dirty="0"/>
              <a:t>(x</a:t>
            </a:r>
            <a:r>
              <a:rPr lang="en-US" altLang="zh-CN" sz="2800" b="1" baseline="-25000" dirty="0"/>
              <a:t>1</a:t>
            </a:r>
            <a:r>
              <a:rPr lang="en-US" altLang="zh-CN" sz="2800" b="1" dirty="0"/>
              <a:t>, x</a:t>
            </a:r>
            <a:r>
              <a:rPr lang="en-US" altLang="zh-CN" sz="2800" b="1" baseline="-25000" dirty="0"/>
              <a:t>2</a:t>
            </a:r>
            <a:r>
              <a:rPr lang="en-US" altLang="zh-CN" sz="2800" b="1" dirty="0"/>
              <a:t>, … , </a:t>
            </a:r>
            <a:r>
              <a:rPr lang="en-US" altLang="zh-CN" sz="2800" b="1" dirty="0" err="1"/>
              <a:t>x</a:t>
            </a:r>
            <a:r>
              <a:rPr lang="en-US" altLang="zh-CN" sz="2800" b="1" baseline="-25000" dirty="0" err="1"/>
              <a:t>n</a:t>
            </a:r>
            <a:r>
              <a:rPr lang="en-US" altLang="zh-CN" sz="2800" b="1" dirty="0"/>
              <a:t>)</a:t>
            </a:r>
            <a:r>
              <a:rPr lang="zh-CN" altLang="en-US" sz="2800" b="1" dirty="0"/>
              <a:t>，采用排列树</a:t>
            </a:r>
          </a:p>
        </p:txBody>
      </p:sp>
      <p:sp>
        <p:nvSpPr>
          <p:cNvPr id="69636" name="Text Box 4">
            <a:extLst>
              <a:ext uri="{FF2B5EF4-FFF2-40B4-BE49-F238E27FC236}">
                <a16:creationId xmlns:a16="http://schemas.microsoft.com/office/drawing/2014/main" id="{18D14347-D8AA-4182-926C-A44B906B32D2}"/>
              </a:ext>
            </a:extLst>
          </p:cNvPr>
          <p:cNvSpPr txBox="1">
            <a:spLocks noChangeArrowheads="1"/>
          </p:cNvSpPr>
          <p:nvPr/>
        </p:nvSpPr>
        <p:spPr bwMode="auto">
          <a:xfrm>
            <a:off x="609600" y="1295400"/>
            <a:ext cx="8153400"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dirty="0">
                <a:ea typeface="华文中宋" panose="02010600040101010101" pitchFamily="2" charset="-122"/>
              </a:rPr>
              <a:t> 2</a:t>
            </a:r>
            <a:r>
              <a:rPr lang="zh-CN" altLang="en-US" sz="2800" dirty="0">
                <a:ea typeface="华文中宋" panose="02010600040101010101" pitchFamily="2" charset="-122"/>
              </a:rPr>
              <a:t>、约束条件</a:t>
            </a:r>
          </a:p>
          <a:p>
            <a:pPr eaLnBrk="1" hangingPunct="1">
              <a:lnSpc>
                <a:spcPct val="90000"/>
              </a:lnSpc>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1</a:t>
            </a:r>
            <a:r>
              <a:rPr lang="zh-CN" altLang="en-US" sz="2800" dirty="0">
                <a:ea typeface="华文中宋" panose="02010600040101010101" pitchFamily="2" charset="-122"/>
              </a:rPr>
              <a:t>）显式约束：</a:t>
            </a:r>
            <a:r>
              <a:rPr lang="en-US" altLang="zh-CN" sz="2800" dirty="0">
                <a:ea typeface="华文中宋" panose="02010600040101010101" pitchFamily="2" charset="-122"/>
              </a:rPr>
              <a:t>x</a:t>
            </a:r>
            <a:r>
              <a:rPr lang="en-US" altLang="zh-CN" sz="2800" baseline="-25000" dirty="0">
                <a:ea typeface="华文中宋" panose="02010600040101010101" pitchFamily="2" charset="-122"/>
              </a:rPr>
              <a:t>i</a:t>
            </a:r>
            <a:r>
              <a:rPr lang="en-US" altLang="zh-CN" sz="2800" dirty="0">
                <a:ea typeface="华文中宋" panose="02010600040101010101" pitchFamily="2" charset="-122"/>
              </a:rPr>
              <a:t> = 1, 2, … , n   (</a:t>
            </a:r>
            <a:r>
              <a:rPr lang="en-US" altLang="zh-CN" sz="2800" dirty="0" err="1">
                <a:ea typeface="华文中宋" panose="02010600040101010101" pitchFamily="2" charset="-122"/>
              </a:rPr>
              <a:t>i</a:t>
            </a:r>
            <a:r>
              <a:rPr lang="en-US" altLang="zh-CN" sz="2800" dirty="0">
                <a:ea typeface="华文中宋" panose="02010600040101010101" pitchFamily="2" charset="-122"/>
              </a:rPr>
              <a:t> = 1,2, …, n)</a:t>
            </a:r>
          </a:p>
        </p:txBody>
      </p:sp>
      <p:sp>
        <p:nvSpPr>
          <p:cNvPr id="69637" name="Text Box 5">
            <a:extLst>
              <a:ext uri="{FF2B5EF4-FFF2-40B4-BE49-F238E27FC236}">
                <a16:creationId xmlns:a16="http://schemas.microsoft.com/office/drawing/2014/main" id="{781CF533-CCF0-4B03-BA5C-F70C9E86E29F}"/>
              </a:ext>
            </a:extLst>
          </p:cNvPr>
          <p:cNvSpPr txBox="1">
            <a:spLocks noChangeArrowheads="1"/>
          </p:cNvSpPr>
          <p:nvPr/>
        </p:nvSpPr>
        <p:spPr bwMode="auto">
          <a:xfrm>
            <a:off x="609600" y="2514600"/>
            <a:ext cx="80010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en-US" altLang="zh-CN" sz="2800" dirty="0">
                <a:ea typeface="华文中宋" panose="02010600040101010101" pitchFamily="2" charset="-122"/>
              </a:rPr>
              <a:t>  </a:t>
            </a:r>
            <a:r>
              <a:rPr lang="zh-CN" altLang="en-US" sz="2800" dirty="0">
                <a:ea typeface="华文中宋" panose="02010600040101010101" pitchFamily="2" charset="-122"/>
              </a:rPr>
              <a:t>（</a:t>
            </a:r>
            <a:r>
              <a:rPr lang="en-US" altLang="zh-CN" sz="2800" dirty="0">
                <a:ea typeface="华文中宋" panose="02010600040101010101" pitchFamily="2" charset="-122"/>
              </a:rPr>
              <a:t>2</a:t>
            </a:r>
            <a:r>
              <a:rPr lang="zh-CN" altLang="en-US" sz="2800" dirty="0">
                <a:ea typeface="华文中宋" panose="02010600040101010101" pitchFamily="2" charset="-122"/>
              </a:rPr>
              <a:t>）隐式约束</a:t>
            </a:r>
          </a:p>
          <a:p>
            <a:pPr eaLnBrk="1" hangingPunct="1">
              <a:lnSpc>
                <a:spcPct val="80000"/>
              </a:lnSpc>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1)  “</a:t>
            </a:r>
            <a:r>
              <a:rPr lang="zh-CN" altLang="en-US" sz="2800" dirty="0">
                <a:ea typeface="华文中宋" panose="02010600040101010101" pitchFamily="2" charset="-122"/>
              </a:rPr>
              <a:t>不同列”：</a:t>
            </a:r>
            <a:r>
              <a:rPr lang="en-US" altLang="zh-CN" sz="2800" dirty="0">
                <a:ea typeface="华文中宋" panose="02010600040101010101" pitchFamily="2" charset="-122"/>
              </a:rPr>
              <a:t>x</a:t>
            </a:r>
            <a:r>
              <a:rPr lang="en-US" altLang="zh-CN" sz="2800" baseline="-25000" dirty="0">
                <a:ea typeface="华文中宋" panose="02010600040101010101" pitchFamily="2" charset="-122"/>
              </a:rPr>
              <a:t>i</a:t>
            </a:r>
            <a:r>
              <a:rPr lang="en-US" altLang="zh-CN" sz="2800" dirty="0">
                <a:ea typeface="华文中宋" panose="02010600040101010101" pitchFamily="2" charset="-122"/>
              </a:rPr>
              <a:t> </a:t>
            </a: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x</a:t>
            </a:r>
            <a:r>
              <a:rPr lang="en-US" altLang="zh-CN" sz="2800" baseline="-25000" dirty="0" err="1">
                <a:ea typeface="华文中宋" panose="02010600040101010101" pitchFamily="2" charset="-122"/>
                <a:sym typeface="Symbol" panose="05050102010706020507" pitchFamily="18" charset="2"/>
              </a:rPr>
              <a:t>j</a:t>
            </a:r>
            <a:r>
              <a:rPr lang="en-US" altLang="zh-CN" sz="2800" baseline="-25000" dirty="0">
                <a:ea typeface="华文中宋" panose="02010600040101010101" pitchFamily="2" charset="-122"/>
                <a:sym typeface="Symbol" panose="05050102010706020507" pitchFamily="18" charset="2"/>
              </a:rPr>
              <a:t>  </a:t>
            </a: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i,j</a:t>
            </a:r>
            <a:r>
              <a:rPr lang="en-US" altLang="zh-CN" sz="2800" dirty="0">
                <a:ea typeface="华文中宋" panose="02010600040101010101" pitchFamily="2" charset="-122"/>
                <a:sym typeface="Symbol" panose="05050102010706020507" pitchFamily="18" charset="2"/>
              </a:rPr>
              <a:t> = 1, 2, … ,n;  </a:t>
            </a:r>
            <a:r>
              <a:rPr lang="en-US" altLang="zh-CN" sz="2800" dirty="0" err="1">
                <a:ea typeface="华文中宋" panose="02010600040101010101" pitchFamily="2" charset="-122"/>
                <a:sym typeface="Symbol" panose="05050102010706020507" pitchFamily="18" charset="2"/>
              </a:rPr>
              <a:t>i</a:t>
            </a:r>
            <a:r>
              <a:rPr lang="en-US" altLang="zh-CN" sz="2800" dirty="0">
                <a:ea typeface="华文中宋" panose="02010600040101010101" pitchFamily="2" charset="-122"/>
                <a:sym typeface="Symbol" panose="05050102010706020507" pitchFamily="18" charset="2"/>
              </a:rPr>
              <a:t>  j)</a:t>
            </a:r>
          </a:p>
          <a:p>
            <a:pPr eaLnBrk="1" hangingPunct="1">
              <a:lnSpc>
                <a:spcPct val="80000"/>
              </a:lnSpc>
              <a:spcBef>
                <a:spcPct val="50000"/>
              </a:spcBef>
            </a:pPr>
            <a:r>
              <a:rPr kumimoji="0" lang="en-US" altLang="zh-CN" sz="2800" dirty="0">
                <a:latin typeface="华文中宋" panose="02010600040101010101" pitchFamily="2" charset="-122"/>
                <a:ea typeface="华文中宋" panose="02010600040101010101" pitchFamily="2" charset="-122"/>
              </a:rPr>
              <a:t>   2)</a:t>
            </a:r>
            <a:r>
              <a:rPr kumimoji="0" lang="zh-CN" altLang="en-US" sz="2800" dirty="0">
                <a:latin typeface="华文中宋" panose="02010600040101010101" pitchFamily="2" charset="-122"/>
                <a:ea typeface="华文中宋" panose="02010600040101010101" pitchFamily="2" charset="-122"/>
              </a:rPr>
              <a:t>不处于同一正、反对角线：</a:t>
            </a:r>
            <a:r>
              <a:rPr kumimoji="0" lang="en-US" altLang="zh-CN" sz="2800" dirty="0">
                <a:latin typeface="华文中宋" panose="02010600040101010101" pitchFamily="2" charset="-122"/>
                <a:ea typeface="华文中宋" panose="02010600040101010101" pitchFamily="2" charset="-122"/>
                <a:sym typeface="Wingdings" panose="05000000000000000000" pitchFamily="2" charset="2"/>
              </a:rPr>
              <a:t>|</a:t>
            </a:r>
            <a:r>
              <a:rPr kumimoji="0" lang="en-US" altLang="zh-CN" sz="2800" dirty="0" err="1">
                <a:latin typeface="华文中宋" panose="02010600040101010101" pitchFamily="2" charset="-122"/>
                <a:ea typeface="华文中宋" panose="02010600040101010101" pitchFamily="2" charset="-122"/>
                <a:sym typeface="Wingdings" panose="05000000000000000000" pitchFamily="2" charset="2"/>
              </a:rPr>
              <a:t>i</a:t>
            </a:r>
            <a:r>
              <a:rPr kumimoji="0" lang="en-US" altLang="zh-CN" sz="2800" dirty="0">
                <a:latin typeface="华文中宋" panose="02010600040101010101" pitchFamily="2" charset="-122"/>
                <a:ea typeface="华文中宋" panose="02010600040101010101" pitchFamily="2" charset="-122"/>
                <a:sym typeface="Wingdings" panose="05000000000000000000" pitchFamily="2" charset="2"/>
              </a:rPr>
              <a:t>-j|</a:t>
            </a:r>
            <a:r>
              <a:rPr lang="en-US" altLang="zh-CN" sz="2800"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dirty="0">
                <a:latin typeface="华文中宋" panose="02010600040101010101" pitchFamily="2" charset="-122"/>
                <a:ea typeface="华文中宋" panose="02010600040101010101" pitchFamily="2" charset="-122"/>
                <a:sym typeface="Wingdings" panose="05000000000000000000" pitchFamily="2" charset="2"/>
              </a:rPr>
              <a:t>|x</a:t>
            </a:r>
            <a:r>
              <a:rPr kumimoji="0" lang="en-US" altLang="zh-CN" sz="2800" baseline="-25000" dirty="0">
                <a:latin typeface="华文中宋" panose="02010600040101010101" pitchFamily="2" charset="-122"/>
                <a:ea typeface="华文中宋" panose="02010600040101010101" pitchFamily="2" charset="-122"/>
                <a:sym typeface="Wingdings" panose="05000000000000000000" pitchFamily="2" charset="2"/>
              </a:rPr>
              <a:t>i</a:t>
            </a:r>
            <a:r>
              <a:rPr kumimoji="0" lang="en-US" altLang="zh-CN" sz="2800" dirty="0">
                <a:latin typeface="华文中宋" panose="02010600040101010101" pitchFamily="2" charset="-122"/>
                <a:ea typeface="华文中宋" panose="02010600040101010101" pitchFamily="2" charset="-122"/>
                <a:sym typeface="Wingdings" panose="05000000000000000000" pitchFamily="2" charset="2"/>
              </a:rPr>
              <a:t>-</a:t>
            </a:r>
            <a:r>
              <a:rPr kumimoji="0" lang="en-US" altLang="zh-CN" sz="2800" dirty="0" err="1">
                <a:latin typeface="华文中宋" panose="02010600040101010101" pitchFamily="2" charset="-122"/>
                <a:ea typeface="华文中宋" panose="02010600040101010101" pitchFamily="2" charset="-122"/>
                <a:sym typeface="Wingdings" panose="05000000000000000000" pitchFamily="2" charset="2"/>
              </a:rPr>
              <a:t>x</a:t>
            </a:r>
            <a:r>
              <a:rPr kumimoji="0" lang="en-US" altLang="zh-CN" sz="2800" baseline="-25000" dirty="0" err="1">
                <a:latin typeface="华文中宋" panose="02010600040101010101" pitchFamily="2" charset="-122"/>
                <a:ea typeface="华文中宋" panose="02010600040101010101" pitchFamily="2" charset="-122"/>
                <a:sym typeface="Wingdings" panose="05000000000000000000" pitchFamily="2" charset="2"/>
              </a:rPr>
              <a:t>j</a:t>
            </a:r>
            <a:r>
              <a:rPr kumimoji="0" lang="en-US" altLang="zh-CN" sz="2800" dirty="0">
                <a:latin typeface="华文中宋" panose="02010600040101010101" pitchFamily="2" charset="-122"/>
                <a:ea typeface="华文中宋" panose="02010600040101010101" pitchFamily="2" charset="-122"/>
                <a:sym typeface="Wingdings" panose="05000000000000000000" pitchFamily="2" charset="2"/>
              </a:rPr>
              <a:t>|</a:t>
            </a:r>
          </a:p>
        </p:txBody>
      </p:sp>
      <p:sp>
        <p:nvSpPr>
          <p:cNvPr id="69644" name="Text Box 12">
            <a:extLst>
              <a:ext uri="{FF2B5EF4-FFF2-40B4-BE49-F238E27FC236}">
                <a16:creationId xmlns:a16="http://schemas.microsoft.com/office/drawing/2014/main" id="{EDA2D490-CCA2-4D20-B141-A7BBF4880172}"/>
              </a:ext>
            </a:extLst>
          </p:cNvPr>
          <p:cNvSpPr txBox="1">
            <a:spLocks noChangeArrowheads="1"/>
          </p:cNvSpPr>
          <p:nvPr/>
        </p:nvSpPr>
        <p:spPr bwMode="auto">
          <a:xfrm>
            <a:off x="560388" y="4168775"/>
            <a:ext cx="667861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dirty="0">
                <a:ea typeface="华文中宋" panose="02010600040101010101" pitchFamily="2" charset="-122"/>
              </a:rPr>
              <a:t>bool place (int k)   {</a:t>
            </a:r>
          </a:p>
          <a:p>
            <a:pPr eaLnBrk="1" hangingPunct="1"/>
            <a:r>
              <a:rPr kumimoji="0" lang="en-US" altLang="zh-CN" dirty="0">
                <a:ea typeface="华文中宋" panose="02010600040101010101" pitchFamily="2" charset="-122"/>
              </a:rPr>
              <a:t>      for (int j=1;j&lt;</a:t>
            </a:r>
            <a:r>
              <a:rPr kumimoji="0" lang="en-US" altLang="zh-CN" dirty="0" err="1">
                <a:ea typeface="华文中宋" panose="02010600040101010101" pitchFamily="2" charset="-122"/>
              </a:rPr>
              <a:t>k;j</a:t>
            </a:r>
            <a:r>
              <a:rPr kumimoji="0" lang="en-US" altLang="zh-CN" dirty="0">
                <a:ea typeface="华文中宋" panose="02010600040101010101" pitchFamily="2" charset="-122"/>
              </a:rPr>
              <a:t>++)</a:t>
            </a:r>
          </a:p>
          <a:p>
            <a:pPr eaLnBrk="1" hangingPunct="1"/>
            <a:r>
              <a:rPr kumimoji="0" lang="en-US" altLang="zh-CN" dirty="0">
                <a:ea typeface="华文中宋" panose="02010600040101010101" pitchFamily="2" charset="-122"/>
              </a:rPr>
              <a:t>      if ((abs(k-j)==abs(x[j]-x[k])) || (x[j]==x[k]))</a:t>
            </a:r>
          </a:p>
          <a:p>
            <a:pPr eaLnBrk="1" hangingPunct="1"/>
            <a:r>
              <a:rPr kumimoji="0" lang="en-US" altLang="zh-CN" dirty="0">
                <a:ea typeface="华文中宋" panose="02010600040101010101" pitchFamily="2" charset="-122"/>
              </a:rPr>
              <a:t>           return false;</a:t>
            </a:r>
          </a:p>
          <a:p>
            <a:pPr eaLnBrk="1" hangingPunct="1"/>
            <a:r>
              <a:rPr kumimoji="0" lang="en-US" altLang="zh-CN" dirty="0">
                <a:ea typeface="华文中宋" panose="02010600040101010101" pitchFamily="2" charset="-122"/>
              </a:rPr>
              <a:t>      return true;</a:t>
            </a:r>
          </a:p>
          <a:p>
            <a:pPr eaLnBrk="1" hangingPunct="1"/>
            <a:r>
              <a:rPr kumimoji="0" lang="en-US" altLang="zh-CN" dirty="0">
                <a:ea typeface="华文中宋" panose="02010600040101010101" pitchFamily="2" charset="-122"/>
              </a:rPr>
              <a:t>   }</a:t>
            </a:r>
          </a:p>
        </p:txBody>
      </p:sp>
      <p:sp>
        <p:nvSpPr>
          <p:cNvPr id="69645" name="AutoShape 13">
            <a:extLst>
              <a:ext uri="{FF2B5EF4-FFF2-40B4-BE49-F238E27FC236}">
                <a16:creationId xmlns:a16="http://schemas.microsoft.com/office/drawing/2014/main" id="{32E0048E-E7D3-44DF-8973-68B9FB156EFA}"/>
              </a:ext>
            </a:extLst>
          </p:cNvPr>
          <p:cNvSpPr>
            <a:spLocks noChangeArrowheads="1"/>
          </p:cNvSpPr>
          <p:nvPr/>
        </p:nvSpPr>
        <p:spPr bwMode="auto">
          <a:xfrm>
            <a:off x="5105400" y="4114800"/>
            <a:ext cx="3067050" cy="609600"/>
          </a:xfrm>
          <a:prstGeom prst="wedgeRoundRectCallout">
            <a:avLst>
              <a:gd name="adj1" fmla="val -120653"/>
              <a:gd name="adj2" fmla="val -8852"/>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ea typeface="华文中宋" panose="02010600040101010101" pitchFamily="2" charset="-122"/>
              </a:rPr>
              <a:t>可放</a:t>
            </a:r>
            <a:r>
              <a:rPr lang="en-US" altLang="zh-CN" dirty="0">
                <a:ea typeface="华文中宋" panose="02010600040101010101" pitchFamily="2" charset="-122"/>
              </a:rPr>
              <a:t>k</a:t>
            </a:r>
            <a:r>
              <a:rPr lang="zh-CN" altLang="en-US" dirty="0">
                <a:ea typeface="华文中宋" panose="02010600040101010101" pitchFamily="2" charset="-122"/>
              </a:rPr>
              <a:t>个皇后条件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6"/>
                                        </p:tgtEl>
                                        <p:attrNameLst>
                                          <p:attrName>style.visibility</p:attrName>
                                        </p:attrNameLst>
                                      </p:cBhvr>
                                      <p:to>
                                        <p:strVal val="visible"/>
                                      </p:to>
                                    </p:set>
                                    <p:anim calcmode="lin" valueType="num">
                                      <p:cBhvr additive="base">
                                        <p:cTn id="13" dur="500" fill="hold"/>
                                        <p:tgtEl>
                                          <p:spTgt spid="69636"/>
                                        </p:tgtEl>
                                        <p:attrNameLst>
                                          <p:attrName>ppt_x</p:attrName>
                                        </p:attrNameLst>
                                      </p:cBhvr>
                                      <p:tavLst>
                                        <p:tav tm="0">
                                          <p:val>
                                            <p:strVal val="0-#ppt_w/2"/>
                                          </p:val>
                                        </p:tav>
                                        <p:tav tm="100000">
                                          <p:val>
                                            <p:strVal val="#ppt_x"/>
                                          </p:val>
                                        </p:tav>
                                      </p:tavLst>
                                    </p:anim>
                                    <p:anim calcmode="lin" valueType="num">
                                      <p:cBhvr additive="base">
                                        <p:cTn id="14"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637"/>
                                        </p:tgtEl>
                                        <p:attrNameLst>
                                          <p:attrName>style.visibility</p:attrName>
                                        </p:attrNameLst>
                                      </p:cBhvr>
                                      <p:to>
                                        <p:strVal val="visible"/>
                                      </p:to>
                                    </p:set>
                                    <p:anim calcmode="lin" valueType="num">
                                      <p:cBhvr additive="base">
                                        <p:cTn id="19" dur="500" fill="hold"/>
                                        <p:tgtEl>
                                          <p:spTgt spid="69637"/>
                                        </p:tgtEl>
                                        <p:attrNameLst>
                                          <p:attrName>ppt_x</p:attrName>
                                        </p:attrNameLst>
                                      </p:cBhvr>
                                      <p:tavLst>
                                        <p:tav tm="0">
                                          <p:val>
                                            <p:strVal val="0-#ppt_w/2"/>
                                          </p:val>
                                        </p:tav>
                                        <p:tav tm="100000">
                                          <p:val>
                                            <p:strVal val="#ppt_x"/>
                                          </p:val>
                                        </p:tav>
                                      </p:tavLst>
                                    </p:anim>
                                    <p:anim calcmode="lin" valueType="num">
                                      <p:cBhvr additive="base">
                                        <p:cTn id="20" dur="500" fill="hold"/>
                                        <p:tgtEl>
                                          <p:spTgt spid="6963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44"/>
                                        </p:tgtEl>
                                        <p:attrNameLst>
                                          <p:attrName>style.visibility</p:attrName>
                                        </p:attrNameLst>
                                      </p:cBhvr>
                                      <p:to>
                                        <p:strVal val="visible"/>
                                      </p:to>
                                    </p:set>
                                    <p:anim calcmode="lin" valueType="num">
                                      <p:cBhvr additive="base">
                                        <p:cTn id="25" dur="500" fill="hold"/>
                                        <p:tgtEl>
                                          <p:spTgt spid="69644"/>
                                        </p:tgtEl>
                                        <p:attrNameLst>
                                          <p:attrName>ppt_x</p:attrName>
                                        </p:attrNameLst>
                                      </p:cBhvr>
                                      <p:tavLst>
                                        <p:tav tm="0">
                                          <p:val>
                                            <p:strVal val="0-#ppt_w/2"/>
                                          </p:val>
                                        </p:tav>
                                        <p:tav tm="100000">
                                          <p:val>
                                            <p:strVal val="#ppt_x"/>
                                          </p:val>
                                        </p:tav>
                                      </p:tavLst>
                                    </p:anim>
                                    <p:anim calcmode="lin" valueType="num">
                                      <p:cBhvr additive="base">
                                        <p:cTn id="26" dur="500" fill="hold"/>
                                        <p:tgtEl>
                                          <p:spTgt spid="6964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645"/>
                                        </p:tgtEl>
                                        <p:attrNameLst>
                                          <p:attrName>style.visibility</p:attrName>
                                        </p:attrNameLst>
                                      </p:cBhvr>
                                      <p:to>
                                        <p:strVal val="visible"/>
                                      </p:to>
                                    </p:set>
                                    <p:anim calcmode="lin" valueType="num">
                                      <p:cBhvr additive="base">
                                        <p:cTn id="31" dur="500" fill="hold"/>
                                        <p:tgtEl>
                                          <p:spTgt spid="69645"/>
                                        </p:tgtEl>
                                        <p:attrNameLst>
                                          <p:attrName>ppt_x</p:attrName>
                                        </p:attrNameLst>
                                      </p:cBhvr>
                                      <p:tavLst>
                                        <p:tav tm="0">
                                          <p:val>
                                            <p:strVal val="0-#ppt_w/2"/>
                                          </p:val>
                                        </p:tav>
                                        <p:tav tm="100000">
                                          <p:val>
                                            <p:strVal val="#ppt_x"/>
                                          </p:val>
                                        </p:tav>
                                      </p:tavLst>
                                    </p:anim>
                                    <p:anim calcmode="lin" valueType="num">
                                      <p:cBhvr additive="base">
                                        <p:cTn id="32" dur="500" fill="hold"/>
                                        <p:tgtEl>
                                          <p:spTgt spid="69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P spid="69636" grpId="0" autoUpdateAnimBg="0"/>
      <p:bldP spid="69637" grpId="0" autoUpdateAnimBg="0"/>
      <p:bldP spid="69644" grpId="0" autoUpdateAnimBg="0"/>
      <p:bldP spid="69645"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805D677-ACEB-4A4A-993E-CF5450F7CC1F}"/>
              </a:ext>
            </a:extLst>
          </p:cNvPr>
          <p:cNvSpPr>
            <a:spLocks noGrp="1" noChangeArrowheads="1"/>
          </p:cNvSpPr>
          <p:nvPr>
            <p:ph type="title"/>
          </p:nvPr>
        </p:nvSpPr>
        <p:spPr bwMode="auto">
          <a:xfrm>
            <a:off x="685800" y="3333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a:t>递归回溯</a:t>
            </a:r>
            <a:r>
              <a:rPr lang="en-US" altLang="zh-CN" sz="4000" b="1"/>
              <a:t>-</a:t>
            </a:r>
            <a:r>
              <a:rPr lang="zh-CN" altLang="en-US" sz="4000" b="1"/>
              <a:t>统计解总数</a:t>
            </a:r>
          </a:p>
        </p:txBody>
      </p:sp>
      <p:sp>
        <p:nvSpPr>
          <p:cNvPr id="70659" name="Rectangle 3">
            <a:extLst>
              <a:ext uri="{FF2B5EF4-FFF2-40B4-BE49-F238E27FC236}">
                <a16:creationId xmlns:a16="http://schemas.microsoft.com/office/drawing/2014/main" id="{E698DC53-35A0-4B02-AE9C-9DD246D9E07C}"/>
              </a:ext>
            </a:extLst>
          </p:cNvPr>
          <p:cNvSpPr>
            <a:spLocks noGrp="1" noChangeArrowheads="1"/>
          </p:cNvSpPr>
          <p:nvPr>
            <p:ph type="body" idx="1"/>
          </p:nvPr>
        </p:nvSpPr>
        <p:spPr bwMode="auto">
          <a:xfrm>
            <a:off x="609600" y="1095375"/>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en-US" altLang="zh-CN" sz="2400" b="1" dirty="0"/>
              <a:t>n</a:t>
            </a:r>
            <a:r>
              <a:rPr lang="zh-CN" altLang="en-US" sz="2400" b="1" dirty="0"/>
              <a:t>：皇后个数</a:t>
            </a:r>
          </a:p>
          <a:p>
            <a:pPr algn="just" eaLnBrk="1" hangingPunct="1"/>
            <a:r>
              <a:rPr lang="en-US" altLang="zh-CN" sz="2400" b="1" dirty="0"/>
              <a:t>x</a:t>
            </a:r>
            <a:r>
              <a:rPr lang="zh-CN" altLang="en-US" sz="2400" b="1" dirty="0"/>
              <a:t>：当前解</a:t>
            </a:r>
          </a:p>
          <a:p>
            <a:pPr algn="just" eaLnBrk="1" hangingPunct="1"/>
            <a:r>
              <a:rPr lang="en-US" altLang="zh-CN" sz="2400" b="1" dirty="0"/>
              <a:t>sum</a:t>
            </a:r>
            <a:r>
              <a:rPr lang="zh-CN" altLang="en-US" sz="2400" b="1" dirty="0"/>
              <a:t>：当前已找到的可行方案数</a:t>
            </a:r>
          </a:p>
        </p:txBody>
      </p:sp>
      <p:sp>
        <p:nvSpPr>
          <p:cNvPr id="70660" name="Text Box 4">
            <a:extLst>
              <a:ext uri="{FF2B5EF4-FFF2-40B4-BE49-F238E27FC236}">
                <a16:creationId xmlns:a16="http://schemas.microsoft.com/office/drawing/2014/main" id="{D7273FB1-9A2A-42BD-8459-D29759201350}"/>
              </a:ext>
            </a:extLst>
          </p:cNvPr>
          <p:cNvSpPr txBox="1">
            <a:spLocks noChangeArrowheads="1"/>
          </p:cNvSpPr>
          <p:nvPr/>
        </p:nvSpPr>
        <p:spPr bwMode="auto">
          <a:xfrm>
            <a:off x="636588" y="2466975"/>
            <a:ext cx="774541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dirty="0">
                <a:ea typeface="华文中宋" panose="02010600040101010101" pitchFamily="2" charset="-122"/>
              </a:rPr>
              <a:t>void backtrack (int t)  {</a:t>
            </a:r>
          </a:p>
          <a:p>
            <a:pPr eaLnBrk="1" hangingPunct="1"/>
            <a:r>
              <a:rPr kumimoji="0" lang="en-US" altLang="zh-CN" dirty="0">
                <a:ea typeface="华文中宋" panose="02010600040101010101" pitchFamily="2" charset="-122"/>
              </a:rPr>
              <a:t>      if (t&gt;n) sum++;</a:t>
            </a:r>
          </a:p>
          <a:p>
            <a:pPr eaLnBrk="1" hangingPunct="1"/>
            <a:r>
              <a:rPr kumimoji="0" lang="en-US" altLang="zh-CN" dirty="0">
                <a:ea typeface="华文中宋" panose="02010600040101010101" pitchFamily="2" charset="-122"/>
              </a:rPr>
              <a:t>        else</a:t>
            </a:r>
          </a:p>
          <a:p>
            <a:pPr eaLnBrk="1" hangingPunct="1"/>
            <a:r>
              <a:rPr kumimoji="0" lang="en-US" altLang="zh-CN" dirty="0">
                <a:ea typeface="华文中宋" panose="02010600040101010101" pitchFamily="2" charset="-122"/>
              </a:rPr>
              <a:t>          for (int </a:t>
            </a:r>
            <a:r>
              <a:rPr kumimoji="0" lang="en-US" altLang="zh-CN" dirty="0" err="1">
                <a:ea typeface="华文中宋" panose="02010600040101010101" pitchFamily="2" charset="-122"/>
              </a:rPr>
              <a:t>i</a:t>
            </a:r>
            <a:r>
              <a:rPr kumimoji="0" lang="en-US" altLang="zh-CN" dirty="0">
                <a:ea typeface="华文中宋" panose="02010600040101010101" pitchFamily="2" charset="-122"/>
              </a:rPr>
              <a:t>=1;i&lt;=</a:t>
            </a:r>
            <a:r>
              <a:rPr kumimoji="0" lang="en-US" altLang="zh-CN" dirty="0" err="1">
                <a:ea typeface="华文中宋" panose="02010600040101010101" pitchFamily="2" charset="-122"/>
              </a:rPr>
              <a:t>n;i</a:t>
            </a:r>
            <a:r>
              <a:rPr kumimoji="0" lang="en-US" altLang="zh-CN" dirty="0">
                <a:ea typeface="华文中宋" panose="02010600040101010101" pitchFamily="2" charset="-122"/>
              </a:rPr>
              <a:t>++) {</a:t>
            </a:r>
          </a:p>
          <a:p>
            <a:pPr eaLnBrk="1" hangingPunct="1"/>
            <a:r>
              <a:rPr kumimoji="0" lang="en-US" altLang="zh-CN" dirty="0">
                <a:ea typeface="华文中宋" panose="02010600040101010101" pitchFamily="2" charset="-122"/>
              </a:rPr>
              <a:t>            x[t]=</a:t>
            </a:r>
            <a:r>
              <a:rPr kumimoji="0" lang="en-US" altLang="zh-CN" dirty="0" err="1">
                <a:ea typeface="华文中宋" panose="02010600040101010101" pitchFamily="2" charset="-122"/>
              </a:rPr>
              <a:t>i</a:t>
            </a:r>
            <a:r>
              <a:rPr kumimoji="0" lang="en-US" altLang="zh-CN" dirty="0">
                <a:ea typeface="华文中宋" panose="02010600040101010101" pitchFamily="2" charset="-122"/>
              </a:rPr>
              <a:t>;</a:t>
            </a:r>
          </a:p>
          <a:p>
            <a:pPr eaLnBrk="1" hangingPunct="1"/>
            <a:r>
              <a:rPr kumimoji="0" lang="en-US" altLang="zh-CN" dirty="0">
                <a:ea typeface="华文中宋" panose="02010600040101010101" pitchFamily="2" charset="-122"/>
              </a:rPr>
              <a:t>            if (place(t)) backtrack(t+1);</a:t>
            </a:r>
          </a:p>
          <a:p>
            <a:pPr eaLnBrk="1" hangingPunct="1"/>
            <a:r>
              <a:rPr kumimoji="0" lang="en-US" altLang="zh-CN" dirty="0">
                <a:ea typeface="华文中宋" panose="02010600040101010101" pitchFamily="2" charset="-122"/>
              </a:rPr>
              <a:t>           }</a:t>
            </a:r>
          </a:p>
          <a:p>
            <a:pPr eaLnBrk="1" hangingPunct="1"/>
            <a:r>
              <a:rPr kumimoji="0" lang="en-US" altLang="zh-CN" dirty="0">
                <a:ea typeface="华文中宋" panose="02010600040101010101" pitchFamily="2" charset="-122"/>
              </a:rPr>
              <a:t>  }</a:t>
            </a:r>
          </a:p>
        </p:txBody>
      </p:sp>
      <p:sp>
        <p:nvSpPr>
          <p:cNvPr id="70661" name="Text Box 5">
            <a:extLst>
              <a:ext uri="{FF2B5EF4-FFF2-40B4-BE49-F238E27FC236}">
                <a16:creationId xmlns:a16="http://schemas.microsoft.com/office/drawing/2014/main" id="{AFCF1D9C-2508-4C93-900D-E6C6FF746D5A}"/>
              </a:ext>
            </a:extLst>
          </p:cNvPr>
          <p:cNvSpPr txBox="1">
            <a:spLocks noChangeArrowheads="1"/>
          </p:cNvSpPr>
          <p:nvPr/>
        </p:nvSpPr>
        <p:spPr bwMode="auto">
          <a:xfrm>
            <a:off x="1219200" y="5438775"/>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dirty="0">
                <a:latin typeface="Arial" panose="020B0604020202020204" pitchFamily="34" charset="0"/>
                <a:ea typeface="华文中宋" panose="02010600040101010101" pitchFamily="2" charset="-122"/>
              </a:rPr>
              <a:t>调用：</a:t>
            </a:r>
            <a:r>
              <a:rPr kumimoji="0" lang="en-US" altLang="zh-CN" dirty="0">
                <a:latin typeface="Arial" panose="020B0604020202020204" pitchFamily="34" charset="0"/>
                <a:ea typeface="华文中宋" panose="02010600040101010101" pitchFamily="2" charset="-122"/>
              </a:rPr>
              <a:t>backtrack</a:t>
            </a:r>
            <a:r>
              <a:rPr kumimoji="0" lang="en-US" altLang="zh-CN" b="0" dirty="0">
                <a:latin typeface="Arial" panose="020B0604020202020204" pitchFamily="34" charset="0"/>
                <a:ea typeface="华文中宋" panose="02010600040101010101" pitchFamily="2" charset="-122"/>
              </a:rPr>
              <a:t>(1);</a:t>
            </a:r>
          </a:p>
        </p:txBody>
      </p:sp>
      <p:sp>
        <p:nvSpPr>
          <p:cNvPr id="70663" name="AutoShape 7">
            <a:extLst>
              <a:ext uri="{FF2B5EF4-FFF2-40B4-BE49-F238E27FC236}">
                <a16:creationId xmlns:a16="http://schemas.microsoft.com/office/drawing/2014/main" id="{BE6FBA28-58BC-478C-80BB-2015C027F909}"/>
              </a:ext>
            </a:extLst>
          </p:cNvPr>
          <p:cNvSpPr>
            <a:spLocks noChangeArrowheads="1"/>
          </p:cNvSpPr>
          <p:nvPr/>
        </p:nvSpPr>
        <p:spPr bwMode="auto">
          <a:xfrm>
            <a:off x="5076825" y="4953000"/>
            <a:ext cx="1943100" cy="914400"/>
          </a:xfrm>
          <a:prstGeom prst="wedgeRoundRectCallout">
            <a:avLst>
              <a:gd name="adj1" fmla="val -150245"/>
              <a:gd name="adj2" fmla="val -74653"/>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rgbClr val="FF0000"/>
                </a:solidFill>
                <a:ea typeface="华文中宋" panose="02010600040101010101" pitchFamily="2" charset="-122"/>
              </a:rPr>
              <a:t>约束</a:t>
            </a:r>
            <a:r>
              <a:rPr lang="zh-CN" altLang="en-US" dirty="0">
                <a:solidFill>
                  <a:srgbClr val="FF0000"/>
                </a:solidFill>
                <a:latin typeface="华文中宋" panose="02010600040101010101" pitchFamily="2" charset="-122"/>
                <a:ea typeface="华文中宋" panose="02010600040101010101" pitchFamily="2" charset="-122"/>
              </a:rPr>
              <a:t>函数： </a:t>
            </a:r>
            <a:r>
              <a:rPr kumimoji="0" lang="en-US" altLang="zh-CN" dirty="0">
                <a:latin typeface="Arial" panose="020B0604020202020204" pitchFamily="34" charset="0"/>
                <a:ea typeface="华文中宋" panose="02010600040101010101" pitchFamily="2" charset="-122"/>
              </a:rPr>
              <a:t>place(t)</a:t>
            </a:r>
          </a:p>
          <a:p>
            <a:pPr algn="ctr" eaLnBrk="1" hangingPunct="1"/>
            <a:endParaRPr lang="en-US" altLang="zh-CN" b="0" dirty="0">
              <a:ea typeface="华文中宋" panose="02010600040101010101" pitchFamily="2" charset="-122"/>
            </a:endParaRPr>
          </a:p>
        </p:txBody>
      </p:sp>
      <p:sp>
        <p:nvSpPr>
          <p:cNvPr id="70664" name="AutoShape 8">
            <a:extLst>
              <a:ext uri="{FF2B5EF4-FFF2-40B4-BE49-F238E27FC236}">
                <a16:creationId xmlns:a16="http://schemas.microsoft.com/office/drawing/2014/main" id="{EF844DA6-DB38-4C51-81C9-1F4D141B21AD}"/>
              </a:ext>
            </a:extLst>
          </p:cNvPr>
          <p:cNvSpPr>
            <a:spLocks noChangeArrowheads="1"/>
          </p:cNvSpPr>
          <p:nvPr/>
        </p:nvSpPr>
        <p:spPr bwMode="auto">
          <a:xfrm>
            <a:off x="5486400" y="1628775"/>
            <a:ext cx="3657600" cy="1295400"/>
          </a:xfrm>
          <a:prstGeom prst="wedgeRoundRectCallout">
            <a:avLst>
              <a:gd name="adj1" fmla="val -87241"/>
              <a:gd name="adj2" fmla="val 165810"/>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ea typeface="华文中宋" panose="02010600040101010101" pitchFamily="2" charset="-122"/>
              </a:rPr>
              <a:t>本问题：排列树</a:t>
            </a:r>
          </a:p>
          <a:p>
            <a:pPr eaLnBrk="1" hangingPunct="1"/>
            <a:r>
              <a:rPr lang="zh-CN" altLang="en-US" dirty="0">
                <a:solidFill>
                  <a:srgbClr val="FF0000"/>
                </a:solidFill>
                <a:ea typeface="华文中宋" panose="02010600040101010101" pitchFamily="2" charset="-122"/>
              </a:rPr>
              <a:t>约束条件：由</a:t>
            </a:r>
            <a:r>
              <a:rPr kumimoji="0" lang="en-US" altLang="zh-CN" dirty="0">
                <a:solidFill>
                  <a:srgbClr val="FF0000"/>
                </a:solidFill>
                <a:latin typeface="Arial" panose="020B0604020202020204" pitchFamily="34" charset="0"/>
                <a:ea typeface="华文中宋" panose="02010600040101010101" pitchFamily="2" charset="-122"/>
              </a:rPr>
              <a:t>place(t)</a:t>
            </a:r>
            <a:r>
              <a:rPr kumimoji="0" lang="zh-CN" altLang="en-US" dirty="0">
                <a:solidFill>
                  <a:srgbClr val="FF0000"/>
                </a:solidFill>
                <a:latin typeface="Arial" panose="020B0604020202020204" pitchFamily="34" charset="0"/>
                <a:ea typeface="华文中宋" panose="02010600040101010101" pitchFamily="2" charset="-122"/>
              </a:rPr>
              <a:t>控制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659">
                                            <p:txEl>
                                              <p:pRg st="2" end="2"/>
                                            </p:txEl>
                                          </p:spTgt>
                                        </p:tgtEl>
                                        <p:attrNameLst>
                                          <p:attrName>style.visibility</p:attrName>
                                        </p:attrNameLst>
                                      </p:cBhvr>
                                      <p:to>
                                        <p:strVal val="visible"/>
                                      </p:to>
                                    </p:set>
                                    <p:anim calcmode="lin" valueType="num">
                                      <p:cBhvr additive="base">
                                        <p:cTn id="19" dur="500" fill="hold"/>
                                        <p:tgtEl>
                                          <p:spTgt spid="706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0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0660"/>
                                        </p:tgtEl>
                                        <p:attrNameLst>
                                          <p:attrName>style.visibility</p:attrName>
                                        </p:attrNameLst>
                                      </p:cBhvr>
                                      <p:to>
                                        <p:strVal val="visible"/>
                                      </p:to>
                                    </p:set>
                                    <p:anim calcmode="lin" valueType="num">
                                      <p:cBhvr additive="base">
                                        <p:cTn id="25" dur="500" fill="hold"/>
                                        <p:tgtEl>
                                          <p:spTgt spid="70660"/>
                                        </p:tgtEl>
                                        <p:attrNameLst>
                                          <p:attrName>ppt_x</p:attrName>
                                        </p:attrNameLst>
                                      </p:cBhvr>
                                      <p:tavLst>
                                        <p:tav tm="0">
                                          <p:val>
                                            <p:strVal val="0-#ppt_w/2"/>
                                          </p:val>
                                        </p:tav>
                                        <p:tav tm="100000">
                                          <p:val>
                                            <p:strVal val="#ppt_x"/>
                                          </p:val>
                                        </p:tav>
                                      </p:tavLst>
                                    </p:anim>
                                    <p:anim calcmode="lin" valueType="num">
                                      <p:cBhvr additive="base">
                                        <p:cTn id="26" dur="500" fill="hold"/>
                                        <p:tgtEl>
                                          <p:spTgt spid="7066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0661"/>
                                        </p:tgtEl>
                                        <p:attrNameLst>
                                          <p:attrName>style.visibility</p:attrName>
                                        </p:attrNameLst>
                                      </p:cBhvr>
                                      <p:to>
                                        <p:strVal val="visible"/>
                                      </p:to>
                                    </p:set>
                                    <p:anim calcmode="lin" valueType="num">
                                      <p:cBhvr additive="base">
                                        <p:cTn id="31" dur="500" fill="hold"/>
                                        <p:tgtEl>
                                          <p:spTgt spid="70661"/>
                                        </p:tgtEl>
                                        <p:attrNameLst>
                                          <p:attrName>ppt_x</p:attrName>
                                        </p:attrNameLst>
                                      </p:cBhvr>
                                      <p:tavLst>
                                        <p:tav tm="0">
                                          <p:val>
                                            <p:strVal val="0-#ppt_w/2"/>
                                          </p:val>
                                        </p:tav>
                                        <p:tav tm="100000">
                                          <p:val>
                                            <p:strVal val="#ppt_x"/>
                                          </p:val>
                                        </p:tav>
                                      </p:tavLst>
                                    </p:anim>
                                    <p:anim calcmode="lin" valueType="num">
                                      <p:cBhvr additive="base">
                                        <p:cTn id="32" dur="500" fill="hold"/>
                                        <p:tgtEl>
                                          <p:spTgt spid="7066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0663"/>
                                        </p:tgtEl>
                                        <p:attrNameLst>
                                          <p:attrName>style.visibility</p:attrName>
                                        </p:attrNameLst>
                                      </p:cBhvr>
                                      <p:to>
                                        <p:strVal val="visible"/>
                                      </p:to>
                                    </p:set>
                                    <p:anim calcmode="lin" valueType="num">
                                      <p:cBhvr additive="base">
                                        <p:cTn id="37" dur="500" fill="hold"/>
                                        <p:tgtEl>
                                          <p:spTgt spid="70663"/>
                                        </p:tgtEl>
                                        <p:attrNameLst>
                                          <p:attrName>ppt_x</p:attrName>
                                        </p:attrNameLst>
                                      </p:cBhvr>
                                      <p:tavLst>
                                        <p:tav tm="0">
                                          <p:val>
                                            <p:strVal val="0-#ppt_w/2"/>
                                          </p:val>
                                        </p:tav>
                                        <p:tav tm="100000">
                                          <p:val>
                                            <p:strVal val="#ppt_x"/>
                                          </p:val>
                                        </p:tav>
                                      </p:tavLst>
                                    </p:anim>
                                    <p:anim calcmode="lin" valueType="num">
                                      <p:cBhvr additive="base">
                                        <p:cTn id="38" dur="500" fill="hold"/>
                                        <p:tgtEl>
                                          <p:spTgt spid="70663"/>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0664"/>
                                        </p:tgtEl>
                                        <p:attrNameLst>
                                          <p:attrName>style.visibility</p:attrName>
                                        </p:attrNameLst>
                                      </p:cBhvr>
                                      <p:to>
                                        <p:strVal val="visible"/>
                                      </p:to>
                                    </p:set>
                                    <p:anim calcmode="lin" valueType="num">
                                      <p:cBhvr additive="base">
                                        <p:cTn id="43" dur="500" fill="hold"/>
                                        <p:tgtEl>
                                          <p:spTgt spid="70664"/>
                                        </p:tgtEl>
                                        <p:attrNameLst>
                                          <p:attrName>ppt_x</p:attrName>
                                        </p:attrNameLst>
                                      </p:cBhvr>
                                      <p:tavLst>
                                        <p:tav tm="0">
                                          <p:val>
                                            <p:strVal val="0-#ppt_w/2"/>
                                          </p:val>
                                        </p:tav>
                                        <p:tav tm="100000">
                                          <p:val>
                                            <p:strVal val="#ppt_x"/>
                                          </p:val>
                                        </p:tav>
                                      </p:tavLst>
                                    </p:anim>
                                    <p:anim calcmode="lin" valueType="num">
                                      <p:cBhvr additive="base">
                                        <p:cTn id="44" dur="500" fill="hold"/>
                                        <p:tgtEl>
                                          <p:spTgt spid="706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P spid="70660" grpId="0" autoUpdateAnimBg="0"/>
      <p:bldP spid="70661" grpId="0" autoUpdateAnimBg="0"/>
      <p:bldP spid="70663" grpId="0" animBg="1" autoUpdateAnimBg="0"/>
      <p:bldP spid="70664"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9AF29E8-F2CB-4C97-9369-7AC2A82E16E9}"/>
              </a:ext>
            </a:extLst>
          </p:cNvPr>
          <p:cNvSpPr>
            <a:spLocks noGrp="1" noChangeArrowheads="1"/>
          </p:cNvSpPr>
          <p:nvPr>
            <p:ph type="title"/>
          </p:nvPr>
        </p:nvSpPr>
        <p:spPr bwMode="auto">
          <a:xfrm>
            <a:off x="685800" y="304800"/>
            <a:ext cx="21336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zh-CN" altLang="en-US" sz="3600" b="1"/>
              <a:t>迭代回溯</a:t>
            </a:r>
          </a:p>
        </p:txBody>
      </p:sp>
      <p:sp>
        <p:nvSpPr>
          <p:cNvPr id="47107" name="Rectangle 3">
            <a:extLst>
              <a:ext uri="{FF2B5EF4-FFF2-40B4-BE49-F238E27FC236}">
                <a16:creationId xmlns:a16="http://schemas.microsoft.com/office/drawing/2014/main" id="{F4E90EB3-B117-4A0E-9EA6-49F7C6D5C047}"/>
              </a:ext>
            </a:extLst>
          </p:cNvPr>
          <p:cNvSpPr>
            <a:spLocks noGrp="1" noChangeArrowheads="1"/>
          </p:cNvSpPr>
          <p:nvPr>
            <p:ph type="body" idx="1"/>
          </p:nvPr>
        </p:nvSpPr>
        <p:spPr bwMode="auto">
          <a:xfrm>
            <a:off x="609600" y="1066800"/>
            <a:ext cx="8229600" cy="548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lang="en-US" altLang="zh-CN" sz="2000" b="1" dirty="0"/>
              <a:t>void    N-queens(n){</a:t>
            </a:r>
          </a:p>
          <a:p>
            <a:pPr eaLnBrk="1" hangingPunct="1">
              <a:lnSpc>
                <a:spcPct val="90000"/>
              </a:lnSpc>
              <a:spcBef>
                <a:spcPct val="50000"/>
              </a:spcBef>
              <a:buFontTx/>
              <a:buNone/>
            </a:pPr>
            <a:r>
              <a:rPr lang="en-US" altLang="zh-CN" sz="2000" b="1" dirty="0"/>
              <a:t>    x[1]= 0;    k = 1;      //k</a:t>
            </a:r>
            <a:r>
              <a:rPr lang="zh-CN" altLang="en-US" sz="2000" b="1" dirty="0"/>
              <a:t>为层次</a:t>
            </a:r>
            <a:endParaRPr lang="en-US" altLang="zh-CN" sz="2000" b="1" dirty="0"/>
          </a:p>
          <a:p>
            <a:pPr eaLnBrk="1" hangingPunct="1">
              <a:lnSpc>
                <a:spcPct val="90000"/>
              </a:lnSpc>
              <a:spcBef>
                <a:spcPct val="50000"/>
              </a:spcBef>
              <a:buFontTx/>
              <a:buNone/>
            </a:pPr>
            <a:r>
              <a:rPr lang="en-US" altLang="zh-CN" sz="2000" b="1" dirty="0"/>
              <a:t>    while  (k &gt; 0)</a:t>
            </a:r>
            <a:r>
              <a:rPr lang="en-US" altLang="zh-CN" sz="2000" b="1" dirty="0">
                <a:solidFill>
                  <a:schemeClr val="tx2"/>
                </a:solidFill>
              </a:rPr>
              <a:t>   {</a:t>
            </a:r>
            <a:r>
              <a:rPr lang="en-US" altLang="zh-CN" sz="2000" b="1" dirty="0"/>
              <a:t> </a:t>
            </a:r>
          </a:p>
          <a:p>
            <a:pPr eaLnBrk="1" hangingPunct="1">
              <a:lnSpc>
                <a:spcPct val="90000"/>
              </a:lnSpc>
              <a:spcBef>
                <a:spcPct val="50000"/>
              </a:spcBef>
              <a:buFontTx/>
              <a:buNone/>
            </a:pPr>
            <a:r>
              <a:rPr lang="en-US" altLang="zh-CN" sz="2000" b="1" dirty="0"/>
              <a:t>          x[k] = x[k] + 1;</a:t>
            </a:r>
          </a:p>
          <a:p>
            <a:pPr eaLnBrk="1" hangingPunct="1">
              <a:lnSpc>
                <a:spcPct val="90000"/>
              </a:lnSpc>
              <a:spcBef>
                <a:spcPct val="50000"/>
              </a:spcBef>
              <a:buFontTx/>
              <a:buNone/>
            </a:pPr>
            <a:r>
              <a:rPr lang="en-US" altLang="zh-CN" sz="2000" b="1" dirty="0"/>
              <a:t>          while(</a:t>
            </a:r>
            <a:r>
              <a:rPr lang="en-US" altLang="zh-CN" sz="2000" b="1" dirty="0">
                <a:solidFill>
                  <a:schemeClr val="tx2"/>
                </a:solidFill>
              </a:rPr>
              <a:t>  (x[k] </a:t>
            </a:r>
            <a:r>
              <a:rPr lang="en-US" altLang="zh-CN" sz="2000" b="1" dirty="0">
                <a:solidFill>
                  <a:schemeClr val="tx2"/>
                </a:solidFill>
                <a:sym typeface="Symbol" panose="05050102010706020507" pitchFamily="18" charset="2"/>
              </a:rPr>
              <a:t>&lt;= n)</a:t>
            </a:r>
            <a:r>
              <a:rPr lang="en-US" altLang="zh-CN" sz="2000" b="1" dirty="0">
                <a:sym typeface="Symbol" panose="05050102010706020507" pitchFamily="18" charset="2"/>
              </a:rPr>
              <a:t> &amp;&amp;!place(k))  //</a:t>
            </a:r>
            <a:r>
              <a:rPr lang="zh-CN" altLang="en-US" sz="2000" b="1" dirty="0">
                <a:solidFill>
                  <a:schemeClr val="tx2"/>
                </a:solidFill>
                <a:sym typeface="Symbol" panose="05050102010706020507" pitchFamily="18" charset="2"/>
              </a:rPr>
              <a:t>当前位置不合适</a:t>
            </a:r>
          </a:p>
          <a:p>
            <a:pPr eaLnBrk="1" hangingPunct="1">
              <a:lnSpc>
                <a:spcPct val="90000"/>
              </a:lnSpc>
              <a:spcBef>
                <a:spcPct val="50000"/>
              </a:spcBef>
              <a:buFontTx/>
              <a:buNone/>
            </a:pPr>
            <a:r>
              <a:rPr lang="zh-CN" altLang="en-US" sz="2000" b="1" dirty="0"/>
              <a:t>                     </a:t>
            </a:r>
            <a:r>
              <a:rPr lang="en-US" altLang="zh-CN" sz="2000" b="1" dirty="0"/>
              <a:t>x[k]= x[k] + 1;</a:t>
            </a:r>
            <a:r>
              <a:rPr lang="zh-CN" altLang="en-US" sz="2000" b="1" dirty="0">
                <a:solidFill>
                  <a:schemeClr val="tx2"/>
                </a:solidFill>
                <a:sym typeface="Symbol" panose="05050102010706020507" pitchFamily="18" charset="2"/>
              </a:rPr>
              <a:t>                     </a:t>
            </a:r>
            <a:r>
              <a:rPr lang="en-US" altLang="zh-CN" sz="2000" b="1" dirty="0">
                <a:solidFill>
                  <a:schemeClr val="tx2"/>
                </a:solidFill>
                <a:sym typeface="Symbol" panose="05050102010706020507" pitchFamily="18" charset="2"/>
              </a:rPr>
              <a:t>//</a:t>
            </a:r>
            <a:r>
              <a:rPr lang="zh-CN" altLang="en-US" sz="2000" b="1" dirty="0">
                <a:solidFill>
                  <a:schemeClr val="tx2"/>
                </a:solidFill>
                <a:sym typeface="Symbol" panose="05050102010706020507" pitchFamily="18" charset="2"/>
              </a:rPr>
              <a:t>尝试下一个位置</a:t>
            </a:r>
            <a:endParaRPr lang="en-US" altLang="zh-CN" sz="2000" b="1" dirty="0"/>
          </a:p>
          <a:p>
            <a:pPr eaLnBrk="1" hangingPunct="1">
              <a:lnSpc>
                <a:spcPct val="90000"/>
              </a:lnSpc>
              <a:spcBef>
                <a:spcPct val="50000"/>
              </a:spcBef>
              <a:buFontTx/>
              <a:buNone/>
            </a:pPr>
            <a:r>
              <a:rPr lang="en-US" altLang="zh-CN" sz="2400" b="1" dirty="0"/>
              <a:t>             </a:t>
            </a:r>
            <a:r>
              <a:rPr lang="en-US" altLang="zh-CN" sz="2400" b="1" dirty="0">
                <a:solidFill>
                  <a:srgbClr val="FF0000"/>
                </a:solidFill>
              </a:rPr>
              <a:t>if  (x[k]  &lt;=  n) </a:t>
            </a:r>
          </a:p>
          <a:p>
            <a:pPr eaLnBrk="1" hangingPunct="1">
              <a:lnSpc>
                <a:spcPct val="90000"/>
              </a:lnSpc>
              <a:spcBef>
                <a:spcPct val="50000"/>
              </a:spcBef>
              <a:buFontTx/>
              <a:buNone/>
            </a:pPr>
            <a:r>
              <a:rPr lang="en-US" altLang="zh-CN" sz="2400" b="1" dirty="0"/>
              <a:t>                  if  (k == n) sum++;</a:t>
            </a:r>
            <a:endParaRPr lang="zh-CN" altLang="zh-CN" sz="2400" b="1" dirty="0"/>
          </a:p>
          <a:p>
            <a:pPr eaLnBrk="1" hangingPunct="1">
              <a:lnSpc>
                <a:spcPct val="90000"/>
              </a:lnSpc>
              <a:spcBef>
                <a:spcPct val="50000"/>
              </a:spcBef>
              <a:buFontTx/>
              <a:buNone/>
            </a:pPr>
            <a:r>
              <a:rPr lang="en-US" altLang="zh-CN" sz="2400" b="1" dirty="0"/>
              <a:t>                  else {     //</a:t>
            </a:r>
            <a:r>
              <a:rPr lang="zh-CN" altLang="en-US" sz="2400" b="1" dirty="0">
                <a:solidFill>
                  <a:schemeClr val="accent1"/>
                </a:solidFill>
              </a:rPr>
              <a:t>设置</a:t>
            </a:r>
            <a:r>
              <a:rPr lang="zh-CN" altLang="en-US" sz="2400" b="1" dirty="0">
                <a:solidFill>
                  <a:schemeClr val="tx2"/>
                </a:solidFill>
              </a:rPr>
              <a:t>禁止放置皇后的“标志”；</a:t>
            </a:r>
            <a:endParaRPr lang="zh-CN" altLang="en-US" sz="2400" b="1" dirty="0"/>
          </a:p>
          <a:p>
            <a:pPr eaLnBrk="1" hangingPunct="1">
              <a:lnSpc>
                <a:spcPct val="90000"/>
              </a:lnSpc>
              <a:spcBef>
                <a:spcPct val="50000"/>
              </a:spcBef>
              <a:buFontTx/>
              <a:buNone/>
            </a:pPr>
            <a:r>
              <a:rPr lang="zh-CN" altLang="en-US" sz="2400" b="1" dirty="0"/>
              <a:t>                         </a:t>
            </a:r>
            <a:r>
              <a:rPr lang="en-US" altLang="zh-CN" sz="2400" b="1" dirty="0"/>
              <a:t>k= k + 1;    x[k]= 0  }</a:t>
            </a:r>
          </a:p>
          <a:p>
            <a:pPr eaLnBrk="1" hangingPunct="1">
              <a:lnSpc>
                <a:spcPct val="90000"/>
              </a:lnSpc>
              <a:spcBef>
                <a:spcPct val="50000"/>
              </a:spcBef>
              <a:buFontTx/>
              <a:buNone/>
            </a:pPr>
            <a:r>
              <a:rPr lang="en-US" altLang="zh-CN" sz="2400" b="1" dirty="0"/>
              <a:t>             </a:t>
            </a:r>
            <a:r>
              <a:rPr lang="en-US" altLang="zh-CN" sz="2400" b="1" dirty="0">
                <a:solidFill>
                  <a:srgbClr val="FF0000"/>
                </a:solidFill>
              </a:rPr>
              <a:t>else k --;   }</a:t>
            </a:r>
          </a:p>
          <a:p>
            <a:pPr eaLnBrk="1" hangingPunct="1">
              <a:lnSpc>
                <a:spcPct val="90000"/>
              </a:lnSpc>
              <a:spcBef>
                <a:spcPct val="50000"/>
              </a:spcBef>
              <a:buFontTx/>
              <a:buNone/>
            </a:pPr>
            <a:r>
              <a:rPr lang="en-US" altLang="zh-CN" sz="2400" b="1" dirty="0"/>
              <a:t>}</a:t>
            </a:r>
          </a:p>
        </p:txBody>
      </p:sp>
      <p:sp>
        <p:nvSpPr>
          <p:cNvPr id="71684" name="AutoShape 4">
            <a:extLst>
              <a:ext uri="{FF2B5EF4-FFF2-40B4-BE49-F238E27FC236}">
                <a16:creationId xmlns:a16="http://schemas.microsoft.com/office/drawing/2014/main" id="{52D6734C-41C8-4A4E-8F60-0DD96B9227EB}"/>
              </a:ext>
            </a:extLst>
          </p:cNvPr>
          <p:cNvSpPr>
            <a:spLocks noChangeArrowheads="1"/>
          </p:cNvSpPr>
          <p:nvPr/>
        </p:nvSpPr>
        <p:spPr bwMode="auto">
          <a:xfrm>
            <a:off x="4724400" y="838200"/>
            <a:ext cx="2971800" cy="990600"/>
          </a:xfrm>
          <a:prstGeom prst="wedgeRoundRectCallout">
            <a:avLst>
              <a:gd name="adj1" fmla="val -43750"/>
              <a:gd name="adj2" fmla="val 70000"/>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ea typeface="华文中宋" panose="02010600040101010101" pitchFamily="2" charset="-122"/>
              </a:rPr>
              <a:t>练习：给定</a:t>
            </a:r>
            <a:r>
              <a:rPr lang="en-US" altLang="zh-CN" dirty="0">
                <a:ea typeface="华文中宋" panose="02010600040101010101" pitchFamily="2" charset="-122"/>
              </a:rPr>
              <a:t>n</a:t>
            </a:r>
            <a:r>
              <a:rPr lang="zh-CN" altLang="en-US" dirty="0">
                <a:ea typeface="华文中宋" panose="02010600040101010101" pitchFamily="2" charset="-122"/>
              </a:rPr>
              <a:t>，输出几组解</a:t>
            </a:r>
          </a:p>
        </p:txBody>
      </p:sp>
      <p:sp>
        <p:nvSpPr>
          <p:cNvPr id="71685" name="Rectangle 5">
            <a:extLst>
              <a:ext uri="{FF2B5EF4-FFF2-40B4-BE49-F238E27FC236}">
                <a16:creationId xmlns:a16="http://schemas.microsoft.com/office/drawing/2014/main" id="{6BE706D6-9FF6-41BD-80C0-ADC9969DE834}"/>
              </a:ext>
            </a:extLst>
          </p:cNvPr>
          <p:cNvSpPr>
            <a:spLocks noChangeArrowheads="1"/>
          </p:cNvSpPr>
          <p:nvPr/>
        </p:nvSpPr>
        <p:spPr bwMode="auto">
          <a:xfrm>
            <a:off x="4787900" y="5734050"/>
            <a:ext cx="3962400" cy="838200"/>
          </a:xfrm>
          <a:prstGeom prst="rect">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solidFill>
                  <a:srgbClr val="FF0000"/>
                </a:solidFill>
                <a:ea typeface="华文中宋" panose="02010600040101010101" pitchFamily="2" charset="-122"/>
              </a:rPr>
              <a:t>这是迭代回溯法的很好例子，应学好</a:t>
            </a:r>
          </a:p>
        </p:txBody>
      </p:sp>
      <p:sp>
        <p:nvSpPr>
          <p:cNvPr id="71687" name="AutoShape 7">
            <a:extLst>
              <a:ext uri="{FF2B5EF4-FFF2-40B4-BE49-F238E27FC236}">
                <a16:creationId xmlns:a16="http://schemas.microsoft.com/office/drawing/2014/main" id="{8DA6DDFC-B280-4A48-9CCE-990E245D710A}"/>
              </a:ext>
            </a:extLst>
          </p:cNvPr>
          <p:cNvSpPr>
            <a:spLocks noChangeArrowheads="1"/>
          </p:cNvSpPr>
          <p:nvPr/>
        </p:nvSpPr>
        <p:spPr bwMode="auto">
          <a:xfrm>
            <a:off x="5286375" y="3571875"/>
            <a:ext cx="1828800" cy="533400"/>
          </a:xfrm>
          <a:prstGeom prst="wedgeRoundRectCallout">
            <a:avLst>
              <a:gd name="adj1" fmla="val -89894"/>
              <a:gd name="adj2" fmla="val 93338"/>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ea typeface="华文中宋" panose="02010600040101010101" pitchFamily="2" charset="-122"/>
              </a:rPr>
              <a:t>统计解数</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0CD7F8BB-1B5D-4901-AC32-E06BFB95125B}"/>
                  </a:ext>
                </a:extLst>
              </p14:cNvPr>
              <p14:cNvContentPartPr/>
              <p14:nvPr/>
            </p14:nvContentPartPr>
            <p14:xfrm>
              <a:off x="1577880" y="3067920"/>
              <a:ext cx="3144960" cy="3155400"/>
            </p14:xfrm>
          </p:contentPart>
        </mc:Choice>
        <mc:Fallback xmlns="">
          <p:pic>
            <p:nvPicPr>
              <p:cNvPr id="2" name="墨迹 1">
                <a:extLst>
                  <a:ext uri="{FF2B5EF4-FFF2-40B4-BE49-F238E27FC236}">
                    <a16:creationId xmlns:a16="http://schemas.microsoft.com/office/drawing/2014/main" id="{0CD7F8BB-1B5D-4901-AC32-E06BFB95125B}"/>
                  </a:ext>
                </a:extLst>
              </p:cNvPr>
              <p:cNvPicPr/>
              <p:nvPr/>
            </p:nvPicPr>
            <p:blipFill>
              <a:blip r:embed="rId3"/>
              <a:stretch>
                <a:fillRect/>
              </a:stretch>
            </p:blipFill>
            <p:spPr>
              <a:xfrm>
                <a:off x="1568520" y="3058560"/>
                <a:ext cx="3163680" cy="3174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7"/>
                                        </p:tgtEl>
                                        <p:attrNameLst>
                                          <p:attrName>style.visibility</p:attrName>
                                        </p:attrNameLst>
                                      </p:cBhvr>
                                      <p:to>
                                        <p:strVal val="visible"/>
                                      </p:to>
                                    </p:set>
                                    <p:anim calcmode="lin" valueType="num">
                                      <p:cBhvr additive="base">
                                        <p:cTn id="7" dur="500" fill="hold"/>
                                        <p:tgtEl>
                                          <p:spTgt spid="71687"/>
                                        </p:tgtEl>
                                        <p:attrNameLst>
                                          <p:attrName>ppt_x</p:attrName>
                                        </p:attrNameLst>
                                      </p:cBhvr>
                                      <p:tavLst>
                                        <p:tav tm="0">
                                          <p:val>
                                            <p:strVal val="0-#ppt_w/2"/>
                                          </p:val>
                                        </p:tav>
                                        <p:tav tm="100000">
                                          <p:val>
                                            <p:strVal val="#ppt_x"/>
                                          </p:val>
                                        </p:tav>
                                      </p:tavLst>
                                    </p:anim>
                                    <p:anim calcmode="lin" valueType="num">
                                      <p:cBhvr additive="base">
                                        <p:cTn id="8" dur="500" fill="hold"/>
                                        <p:tgtEl>
                                          <p:spTgt spid="7168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4"/>
                                        </p:tgtEl>
                                        <p:attrNameLst>
                                          <p:attrName>style.visibility</p:attrName>
                                        </p:attrNameLst>
                                      </p:cBhvr>
                                      <p:to>
                                        <p:strVal val="visible"/>
                                      </p:to>
                                    </p:set>
                                    <p:anim calcmode="lin" valueType="num">
                                      <p:cBhvr additive="base">
                                        <p:cTn id="13" dur="500" fill="hold"/>
                                        <p:tgtEl>
                                          <p:spTgt spid="71684"/>
                                        </p:tgtEl>
                                        <p:attrNameLst>
                                          <p:attrName>ppt_x</p:attrName>
                                        </p:attrNameLst>
                                      </p:cBhvr>
                                      <p:tavLst>
                                        <p:tav tm="0">
                                          <p:val>
                                            <p:strVal val="0-#ppt_w/2"/>
                                          </p:val>
                                        </p:tav>
                                        <p:tav tm="100000">
                                          <p:val>
                                            <p:strVal val="#ppt_x"/>
                                          </p:val>
                                        </p:tav>
                                      </p:tavLst>
                                    </p:anim>
                                    <p:anim calcmode="lin" valueType="num">
                                      <p:cBhvr additive="base">
                                        <p:cTn id="14"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1685"/>
                                        </p:tgtEl>
                                        <p:attrNameLst>
                                          <p:attrName>style.visibility</p:attrName>
                                        </p:attrNameLst>
                                      </p:cBhvr>
                                      <p:to>
                                        <p:strVal val="visible"/>
                                      </p:to>
                                    </p:set>
                                    <p:anim calcmode="lin" valueType="num">
                                      <p:cBhvr additive="base">
                                        <p:cTn id="19" dur="500" fill="hold"/>
                                        <p:tgtEl>
                                          <p:spTgt spid="71685"/>
                                        </p:tgtEl>
                                        <p:attrNameLst>
                                          <p:attrName>ppt_x</p:attrName>
                                        </p:attrNameLst>
                                      </p:cBhvr>
                                      <p:tavLst>
                                        <p:tav tm="0">
                                          <p:val>
                                            <p:strVal val="0-#ppt_w/2"/>
                                          </p:val>
                                        </p:tav>
                                        <p:tav tm="100000">
                                          <p:val>
                                            <p:strVal val="#ppt_x"/>
                                          </p:val>
                                        </p:tav>
                                      </p:tavLst>
                                    </p:anim>
                                    <p:anim calcmode="lin" valueType="num">
                                      <p:cBhvr additive="base">
                                        <p:cTn id="20" dur="500" fill="hold"/>
                                        <p:tgtEl>
                                          <p:spTgt spid="716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animBg="1" autoUpdateAnimBg="0"/>
      <p:bldP spid="71685" grpId="0" animBg="1" autoUpdateAnimBg="0"/>
      <p:bldP spid="71687"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A72AC272-316E-42FE-9910-54693F7343D0}"/>
              </a:ext>
            </a:extLst>
          </p:cNvPr>
          <p:cNvSpPr>
            <a:spLocks noGrp="1" noChangeArrowheads="1"/>
          </p:cNvSpPr>
          <p:nvPr>
            <p:ph type="title"/>
          </p:nvPr>
        </p:nvSpPr>
        <p:spPr bwMode="auto">
          <a:xfrm>
            <a:off x="685800" y="2209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b="1">
                <a:solidFill>
                  <a:srgbClr val="FF0000"/>
                </a:solidFill>
                <a:latin typeface="黑体" panose="02010609060101010101" pitchFamily="49" charset="-122"/>
                <a:ea typeface="黑体" panose="02010609060101010101" pitchFamily="49" charset="-122"/>
              </a:rPr>
              <a:t>5.6 0-1</a:t>
            </a:r>
            <a:r>
              <a:rPr lang="zh-CN" altLang="en-US" b="1">
                <a:solidFill>
                  <a:srgbClr val="FF0000"/>
                </a:solidFill>
                <a:latin typeface="黑体" panose="02010609060101010101" pitchFamily="49" charset="-122"/>
                <a:ea typeface="黑体" panose="02010609060101010101" pitchFamily="49" charset="-122"/>
              </a:rPr>
              <a:t>背包问题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AB907AC-7334-495C-A9CC-66EB49DFDA3D}"/>
              </a:ext>
            </a:extLst>
          </p:cNvPr>
          <p:cNvSpPr>
            <a:spLocks noGrp="1" noChangeArrowheads="1"/>
          </p:cNvSpPr>
          <p:nvPr>
            <p:ph type="title"/>
          </p:nvPr>
        </p:nvSpPr>
        <p:spPr bwMode="auto">
          <a:xfrm>
            <a:off x="685800" y="1524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zh-CN" altLang="en-US" sz="4000" b="1">
                <a:solidFill>
                  <a:srgbClr val="FF0000"/>
                </a:solidFill>
                <a:latin typeface="黑体" panose="02010609060101010101" pitchFamily="49" charset="-122"/>
                <a:ea typeface="黑体" panose="02010609060101010101" pitchFamily="49" charset="-122"/>
              </a:rPr>
              <a:t>算法分析</a:t>
            </a:r>
          </a:p>
        </p:txBody>
      </p:sp>
      <p:sp>
        <p:nvSpPr>
          <p:cNvPr id="80899" name="Rectangle 3">
            <a:extLst>
              <a:ext uri="{FF2B5EF4-FFF2-40B4-BE49-F238E27FC236}">
                <a16:creationId xmlns:a16="http://schemas.microsoft.com/office/drawing/2014/main" id="{0E1993DA-7E71-45F9-9B6C-1EF96EB72A96}"/>
              </a:ext>
            </a:extLst>
          </p:cNvPr>
          <p:cNvSpPr>
            <a:spLocks noGrp="1" noChangeArrowheads="1"/>
          </p:cNvSpPr>
          <p:nvPr>
            <p:ph type="body" idx="1"/>
          </p:nvPr>
        </p:nvSpPr>
        <p:spPr bwMode="auto">
          <a:xfrm>
            <a:off x="762000" y="838200"/>
            <a:ext cx="76962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Clr>
                <a:schemeClr val="accent2"/>
              </a:buClr>
            </a:pPr>
            <a:r>
              <a:rPr lang="en-US" altLang="zh-CN" sz="2400" b="1" dirty="0">
                <a:solidFill>
                  <a:srgbClr val="FF0000"/>
                </a:solidFill>
                <a:latin typeface="华文中宋" panose="02010600040101010101" pitchFamily="2" charset="-122"/>
              </a:rPr>
              <a:t>0-1</a:t>
            </a:r>
            <a:r>
              <a:rPr lang="zh-CN" altLang="en-US" sz="2400" b="1" dirty="0">
                <a:solidFill>
                  <a:srgbClr val="FF0000"/>
                </a:solidFill>
                <a:latin typeface="华文中宋" panose="02010600040101010101" pitchFamily="2" charset="-122"/>
              </a:rPr>
              <a:t>背包问题属于子集选取问题</a:t>
            </a:r>
            <a:endParaRPr kumimoji="0" lang="zh-CN" altLang="en-US" sz="2400" b="1" dirty="0">
              <a:latin typeface="华文中宋" panose="02010600040101010101" pitchFamily="2" charset="-122"/>
            </a:endParaRPr>
          </a:p>
          <a:p>
            <a:pPr eaLnBrk="1" hangingPunct="1">
              <a:spcBef>
                <a:spcPct val="0"/>
              </a:spcBef>
              <a:buClr>
                <a:schemeClr val="accent2"/>
              </a:buClr>
            </a:pPr>
            <a:r>
              <a:rPr kumimoji="0" lang="zh-CN" altLang="en-US" sz="2400" b="1" dirty="0">
                <a:latin typeface="华文中宋" panose="02010600040101010101" pitchFamily="2" charset="-122"/>
              </a:rPr>
              <a:t>解空间：子集树</a:t>
            </a:r>
          </a:p>
          <a:p>
            <a:pPr eaLnBrk="1" hangingPunct="1">
              <a:spcBef>
                <a:spcPct val="0"/>
              </a:spcBef>
              <a:buClr>
                <a:schemeClr val="accent2"/>
              </a:buClr>
            </a:pPr>
            <a:r>
              <a:rPr kumimoji="0" lang="zh-CN" altLang="en-US" sz="2400" b="1" dirty="0">
                <a:latin typeface="华文中宋" panose="02010600040101010101" pitchFamily="2" charset="-122"/>
              </a:rPr>
              <a:t>可行性约束函数：</a:t>
            </a:r>
          </a:p>
          <a:p>
            <a:pPr eaLnBrk="1" hangingPunct="1">
              <a:spcBef>
                <a:spcPct val="0"/>
              </a:spcBef>
              <a:buClr>
                <a:schemeClr val="accent2"/>
              </a:buClr>
              <a:buFontTx/>
              <a:buNone/>
            </a:pPr>
            <a:endParaRPr kumimoji="0" lang="zh-CN" altLang="en-US" sz="2400" b="1" dirty="0">
              <a:latin typeface="华文中宋" panose="02010600040101010101" pitchFamily="2" charset="-122"/>
            </a:endParaRPr>
          </a:p>
          <a:p>
            <a:pPr eaLnBrk="1" hangingPunct="1">
              <a:spcBef>
                <a:spcPct val="0"/>
              </a:spcBef>
              <a:buClr>
                <a:schemeClr val="accent2"/>
              </a:buClr>
            </a:pPr>
            <a:endParaRPr kumimoji="0" lang="en-US" altLang="zh-CN" sz="2400" b="1" dirty="0">
              <a:latin typeface="华文中宋" panose="02010600040101010101" pitchFamily="2" charset="-122"/>
            </a:endParaRPr>
          </a:p>
        </p:txBody>
      </p:sp>
      <p:graphicFrame>
        <p:nvGraphicFramePr>
          <p:cNvPr id="80900" name="Object 4">
            <a:extLst>
              <a:ext uri="{FF2B5EF4-FFF2-40B4-BE49-F238E27FC236}">
                <a16:creationId xmlns:a16="http://schemas.microsoft.com/office/drawing/2014/main" id="{D48403B9-5721-4FAD-B0EF-3DDDFF10659F}"/>
              </a:ext>
            </a:extLst>
          </p:cNvPr>
          <p:cNvGraphicFramePr>
            <a:graphicFrameLocks noChangeAspect="1"/>
          </p:cNvGraphicFramePr>
          <p:nvPr/>
        </p:nvGraphicFramePr>
        <p:xfrm>
          <a:off x="3797300" y="1441450"/>
          <a:ext cx="1397000" cy="844550"/>
        </p:xfrm>
        <a:graphic>
          <a:graphicData uri="http://schemas.openxmlformats.org/presentationml/2006/ole">
            <mc:AlternateContent xmlns:mc="http://schemas.openxmlformats.org/markup-compatibility/2006">
              <mc:Choice xmlns:v="urn:schemas-microsoft-com:vml" Requires="v">
                <p:oleObj name="Equation" r:id="rId2" imgW="698197" imgH="431613" progId="Equation.3">
                  <p:embed/>
                </p:oleObj>
              </mc:Choice>
              <mc:Fallback>
                <p:oleObj name="Equation" r:id="rId2" imgW="698197" imgH="431613"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7300" y="1441450"/>
                        <a:ext cx="13970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2" name="Rectangle 6">
            <a:extLst>
              <a:ext uri="{FF2B5EF4-FFF2-40B4-BE49-F238E27FC236}">
                <a16:creationId xmlns:a16="http://schemas.microsoft.com/office/drawing/2014/main" id="{AC36106B-31A1-462E-B939-4E251B627CEE}"/>
              </a:ext>
            </a:extLst>
          </p:cNvPr>
          <p:cNvSpPr>
            <a:spLocks noChangeArrowheads="1"/>
          </p:cNvSpPr>
          <p:nvPr/>
        </p:nvSpPr>
        <p:spPr bwMode="auto">
          <a:xfrm>
            <a:off x="762000" y="2209800"/>
            <a:ext cx="7848600" cy="1752600"/>
          </a:xfrm>
          <a:prstGeom prst="rect">
            <a:avLst/>
          </a:prstGeom>
          <a:solidFill>
            <a:srgbClr val="FFFF00"/>
          </a:solidFill>
          <a:ln w="31750">
            <a:solidFill>
              <a:srgbClr val="0000CC"/>
            </a:solidFill>
            <a:miter lim="800000"/>
            <a:headEnd/>
            <a:tailEnd/>
          </a:ln>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Tx/>
              <a:buChar char="•"/>
            </a:pPr>
            <a:r>
              <a:rPr kumimoji="0" lang="zh-CN" altLang="en-US" dirty="0">
                <a:latin typeface="华文中宋" panose="02010600040101010101" pitchFamily="2" charset="-122"/>
                <a:ea typeface="华文中宋" panose="02010600040101010101" pitchFamily="2" charset="-122"/>
              </a:rPr>
              <a:t>限界函数估计（即上界函数，仿一般背包问题）：</a:t>
            </a:r>
          </a:p>
          <a:p>
            <a:pPr eaLnBrk="1" hangingPunct="1"/>
            <a:r>
              <a:rPr kumimoji="0" lang="zh-CN" altLang="en-US" dirty="0">
                <a:latin typeface="华文中宋" panose="02010600040101010101" pitchFamily="2" charset="-122"/>
                <a:ea typeface="华文中宋" panose="02010600040101010101" pitchFamily="2" charset="-122"/>
              </a:rPr>
              <a:t>      以物品单位重量价值递减序装入物品；整个装不下时，再装该物体的一部分，而把背包装满，求得可能的最大价值。</a:t>
            </a:r>
          </a:p>
        </p:txBody>
      </p:sp>
      <p:sp>
        <p:nvSpPr>
          <p:cNvPr id="80903" name="Rectangle 7">
            <a:extLst>
              <a:ext uri="{FF2B5EF4-FFF2-40B4-BE49-F238E27FC236}">
                <a16:creationId xmlns:a16="http://schemas.microsoft.com/office/drawing/2014/main" id="{EFB894DD-C2FA-4418-8986-5C2D0655F4C5}"/>
              </a:ext>
            </a:extLst>
          </p:cNvPr>
          <p:cNvSpPr>
            <a:spLocks noChangeArrowheads="1"/>
          </p:cNvSpPr>
          <p:nvPr/>
        </p:nvSpPr>
        <p:spPr bwMode="auto">
          <a:xfrm>
            <a:off x="762000" y="4038600"/>
            <a:ext cx="7772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Clr>
                <a:schemeClr val="accent2"/>
              </a:buClr>
            </a:pPr>
            <a:r>
              <a:rPr kumimoji="0" lang="zh-CN" altLang="en-US" dirty="0">
                <a:latin typeface="华文中宋" panose="02010600040101010101" pitchFamily="2" charset="-122"/>
                <a:ea typeface="华文中宋" panose="02010600040101010101" pitchFamily="2" charset="-122"/>
              </a:rPr>
              <a:t>例：</a:t>
            </a:r>
            <a:r>
              <a:rPr kumimoji="0" lang="en-US" altLang="zh-CN" dirty="0">
                <a:latin typeface="华文中宋" panose="02010600040101010101" pitchFamily="2" charset="-122"/>
                <a:ea typeface="华文中宋" panose="02010600040101010101" pitchFamily="2" charset="-122"/>
              </a:rPr>
              <a:t>n=4,c=7,v=[9,10,7,4], w=[3,5,2,1]</a:t>
            </a:r>
          </a:p>
          <a:p>
            <a:pPr eaLnBrk="1" hangingPunct="1">
              <a:lnSpc>
                <a:spcPct val="110000"/>
              </a:lnSpc>
              <a:buClr>
                <a:schemeClr val="accent2"/>
              </a:buClr>
            </a:pPr>
            <a:r>
              <a:rPr kumimoji="0" lang="zh-CN" altLang="en-US" dirty="0">
                <a:latin typeface="华文中宋" panose="02010600040101010101" pitchFamily="2" charset="-122"/>
                <a:ea typeface="华文中宋" panose="02010600040101010101" pitchFamily="2" charset="-122"/>
              </a:rPr>
              <a:t>单位重量价值：</a:t>
            </a:r>
            <a:r>
              <a:rPr kumimoji="0" lang="en-US" altLang="zh-CN" dirty="0">
                <a:latin typeface="华文中宋" panose="02010600040101010101" pitchFamily="2" charset="-122"/>
                <a:ea typeface="华文中宋" panose="02010600040101010101" pitchFamily="2" charset="-122"/>
              </a:rPr>
              <a:t>9/3, 10/5, 7/2, 4/1</a:t>
            </a:r>
          </a:p>
          <a:p>
            <a:pPr eaLnBrk="1" hangingPunct="1">
              <a:lnSpc>
                <a:spcPct val="110000"/>
              </a:lnSpc>
              <a:buClr>
                <a:schemeClr val="accent2"/>
              </a:buClr>
            </a:pPr>
            <a:r>
              <a:rPr kumimoji="0" lang="zh-CN" altLang="en-US" dirty="0">
                <a:latin typeface="华文中宋" panose="02010600040101010101" pitchFamily="2" charset="-122"/>
                <a:ea typeface="华文中宋" panose="02010600040101010101" pitchFamily="2" charset="-122"/>
              </a:rPr>
              <a:t>降序排列后，先装物品</a:t>
            </a:r>
            <a:r>
              <a:rPr kumimoji="0" lang="en-US" altLang="zh-CN" dirty="0">
                <a:latin typeface="华文中宋" panose="02010600040101010101" pitchFamily="2" charset="-122"/>
                <a:ea typeface="华文中宋" panose="02010600040101010101" pitchFamily="2" charset="-122"/>
              </a:rPr>
              <a:t>4</a:t>
            </a:r>
            <a:r>
              <a:rPr kumimoji="0" lang="zh-CN" altLang="en-US" dirty="0">
                <a:latin typeface="华文中宋" panose="02010600040101010101" pitchFamily="2" charset="-122"/>
                <a:ea typeface="华文中宋" panose="02010600040101010101" pitchFamily="2" charset="-122"/>
              </a:rPr>
              <a:t>（重</a:t>
            </a:r>
            <a:r>
              <a:rPr kumimoji="0" lang="en-US" altLang="zh-CN" dirty="0">
                <a:latin typeface="华文中宋" panose="02010600040101010101" pitchFamily="2" charset="-122"/>
                <a:ea typeface="华文中宋" panose="02010600040101010101" pitchFamily="2" charset="-122"/>
              </a:rPr>
              <a:t>=1</a:t>
            </a:r>
            <a:r>
              <a:rPr kumimoji="0" lang="zh-CN" altLang="en-US" dirty="0">
                <a:latin typeface="华文中宋" panose="02010600040101010101" pitchFamily="2" charset="-122"/>
                <a:ea typeface="华文中宋" panose="02010600040101010101" pitchFamily="2" charset="-122"/>
              </a:rPr>
              <a:t>），再装物品</a:t>
            </a:r>
            <a:r>
              <a:rPr kumimoji="0" lang="en-US" altLang="zh-CN" dirty="0">
                <a:latin typeface="华文中宋" panose="02010600040101010101" pitchFamily="2" charset="-122"/>
                <a:ea typeface="华文中宋" panose="02010600040101010101" pitchFamily="2" charset="-122"/>
              </a:rPr>
              <a:t>3</a:t>
            </a:r>
            <a:r>
              <a:rPr kumimoji="0" lang="zh-CN" altLang="en-US" dirty="0">
                <a:latin typeface="华文中宋" panose="02010600040101010101" pitchFamily="2" charset="-122"/>
                <a:ea typeface="华文中宋" panose="02010600040101010101" pitchFamily="2" charset="-122"/>
              </a:rPr>
              <a:t>（重</a:t>
            </a:r>
            <a:r>
              <a:rPr kumimoji="0" lang="en-US" altLang="zh-CN" dirty="0">
                <a:latin typeface="华文中宋" panose="02010600040101010101" pitchFamily="2" charset="-122"/>
                <a:ea typeface="华文中宋" panose="02010600040101010101" pitchFamily="2" charset="-122"/>
              </a:rPr>
              <a:t>=2</a:t>
            </a:r>
            <a:r>
              <a:rPr kumimoji="0" lang="zh-CN" altLang="en-US" dirty="0">
                <a:latin typeface="华文中宋" panose="02010600040101010101" pitchFamily="2" charset="-122"/>
                <a:ea typeface="华文中宋" panose="02010600040101010101" pitchFamily="2" charset="-122"/>
              </a:rPr>
              <a:t>），物品</a:t>
            </a:r>
            <a:r>
              <a:rPr kumimoji="0" lang="en-US" altLang="zh-CN" dirty="0">
                <a:latin typeface="华文中宋" panose="02010600040101010101" pitchFamily="2" charset="-122"/>
                <a:ea typeface="华文中宋" panose="02010600040101010101" pitchFamily="2" charset="-122"/>
              </a:rPr>
              <a:t>1</a:t>
            </a:r>
            <a:r>
              <a:rPr kumimoji="0" lang="zh-CN" altLang="en-US" dirty="0">
                <a:latin typeface="华文中宋" panose="02010600040101010101" pitchFamily="2" charset="-122"/>
                <a:ea typeface="华文中宋" panose="02010600040101010101" pitchFamily="2" charset="-122"/>
              </a:rPr>
              <a:t>（重</a:t>
            </a:r>
            <a:r>
              <a:rPr kumimoji="0" lang="en-US" altLang="zh-CN" dirty="0">
                <a:latin typeface="华文中宋" panose="02010600040101010101" pitchFamily="2" charset="-122"/>
                <a:ea typeface="华文中宋" panose="02010600040101010101" pitchFamily="2" charset="-122"/>
              </a:rPr>
              <a:t>=3</a:t>
            </a:r>
            <a:r>
              <a:rPr kumimoji="0" lang="zh-CN" altLang="en-US" dirty="0">
                <a:latin typeface="华文中宋" panose="02010600040101010101" pitchFamily="2" charset="-122"/>
                <a:ea typeface="华文中宋" panose="02010600040101010101" pitchFamily="2" charset="-122"/>
              </a:rPr>
              <a:t>），再装物品</a:t>
            </a:r>
            <a:r>
              <a:rPr kumimoji="0" lang="en-US" altLang="zh-CN" dirty="0">
                <a:latin typeface="华文中宋" panose="02010600040101010101" pitchFamily="2" charset="-122"/>
                <a:ea typeface="华文中宋" panose="02010600040101010101" pitchFamily="2" charset="-122"/>
              </a:rPr>
              <a:t>2</a:t>
            </a:r>
            <a:r>
              <a:rPr kumimoji="0" lang="zh-CN" altLang="en-US" dirty="0">
                <a:latin typeface="华文中宋" panose="02010600040101010101" pitchFamily="2" charset="-122"/>
                <a:ea typeface="华文中宋" panose="02010600040101010101" pitchFamily="2" charset="-122"/>
              </a:rPr>
              <a:t>的一部分（重</a:t>
            </a:r>
            <a:r>
              <a:rPr kumimoji="0" lang="en-US" altLang="zh-CN" dirty="0">
                <a:latin typeface="华文中宋" panose="02010600040101010101" pitchFamily="2" charset="-122"/>
                <a:ea typeface="华文中宋" panose="02010600040101010101" pitchFamily="2" charset="-122"/>
              </a:rPr>
              <a:t>=1</a:t>
            </a:r>
            <a:r>
              <a:rPr kumimoji="0" lang="zh-CN" altLang="en-US" dirty="0">
                <a:latin typeface="华文中宋" panose="02010600040101010101" pitchFamily="2" charset="-122"/>
                <a:ea typeface="华文中宋" panose="02010600040101010101" pitchFamily="2" charset="-122"/>
              </a:rPr>
              <a:t>），</a:t>
            </a:r>
          </a:p>
          <a:p>
            <a:pPr eaLnBrk="1" hangingPunct="1">
              <a:lnSpc>
                <a:spcPct val="110000"/>
              </a:lnSpc>
              <a:buClr>
                <a:schemeClr val="accent2"/>
              </a:buClr>
            </a:pPr>
            <a:r>
              <a:rPr kumimoji="0" lang="zh-CN" altLang="en-US" dirty="0">
                <a:latin typeface="华文中宋" panose="02010600040101010101" pitchFamily="2" charset="-122"/>
                <a:ea typeface="华文中宋" panose="02010600040101010101" pitchFamily="2" charset="-122"/>
              </a:rPr>
              <a:t>最大价值最多为</a:t>
            </a:r>
            <a:r>
              <a:rPr kumimoji="0" lang="en-US" altLang="zh-CN" dirty="0">
                <a:latin typeface="华文中宋" panose="02010600040101010101" pitchFamily="2" charset="-122"/>
                <a:ea typeface="华文中宋" panose="02010600040101010101" pitchFamily="2" charset="-122"/>
              </a:rPr>
              <a:t>22</a:t>
            </a:r>
            <a:r>
              <a:rPr kumimoji="0" lang="zh-CN" altLang="en-US" dirty="0">
                <a:latin typeface="华文中宋" panose="02010600040101010101" pitchFamily="2" charset="-122"/>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0899">
                                            <p:txEl>
                                              <p:pRg st="1" end="1"/>
                                            </p:txEl>
                                          </p:spTgt>
                                        </p:tgtEl>
                                        <p:attrNameLst>
                                          <p:attrName>style.visibility</p:attrName>
                                        </p:attrNameLst>
                                      </p:cBhvr>
                                      <p:to>
                                        <p:strVal val="visible"/>
                                      </p:to>
                                    </p:set>
                                    <p:anim calcmode="lin" valueType="num">
                                      <p:cBhvr additive="base">
                                        <p:cTn id="13" dur="500" fill="hold"/>
                                        <p:tgtEl>
                                          <p:spTgt spid="808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08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0899">
                                            <p:txEl>
                                              <p:pRg st="2" end="2"/>
                                            </p:txEl>
                                          </p:spTgt>
                                        </p:tgtEl>
                                        <p:attrNameLst>
                                          <p:attrName>style.visibility</p:attrName>
                                        </p:attrNameLst>
                                      </p:cBhvr>
                                      <p:to>
                                        <p:strVal val="visible"/>
                                      </p:to>
                                    </p:set>
                                    <p:anim calcmode="lin" valueType="num">
                                      <p:cBhvr additive="base">
                                        <p:cTn id="19" dur="500" fill="hold"/>
                                        <p:tgtEl>
                                          <p:spTgt spid="808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0899">
                                            <p:txEl>
                                              <p:pRg st="2" end="2"/>
                                            </p:txEl>
                                          </p:spTgt>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80900"/>
                                        </p:tgtEl>
                                        <p:attrNameLst>
                                          <p:attrName>style.visibility</p:attrName>
                                        </p:attrNameLst>
                                      </p:cBhvr>
                                      <p:to>
                                        <p:strVal val="visible"/>
                                      </p:to>
                                    </p:set>
                                    <p:anim calcmode="lin" valueType="num">
                                      <p:cBhvr additive="base">
                                        <p:cTn id="24" dur="500" fill="hold"/>
                                        <p:tgtEl>
                                          <p:spTgt spid="80900"/>
                                        </p:tgtEl>
                                        <p:attrNameLst>
                                          <p:attrName>ppt_x</p:attrName>
                                        </p:attrNameLst>
                                      </p:cBhvr>
                                      <p:tavLst>
                                        <p:tav tm="0">
                                          <p:val>
                                            <p:strVal val="0-#ppt_w/2"/>
                                          </p:val>
                                        </p:tav>
                                        <p:tav tm="100000">
                                          <p:val>
                                            <p:strVal val="#ppt_x"/>
                                          </p:val>
                                        </p:tav>
                                      </p:tavLst>
                                    </p:anim>
                                    <p:anim calcmode="lin" valueType="num">
                                      <p:cBhvr additive="base">
                                        <p:cTn id="25" dur="500" fill="hold"/>
                                        <p:tgtEl>
                                          <p:spTgt spid="80900"/>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80902"/>
                                        </p:tgtEl>
                                        <p:attrNameLst>
                                          <p:attrName>style.visibility</p:attrName>
                                        </p:attrNameLst>
                                      </p:cBhvr>
                                      <p:to>
                                        <p:strVal val="visible"/>
                                      </p:to>
                                    </p:set>
                                    <p:anim calcmode="lin" valueType="num">
                                      <p:cBhvr additive="base">
                                        <p:cTn id="30" dur="500" fill="hold"/>
                                        <p:tgtEl>
                                          <p:spTgt spid="80902"/>
                                        </p:tgtEl>
                                        <p:attrNameLst>
                                          <p:attrName>ppt_x</p:attrName>
                                        </p:attrNameLst>
                                      </p:cBhvr>
                                      <p:tavLst>
                                        <p:tav tm="0">
                                          <p:val>
                                            <p:strVal val="0-#ppt_w/2"/>
                                          </p:val>
                                        </p:tav>
                                        <p:tav tm="100000">
                                          <p:val>
                                            <p:strVal val="#ppt_x"/>
                                          </p:val>
                                        </p:tav>
                                      </p:tavLst>
                                    </p:anim>
                                    <p:anim calcmode="lin" valueType="num">
                                      <p:cBhvr additive="base">
                                        <p:cTn id="31" dur="500" fill="hold"/>
                                        <p:tgtEl>
                                          <p:spTgt spid="80902"/>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80903"/>
                                        </p:tgtEl>
                                        <p:attrNameLst>
                                          <p:attrName>style.visibility</p:attrName>
                                        </p:attrNameLst>
                                      </p:cBhvr>
                                      <p:to>
                                        <p:strVal val="visible"/>
                                      </p:to>
                                    </p:set>
                                    <p:anim calcmode="lin" valueType="num">
                                      <p:cBhvr additive="base">
                                        <p:cTn id="36" dur="500" fill="hold"/>
                                        <p:tgtEl>
                                          <p:spTgt spid="80903"/>
                                        </p:tgtEl>
                                        <p:attrNameLst>
                                          <p:attrName>ppt_x</p:attrName>
                                        </p:attrNameLst>
                                      </p:cBhvr>
                                      <p:tavLst>
                                        <p:tav tm="0">
                                          <p:val>
                                            <p:strVal val="0-#ppt_w/2"/>
                                          </p:val>
                                        </p:tav>
                                        <p:tav tm="100000">
                                          <p:val>
                                            <p:strVal val="#ppt_x"/>
                                          </p:val>
                                        </p:tav>
                                      </p:tavLst>
                                    </p:anim>
                                    <p:anim calcmode="lin" valueType="num">
                                      <p:cBhvr additive="base">
                                        <p:cTn id="37" dur="500" fill="hold"/>
                                        <p:tgtEl>
                                          <p:spTgt spid="809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autoUpdateAnimBg="0"/>
      <p:bldP spid="80902" grpId="0" animBg="1" autoUpdateAnimBg="0"/>
      <p:bldP spid="8090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C8004B6-5530-43FF-BB1A-D19761FD96F1}"/>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kumimoji="0" lang="zh-CN" altLang="en-US" sz="3600" b="1" dirty="0">
                <a:latin typeface="华文中宋" panose="02010600040101010101" pitchFamily="2" charset="-122"/>
              </a:rPr>
              <a:t>上界（或限界）函数计算</a:t>
            </a:r>
          </a:p>
        </p:txBody>
      </p:sp>
      <p:sp>
        <p:nvSpPr>
          <p:cNvPr id="50179" name="Text Box 4">
            <a:extLst>
              <a:ext uri="{FF2B5EF4-FFF2-40B4-BE49-F238E27FC236}">
                <a16:creationId xmlns:a16="http://schemas.microsoft.com/office/drawing/2014/main" id="{E69C1182-A0CB-4C01-994E-B3A32B4D4672}"/>
              </a:ext>
            </a:extLst>
          </p:cNvPr>
          <p:cNvSpPr txBox="1">
            <a:spLocks noGrp="1" noChangeArrowheads="1"/>
          </p:cNvSpPr>
          <p:nvPr>
            <p:ph type="body" idx="1"/>
          </p:nvPr>
        </p:nvSpPr>
        <p:spPr bwMode="auto">
          <a:xfrm>
            <a:off x="685800" y="1524000"/>
            <a:ext cx="77724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spcBef>
                <a:spcPct val="0"/>
              </a:spcBef>
              <a:buFontTx/>
              <a:buNone/>
            </a:pPr>
            <a:r>
              <a:rPr kumimoji="0" lang="en-US" altLang="zh-CN" sz="2400" b="1" dirty="0"/>
              <a:t>double bound(int </a:t>
            </a:r>
            <a:r>
              <a:rPr kumimoji="0" lang="en-US" altLang="zh-CN" sz="2400" b="1" dirty="0" err="1"/>
              <a:t>i</a:t>
            </a:r>
            <a:r>
              <a:rPr kumimoji="0" lang="en-US" altLang="zh-CN" sz="2400" b="1" dirty="0"/>
              <a:t>)   {// </a:t>
            </a:r>
            <a:r>
              <a:rPr kumimoji="0" lang="zh-CN" altLang="en-US" sz="2400" b="1" dirty="0"/>
              <a:t>计算上界</a:t>
            </a:r>
          </a:p>
          <a:p>
            <a:pPr marL="0" indent="0" eaLnBrk="1" hangingPunct="1">
              <a:spcBef>
                <a:spcPct val="0"/>
              </a:spcBef>
              <a:buFontTx/>
              <a:buNone/>
            </a:pPr>
            <a:r>
              <a:rPr kumimoji="0" lang="zh-CN" altLang="en-US" sz="2400" b="1" dirty="0"/>
              <a:t>      </a:t>
            </a:r>
            <a:r>
              <a:rPr kumimoji="0" lang="en-US" altLang="zh-CN" sz="2400" b="1" dirty="0"/>
              <a:t>double cleft = c - </a:t>
            </a:r>
            <a:r>
              <a:rPr kumimoji="0" lang="en-US" altLang="zh-CN" sz="2400" b="1" dirty="0" err="1"/>
              <a:t>cw</a:t>
            </a:r>
            <a:r>
              <a:rPr kumimoji="0" lang="en-US" altLang="zh-CN" sz="2400" b="1" dirty="0"/>
              <a:t>;   // </a:t>
            </a:r>
            <a:r>
              <a:rPr kumimoji="0" lang="zh-CN" altLang="en-US" sz="2400" b="1" dirty="0"/>
              <a:t>剩余容量</a:t>
            </a:r>
          </a:p>
          <a:p>
            <a:pPr marL="0" indent="0" eaLnBrk="1" hangingPunct="1">
              <a:spcBef>
                <a:spcPct val="0"/>
              </a:spcBef>
              <a:buFontTx/>
              <a:buNone/>
            </a:pPr>
            <a:r>
              <a:rPr kumimoji="0" lang="zh-CN" altLang="en-US" sz="2400" b="1" dirty="0"/>
              <a:t>      </a:t>
            </a:r>
            <a:r>
              <a:rPr kumimoji="0" lang="en-US" altLang="zh-CN" sz="2400" b="1" dirty="0"/>
              <a:t>double </a:t>
            </a:r>
            <a:r>
              <a:rPr kumimoji="0" lang="en-US" altLang="zh-CN" sz="2400" b="1" dirty="0" err="1"/>
              <a:t>bnd</a:t>
            </a:r>
            <a:r>
              <a:rPr kumimoji="0" lang="en-US" altLang="zh-CN" sz="2400" b="1" dirty="0"/>
              <a:t> = cp;         // </a:t>
            </a:r>
            <a:r>
              <a:rPr lang="en-US" altLang="zh-CN" sz="2400" b="1" dirty="0"/>
              <a:t>cp</a:t>
            </a:r>
            <a:r>
              <a:rPr lang="zh-CN" altLang="en-US" sz="2400" b="1" dirty="0"/>
              <a:t>：当前价值</a:t>
            </a:r>
            <a:endParaRPr kumimoji="0" lang="zh-CN" altLang="en-US" sz="2400" b="1" dirty="0"/>
          </a:p>
          <a:p>
            <a:pPr marL="0" indent="0" eaLnBrk="1" hangingPunct="1">
              <a:spcBef>
                <a:spcPct val="0"/>
              </a:spcBef>
              <a:buFontTx/>
              <a:buNone/>
            </a:pPr>
            <a:r>
              <a:rPr kumimoji="0" lang="zh-CN" altLang="en-US" sz="2400" b="1" dirty="0"/>
              <a:t>      </a:t>
            </a:r>
            <a:r>
              <a:rPr kumimoji="0" lang="en-US" altLang="zh-CN" sz="2400" b="1" dirty="0"/>
              <a:t>while (</a:t>
            </a:r>
            <a:r>
              <a:rPr kumimoji="0" lang="en-US" altLang="zh-CN" sz="2400" b="1" dirty="0" err="1"/>
              <a:t>i</a:t>
            </a:r>
            <a:r>
              <a:rPr kumimoji="0" lang="en-US" altLang="zh-CN" sz="2400" b="1" dirty="0"/>
              <a:t> &lt;= n &amp;&amp;  w[</a:t>
            </a:r>
            <a:r>
              <a:rPr kumimoji="0" lang="en-US" altLang="zh-CN" sz="2400" b="1" dirty="0" err="1"/>
              <a:t>i</a:t>
            </a:r>
            <a:r>
              <a:rPr kumimoji="0" lang="en-US" altLang="zh-CN" sz="2400" b="1" dirty="0"/>
              <a:t>] &lt;= cleft) {  </a:t>
            </a:r>
          </a:p>
          <a:p>
            <a:pPr marL="0" indent="0" eaLnBrk="1" hangingPunct="1">
              <a:spcBef>
                <a:spcPct val="0"/>
              </a:spcBef>
              <a:buFontTx/>
              <a:buNone/>
            </a:pPr>
            <a:r>
              <a:rPr kumimoji="0" lang="en-US" altLang="zh-CN" sz="2400" b="1" dirty="0"/>
              <a:t>             // </a:t>
            </a:r>
            <a:r>
              <a:rPr kumimoji="0" lang="zh-CN" altLang="en-US" sz="2400" b="1" dirty="0"/>
              <a:t>以物品单位重量价值递减序装入物品</a:t>
            </a:r>
          </a:p>
          <a:p>
            <a:pPr marL="0" indent="0" eaLnBrk="1" hangingPunct="1">
              <a:spcBef>
                <a:spcPct val="0"/>
              </a:spcBef>
              <a:buFontTx/>
              <a:buNone/>
            </a:pPr>
            <a:r>
              <a:rPr kumimoji="0" lang="zh-CN" altLang="en-US" sz="2400" b="1" dirty="0"/>
              <a:t>         </a:t>
            </a:r>
            <a:r>
              <a:rPr kumimoji="0" lang="en-US" altLang="zh-CN" sz="2400" b="1" dirty="0"/>
              <a:t>cleft -= w[</a:t>
            </a:r>
            <a:r>
              <a:rPr kumimoji="0" lang="en-US" altLang="zh-CN" sz="2400" b="1" dirty="0" err="1"/>
              <a:t>i</a:t>
            </a:r>
            <a:r>
              <a:rPr kumimoji="0" lang="en-US" altLang="zh-CN" sz="2400" b="1" dirty="0"/>
              <a:t>];</a:t>
            </a:r>
          </a:p>
          <a:p>
            <a:pPr marL="0" indent="0" eaLnBrk="1" hangingPunct="1">
              <a:spcBef>
                <a:spcPct val="0"/>
              </a:spcBef>
              <a:buFontTx/>
              <a:buNone/>
            </a:pPr>
            <a:r>
              <a:rPr kumimoji="0" lang="en-US" altLang="zh-CN" sz="2400" b="1" dirty="0"/>
              <a:t>         </a:t>
            </a:r>
            <a:r>
              <a:rPr kumimoji="0" lang="en-US" altLang="zh-CN" sz="2400" b="1" dirty="0" err="1"/>
              <a:t>bnd</a:t>
            </a:r>
            <a:r>
              <a:rPr kumimoji="0" lang="en-US" altLang="zh-CN" sz="2400" b="1" dirty="0"/>
              <a:t> += p[</a:t>
            </a:r>
            <a:r>
              <a:rPr kumimoji="0" lang="en-US" altLang="zh-CN" sz="2400" b="1" dirty="0" err="1"/>
              <a:t>i</a:t>
            </a:r>
            <a:r>
              <a:rPr kumimoji="0" lang="en-US" altLang="zh-CN" sz="2400" b="1" dirty="0"/>
              <a:t>];</a:t>
            </a:r>
          </a:p>
          <a:p>
            <a:pPr marL="0" indent="0" eaLnBrk="1" hangingPunct="1">
              <a:spcBef>
                <a:spcPct val="0"/>
              </a:spcBef>
              <a:buFontTx/>
              <a:buNone/>
            </a:pPr>
            <a:r>
              <a:rPr kumimoji="0" lang="en-US" altLang="zh-CN" sz="2400" b="1" dirty="0"/>
              <a:t>         </a:t>
            </a:r>
            <a:r>
              <a:rPr kumimoji="0" lang="en-US" altLang="zh-CN" sz="2400" b="1" dirty="0" err="1"/>
              <a:t>i</a:t>
            </a:r>
            <a:r>
              <a:rPr kumimoji="0" lang="en-US" altLang="zh-CN" sz="2400" b="1" dirty="0"/>
              <a:t>++;</a:t>
            </a:r>
          </a:p>
          <a:p>
            <a:pPr marL="0" indent="0" eaLnBrk="1" hangingPunct="1">
              <a:spcBef>
                <a:spcPct val="0"/>
              </a:spcBef>
              <a:buFontTx/>
              <a:buNone/>
            </a:pPr>
            <a:r>
              <a:rPr kumimoji="0" lang="en-US" altLang="zh-CN" sz="2400" b="1" dirty="0"/>
              <a:t>      }      // </a:t>
            </a:r>
            <a:r>
              <a:rPr kumimoji="0" lang="zh-CN" altLang="en-US" sz="2400" b="1" dirty="0"/>
              <a:t>背包有空隙时，装满背包</a:t>
            </a:r>
          </a:p>
          <a:p>
            <a:pPr marL="0" indent="0" eaLnBrk="1" hangingPunct="1">
              <a:spcBef>
                <a:spcPct val="0"/>
              </a:spcBef>
              <a:buFontTx/>
              <a:buNone/>
            </a:pPr>
            <a:r>
              <a:rPr kumimoji="0" lang="zh-CN" altLang="en-US" sz="2400" b="1" dirty="0"/>
              <a:t>      </a:t>
            </a:r>
            <a:r>
              <a:rPr kumimoji="0" lang="en-US" altLang="zh-CN" sz="2400" b="1" dirty="0"/>
              <a:t>if (</a:t>
            </a:r>
            <a:r>
              <a:rPr kumimoji="0" lang="en-US" altLang="zh-CN" sz="2400" b="1" dirty="0" err="1"/>
              <a:t>i</a:t>
            </a:r>
            <a:r>
              <a:rPr kumimoji="0" lang="en-US" altLang="zh-CN" sz="2400" b="1" dirty="0"/>
              <a:t> &lt;= n &amp;&amp;  w[</a:t>
            </a:r>
            <a:r>
              <a:rPr kumimoji="0" lang="en-US" altLang="zh-CN" sz="2400" b="1" dirty="0" err="1"/>
              <a:t>i</a:t>
            </a:r>
            <a:r>
              <a:rPr kumimoji="0" lang="en-US" altLang="zh-CN" sz="2400" b="1" dirty="0"/>
              <a:t>] &gt; cleft)  </a:t>
            </a:r>
            <a:r>
              <a:rPr kumimoji="0" lang="en-US" altLang="zh-CN" sz="2400" b="1" dirty="0" err="1"/>
              <a:t>bnd</a:t>
            </a:r>
            <a:r>
              <a:rPr kumimoji="0" lang="en-US" altLang="zh-CN" sz="2400" b="1" dirty="0"/>
              <a:t> += p[</a:t>
            </a:r>
            <a:r>
              <a:rPr kumimoji="0" lang="en-US" altLang="zh-CN" sz="2400" b="1" dirty="0" err="1"/>
              <a:t>i</a:t>
            </a:r>
            <a:r>
              <a:rPr kumimoji="0" lang="en-US" altLang="zh-CN" sz="2400" b="1" dirty="0"/>
              <a:t>] / w[</a:t>
            </a:r>
            <a:r>
              <a:rPr kumimoji="0" lang="en-US" altLang="zh-CN" sz="2400" b="1" dirty="0" err="1"/>
              <a:t>i</a:t>
            </a:r>
            <a:r>
              <a:rPr kumimoji="0" lang="en-US" altLang="zh-CN" sz="2400" b="1" dirty="0"/>
              <a:t>] * cleft;</a:t>
            </a:r>
          </a:p>
          <a:p>
            <a:pPr marL="0" indent="0" eaLnBrk="1" hangingPunct="1">
              <a:spcBef>
                <a:spcPct val="0"/>
              </a:spcBef>
              <a:buFontTx/>
              <a:buNone/>
            </a:pPr>
            <a:r>
              <a:rPr kumimoji="0" lang="en-US" altLang="zh-CN" sz="2400" b="1" dirty="0"/>
              <a:t>      return </a:t>
            </a:r>
            <a:r>
              <a:rPr kumimoji="0" lang="en-US" altLang="zh-CN" sz="2400" b="1" dirty="0" err="1"/>
              <a:t>bnd</a:t>
            </a:r>
            <a:r>
              <a:rPr kumimoji="0" lang="en-US" altLang="zh-CN" sz="2400" b="1" dirty="0"/>
              <a:t>;</a:t>
            </a:r>
          </a:p>
          <a:p>
            <a:pPr marL="0" indent="0" eaLnBrk="1" hangingPunct="1">
              <a:spcBef>
                <a:spcPct val="0"/>
              </a:spcBef>
              <a:buFontTx/>
              <a:buNone/>
            </a:pPr>
            <a:r>
              <a:rPr kumimoji="0" lang="en-US" altLang="zh-CN" sz="2400" b="1" dirty="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2E3192D-8B56-4448-BE4A-7E6A1F2BA85B}"/>
              </a:ext>
            </a:extLst>
          </p:cNvPr>
          <p:cNvSpPr>
            <a:spLocks noGrp="1" noChangeArrowheads="1"/>
          </p:cNvSpPr>
          <p:nvPr>
            <p:ph type="title"/>
          </p:nvPr>
        </p:nvSpPr>
        <p:spPr bwMode="auto">
          <a:xfrm>
            <a:off x="685800" y="228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kumimoji="0" lang="zh-CN" altLang="en-US" sz="3600" b="1" dirty="0">
                <a:solidFill>
                  <a:schemeClr val="tx1"/>
                </a:solidFill>
                <a:latin typeface="Arial" panose="020B0604020202020204" pitchFamily="34" charset="0"/>
              </a:rPr>
              <a:t>回溯程序</a:t>
            </a:r>
            <a:r>
              <a:rPr lang="en-US" altLang="zh-CN" sz="3600" b="1" dirty="0"/>
              <a:t>Backtrack</a:t>
            </a:r>
          </a:p>
        </p:txBody>
      </p:sp>
      <p:sp>
        <p:nvSpPr>
          <p:cNvPr id="51203" name="Rectangle 3">
            <a:extLst>
              <a:ext uri="{FF2B5EF4-FFF2-40B4-BE49-F238E27FC236}">
                <a16:creationId xmlns:a16="http://schemas.microsoft.com/office/drawing/2014/main" id="{E5AC337A-FE5A-405A-B022-592FD0758D3F}"/>
              </a:ext>
            </a:extLst>
          </p:cNvPr>
          <p:cNvSpPr>
            <a:spLocks noGrp="1" noChangeArrowheads="1"/>
          </p:cNvSpPr>
          <p:nvPr>
            <p:ph type="body" idx="1"/>
          </p:nvPr>
        </p:nvSpPr>
        <p:spPr bwMode="auto">
          <a:xfrm>
            <a:off x="609600" y="914400"/>
            <a:ext cx="7848600" cy="556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2400" b="1" dirty="0"/>
              <a:t>c</a:t>
            </a:r>
            <a:r>
              <a:rPr lang="zh-CN" altLang="en-US" sz="2400" b="1" dirty="0"/>
              <a:t>：背包容量                </a:t>
            </a:r>
            <a:r>
              <a:rPr lang="en-US" altLang="zh-CN" sz="2400" b="1" dirty="0"/>
              <a:t>n</a:t>
            </a:r>
            <a:r>
              <a:rPr lang="zh-CN" altLang="en-US" sz="2400" b="1" dirty="0"/>
              <a:t>：物品数           </a:t>
            </a:r>
            <a:r>
              <a:rPr lang="en-US" altLang="zh-CN" sz="2400" b="1" dirty="0"/>
              <a:t>w</a:t>
            </a:r>
            <a:r>
              <a:rPr lang="zh-CN" altLang="en-US" sz="2400" b="1" dirty="0"/>
              <a:t>：物品重量数组</a:t>
            </a:r>
          </a:p>
          <a:p>
            <a:pPr algn="just" eaLnBrk="1" hangingPunct="1">
              <a:lnSpc>
                <a:spcPct val="90000"/>
              </a:lnSpc>
              <a:buFontTx/>
              <a:buNone/>
            </a:pPr>
            <a:r>
              <a:rPr lang="en-US" altLang="zh-CN" sz="2400" b="1" dirty="0"/>
              <a:t>p</a:t>
            </a:r>
            <a:r>
              <a:rPr lang="zh-CN" altLang="en-US" sz="2400" b="1" dirty="0"/>
              <a:t>：物品价值数组     </a:t>
            </a:r>
            <a:r>
              <a:rPr lang="en-US" altLang="zh-CN" sz="2400" b="1" dirty="0" err="1"/>
              <a:t>cw</a:t>
            </a:r>
            <a:r>
              <a:rPr lang="zh-CN" altLang="en-US" sz="2400" b="1" dirty="0"/>
              <a:t>：当前重量      </a:t>
            </a:r>
            <a:r>
              <a:rPr lang="en-US" altLang="zh-CN" sz="2400" b="1" dirty="0"/>
              <a:t>cp</a:t>
            </a:r>
            <a:r>
              <a:rPr lang="zh-CN" altLang="en-US" sz="2400" b="1" dirty="0"/>
              <a:t>：当前价值</a:t>
            </a:r>
          </a:p>
          <a:p>
            <a:pPr algn="just" eaLnBrk="1" hangingPunct="1">
              <a:lnSpc>
                <a:spcPct val="90000"/>
              </a:lnSpc>
              <a:buFontTx/>
              <a:buNone/>
            </a:pPr>
            <a:r>
              <a:rPr lang="en-US" altLang="zh-CN" sz="2400" b="1" dirty="0" err="1"/>
              <a:t>bestp</a:t>
            </a:r>
            <a:r>
              <a:rPr lang="zh-CN" altLang="en-US" sz="2400" b="1" dirty="0"/>
              <a:t>：</a:t>
            </a:r>
            <a:r>
              <a:rPr lang="zh-CN" altLang="en-US" sz="2400" b="1" dirty="0">
                <a:latin typeface="华文中宋" panose="02010600040101010101" pitchFamily="2" charset="-122"/>
              </a:rPr>
              <a:t>当前最优价值</a:t>
            </a:r>
            <a:r>
              <a:rPr lang="zh-CN" altLang="en-US" sz="2400" b="1" dirty="0"/>
              <a:t> </a:t>
            </a:r>
          </a:p>
          <a:p>
            <a:pPr algn="just" eaLnBrk="1" hangingPunct="1">
              <a:lnSpc>
                <a:spcPct val="90000"/>
              </a:lnSpc>
              <a:buFontTx/>
              <a:buNone/>
            </a:pPr>
            <a:r>
              <a:rPr lang="en-US" altLang="zh-CN" sz="2400" b="1" dirty="0"/>
              <a:t>void Backtrack(int </a:t>
            </a:r>
            <a:r>
              <a:rPr lang="en-US" altLang="zh-CN" sz="2400" b="1" dirty="0" err="1"/>
              <a:t>i</a:t>
            </a:r>
            <a:r>
              <a:rPr lang="en-US" altLang="zh-CN" sz="2400" b="1" dirty="0"/>
              <a:t>){</a:t>
            </a:r>
          </a:p>
          <a:p>
            <a:pPr algn="just" eaLnBrk="1" hangingPunct="1">
              <a:lnSpc>
                <a:spcPct val="90000"/>
              </a:lnSpc>
              <a:buFontTx/>
              <a:buNone/>
            </a:pPr>
            <a:r>
              <a:rPr lang="en-US" altLang="zh-CN" sz="2400" b="1" dirty="0"/>
              <a:t>    if (</a:t>
            </a:r>
            <a:r>
              <a:rPr lang="en-US" altLang="zh-CN" sz="2400" b="1" dirty="0" err="1"/>
              <a:t>i</a:t>
            </a:r>
            <a:r>
              <a:rPr lang="en-US" altLang="zh-CN" sz="2400" b="1" dirty="0"/>
              <a:t> &gt; n) {</a:t>
            </a:r>
          </a:p>
          <a:p>
            <a:pPr algn="just" eaLnBrk="1" hangingPunct="1">
              <a:lnSpc>
                <a:spcPct val="90000"/>
              </a:lnSpc>
              <a:buFontTx/>
              <a:buNone/>
            </a:pPr>
            <a:r>
              <a:rPr lang="en-US" altLang="zh-CN" sz="2400" b="1" dirty="0"/>
              <a:t>	    </a:t>
            </a:r>
            <a:r>
              <a:rPr lang="en-US" altLang="zh-CN" sz="2400" b="1" dirty="0" err="1"/>
              <a:t>bestp</a:t>
            </a:r>
            <a:r>
              <a:rPr lang="en-US" altLang="zh-CN" sz="2400" b="1" dirty="0"/>
              <a:t> = cp;   return; }</a:t>
            </a:r>
          </a:p>
          <a:p>
            <a:pPr algn="just" eaLnBrk="1" hangingPunct="1">
              <a:lnSpc>
                <a:spcPct val="90000"/>
              </a:lnSpc>
              <a:buFontTx/>
              <a:buNone/>
            </a:pPr>
            <a:r>
              <a:rPr lang="en-US" altLang="zh-CN" sz="2400" b="1" dirty="0"/>
              <a:t>	if (</a:t>
            </a:r>
            <a:r>
              <a:rPr lang="en-US" altLang="zh-CN" sz="2400" b="1" dirty="0" err="1">
                <a:solidFill>
                  <a:srgbClr val="FF0000"/>
                </a:solidFill>
              </a:rPr>
              <a:t>cw</a:t>
            </a:r>
            <a:r>
              <a:rPr lang="en-US" altLang="zh-CN" sz="2400" b="1" dirty="0">
                <a:solidFill>
                  <a:srgbClr val="FF0000"/>
                </a:solidFill>
              </a:rPr>
              <a:t> + w[</a:t>
            </a:r>
            <a:r>
              <a:rPr lang="en-US" altLang="zh-CN" sz="2400" b="1" dirty="0" err="1">
                <a:solidFill>
                  <a:srgbClr val="FF0000"/>
                </a:solidFill>
              </a:rPr>
              <a:t>i</a:t>
            </a:r>
            <a:r>
              <a:rPr lang="en-US" altLang="zh-CN" sz="2400" b="1" dirty="0">
                <a:solidFill>
                  <a:srgbClr val="FF0000"/>
                </a:solidFill>
              </a:rPr>
              <a:t>]</a:t>
            </a:r>
            <a:r>
              <a:rPr lang="en-US" altLang="zh-CN" sz="2400" b="1" dirty="0"/>
              <a:t> &lt;= c) {             //x[</a:t>
            </a:r>
            <a:r>
              <a:rPr lang="en-US" altLang="zh-CN" sz="2400" b="1" dirty="0" err="1"/>
              <a:t>i</a:t>
            </a:r>
            <a:r>
              <a:rPr lang="en-US" altLang="zh-CN" sz="2400" b="1" dirty="0"/>
              <a:t>] = 1</a:t>
            </a:r>
          </a:p>
          <a:p>
            <a:pPr algn="just" eaLnBrk="1" hangingPunct="1">
              <a:lnSpc>
                <a:spcPct val="90000"/>
              </a:lnSpc>
              <a:buFontTx/>
              <a:buNone/>
            </a:pPr>
            <a:r>
              <a:rPr lang="en-US" altLang="zh-CN" sz="2400" b="1" dirty="0"/>
              <a:t>	    </a:t>
            </a:r>
            <a:r>
              <a:rPr lang="en-US" altLang="zh-CN" sz="2400" b="1" dirty="0" err="1"/>
              <a:t>cw</a:t>
            </a:r>
            <a:r>
              <a:rPr lang="en-US" altLang="zh-CN" sz="2400" b="1" dirty="0"/>
              <a:t> + = w[</a:t>
            </a:r>
            <a:r>
              <a:rPr lang="en-US" altLang="zh-CN" sz="2400" b="1" dirty="0" err="1"/>
              <a:t>i</a:t>
            </a:r>
            <a:r>
              <a:rPr lang="en-US" altLang="zh-CN" sz="2400" b="1" dirty="0"/>
              <a:t>];     cp + = p[</a:t>
            </a:r>
            <a:r>
              <a:rPr lang="en-US" altLang="zh-CN" sz="2400" b="1" dirty="0" err="1"/>
              <a:t>i</a:t>
            </a:r>
            <a:r>
              <a:rPr lang="en-US" altLang="zh-CN" sz="2400" b="1" dirty="0"/>
              <a:t>];</a:t>
            </a:r>
          </a:p>
          <a:p>
            <a:pPr algn="just" eaLnBrk="1" hangingPunct="1">
              <a:lnSpc>
                <a:spcPct val="90000"/>
              </a:lnSpc>
              <a:buFontTx/>
              <a:buNone/>
            </a:pPr>
            <a:r>
              <a:rPr lang="en-US" altLang="zh-CN" sz="2400" b="1" dirty="0"/>
              <a:t>	    Backtrack(</a:t>
            </a:r>
            <a:r>
              <a:rPr lang="en-US" altLang="zh-CN" sz="2400" b="1" dirty="0" err="1"/>
              <a:t>i</a:t>
            </a:r>
            <a:r>
              <a:rPr lang="en-US" altLang="zh-CN" sz="2400" b="1" dirty="0"/>
              <a:t> + 1);</a:t>
            </a:r>
          </a:p>
          <a:p>
            <a:pPr algn="just" eaLnBrk="1" hangingPunct="1">
              <a:lnSpc>
                <a:spcPct val="90000"/>
              </a:lnSpc>
              <a:buFontTx/>
              <a:buNone/>
            </a:pPr>
            <a:r>
              <a:rPr lang="en-US" altLang="zh-CN" sz="2400" b="1" dirty="0"/>
              <a:t>	    </a:t>
            </a:r>
            <a:r>
              <a:rPr lang="en-US" altLang="zh-CN" sz="2400" b="1" dirty="0" err="1"/>
              <a:t>cw</a:t>
            </a:r>
            <a:r>
              <a:rPr lang="en-US" altLang="zh-CN" sz="2400" b="1" dirty="0"/>
              <a:t> - = w[</a:t>
            </a:r>
            <a:r>
              <a:rPr lang="en-US" altLang="zh-CN" sz="2400" b="1" dirty="0" err="1"/>
              <a:t>i</a:t>
            </a:r>
            <a:r>
              <a:rPr lang="en-US" altLang="zh-CN" sz="2400" b="1" dirty="0"/>
              <a:t>];</a:t>
            </a:r>
          </a:p>
          <a:p>
            <a:pPr algn="just" eaLnBrk="1" hangingPunct="1">
              <a:lnSpc>
                <a:spcPct val="90000"/>
              </a:lnSpc>
              <a:buFontTx/>
              <a:buNone/>
            </a:pPr>
            <a:r>
              <a:rPr lang="en-US" altLang="zh-CN" sz="2400" b="1" dirty="0"/>
              <a:t>	    cp - = p[</a:t>
            </a:r>
            <a:r>
              <a:rPr lang="en-US" altLang="zh-CN" sz="2400" b="1" dirty="0" err="1"/>
              <a:t>i</a:t>
            </a:r>
            <a:r>
              <a:rPr lang="en-US" altLang="zh-CN" sz="2400" b="1" dirty="0"/>
              <a:t>]; }</a:t>
            </a:r>
          </a:p>
          <a:p>
            <a:pPr algn="just" eaLnBrk="1" hangingPunct="1">
              <a:lnSpc>
                <a:spcPct val="90000"/>
              </a:lnSpc>
              <a:buFontTx/>
              <a:buNone/>
            </a:pPr>
            <a:r>
              <a:rPr lang="en-US" altLang="zh-CN" sz="2400" b="1" dirty="0"/>
              <a:t>	 if (</a:t>
            </a:r>
            <a:r>
              <a:rPr lang="en-US" altLang="zh-CN" sz="2400" b="1" dirty="0">
                <a:solidFill>
                  <a:srgbClr val="FF0000"/>
                </a:solidFill>
              </a:rPr>
              <a:t>Bound(</a:t>
            </a:r>
            <a:r>
              <a:rPr lang="en-US" altLang="zh-CN" sz="2400" b="1" dirty="0" err="1">
                <a:solidFill>
                  <a:srgbClr val="FF0000"/>
                </a:solidFill>
              </a:rPr>
              <a:t>i</a:t>
            </a:r>
            <a:r>
              <a:rPr lang="en-US" altLang="zh-CN" sz="2400" b="1" dirty="0">
                <a:solidFill>
                  <a:srgbClr val="FF0000"/>
                </a:solidFill>
              </a:rPr>
              <a:t> + 1)</a:t>
            </a:r>
            <a:r>
              <a:rPr lang="en-US" altLang="zh-CN" sz="2400" b="1" dirty="0"/>
              <a:t> &gt; </a:t>
            </a:r>
            <a:r>
              <a:rPr lang="en-US" altLang="zh-CN" sz="2400" b="1" dirty="0" err="1"/>
              <a:t>bestp</a:t>
            </a:r>
            <a:r>
              <a:rPr lang="en-US" altLang="zh-CN" sz="2400" b="1" dirty="0"/>
              <a:t>)          // x[</a:t>
            </a:r>
            <a:r>
              <a:rPr lang="en-US" altLang="zh-CN" sz="2400" b="1" dirty="0" err="1"/>
              <a:t>i</a:t>
            </a:r>
            <a:r>
              <a:rPr lang="en-US" altLang="zh-CN" sz="2400" b="1" dirty="0"/>
              <a:t>] = 0</a:t>
            </a:r>
            <a:r>
              <a:rPr lang="zh-CN" altLang="en-US" sz="2400" b="1" dirty="0"/>
              <a:t>，否则剪去右枝</a:t>
            </a:r>
          </a:p>
          <a:p>
            <a:pPr algn="just" eaLnBrk="1" hangingPunct="1">
              <a:lnSpc>
                <a:spcPct val="90000"/>
              </a:lnSpc>
              <a:buFontTx/>
              <a:buNone/>
            </a:pPr>
            <a:r>
              <a:rPr lang="zh-CN" altLang="en-US" sz="2400" b="1" dirty="0"/>
              <a:t>	    </a:t>
            </a:r>
            <a:r>
              <a:rPr lang="en-US" altLang="zh-CN" sz="2400" b="1" dirty="0"/>
              <a:t>Backtrack(</a:t>
            </a:r>
            <a:r>
              <a:rPr lang="en-US" altLang="zh-CN" sz="2400" b="1" dirty="0" err="1"/>
              <a:t>i</a:t>
            </a:r>
            <a:r>
              <a:rPr lang="en-US" altLang="zh-CN" sz="2400" b="1" dirty="0"/>
              <a:t> + 1);</a:t>
            </a:r>
          </a:p>
          <a:p>
            <a:pPr eaLnBrk="1" hangingPunct="1">
              <a:lnSpc>
                <a:spcPct val="90000"/>
              </a:lnSpc>
              <a:buFontTx/>
              <a:buNone/>
            </a:pPr>
            <a:r>
              <a:rPr lang="en-US" altLang="zh-CN" sz="2400" b="1" dirty="0"/>
              <a:t>} </a:t>
            </a:r>
          </a:p>
        </p:txBody>
      </p:sp>
      <p:sp>
        <p:nvSpPr>
          <p:cNvPr id="98308" name="AutoShape 4">
            <a:extLst>
              <a:ext uri="{FF2B5EF4-FFF2-40B4-BE49-F238E27FC236}">
                <a16:creationId xmlns:a16="http://schemas.microsoft.com/office/drawing/2014/main" id="{CEB62146-FF76-42CA-A3E6-96B9F1A3840C}"/>
              </a:ext>
            </a:extLst>
          </p:cNvPr>
          <p:cNvSpPr>
            <a:spLocks noChangeArrowheads="1"/>
          </p:cNvSpPr>
          <p:nvPr/>
        </p:nvSpPr>
        <p:spPr bwMode="auto">
          <a:xfrm>
            <a:off x="5638800" y="2362200"/>
            <a:ext cx="1676400" cy="914400"/>
          </a:xfrm>
          <a:prstGeom prst="wedgeRoundRectCallout">
            <a:avLst>
              <a:gd name="adj1" fmla="val -182954"/>
              <a:gd name="adj2" fmla="val 62676"/>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rgbClr val="FF0000"/>
                </a:solidFill>
                <a:ea typeface="华文中宋" panose="02010600040101010101" pitchFamily="2" charset="-122"/>
              </a:rPr>
              <a:t>约束</a:t>
            </a:r>
            <a:r>
              <a:rPr lang="zh-CN" altLang="en-US" dirty="0">
                <a:solidFill>
                  <a:srgbClr val="FF0000"/>
                </a:solidFill>
                <a:latin typeface="华文中宋" panose="02010600040101010101" pitchFamily="2" charset="-122"/>
                <a:ea typeface="华文中宋" panose="02010600040101010101" pitchFamily="2" charset="-122"/>
              </a:rPr>
              <a:t>函数： </a:t>
            </a:r>
            <a:r>
              <a:rPr lang="en-US" altLang="zh-CN" dirty="0" err="1">
                <a:ea typeface="华文中宋" panose="02010600040101010101" pitchFamily="2" charset="-122"/>
              </a:rPr>
              <a:t>cw</a:t>
            </a:r>
            <a:r>
              <a:rPr lang="en-US" altLang="zh-CN" dirty="0">
                <a:ea typeface="华文中宋" panose="02010600040101010101" pitchFamily="2" charset="-122"/>
              </a:rPr>
              <a:t> + w[</a:t>
            </a:r>
            <a:r>
              <a:rPr lang="en-US" altLang="zh-CN" dirty="0" err="1">
                <a:ea typeface="华文中宋" panose="02010600040101010101" pitchFamily="2" charset="-122"/>
              </a:rPr>
              <a:t>i</a:t>
            </a:r>
            <a:r>
              <a:rPr lang="en-US" altLang="zh-CN" dirty="0">
                <a:ea typeface="华文中宋" panose="02010600040101010101" pitchFamily="2" charset="-122"/>
              </a:rPr>
              <a:t>] </a:t>
            </a:r>
          </a:p>
        </p:txBody>
      </p:sp>
      <p:sp>
        <p:nvSpPr>
          <p:cNvPr id="98309" name="AutoShape 5">
            <a:extLst>
              <a:ext uri="{FF2B5EF4-FFF2-40B4-BE49-F238E27FC236}">
                <a16:creationId xmlns:a16="http://schemas.microsoft.com/office/drawing/2014/main" id="{9590DB85-0512-4400-BD33-8B8F8D1C3E2F}"/>
              </a:ext>
            </a:extLst>
          </p:cNvPr>
          <p:cNvSpPr>
            <a:spLocks noChangeArrowheads="1"/>
          </p:cNvSpPr>
          <p:nvPr/>
        </p:nvSpPr>
        <p:spPr bwMode="auto">
          <a:xfrm>
            <a:off x="5257800" y="5791200"/>
            <a:ext cx="1981200" cy="914400"/>
          </a:xfrm>
          <a:prstGeom prst="wedgeRoundRectCallout">
            <a:avLst>
              <a:gd name="adj1" fmla="val -152162"/>
              <a:gd name="adj2" fmla="val -57986"/>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rgbClr val="FF0000"/>
                </a:solidFill>
                <a:ea typeface="华文中宋" panose="02010600040101010101" pitchFamily="2" charset="-122"/>
              </a:rPr>
              <a:t>限界</a:t>
            </a:r>
            <a:r>
              <a:rPr lang="zh-CN" altLang="en-US" dirty="0">
                <a:solidFill>
                  <a:srgbClr val="FF0000"/>
                </a:solidFill>
                <a:latin typeface="华文中宋" panose="02010600040101010101" pitchFamily="2" charset="-122"/>
                <a:ea typeface="华文中宋" panose="02010600040101010101" pitchFamily="2" charset="-122"/>
              </a:rPr>
              <a:t>函数： </a:t>
            </a:r>
            <a:r>
              <a:rPr lang="en-US" altLang="zh-CN" dirty="0">
                <a:ea typeface="华文中宋" panose="02010600040101010101" pitchFamily="2" charset="-122"/>
              </a:rPr>
              <a:t>Bound(</a:t>
            </a:r>
            <a:r>
              <a:rPr lang="en-US" altLang="zh-CN" dirty="0" err="1">
                <a:ea typeface="华文中宋" panose="02010600040101010101" pitchFamily="2" charset="-122"/>
              </a:rPr>
              <a:t>i</a:t>
            </a:r>
            <a:r>
              <a:rPr lang="en-US" altLang="zh-CN" dirty="0">
                <a:ea typeface="华文中宋" panose="02010600040101010101" pitchFamily="2" charset="-122"/>
              </a:rPr>
              <a:t> + 1) </a:t>
            </a:r>
            <a:endParaRPr kumimoji="0" lang="en-US" altLang="zh-CN" dirty="0">
              <a:latin typeface="Arial" panose="020B0604020202020204" pitchFamily="34" charset="0"/>
              <a:ea typeface="华文中宋" panose="02010600040101010101" pitchFamily="2" charset="-122"/>
            </a:endParaRPr>
          </a:p>
          <a:p>
            <a:pPr algn="ctr" eaLnBrk="1" hangingPunct="1"/>
            <a:endParaRPr lang="en-US" altLang="zh-CN" b="0" dirty="0">
              <a:ea typeface="华文中宋" panose="0201060004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DA30231-F15C-4D47-8096-3CE5AA1BE9A7}"/>
                  </a:ext>
                </a:extLst>
              </p14:cNvPr>
              <p14:cNvContentPartPr/>
              <p14:nvPr/>
            </p14:nvContentPartPr>
            <p14:xfrm>
              <a:off x="1395720" y="2445480"/>
              <a:ext cx="3379680" cy="1311480"/>
            </p14:xfrm>
          </p:contentPart>
        </mc:Choice>
        <mc:Fallback xmlns="">
          <p:pic>
            <p:nvPicPr>
              <p:cNvPr id="2" name="墨迹 1">
                <a:extLst>
                  <a:ext uri="{FF2B5EF4-FFF2-40B4-BE49-F238E27FC236}">
                    <a16:creationId xmlns:a16="http://schemas.microsoft.com/office/drawing/2014/main" id="{1DA30231-F15C-4D47-8096-3CE5AA1BE9A7}"/>
                  </a:ext>
                </a:extLst>
              </p:cNvPr>
              <p:cNvPicPr/>
              <p:nvPr/>
            </p:nvPicPr>
            <p:blipFill>
              <a:blip r:embed="rId3"/>
              <a:stretch>
                <a:fillRect/>
              </a:stretch>
            </p:blipFill>
            <p:spPr>
              <a:xfrm>
                <a:off x="1386360" y="2436120"/>
                <a:ext cx="3398400" cy="13302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8308"/>
                                        </p:tgtEl>
                                        <p:attrNameLst>
                                          <p:attrName>style.visibility</p:attrName>
                                        </p:attrNameLst>
                                      </p:cBhvr>
                                      <p:to>
                                        <p:strVal val="visible"/>
                                      </p:to>
                                    </p:set>
                                    <p:anim calcmode="lin" valueType="num">
                                      <p:cBhvr additive="base">
                                        <p:cTn id="7" dur="500" fill="hold"/>
                                        <p:tgtEl>
                                          <p:spTgt spid="98308"/>
                                        </p:tgtEl>
                                        <p:attrNameLst>
                                          <p:attrName>ppt_x</p:attrName>
                                        </p:attrNameLst>
                                      </p:cBhvr>
                                      <p:tavLst>
                                        <p:tav tm="0">
                                          <p:val>
                                            <p:strVal val="0-#ppt_w/2"/>
                                          </p:val>
                                        </p:tav>
                                        <p:tav tm="100000">
                                          <p:val>
                                            <p:strVal val="#ppt_x"/>
                                          </p:val>
                                        </p:tav>
                                      </p:tavLst>
                                    </p:anim>
                                    <p:anim calcmode="lin" valueType="num">
                                      <p:cBhvr additive="base">
                                        <p:cTn id="8" dur="500" fill="hold"/>
                                        <p:tgtEl>
                                          <p:spTgt spid="9830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8309"/>
                                        </p:tgtEl>
                                        <p:attrNameLst>
                                          <p:attrName>style.visibility</p:attrName>
                                        </p:attrNameLst>
                                      </p:cBhvr>
                                      <p:to>
                                        <p:strVal val="visible"/>
                                      </p:to>
                                    </p:set>
                                    <p:anim calcmode="lin" valueType="num">
                                      <p:cBhvr additive="base">
                                        <p:cTn id="13" dur="500" fill="hold"/>
                                        <p:tgtEl>
                                          <p:spTgt spid="98309"/>
                                        </p:tgtEl>
                                        <p:attrNameLst>
                                          <p:attrName>ppt_x</p:attrName>
                                        </p:attrNameLst>
                                      </p:cBhvr>
                                      <p:tavLst>
                                        <p:tav tm="0">
                                          <p:val>
                                            <p:strVal val="0-#ppt_w/2"/>
                                          </p:val>
                                        </p:tav>
                                        <p:tav tm="100000">
                                          <p:val>
                                            <p:strVal val="#ppt_x"/>
                                          </p:val>
                                        </p:tav>
                                      </p:tavLst>
                                    </p:anim>
                                    <p:anim calcmode="lin" valueType="num">
                                      <p:cBhvr additive="base">
                                        <p:cTn id="14" dur="500" fill="hold"/>
                                        <p:tgtEl>
                                          <p:spTgt spid="983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nimBg="1" autoUpdateAnimBg="0"/>
      <p:bldP spid="98309"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6CC905F-531F-4A76-8250-2A0EB34590A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lang="en-US" altLang="zh-CN" sz="4000" b="1" dirty="0">
                <a:solidFill>
                  <a:srgbClr val="FF0000"/>
                </a:solidFill>
                <a:latin typeface="华文中宋" panose="02010600040101010101" pitchFamily="2" charset="-122"/>
              </a:rPr>
              <a:t>0-1</a:t>
            </a:r>
            <a:r>
              <a:rPr lang="zh-CN" altLang="en-US" sz="4000" b="1" dirty="0">
                <a:solidFill>
                  <a:srgbClr val="FF0000"/>
                </a:solidFill>
                <a:latin typeface="华文中宋" panose="02010600040101010101" pitchFamily="2" charset="-122"/>
              </a:rPr>
              <a:t>背包问题的</a:t>
            </a:r>
            <a:r>
              <a:rPr kumimoji="0" lang="zh-CN" altLang="en-US" sz="4000" b="1" dirty="0">
                <a:solidFill>
                  <a:srgbClr val="FF0000"/>
                </a:solidFill>
                <a:latin typeface="华文中宋" panose="02010600040101010101" pitchFamily="2" charset="-122"/>
              </a:rPr>
              <a:t>搜索树</a:t>
            </a:r>
          </a:p>
        </p:txBody>
      </p:sp>
      <p:sp>
        <p:nvSpPr>
          <p:cNvPr id="81923" name="Rectangle 3">
            <a:extLst>
              <a:ext uri="{FF2B5EF4-FFF2-40B4-BE49-F238E27FC236}">
                <a16:creationId xmlns:a16="http://schemas.microsoft.com/office/drawing/2014/main" id="{CD554C64-4869-4859-BC3D-7DA9F64D23A8}"/>
              </a:ext>
            </a:extLst>
          </p:cNvPr>
          <p:cNvSpPr>
            <a:spLocks noGrp="1" noChangeArrowheads="1"/>
          </p:cNvSpPr>
          <p:nvPr>
            <p:ph type="body" idx="1"/>
          </p:nvPr>
        </p:nvSpPr>
        <p:spPr bwMode="auto">
          <a:xfrm>
            <a:off x="685800" y="5029200"/>
            <a:ext cx="77724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sz="2400" b="1"/>
              <a:t>在操作时可采取剪枝技术：</a:t>
            </a:r>
          </a:p>
          <a:p>
            <a:pPr eaLnBrk="1" hangingPunct="1">
              <a:lnSpc>
                <a:spcPct val="90000"/>
              </a:lnSpc>
              <a:buFontTx/>
              <a:buNone/>
            </a:pPr>
            <a:r>
              <a:rPr lang="zh-CN" altLang="en-US" sz="2400" b="1"/>
              <a:t>     在</a:t>
            </a:r>
            <a:r>
              <a:rPr lang="en-US" altLang="zh-CN" sz="2400" b="1"/>
              <a:t>Bound(i + 1) &gt; bestp</a:t>
            </a:r>
            <a:r>
              <a:rPr lang="zh-CN" altLang="en-US" sz="2400" b="1"/>
              <a:t>前提下，当</a:t>
            </a:r>
            <a:r>
              <a:rPr lang="en-US" altLang="zh-CN" sz="2400" b="1"/>
              <a:t>cp+r&lt;=bestp</a:t>
            </a:r>
            <a:r>
              <a:rPr lang="zh-CN" altLang="en-US" sz="2400" b="1"/>
              <a:t>时，剪去右枝</a:t>
            </a:r>
          </a:p>
        </p:txBody>
      </p:sp>
      <p:pic>
        <p:nvPicPr>
          <p:cNvPr id="81924" name="Picture 4" descr="t51">
            <a:extLst>
              <a:ext uri="{FF2B5EF4-FFF2-40B4-BE49-F238E27FC236}">
                <a16:creationId xmlns:a16="http://schemas.microsoft.com/office/drawing/2014/main" id="{FEC73206-D4EC-418E-9E7B-3063028D6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47800"/>
            <a:ext cx="4710113" cy="32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24"/>
                                        </p:tgtEl>
                                        <p:attrNameLst>
                                          <p:attrName>style.visibility</p:attrName>
                                        </p:attrNameLst>
                                      </p:cBhvr>
                                      <p:to>
                                        <p:strVal val="visible"/>
                                      </p:to>
                                    </p:set>
                                    <p:anim calcmode="lin" valueType="num">
                                      <p:cBhvr additive="base">
                                        <p:cTn id="7" dur="500" fill="hold"/>
                                        <p:tgtEl>
                                          <p:spTgt spid="81924"/>
                                        </p:tgtEl>
                                        <p:attrNameLst>
                                          <p:attrName>ppt_x</p:attrName>
                                        </p:attrNameLst>
                                      </p:cBhvr>
                                      <p:tavLst>
                                        <p:tav tm="0">
                                          <p:val>
                                            <p:strVal val="0-#ppt_w/2"/>
                                          </p:val>
                                        </p:tav>
                                        <p:tav tm="100000">
                                          <p:val>
                                            <p:strVal val="#ppt_x"/>
                                          </p:val>
                                        </p:tav>
                                      </p:tavLst>
                                    </p:anim>
                                    <p:anim calcmode="lin" valueType="num">
                                      <p:cBhvr additive="base">
                                        <p:cTn id="8" dur="500" fill="hold"/>
                                        <p:tgtEl>
                                          <p:spTgt spid="81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1923">
                                            <p:txEl>
                                              <p:pRg st="0" end="0"/>
                                            </p:txEl>
                                          </p:spTgt>
                                        </p:tgtEl>
                                        <p:attrNameLst>
                                          <p:attrName>style.visibility</p:attrName>
                                        </p:attrNameLst>
                                      </p:cBhvr>
                                      <p:to>
                                        <p:strVal val="visible"/>
                                      </p:to>
                                    </p:set>
                                    <p:anim calcmode="lin" valueType="num">
                                      <p:cBhvr additive="base">
                                        <p:cTn id="13" dur="500" fill="hold"/>
                                        <p:tgtEl>
                                          <p:spTgt spid="819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1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1923">
                                            <p:txEl>
                                              <p:pRg st="1" end="1"/>
                                            </p:txEl>
                                          </p:spTgt>
                                        </p:tgtEl>
                                        <p:attrNameLst>
                                          <p:attrName>style.visibility</p:attrName>
                                        </p:attrNameLst>
                                      </p:cBhvr>
                                      <p:to>
                                        <p:strVal val="visible"/>
                                      </p:to>
                                    </p:set>
                                    <p:anim calcmode="lin" valueType="num">
                                      <p:cBhvr additive="base">
                                        <p:cTn id="19" dur="500" fill="hold"/>
                                        <p:tgtEl>
                                          <p:spTgt spid="819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19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423D86D-2591-4381-AEA7-C28AB165AA36}"/>
              </a:ext>
            </a:extLst>
          </p:cNvPr>
          <p:cNvSpPr>
            <a:spLocks noGrp="1" noChangeArrowheads="1"/>
          </p:cNvSpPr>
          <p:nvPr>
            <p:ph type="title"/>
          </p:nvPr>
        </p:nvSpPr>
        <p:spPr bwMode="auto">
          <a:xfrm>
            <a:off x="609600" y="1371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accent2"/>
              </a:buClr>
              <a:defRPr/>
            </a:pPr>
            <a:r>
              <a:rPr lang="en-US" altLang="en-US" b="1" dirty="0">
                <a:solidFill>
                  <a:srgbClr val="AC2F36"/>
                </a:solidFill>
                <a:effectLst>
                  <a:outerShdw blurRad="38100" dist="38100" dir="2700000" algn="tl">
                    <a:srgbClr val="C0C0C0"/>
                  </a:outerShdw>
                </a:effectLst>
                <a:latin typeface="华文中宋" panose="02010600040101010101" pitchFamily="2" charset="-122"/>
              </a:rPr>
              <a:t>5.7 </a:t>
            </a:r>
            <a:r>
              <a:rPr lang="en-US" altLang="en-US" b="1" dirty="0" err="1">
                <a:solidFill>
                  <a:srgbClr val="AC2F36"/>
                </a:solidFill>
                <a:effectLst>
                  <a:outerShdw blurRad="38100" dist="38100" dir="2700000" algn="tl">
                    <a:srgbClr val="C0C0C0"/>
                  </a:outerShdw>
                </a:effectLst>
                <a:latin typeface="华文中宋" panose="02010600040101010101" pitchFamily="2" charset="-122"/>
              </a:rPr>
              <a:t>最大团问题</a:t>
            </a:r>
            <a:endParaRPr lang="en-US" altLang="en-US" b="1" dirty="0">
              <a:solidFill>
                <a:srgbClr val="AC2F36"/>
              </a:solidFill>
              <a:effectLst>
                <a:outerShdw blurRad="38100" dist="38100" dir="2700000" algn="tl">
                  <a:srgbClr val="C0C0C0"/>
                </a:outerShdw>
              </a:effectLst>
              <a:latin typeface="华文中宋" panose="0201060004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D95FFCE9-1EE4-41C1-8BD1-1C3ABD618FCF}"/>
              </a:ext>
            </a:extLst>
          </p:cNvPr>
          <p:cNvSpPr>
            <a:spLocks noGrp="1" noChangeArrowheads="1"/>
          </p:cNvSpPr>
          <p:nvPr>
            <p:ph type="title"/>
          </p:nvPr>
        </p:nvSpPr>
        <p:spPr bwMode="auto">
          <a:xfrm>
            <a:off x="685800" y="1524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accent2"/>
              </a:buClr>
              <a:defRPr/>
            </a:pPr>
            <a:r>
              <a:rPr lang="zh-CN" altLang="en-US" sz="4000" b="1" dirty="0">
                <a:solidFill>
                  <a:srgbClr val="FF0000"/>
                </a:solidFill>
                <a:effectLst>
                  <a:outerShdw blurRad="38100" dist="38100" dir="2700000" algn="tl">
                    <a:srgbClr val="C0C0C0"/>
                  </a:outerShdw>
                </a:effectLst>
                <a:ea typeface="黑体" pitchFamily="2" charset="-122"/>
              </a:rPr>
              <a:t>几个概念</a:t>
            </a:r>
            <a:r>
              <a:rPr lang="en-US" altLang="zh-CN" sz="4000" b="1" dirty="0">
                <a:solidFill>
                  <a:srgbClr val="FF0000"/>
                </a:solidFill>
                <a:effectLst>
                  <a:outerShdw blurRad="38100" dist="38100" dir="2700000" algn="tl">
                    <a:srgbClr val="C0C0C0"/>
                  </a:outerShdw>
                </a:effectLst>
                <a:ea typeface="黑体" pitchFamily="2" charset="-122"/>
              </a:rPr>
              <a:t>(1)</a:t>
            </a:r>
          </a:p>
        </p:txBody>
      </p:sp>
      <p:sp>
        <p:nvSpPr>
          <p:cNvPr id="84995" name="Rectangle 3">
            <a:extLst>
              <a:ext uri="{FF2B5EF4-FFF2-40B4-BE49-F238E27FC236}">
                <a16:creationId xmlns:a16="http://schemas.microsoft.com/office/drawing/2014/main" id="{947DC65B-BAEB-4956-A6FE-1C7633AE25DB}"/>
              </a:ext>
            </a:extLst>
          </p:cNvPr>
          <p:cNvSpPr>
            <a:spLocks noGrp="1" noChangeArrowheads="1"/>
          </p:cNvSpPr>
          <p:nvPr>
            <p:ph type="body" idx="1"/>
          </p:nvPr>
        </p:nvSpPr>
        <p:spPr bwMode="auto">
          <a:xfrm>
            <a:off x="685800" y="1143000"/>
            <a:ext cx="7772400"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90000"/>
              </a:lnSpc>
              <a:spcBef>
                <a:spcPct val="0"/>
              </a:spcBef>
            </a:pPr>
            <a:r>
              <a:rPr kumimoji="0" lang="zh-CN" altLang="en-US" sz="2800" b="1" dirty="0">
                <a:latin typeface="Arial" panose="020B0604020202020204" pitchFamily="34" charset="0"/>
              </a:rPr>
              <a:t>给定无向图</a:t>
            </a:r>
            <a:r>
              <a:rPr kumimoji="0" lang="en-US" altLang="zh-CN" sz="2800" b="1" dirty="0">
                <a:latin typeface="Arial" panose="020B0604020202020204" pitchFamily="34" charset="0"/>
              </a:rPr>
              <a:t>G=(V</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E)</a:t>
            </a:r>
            <a:r>
              <a:rPr kumimoji="0" lang="zh-CN" altLang="en-US" sz="2800" b="1" dirty="0">
                <a:latin typeface="Arial" panose="020B0604020202020204" pitchFamily="34" charset="0"/>
              </a:rPr>
              <a:t>。</a:t>
            </a:r>
          </a:p>
          <a:p>
            <a:pPr marL="609600" indent="-609600" eaLnBrk="1" hangingPunct="1">
              <a:lnSpc>
                <a:spcPct val="90000"/>
              </a:lnSpc>
              <a:spcBef>
                <a:spcPct val="0"/>
              </a:spcBef>
            </a:pPr>
            <a:r>
              <a:rPr kumimoji="0" lang="zh-CN" altLang="en-US" sz="2800" b="1" dirty="0">
                <a:solidFill>
                  <a:srgbClr val="FF0000"/>
                </a:solidFill>
                <a:latin typeface="Arial" panose="020B0604020202020204" pitchFamily="34" charset="0"/>
              </a:rPr>
              <a:t>完全子图：</a:t>
            </a:r>
            <a:r>
              <a:rPr kumimoji="0" lang="zh-CN" altLang="en-US" sz="2800" b="1" dirty="0">
                <a:latin typeface="Arial" panose="020B0604020202020204" pitchFamily="34" charset="0"/>
              </a:rPr>
              <a:t>如果</a:t>
            </a:r>
            <a:r>
              <a:rPr kumimoji="0" lang="en-US" altLang="zh-CN" sz="2800" b="1" dirty="0">
                <a:latin typeface="Arial" panose="020B0604020202020204" pitchFamily="34" charset="0"/>
              </a:rPr>
              <a:t>U</a:t>
            </a:r>
            <a:r>
              <a:rPr kumimoji="0" lang="en-US" altLang="zh-CN" sz="2800" b="1" dirty="0">
                <a:latin typeface="Arial" panose="020B0604020202020204" pitchFamily="34" charset="0"/>
                <a:sym typeface="Symbol" panose="05050102010706020507" pitchFamily="18" charset="2"/>
              </a:rPr>
              <a:t></a:t>
            </a:r>
            <a:r>
              <a:rPr kumimoji="0" lang="en-US" altLang="zh-CN" sz="2800" b="1" dirty="0">
                <a:latin typeface="Arial" panose="020B0604020202020204" pitchFamily="34" charset="0"/>
              </a:rPr>
              <a:t>V</a:t>
            </a:r>
            <a:r>
              <a:rPr kumimoji="0" lang="zh-CN" altLang="en-US" sz="2800" b="1" dirty="0">
                <a:latin typeface="Arial" panose="020B0604020202020204" pitchFamily="34" charset="0"/>
              </a:rPr>
              <a:t>，且对任意</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a:t>
            </a:r>
            <a:r>
              <a:rPr kumimoji="0" lang="en-US" altLang="zh-CN" sz="2800" b="1" dirty="0" err="1">
                <a:latin typeface="Arial" panose="020B0604020202020204" pitchFamily="34" charset="0"/>
              </a:rPr>
              <a:t>v</a:t>
            </a:r>
            <a:r>
              <a:rPr kumimoji="0" lang="en-US" altLang="zh-CN" sz="2800" b="1" dirty="0" err="1">
                <a:latin typeface="Arial" panose="020B0604020202020204" pitchFamily="34" charset="0"/>
                <a:sym typeface="Symbol" panose="05050102010706020507" pitchFamily="18" charset="2"/>
              </a:rPr>
              <a:t></a:t>
            </a:r>
            <a:r>
              <a:rPr kumimoji="0" lang="en-US" altLang="zh-CN" sz="2800" b="1" dirty="0" err="1">
                <a:latin typeface="Arial" panose="020B0604020202020204" pitchFamily="34" charset="0"/>
              </a:rPr>
              <a:t>U</a:t>
            </a:r>
            <a:r>
              <a:rPr kumimoji="0" lang="zh-CN" altLang="en-US" sz="2800" b="1" dirty="0">
                <a:latin typeface="Arial" panose="020B0604020202020204" pitchFamily="34" charset="0"/>
              </a:rPr>
              <a:t>有</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v)</a:t>
            </a:r>
            <a:r>
              <a:rPr kumimoji="0" lang="en-US" altLang="zh-CN" sz="2800" b="1" dirty="0">
                <a:latin typeface="Arial" panose="020B0604020202020204" pitchFamily="34" charset="0"/>
                <a:sym typeface="Symbol" panose="05050102010706020507" pitchFamily="18" charset="2"/>
              </a:rPr>
              <a:t></a:t>
            </a:r>
            <a:r>
              <a:rPr kumimoji="0" lang="en-US" altLang="zh-CN" sz="2800" b="1" dirty="0">
                <a:latin typeface="Arial" panose="020B0604020202020204" pitchFamily="34" charset="0"/>
              </a:rPr>
              <a:t>E</a:t>
            </a:r>
            <a:r>
              <a:rPr kumimoji="0" lang="zh-CN" altLang="en-US" sz="2800" b="1" dirty="0">
                <a:latin typeface="Arial" panose="020B0604020202020204" pitchFamily="34" charset="0"/>
              </a:rPr>
              <a:t>，则称</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是</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的完全子图。</a:t>
            </a:r>
          </a:p>
        </p:txBody>
      </p:sp>
      <p:sp>
        <p:nvSpPr>
          <p:cNvPr id="84996" name="Rectangle 4">
            <a:extLst>
              <a:ext uri="{FF2B5EF4-FFF2-40B4-BE49-F238E27FC236}">
                <a16:creationId xmlns:a16="http://schemas.microsoft.com/office/drawing/2014/main" id="{5A7F0851-DD48-4641-8FCB-542FDD626642}"/>
              </a:ext>
            </a:extLst>
          </p:cNvPr>
          <p:cNvSpPr>
            <a:spLocks noChangeArrowheads="1"/>
          </p:cNvSpPr>
          <p:nvPr/>
        </p:nvSpPr>
        <p:spPr bwMode="auto">
          <a:xfrm>
            <a:off x="685800" y="23622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Char char="•"/>
            </a:pPr>
            <a:r>
              <a:rPr kumimoji="0" lang="zh-CN" altLang="en-US" sz="2800" dirty="0">
                <a:solidFill>
                  <a:srgbClr val="FF0000"/>
                </a:solidFill>
                <a:latin typeface="Arial" panose="020B0604020202020204" pitchFamily="34" charset="0"/>
                <a:ea typeface="华文中宋" panose="02010600040101010101" pitchFamily="2" charset="-122"/>
              </a:rPr>
              <a:t>团：</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的完全子图</a:t>
            </a:r>
            <a:r>
              <a:rPr kumimoji="0" lang="en-US" altLang="zh-CN" sz="2800" dirty="0">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是</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的团当且仅当</a:t>
            </a:r>
            <a:r>
              <a:rPr kumimoji="0" lang="en-US" altLang="zh-CN" sz="2800" dirty="0">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不包含在</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的更大的完全子图中</a:t>
            </a:r>
          </a:p>
        </p:txBody>
      </p:sp>
      <p:sp>
        <p:nvSpPr>
          <p:cNvPr id="84997" name="Rectangle 5">
            <a:extLst>
              <a:ext uri="{FF2B5EF4-FFF2-40B4-BE49-F238E27FC236}">
                <a16:creationId xmlns:a16="http://schemas.microsoft.com/office/drawing/2014/main" id="{667EF3DF-2BBD-429E-9DB5-22E4D9560C74}"/>
              </a:ext>
            </a:extLst>
          </p:cNvPr>
          <p:cNvSpPr>
            <a:spLocks noChangeArrowheads="1"/>
          </p:cNvSpPr>
          <p:nvPr/>
        </p:nvSpPr>
        <p:spPr bwMode="auto">
          <a:xfrm>
            <a:off x="685800" y="33528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Char char="•"/>
            </a:pPr>
            <a:r>
              <a:rPr kumimoji="0" lang="zh-CN" altLang="en-US" sz="2800" dirty="0">
                <a:solidFill>
                  <a:srgbClr val="FF0000"/>
                </a:solidFill>
                <a:latin typeface="Arial" panose="020B0604020202020204" pitchFamily="34" charset="0"/>
                <a:ea typeface="华文中宋" panose="02010600040101010101" pitchFamily="2" charset="-122"/>
              </a:rPr>
              <a:t>最大团：</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的最大团是指</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中所含顶点数最多的团。</a:t>
            </a:r>
          </a:p>
        </p:txBody>
      </p:sp>
      <p:sp>
        <p:nvSpPr>
          <p:cNvPr id="84998" name="Rectangle 6">
            <a:extLst>
              <a:ext uri="{FF2B5EF4-FFF2-40B4-BE49-F238E27FC236}">
                <a16:creationId xmlns:a16="http://schemas.microsoft.com/office/drawing/2014/main" id="{A706DA4D-1E87-45AD-9C72-A3C6F2930751}"/>
              </a:ext>
            </a:extLst>
          </p:cNvPr>
          <p:cNvSpPr>
            <a:spLocks noChangeArrowheads="1"/>
          </p:cNvSpPr>
          <p:nvPr/>
        </p:nvSpPr>
        <p:spPr bwMode="auto">
          <a:xfrm>
            <a:off x="685800" y="4419600"/>
            <a:ext cx="8001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Char char="•"/>
            </a:pPr>
            <a:r>
              <a:rPr kumimoji="0" lang="zh-CN" altLang="en-US" sz="2800" dirty="0">
                <a:solidFill>
                  <a:srgbClr val="FF0000"/>
                </a:solidFill>
                <a:latin typeface="Arial" panose="020B0604020202020204" pitchFamily="34" charset="0"/>
                <a:ea typeface="华文中宋" panose="02010600040101010101" pitchFamily="2" charset="-122"/>
              </a:rPr>
              <a:t>空子图：</a:t>
            </a:r>
            <a:r>
              <a:rPr kumimoji="0" lang="zh-CN" altLang="en-US" sz="2800" dirty="0">
                <a:latin typeface="Arial" panose="020B0604020202020204" pitchFamily="34" charset="0"/>
                <a:ea typeface="华文中宋" panose="02010600040101010101" pitchFamily="2" charset="-122"/>
              </a:rPr>
              <a:t>如果</a:t>
            </a:r>
            <a:r>
              <a:rPr kumimoji="0" lang="en-US" altLang="zh-CN" sz="2800" dirty="0">
                <a:latin typeface="Arial" panose="020B0604020202020204" pitchFamily="34" charset="0"/>
                <a:ea typeface="华文中宋" panose="02010600040101010101" pitchFamily="2" charset="-122"/>
              </a:rPr>
              <a:t>U</a:t>
            </a:r>
            <a:r>
              <a:rPr kumimoji="0" lang="en-US" altLang="zh-CN" sz="2800" dirty="0">
                <a:latin typeface="Arial" panose="020B0604020202020204" pitchFamily="34" charset="0"/>
                <a:ea typeface="华文中宋" panose="02010600040101010101" pitchFamily="2" charset="-122"/>
                <a:sym typeface="Symbol" panose="05050102010706020507" pitchFamily="18" charset="2"/>
              </a:rPr>
              <a:t></a:t>
            </a:r>
            <a:r>
              <a:rPr kumimoji="0" lang="en-US" altLang="zh-CN" sz="2800" dirty="0">
                <a:latin typeface="Arial" panose="020B0604020202020204" pitchFamily="34" charset="0"/>
                <a:ea typeface="华文中宋" panose="02010600040101010101" pitchFamily="2" charset="-122"/>
              </a:rPr>
              <a:t>V</a:t>
            </a:r>
            <a:r>
              <a:rPr kumimoji="0" lang="zh-CN" altLang="en-US" sz="2800" dirty="0">
                <a:latin typeface="Arial" panose="020B0604020202020204" pitchFamily="34" charset="0"/>
                <a:ea typeface="华文中宋" panose="02010600040101010101" pitchFamily="2" charset="-122"/>
              </a:rPr>
              <a:t>且对任意</a:t>
            </a:r>
            <a:r>
              <a:rPr kumimoji="0" lang="en-US" altLang="zh-CN" sz="2800" dirty="0">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a:t>
            </a:r>
            <a:r>
              <a:rPr kumimoji="0" lang="en-US" altLang="zh-CN" sz="2800" dirty="0" err="1">
                <a:latin typeface="Arial" panose="020B0604020202020204" pitchFamily="34" charset="0"/>
                <a:ea typeface="华文中宋" panose="02010600040101010101" pitchFamily="2" charset="-122"/>
              </a:rPr>
              <a:t>v</a:t>
            </a:r>
            <a:r>
              <a:rPr kumimoji="0" lang="en-US" altLang="zh-CN" sz="2800" dirty="0" err="1">
                <a:latin typeface="Arial" panose="020B0604020202020204" pitchFamily="34" charset="0"/>
                <a:ea typeface="华文中宋" panose="02010600040101010101" pitchFamily="2" charset="-122"/>
                <a:sym typeface="Symbol" panose="05050102010706020507" pitchFamily="18" charset="2"/>
              </a:rPr>
              <a:t></a:t>
            </a:r>
            <a:r>
              <a:rPr kumimoji="0" lang="en-US" altLang="zh-CN" sz="2800" dirty="0" err="1">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有</a:t>
            </a:r>
            <a:r>
              <a:rPr kumimoji="0" lang="en-US" altLang="zh-CN" sz="2800" dirty="0">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a:t>
            </a:r>
            <a:r>
              <a:rPr kumimoji="0" lang="en-US" altLang="zh-CN" sz="2800" dirty="0">
                <a:latin typeface="Arial" panose="020B0604020202020204" pitchFamily="34" charset="0"/>
                <a:ea typeface="华文中宋" panose="02010600040101010101" pitchFamily="2" charset="-122"/>
              </a:rPr>
              <a:t>v)</a:t>
            </a:r>
            <a:r>
              <a:rPr kumimoji="0" lang="en-US" altLang="zh-CN" sz="2800" dirty="0">
                <a:latin typeface="Arial" panose="020B0604020202020204" pitchFamily="34" charset="0"/>
                <a:ea typeface="华文中宋" panose="02010600040101010101" pitchFamily="2" charset="-122"/>
                <a:sym typeface="Symbol" panose="05050102010706020507" pitchFamily="18" charset="2"/>
              </a:rPr>
              <a:t></a:t>
            </a:r>
            <a:r>
              <a:rPr kumimoji="0" lang="en-US" altLang="zh-CN" sz="2800" dirty="0">
                <a:latin typeface="Arial" panose="020B0604020202020204" pitchFamily="34" charset="0"/>
                <a:ea typeface="华文中宋" panose="02010600040101010101" pitchFamily="2" charset="-122"/>
              </a:rPr>
              <a:t>E</a:t>
            </a:r>
            <a:r>
              <a:rPr kumimoji="0" lang="zh-CN" altLang="en-US" sz="2800" dirty="0">
                <a:latin typeface="Arial" panose="020B0604020202020204" pitchFamily="34" charset="0"/>
                <a:ea typeface="华文中宋" panose="02010600040101010101" pitchFamily="2" charset="-122"/>
              </a:rPr>
              <a:t>，则称</a:t>
            </a:r>
            <a:r>
              <a:rPr kumimoji="0" lang="en-US" altLang="zh-CN" sz="2800" dirty="0">
                <a:latin typeface="Arial" panose="020B0604020202020204" pitchFamily="34" charset="0"/>
                <a:ea typeface="华文中宋" panose="02010600040101010101" pitchFamily="2" charset="-122"/>
              </a:rPr>
              <a:t>U</a:t>
            </a:r>
            <a:r>
              <a:rPr kumimoji="0" lang="zh-CN" altLang="en-US" sz="2800" dirty="0">
                <a:latin typeface="Arial" panose="020B0604020202020204" pitchFamily="34" charset="0"/>
                <a:ea typeface="华文中宋" panose="02010600040101010101" pitchFamily="2" charset="-122"/>
              </a:rPr>
              <a:t>是</a:t>
            </a:r>
            <a:r>
              <a:rPr kumimoji="0" lang="en-US" altLang="zh-CN" sz="2800" dirty="0">
                <a:latin typeface="Arial" panose="020B0604020202020204" pitchFamily="34" charset="0"/>
                <a:ea typeface="华文中宋" panose="02010600040101010101" pitchFamily="2" charset="-122"/>
              </a:rPr>
              <a:t>G</a:t>
            </a:r>
            <a:r>
              <a:rPr kumimoji="0" lang="zh-CN" altLang="en-US" sz="2800" dirty="0">
                <a:latin typeface="Arial" panose="020B0604020202020204" pitchFamily="34" charset="0"/>
                <a:ea typeface="华文中宋" panose="02010600040101010101" pitchFamily="2" charset="-122"/>
              </a:rPr>
              <a:t>的空子图。即不含边的子图。</a:t>
            </a:r>
          </a:p>
        </p:txBody>
      </p:sp>
      <p:sp>
        <p:nvSpPr>
          <p:cNvPr id="84999" name="Rectangle 7">
            <a:extLst>
              <a:ext uri="{FF2B5EF4-FFF2-40B4-BE49-F238E27FC236}">
                <a16:creationId xmlns:a16="http://schemas.microsoft.com/office/drawing/2014/main" id="{241F3C2C-BFB2-4FBF-B679-C44ABB549C16}"/>
              </a:ext>
            </a:extLst>
          </p:cNvPr>
          <p:cNvSpPr>
            <a:spLocks noChangeArrowheads="1"/>
          </p:cNvSpPr>
          <p:nvPr/>
        </p:nvSpPr>
        <p:spPr bwMode="auto">
          <a:xfrm>
            <a:off x="685800" y="42672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Char char="•"/>
            </a:pPr>
            <a:endParaRPr kumimoji="0" lang="zh-CN" altLang="zh-CN" dirty="0">
              <a:latin typeface="Arial" panose="020B0604020202020204" pitchFamily="34" charset="0"/>
              <a:ea typeface="华文中宋" panose="02010600040101010101" pitchFamily="2" charset="-122"/>
            </a:endParaRPr>
          </a:p>
        </p:txBody>
      </p:sp>
      <p:sp>
        <p:nvSpPr>
          <p:cNvPr id="85000" name="Rectangle 8">
            <a:extLst>
              <a:ext uri="{FF2B5EF4-FFF2-40B4-BE49-F238E27FC236}">
                <a16:creationId xmlns:a16="http://schemas.microsoft.com/office/drawing/2014/main" id="{AC6E7DBD-8896-47E8-88EE-31C2E62BD0B4}"/>
              </a:ext>
            </a:extLst>
          </p:cNvPr>
          <p:cNvSpPr>
            <a:spLocks noChangeArrowheads="1"/>
          </p:cNvSpPr>
          <p:nvPr/>
        </p:nvSpPr>
        <p:spPr bwMode="auto">
          <a:xfrm>
            <a:off x="685800" y="50292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Char char="•"/>
            </a:pPr>
            <a:endParaRPr kumimoji="0" lang="zh-CN" altLang="zh-CN">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anim calcmode="lin" valueType="num">
                                      <p:cBhvr additive="base">
                                        <p:cTn id="7" dur="500" fill="hold"/>
                                        <p:tgtEl>
                                          <p:spTgt spid="849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4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4995">
                                            <p:txEl>
                                              <p:pRg st="1" end="1"/>
                                            </p:txEl>
                                          </p:spTgt>
                                        </p:tgtEl>
                                        <p:attrNameLst>
                                          <p:attrName>style.visibility</p:attrName>
                                        </p:attrNameLst>
                                      </p:cBhvr>
                                      <p:to>
                                        <p:strVal val="visible"/>
                                      </p:to>
                                    </p:set>
                                    <p:anim calcmode="lin" valueType="num">
                                      <p:cBhvr additive="base">
                                        <p:cTn id="13" dur="500" fill="hold"/>
                                        <p:tgtEl>
                                          <p:spTgt spid="8499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49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4996"/>
                                        </p:tgtEl>
                                        <p:attrNameLst>
                                          <p:attrName>style.visibility</p:attrName>
                                        </p:attrNameLst>
                                      </p:cBhvr>
                                      <p:to>
                                        <p:strVal val="visible"/>
                                      </p:to>
                                    </p:set>
                                    <p:anim calcmode="lin" valueType="num">
                                      <p:cBhvr additive="base">
                                        <p:cTn id="19" dur="500" fill="hold"/>
                                        <p:tgtEl>
                                          <p:spTgt spid="84996"/>
                                        </p:tgtEl>
                                        <p:attrNameLst>
                                          <p:attrName>ppt_x</p:attrName>
                                        </p:attrNameLst>
                                      </p:cBhvr>
                                      <p:tavLst>
                                        <p:tav tm="0">
                                          <p:val>
                                            <p:strVal val="0-#ppt_w/2"/>
                                          </p:val>
                                        </p:tav>
                                        <p:tav tm="100000">
                                          <p:val>
                                            <p:strVal val="#ppt_x"/>
                                          </p:val>
                                        </p:tav>
                                      </p:tavLst>
                                    </p:anim>
                                    <p:anim calcmode="lin" valueType="num">
                                      <p:cBhvr additive="base">
                                        <p:cTn id="20" dur="500" fill="hold"/>
                                        <p:tgtEl>
                                          <p:spTgt spid="8499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4997"/>
                                        </p:tgtEl>
                                        <p:attrNameLst>
                                          <p:attrName>style.visibility</p:attrName>
                                        </p:attrNameLst>
                                      </p:cBhvr>
                                      <p:to>
                                        <p:strVal val="visible"/>
                                      </p:to>
                                    </p:set>
                                    <p:anim calcmode="lin" valueType="num">
                                      <p:cBhvr additive="base">
                                        <p:cTn id="25" dur="500" fill="hold"/>
                                        <p:tgtEl>
                                          <p:spTgt spid="84997"/>
                                        </p:tgtEl>
                                        <p:attrNameLst>
                                          <p:attrName>ppt_x</p:attrName>
                                        </p:attrNameLst>
                                      </p:cBhvr>
                                      <p:tavLst>
                                        <p:tav tm="0">
                                          <p:val>
                                            <p:strVal val="0-#ppt_w/2"/>
                                          </p:val>
                                        </p:tav>
                                        <p:tav tm="100000">
                                          <p:val>
                                            <p:strVal val="#ppt_x"/>
                                          </p:val>
                                        </p:tav>
                                      </p:tavLst>
                                    </p:anim>
                                    <p:anim calcmode="lin" valueType="num">
                                      <p:cBhvr additive="base">
                                        <p:cTn id="26" dur="500" fill="hold"/>
                                        <p:tgtEl>
                                          <p:spTgt spid="8499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4998"/>
                                        </p:tgtEl>
                                        <p:attrNameLst>
                                          <p:attrName>style.visibility</p:attrName>
                                        </p:attrNameLst>
                                      </p:cBhvr>
                                      <p:to>
                                        <p:strVal val="visible"/>
                                      </p:to>
                                    </p:set>
                                    <p:anim calcmode="lin" valueType="num">
                                      <p:cBhvr additive="base">
                                        <p:cTn id="31" dur="500" fill="hold"/>
                                        <p:tgtEl>
                                          <p:spTgt spid="84998"/>
                                        </p:tgtEl>
                                        <p:attrNameLst>
                                          <p:attrName>ppt_x</p:attrName>
                                        </p:attrNameLst>
                                      </p:cBhvr>
                                      <p:tavLst>
                                        <p:tav tm="0">
                                          <p:val>
                                            <p:strVal val="0-#ppt_w/2"/>
                                          </p:val>
                                        </p:tav>
                                        <p:tav tm="100000">
                                          <p:val>
                                            <p:strVal val="#ppt_x"/>
                                          </p:val>
                                        </p:tav>
                                      </p:tavLst>
                                    </p:anim>
                                    <p:anim calcmode="lin" valueType="num">
                                      <p:cBhvr additive="base">
                                        <p:cTn id="32" dur="500" fill="hold"/>
                                        <p:tgtEl>
                                          <p:spTgt spid="849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4999"/>
                                        </p:tgtEl>
                                        <p:attrNameLst>
                                          <p:attrName>style.visibility</p:attrName>
                                        </p:attrNameLst>
                                      </p:cBhvr>
                                      <p:to>
                                        <p:strVal val="visible"/>
                                      </p:to>
                                    </p:set>
                                    <p:anim calcmode="lin" valueType="num">
                                      <p:cBhvr additive="base">
                                        <p:cTn id="37" dur="500" fill="hold"/>
                                        <p:tgtEl>
                                          <p:spTgt spid="84999"/>
                                        </p:tgtEl>
                                        <p:attrNameLst>
                                          <p:attrName>ppt_x</p:attrName>
                                        </p:attrNameLst>
                                      </p:cBhvr>
                                      <p:tavLst>
                                        <p:tav tm="0">
                                          <p:val>
                                            <p:strVal val="0-#ppt_w/2"/>
                                          </p:val>
                                        </p:tav>
                                        <p:tav tm="100000">
                                          <p:val>
                                            <p:strVal val="#ppt_x"/>
                                          </p:val>
                                        </p:tav>
                                      </p:tavLst>
                                    </p:anim>
                                    <p:anim calcmode="lin" valueType="num">
                                      <p:cBhvr additive="base">
                                        <p:cTn id="38" dur="500" fill="hold"/>
                                        <p:tgtEl>
                                          <p:spTgt spid="8499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5000"/>
                                        </p:tgtEl>
                                        <p:attrNameLst>
                                          <p:attrName>style.visibility</p:attrName>
                                        </p:attrNameLst>
                                      </p:cBhvr>
                                      <p:to>
                                        <p:strVal val="visible"/>
                                      </p:to>
                                    </p:set>
                                    <p:anim calcmode="lin" valueType="num">
                                      <p:cBhvr additive="base">
                                        <p:cTn id="43" dur="500" fill="hold"/>
                                        <p:tgtEl>
                                          <p:spTgt spid="85000"/>
                                        </p:tgtEl>
                                        <p:attrNameLst>
                                          <p:attrName>ppt_x</p:attrName>
                                        </p:attrNameLst>
                                      </p:cBhvr>
                                      <p:tavLst>
                                        <p:tav tm="0">
                                          <p:val>
                                            <p:strVal val="0-#ppt_w/2"/>
                                          </p:val>
                                        </p:tav>
                                        <p:tav tm="100000">
                                          <p:val>
                                            <p:strVal val="#ppt_x"/>
                                          </p:val>
                                        </p:tav>
                                      </p:tavLst>
                                    </p:anim>
                                    <p:anim calcmode="lin" valueType="num">
                                      <p:cBhvr additive="base">
                                        <p:cTn id="44" dur="500" fill="hold"/>
                                        <p:tgtEl>
                                          <p:spTgt spid="850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autoUpdateAnimBg="0"/>
      <p:bldP spid="84996" grpId="0" autoUpdateAnimBg="0"/>
      <p:bldP spid="84997" grpId="0" autoUpdateAnimBg="0"/>
      <p:bldP spid="84998" grpId="0" autoUpdateAnimBg="0"/>
      <p:bldP spid="84999" grpId="0" autoUpdateAnimBg="0"/>
      <p:bldP spid="85000"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2BD9ED8-6734-49B3-900A-04E01A5D00B2}"/>
              </a:ext>
            </a:extLst>
          </p:cNvPr>
          <p:cNvSpPr>
            <a:spLocks noGrp="1" noChangeArrowheads="1"/>
          </p:cNvSpPr>
          <p:nvPr>
            <p:ph type="title"/>
          </p:nvPr>
        </p:nvSpPr>
        <p:spPr bwMode="auto">
          <a:xfrm>
            <a:off x="685800" y="609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FF0000"/>
                </a:solidFill>
                <a:effectLst>
                  <a:outerShdw blurRad="38100" dist="38100" dir="2700000" algn="tl">
                    <a:srgbClr val="C0C0C0"/>
                  </a:outerShdw>
                </a:effectLst>
                <a:ea typeface="黑体" pitchFamily="2" charset="-122"/>
              </a:rPr>
              <a:t>几个概念</a:t>
            </a:r>
            <a:r>
              <a:rPr lang="en-US" altLang="zh-CN" sz="4000" b="1" dirty="0">
                <a:solidFill>
                  <a:srgbClr val="FF0000"/>
                </a:solidFill>
                <a:effectLst>
                  <a:outerShdw blurRad="38100" dist="38100" dir="2700000" algn="tl">
                    <a:srgbClr val="C0C0C0"/>
                  </a:outerShdw>
                </a:effectLst>
                <a:ea typeface="黑体" pitchFamily="2" charset="-122"/>
              </a:rPr>
              <a:t>(2)</a:t>
            </a:r>
          </a:p>
        </p:txBody>
      </p:sp>
      <p:sp>
        <p:nvSpPr>
          <p:cNvPr id="106499" name="Rectangle 3">
            <a:extLst>
              <a:ext uri="{FF2B5EF4-FFF2-40B4-BE49-F238E27FC236}">
                <a16:creationId xmlns:a16="http://schemas.microsoft.com/office/drawing/2014/main" id="{ED3217BA-3584-410B-95F3-D0547BC08F8B}"/>
              </a:ext>
            </a:extLst>
          </p:cNvPr>
          <p:cNvSpPr>
            <a:spLocks noGrp="1" noChangeArrowheads="1"/>
          </p:cNvSpPr>
          <p:nvPr>
            <p:ph type="body" idx="1"/>
          </p:nvPr>
        </p:nvSpPr>
        <p:spPr bwMode="auto">
          <a:xfrm>
            <a:off x="685800" y="1676400"/>
            <a:ext cx="7772400" cy="441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kumimoji="0" lang="zh-CN" altLang="en-US" sz="2800" b="1" dirty="0">
                <a:solidFill>
                  <a:srgbClr val="FF0000"/>
                </a:solidFill>
                <a:latin typeface="Arial" panose="020B0604020202020204" pitchFamily="34" charset="0"/>
                <a:ea typeface="黑体" panose="02010609060101010101" pitchFamily="49" charset="-122"/>
              </a:rPr>
              <a:t>独立集：</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的空子图</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是</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的</a:t>
            </a:r>
            <a:r>
              <a:rPr kumimoji="0" lang="zh-CN" altLang="en-US" sz="2800" b="1" dirty="0">
                <a:latin typeface="Arial" panose="020B0604020202020204" pitchFamily="34" charset="0"/>
                <a:ea typeface="黑体" panose="02010609060101010101" pitchFamily="49" charset="-122"/>
              </a:rPr>
              <a:t>独立集</a:t>
            </a:r>
            <a:r>
              <a:rPr kumimoji="0" lang="zh-CN" altLang="en-US" sz="2800" b="1" dirty="0">
                <a:latin typeface="Arial" panose="020B0604020202020204" pitchFamily="34" charset="0"/>
              </a:rPr>
              <a:t>当且仅当</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不包含在</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的更大的空子图中。</a:t>
            </a:r>
          </a:p>
          <a:p>
            <a:pPr eaLnBrk="1" hangingPunct="1">
              <a:lnSpc>
                <a:spcPct val="110000"/>
              </a:lnSpc>
              <a:spcBef>
                <a:spcPct val="0"/>
              </a:spcBef>
            </a:pPr>
            <a:r>
              <a:rPr kumimoji="0" lang="zh-CN" altLang="en-US" sz="2800" b="1" dirty="0">
                <a:solidFill>
                  <a:srgbClr val="FF0000"/>
                </a:solidFill>
                <a:latin typeface="Arial" panose="020B0604020202020204" pitchFamily="34" charset="0"/>
                <a:ea typeface="黑体" panose="02010609060101010101" pitchFamily="49" charset="-122"/>
              </a:rPr>
              <a:t>最大独立集：</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的</a:t>
            </a:r>
            <a:r>
              <a:rPr kumimoji="0" lang="zh-CN" altLang="en-US" sz="2800" b="1" dirty="0">
                <a:latin typeface="Arial" panose="020B0604020202020204" pitchFamily="34" charset="0"/>
                <a:ea typeface="黑体" panose="02010609060101010101" pitchFamily="49" charset="-122"/>
              </a:rPr>
              <a:t>最大独立集</a:t>
            </a:r>
            <a:r>
              <a:rPr kumimoji="0" lang="zh-CN" altLang="en-US" sz="2800" b="1" dirty="0">
                <a:latin typeface="Arial" panose="020B0604020202020204" pitchFamily="34" charset="0"/>
              </a:rPr>
              <a:t>是</a:t>
            </a:r>
            <a:r>
              <a:rPr kumimoji="0" lang="en-US" altLang="zh-CN" sz="2800" b="1" dirty="0">
                <a:latin typeface="Arial" panose="020B0604020202020204" pitchFamily="34" charset="0"/>
              </a:rPr>
              <a:t>G</a:t>
            </a:r>
            <a:r>
              <a:rPr kumimoji="0" lang="zh-CN" altLang="en-US" sz="2800" b="1" dirty="0">
                <a:latin typeface="Arial" panose="020B0604020202020204" pitchFamily="34" charset="0"/>
              </a:rPr>
              <a:t>中所含顶点数最多的独立集。</a:t>
            </a:r>
            <a:endParaRPr kumimoji="0" lang="zh-CN" altLang="en-US" sz="2800" b="1" dirty="0">
              <a:latin typeface="Arial" panose="020B0604020202020204" pitchFamily="34" charset="0"/>
              <a:ea typeface="黑体" panose="02010609060101010101" pitchFamily="49" charset="-122"/>
            </a:endParaRPr>
          </a:p>
          <a:p>
            <a:pPr eaLnBrk="1" hangingPunct="1">
              <a:lnSpc>
                <a:spcPct val="110000"/>
              </a:lnSpc>
              <a:spcBef>
                <a:spcPct val="0"/>
              </a:spcBef>
            </a:pPr>
            <a:r>
              <a:rPr kumimoji="0" lang="zh-CN" altLang="en-US" sz="2800" b="1" dirty="0">
                <a:solidFill>
                  <a:srgbClr val="FF0000"/>
                </a:solidFill>
                <a:latin typeface="Arial" panose="020B0604020202020204" pitchFamily="34" charset="0"/>
                <a:ea typeface="黑体" panose="02010609060101010101" pitchFamily="49" charset="-122"/>
              </a:rPr>
              <a:t>补图</a:t>
            </a:r>
            <a:r>
              <a:rPr kumimoji="0" lang="zh-CN" altLang="en-US" sz="2800" b="1" dirty="0">
                <a:latin typeface="Arial" panose="020B0604020202020204" pitchFamily="34" charset="0"/>
                <a:ea typeface="黑体" panose="02010609060101010101" pitchFamily="49" charset="-122"/>
              </a:rPr>
              <a:t>：</a:t>
            </a:r>
            <a:r>
              <a:rPr kumimoji="0" lang="zh-CN" altLang="en-US" sz="2800" b="1" dirty="0">
                <a:latin typeface="Arial" panose="020B0604020202020204" pitchFamily="34" charset="0"/>
              </a:rPr>
              <a:t>对于任一无向图</a:t>
            </a:r>
            <a:r>
              <a:rPr kumimoji="0" lang="en-US" altLang="zh-CN" sz="2800" b="1" dirty="0">
                <a:latin typeface="Arial" panose="020B0604020202020204" pitchFamily="34" charset="0"/>
              </a:rPr>
              <a:t>G=(V</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E)</a:t>
            </a:r>
            <a:r>
              <a:rPr kumimoji="0" lang="zh-CN" altLang="en-US" sz="2800" b="1" dirty="0">
                <a:latin typeface="Arial" panose="020B0604020202020204" pitchFamily="34" charset="0"/>
              </a:rPr>
              <a:t>其</a:t>
            </a:r>
            <a:r>
              <a:rPr kumimoji="0" lang="zh-CN" altLang="en-US" sz="2800" b="1" dirty="0">
                <a:latin typeface="Arial" panose="020B0604020202020204" pitchFamily="34" charset="0"/>
                <a:ea typeface="黑体" panose="02010609060101010101" pitchFamily="49" charset="-122"/>
              </a:rPr>
              <a:t>补图</a:t>
            </a:r>
            <a:r>
              <a:rPr kumimoji="0" lang="en-US" altLang="zh-CN" sz="2800" b="1" dirty="0">
                <a:latin typeface="Arial" panose="020B0604020202020204" pitchFamily="34" charset="0"/>
                <a:ea typeface="黑体" panose="02010609060101010101" pitchFamily="49" charset="-122"/>
              </a:rPr>
              <a:t>G</a:t>
            </a:r>
            <a:r>
              <a:rPr kumimoji="0" lang="en-US" altLang="zh-CN" sz="2800" b="1" dirty="0">
                <a:latin typeface="Arial" panose="020B0604020202020204" pitchFamily="34" charset="0"/>
              </a:rPr>
              <a:t>=(V</a:t>
            </a:r>
            <a:r>
              <a:rPr kumimoji="0" lang="en-US" altLang="zh-CN" sz="2800" b="1" baseline="-25000" dirty="0">
                <a:latin typeface="Arial" panose="020B0604020202020204" pitchFamily="34" charset="0"/>
              </a:rPr>
              <a:t>1</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E</a:t>
            </a:r>
            <a:r>
              <a:rPr kumimoji="0" lang="en-US" altLang="zh-CN" sz="2800" b="1" baseline="-25000" dirty="0">
                <a:latin typeface="Arial" panose="020B0604020202020204" pitchFamily="34" charset="0"/>
              </a:rPr>
              <a:t>1</a:t>
            </a:r>
            <a:r>
              <a:rPr kumimoji="0" lang="en-US" altLang="zh-CN" sz="2800" b="1" dirty="0">
                <a:latin typeface="Arial" panose="020B0604020202020204" pitchFamily="34" charset="0"/>
              </a:rPr>
              <a:t>)</a:t>
            </a:r>
            <a:r>
              <a:rPr kumimoji="0" lang="zh-CN" altLang="en-US" sz="2800" b="1" dirty="0">
                <a:latin typeface="Arial" panose="020B0604020202020204" pitchFamily="34" charset="0"/>
              </a:rPr>
              <a:t>定义为：</a:t>
            </a:r>
            <a:r>
              <a:rPr kumimoji="0" lang="en-US" altLang="zh-CN" sz="2800" b="1" dirty="0">
                <a:latin typeface="Arial" panose="020B0604020202020204" pitchFamily="34" charset="0"/>
              </a:rPr>
              <a:t>V</a:t>
            </a:r>
            <a:r>
              <a:rPr kumimoji="0" lang="en-US" altLang="zh-CN" sz="2800" b="1" baseline="-25000" dirty="0">
                <a:latin typeface="Arial" panose="020B0604020202020204" pitchFamily="34" charset="0"/>
              </a:rPr>
              <a:t>1</a:t>
            </a:r>
            <a:r>
              <a:rPr kumimoji="0" lang="en-US" altLang="zh-CN" sz="2800" b="1" dirty="0">
                <a:latin typeface="Arial" panose="020B0604020202020204" pitchFamily="34" charset="0"/>
              </a:rPr>
              <a:t>=V</a:t>
            </a:r>
            <a:r>
              <a:rPr kumimoji="0" lang="zh-CN" altLang="en-US" sz="2800" b="1" dirty="0">
                <a:latin typeface="Arial" panose="020B0604020202020204" pitchFamily="34" charset="0"/>
              </a:rPr>
              <a:t>，且</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v)</a:t>
            </a:r>
            <a:r>
              <a:rPr kumimoji="0" lang="en-US" altLang="zh-CN" sz="2800" b="1" dirty="0">
                <a:latin typeface="Arial" panose="020B0604020202020204" pitchFamily="34" charset="0"/>
                <a:sym typeface="Symbol" panose="05050102010706020507" pitchFamily="18" charset="2"/>
              </a:rPr>
              <a:t></a:t>
            </a:r>
            <a:r>
              <a:rPr kumimoji="0" lang="en-US" altLang="zh-CN" sz="2800" b="1" dirty="0">
                <a:latin typeface="Arial" panose="020B0604020202020204" pitchFamily="34" charset="0"/>
              </a:rPr>
              <a:t>E</a:t>
            </a:r>
            <a:r>
              <a:rPr kumimoji="0" lang="en-US" altLang="zh-CN" sz="2800" b="1" baseline="-25000" dirty="0">
                <a:latin typeface="Arial" panose="020B0604020202020204" pitchFamily="34" charset="0"/>
              </a:rPr>
              <a:t>1</a:t>
            </a:r>
            <a:r>
              <a:rPr kumimoji="0" lang="zh-CN" altLang="en-US" sz="2800" b="1" dirty="0">
                <a:latin typeface="Arial" panose="020B0604020202020204" pitchFamily="34" charset="0"/>
              </a:rPr>
              <a:t>当且仅当</a:t>
            </a:r>
            <a:r>
              <a:rPr kumimoji="0" lang="en-US" altLang="zh-CN" sz="2800" b="1" dirty="0">
                <a:latin typeface="Arial" panose="020B0604020202020204" pitchFamily="34" charset="0"/>
              </a:rPr>
              <a:t>(u</a:t>
            </a:r>
            <a:r>
              <a:rPr kumimoji="0" lang="zh-CN" altLang="en-US" sz="2800" b="1" dirty="0">
                <a:latin typeface="Arial" panose="020B0604020202020204" pitchFamily="34" charset="0"/>
              </a:rPr>
              <a:t>，</a:t>
            </a:r>
            <a:r>
              <a:rPr kumimoji="0" lang="en-US" altLang="zh-CN" sz="2800" b="1" dirty="0">
                <a:latin typeface="Arial" panose="020B0604020202020204" pitchFamily="34" charset="0"/>
              </a:rPr>
              <a:t>v)</a:t>
            </a:r>
            <a:r>
              <a:rPr kumimoji="0" lang="en-US" altLang="zh-CN" sz="2800" b="1" dirty="0">
                <a:latin typeface="Arial" panose="020B0604020202020204" pitchFamily="34" charset="0"/>
                <a:sym typeface="Symbol" panose="05050102010706020507" pitchFamily="18" charset="2"/>
              </a:rPr>
              <a:t></a:t>
            </a:r>
            <a:r>
              <a:rPr kumimoji="0" lang="en-US" altLang="zh-CN" sz="2800" b="1" dirty="0">
                <a:latin typeface="Arial" panose="020B0604020202020204" pitchFamily="34" charset="0"/>
              </a:rPr>
              <a:t>E</a:t>
            </a:r>
          </a:p>
          <a:p>
            <a:pPr eaLnBrk="1" hangingPunct="1">
              <a:lnSpc>
                <a:spcPct val="110000"/>
              </a:lnSpc>
            </a:pPr>
            <a:endParaRPr kumimoji="0" lang="en-US" altLang="zh-CN" sz="28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 calcmode="lin" valueType="num">
                                      <p:cBhvr additive="base">
                                        <p:cTn id="7" dur="500" fill="hold"/>
                                        <p:tgtEl>
                                          <p:spTgt spid="106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6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6499">
                                            <p:txEl>
                                              <p:pRg st="1" end="1"/>
                                            </p:txEl>
                                          </p:spTgt>
                                        </p:tgtEl>
                                        <p:attrNameLst>
                                          <p:attrName>style.visibility</p:attrName>
                                        </p:attrNameLst>
                                      </p:cBhvr>
                                      <p:to>
                                        <p:strVal val="visible"/>
                                      </p:to>
                                    </p:set>
                                    <p:anim calcmode="lin" valueType="num">
                                      <p:cBhvr additive="base">
                                        <p:cTn id="13" dur="500" fill="hold"/>
                                        <p:tgtEl>
                                          <p:spTgt spid="1064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64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6499">
                                            <p:txEl>
                                              <p:pRg st="2" end="2"/>
                                            </p:txEl>
                                          </p:spTgt>
                                        </p:tgtEl>
                                        <p:attrNameLst>
                                          <p:attrName>style.visibility</p:attrName>
                                        </p:attrNameLst>
                                      </p:cBhvr>
                                      <p:to>
                                        <p:strVal val="visible"/>
                                      </p:to>
                                    </p:set>
                                    <p:anim calcmode="lin" valueType="num">
                                      <p:cBhvr additive="base">
                                        <p:cTn id="19" dur="500" fill="hold"/>
                                        <p:tgtEl>
                                          <p:spTgt spid="1064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64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327FDC6-4860-40C5-A03C-AFEF6A5F757E}"/>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latin typeface="Arial" panose="020B0604020202020204" pitchFamily="34" charset="0"/>
              </a:rPr>
              <a:t>举   例</a:t>
            </a:r>
          </a:p>
        </p:txBody>
      </p:sp>
      <p:sp>
        <p:nvSpPr>
          <p:cNvPr id="86019" name="Rectangle 3">
            <a:extLst>
              <a:ext uri="{FF2B5EF4-FFF2-40B4-BE49-F238E27FC236}">
                <a16:creationId xmlns:a16="http://schemas.microsoft.com/office/drawing/2014/main" id="{AFEFC8FC-66C6-48C6-96A3-99B4D1D6F19B}"/>
              </a:ext>
            </a:extLst>
          </p:cNvPr>
          <p:cNvSpPr>
            <a:spLocks noGrp="1" noChangeArrowheads="1"/>
          </p:cNvSpPr>
          <p:nvPr>
            <p:ph type="body" idx="1"/>
          </p:nvPr>
        </p:nvSpPr>
        <p:spPr bwMode="auto">
          <a:xfrm>
            <a:off x="685800" y="4800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t>团：</a:t>
            </a:r>
            <a:r>
              <a:rPr lang="en-US" altLang="zh-CN" b="1"/>
              <a:t>{1</a:t>
            </a:r>
            <a:r>
              <a:rPr lang="zh-CN" altLang="en-US" b="1"/>
              <a:t>，</a:t>
            </a:r>
            <a:r>
              <a:rPr lang="en-US" altLang="zh-CN" b="1"/>
              <a:t>2</a:t>
            </a:r>
            <a:r>
              <a:rPr lang="zh-CN" altLang="en-US" b="1"/>
              <a:t>，</a:t>
            </a:r>
            <a:r>
              <a:rPr lang="en-US" altLang="zh-CN" b="1"/>
              <a:t>5} {2</a:t>
            </a:r>
            <a:r>
              <a:rPr lang="zh-CN" altLang="en-US" b="1"/>
              <a:t>，</a:t>
            </a:r>
            <a:r>
              <a:rPr lang="en-US" altLang="zh-CN" b="1"/>
              <a:t>3</a:t>
            </a:r>
            <a:r>
              <a:rPr lang="zh-CN" altLang="en-US" b="1"/>
              <a:t>，</a:t>
            </a:r>
            <a:r>
              <a:rPr lang="en-US" altLang="zh-CN" b="1"/>
              <a:t>5} {1</a:t>
            </a:r>
            <a:r>
              <a:rPr lang="zh-CN" altLang="en-US" b="1"/>
              <a:t>，</a:t>
            </a:r>
            <a:r>
              <a:rPr lang="en-US" altLang="zh-CN" b="1"/>
              <a:t>4</a:t>
            </a:r>
            <a:r>
              <a:rPr lang="zh-CN" altLang="en-US" b="1"/>
              <a:t>，</a:t>
            </a:r>
            <a:r>
              <a:rPr lang="en-US" altLang="zh-CN" b="1"/>
              <a:t>5}</a:t>
            </a:r>
          </a:p>
        </p:txBody>
      </p:sp>
      <p:grpSp>
        <p:nvGrpSpPr>
          <p:cNvPr id="2" name="Group 4">
            <a:extLst>
              <a:ext uri="{FF2B5EF4-FFF2-40B4-BE49-F238E27FC236}">
                <a16:creationId xmlns:a16="http://schemas.microsoft.com/office/drawing/2014/main" id="{F1B940C5-3AE0-4932-A307-FB313F00F9F3}"/>
              </a:ext>
            </a:extLst>
          </p:cNvPr>
          <p:cNvGrpSpPr>
            <a:grpSpLocks/>
          </p:cNvGrpSpPr>
          <p:nvPr/>
        </p:nvGrpSpPr>
        <p:grpSpPr bwMode="auto">
          <a:xfrm>
            <a:off x="1281016" y="2085153"/>
            <a:ext cx="2998982" cy="1649465"/>
            <a:chOff x="861" y="3120"/>
            <a:chExt cx="1695" cy="854"/>
          </a:xfrm>
        </p:grpSpPr>
        <p:sp>
          <p:nvSpPr>
            <p:cNvPr id="56335" name="Oval 5">
              <a:extLst>
                <a:ext uri="{FF2B5EF4-FFF2-40B4-BE49-F238E27FC236}">
                  <a16:creationId xmlns:a16="http://schemas.microsoft.com/office/drawing/2014/main" id="{642DB801-56F4-4BC0-8030-31D622775C8A}"/>
                </a:ext>
              </a:extLst>
            </p:cNvPr>
            <p:cNvSpPr>
              <a:spLocks noChangeArrowheads="1"/>
            </p:cNvSpPr>
            <p:nvPr/>
          </p:nvSpPr>
          <p:spPr bwMode="auto">
            <a:xfrm>
              <a:off x="878" y="3120"/>
              <a:ext cx="214" cy="202"/>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1</a:t>
              </a:r>
            </a:p>
          </p:txBody>
        </p:sp>
        <p:sp>
          <p:nvSpPr>
            <p:cNvPr id="56336" name="Oval 6">
              <a:extLst>
                <a:ext uri="{FF2B5EF4-FFF2-40B4-BE49-F238E27FC236}">
                  <a16:creationId xmlns:a16="http://schemas.microsoft.com/office/drawing/2014/main" id="{14E19543-0E95-4C58-AACE-0F38AB0EE87C}"/>
                </a:ext>
              </a:extLst>
            </p:cNvPr>
            <p:cNvSpPr>
              <a:spLocks noChangeArrowheads="1"/>
            </p:cNvSpPr>
            <p:nvPr/>
          </p:nvSpPr>
          <p:spPr bwMode="auto">
            <a:xfrm>
              <a:off x="1691" y="3120"/>
              <a:ext cx="214" cy="202"/>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2</a:t>
              </a:r>
            </a:p>
          </p:txBody>
        </p:sp>
        <p:sp>
          <p:nvSpPr>
            <p:cNvPr id="56337" name="Oval 7">
              <a:extLst>
                <a:ext uri="{FF2B5EF4-FFF2-40B4-BE49-F238E27FC236}">
                  <a16:creationId xmlns:a16="http://schemas.microsoft.com/office/drawing/2014/main" id="{E559DEEA-83E0-4206-AB1E-8475CD3ABB2D}"/>
                </a:ext>
              </a:extLst>
            </p:cNvPr>
            <p:cNvSpPr>
              <a:spLocks noChangeArrowheads="1"/>
            </p:cNvSpPr>
            <p:nvPr/>
          </p:nvSpPr>
          <p:spPr bwMode="auto">
            <a:xfrm>
              <a:off x="861" y="3772"/>
              <a:ext cx="214" cy="202"/>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4</a:t>
              </a:r>
            </a:p>
          </p:txBody>
        </p:sp>
        <p:sp>
          <p:nvSpPr>
            <p:cNvPr id="56338" name="Oval 8">
              <a:extLst>
                <a:ext uri="{FF2B5EF4-FFF2-40B4-BE49-F238E27FC236}">
                  <a16:creationId xmlns:a16="http://schemas.microsoft.com/office/drawing/2014/main" id="{9EF3DB17-7585-428E-8D33-1045D339EBA5}"/>
                </a:ext>
              </a:extLst>
            </p:cNvPr>
            <p:cNvSpPr>
              <a:spLocks noChangeArrowheads="1"/>
            </p:cNvSpPr>
            <p:nvPr/>
          </p:nvSpPr>
          <p:spPr bwMode="auto">
            <a:xfrm>
              <a:off x="1691" y="3772"/>
              <a:ext cx="214" cy="202"/>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5</a:t>
              </a:r>
            </a:p>
          </p:txBody>
        </p:sp>
        <p:sp>
          <p:nvSpPr>
            <p:cNvPr id="56339" name="Oval 9">
              <a:extLst>
                <a:ext uri="{FF2B5EF4-FFF2-40B4-BE49-F238E27FC236}">
                  <a16:creationId xmlns:a16="http://schemas.microsoft.com/office/drawing/2014/main" id="{18CF022D-A0C6-46BD-8188-B2C236341921}"/>
                </a:ext>
              </a:extLst>
            </p:cNvPr>
            <p:cNvSpPr>
              <a:spLocks noChangeArrowheads="1"/>
            </p:cNvSpPr>
            <p:nvPr/>
          </p:nvSpPr>
          <p:spPr bwMode="auto">
            <a:xfrm>
              <a:off x="2342" y="3419"/>
              <a:ext cx="214" cy="202"/>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3</a:t>
              </a:r>
            </a:p>
          </p:txBody>
        </p:sp>
        <p:cxnSp>
          <p:nvCxnSpPr>
            <p:cNvPr id="56340" name="AutoShape 10">
              <a:extLst>
                <a:ext uri="{FF2B5EF4-FFF2-40B4-BE49-F238E27FC236}">
                  <a16:creationId xmlns:a16="http://schemas.microsoft.com/office/drawing/2014/main" id="{71790907-3DB6-4019-8B3E-C66F7A29739B}"/>
                </a:ext>
              </a:extLst>
            </p:cNvPr>
            <p:cNvCxnSpPr>
              <a:cxnSpLocks noChangeShapeType="1"/>
              <a:stCxn id="56335" idx="6"/>
              <a:endCxn id="56336" idx="2"/>
            </p:cNvCxnSpPr>
            <p:nvPr/>
          </p:nvCxnSpPr>
          <p:spPr bwMode="auto">
            <a:xfrm>
              <a:off x="1092" y="3221"/>
              <a:ext cx="599" cy="0"/>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6341" name="AutoShape 11">
              <a:extLst>
                <a:ext uri="{FF2B5EF4-FFF2-40B4-BE49-F238E27FC236}">
                  <a16:creationId xmlns:a16="http://schemas.microsoft.com/office/drawing/2014/main" id="{C1BFCE7E-9A0C-4C94-A8A6-6FF85637BEB8}"/>
                </a:ext>
              </a:extLst>
            </p:cNvPr>
            <p:cNvCxnSpPr>
              <a:cxnSpLocks noChangeShapeType="1"/>
              <a:stCxn id="56335" idx="4"/>
              <a:endCxn id="56337" idx="0"/>
            </p:cNvCxnSpPr>
            <p:nvPr/>
          </p:nvCxnSpPr>
          <p:spPr bwMode="auto">
            <a:xfrm flipH="1">
              <a:off x="968" y="3322"/>
              <a:ext cx="17" cy="4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342" name="AutoShape 12">
              <a:extLst>
                <a:ext uri="{FF2B5EF4-FFF2-40B4-BE49-F238E27FC236}">
                  <a16:creationId xmlns:a16="http://schemas.microsoft.com/office/drawing/2014/main" id="{173316D9-9FDB-48DE-A4A6-8BC43F2F9B14}"/>
                </a:ext>
              </a:extLst>
            </p:cNvPr>
            <p:cNvCxnSpPr>
              <a:cxnSpLocks noChangeShapeType="1"/>
              <a:stCxn id="56337" idx="6"/>
              <a:endCxn id="56338" idx="2"/>
            </p:cNvCxnSpPr>
            <p:nvPr/>
          </p:nvCxnSpPr>
          <p:spPr bwMode="auto">
            <a:xfrm>
              <a:off x="1075" y="3873"/>
              <a:ext cx="616"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343" name="AutoShape 13">
              <a:extLst>
                <a:ext uri="{FF2B5EF4-FFF2-40B4-BE49-F238E27FC236}">
                  <a16:creationId xmlns:a16="http://schemas.microsoft.com/office/drawing/2014/main" id="{8D61E518-C761-43F9-A474-2DBC9064B7DB}"/>
                </a:ext>
              </a:extLst>
            </p:cNvPr>
            <p:cNvCxnSpPr>
              <a:cxnSpLocks noChangeShapeType="1"/>
              <a:stCxn id="56338" idx="0"/>
              <a:endCxn id="56336" idx="4"/>
            </p:cNvCxnSpPr>
            <p:nvPr/>
          </p:nvCxnSpPr>
          <p:spPr bwMode="auto">
            <a:xfrm flipV="1">
              <a:off x="1798" y="3322"/>
              <a:ext cx="0" cy="450"/>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6344" name="AutoShape 14">
              <a:extLst>
                <a:ext uri="{FF2B5EF4-FFF2-40B4-BE49-F238E27FC236}">
                  <a16:creationId xmlns:a16="http://schemas.microsoft.com/office/drawing/2014/main" id="{BB74EAB8-8A65-4404-BDF5-195C558EA0BC}"/>
                </a:ext>
              </a:extLst>
            </p:cNvPr>
            <p:cNvCxnSpPr>
              <a:cxnSpLocks noChangeShapeType="1"/>
              <a:stCxn id="56335" idx="5"/>
              <a:endCxn id="56338" idx="1"/>
            </p:cNvCxnSpPr>
            <p:nvPr/>
          </p:nvCxnSpPr>
          <p:spPr bwMode="auto">
            <a:xfrm>
              <a:off x="1061" y="3292"/>
              <a:ext cx="662" cy="509"/>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6345" name="AutoShape 15">
              <a:extLst>
                <a:ext uri="{FF2B5EF4-FFF2-40B4-BE49-F238E27FC236}">
                  <a16:creationId xmlns:a16="http://schemas.microsoft.com/office/drawing/2014/main" id="{848C3B1E-320A-4FA0-9098-2A64F66A0BC8}"/>
                </a:ext>
              </a:extLst>
            </p:cNvPr>
            <p:cNvCxnSpPr>
              <a:cxnSpLocks noChangeShapeType="1"/>
              <a:stCxn id="56339" idx="1"/>
              <a:endCxn id="56336" idx="6"/>
            </p:cNvCxnSpPr>
            <p:nvPr/>
          </p:nvCxnSpPr>
          <p:spPr bwMode="auto">
            <a:xfrm flipH="1" flipV="1">
              <a:off x="1905" y="3221"/>
              <a:ext cx="468" cy="22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346" name="AutoShape 16">
              <a:extLst>
                <a:ext uri="{FF2B5EF4-FFF2-40B4-BE49-F238E27FC236}">
                  <a16:creationId xmlns:a16="http://schemas.microsoft.com/office/drawing/2014/main" id="{979D0C61-BBD4-4538-935B-62999A542B27}"/>
                </a:ext>
              </a:extLst>
            </p:cNvPr>
            <p:cNvCxnSpPr>
              <a:cxnSpLocks noChangeShapeType="1"/>
              <a:stCxn id="56338" idx="6"/>
              <a:endCxn id="56339" idx="3"/>
            </p:cNvCxnSpPr>
            <p:nvPr/>
          </p:nvCxnSpPr>
          <p:spPr bwMode="auto">
            <a:xfrm flipV="1">
              <a:off x="1905" y="3591"/>
              <a:ext cx="468" cy="28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3" name="Group 17">
            <a:extLst>
              <a:ext uri="{FF2B5EF4-FFF2-40B4-BE49-F238E27FC236}">
                <a16:creationId xmlns:a16="http://schemas.microsoft.com/office/drawing/2014/main" id="{45F43E88-2BF1-416E-BD0F-5A4BE84316C0}"/>
              </a:ext>
            </a:extLst>
          </p:cNvPr>
          <p:cNvGrpSpPr>
            <a:grpSpLocks/>
          </p:cNvGrpSpPr>
          <p:nvPr/>
        </p:nvGrpSpPr>
        <p:grpSpPr bwMode="auto">
          <a:xfrm>
            <a:off x="4856313" y="2108712"/>
            <a:ext cx="2768304" cy="1660358"/>
            <a:chOff x="2359" y="3238"/>
            <a:chExt cx="1314" cy="681"/>
          </a:xfrm>
        </p:grpSpPr>
        <p:sp>
          <p:nvSpPr>
            <p:cNvPr id="56327" name="Oval 18">
              <a:extLst>
                <a:ext uri="{FF2B5EF4-FFF2-40B4-BE49-F238E27FC236}">
                  <a16:creationId xmlns:a16="http://schemas.microsoft.com/office/drawing/2014/main" id="{DD00BD97-B4E5-4071-9C64-7EBDB17570A1}"/>
                </a:ext>
              </a:extLst>
            </p:cNvPr>
            <p:cNvSpPr>
              <a:spLocks noChangeArrowheads="1"/>
            </p:cNvSpPr>
            <p:nvPr/>
          </p:nvSpPr>
          <p:spPr bwMode="auto">
            <a:xfrm>
              <a:off x="2373" y="3258"/>
              <a:ext cx="180" cy="160"/>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1</a:t>
              </a:r>
            </a:p>
          </p:txBody>
        </p:sp>
        <p:sp>
          <p:nvSpPr>
            <p:cNvPr id="56328" name="Oval 19">
              <a:extLst>
                <a:ext uri="{FF2B5EF4-FFF2-40B4-BE49-F238E27FC236}">
                  <a16:creationId xmlns:a16="http://schemas.microsoft.com/office/drawing/2014/main" id="{66B69AEC-874E-4FBC-8D71-59260C0108B9}"/>
                </a:ext>
              </a:extLst>
            </p:cNvPr>
            <p:cNvSpPr>
              <a:spLocks noChangeArrowheads="1"/>
            </p:cNvSpPr>
            <p:nvPr/>
          </p:nvSpPr>
          <p:spPr bwMode="auto">
            <a:xfrm>
              <a:off x="3116" y="3238"/>
              <a:ext cx="180" cy="160"/>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2</a:t>
              </a:r>
            </a:p>
          </p:txBody>
        </p:sp>
        <p:sp>
          <p:nvSpPr>
            <p:cNvPr id="56329" name="Oval 20">
              <a:extLst>
                <a:ext uri="{FF2B5EF4-FFF2-40B4-BE49-F238E27FC236}">
                  <a16:creationId xmlns:a16="http://schemas.microsoft.com/office/drawing/2014/main" id="{3E4BB410-D9FD-437D-8EEA-3CB6F94E7FF4}"/>
                </a:ext>
              </a:extLst>
            </p:cNvPr>
            <p:cNvSpPr>
              <a:spLocks noChangeArrowheads="1"/>
            </p:cNvSpPr>
            <p:nvPr/>
          </p:nvSpPr>
          <p:spPr bwMode="auto">
            <a:xfrm>
              <a:off x="2359" y="3759"/>
              <a:ext cx="180" cy="160"/>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4</a:t>
              </a:r>
            </a:p>
          </p:txBody>
        </p:sp>
        <p:sp>
          <p:nvSpPr>
            <p:cNvPr id="56330" name="Oval 21">
              <a:extLst>
                <a:ext uri="{FF2B5EF4-FFF2-40B4-BE49-F238E27FC236}">
                  <a16:creationId xmlns:a16="http://schemas.microsoft.com/office/drawing/2014/main" id="{0C64B041-FF26-45C7-B24A-DEF5598C4435}"/>
                </a:ext>
              </a:extLst>
            </p:cNvPr>
            <p:cNvSpPr>
              <a:spLocks noChangeArrowheads="1"/>
            </p:cNvSpPr>
            <p:nvPr/>
          </p:nvSpPr>
          <p:spPr bwMode="auto">
            <a:xfrm>
              <a:off x="3116" y="3737"/>
              <a:ext cx="180" cy="160"/>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5</a:t>
              </a:r>
            </a:p>
          </p:txBody>
        </p:sp>
        <p:sp>
          <p:nvSpPr>
            <p:cNvPr id="56331" name="Oval 22">
              <a:extLst>
                <a:ext uri="{FF2B5EF4-FFF2-40B4-BE49-F238E27FC236}">
                  <a16:creationId xmlns:a16="http://schemas.microsoft.com/office/drawing/2014/main" id="{2E72E251-AB26-4DFD-AA00-956EC2F26BBA}"/>
                </a:ext>
              </a:extLst>
            </p:cNvPr>
            <p:cNvSpPr>
              <a:spLocks noChangeArrowheads="1"/>
            </p:cNvSpPr>
            <p:nvPr/>
          </p:nvSpPr>
          <p:spPr bwMode="auto">
            <a:xfrm>
              <a:off x="3493" y="3487"/>
              <a:ext cx="180" cy="160"/>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3</a:t>
              </a:r>
            </a:p>
          </p:txBody>
        </p:sp>
        <p:cxnSp>
          <p:nvCxnSpPr>
            <p:cNvPr id="56332" name="AutoShape 23">
              <a:extLst>
                <a:ext uri="{FF2B5EF4-FFF2-40B4-BE49-F238E27FC236}">
                  <a16:creationId xmlns:a16="http://schemas.microsoft.com/office/drawing/2014/main" id="{F3FF0AFA-F574-47C1-82A6-A93BE21E02A7}"/>
                </a:ext>
              </a:extLst>
            </p:cNvPr>
            <p:cNvCxnSpPr>
              <a:cxnSpLocks noChangeShapeType="1"/>
              <a:stCxn id="56327" idx="6"/>
              <a:endCxn id="56331" idx="2"/>
            </p:cNvCxnSpPr>
            <p:nvPr/>
          </p:nvCxnSpPr>
          <p:spPr bwMode="auto">
            <a:xfrm>
              <a:off x="2553" y="3338"/>
              <a:ext cx="940" cy="229"/>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333" name="AutoShape 24">
              <a:extLst>
                <a:ext uri="{FF2B5EF4-FFF2-40B4-BE49-F238E27FC236}">
                  <a16:creationId xmlns:a16="http://schemas.microsoft.com/office/drawing/2014/main" id="{3E8F73FF-1609-46A3-9F19-10ACB0C3E753}"/>
                </a:ext>
              </a:extLst>
            </p:cNvPr>
            <p:cNvCxnSpPr>
              <a:cxnSpLocks noChangeShapeType="1"/>
              <a:stCxn id="56329" idx="7"/>
              <a:endCxn id="56331" idx="2"/>
            </p:cNvCxnSpPr>
            <p:nvPr/>
          </p:nvCxnSpPr>
          <p:spPr bwMode="auto">
            <a:xfrm flipV="1">
              <a:off x="2513" y="3567"/>
              <a:ext cx="980" cy="215"/>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334" name="AutoShape 25">
              <a:extLst>
                <a:ext uri="{FF2B5EF4-FFF2-40B4-BE49-F238E27FC236}">
                  <a16:creationId xmlns:a16="http://schemas.microsoft.com/office/drawing/2014/main" id="{7BEBCC55-7690-4E13-B579-0034BFA09FFE}"/>
                </a:ext>
              </a:extLst>
            </p:cNvPr>
            <p:cNvCxnSpPr>
              <a:cxnSpLocks noChangeShapeType="1"/>
              <a:stCxn id="56329" idx="7"/>
              <a:endCxn id="56328" idx="2"/>
            </p:cNvCxnSpPr>
            <p:nvPr/>
          </p:nvCxnSpPr>
          <p:spPr bwMode="auto">
            <a:xfrm flipV="1">
              <a:off x="2513" y="3318"/>
              <a:ext cx="603" cy="46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86042" name="Rectangle 26">
            <a:extLst>
              <a:ext uri="{FF2B5EF4-FFF2-40B4-BE49-F238E27FC236}">
                <a16:creationId xmlns:a16="http://schemas.microsoft.com/office/drawing/2014/main" id="{4EA3FDA5-0398-420C-9E0E-E3BE7715E57C}"/>
              </a:ext>
            </a:extLst>
          </p:cNvPr>
          <p:cNvSpPr>
            <a:spLocks noChangeArrowheads="1"/>
          </p:cNvSpPr>
          <p:nvPr/>
        </p:nvSpPr>
        <p:spPr bwMode="auto">
          <a:xfrm>
            <a:off x="5867400" y="403860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0">
                <a:solidFill>
                  <a:srgbClr val="FF0000"/>
                </a:solidFill>
                <a:latin typeface="Arial" panose="020B0604020202020204" pitchFamily="34" charset="0"/>
                <a:ea typeface="黑体" panose="02010609060101010101" pitchFamily="49" charset="-122"/>
              </a:rPr>
              <a:t>补图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6042"/>
                                        </p:tgtEl>
                                        <p:attrNameLst>
                                          <p:attrName>style.visibility</p:attrName>
                                        </p:attrNameLst>
                                      </p:cBhvr>
                                      <p:to>
                                        <p:strVal val="visible"/>
                                      </p:to>
                                    </p:set>
                                    <p:anim calcmode="lin" valueType="num">
                                      <p:cBhvr additive="base">
                                        <p:cTn id="19" dur="500" fill="hold"/>
                                        <p:tgtEl>
                                          <p:spTgt spid="86042"/>
                                        </p:tgtEl>
                                        <p:attrNameLst>
                                          <p:attrName>ppt_x</p:attrName>
                                        </p:attrNameLst>
                                      </p:cBhvr>
                                      <p:tavLst>
                                        <p:tav tm="0">
                                          <p:val>
                                            <p:strVal val="0-#ppt_w/2"/>
                                          </p:val>
                                        </p:tav>
                                        <p:tav tm="100000">
                                          <p:val>
                                            <p:strVal val="#ppt_x"/>
                                          </p:val>
                                        </p:tav>
                                      </p:tavLst>
                                    </p:anim>
                                    <p:anim calcmode="lin" valueType="num">
                                      <p:cBhvr additive="base">
                                        <p:cTn id="20" dur="500" fill="hold"/>
                                        <p:tgtEl>
                                          <p:spTgt spid="8604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6019">
                                            <p:txEl>
                                              <p:pRg st="0" end="0"/>
                                            </p:txEl>
                                          </p:spTgt>
                                        </p:tgtEl>
                                        <p:attrNameLst>
                                          <p:attrName>style.visibility</p:attrName>
                                        </p:attrNameLst>
                                      </p:cBhvr>
                                      <p:to>
                                        <p:strVal val="visible"/>
                                      </p:to>
                                    </p:set>
                                    <p:anim calcmode="lin" valueType="num">
                                      <p:cBhvr additive="base">
                                        <p:cTn id="25" dur="500" fill="hold"/>
                                        <p:tgtEl>
                                          <p:spTgt spid="86019">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6019">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P spid="8604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4DFDF9A-91A8-4F3B-8124-87E59956EA03}"/>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dirty="0">
                <a:latin typeface="Arial" panose="020B0604020202020204" pitchFamily="34" charset="0"/>
              </a:rPr>
              <a:t>一些关系</a:t>
            </a:r>
          </a:p>
        </p:txBody>
      </p:sp>
      <p:sp>
        <p:nvSpPr>
          <p:cNvPr id="57347" name="Rectangle 3">
            <a:extLst>
              <a:ext uri="{FF2B5EF4-FFF2-40B4-BE49-F238E27FC236}">
                <a16:creationId xmlns:a16="http://schemas.microsoft.com/office/drawing/2014/main" id="{81185910-710B-4D9A-8D2A-69F2C9020691}"/>
              </a:ext>
            </a:extLst>
          </p:cNvPr>
          <p:cNvSpPr>
            <a:spLocks noGrp="1" noChangeArrowheads="1"/>
          </p:cNvSpPr>
          <p:nvPr>
            <p:ph type="body" idx="1"/>
          </p:nvPr>
        </p:nvSpPr>
        <p:spPr bwMode="auto">
          <a:xfrm>
            <a:off x="762000" y="14478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pP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的完全子图，当且仅当，</a:t>
            </a: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的空子图。</a:t>
            </a:r>
          </a:p>
          <a:p>
            <a:pPr eaLnBrk="1" hangingPunct="1">
              <a:lnSpc>
                <a:spcPct val="130000"/>
              </a:lnSpc>
              <a:spcBef>
                <a:spcPct val="0"/>
              </a:spcBef>
              <a:buFontTx/>
              <a:buNone/>
            </a:pP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的团，当且仅当，</a:t>
            </a: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的独立集。</a:t>
            </a:r>
          </a:p>
          <a:p>
            <a:pPr eaLnBrk="1" hangingPunct="1">
              <a:lnSpc>
                <a:spcPct val="130000"/>
              </a:lnSpc>
              <a:spcBef>
                <a:spcPct val="0"/>
              </a:spcBef>
              <a:buFontTx/>
              <a:buNone/>
            </a:pP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的最大团，当且仅当，</a:t>
            </a:r>
            <a:r>
              <a:rPr kumimoji="0" lang="en-US" altLang="zh-CN" sz="2800" b="1">
                <a:latin typeface="黑体" panose="02010609060101010101" pitchFamily="49" charset="-122"/>
                <a:ea typeface="黑体" panose="02010609060101010101" pitchFamily="49" charset="-122"/>
              </a:rPr>
              <a:t>U</a:t>
            </a:r>
            <a:r>
              <a:rPr kumimoji="0" lang="zh-CN" altLang="en-US" sz="2800" b="1">
                <a:latin typeface="黑体" panose="02010609060101010101" pitchFamily="49" charset="-122"/>
                <a:ea typeface="黑体" panose="02010609060101010101" pitchFamily="49" charset="-122"/>
              </a:rPr>
              <a:t>是</a:t>
            </a:r>
            <a:r>
              <a:rPr kumimoji="0" lang="en-US" altLang="zh-CN" sz="2800" b="1">
                <a:latin typeface="黑体" panose="02010609060101010101" pitchFamily="49" charset="-122"/>
                <a:ea typeface="黑体" panose="02010609060101010101" pitchFamily="49" charset="-122"/>
              </a:rPr>
              <a:t>G</a:t>
            </a:r>
            <a:r>
              <a:rPr kumimoji="0" lang="zh-CN" altLang="en-US" sz="2800" b="1">
                <a:latin typeface="黑体" panose="02010609060101010101" pitchFamily="49" charset="-122"/>
                <a:ea typeface="黑体" panose="02010609060101010101" pitchFamily="49" charset="-122"/>
              </a:rPr>
              <a:t>的最大独立集。</a:t>
            </a:r>
          </a:p>
        </p:txBody>
      </p:sp>
      <p:sp>
        <p:nvSpPr>
          <p:cNvPr id="57348" name="Line 26">
            <a:extLst>
              <a:ext uri="{FF2B5EF4-FFF2-40B4-BE49-F238E27FC236}">
                <a16:creationId xmlns:a16="http://schemas.microsoft.com/office/drawing/2014/main" id="{CAD57595-FD86-4CFE-AE4F-FAFE39F78422}"/>
              </a:ext>
            </a:extLst>
          </p:cNvPr>
          <p:cNvSpPr>
            <a:spLocks noChangeShapeType="1"/>
          </p:cNvSpPr>
          <p:nvPr/>
        </p:nvSpPr>
        <p:spPr bwMode="auto">
          <a:xfrm>
            <a:off x="6096000" y="16383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57349" name="Line 27">
            <a:extLst>
              <a:ext uri="{FF2B5EF4-FFF2-40B4-BE49-F238E27FC236}">
                <a16:creationId xmlns:a16="http://schemas.microsoft.com/office/drawing/2014/main" id="{7FEF1CCE-4960-4A2C-9F87-694EA15AABA1}"/>
              </a:ext>
            </a:extLst>
          </p:cNvPr>
          <p:cNvSpPr>
            <a:spLocks noChangeShapeType="1"/>
          </p:cNvSpPr>
          <p:nvPr/>
        </p:nvSpPr>
        <p:spPr bwMode="auto">
          <a:xfrm>
            <a:off x="5715000" y="27432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57350" name="Line 28">
            <a:extLst>
              <a:ext uri="{FF2B5EF4-FFF2-40B4-BE49-F238E27FC236}">
                <a16:creationId xmlns:a16="http://schemas.microsoft.com/office/drawing/2014/main" id="{82CA9567-2AC0-40A2-951F-58A4070B7D14}"/>
              </a:ext>
            </a:extLst>
          </p:cNvPr>
          <p:cNvSpPr>
            <a:spLocks noChangeShapeType="1"/>
          </p:cNvSpPr>
          <p:nvPr/>
        </p:nvSpPr>
        <p:spPr bwMode="auto">
          <a:xfrm>
            <a:off x="5010150" y="22098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4D0154E-05E6-4608-B5DB-71EE95015759}"/>
              </a:ext>
            </a:extLst>
          </p:cNvPr>
          <p:cNvSpPr>
            <a:spLocks noGrp="1" noChangeArrowheads="1"/>
          </p:cNvSpPr>
          <p:nvPr>
            <p:ph type="title"/>
          </p:nvPr>
        </p:nvSpPr>
        <p:spPr bwMode="auto">
          <a:xfrm>
            <a:off x="685800" y="762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a:latin typeface="黑体" panose="02010609060101010101" pitchFamily="49" charset="-122"/>
                <a:ea typeface="黑体" panose="02010609060101010101" pitchFamily="49" charset="-122"/>
              </a:rPr>
              <a:t>算法分析</a:t>
            </a:r>
          </a:p>
        </p:txBody>
      </p:sp>
      <p:sp>
        <p:nvSpPr>
          <p:cNvPr id="58371" name="Rectangle 3">
            <a:extLst>
              <a:ext uri="{FF2B5EF4-FFF2-40B4-BE49-F238E27FC236}">
                <a16:creationId xmlns:a16="http://schemas.microsoft.com/office/drawing/2014/main" id="{4D0537BA-2A57-4B34-91C2-407A59469D3E}"/>
              </a:ext>
            </a:extLst>
          </p:cNvPr>
          <p:cNvSpPr>
            <a:spLocks noGrp="1" noChangeArrowheads="1"/>
          </p:cNvSpPr>
          <p:nvPr>
            <p:ph type="body" idx="1"/>
          </p:nvPr>
        </p:nvSpPr>
        <p:spPr bwMode="auto">
          <a:xfrm>
            <a:off x="533400" y="838200"/>
            <a:ext cx="8229600" cy="213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0"/>
              </a:spcBef>
              <a:buClr>
                <a:schemeClr val="accent2"/>
              </a:buClr>
            </a:pPr>
            <a:r>
              <a:rPr kumimoji="0" lang="zh-CN" altLang="en-US" sz="2800" b="1" dirty="0">
                <a:latin typeface="华文中宋" panose="02010600040101010101" pitchFamily="2" charset="-122"/>
              </a:rPr>
              <a:t>解空间：子集树</a:t>
            </a:r>
          </a:p>
          <a:p>
            <a:pPr eaLnBrk="1" hangingPunct="1">
              <a:lnSpc>
                <a:spcPct val="90000"/>
              </a:lnSpc>
              <a:spcBef>
                <a:spcPct val="0"/>
              </a:spcBef>
              <a:buClr>
                <a:schemeClr val="accent2"/>
              </a:buClr>
            </a:pPr>
            <a:r>
              <a:rPr kumimoji="0" lang="zh-CN" altLang="en-US" sz="2800" b="1" dirty="0">
                <a:latin typeface="华文中宋" panose="02010600040101010101" pitchFamily="2" charset="-122"/>
              </a:rPr>
              <a:t>可行性</a:t>
            </a:r>
            <a:r>
              <a:rPr kumimoji="0" lang="zh-CN" altLang="en-US" sz="2800" b="1" dirty="0">
                <a:solidFill>
                  <a:srgbClr val="FF0000"/>
                </a:solidFill>
                <a:latin typeface="华文中宋" panose="02010600040101010101" pitchFamily="2" charset="-122"/>
              </a:rPr>
              <a:t>约束函数</a:t>
            </a:r>
            <a:r>
              <a:rPr kumimoji="0" lang="zh-CN" altLang="en-US" sz="2800" b="1" dirty="0">
                <a:latin typeface="华文中宋" panose="02010600040101010101" pitchFamily="2" charset="-122"/>
              </a:rPr>
              <a:t>：顶点</a:t>
            </a:r>
            <a:r>
              <a:rPr kumimoji="0" lang="en-US" altLang="zh-CN" sz="2800" b="1" dirty="0" err="1">
                <a:latin typeface="华文中宋" panose="02010600040101010101" pitchFamily="2" charset="-122"/>
              </a:rPr>
              <a:t>i</a:t>
            </a:r>
            <a:r>
              <a:rPr kumimoji="0" lang="zh-CN" altLang="en-US" sz="2800" b="1" dirty="0">
                <a:latin typeface="华文中宋" panose="02010600040101010101" pitchFamily="2" charset="-122"/>
              </a:rPr>
              <a:t>到已选入的顶点集中每一个顶点都有边相连。</a:t>
            </a:r>
            <a:r>
              <a:rPr kumimoji="0" lang="en-US" altLang="zh-CN" sz="2800" b="1" dirty="0">
                <a:solidFill>
                  <a:srgbClr val="FF0000"/>
                </a:solidFill>
                <a:latin typeface="华文中宋" panose="02010600040101010101" pitchFamily="2" charset="-122"/>
              </a:rPr>
              <a:t>--</a:t>
            </a:r>
            <a:r>
              <a:rPr kumimoji="0" lang="zh-CN" altLang="en-US" sz="2800" b="1" dirty="0">
                <a:solidFill>
                  <a:srgbClr val="FF0000"/>
                </a:solidFill>
                <a:latin typeface="华文中宋" panose="02010600040101010101" pitchFamily="2" charset="-122"/>
              </a:rPr>
              <a:t>相连性</a:t>
            </a:r>
          </a:p>
          <a:p>
            <a:pPr eaLnBrk="1" hangingPunct="1">
              <a:lnSpc>
                <a:spcPct val="90000"/>
              </a:lnSpc>
              <a:spcBef>
                <a:spcPct val="0"/>
              </a:spcBef>
              <a:buClr>
                <a:schemeClr val="accent2"/>
              </a:buClr>
            </a:pPr>
            <a:r>
              <a:rPr kumimoji="0" lang="zh-CN" altLang="en-US" sz="2800" b="1" dirty="0">
                <a:solidFill>
                  <a:srgbClr val="FF0000"/>
                </a:solidFill>
                <a:latin typeface="华文中宋" panose="02010600040101010101" pitchFamily="2" charset="-122"/>
              </a:rPr>
              <a:t>限界函数</a:t>
            </a:r>
            <a:r>
              <a:rPr kumimoji="0" lang="zh-CN" altLang="en-US" sz="2800" b="1" dirty="0">
                <a:latin typeface="华文中宋" panose="02010600040101010101" pitchFamily="2" charset="-122"/>
              </a:rPr>
              <a:t>：取</a:t>
            </a:r>
            <a:r>
              <a:rPr kumimoji="0" lang="en-US" altLang="zh-CN" sz="2400" b="1" dirty="0" err="1">
                <a:solidFill>
                  <a:srgbClr val="FF0000"/>
                </a:solidFill>
              </a:rPr>
              <a:t>cn</a:t>
            </a:r>
            <a:r>
              <a:rPr kumimoji="0" lang="en-US" altLang="zh-CN" sz="2400" b="1" dirty="0">
                <a:solidFill>
                  <a:srgbClr val="FF0000"/>
                </a:solidFill>
              </a:rPr>
              <a:t> + n – </a:t>
            </a:r>
            <a:r>
              <a:rPr kumimoji="0" lang="en-US" altLang="zh-CN" sz="2400" b="1" dirty="0" err="1">
                <a:solidFill>
                  <a:srgbClr val="FF0000"/>
                </a:solidFill>
              </a:rPr>
              <a:t>i</a:t>
            </a:r>
            <a:r>
              <a:rPr kumimoji="0" lang="zh-CN" altLang="en-US" sz="2400" b="1" dirty="0"/>
              <a:t>，即</a:t>
            </a:r>
            <a:r>
              <a:rPr kumimoji="0" lang="zh-CN" altLang="en-US" sz="2800" b="1" dirty="0">
                <a:latin typeface="华文中宋" panose="02010600040101010101" pitchFamily="2" charset="-122"/>
              </a:rPr>
              <a:t>有足够多的可选择顶点使得算法有可能在右子树中找到更大的团。</a:t>
            </a:r>
          </a:p>
        </p:txBody>
      </p:sp>
      <p:sp>
        <p:nvSpPr>
          <p:cNvPr id="58372" name="Text Box 4">
            <a:extLst>
              <a:ext uri="{FF2B5EF4-FFF2-40B4-BE49-F238E27FC236}">
                <a16:creationId xmlns:a16="http://schemas.microsoft.com/office/drawing/2014/main" id="{774909F3-D5BB-4432-B90A-54027C50866C}"/>
              </a:ext>
            </a:extLst>
          </p:cNvPr>
          <p:cNvSpPr txBox="1">
            <a:spLocks noChangeArrowheads="1"/>
          </p:cNvSpPr>
          <p:nvPr/>
        </p:nvSpPr>
        <p:spPr bwMode="auto">
          <a:xfrm>
            <a:off x="781050" y="2957513"/>
            <a:ext cx="7905750"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kumimoji="0" lang="zh-CN" altLang="en-US" sz="2800" dirty="0">
                <a:ea typeface="华文中宋" panose="02010600040101010101" pitchFamily="2" charset="-122"/>
              </a:rPr>
              <a:t>记</a:t>
            </a:r>
          </a:p>
          <a:p>
            <a:pPr eaLnBrk="1" hangingPunct="1">
              <a:lnSpc>
                <a:spcPct val="110000"/>
              </a:lnSpc>
            </a:pPr>
            <a:r>
              <a:rPr kumimoji="0" lang="en-US" altLang="zh-CN" sz="2800" dirty="0">
                <a:ea typeface="华文中宋" panose="02010600040101010101" pitchFamily="2" charset="-122"/>
              </a:rPr>
              <a:t>n</a:t>
            </a:r>
            <a:r>
              <a:rPr kumimoji="0" lang="zh-CN" altLang="en-US" sz="2800" dirty="0">
                <a:ea typeface="华文中宋" panose="02010600040101010101" pitchFamily="2" charset="-122"/>
              </a:rPr>
              <a:t>：图的顶点数</a:t>
            </a:r>
          </a:p>
          <a:p>
            <a:pPr eaLnBrk="1" hangingPunct="1">
              <a:lnSpc>
                <a:spcPct val="110000"/>
              </a:lnSpc>
            </a:pPr>
            <a:r>
              <a:rPr kumimoji="0" lang="en-US" altLang="zh-CN" sz="2800" dirty="0">
                <a:ea typeface="华文中宋" panose="02010600040101010101" pitchFamily="2" charset="-122"/>
              </a:rPr>
              <a:t>x</a:t>
            </a:r>
            <a:r>
              <a:rPr kumimoji="0" lang="zh-CN" altLang="en-US" sz="2800" dirty="0">
                <a:ea typeface="华文中宋" panose="02010600040101010101" pitchFamily="2" charset="-122"/>
              </a:rPr>
              <a:t>：当前解</a:t>
            </a:r>
          </a:p>
          <a:p>
            <a:pPr eaLnBrk="1" hangingPunct="1">
              <a:lnSpc>
                <a:spcPct val="110000"/>
              </a:lnSpc>
            </a:pPr>
            <a:r>
              <a:rPr kumimoji="0" lang="en-US" altLang="zh-CN" sz="2800" dirty="0" err="1">
                <a:ea typeface="华文中宋" panose="02010600040101010101" pitchFamily="2" charset="-122"/>
              </a:rPr>
              <a:t>bestx</a:t>
            </a:r>
            <a:r>
              <a:rPr kumimoji="0" lang="zh-CN" altLang="en-US" sz="2800" dirty="0">
                <a:ea typeface="华文中宋" panose="02010600040101010101" pitchFamily="2" charset="-122"/>
              </a:rPr>
              <a:t>：当前最优解</a:t>
            </a:r>
          </a:p>
          <a:p>
            <a:pPr eaLnBrk="1" hangingPunct="1">
              <a:lnSpc>
                <a:spcPct val="110000"/>
              </a:lnSpc>
            </a:pPr>
            <a:r>
              <a:rPr kumimoji="0" lang="en-US" altLang="zh-CN" sz="2800" dirty="0" err="1">
                <a:ea typeface="华文中宋" panose="02010600040101010101" pitchFamily="2" charset="-122"/>
              </a:rPr>
              <a:t>cn</a:t>
            </a:r>
            <a:r>
              <a:rPr kumimoji="0" lang="zh-CN" altLang="en-US" sz="2800" dirty="0">
                <a:ea typeface="华文中宋" panose="02010600040101010101" pitchFamily="2" charset="-122"/>
              </a:rPr>
              <a:t>：当前顶点数</a:t>
            </a:r>
          </a:p>
          <a:p>
            <a:pPr eaLnBrk="1" hangingPunct="1">
              <a:lnSpc>
                <a:spcPct val="110000"/>
              </a:lnSpc>
            </a:pPr>
            <a:r>
              <a:rPr kumimoji="0" lang="en-US" altLang="zh-CN" sz="2800" dirty="0" err="1">
                <a:ea typeface="华文中宋" panose="02010600040101010101" pitchFamily="2" charset="-122"/>
              </a:rPr>
              <a:t>bestn</a:t>
            </a:r>
            <a:r>
              <a:rPr kumimoji="0" lang="zh-CN" altLang="en-US" sz="2800" dirty="0">
                <a:ea typeface="华文中宋" panose="02010600040101010101" pitchFamily="2" charset="-122"/>
              </a:rPr>
              <a:t>：当前最大顶点数</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63">
            <a:extLst>
              <a:ext uri="{FF2B5EF4-FFF2-40B4-BE49-F238E27FC236}">
                <a16:creationId xmlns:a16="http://schemas.microsoft.com/office/drawing/2014/main" id="{7BF30FFA-C231-4276-877D-39DCFBC6D77A}"/>
              </a:ext>
            </a:extLst>
          </p:cNvPr>
          <p:cNvGrpSpPr>
            <a:grpSpLocks/>
          </p:cNvGrpSpPr>
          <p:nvPr/>
        </p:nvGrpSpPr>
        <p:grpSpPr bwMode="auto">
          <a:xfrm>
            <a:off x="730251" y="949325"/>
            <a:ext cx="2730501" cy="1425575"/>
            <a:chOff x="849" y="3098"/>
            <a:chExt cx="1720" cy="898"/>
          </a:xfrm>
        </p:grpSpPr>
        <p:sp>
          <p:nvSpPr>
            <p:cNvPr id="59400" name="Oval 64">
              <a:extLst>
                <a:ext uri="{FF2B5EF4-FFF2-40B4-BE49-F238E27FC236}">
                  <a16:creationId xmlns:a16="http://schemas.microsoft.com/office/drawing/2014/main" id="{6F51C5F9-1EB9-4978-B427-ED3087D30D95}"/>
                </a:ext>
              </a:extLst>
            </p:cNvPr>
            <p:cNvSpPr>
              <a:spLocks noChangeArrowheads="1"/>
            </p:cNvSpPr>
            <p:nvPr/>
          </p:nvSpPr>
          <p:spPr bwMode="auto">
            <a:xfrm>
              <a:off x="866" y="3098"/>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1</a:t>
              </a:r>
            </a:p>
          </p:txBody>
        </p:sp>
        <p:sp>
          <p:nvSpPr>
            <p:cNvPr id="59401" name="Oval 65">
              <a:extLst>
                <a:ext uri="{FF2B5EF4-FFF2-40B4-BE49-F238E27FC236}">
                  <a16:creationId xmlns:a16="http://schemas.microsoft.com/office/drawing/2014/main" id="{A606D94B-E62A-4013-9716-E892F6C98B44}"/>
                </a:ext>
              </a:extLst>
            </p:cNvPr>
            <p:cNvSpPr>
              <a:spLocks noChangeArrowheads="1"/>
            </p:cNvSpPr>
            <p:nvPr/>
          </p:nvSpPr>
          <p:spPr bwMode="auto">
            <a:xfrm>
              <a:off x="1679" y="3099"/>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2</a:t>
              </a:r>
            </a:p>
          </p:txBody>
        </p:sp>
        <p:sp>
          <p:nvSpPr>
            <p:cNvPr id="59402" name="Oval 66">
              <a:extLst>
                <a:ext uri="{FF2B5EF4-FFF2-40B4-BE49-F238E27FC236}">
                  <a16:creationId xmlns:a16="http://schemas.microsoft.com/office/drawing/2014/main" id="{9E45FDB2-A90F-4517-99A9-09CFA39B5079}"/>
                </a:ext>
              </a:extLst>
            </p:cNvPr>
            <p:cNvSpPr>
              <a:spLocks noChangeArrowheads="1"/>
            </p:cNvSpPr>
            <p:nvPr/>
          </p:nvSpPr>
          <p:spPr bwMode="auto">
            <a:xfrm>
              <a:off x="849" y="3751"/>
              <a:ext cx="239" cy="245"/>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4</a:t>
              </a:r>
            </a:p>
          </p:txBody>
        </p:sp>
        <p:sp>
          <p:nvSpPr>
            <p:cNvPr id="59403" name="Oval 67">
              <a:extLst>
                <a:ext uri="{FF2B5EF4-FFF2-40B4-BE49-F238E27FC236}">
                  <a16:creationId xmlns:a16="http://schemas.microsoft.com/office/drawing/2014/main" id="{8A0A0231-B5E7-46E4-B188-E629753AF507}"/>
                </a:ext>
              </a:extLst>
            </p:cNvPr>
            <p:cNvSpPr>
              <a:spLocks noChangeArrowheads="1"/>
            </p:cNvSpPr>
            <p:nvPr/>
          </p:nvSpPr>
          <p:spPr bwMode="auto">
            <a:xfrm>
              <a:off x="1679" y="3751"/>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5</a:t>
              </a:r>
            </a:p>
          </p:txBody>
        </p:sp>
        <p:sp>
          <p:nvSpPr>
            <p:cNvPr id="59404" name="Oval 68">
              <a:extLst>
                <a:ext uri="{FF2B5EF4-FFF2-40B4-BE49-F238E27FC236}">
                  <a16:creationId xmlns:a16="http://schemas.microsoft.com/office/drawing/2014/main" id="{EEC32FCD-0983-4C24-B56F-5CC0B7A164BF}"/>
                </a:ext>
              </a:extLst>
            </p:cNvPr>
            <p:cNvSpPr>
              <a:spLocks noChangeArrowheads="1"/>
            </p:cNvSpPr>
            <p:nvPr/>
          </p:nvSpPr>
          <p:spPr bwMode="auto">
            <a:xfrm>
              <a:off x="2330" y="3396"/>
              <a:ext cx="239" cy="245"/>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3</a:t>
              </a:r>
            </a:p>
          </p:txBody>
        </p:sp>
        <p:cxnSp>
          <p:nvCxnSpPr>
            <p:cNvPr id="59405" name="AutoShape 69">
              <a:extLst>
                <a:ext uri="{FF2B5EF4-FFF2-40B4-BE49-F238E27FC236}">
                  <a16:creationId xmlns:a16="http://schemas.microsoft.com/office/drawing/2014/main" id="{F137A26F-B20C-49F6-AFF8-3B8C0575B82C}"/>
                </a:ext>
              </a:extLst>
            </p:cNvPr>
            <p:cNvCxnSpPr>
              <a:cxnSpLocks noChangeShapeType="1"/>
              <a:stCxn id="59400" idx="6"/>
              <a:endCxn id="59401" idx="2"/>
            </p:cNvCxnSpPr>
            <p:nvPr/>
          </p:nvCxnSpPr>
          <p:spPr bwMode="auto">
            <a:xfrm>
              <a:off x="1105" y="3221"/>
              <a:ext cx="574" cy="1"/>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9406" name="AutoShape 70">
              <a:extLst>
                <a:ext uri="{FF2B5EF4-FFF2-40B4-BE49-F238E27FC236}">
                  <a16:creationId xmlns:a16="http://schemas.microsoft.com/office/drawing/2014/main" id="{C956DBAC-67DC-4A90-A3AE-20BBB2BCE2BB}"/>
                </a:ext>
              </a:extLst>
            </p:cNvPr>
            <p:cNvCxnSpPr>
              <a:cxnSpLocks noChangeShapeType="1"/>
              <a:stCxn id="59400" idx="4"/>
              <a:endCxn id="59402" idx="0"/>
            </p:cNvCxnSpPr>
            <p:nvPr/>
          </p:nvCxnSpPr>
          <p:spPr bwMode="auto">
            <a:xfrm flipH="1">
              <a:off x="969" y="3343"/>
              <a:ext cx="17" cy="40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9407" name="AutoShape 71">
              <a:extLst>
                <a:ext uri="{FF2B5EF4-FFF2-40B4-BE49-F238E27FC236}">
                  <a16:creationId xmlns:a16="http://schemas.microsoft.com/office/drawing/2014/main" id="{A34B8A07-A1E0-4A1B-BB3F-C8873EC8D25F}"/>
                </a:ext>
              </a:extLst>
            </p:cNvPr>
            <p:cNvCxnSpPr>
              <a:cxnSpLocks noChangeShapeType="1"/>
              <a:stCxn id="59402" idx="6"/>
              <a:endCxn id="59403" idx="2"/>
            </p:cNvCxnSpPr>
            <p:nvPr/>
          </p:nvCxnSpPr>
          <p:spPr bwMode="auto">
            <a:xfrm>
              <a:off x="1088" y="3874"/>
              <a:ext cx="591"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9408" name="AutoShape 72">
              <a:extLst>
                <a:ext uri="{FF2B5EF4-FFF2-40B4-BE49-F238E27FC236}">
                  <a16:creationId xmlns:a16="http://schemas.microsoft.com/office/drawing/2014/main" id="{151A52FE-3A20-47E2-9292-F4E202C2C42D}"/>
                </a:ext>
              </a:extLst>
            </p:cNvPr>
            <p:cNvCxnSpPr>
              <a:cxnSpLocks noChangeShapeType="1"/>
              <a:stCxn id="59403" idx="0"/>
              <a:endCxn id="59401" idx="4"/>
            </p:cNvCxnSpPr>
            <p:nvPr/>
          </p:nvCxnSpPr>
          <p:spPr bwMode="auto">
            <a:xfrm flipV="1">
              <a:off x="1799" y="3344"/>
              <a:ext cx="0" cy="407"/>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9409" name="AutoShape 73">
              <a:extLst>
                <a:ext uri="{FF2B5EF4-FFF2-40B4-BE49-F238E27FC236}">
                  <a16:creationId xmlns:a16="http://schemas.microsoft.com/office/drawing/2014/main" id="{8ACB2985-847C-4561-9A93-39AF05C4CE21}"/>
                </a:ext>
              </a:extLst>
            </p:cNvPr>
            <p:cNvCxnSpPr>
              <a:cxnSpLocks noChangeShapeType="1"/>
              <a:stCxn id="59400" idx="5"/>
              <a:endCxn id="59403" idx="1"/>
            </p:cNvCxnSpPr>
            <p:nvPr/>
          </p:nvCxnSpPr>
          <p:spPr bwMode="auto">
            <a:xfrm>
              <a:off x="1070" y="3307"/>
              <a:ext cx="644" cy="480"/>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59410" name="AutoShape 74">
              <a:extLst>
                <a:ext uri="{FF2B5EF4-FFF2-40B4-BE49-F238E27FC236}">
                  <a16:creationId xmlns:a16="http://schemas.microsoft.com/office/drawing/2014/main" id="{0DF2B1CF-EA35-4CDE-9D0F-74BC5FC5308B}"/>
                </a:ext>
              </a:extLst>
            </p:cNvPr>
            <p:cNvCxnSpPr>
              <a:cxnSpLocks noChangeShapeType="1"/>
              <a:stCxn id="59404" idx="1"/>
              <a:endCxn id="59401" idx="6"/>
            </p:cNvCxnSpPr>
            <p:nvPr/>
          </p:nvCxnSpPr>
          <p:spPr bwMode="auto">
            <a:xfrm flipH="1" flipV="1">
              <a:off x="1918" y="3222"/>
              <a:ext cx="447" cy="21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9411" name="AutoShape 75">
              <a:extLst>
                <a:ext uri="{FF2B5EF4-FFF2-40B4-BE49-F238E27FC236}">
                  <a16:creationId xmlns:a16="http://schemas.microsoft.com/office/drawing/2014/main" id="{19BBE8C0-5462-430D-A453-FC8F60A10223}"/>
                </a:ext>
              </a:extLst>
            </p:cNvPr>
            <p:cNvCxnSpPr>
              <a:cxnSpLocks noChangeShapeType="1"/>
              <a:stCxn id="59403" idx="6"/>
              <a:endCxn id="59404" idx="3"/>
            </p:cNvCxnSpPr>
            <p:nvPr/>
          </p:nvCxnSpPr>
          <p:spPr bwMode="auto">
            <a:xfrm flipV="1">
              <a:off x="1918" y="3605"/>
              <a:ext cx="447" cy="26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pic>
        <p:nvPicPr>
          <p:cNvPr id="101452" name="Picture 76" descr="t51">
            <a:extLst>
              <a:ext uri="{FF2B5EF4-FFF2-40B4-BE49-F238E27FC236}">
                <a16:creationId xmlns:a16="http://schemas.microsoft.com/office/drawing/2014/main" id="{7873E869-3F28-49D6-9787-1CBDBC25B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688" y="2268538"/>
            <a:ext cx="4710112"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 Box 77">
            <a:extLst>
              <a:ext uri="{FF2B5EF4-FFF2-40B4-BE49-F238E27FC236}">
                <a16:creationId xmlns:a16="http://schemas.microsoft.com/office/drawing/2014/main" id="{FC65C155-730E-4BFC-A48A-78C61B358312}"/>
              </a:ext>
            </a:extLst>
          </p:cNvPr>
          <p:cNvSpPr txBox="1">
            <a:spLocks noChangeArrowheads="1"/>
          </p:cNvSpPr>
          <p:nvPr/>
        </p:nvSpPr>
        <p:spPr bwMode="auto">
          <a:xfrm>
            <a:off x="3810000" y="2818884"/>
            <a:ext cx="838200" cy="369332"/>
          </a:xfrm>
          <a:prstGeom prst="rect">
            <a:avLst/>
          </a:prstGeom>
          <a:noFill/>
          <a:ln w="28575">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lIns="18000" tIns="0" rIns="18000" bIns="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0000"/>
                </a:solidFill>
                <a:ea typeface="华文中宋" panose="02010600040101010101" pitchFamily="2" charset="-122"/>
              </a:rPr>
              <a:t>节点</a:t>
            </a:r>
            <a:r>
              <a:rPr lang="en-US" altLang="zh-CN" dirty="0">
                <a:solidFill>
                  <a:srgbClr val="FF0000"/>
                </a:solidFill>
                <a:ea typeface="华文中宋" panose="02010600040101010101" pitchFamily="2" charset="-122"/>
              </a:rPr>
              <a:t>1</a:t>
            </a:r>
          </a:p>
        </p:txBody>
      </p:sp>
      <p:sp>
        <p:nvSpPr>
          <p:cNvPr id="59398" name="Text Box 78">
            <a:extLst>
              <a:ext uri="{FF2B5EF4-FFF2-40B4-BE49-F238E27FC236}">
                <a16:creationId xmlns:a16="http://schemas.microsoft.com/office/drawing/2014/main" id="{B0F69330-D61C-4843-98B5-01DB70D51615}"/>
              </a:ext>
            </a:extLst>
          </p:cNvPr>
          <p:cNvSpPr txBox="1">
            <a:spLocks noChangeArrowheads="1"/>
          </p:cNvSpPr>
          <p:nvPr/>
        </p:nvSpPr>
        <p:spPr bwMode="auto">
          <a:xfrm>
            <a:off x="3124200" y="3733284"/>
            <a:ext cx="838200" cy="369332"/>
          </a:xfrm>
          <a:prstGeom prst="rect">
            <a:avLst/>
          </a:prstGeom>
          <a:noFill/>
          <a:ln w="28575">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lIns="18000" tIns="0" rIns="18000" bIns="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0000"/>
                </a:solidFill>
                <a:ea typeface="华文中宋" panose="02010600040101010101" pitchFamily="2" charset="-122"/>
              </a:rPr>
              <a:t>节点</a:t>
            </a:r>
            <a:r>
              <a:rPr lang="en-US" altLang="zh-CN" dirty="0">
                <a:solidFill>
                  <a:srgbClr val="FF0000"/>
                </a:solidFill>
                <a:ea typeface="华文中宋" panose="02010600040101010101" pitchFamily="2" charset="-122"/>
              </a:rPr>
              <a:t>2</a:t>
            </a:r>
          </a:p>
        </p:txBody>
      </p:sp>
      <p:sp>
        <p:nvSpPr>
          <p:cNvPr id="59399" name="Text Box 79">
            <a:extLst>
              <a:ext uri="{FF2B5EF4-FFF2-40B4-BE49-F238E27FC236}">
                <a16:creationId xmlns:a16="http://schemas.microsoft.com/office/drawing/2014/main" id="{A8B2B692-5BF8-4384-9F58-230958810098}"/>
              </a:ext>
            </a:extLst>
          </p:cNvPr>
          <p:cNvSpPr txBox="1">
            <a:spLocks noChangeArrowheads="1"/>
          </p:cNvSpPr>
          <p:nvPr/>
        </p:nvSpPr>
        <p:spPr bwMode="auto">
          <a:xfrm>
            <a:off x="2590800" y="4495284"/>
            <a:ext cx="838200" cy="369332"/>
          </a:xfrm>
          <a:prstGeom prst="rect">
            <a:avLst/>
          </a:prstGeom>
          <a:noFill/>
          <a:ln w="28575">
            <a:solidFill>
              <a:srgbClr val="FFCC00"/>
            </a:solidFill>
            <a:miter lim="800000"/>
            <a:headEnd/>
            <a:tailEnd/>
          </a:ln>
          <a:extLst>
            <a:ext uri="{909E8E84-426E-40DD-AFC4-6F175D3DCCD1}">
              <a14:hiddenFill xmlns:a14="http://schemas.microsoft.com/office/drawing/2010/main">
                <a:solidFill>
                  <a:srgbClr val="FFFFFF"/>
                </a:solidFill>
              </a14:hiddenFill>
            </a:ext>
          </a:extLst>
        </p:spPr>
        <p:txBody>
          <a:bodyPr lIns="18000" tIns="0" rIns="18000" bIns="0" anchor="ctr" anchorCtr="1">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0000"/>
                </a:solidFill>
                <a:ea typeface="华文中宋" panose="02010600040101010101" pitchFamily="2" charset="-122"/>
              </a:rPr>
              <a:t>节点</a:t>
            </a:r>
            <a:r>
              <a:rPr lang="en-US" altLang="zh-CN" dirty="0">
                <a:solidFill>
                  <a:srgbClr val="FF0000"/>
                </a:solidFill>
                <a:ea typeface="华文中宋" panose="02010600040101010101" pitchFamily="2" charset="-122"/>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01452"/>
                                        </p:tgtEl>
                                        <p:attrNameLst>
                                          <p:attrName>style.visibility</p:attrName>
                                        </p:attrNameLst>
                                      </p:cBhvr>
                                      <p:to>
                                        <p:strVal val="visible"/>
                                      </p:to>
                                    </p:set>
                                    <p:anim calcmode="lin" valueType="num">
                                      <p:cBhvr additive="base">
                                        <p:cTn id="13" dur="500" fill="hold"/>
                                        <p:tgtEl>
                                          <p:spTgt spid="101452"/>
                                        </p:tgtEl>
                                        <p:attrNameLst>
                                          <p:attrName>ppt_x</p:attrName>
                                        </p:attrNameLst>
                                      </p:cBhvr>
                                      <p:tavLst>
                                        <p:tav tm="0">
                                          <p:val>
                                            <p:strVal val="0-#ppt_w/2"/>
                                          </p:val>
                                        </p:tav>
                                        <p:tav tm="100000">
                                          <p:val>
                                            <p:strVal val="#ppt_x"/>
                                          </p:val>
                                        </p:tav>
                                      </p:tavLst>
                                    </p:anim>
                                    <p:anim calcmode="lin" valueType="num">
                                      <p:cBhvr additive="base">
                                        <p:cTn id="14" dur="500" fill="hold"/>
                                        <p:tgtEl>
                                          <p:spTgt spid="1014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0245BE5-2943-465B-BB24-74CC5D116EB9}"/>
              </a:ext>
            </a:extLst>
          </p:cNvPr>
          <p:cNvSpPr>
            <a:spLocks noGrp="1" noChangeArrowheads="1"/>
          </p:cNvSpPr>
          <p:nvPr>
            <p:ph type="title"/>
          </p:nvPr>
        </p:nvSpPr>
        <p:spPr bwMode="auto">
          <a:xfrm>
            <a:off x="685800" y="1524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kumimoji="0" lang="zh-CN" altLang="en-US" sz="3600" b="1" dirty="0">
                <a:latin typeface="Arial" panose="020B0604020202020204" pitchFamily="34" charset="0"/>
              </a:rPr>
              <a:t>程序</a:t>
            </a:r>
          </a:p>
        </p:txBody>
      </p:sp>
      <p:sp>
        <p:nvSpPr>
          <p:cNvPr id="60419" name="Rectangle 3">
            <a:extLst>
              <a:ext uri="{FF2B5EF4-FFF2-40B4-BE49-F238E27FC236}">
                <a16:creationId xmlns:a16="http://schemas.microsoft.com/office/drawing/2014/main" id="{9FAA0F61-A301-4227-8159-C156DE9DDCEE}"/>
              </a:ext>
            </a:extLst>
          </p:cNvPr>
          <p:cNvSpPr>
            <a:spLocks noGrp="1" noChangeArrowheads="1"/>
          </p:cNvSpPr>
          <p:nvPr>
            <p:ph type="body" idx="1"/>
          </p:nvPr>
        </p:nvSpPr>
        <p:spPr bwMode="auto">
          <a:xfrm>
            <a:off x="381000" y="838200"/>
            <a:ext cx="84582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0"/>
              </a:spcBef>
              <a:buFontTx/>
              <a:buNone/>
            </a:pPr>
            <a:r>
              <a:rPr kumimoji="0" lang="en-US" altLang="zh-CN" sz="2400" b="1" dirty="0"/>
              <a:t>void backtrack(int </a:t>
            </a:r>
            <a:r>
              <a:rPr kumimoji="0" lang="en-US" altLang="zh-CN" sz="2400" b="1" dirty="0" err="1"/>
              <a:t>i</a:t>
            </a:r>
            <a:r>
              <a:rPr kumimoji="0" lang="en-US" altLang="zh-CN" sz="2400" b="1" dirty="0"/>
              <a:t>){</a:t>
            </a:r>
          </a:p>
          <a:p>
            <a:pPr eaLnBrk="1" hangingPunct="1">
              <a:lnSpc>
                <a:spcPct val="110000"/>
              </a:lnSpc>
              <a:spcBef>
                <a:spcPct val="0"/>
              </a:spcBef>
              <a:buFontTx/>
              <a:buNone/>
            </a:pPr>
            <a:r>
              <a:rPr kumimoji="0" lang="en-US" altLang="zh-CN" sz="2400" b="1" dirty="0"/>
              <a:t>        if (</a:t>
            </a:r>
            <a:r>
              <a:rPr kumimoji="0" lang="en-US" altLang="zh-CN" sz="2400" b="1" dirty="0" err="1"/>
              <a:t>i</a:t>
            </a:r>
            <a:r>
              <a:rPr kumimoji="0" lang="en-US" altLang="zh-CN" sz="2400" b="1" dirty="0"/>
              <a:t> &gt; n)   {// </a:t>
            </a:r>
            <a:r>
              <a:rPr kumimoji="0" lang="zh-CN" altLang="en-US" sz="2400" b="1" dirty="0"/>
              <a:t>到达叶结点</a:t>
            </a:r>
          </a:p>
          <a:p>
            <a:pPr eaLnBrk="1" hangingPunct="1">
              <a:lnSpc>
                <a:spcPct val="110000"/>
              </a:lnSpc>
              <a:spcBef>
                <a:spcPct val="0"/>
              </a:spcBef>
              <a:buFontTx/>
              <a:buNone/>
            </a:pPr>
            <a:r>
              <a:rPr kumimoji="0" lang="zh-CN" altLang="en-US" sz="2400" b="1" dirty="0"/>
              <a:t>         </a:t>
            </a:r>
            <a:r>
              <a:rPr kumimoji="0" lang="en-US" altLang="zh-CN" sz="2400" b="1" dirty="0"/>
              <a:t>for (int j = 1; j &lt;= n; </a:t>
            </a:r>
            <a:r>
              <a:rPr kumimoji="0" lang="en-US" altLang="zh-CN" sz="2400" b="1" dirty="0" err="1"/>
              <a:t>j++</a:t>
            </a:r>
            <a:r>
              <a:rPr kumimoji="0" lang="en-US" altLang="zh-CN" sz="2400" b="1" dirty="0"/>
              <a:t>)   </a:t>
            </a:r>
            <a:r>
              <a:rPr kumimoji="0" lang="en-US" altLang="zh-CN" sz="2400" b="1" dirty="0" err="1"/>
              <a:t>bestx</a:t>
            </a:r>
            <a:r>
              <a:rPr kumimoji="0" lang="en-US" altLang="zh-CN" sz="2400" b="1" dirty="0"/>
              <a:t>[j] = x[j];</a:t>
            </a:r>
          </a:p>
          <a:p>
            <a:pPr eaLnBrk="1" hangingPunct="1">
              <a:lnSpc>
                <a:spcPct val="110000"/>
              </a:lnSpc>
              <a:spcBef>
                <a:spcPct val="0"/>
              </a:spcBef>
              <a:buFontTx/>
              <a:buNone/>
            </a:pPr>
            <a:r>
              <a:rPr kumimoji="0" lang="en-US" altLang="zh-CN" sz="2400" b="1" dirty="0"/>
              <a:t>         </a:t>
            </a:r>
            <a:r>
              <a:rPr kumimoji="0" lang="en-US" altLang="zh-CN" sz="2400" b="1" dirty="0" err="1"/>
              <a:t>bestn</a:t>
            </a:r>
            <a:r>
              <a:rPr kumimoji="0" lang="en-US" altLang="zh-CN" sz="2400" b="1" dirty="0"/>
              <a:t> = </a:t>
            </a:r>
            <a:r>
              <a:rPr kumimoji="0" lang="en-US" altLang="zh-CN" sz="2400" b="1" dirty="0" err="1"/>
              <a:t>cn</a:t>
            </a:r>
            <a:r>
              <a:rPr kumimoji="0" lang="en-US" altLang="zh-CN" sz="2400" b="1" dirty="0"/>
              <a:t>;   return;      }</a:t>
            </a:r>
          </a:p>
          <a:p>
            <a:pPr eaLnBrk="1" hangingPunct="1">
              <a:lnSpc>
                <a:spcPct val="110000"/>
              </a:lnSpc>
              <a:spcBef>
                <a:spcPct val="0"/>
              </a:spcBef>
              <a:buFontTx/>
              <a:buNone/>
            </a:pPr>
            <a:r>
              <a:rPr kumimoji="0" lang="en-US" altLang="zh-CN" sz="2400" b="1" dirty="0"/>
              <a:t>      // </a:t>
            </a:r>
            <a:r>
              <a:rPr kumimoji="0" lang="zh-CN" altLang="en-US" sz="2400" b="1" dirty="0"/>
              <a:t>检查顶点 </a:t>
            </a:r>
            <a:r>
              <a:rPr kumimoji="0" lang="en-US" altLang="zh-CN" sz="2400" b="1" dirty="0" err="1"/>
              <a:t>i</a:t>
            </a:r>
            <a:r>
              <a:rPr kumimoji="0" lang="en-US" altLang="zh-CN" sz="2400" b="1" dirty="0"/>
              <a:t> </a:t>
            </a:r>
            <a:r>
              <a:rPr kumimoji="0" lang="zh-CN" altLang="en-US" sz="2400" b="1" dirty="0"/>
              <a:t>与当前团的连接</a:t>
            </a:r>
          </a:p>
          <a:p>
            <a:pPr eaLnBrk="1" hangingPunct="1">
              <a:lnSpc>
                <a:spcPct val="110000"/>
              </a:lnSpc>
              <a:spcBef>
                <a:spcPct val="0"/>
              </a:spcBef>
              <a:buFontTx/>
              <a:buNone/>
            </a:pPr>
            <a:r>
              <a:rPr kumimoji="0" lang="zh-CN" altLang="en-US" sz="2400" b="1" dirty="0"/>
              <a:t>      </a:t>
            </a:r>
            <a:r>
              <a:rPr kumimoji="0" lang="en-US" altLang="zh-CN" sz="2400" b="1" dirty="0"/>
              <a:t>int ok = 1;</a:t>
            </a:r>
          </a:p>
          <a:p>
            <a:pPr eaLnBrk="1" hangingPunct="1">
              <a:lnSpc>
                <a:spcPct val="110000"/>
              </a:lnSpc>
              <a:spcBef>
                <a:spcPct val="0"/>
              </a:spcBef>
              <a:buFontTx/>
              <a:buNone/>
            </a:pPr>
            <a:r>
              <a:rPr kumimoji="0" lang="en-US" altLang="zh-CN" sz="2400" b="1" dirty="0"/>
              <a:t>      for (int j = 1; j &lt; </a:t>
            </a:r>
            <a:r>
              <a:rPr kumimoji="0" lang="en-US" altLang="zh-CN" sz="2400" b="1" dirty="0" err="1"/>
              <a:t>i</a:t>
            </a:r>
            <a:r>
              <a:rPr kumimoji="0" lang="en-US" altLang="zh-CN" sz="2400" b="1" dirty="0"/>
              <a:t>; </a:t>
            </a:r>
            <a:r>
              <a:rPr kumimoji="0" lang="en-US" altLang="zh-CN" sz="2400" b="1" dirty="0" err="1"/>
              <a:t>j++</a:t>
            </a:r>
            <a:r>
              <a:rPr kumimoji="0" lang="en-US" altLang="zh-CN" sz="2400" b="1" dirty="0"/>
              <a:t>)          //</a:t>
            </a:r>
            <a:r>
              <a:rPr kumimoji="0" lang="zh-CN" altLang="en-US" sz="2400" b="1" dirty="0"/>
              <a:t>欲扩展节点</a:t>
            </a:r>
            <a:r>
              <a:rPr kumimoji="0" lang="en-US" altLang="zh-CN" sz="2400" b="1" dirty="0" err="1"/>
              <a:t>i</a:t>
            </a:r>
            <a:endParaRPr kumimoji="0" lang="en-US" altLang="zh-CN" sz="2400" b="1" dirty="0"/>
          </a:p>
          <a:p>
            <a:pPr eaLnBrk="1" hangingPunct="1">
              <a:lnSpc>
                <a:spcPct val="110000"/>
              </a:lnSpc>
              <a:spcBef>
                <a:spcPct val="0"/>
              </a:spcBef>
              <a:buFontTx/>
              <a:buNone/>
            </a:pPr>
            <a:r>
              <a:rPr kumimoji="0" lang="en-US" altLang="zh-CN" sz="2400" b="1" dirty="0"/>
              <a:t>         if (x[j] == 1 &amp;&amp; !a[</a:t>
            </a:r>
            <a:r>
              <a:rPr kumimoji="0" lang="en-US" altLang="zh-CN" sz="2400" b="1" dirty="0" err="1"/>
              <a:t>i</a:t>
            </a:r>
            <a:r>
              <a:rPr kumimoji="0" lang="en-US" altLang="zh-CN" sz="2400" b="1" dirty="0"/>
              <a:t>][j])    {//</a:t>
            </a:r>
            <a:r>
              <a:rPr kumimoji="0" lang="zh-CN" altLang="en-US" sz="2400" b="1" dirty="0"/>
              <a:t>考察： </a:t>
            </a:r>
            <a:r>
              <a:rPr kumimoji="0" lang="en-US" altLang="zh-CN" sz="2400" b="1" dirty="0" err="1"/>
              <a:t>i</a:t>
            </a:r>
            <a:r>
              <a:rPr kumimoji="0" lang="zh-CN" altLang="en-US" sz="2400" b="1" dirty="0"/>
              <a:t>与前面的</a:t>
            </a:r>
            <a:r>
              <a:rPr kumimoji="0" lang="en-US" altLang="zh-CN" sz="2400" b="1" dirty="0"/>
              <a:t>j</a:t>
            </a:r>
            <a:r>
              <a:rPr kumimoji="0" lang="zh-CN" altLang="en-US" sz="2400" b="1" dirty="0"/>
              <a:t>是否相连</a:t>
            </a:r>
          </a:p>
          <a:p>
            <a:pPr eaLnBrk="1" hangingPunct="1">
              <a:lnSpc>
                <a:spcPct val="110000"/>
              </a:lnSpc>
              <a:spcBef>
                <a:spcPct val="0"/>
              </a:spcBef>
              <a:buFontTx/>
              <a:buNone/>
            </a:pPr>
            <a:r>
              <a:rPr kumimoji="0" lang="zh-CN" altLang="en-US" sz="2400" b="1" dirty="0"/>
              <a:t>            </a:t>
            </a:r>
            <a:r>
              <a:rPr kumimoji="0" lang="en-US" altLang="zh-CN" sz="2400" b="1" dirty="0"/>
              <a:t>ok = 0;     break;    }          // </a:t>
            </a:r>
            <a:r>
              <a:rPr kumimoji="0" lang="en-US" altLang="zh-CN" sz="2400" b="1" dirty="0" err="1"/>
              <a:t>i</a:t>
            </a:r>
            <a:r>
              <a:rPr kumimoji="0" lang="zh-CN" altLang="en-US" sz="2400" b="1" dirty="0"/>
              <a:t>与前面的</a:t>
            </a:r>
            <a:r>
              <a:rPr kumimoji="0" lang="en-US" altLang="zh-CN" sz="2400" b="1" dirty="0"/>
              <a:t>j</a:t>
            </a:r>
            <a:r>
              <a:rPr kumimoji="0" lang="zh-CN" altLang="en-US" sz="2400" b="1" dirty="0"/>
              <a:t>不相连，舍弃</a:t>
            </a:r>
            <a:r>
              <a:rPr kumimoji="0" lang="en-US" altLang="zh-CN" sz="2400" b="1" dirty="0" err="1"/>
              <a:t>i</a:t>
            </a:r>
            <a:endParaRPr kumimoji="0" lang="en-US" altLang="zh-CN" sz="2400" b="1" dirty="0"/>
          </a:p>
          <a:p>
            <a:pPr eaLnBrk="1" hangingPunct="1">
              <a:lnSpc>
                <a:spcPct val="110000"/>
              </a:lnSpc>
              <a:spcBef>
                <a:spcPct val="0"/>
              </a:spcBef>
              <a:buFontTx/>
              <a:buNone/>
            </a:pPr>
            <a:r>
              <a:rPr kumimoji="0" lang="en-US" altLang="zh-CN" sz="2400" b="1" dirty="0"/>
              <a:t>      if (ok)    {// </a:t>
            </a:r>
            <a:r>
              <a:rPr kumimoji="0" lang="zh-CN" altLang="en-US" sz="2400" b="1" dirty="0"/>
              <a:t>进入左子树</a:t>
            </a:r>
          </a:p>
          <a:p>
            <a:pPr eaLnBrk="1" hangingPunct="1">
              <a:lnSpc>
                <a:spcPct val="110000"/>
              </a:lnSpc>
              <a:spcBef>
                <a:spcPct val="0"/>
              </a:spcBef>
              <a:buFontTx/>
              <a:buNone/>
            </a:pPr>
            <a:r>
              <a:rPr kumimoji="0" lang="zh-CN" altLang="en-US" sz="2400" b="1" dirty="0"/>
              <a:t>         </a:t>
            </a:r>
            <a:r>
              <a:rPr kumimoji="0" lang="en-US" altLang="zh-CN" sz="2400" b="1" dirty="0"/>
              <a:t>x[</a:t>
            </a:r>
            <a:r>
              <a:rPr kumimoji="0" lang="en-US" altLang="zh-CN" sz="2400" b="1" dirty="0" err="1"/>
              <a:t>i</a:t>
            </a:r>
            <a:r>
              <a:rPr kumimoji="0" lang="en-US" altLang="zh-CN" sz="2400" b="1" dirty="0"/>
              <a:t>] = 1;  </a:t>
            </a:r>
            <a:r>
              <a:rPr kumimoji="0" lang="en-US" altLang="zh-CN" sz="2400" b="1" dirty="0" err="1"/>
              <a:t>cn</a:t>
            </a:r>
            <a:r>
              <a:rPr kumimoji="0" lang="en-US" altLang="zh-CN" sz="2400" b="1" dirty="0"/>
              <a:t>++;       backtrack(</a:t>
            </a:r>
            <a:r>
              <a:rPr kumimoji="0" lang="en-US" altLang="zh-CN" sz="2400" b="1" dirty="0" err="1"/>
              <a:t>i</a:t>
            </a:r>
            <a:r>
              <a:rPr kumimoji="0" lang="en-US" altLang="zh-CN" sz="2400" b="1" dirty="0"/>
              <a:t> + 1);         </a:t>
            </a:r>
            <a:r>
              <a:rPr kumimoji="0" lang="en-US" altLang="zh-CN" sz="2400" b="1" dirty="0" err="1"/>
              <a:t>cn</a:t>
            </a:r>
            <a:r>
              <a:rPr kumimoji="0" lang="en-US" altLang="zh-CN" sz="2400" b="1" dirty="0"/>
              <a:t>--;      }</a:t>
            </a:r>
          </a:p>
          <a:p>
            <a:pPr eaLnBrk="1" hangingPunct="1">
              <a:lnSpc>
                <a:spcPct val="110000"/>
              </a:lnSpc>
              <a:spcBef>
                <a:spcPct val="0"/>
              </a:spcBef>
              <a:buFontTx/>
              <a:buNone/>
            </a:pPr>
            <a:r>
              <a:rPr kumimoji="0" lang="en-US" altLang="zh-CN" sz="2400" b="1" dirty="0"/>
              <a:t>      if (</a:t>
            </a:r>
            <a:r>
              <a:rPr kumimoji="0" lang="en-US" altLang="zh-CN" sz="2400" b="1" dirty="0" err="1"/>
              <a:t>cn</a:t>
            </a:r>
            <a:r>
              <a:rPr kumimoji="0" lang="en-US" altLang="zh-CN" sz="2400" b="1" dirty="0"/>
              <a:t> + n - </a:t>
            </a:r>
            <a:r>
              <a:rPr kumimoji="0" lang="en-US" altLang="zh-CN" sz="2400" b="1" dirty="0" err="1"/>
              <a:t>i</a:t>
            </a:r>
            <a:r>
              <a:rPr kumimoji="0" lang="en-US" altLang="zh-CN" sz="2400" b="1" dirty="0"/>
              <a:t> &gt; </a:t>
            </a:r>
            <a:r>
              <a:rPr kumimoji="0" lang="en-US" altLang="zh-CN" sz="2400" b="1" dirty="0" err="1"/>
              <a:t>bestn</a:t>
            </a:r>
            <a:r>
              <a:rPr kumimoji="0" lang="en-US" altLang="zh-CN" sz="2400" b="1" dirty="0"/>
              <a:t>)      {// </a:t>
            </a:r>
            <a:r>
              <a:rPr kumimoji="0" lang="zh-CN" altLang="en-US" sz="2400" b="1" dirty="0"/>
              <a:t>进入右子树</a:t>
            </a:r>
          </a:p>
          <a:p>
            <a:pPr eaLnBrk="1" hangingPunct="1">
              <a:lnSpc>
                <a:spcPct val="110000"/>
              </a:lnSpc>
              <a:spcBef>
                <a:spcPct val="0"/>
              </a:spcBef>
              <a:buFontTx/>
              <a:buNone/>
            </a:pPr>
            <a:r>
              <a:rPr kumimoji="0" lang="zh-CN" altLang="en-US" sz="2400" b="1" dirty="0"/>
              <a:t>         </a:t>
            </a:r>
            <a:r>
              <a:rPr kumimoji="0" lang="en-US" altLang="zh-CN" sz="2400" b="1" dirty="0"/>
              <a:t>x[</a:t>
            </a:r>
            <a:r>
              <a:rPr kumimoji="0" lang="en-US" altLang="zh-CN" sz="2400" b="1" dirty="0" err="1"/>
              <a:t>i</a:t>
            </a:r>
            <a:r>
              <a:rPr kumimoji="0" lang="en-US" altLang="zh-CN" sz="2400" b="1" dirty="0"/>
              <a:t>] = 0;           backtrack(</a:t>
            </a:r>
            <a:r>
              <a:rPr kumimoji="0" lang="en-US" altLang="zh-CN" sz="2400" b="1" dirty="0" err="1"/>
              <a:t>i</a:t>
            </a:r>
            <a:r>
              <a:rPr kumimoji="0" lang="en-US" altLang="zh-CN" sz="2400" b="1" dirty="0"/>
              <a:t> + 1);      }</a:t>
            </a:r>
          </a:p>
          <a:p>
            <a:pPr eaLnBrk="1" hangingPunct="1">
              <a:lnSpc>
                <a:spcPct val="110000"/>
              </a:lnSpc>
              <a:spcBef>
                <a:spcPct val="0"/>
              </a:spcBef>
              <a:buFontTx/>
              <a:buNone/>
            </a:pPr>
            <a:r>
              <a:rPr kumimoji="0" lang="en-US" altLang="zh-CN" sz="2400" b="1" dirty="0"/>
              <a:t>   }</a:t>
            </a:r>
          </a:p>
        </p:txBody>
      </p:sp>
      <p:grpSp>
        <p:nvGrpSpPr>
          <p:cNvPr id="2" name="Group 4">
            <a:extLst>
              <a:ext uri="{FF2B5EF4-FFF2-40B4-BE49-F238E27FC236}">
                <a16:creationId xmlns:a16="http://schemas.microsoft.com/office/drawing/2014/main" id="{14FD73D2-2917-4DD0-ACF8-13A1663CEDAD}"/>
              </a:ext>
            </a:extLst>
          </p:cNvPr>
          <p:cNvGrpSpPr>
            <a:grpSpLocks/>
          </p:cNvGrpSpPr>
          <p:nvPr/>
        </p:nvGrpSpPr>
        <p:grpSpPr bwMode="auto">
          <a:xfrm>
            <a:off x="6064251" y="139700"/>
            <a:ext cx="2730501" cy="1425575"/>
            <a:chOff x="849" y="3098"/>
            <a:chExt cx="1720" cy="898"/>
          </a:xfrm>
        </p:grpSpPr>
        <p:sp>
          <p:nvSpPr>
            <p:cNvPr id="60422" name="Oval 5">
              <a:extLst>
                <a:ext uri="{FF2B5EF4-FFF2-40B4-BE49-F238E27FC236}">
                  <a16:creationId xmlns:a16="http://schemas.microsoft.com/office/drawing/2014/main" id="{B7C9460A-2495-443D-AB12-FF4681C68764}"/>
                </a:ext>
              </a:extLst>
            </p:cNvPr>
            <p:cNvSpPr>
              <a:spLocks noChangeArrowheads="1"/>
            </p:cNvSpPr>
            <p:nvPr/>
          </p:nvSpPr>
          <p:spPr bwMode="auto">
            <a:xfrm>
              <a:off x="866" y="3098"/>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1</a:t>
              </a:r>
            </a:p>
          </p:txBody>
        </p:sp>
        <p:sp>
          <p:nvSpPr>
            <p:cNvPr id="60423" name="Oval 6">
              <a:extLst>
                <a:ext uri="{FF2B5EF4-FFF2-40B4-BE49-F238E27FC236}">
                  <a16:creationId xmlns:a16="http://schemas.microsoft.com/office/drawing/2014/main" id="{3ADDC4CA-B432-49B0-B7C3-65BBD3036CBD}"/>
                </a:ext>
              </a:extLst>
            </p:cNvPr>
            <p:cNvSpPr>
              <a:spLocks noChangeArrowheads="1"/>
            </p:cNvSpPr>
            <p:nvPr/>
          </p:nvSpPr>
          <p:spPr bwMode="auto">
            <a:xfrm>
              <a:off x="1679" y="3099"/>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2</a:t>
              </a:r>
            </a:p>
          </p:txBody>
        </p:sp>
        <p:sp>
          <p:nvSpPr>
            <p:cNvPr id="60424" name="Oval 7">
              <a:extLst>
                <a:ext uri="{FF2B5EF4-FFF2-40B4-BE49-F238E27FC236}">
                  <a16:creationId xmlns:a16="http://schemas.microsoft.com/office/drawing/2014/main" id="{8B690BEC-46EC-4B46-804C-2E5ED04A9C04}"/>
                </a:ext>
              </a:extLst>
            </p:cNvPr>
            <p:cNvSpPr>
              <a:spLocks noChangeArrowheads="1"/>
            </p:cNvSpPr>
            <p:nvPr/>
          </p:nvSpPr>
          <p:spPr bwMode="auto">
            <a:xfrm>
              <a:off x="849" y="3751"/>
              <a:ext cx="239" cy="245"/>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4</a:t>
              </a:r>
            </a:p>
          </p:txBody>
        </p:sp>
        <p:sp>
          <p:nvSpPr>
            <p:cNvPr id="60425" name="Oval 8">
              <a:extLst>
                <a:ext uri="{FF2B5EF4-FFF2-40B4-BE49-F238E27FC236}">
                  <a16:creationId xmlns:a16="http://schemas.microsoft.com/office/drawing/2014/main" id="{36AEDC76-6E16-4B65-BFD7-6E9DA7F6E418}"/>
                </a:ext>
              </a:extLst>
            </p:cNvPr>
            <p:cNvSpPr>
              <a:spLocks noChangeArrowheads="1"/>
            </p:cNvSpPr>
            <p:nvPr/>
          </p:nvSpPr>
          <p:spPr bwMode="auto">
            <a:xfrm>
              <a:off x="1679" y="3751"/>
              <a:ext cx="239" cy="245"/>
            </a:xfrm>
            <a:prstGeom prst="ellipse">
              <a:avLst/>
            </a:prstGeom>
            <a:solidFill>
              <a:srgbClr val="99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5</a:t>
              </a:r>
            </a:p>
          </p:txBody>
        </p:sp>
        <p:sp>
          <p:nvSpPr>
            <p:cNvPr id="60426" name="Oval 9">
              <a:extLst>
                <a:ext uri="{FF2B5EF4-FFF2-40B4-BE49-F238E27FC236}">
                  <a16:creationId xmlns:a16="http://schemas.microsoft.com/office/drawing/2014/main" id="{F4ED40A9-C153-4F8B-B835-14EA1AA81336}"/>
                </a:ext>
              </a:extLst>
            </p:cNvPr>
            <p:cNvSpPr>
              <a:spLocks noChangeArrowheads="1"/>
            </p:cNvSpPr>
            <p:nvPr/>
          </p:nvSpPr>
          <p:spPr bwMode="auto">
            <a:xfrm>
              <a:off x="2330" y="3396"/>
              <a:ext cx="239" cy="245"/>
            </a:xfrm>
            <a:prstGeom prst="ellipse">
              <a:avLst/>
            </a:prstGeom>
            <a:solidFill>
              <a:srgbClr val="FFCC00"/>
            </a:solidFill>
            <a:ln w="12700" algn="ctr">
              <a:solidFill>
                <a:schemeClr val="tx1"/>
              </a:solidFill>
              <a:round/>
              <a:headEnd/>
              <a:tailEnd/>
            </a:ln>
          </p:spPr>
          <p:txBody>
            <a:bodyPr wrap="non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en-US" altLang="zh-CN" sz="1200" dirty="0">
                  <a:latin typeface="Arial" panose="020B0604020202020204" pitchFamily="34" charset="0"/>
                  <a:ea typeface="华文中宋" panose="02010600040101010101" pitchFamily="2" charset="-122"/>
                </a:rPr>
                <a:t>3</a:t>
              </a:r>
            </a:p>
          </p:txBody>
        </p:sp>
        <p:cxnSp>
          <p:nvCxnSpPr>
            <p:cNvPr id="60427" name="AutoShape 10">
              <a:extLst>
                <a:ext uri="{FF2B5EF4-FFF2-40B4-BE49-F238E27FC236}">
                  <a16:creationId xmlns:a16="http://schemas.microsoft.com/office/drawing/2014/main" id="{3397C73F-3314-4905-94B5-0E35B215E2CE}"/>
                </a:ext>
              </a:extLst>
            </p:cNvPr>
            <p:cNvCxnSpPr>
              <a:cxnSpLocks noChangeShapeType="1"/>
              <a:stCxn id="60422" idx="6"/>
              <a:endCxn id="60423" idx="2"/>
            </p:cNvCxnSpPr>
            <p:nvPr/>
          </p:nvCxnSpPr>
          <p:spPr bwMode="auto">
            <a:xfrm>
              <a:off x="1105" y="3221"/>
              <a:ext cx="574" cy="1"/>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0428" name="AutoShape 11">
              <a:extLst>
                <a:ext uri="{FF2B5EF4-FFF2-40B4-BE49-F238E27FC236}">
                  <a16:creationId xmlns:a16="http://schemas.microsoft.com/office/drawing/2014/main" id="{1BE9A73B-8DBA-4C94-9C57-264AD6EB2A61}"/>
                </a:ext>
              </a:extLst>
            </p:cNvPr>
            <p:cNvCxnSpPr>
              <a:cxnSpLocks noChangeShapeType="1"/>
              <a:stCxn id="60422" idx="4"/>
              <a:endCxn id="60424" idx="0"/>
            </p:cNvCxnSpPr>
            <p:nvPr/>
          </p:nvCxnSpPr>
          <p:spPr bwMode="auto">
            <a:xfrm flipH="1">
              <a:off x="969" y="3343"/>
              <a:ext cx="17" cy="40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0429" name="AutoShape 12">
              <a:extLst>
                <a:ext uri="{FF2B5EF4-FFF2-40B4-BE49-F238E27FC236}">
                  <a16:creationId xmlns:a16="http://schemas.microsoft.com/office/drawing/2014/main" id="{FE2A3DBF-990B-4847-995A-E90543914CD7}"/>
                </a:ext>
              </a:extLst>
            </p:cNvPr>
            <p:cNvCxnSpPr>
              <a:cxnSpLocks noChangeShapeType="1"/>
              <a:stCxn id="60424" idx="6"/>
              <a:endCxn id="60425" idx="2"/>
            </p:cNvCxnSpPr>
            <p:nvPr/>
          </p:nvCxnSpPr>
          <p:spPr bwMode="auto">
            <a:xfrm>
              <a:off x="1088" y="3874"/>
              <a:ext cx="591"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0430" name="AutoShape 13">
              <a:extLst>
                <a:ext uri="{FF2B5EF4-FFF2-40B4-BE49-F238E27FC236}">
                  <a16:creationId xmlns:a16="http://schemas.microsoft.com/office/drawing/2014/main" id="{43910E41-4B0E-4DF8-B1AC-5DEA0E953FC1}"/>
                </a:ext>
              </a:extLst>
            </p:cNvPr>
            <p:cNvCxnSpPr>
              <a:cxnSpLocks noChangeShapeType="1"/>
              <a:stCxn id="60425" idx="0"/>
              <a:endCxn id="60423" idx="4"/>
            </p:cNvCxnSpPr>
            <p:nvPr/>
          </p:nvCxnSpPr>
          <p:spPr bwMode="auto">
            <a:xfrm flipV="1">
              <a:off x="1799" y="3344"/>
              <a:ext cx="0" cy="407"/>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0431" name="AutoShape 14">
              <a:extLst>
                <a:ext uri="{FF2B5EF4-FFF2-40B4-BE49-F238E27FC236}">
                  <a16:creationId xmlns:a16="http://schemas.microsoft.com/office/drawing/2014/main" id="{1DA95758-2826-4BC3-86FE-6084CE743915}"/>
                </a:ext>
              </a:extLst>
            </p:cNvPr>
            <p:cNvCxnSpPr>
              <a:cxnSpLocks noChangeShapeType="1"/>
              <a:stCxn id="60422" idx="5"/>
              <a:endCxn id="60425" idx="1"/>
            </p:cNvCxnSpPr>
            <p:nvPr/>
          </p:nvCxnSpPr>
          <p:spPr bwMode="auto">
            <a:xfrm>
              <a:off x="1070" y="3307"/>
              <a:ext cx="644" cy="480"/>
            </a:xfrm>
            <a:prstGeom prst="straightConnector1">
              <a:avLst/>
            </a:prstGeom>
            <a:noFill/>
            <a:ln w="50800">
              <a:solidFill>
                <a:srgbClr val="FF6600"/>
              </a:solidFill>
              <a:round/>
              <a:headEnd/>
              <a:tailEnd/>
            </a:ln>
            <a:extLst>
              <a:ext uri="{909E8E84-426E-40DD-AFC4-6F175D3DCCD1}">
                <a14:hiddenFill xmlns:a14="http://schemas.microsoft.com/office/drawing/2010/main">
                  <a:noFill/>
                </a14:hiddenFill>
              </a:ext>
            </a:extLst>
          </p:spPr>
        </p:cxnSp>
        <p:cxnSp>
          <p:nvCxnSpPr>
            <p:cNvPr id="60432" name="AutoShape 15">
              <a:extLst>
                <a:ext uri="{FF2B5EF4-FFF2-40B4-BE49-F238E27FC236}">
                  <a16:creationId xmlns:a16="http://schemas.microsoft.com/office/drawing/2014/main" id="{2E906155-90C8-40F3-9FD8-0D75B07A2717}"/>
                </a:ext>
              </a:extLst>
            </p:cNvPr>
            <p:cNvCxnSpPr>
              <a:cxnSpLocks noChangeShapeType="1"/>
              <a:stCxn id="60426" idx="1"/>
              <a:endCxn id="60423" idx="6"/>
            </p:cNvCxnSpPr>
            <p:nvPr/>
          </p:nvCxnSpPr>
          <p:spPr bwMode="auto">
            <a:xfrm flipH="1" flipV="1">
              <a:off x="1918" y="3222"/>
              <a:ext cx="447" cy="21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0433" name="AutoShape 16">
              <a:extLst>
                <a:ext uri="{FF2B5EF4-FFF2-40B4-BE49-F238E27FC236}">
                  <a16:creationId xmlns:a16="http://schemas.microsoft.com/office/drawing/2014/main" id="{7BA03958-D81E-40FB-A2A2-737ACDE28E31}"/>
                </a:ext>
              </a:extLst>
            </p:cNvPr>
            <p:cNvCxnSpPr>
              <a:cxnSpLocks noChangeShapeType="1"/>
              <a:stCxn id="60425" idx="6"/>
              <a:endCxn id="60426" idx="3"/>
            </p:cNvCxnSpPr>
            <p:nvPr/>
          </p:nvCxnSpPr>
          <p:spPr bwMode="auto">
            <a:xfrm flipV="1">
              <a:off x="1918" y="3605"/>
              <a:ext cx="447" cy="26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94227" name="AutoShape 19">
            <a:extLst>
              <a:ext uri="{FF2B5EF4-FFF2-40B4-BE49-F238E27FC236}">
                <a16:creationId xmlns:a16="http://schemas.microsoft.com/office/drawing/2014/main" id="{68FD79F4-6584-4C2F-B5E2-567C2DF4F2AF}"/>
              </a:ext>
            </a:extLst>
          </p:cNvPr>
          <p:cNvSpPr>
            <a:spLocks noChangeArrowheads="1"/>
          </p:cNvSpPr>
          <p:nvPr/>
        </p:nvSpPr>
        <p:spPr bwMode="auto">
          <a:xfrm>
            <a:off x="2590800" y="6172200"/>
            <a:ext cx="1600200" cy="609600"/>
          </a:xfrm>
          <a:prstGeom prst="wedgeRoundRectCallout">
            <a:avLst>
              <a:gd name="adj1" fmla="val -66569"/>
              <a:gd name="adj2" fmla="val -119532"/>
              <a:gd name="adj3" fmla="val 16667"/>
            </a:avLst>
          </a:prstGeom>
          <a:solidFill>
            <a:srgbClr val="FFFF99"/>
          </a:solidFill>
          <a:ln w="9525">
            <a:solidFill>
              <a:schemeClr val="tx1"/>
            </a:solidFill>
            <a:miter lim="800000"/>
            <a:headEnd/>
            <a:tailEnd/>
          </a:ln>
        </p:spPr>
        <p:txBody>
          <a:bodyPr lIns="18000" tIns="10800" rIns="18000" bIns="10800" anchor="ctr" anchorCtr="1"/>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2800" dirty="0">
                <a:latin typeface="华文中宋" panose="02010600040101010101" pitchFamily="2" charset="-122"/>
                <a:ea typeface="华文中宋" panose="02010600040101010101" pitchFamily="2" charset="-122"/>
              </a:rPr>
              <a:t>限界函数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4227"/>
                                        </p:tgtEl>
                                        <p:attrNameLst>
                                          <p:attrName>style.visibility</p:attrName>
                                        </p:attrNameLst>
                                      </p:cBhvr>
                                      <p:to>
                                        <p:strVal val="visible"/>
                                      </p:to>
                                    </p:set>
                                    <p:anim calcmode="lin" valueType="num">
                                      <p:cBhvr additive="base">
                                        <p:cTn id="13" dur="500" fill="hold"/>
                                        <p:tgtEl>
                                          <p:spTgt spid="94227"/>
                                        </p:tgtEl>
                                        <p:attrNameLst>
                                          <p:attrName>ppt_x</p:attrName>
                                        </p:attrNameLst>
                                      </p:cBhvr>
                                      <p:tavLst>
                                        <p:tav tm="0">
                                          <p:val>
                                            <p:strVal val="0-#ppt_w/2"/>
                                          </p:val>
                                        </p:tav>
                                        <p:tav tm="100000">
                                          <p:val>
                                            <p:strVal val="#ppt_x"/>
                                          </p:val>
                                        </p:tav>
                                      </p:tavLst>
                                    </p:anim>
                                    <p:anim calcmode="lin" valueType="num">
                                      <p:cBhvr additive="base">
                                        <p:cTn id="14" dur="500" fill="hold"/>
                                        <p:tgtEl>
                                          <p:spTgt spid="94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27"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A1977D93-BC51-4CF2-9129-1BF53BB512CE}"/>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ea typeface="黑体" panose="02010609060101010101" pitchFamily="49" charset="-122"/>
              </a:rPr>
              <a:t>最大团问题</a:t>
            </a:r>
            <a:r>
              <a:rPr lang="zh-CN" altLang="en-US">
                <a:ea typeface="黑体" panose="02010609060101010101" pitchFamily="49" charset="-122"/>
              </a:rPr>
              <a:t>复杂性</a:t>
            </a:r>
          </a:p>
        </p:txBody>
      </p:sp>
      <p:sp>
        <p:nvSpPr>
          <p:cNvPr id="102403" name="Rectangle 3">
            <a:extLst>
              <a:ext uri="{FF2B5EF4-FFF2-40B4-BE49-F238E27FC236}">
                <a16:creationId xmlns:a16="http://schemas.microsoft.com/office/drawing/2014/main" id="{C6018E5C-CF81-4662-AEF4-3D71C50EC19D}"/>
              </a:ext>
            </a:extLst>
          </p:cNvPr>
          <p:cNvSpPr>
            <a:spLocks noGrp="1" noChangeArrowheads="1"/>
          </p:cNvSpPr>
          <p:nvPr>
            <p:ph type="body" idx="1"/>
          </p:nvPr>
        </p:nvSpPr>
        <p:spPr bwMode="auto">
          <a:xfrm>
            <a:off x="685800" y="3733800"/>
            <a:ext cx="7772400" cy="236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2800" b="1" dirty="0">
                <a:solidFill>
                  <a:srgbClr val="0000CC"/>
                </a:solidFill>
                <a:latin typeface="Arial" panose="020B0604020202020204" pitchFamily="34" charset="0"/>
                <a:ea typeface="黑体" panose="02010609060101010101" pitchFamily="49" charset="-122"/>
              </a:rPr>
              <a:t>算法改进设想：</a:t>
            </a:r>
          </a:p>
          <a:p>
            <a:pPr eaLnBrk="1" hangingPunct="1">
              <a:buFontTx/>
              <a:buNone/>
            </a:pPr>
            <a:r>
              <a:rPr kumimoji="0" lang="zh-CN" altLang="en-US" sz="2800" dirty="0">
                <a:latin typeface="Arial" panose="020B0604020202020204" pitchFamily="34" charset="0"/>
                <a:ea typeface="黑体" panose="02010609060101010101" pitchFamily="49" charset="-122"/>
              </a:rPr>
              <a:t>   </a:t>
            </a:r>
            <a:r>
              <a:rPr kumimoji="0" lang="zh-CN" altLang="en-US" sz="2800" b="1" dirty="0">
                <a:latin typeface="Arial" panose="020B0604020202020204" pitchFamily="34" charset="0"/>
                <a:ea typeface="黑体" panose="02010609060101010101" pitchFamily="49" charset="-122"/>
              </a:rPr>
              <a:t>选择合适的搜索顺序</a:t>
            </a:r>
            <a:r>
              <a:rPr kumimoji="0" lang="zh-CN" altLang="en-US" sz="2800" b="1" dirty="0">
                <a:latin typeface="Arial" panose="020B0604020202020204" pitchFamily="34" charset="0"/>
              </a:rPr>
              <a:t>，可以使得上界函数更有效地发挥作用。如在搜索之前可将顶点按度从小到大排序。这在某种意义上相当于给回溯法加入了启发性。</a:t>
            </a:r>
          </a:p>
        </p:txBody>
      </p:sp>
      <p:sp>
        <p:nvSpPr>
          <p:cNvPr id="102405" name="AutoShape 5">
            <a:extLst>
              <a:ext uri="{FF2B5EF4-FFF2-40B4-BE49-F238E27FC236}">
                <a16:creationId xmlns:a16="http://schemas.microsoft.com/office/drawing/2014/main" id="{4BCAE68D-B233-4769-8672-28F7A4AB7C9D}"/>
              </a:ext>
            </a:extLst>
          </p:cNvPr>
          <p:cNvSpPr>
            <a:spLocks noChangeArrowheads="1"/>
          </p:cNvSpPr>
          <p:nvPr/>
        </p:nvSpPr>
        <p:spPr bwMode="auto">
          <a:xfrm>
            <a:off x="1187450" y="1752600"/>
            <a:ext cx="6943725" cy="1346200"/>
          </a:xfrm>
          <a:prstGeom prst="roundRect">
            <a:avLst>
              <a:gd name="adj" fmla="val 16667"/>
            </a:avLst>
          </a:prstGeom>
          <a:solidFill>
            <a:schemeClr val="bg1"/>
          </a:solidFill>
          <a:ln w="38100">
            <a:solidFill>
              <a:srgbClr val="063DE8"/>
            </a:solidFill>
            <a:round/>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kumimoji="0" lang="zh-CN" altLang="en-US" dirty="0">
                <a:latin typeface="Arial" panose="020B0604020202020204" pitchFamily="34" charset="0"/>
                <a:ea typeface="黑体" panose="02010609060101010101" pitchFamily="49" charset="-122"/>
              </a:rPr>
              <a:t>复杂度分析</a:t>
            </a:r>
          </a:p>
          <a:p>
            <a:r>
              <a:rPr kumimoji="0" lang="zh-CN" altLang="en-US" dirty="0">
                <a:latin typeface="Arial" panose="020B0604020202020204" pitchFamily="34" charset="0"/>
                <a:ea typeface="华文中宋" panose="02010600040101010101" pitchFamily="2" charset="-122"/>
                <a:sym typeface="Wingdings" panose="05000000000000000000" pitchFamily="2" charset="2"/>
              </a:rPr>
              <a:t>       最大团问题的回溯算法</a:t>
            </a:r>
            <a:r>
              <a:rPr kumimoji="0" lang="en-US" altLang="zh-CN" dirty="0">
                <a:latin typeface="Arial" panose="020B0604020202020204" pitchFamily="34" charset="0"/>
                <a:ea typeface="华文中宋" panose="02010600040101010101" pitchFamily="2" charset="-122"/>
                <a:sym typeface="Wingdings" panose="05000000000000000000" pitchFamily="2" charset="2"/>
              </a:rPr>
              <a:t>backtrack</a:t>
            </a:r>
            <a:r>
              <a:rPr kumimoji="0" lang="zh-CN" altLang="en-US" dirty="0">
                <a:latin typeface="Arial" panose="020B0604020202020204" pitchFamily="34" charset="0"/>
                <a:ea typeface="华文中宋" panose="02010600040101010101" pitchFamily="2" charset="-122"/>
                <a:sym typeface="Wingdings" panose="05000000000000000000" pitchFamily="2" charset="2"/>
              </a:rPr>
              <a:t>所需的计算时间显然为</a:t>
            </a:r>
            <a:r>
              <a:rPr kumimoji="0" lang="en-US" altLang="zh-CN" dirty="0">
                <a:latin typeface="Arial" panose="020B0604020202020204" pitchFamily="34" charset="0"/>
                <a:ea typeface="华文中宋" panose="02010600040101010101" pitchFamily="2" charset="-122"/>
                <a:sym typeface="Wingdings" panose="05000000000000000000" pitchFamily="2" charset="2"/>
              </a:rPr>
              <a:t>O(n2</a:t>
            </a:r>
            <a:r>
              <a:rPr kumimoji="0" lang="en-US" altLang="zh-CN" baseline="30000" dirty="0">
                <a:latin typeface="Arial" panose="020B0604020202020204" pitchFamily="34" charset="0"/>
                <a:ea typeface="华文中宋" panose="02010600040101010101" pitchFamily="2" charset="-122"/>
                <a:sym typeface="Wingdings" panose="05000000000000000000" pitchFamily="2" charset="2"/>
              </a:rPr>
              <a:t>n</a:t>
            </a:r>
            <a:r>
              <a:rPr kumimoji="0" lang="en-US" altLang="zh-CN" dirty="0">
                <a:latin typeface="Arial" panose="020B0604020202020204" pitchFamily="34" charset="0"/>
                <a:ea typeface="华文中宋" panose="02010600040101010101" pitchFamily="2" charset="-122"/>
                <a:sym typeface="Wingdings" panose="05000000000000000000" pitchFamily="2" charset="2"/>
              </a:rPr>
              <a:t>)</a:t>
            </a:r>
            <a:r>
              <a:rPr kumimoji="0" lang="zh-CN" altLang="en-US" dirty="0">
                <a:latin typeface="Arial" panose="020B0604020202020204" pitchFamily="34" charset="0"/>
                <a:ea typeface="华文中宋" panose="02010600040101010101" pitchFamily="2" charset="-122"/>
                <a:sym typeface="Wingdings" panose="05000000000000000000" pitchFamily="2" charset="2"/>
              </a:rPr>
              <a:t>。</a:t>
            </a:r>
          </a:p>
        </p:txBody>
      </p:sp>
      <p:sp>
        <p:nvSpPr>
          <p:cNvPr id="61445" name="Rectangle 6">
            <a:extLst>
              <a:ext uri="{FF2B5EF4-FFF2-40B4-BE49-F238E27FC236}">
                <a16:creationId xmlns:a16="http://schemas.microsoft.com/office/drawing/2014/main" id="{8D264B05-BA86-42FC-ACB9-8F21C8AD8AF4}"/>
              </a:ext>
            </a:extLst>
          </p:cNvPr>
          <p:cNvSpPr>
            <a:spLocks noChangeArrowheads="1"/>
          </p:cNvSpPr>
          <p:nvPr/>
        </p:nvSpPr>
        <p:spPr bwMode="auto">
          <a:xfrm>
            <a:off x="611188" y="1025525"/>
            <a:ext cx="77724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4400" b="0">
              <a:solidFill>
                <a:schemeClr val="tx2"/>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blinds(horizontal)">
                                      <p:cBhvr>
                                        <p:cTn id="7" dur="500"/>
                                        <p:tgtEl>
                                          <p:spTgt spid="102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2403">
                                            <p:txEl>
                                              <p:pRg st="0" end="0"/>
                                            </p:txEl>
                                          </p:spTgt>
                                        </p:tgtEl>
                                        <p:attrNameLst>
                                          <p:attrName>style.visibility</p:attrName>
                                        </p:attrNameLst>
                                      </p:cBhvr>
                                      <p:to>
                                        <p:strVal val="visible"/>
                                      </p:to>
                                    </p:set>
                                    <p:anim calcmode="lin" valueType="num">
                                      <p:cBhvr additive="base">
                                        <p:cTn id="12" dur="500" fill="hold"/>
                                        <p:tgtEl>
                                          <p:spTgt spid="10240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2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02403">
                                            <p:txEl>
                                              <p:pRg st="1" end="1"/>
                                            </p:txEl>
                                          </p:spTgt>
                                        </p:tgtEl>
                                        <p:attrNameLst>
                                          <p:attrName>style.visibility</p:attrName>
                                        </p:attrNameLst>
                                      </p:cBhvr>
                                      <p:to>
                                        <p:strVal val="visible"/>
                                      </p:to>
                                    </p:set>
                                    <p:anim calcmode="lin" valueType="num">
                                      <p:cBhvr additive="base">
                                        <p:cTn id="18" dur="500" fill="hold"/>
                                        <p:tgtEl>
                                          <p:spTgt spid="102403">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10240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autoUpdateAnimBg="0"/>
      <p:bldP spid="102405"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286A3EF-4B3E-495E-B034-73578FFBFA61}"/>
              </a:ext>
            </a:extLst>
          </p:cNvPr>
          <p:cNvSpPr>
            <a:spLocks noGrp="1" noChangeArrowheads="1"/>
          </p:cNvSpPr>
          <p:nvPr>
            <p:ph type="title"/>
          </p:nvPr>
        </p:nvSpPr>
        <p:spPr bwMode="auto">
          <a:xfrm>
            <a:off x="685800" y="20574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accent2"/>
              </a:buClr>
              <a:defRPr/>
            </a:pPr>
            <a:r>
              <a:rPr lang="en-US" altLang="en-US" b="1" dirty="0">
                <a:solidFill>
                  <a:srgbClr val="AC2F36"/>
                </a:solidFill>
                <a:effectLst>
                  <a:outerShdw blurRad="38100" dist="38100" dir="2700000" algn="tl">
                    <a:srgbClr val="C0C0C0"/>
                  </a:outerShdw>
                </a:effectLst>
                <a:latin typeface="Palatino Linotype" panose="02040502050505030304" pitchFamily="18" charset="0"/>
              </a:rPr>
              <a:t>5.8</a:t>
            </a:r>
            <a:r>
              <a:rPr lang="en-US" altLang="en-US" b="1" dirty="0">
                <a:solidFill>
                  <a:srgbClr val="AC2F36"/>
                </a:solidFill>
                <a:effectLst>
                  <a:outerShdw blurRad="38100" dist="38100" dir="2700000" algn="tl">
                    <a:srgbClr val="C0C0C0"/>
                  </a:outerShdw>
                </a:effectLst>
                <a:latin typeface="华文中宋" panose="02010600040101010101" pitchFamily="2" charset="-122"/>
              </a:rPr>
              <a:t> </a:t>
            </a:r>
            <a:r>
              <a:rPr lang="en-US" altLang="en-US" b="1" dirty="0" err="1">
                <a:solidFill>
                  <a:srgbClr val="AC2F36"/>
                </a:solidFill>
                <a:effectLst>
                  <a:outerShdw blurRad="38100" dist="38100" dir="2700000" algn="tl">
                    <a:srgbClr val="C0C0C0"/>
                  </a:outerShdw>
                </a:effectLst>
                <a:latin typeface="华文中宋" panose="02010600040101010101" pitchFamily="2" charset="-122"/>
              </a:rPr>
              <a:t>图的m着色问题</a:t>
            </a:r>
            <a:endParaRPr lang="en-US" altLang="en-US" b="1" dirty="0">
              <a:solidFill>
                <a:srgbClr val="AC2F36"/>
              </a:solidFill>
              <a:effectLst>
                <a:outerShdw blurRad="38100" dist="38100" dir="2700000" algn="tl">
                  <a:srgbClr val="C0C0C0"/>
                </a:outerShdw>
              </a:effectLst>
              <a:latin typeface="华文中宋" panose="0201060004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2DD7D5B-8755-4BE2-ADEB-032AF9E6050F}"/>
              </a:ext>
            </a:extLst>
          </p:cNvPr>
          <p:cNvSpPr>
            <a:spLocks noGrp="1" noChangeArrowheads="1"/>
          </p:cNvSpPr>
          <p:nvPr>
            <p:ph type="title"/>
          </p:nvPr>
        </p:nvSpPr>
        <p:spPr bwMode="auto">
          <a:xfrm>
            <a:off x="685800" y="152400"/>
            <a:ext cx="7772400" cy="838200"/>
          </a:xfrm>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accent2"/>
              </a:buClr>
              <a:defRPr/>
            </a:pPr>
            <a:r>
              <a:rPr lang="zh-CN" altLang="en-US" b="1" dirty="0">
                <a:solidFill>
                  <a:srgbClr val="FF0000"/>
                </a:solidFill>
                <a:effectLst>
                  <a:outerShdw blurRad="38100" dist="38100" dir="2700000" algn="tl">
                    <a:srgbClr val="C0C0C0"/>
                  </a:outerShdw>
                </a:effectLst>
                <a:ea typeface="黑体" pitchFamily="2" charset="-122"/>
              </a:rPr>
              <a:t>问题描述</a:t>
            </a:r>
          </a:p>
        </p:txBody>
      </p:sp>
      <p:sp>
        <p:nvSpPr>
          <p:cNvPr id="91139" name="Rectangle 3">
            <a:extLst>
              <a:ext uri="{FF2B5EF4-FFF2-40B4-BE49-F238E27FC236}">
                <a16:creationId xmlns:a16="http://schemas.microsoft.com/office/drawing/2014/main" id="{2BCFD890-98E4-40C5-8D90-65CCDF3AF4CA}"/>
              </a:ext>
            </a:extLst>
          </p:cNvPr>
          <p:cNvSpPr>
            <a:spLocks noGrp="1" noChangeArrowheads="1"/>
          </p:cNvSpPr>
          <p:nvPr>
            <p:ph type="body" idx="1"/>
          </p:nvPr>
        </p:nvSpPr>
        <p:spPr bwMode="auto">
          <a:xfrm>
            <a:off x="685800" y="9906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2800">
                <a:latin typeface="黑体" panose="02010609060101010101" pitchFamily="49" charset="-122"/>
                <a:ea typeface="黑体" panose="02010609060101010101" pitchFamily="49" charset="-122"/>
              </a:rPr>
              <a:t>给定无向连通图</a:t>
            </a:r>
            <a:r>
              <a:rPr kumimoji="0" lang="en-US" altLang="zh-CN" sz="2800">
                <a:latin typeface="黑体" panose="02010609060101010101" pitchFamily="49" charset="-122"/>
                <a:ea typeface="黑体" panose="02010609060101010101" pitchFamily="49" charset="-122"/>
              </a:rPr>
              <a:t>G</a:t>
            </a:r>
            <a:r>
              <a:rPr kumimoji="0" lang="zh-CN" altLang="en-US" sz="2800">
                <a:latin typeface="黑体" panose="02010609060101010101" pitchFamily="49" charset="-122"/>
                <a:ea typeface="黑体" panose="02010609060101010101" pitchFamily="49" charset="-122"/>
              </a:rPr>
              <a:t>和</a:t>
            </a:r>
            <a:r>
              <a:rPr kumimoji="0" lang="en-US" altLang="zh-CN" sz="2800">
                <a:latin typeface="黑体" panose="02010609060101010101" pitchFamily="49" charset="-122"/>
                <a:ea typeface="黑体" panose="02010609060101010101" pitchFamily="49" charset="-122"/>
              </a:rPr>
              <a:t>m</a:t>
            </a:r>
            <a:r>
              <a:rPr kumimoji="0" lang="zh-CN" altLang="en-US" sz="2800">
                <a:latin typeface="黑体" panose="02010609060101010101" pitchFamily="49" charset="-122"/>
                <a:ea typeface="黑体" panose="02010609060101010101" pitchFamily="49" charset="-122"/>
              </a:rPr>
              <a:t>种不同的颜色。</a:t>
            </a:r>
          </a:p>
        </p:txBody>
      </p:sp>
      <p:sp>
        <p:nvSpPr>
          <p:cNvPr id="91140" name="Rectangle 4">
            <a:extLst>
              <a:ext uri="{FF2B5EF4-FFF2-40B4-BE49-F238E27FC236}">
                <a16:creationId xmlns:a16="http://schemas.microsoft.com/office/drawing/2014/main" id="{48A49367-BC94-4DB7-BCDB-38ED868FD2FF}"/>
              </a:ext>
            </a:extLst>
          </p:cNvPr>
          <p:cNvSpPr>
            <a:spLocks noChangeArrowheads="1"/>
          </p:cNvSpPr>
          <p:nvPr/>
        </p:nvSpPr>
        <p:spPr bwMode="auto">
          <a:xfrm>
            <a:off x="685800" y="15240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sz="2800">
                <a:solidFill>
                  <a:srgbClr val="FF0000"/>
                </a:solidFill>
                <a:latin typeface="黑体" panose="02010609060101010101" pitchFamily="49" charset="-122"/>
                <a:ea typeface="黑体" panose="02010609060101010101" pitchFamily="49" charset="-122"/>
              </a:rPr>
              <a:t>顶点着色：</a:t>
            </a:r>
            <a:r>
              <a:rPr kumimoji="0" lang="zh-CN" altLang="en-US" sz="2800" b="0">
                <a:latin typeface="黑体" panose="02010609060101010101" pitchFamily="49" charset="-122"/>
                <a:ea typeface="黑体" panose="02010609060101010101" pitchFamily="49" charset="-122"/>
              </a:rPr>
              <a:t>用</a:t>
            </a:r>
            <a:r>
              <a:rPr kumimoji="0" lang="en-US" altLang="zh-CN" sz="2800" b="0">
                <a:latin typeface="黑体" panose="02010609060101010101" pitchFamily="49" charset="-122"/>
                <a:ea typeface="黑体" panose="02010609060101010101" pitchFamily="49" charset="-122"/>
              </a:rPr>
              <a:t>m</a:t>
            </a:r>
            <a:r>
              <a:rPr kumimoji="0" lang="zh-CN" altLang="en-US" sz="2800" b="0">
                <a:latin typeface="黑体" panose="02010609060101010101" pitchFamily="49" charset="-122"/>
                <a:ea typeface="黑体" panose="02010609060101010101" pitchFamily="49" charset="-122"/>
              </a:rPr>
              <a:t>种颜色为图</a:t>
            </a:r>
            <a:r>
              <a:rPr kumimoji="0" lang="en-US" altLang="zh-CN" sz="2800" b="0">
                <a:latin typeface="黑体" panose="02010609060101010101" pitchFamily="49" charset="-122"/>
                <a:ea typeface="黑体" panose="02010609060101010101" pitchFamily="49" charset="-122"/>
              </a:rPr>
              <a:t>G</a:t>
            </a:r>
            <a:r>
              <a:rPr kumimoji="0" lang="zh-CN" altLang="en-US" sz="2800" b="0">
                <a:latin typeface="黑体" panose="02010609060101010101" pitchFamily="49" charset="-122"/>
                <a:ea typeface="黑体" panose="02010609060101010101" pitchFamily="49" charset="-122"/>
              </a:rPr>
              <a:t>的各顶点着色，每个顶点着一种颜色。每条边的</a:t>
            </a:r>
            <a:r>
              <a:rPr kumimoji="0" lang="en-US" altLang="zh-CN" sz="2800" b="0">
                <a:latin typeface="黑体" panose="02010609060101010101" pitchFamily="49" charset="-122"/>
                <a:ea typeface="黑体" panose="02010609060101010101" pitchFamily="49" charset="-122"/>
              </a:rPr>
              <a:t>2</a:t>
            </a:r>
            <a:r>
              <a:rPr kumimoji="0" lang="zh-CN" altLang="en-US" sz="2800" b="0">
                <a:latin typeface="黑体" panose="02010609060101010101" pitchFamily="49" charset="-122"/>
                <a:ea typeface="黑体" panose="02010609060101010101" pitchFamily="49" charset="-122"/>
              </a:rPr>
              <a:t>个顶点着不同颜色。</a:t>
            </a:r>
          </a:p>
        </p:txBody>
      </p:sp>
      <p:sp>
        <p:nvSpPr>
          <p:cNvPr id="91141" name="Rectangle 5">
            <a:extLst>
              <a:ext uri="{FF2B5EF4-FFF2-40B4-BE49-F238E27FC236}">
                <a16:creationId xmlns:a16="http://schemas.microsoft.com/office/drawing/2014/main" id="{DADD62B2-D484-43AD-8A4C-FE8EECF891D1}"/>
              </a:ext>
            </a:extLst>
          </p:cNvPr>
          <p:cNvSpPr>
            <a:spLocks noChangeArrowheads="1"/>
          </p:cNvSpPr>
          <p:nvPr/>
        </p:nvSpPr>
        <p:spPr bwMode="auto">
          <a:xfrm>
            <a:off x="685800" y="29718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sz="2800">
                <a:solidFill>
                  <a:srgbClr val="FF0000"/>
                </a:solidFill>
                <a:latin typeface="黑体" panose="02010609060101010101" pitchFamily="49" charset="-122"/>
                <a:ea typeface="黑体" panose="02010609060101010101" pitchFamily="49" charset="-122"/>
              </a:rPr>
              <a:t>边着色：</a:t>
            </a:r>
            <a:r>
              <a:rPr kumimoji="0" lang="zh-CN" altLang="en-US" sz="2800" b="0">
                <a:latin typeface="黑体" panose="02010609060101010101" pitchFamily="49" charset="-122"/>
                <a:ea typeface="黑体" panose="02010609060101010101" pitchFamily="49" charset="-122"/>
              </a:rPr>
              <a:t>用这些颜色为图</a:t>
            </a:r>
            <a:r>
              <a:rPr kumimoji="0" lang="en-US" altLang="zh-CN" sz="2800" b="0">
                <a:latin typeface="黑体" panose="02010609060101010101" pitchFamily="49" charset="-122"/>
                <a:ea typeface="黑体" panose="02010609060101010101" pitchFamily="49" charset="-122"/>
              </a:rPr>
              <a:t>G</a:t>
            </a:r>
            <a:r>
              <a:rPr kumimoji="0" lang="zh-CN" altLang="en-US" sz="2800" b="0">
                <a:latin typeface="黑体" panose="02010609060101010101" pitchFamily="49" charset="-122"/>
                <a:ea typeface="黑体" panose="02010609060101010101" pitchFamily="49" charset="-122"/>
              </a:rPr>
              <a:t>的各边着色，每边着一种颜色。与每顶点关联的边着不同颜色。</a:t>
            </a:r>
          </a:p>
        </p:txBody>
      </p:sp>
      <p:sp>
        <p:nvSpPr>
          <p:cNvPr id="91142" name="Rectangle 6">
            <a:extLst>
              <a:ext uri="{FF2B5EF4-FFF2-40B4-BE49-F238E27FC236}">
                <a16:creationId xmlns:a16="http://schemas.microsoft.com/office/drawing/2014/main" id="{3BD3B87C-249D-47F3-9A75-DC541172F283}"/>
              </a:ext>
            </a:extLst>
          </p:cNvPr>
          <p:cNvSpPr>
            <a:spLocks noChangeArrowheads="1"/>
          </p:cNvSpPr>
          <p:nvPr/>
        </p:nvSpPr>
        <p:spPr bwMode="auto">
          <a:xfrm>
            <a:off x="685800" y="39624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sz="2800">
                <a:solidFill>
                  <a:srgbClr val="FF0000"/>
                </a:solidFill>
                <a:latin typeface="黑体" panose="02010609060101010101" pitchFamily="49" charset="-122"/>
                <a:ea typeface="黑体" panose="02010609060101010101" pitchFamily="49" charset="-122"/>
              </a:rPr>
              <a:t>面着色：</a:t>
            </a:r>
            <a:r>
              <a:rPr kumimoji="0" lang="zh-CN" altLang="en-US" sz="2800" b="0">
                <a:latin typeface="黑体" panose="02010609060101010101" pitchFamily="49" charset="-122"/>
                <a:ea typeface="黑体" panose="02010609060101010101" pitchFamily="49" charset="-122"/>
              </a:rPr>
              <a:t>用这些颜色为图</a:t>
            </a:r>
            <a:r>
              <a:rPr kumimoji="0" lang="en-US" altLang="zh-CN" sz="2800" b="0">
                <a:latin typeface="黑体" panose="02010609060101010101" pitchFamily="49" charset="-122"/>
                <a:ea typeface="黑体" panose="02010609060101010101" pitchFamily="49" charset="-122"/>
              </a:rPr>
              <a:t>G</a:t>
            </a:r>
            <a:r>
              <a:rPr kumimoji="0" lang="zh-CN" altLang="en-US" sz="2800" b="0">
                <a:latin typeface="黑体" panose="02010609060101010101" pitchFamily="49" charset="-122"/>
                <a:ea typeface="黑体" panose="02010609060101010101" pitchFamily="49" charset="-122"/>
              </a:rPr>
              <a:t>的各面着色，每个面着一种颜色。相邻的</a:t>
            </a:r>
            <a:r>
              <a:rPr kumimoji="0" lang="en-US" altLang="zh-CN" sz="2800" b="0">
                <a:latin typeface="黑体" panose="02010609060101010101" pitchFamily="49" charset="-122"/>
                <a:ea typeface="黑体" panose="02010609060101010101" pitchFamily="49" charset="-122"/>
              </a:rPr>
              <a:t>2</a:t>
            </a:r>
            <a:r>
              <a:rPr kumimoji="0" lang="zh-CN" altLang="en-US" sz="2800" b="0">
                <a:latin typeface="黑体" panose="02010609060101010101" pitchFamily="49" charset="-122"/>
                <a:ea typeface="黑体" panose="02010609060101010101" pitchFamily="49" charset="-122"/>
              </a:rPr>
              <a:t>个面着不同颜色。</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1139">
                                            <p:txEl>
                                              <p:pRg st="0" end="0"/>
                                            </p:txEl>
                                          </p:spTgt>
                                        </p:tgtEl>
                                        <p:attrNameLst>
                                          <p:attrName>style.visibility</p:attrName>
                                        </p:attrNameLst>
                                      </p:cBhvr>
                                      <p:to>
                                        <p:strVal val="visible"/>
                                      </p:to>
                                    </p:set>
                                    <p:anim calcmode="lin" valueType="num">
                                      <p:cBhvr additive="base">
                                        <p:cTn id="7" dur="500" fill="hold"/>
                                        <p:tgtEl>
                                          <p:spTgt spid="91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1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1140"/>
                                        </p:tgtEl>
                                        <p:attrNameLst>
                                          <p:attrName>style.visibility</p:attrName>
                                        </p:attrNameLst>
                                      </p:cBhvr>
                                      <p:to>
                                        <p:strVal val="visible"/>
                                      </p:to>
                                    </p:set>
                                    <p:anim calcmode="lin" valueType="num">
                                      <p:cBhvr additive="base">
                                        <p:cTn id="13" dur="500" fill="hold"/>
                                        <p:tgtEl>
                                          <p:spTgt spid="91140"/>
                                        </p:tgtEl>
                                        <p:attrNameLst>
                                          <p:attrName>ppt_x</p:attrName>
                                        </p:attrNameLst>
                                      </p:cBhvr>
                                      <p:tavLst>
                                        <p:tav tm="0">
                                          <p:val>
                                            <p:strVal val="0-#ppt_w/2"/>
                                          </p:val>
                                        </p:tav>
                                        <p:tav tm="100000">
                                          <p:val>
                                            <p:strVal val="#ppt_x"/>
                                          </p:val>
                                        </p:tav>
                                      </p:tavLst>
                                    </p:anim>
                                    <p:anim calcmode="lin" valueType="num">
                                      <p:cBhvr additive="base">
                                        <p:cTn id="14"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1141"/>
                                        </p:tgtEl>
                                        <p:attrNameLst>
                                          <p:attrName>style.visibility</p:attrName>
                                        </p:attrNameLst>
                                      </p:cBhvr>
                                      <p:to>
                                        <p:strVal val="visible"/>
                                      </p:to>
                                    </p:set>
                                    <p:anim calcmode="lin" valueType="num">
                                      <p:cBhvr additive="base">
                                        <p:cTn id="19" dur="500" fill="hold"/>
                                        <p:tgtEl>
                                          <p:spTgt spid="91141"/>
                                        </p:tgtEl>
                                        <p:attrNameLst>
                                          <p:attrName>ppt_x</p:attrName>
                                        </p:attrNameLst>
                                      </p:cBhvr>
                                      <p:tavLst>
                                        <p:tav tm="0">
                                          <p:val>
                                            <p:strVal val="0-#ppt_w/2"/>
                                          </p:val>
                                        </p:tav>
                                        <p:tav tm="100000">
                                          <p:val>
                                            <p:strVal val="#ppt_x"/>
                                          </p:val>
                                        </p:tav>
                                      </p:tavLst>
                                    </p:anim>
                                    <p:anim calcmode="lin" valueType="num">
                                      <p:cBhvr additive="base">
                                        <p:cTn id="20" dur="500" fill="hold"/>
                                        <p:tgtEl>
                                          <p:spTgt spid="911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1142"/>
                                        </p:tgtEl>
                                        <p:attrNameLst>
                                          <p:attrName>style.visibility</p:attrName>
                                        </p:attrNameLst>
                                      </p:cBhvr>
                                      <p:to>
                                        <p:strVal val="visible"/>
                                      </p:to>
                                    </p:set>
                                    <p:anim calcmode="lin" valueType="num">
                                      <p:cBhvr additive="base">
                                        <p:cTn id="25" dur="500" fill="hold"/>
                                        <p:tgtEl>
                                          <p:spTgt spid="91142"/>
                                        </p:tgtEl>
                                        <p:attrNameLst>
                                          <p:attrName>ppt_x</p:attrName>
                                        </p:attrNameLst>
                                      </p:cBhvr>
                                      <p:tavLst>
                                        <p:tav tm="0">
                                          <p:val>
                                            <p:strVal val="0-#ppt_w/2"/>
                                          </p:val>
                                        </p:tav>
                                        <p:tav tm="100000">
                                          <p:val>
                                            <p:strVal val="#ppt_x"/>
                                          </p:val>
                                        </p:tav>
                                      </p:tavLst>
                                    </p:anim>
                                    <p:anim calcmode="lin" valueType="num">
                                      <p:cBhvr additive="base">
                                        <p:cTn id="26" dur="500" fill="hold"/>
                                        <p:tgtEl>
                                          <p:spTgt spid="911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9" grpId="0" build="p" autoUpdateAnimBg="0"/>
      <p:bldP spid="91140" grpId="0" autoUpdateAnimBg="0"/>
      <p:bldP spid="91141" grpId="0" autoUpdateAnimBg="0"/>
      <p:bldP spid="9114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A310485-75E8-4928-89D6-47786483DA09}"/>
              </a:ext>
            </a:extLst>
          </p:cNvPr>
          <p:cNvSpPr>
            <a:spLocks noGrp="1" noChangeArrowheads="1"/>
          </p:cNvSpPr>
          <p:nvPr>
            <p:ph type="title"/>
          </p:nvPr>
        </p:nvSpPr>
        <p:spPr bwMode="auto">
          <a:xfrm>
            <a:off x="685800" y="3810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a:solidFill>
                  <a:schemeClr val="tx1"/>
                </a:solidFill>
                <a:latin typeface="黑体" panose="02010609060101010101" pitchFamily="49" charset="-122"/>
                <a:ea typeface="黑体" panose="02010609060101010101" pitchFamily="49" charset="-122"/>
              </a:rPr>
              <a:t>顶点着色与面着色</a:t>
            </a:r>
          </a:p>
        </p:txBody>
      </p:sp>
      <p:grpSp>
        <p:nvGrpSpPr>
          <p:cNvPr id="2" name="Group 27">
            <a:extLst>
              <a:ext uri="{FF2B5EF4-FFF2-40B4-BE49-F238E27FC236}">
                <a16:creationId xmlns:a16="http://schemas.microsoft.com/office/drawing/2014/main" id="{21360704-437E-47EF-B128-3189A973630E}"/>
              </a:ext>
            </a:extLst>
          </p:cNvPr>
          <p:cNvGrpSpPr>
            <a:grpSpLocks/>
          </p:cNvGrpSpPr>
          <p:nvPr/>
        </p:nvGrpSpPr>
        <p:grpSpPr bwMode="auto">
          <a:xfrm>
            <a:off x="1636713" y="1524000"/>
            <a:ext cx="2325687" cy="2528888"/>
            <a:chOff x="746" y="2007"/>
            <a:chExt cx="1465" cy="1593"/>
          </a:xfrm>
        </p:grpSpPr>
        <p:sp>
          <p:nvSpPr>
            <p:cNvPr id="64540" name="AutoShape 4">
              <a:extLst>
                <a:ext uri="{FF2B5EF4-FFF2-40B4-BE49-F238E27FC236}">
                  <a16:creationId xmlns:a16="http://schemas.microsoft.com/office/drawing/2014/main" id="{8FFCAC2C-6AD4-4598-AB10-2DA6DEF7ED2C}"/>
                </a:ext>
              </a:extLst>
            </p:cNvPr>
            <p:cNvSpPr>
              <a:spLocks noChangeArrowheads="1"/>
            </p:cNvSpPr>
            <p:nvPr/>
          </p:nvSpPr>
          <p:spPr bwMode="auto">
            <a:xfrm>
              <a:off x="816" y="2160"/>
              <a:ext cx="720" cy="576"/>
            </a:xfrm>
            <a:prstGeom prst="triangle">
              <a:avLst>
                <a:gd name="adj" fmla="val 50000"/>
              </a:avLst>
            </a:prstGeom>
            <a:solidFill>
              <a:srgbClr val="FF0000"/>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1" name="Rectangle 5">
              <a:extLst>
                <a:ext uri="{FF2B5EF4-FFF2-40B4-BE49-F238E27FC236}">
                  <a16:creationId xmlns:a16="http://schemas.microsoft.com/office/drawing/2014/main" id="{5085F661-7032-4181-AE96-7020FD0C04AF}"/>
                </a:ext>
              </a:extLst>
            </p:cNvPr>
            <p:cNvSpPr>
              <a:spLocks noChangeArrowheads="1"/>
            </p:cNvSpPr>
            <p:nvPr/>
          </p:nvSpPr>
          <p:spPr bwMode="auto">
            <a:xfrm rot="3540000">
              <a:off x="1191" y="2151"/>
              <a:ext cx="672" cy="384"/>
            </a:xfrm>
            <a:prstGeom prst="rect">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2" name="AutoShape 6">
              <a:extLst>
                <a:ext uri="{FF2B5EF4-FFF2-40B4-BE49-F238E27FC236}">
                  <a16:creationId xmlns:a16="http://schemas.microsoft.com/office/drawing/2014/main" id="{DC7725AE-692E-49B6-AF3A-9F62DCE70FA2}"/>
                </a:ext>
              </a:extLst>
            </p:cNvPr>
            <p:cNvSpPr>
              <a:spLocks noChangeArrowheads="1"/>
            </p:cNvSpPr>
            <p:nvPr/>
          </p:nvSpPr>
          <p:spPr bwMode="auto">
            <a:xfrm rot="10800000">
              <a:off x="816" y="2736"/>
              <a:ext cx="720" cy="480"/>
            </a:xfrm>
            <a:prstGeom prst="triangle">
              <a:avLst>
                <a:gd name="adj" fmla="val 15278"/>
              </a:avLst>
            </a:prstGeom>
            <a:solidFill>
              <a:srgbClr val="0000FF"/>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3" name="AutoShape 7">
              <a:extLst>
                <a:ext uri="{FF2B5EF4-FFF2-40B4-BE49-F238E27FC236}">
                  <a16:creationId xmlns:a16="http://schemas.microsoft.com/office/drawing/2014/main" id="{349A7BFD-5E06-40D8-8B0F-17244C6F7497}"/>
                </a:ext>
              </a:extLst>
            </p:cNvPr>
            <p:cNvSpPr>
              <a:spLocks noChangeArrowheads="1"/>
            </p:cNvSpPr>
            <p:nvPr/>
          </p:nvSpPr>
          <p:spPr bwMode="auto">
            <a:xfrm>
              <a:off x="1422" y="2736"/>
              <a:ext cx="528" cy="480"/>
            </a:xfrm>
            <a:prstGeom prst="triangle">
              <a:avLst>
                <a:gd name="adj" fmla="val 21782"/>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4" name="AutoShape 8">
              <a:extLst>
                <a:ext uri="{FF2B5EF4-FFF2-40B4-BE49-F238E27FC236}">
                  <a16:creationId xmlns:a16="http://schemas.microsoft.com/office/drawing/2014/main" id="{7E70929E-F293-4E1E-9572-F547F4730E7D}"/>
                </a:ext>
              </a:extLst>
            </p:cNvPr>
            <p:cNvSpPr>
              <a:spLocks noChangeArrowheads="1"/>
            </p:cNvSpPr>
            <p:nvPr/>
          </p:nvSpPr>
          <p:spPr bwMode="auto">
            <a:xfrm rot="5400000">
              <a:off x="696" y="2856"/>
              <a:ext cx="864" cy="624"/>
            </a:xfrm>
            <a:prstGeom prst="triangle">
              <a:avLst>
                <a:gd name="adj" fmla="val 57287"/>
              </a:avLst>
            </a:prstGeom>
            <a:solidFill>
              <a:schemeClr val="accent1"/>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5" name="AutoShape 9">
              <a:extLst>
                <a:ext uri="{FF2B5EF4-FFF2-40B4-BE49-F238E27FC236}">
                  <a16:creationId xmlns:a16="http://schemas.microsoft.com/office/drawing/2014/main" id="{1DF798C6-CA65-4C20-AACE-207415FFEB5C}"/>
                </a:ext>
              </a:extLst>
            </p:cNvPr>
            <p:cNvSpPr>
              <a:spLocks noChangeArrowheads="1"/>
            </p:cNvSpPr>
            <p:nvPr/>
          </p:nvSpPr>
          <p:spPr bwMode="auto">
            <a:xfrm rot="10800000">
              <a:off x="1539" y="2736"/>
              <a:ext cx="672" cy="480"/>
            </a:xfrm>
            <a:prstGeom prst="triangle">
              <a:avLst>
                <a:gd name="adj" fmla="val 40176"/>
              </a:avLst>
            </a:prstGeom>
            <a:solidFill>
              <a:srgbClr val="FF0000"/>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46" name="Text Box 17">
              <a:extLst>
                <a:ext uri="{FF2B5EF4-FFF2-40B4-BE49-F238E27FC236}">
                  <a16:creationId xmlns:a16="http://schemas.microsoft.com/office/drawing/2014/main" id="{B4E4B79D-0F43-4712-981F-035BF903501F}"/>
                </a:ext>
              </a:extLst>
            </p:cNvPr>
            <p:cNvSpPr txBox="1">
              <a:spLocks noChangeArrowheads="1"/>
            </p:cNvSpPr>
            <p:nvPr/>
          </p:nvSpPr>
          <p:spPr bwMode="auto">
            <a:xfrm>
              <a:off x="1344" y="2160"/>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7</a:t>
              </a:r>
            </a:p>
          </p:txBody>
        </p:sp>
        <p:sp>
          <p:nvSpPr>
            <p:cNvPr id="64547" name="Text Box 18">
              <a:extLst>
                <a:ext uri="{FF2B5EF4-FFF2-40B4-BE49-F238E27FC236}">
                  <a16:creationId xmlns:a16="http://schemas.microsoft.com/office/drawing/2014/main" id="{CBFCAD00-AE8A-4971-8690-03B855FB467C}"/>
                </a:ext>
              </a:extLst>
            </p:cNvPr>
            <p:cNvSpPr txBox="1">
              <a:spLocks noChangeArrowheads="1"/>
            </p:cNvSpPr>
            <p:nvPr/>
          </p:nvSpPr>
          <p:spPr bwMode="auto">
            <a:xfrm>
              <a:off x="1104" y="234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1</a:t>
              </a:r>
            </a:p>
          </p:txBody>
        </p:sp>
        <p:sp>
          <p:nvSpPr>
            <p:cNvPr id="64548" name="Text Box 20">
              <a:extLst>
                <a:ext uri="{FF2B5EF4-FFF2-40B4-BE49-F238E27FC236}">
                  <a16:creationId xmlns:a16="http://schemas.microsoft.com/office/drawing/2014/main" id="{01184E55-19C6-43E0-9365-99ACCDB572BF}"/>
                </a:ext>
              </a:extLst>
            </p:cNvPr>
            <p:cNvSpPr txBox="1">
              <a:spLocks noChangeArrowheads="1"/>
            </p:cNvSpPr>
            <p:nvPr/>
          </p:nvSpPr>
          <p:spPr bwMode="auto">
            <a:xfrm>
              <a:off x="1200" y="272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2</a:t>
              </a:r>
            </a:p>
          </p:txBody>
        </p:sp>
        <p:sp>
          <p:nvSpPr>
            <p:cNvPr id="64549" name="Text Box 22">
              <a:extLst>
                <a:ext uri="{FF2B5EF4-FFF2-40B4-BE49-F238E27FC236}">
                  <a16:creationId xmlns:a16="http://schemas.microsoft.com/office/drawing/2014/main" id="{446E5C9E-2D21-4582-9DC7-002E6C263E78}"/>
                </a:ext>
              </a:extLst>
            </p:cNvPr>
            <p:cNvSpPr txBox="1">
              <a:spLocks noChangeArrowheads="1"/>
            </p:cNvSpPr>
            <p:nvPr/>
          </p:nvSpPr>
          <p:spPr bwMode="auto">
            <a:xfrm>
              <a:off x="960" y="3014"/>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3</a:t>
              </a:r>
            </a:p>
          </p:txBody>
        </p:sp>
        <p:sp>
          <p:nvSpPr>
            <p:cNvPr id="64550" name="Text Box 23">
              <a:extLst>
                <a:ext uri="{FF2B5EF4-FFF2-40B4-BE49-F238E27FC236}">
                  <a16:creationId xmlns:a16="http://schemas.microsoft.com/office/drawing/2014/main" id="{BE00BBAB-5ABB-4575-8178-39F8C385FF75}"/>
                </a:ext>
              </a:extLst>
            </p:cNvPr>
            <p:cNvSpPr txBox="1">
              <a:spLocks noChangeArrowheads="1"/>
            </p:cNvSpPr>
            <p:nvPr/>
          </p:nvSpPr>
          <p:spPr bwMode="auto">
            <a:xfrm>
              <a:off x="1536" y="291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5</a:t>
              </a:r>
            </a:p>
          </p:txBody>
        </p:sp>
        <p:sp>
          <p:nvSpPr>
            <p:cNvPr id="64551" name="Text Box 24">
              <a:extLst>
                <a:ext uri="{FF2B5EF4-FFF2-40B4-BE49-F238E27FC236}">
                  <a16:creationId xmlns:a16="http://schemas.microsoft.com/office/drawing/2014/main" id="{15CEFE26-9B19-49A8-BC78-4AD70FDD10BB}"/>
                </a:ext>
              </a:extLst>
            </p:cNvPr>
            <p:cNvSpPr txBox="1">
              <a:spLocks noChangeArrowheads="1"/>
            </p:cNvSpPr>
            <p:nvPr/>
          </p:nvSpPr>
          <p:spPr bwMode="auto">
            <a:xfrm>
              <a:off x="1776" y="2774"/>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6</a:t>
              </a:r>
            </a:p>
          </p:txBody>
        </p:sp>
        <p:sp>
          <p:nvSpPr>
            <p:cNvPr id="64552" name="AutoShape 25">
              <a:extLst>
                <a:ext uri="{FF2B5EF4-FFF2-40B4-BE49-F238E27FC236}">
                  <a16:creationId xmlns:a16="http://schemas.microsoft.com/office/drawing/2014/main" id="{C8CDB305-1EBF-474C-9EBA-4961481C0C4D}"/>
                </a:ext>
              </a:extLst>
            </p:cNvPr>
            <p:cNvSpPr>
              <a:spLocks noChangeArrowheads="1"/>
            </p:cNvSpPr>
            <p:nvPr/>
          </p:nvSpPr>
          <p:spPr bwMode="auto">
            <a:xfrm rot="-1080000">
              <a:off x="746" y="3255"/>
              <a:ext cx="1220" cy="143"/>
            </a:xfrm>
            <a:prstGeom prst="triangle">
              <a:avLst>
                <a:gd name="adj" fmla="val 61148"/>
              </a:avLst>
            </a:prstGeom>
            <a:solidFill>
              <a:srgbClr val="FF6600"/>
            </a:solidFill>
            <a:ln w="9525">
              <a:solidFill>
                <a:schemeClr val="tx1"/>
              </a:solidFill>
              <a:miter lim="800000"/>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53" name="Text Box 26">
              <a:extLst>
                <a:ext uri="{FF2B5EF4-FFF2-40B4-BE49-F238E27FC236}">
                  <a16:creationId xmlns:a16="http://schemas.microsoft.com/office/drawing/2014/main" id="{5CBB3104-9A2C-4244-BCB2-F2577A98269B}"/>
                </a:ext>
              </a:extLst>
            </p:cNvPr>
            <p:cNvSpPr txBox="1">
              <a:spLocks noChangeArrowheads="1"/>
            </p:cNvSpPr>
            <p:nvPr/>
          </p:nvSpPr>
          <p:spPr bwMode="auto">
            <a:xfrm>
              <a:off x="1344" y="3216"/>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0" dirty="0">
                  <a:ea typeface="华文中宋" panose="02010600040101010101" pitchFamily="2" charset="-122"/>
                </a:rPr>
                <a:t>4</a:t>
              </a:r>
            </a:p>
          </p:txBody>
        </p:sp>
      </p:grpSp>
      <p:grpSp>
        <p:nvGrpSpPr>
          <p:cNvPr id="3" name="Group 43">
            <a:extLst>
              <a:ext uri="{FF2B5EF4-FFF2-40B4-BE49-F238E27FC236}">
                <a16:creationId xmlns:a16="http://schemas.microsoft.com/office/drawing/2014/main" id="{83756AC5-637D-48C7-95C2-73114F211C25}"/>
              </a:ext>
            </a:extLst>
          </p:cNvPr>
          <p:cNvGrpSpPr>
            <a:grpSpLocks/>
          </p:cNvGrpSpPr>
          <p:nvPr/>
        </p:nvGrpSpPr>
        <p:grpSpPr bwMode="auto">
          <a:xfrm>
            <a:off x="4800600" y="1447800"/>
            <a:ext cx="3124200" cy="2286000"/>
            <a:chOff x="3024" y="1584"/>
            <a:chExt cx="1968" cy="1440"/>
          </a:xfrm>
        </p:grpSpPr>
        <p:grpSp>
          <p:nvGrpSpPr>
            <p:cNvPr id="64518" name="Group 35">
              <a:extLst>
                <a:ext uri="{FF2B5EF4-FFF2-40B4-BE49-F238E27FC236}">
                  <a16:creationId xmlns:a16="http://schemas.microsoft.com/office/drawing/2014/main" id="{A6A8C72D-1D7C-4D2C-9D9A-E38FFC8603C2}"/>
                </a:ext>
              </a:extLst>
            </p:cNvPr>
            <p:cNvGrpSpPr>
              <a:grpSpLocks/>
            </p:cNvGrpSpPr>
            <p:nvPr/>
          </p:nvGrpSpPr>
          <p:grpSpPr bwMode="auto">
            <a:xfrm>
              <a:off x="3024" y="1584"/>
              <a:ext cx="1968" cy="1440"/>
              <a:chOff x="2544" y="1680"/>
              <a:chExt cx="1968" cy="1440"/>
            </a:xfrm>
          </p:grpSpPr>
          <p:sp>
            <p:nvSpPr>
              <p:cNvPr id="64526" name="Line 10">
                <a:extLst>
                  <a:ext uri="{FF2B5EF4-FFF2-40B4-BE49-F238E27FC236}">
                    <a16:creationId xmlns:a16="http://schemas.microsoft.com/office/drawing/2014/main" id="{DB78D758-921D-422D-BCE5-A1F5538D1224}"/>
                  </a:ext>
                </a:extLst>
              </p:cNvPr>
              <p:cNvSpPr>
                <a:spLocks noChangeShapeType="1"/>
              </p:cNvSpPr>
              <p:nvPr/>
            </p:nvSpPr>
            <p:spPr bwMode="auto">
              <a:xfrm flipV="1">
                <a:off x="3024" y="1920"/>
                <a:ext cx="576" cy="192"/>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27" name="Line 11">
                <a:extLst>
                  <a:ext uri="{FF2B5EF4-FFF2-40B4-BE49-F238E27FC236}">
                    <a16:creationId xmlns:a16="http://schemas.microsoft.com/office/drawing/2014/main" id="{49AC6551-7425-4489-A452-2DCED118ADBE}"/>
                  </a:ext>
                </a:extLst>
              </p:cNvPr>
              <p:cNvSpPr>
                <a:spLocks noChangeShapeType="1"/>
              </p:cNvSpPr>
              <p:nvPr/>
            </p:nvSpPr>
            <p:spPr bwMode="auto">
              <a:xfrm>
                <a:off x="3600" y="1920"/>
                <a:ext cx="624" cy="192"/>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28" name="Line 12">
                <a:extLst>
                  <a:ext uri="{FF2B5EF4-FFF2-40B4-BE49-F238E27FC236}">
                    <a16:creationId xmlns:a16="http://schemas.microsoft.com/office/drawing/2014/main" id="{947174B8-5BDC-4551-A4B0-4C6CFC16CC4F}"/>
                  </a:ext>
                </a:extLst>
              </p:cNvPr>
              <p:cNvSpPr>
                <a:spLocks noChangeShapeType="1"/>
              </p:cNvSpPr>
              <p:nvPr/>
            </p:nvSpPr>
            <p:spPr bwMode="auto">
              <a:xfrm flipV="1">
                <a:off x="2688" y="2112"/>
                <a:ext cx="336" cy="624"/>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29" name="Line 13">
                <a:extLst>
                  <a:ext uri="{FF2B5EF4-FFF2-40B4-BE49-F238E27FC236}">
                    <a16:creationId xmlns:a16="http://schemas.microsoft.com/office/drawing/2014/main" id="{C60646F5-AF3E-4AAC-83C4-433AE745DF36}"/>
                  </a:ext>
                </a:extLst>
              </p:cNvPr>
              <p:cNvSpPr>
                <a:spLocks noChangeShapeType="1"/>
              </p:cNvSpPr>
              <p:nvPr/>
            </p:nvSpPr>
            <p:spPr bwMode="auto">
              <a:xfrm>
                <a:off x="3024" y="2112"/>
                <a:ext cx="672" cy="240"/>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30" name="Line 14">
                <a:extLst>
                  <a:ext uri="{FF2B5EF4-FFF2-40B4-BE49-F238E27FC236}">
                    <a16:creationId xmlns:a16="http://schemas.microsoft.com/office/drawing/2014/main" id="{C0D6B488-A666-484E-AE72-913D31F980F5}"/>
                  </a:ext>
                </a:extLst>
              </p:cNvPr>
              <p:cNvSpPr>
                <a:spLocks noChangeShapeType="1"/>
              </p:cNvSpPr>
              <p:nvPr/>
            </p:nvSpPr>
            <p:spPr bwMode="auto">
              <a:xfrm>
                <a:off x="2688" y="2736"/>
                <a:ext cx="672" cy="144"/>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31" name="Line 15">
                <a:extLst>
                  <a:ext uri="{FF2B5EF4-FFF2-40B4-BE49-F238E27FC236}">
                    <a16:creationId xmlns:a16="http://schemas.microsoft.com/office/drawing/2014/main" id="{892CEF00-AF48-42E8-BC5F-80834375D6A7}"/>
                  </a:ext>
                </a:extLst>
              </p:cNvPr>
              <p:cNvSpPr>
                <a:spLocks noChangeShapeType="1"/>
              </p:cNvSpPr>
              <p:nvPr/>
            </p:nvSpPr>
            <p:spPr bwMode="auto">
              <a:xfrm flipV="1">
                <a:off x="3360" y="2352"/>
                <a:ext cx="336" cy="528"/>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32" name="Line 16">
                <a:extLst>
                  <a:ext uri="{FF2B5EF4-FFF2-40B4-BE49-F238E27FC236}">
                    <a16:creationId xmlns:a16="http://schemas.microsoft.com/office/drawing/2014/main" id="{AD6E65AB-AFC8-4C2F-A08F-28D147B6D9B0}"/>
                  </a:ext>
                </a:extLst>
              </p:cNvPr>
              <p:cNvSpPr>
                <a:spLocks noChangeShapeType="1"/>
              </p:cNvSpPr>
              <p:nvPr/>
            </p:nvSpPr>
            <p:spPr bwMode="auto">
              <a:xfrm>
                <a:off x="3696" y="2352"/>
                <a:ext cx="624" cy="288"/>
              </a:xfrm>
              <a:prstGeom prst="line">
                <a:avLst/>
              </a:prstGeom>
              <a:noFill/>
              <a:ln w="9525">
                <a:solidFill>
                  <a:schemeClr val="tx1"/>
                </a:solidFill>
                <a:round/>
                <a:headEnd type="oval" w="sm" len="sm"/>
                <a:tailEnd type="oval" w="sm" len="sm"/>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64533" name="Text Box 28">
                <a:extLst>
                  <a:ext uri="{FF2B5EF4-FFF2-40B4-BE49-F238E27FC236}">
                    <a16:creationId xmlns:a16="http://schemas.microsoft.com/office/drawing/2014/main" id="{6397214F-48BD-4480-AD83-0E8C698C85AC}"/>
                  </a:ext>
                </a:extLst>
              </p:cNvPr>
              <p:cNvSpPr txBox="1">
                <a:spLocks noChangeArrowheads="1"/>
              </p:cNvSpPr>
              <p:nvPr/>
            </p:nvSpPr>
            <p:spPr bwMode="auto">
              <a:xfrm>
                <a:off x="2544" y="268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3</a:t>
                </a:r>
              </a:p>
            </p:txBody>
          </p:sp>
          <p:sp>
            <p:nvSpPr>
              <p:cNvPr id="64534" name="Text Box 29">
                <a:extLst>
                  <a:ext uri="{FF2B5EF4-FFF2-40B4-BE49-F238E27FC236}">
                    <a16:creationId xmlns:a16="http://schemas.microsoft.com/office/drawing/2014/main" id="{6FAA0082-3EAA-4EB7-8DF1-8A585B1A5670}"/>
                  </a:ext>
                </a:extLst>
              </p:cNvPr>
              <p:cNvSpPr txBox="1">
                <a:spLocks noChangeArrowheads="1"/>
              </p:cNvSpPr>
              <p:nvPr/>
            </p:nvSpPr>
            <p:spPr bwMode="auto">
              <a:xfrm>
                <a:off x="3312" y="283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4</a:t>
                </a:r>
              </a:p>
            </p:txBody>
          </p:sp>
          <p:sp>
            <p:nvSpPr>
              <p:cNvPr id="64535" name="Text Box 30">
                <a:extLst>
                  <a:ext uri="{FF2B5EF4-FFF2-40B4-BE49-F238E27FC236}">
                    <a16:creationId xmlns:a16="http://schemas.microsoft.com/office/drawing/2014/main" id="{DC3CCDB0-E443-489E-AF98-BD02B97B8FD1}"/>
                  </a:ext>
                </a:extLst>
              </p:cNvPr>
              <p:cNvSpPr txBox="1">
                <a:spLocks noChangeArrowheads="1"/>
              </p:cNvSpPr>
              <p:nvPr/>
            </p:nvSpPr>
            <p:spPr bwMode="auto">
              <a:xfrm>
                <a:off x="2832" y="196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2</a:t>
                </a:r>
              </a:p>
            </p:txBody>
          </p:sp>
          <p:sp>
            <p:nvSpPr>
              <p:cNvPr id="64536" name="Text Box 31">
                <a:extLst>
                  <a:ext uri="{FF2B5EF4-FFF2-40B4-BE49-F238E27FC236}">
                    <a16:creationId xmlns:a16="http://schemas.microsoft.com/office/drawing/2014/main" id="{D72BA115-3B3D-4BC9-B41F-55ACF70130DA}"/>
                  </a:ext>
                </a:extLst>
              </p:cNvPr>
              <p:cNvSpPr txBox="1">
                <a:spLocks noChangeArrowheads="1"/>
              </p:cNvSpPr>
              <p:nvPr/>
            </p:nvSpPr>
            <p:spPr bwMode="auto">
              <a:xfrm>
                <a:off x="3504" y="1680"/>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1</a:t>
                </a:r>
              </a:p>
            </p:txBody>
          </p:sp>
          <p:sp>
            <p:nvSpPr>
              <p:cNvPr id="64537" name="Text Box 32">
                <a:extLst>
                  <a:ext uri="{FF2B5EF4-FFF2-40B4-BE49-F238E27FC236}">
                    <a16:creationId xmlns:a16="http://schemas.microsoft.com/office/drawing/2014/main" id="{51DE6EE8-1B1F-470A-934F-DE2D0096E844}"/>
                  </a:ext>
                </a:extLst>
              </p:cNvPr>
              <p:cNvSpPr txBox="1">
                <a:spLocks noChangeArrowheads="1"/>
              </p:cNvSpPr>
              <p:nvPr/>
            </p:nvSpPr>
            <p:spPr bwMode="auto">
              <a:xfrm>
                <a:off x="3648" y="23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5</a:t>
                </a:r>
              </a:p>
            </p:txBody>
          </p:sp>
          <p:sp>
            <p:nvSpPr>
              <p:cNvPr id="64538" name="Text Box 33">
                <a:extLst>
                  <a:ext uri="{FF2B5EF4-FFF2-40B4-BE49-F238E27FC236}">
                    <a16:creationId xmlns:a16="http://schemas.microsoft.com/office/drawing/2014/main" id="{3B5D0569-7FD7-4B3E-8335-61B86DA96088}"/>
                  </a:ext>
                </a:extLst>
              </p:cNvPr>
              <p:cNvSpPr txBox="1">
                <a:spLocks noChangeArrowheads="1"/>
              </p:cNvSpPr>
              <p:nvPr/>
            </p:nvSpPr>
            <p:spPr bwMode="auto">
              <a:xfrm>
                <a:off x="4224" y="259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6</a:t>
                </a:r>
              </a:p>
            </p:txBody>
          </p:sp>
          <p:sp>
            <p:nvSpPr>
              <p:cNvPr id="64539" name="Text Box 34">
                <a:extLst>
                  <a:ext uri="{FF2B5EF4-FFF2-40B4-BE49-F238E27FC236}">
                    <a16:creationId xmlns:a16="http://schemas.microsoft.com/office/drawing/2014/main" id="{910A0AF5-F198-4AEC-81F6-EA91829051C6}"/>
                  </a:ext>
                </a:extLst>
              </p:cNvPr>
              <p:cNvSpPr txBox="1">
                <a:spLocks noChangeArrowheads="1"/>
              </p:cNvSpPr>
              <p:nvPr/>
            </p:nvSpPr>
            <p:spPr bwMode="auto">
              <a:xfrm>
                <a:off x="4272" y="196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7</a:t>
                </a:r>
              </a:p>
            </p:txBody>
          </p:sp>
        </p:grpSp>
        <p:sp>
          <p:nvSpPr>
            <p:cNvPr id="64519" name="Oval 36">
              <a:extLst>
                <a:ext uri="{FF2B5EF4-FFF2-40B4-BE49-F238E27FC236}">
                  <a16:creationId xmlns:a16="http://schemas.microsoft.com/office/drawing/2014/main" id="{5D986AC7-BE5A-498A-A3A4-0DDA94BB5D84}"/>
                </a:ext>
              </a:extLst>
            </p:cNvPr>
            <p:cNvSpPr>
              <a:spLocks noChangeArrowheads="1"/>
            </p:cNvSpPr>
            <p:nvPr/>
          </p:nvSpPr>
          <p:spPr bwMode="auto">
            <a:xfrm>
              <a:off x="4695" y="1998"/>
              <a:ext cx="48" cy="48"/>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0" name="Oval 37">
              <a:extLst>
                <a:ext uri="{FF2B5EF4-FFF2-40B4-BE49-F238E27FC236}">
                  <a16:creationId xmlns:a16="http://schemas.microsoft.com/office/drawing/2014/main" id="{59460F7B-1142-4E1A-951D-1B5887686278}"/>
                </a:ext>
              </a:extLst>
            </p:cNvPr>
            <p:cNvSpPr>
              <a:spLocks noChangeArrowheads="1"/>
            </p:cNvSpPr>
            <p:nvPr/>
          </p:nvSpPr>
          <p:spPr bwMode="auto">
            <a:xfrm>
              <a:off x="4158" y="2238"/>
              <a:ext cx="48" cy="48"/>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1" name="Oval 38">
              <a:extLst>
                <a:ext uri="{FF2B5EF4-FFF2-40B4-BE49-F238E27FC236}">
                  <a16:creationId xmlns:a16="http://schemas.microsoft.com/office/drawing/2014/main" id="{7D84F5E4-A57C-4D29-B9DA-9016197E92FF}"/>
                </a:ext>
              </a:extLst>
            </p:cNvPr>
            <p:cNvSpPr>
              <a:spLocks noChangeArrowheads="1"/>
            </p:cNvSpPr>
            <p:nvPr/>
          </p:nvSpPr>
          <p:spPr bwMode="auto">
            <a:xfrm>
              <a:off x="3156" y="2601"/>
              <a:ext cx="48" cy="48"/>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2" name="Oval 39">
              <a:extLst>
                <a:ext uri="{FF2B5EF4-FFF2-40B4-BE49-F238E27FC236}">
                  <a16:creationId xmlns:a16="http://schemas.microsoft.com/office/drawing/2014/main" id="{25A110C1-BCB0-46BD-A9B8-CE820D93B5A4}"/>
                </a:ext>
              </a:extLst>
            </p:cNvPr>
            <p:cNvSpPr>
              <a:spLocks noChangeArrowheads="1"/>
            </p:cNvSpPr>
            <p:nvPr/>
          </p:nvSpPr>
          <p:spPr bwMode="auto">
            <a:xfrm>
              <a:off x="4062" y="1806"/>
              <a:ext cx="48" cy="48"/>
            </a:xfrm>
            <a:prstGeom prst="ellipse">
              <a:avLst/>
            </a:prstGeom>
            <a:solidFill>
              <a:srgbClr val="FF0000"/>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3" name="Oval 40">
              <a:extLst>
                <a:ext uri="{FF2B5EF4-FFF2-40B4-BE49-F238E27FC236}">
                  <a16:creationId xmlns:a16="http://schemas.microsoft.com/office/drawing/2014/main" id="{FDB2FACB-74F4-47C2-9A4B-0367580234C9}"/>
                </a:ext>
              </a:extLst>
            </p:cNvPr>
            <p:cNvSpPr>
              <a:spLocks noChangeArrowheads="1"/>
            </p:cNvSpPr>
            <p:nvPr/>
          </p:nvSpPr>
          <p:spPr bwMode="auto">
            <a:xfrm>
              <a:off x="4791" y="2523"/>
              <a:ext cx="48" cy="48"/>
            </a:xfrm>
            <a:prstGeom prst="ellipse">
              <a:avLst/>
            </a:prstGeom>
            <a:solidFill>
              <a:srgbClr val="FF0000"/>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4" name="Oval 41">
              <a:extLst>
                <a:ext uri="{FF2B5EF4-FFF2-40B4-BE49-F238E27FC236}">
                  <a16:creationId xmlns:a16="http://schemas.microsoft.com/office/drawing/2014/main" id="{2D73B1A9-2D7B-43B6-96F1-BB5C0475C7CD}"/>
                </a:ext>
              </a:extLst>
            </p:cNvPr>
            <p:cNvSpPr>
              <a:spLocks noChangeArrowheads="1"/>
            </p:cNvSpPr>
            <p:nvPr/>
          </p:nvSpPr>
          <p:spPr bwMode="auto">
            <a:xfrm>
              <a:off x="3819" y="2754"/>
              <a:ext cx="48" cy="48"/>
            </a:xfrm>
            <a:prstGeom prst="ellipse">
              <a:avLst/>
            </a:prstGeom>
            <a:solidFill>
              <a:srgbClr val="FF6600"/>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4525" name="Oval 42">
              <a:extLst>
                <a:ext uri="{FF2B5EF4-FFF2-40B4-BE49-F238E27FC236}">
                  <a16:creationId xmlns:a16="http://schemas.microsoft.com/office/drawing/2014/main" id="{EB378BFA-B4A6-49F5-8C73-50C134E33167}"/>
                </a:ext>
              </a:extLst>
            </p:cNvPr>
            <p:cNvSpPr>
              <a:spLocks noChangeArrowheads="1"/>
            </p:cNvSpPr>
            <p:nvPr/>
          </p:nvSpPr>
          <p:spPr bwMode="auto">
            <a:xfrm>
              <a:off x="3483" y="1986"/>
              <a:ext cx="48" cy="48"/>
            </a:xfrm>
            <a:prstGeom prst="ellipse">
              <a:avLst/>
            </a:prstGeom>
            <a:solidFill>
              <a:srgbClr val="0000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graphicFrame>
        <p:nvGraphicFramePr>
          <p:cNvPr id="92204" name="Object 44">
            <a:extLst>
              <a:ext uri="{FF2B5EF4-FFF2-40B4-BE49-F238E27FC236}">
                <a16:creationId xmlns:a16="http://schemas.microsoft.com/office/drawing/2014/main" id="{41D5EB6B-B77D-40D2-804A-3428E4130E02}"/>
              </a:ext>
            </a:extLst>
          </p:cNvPr>
          <p:cNvGraphicFramePr>
            <a:graphicFrameLocks noChangeAspect="1"/>
          </p:cNvGraphicFramePr>
          <p:nvPr/>
        </p:nvGraphicFramePr>
        <p:xfrm>
          <a:off x="2278063" y="4449763"/>
          <a:ext cx="5113337" cy="2179637"/>
        </p:xfrm>
        <a:graphic>
          <a:graphicData uri="http://schemas.openxmlformats.org/presentationml/2006/ole">
            <mc:AlternateContent xmlns:mc="http://schemas.openxmlformats.org/markup-compatibility/2006">
              <mc:Choice xmlns:v="urn:schemas-microsoft-com:vml" Requires="v">
                <p:oleObj name="位图图像" r:id="rId2" imgW="2457143" imgH="1047619" progId="Paint.Picture">
                  <p:embed/>
                </p:oleObj>
              </mc:Choice>
              <mc:Fallback>
                <p:oleObj name="位图图像" r:id="rId2" imgW="2457143" imgH="1047619" progId="Paint.Picture">
                  <p:embed/>
                  <p:pic>
                    <p:nvPicPr>
                      <p:cNvPr id="0" name="Object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063" y="4449763"/>
                        <a:ext cx="5113337" cy="217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2204"/>
                                        </p:tgtEl>
                                        <p:attrNameLst>
                                          <p:attrName>style.visibility</p:attrName>
                                        </p:attrNameLst>
                                      </p:cBhvr>
                                      <p:to>
                                        <p:strVal val="visible"/>
                                      </p:to>
                                    </p:set>
                                    <p:anim calcmode="lin" valueType="num">
                                      <p:cBhvr additive="base">
                                        <p:cTn id="19" dur="500" fill="hold"/>
                                        <p:tgtEl>
                                          <p:spTgt spid="92204"/>
                                        </p:tgtEl>
                                        <p:attrNameLst>
                                          <p:attrName>ppt_x</p:attrName>
                                        </p:attrNameLst>
                                      </p:cBhvr>
                                      <p:tavLst>
                                        <p:tav tm="0">
                                          <p:val>
                                            <p:strVal val="0-#ppt_w/2"/>
                                          </p:val>
                                        </p:tav>
                                        <p:tav tm="100000">
                                          <p:val>
                                            <p:strVal val="#ppt_x"/>
                                          </p:val>
                                        </p:tav>
                                      </p:tavLst>
                                    </p:anim>
                                    <p:anim calcmode="lin" valueType="num">
                                      <p:cBhvr additive="base">
                                        <p:cTn id="20" dur="500" fill="hold"/>
                                        <p:tgtEl>
                                          <p:spTgt spid="922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893967A4-8A2C-46DD-ADF0-A78089F9ABE9}"/>
              </a:ext>
            </a:extLst>
          </p:cNvPr>
          <p:cNvSpPr>
            <a:spLocks noGrp="1" noChangeArrowheads="1"/>
          </p:cNvSpPr>
          <p:nvPr>
            <p:ph type="title"/>
          </p:nvPr>
        </p:nvSpPr>
        <p:spPr bwMode="auto">
          <a:xfrm>
            <a:off x="685800" y="609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b="1">
                <a:solidFill>
                  <a:srgbClr val="FF0000"/>
                </a:solidFill>
                <a:effectLst>
                  <a:outerShdw blurRad="38100" dist="38100" dir="2700000" algn="tl">
                    <a:srgbClr val="C0C0C0"/>
                  </a:outerShdw>
                </a:effectLst>
                <a:ea typeface="黑体" pitchFamily="2" charset="-122"/>
              </a:rPr>
              <a:t>问题描述</a:t>
            </a:r>
            <a:endParaRPr kumimoji="0" lang="zh-CN" altLang="en-US" sz="4000">
              <a:solidFill>
                <a:schemeClr val="tx1"/>
              </a:solidFill>
              <a:latin typeface="黑体" pitchFamily="2" charset="-122"/>
              <a:ea typeface="黑体" pitchFamily="2" charset="-122"/>
            </a:endParaRPr>
          </a:p>
        </p:txBody>
      </p:sp>
      <p:sp>
        <p:nvSpPr>
          <p:cNvPr id="93187" name="Rectangle 3">
            <a:extLst>
              <a:ext uri="{FF2B5EF4-FFF2-40B4-BE49-F238E27FC236}">
                <a16:creationId xmlns:a16="http://schemas.microsoft.com/office/drawing/2014/main" id="{262D58D5-4C4F-4C57-90B9-9DC20A107415}"/>
              </a:ext>
            </a:extLst>
          </p:cNvPr>
          <p:cNvSpPr>
            <a:spLocks noGrp="1" noChangeArrowheads="1"/>
          </p:cNvSpPr>
          <p:nvPr>
            <p:ph type="body" idx="1"/>
          </p:nvPr>
        </p:nvSpPr>
        <p:spPr bwMode="auto">
          <a:xfrm>
            <a:off x="685800" y="1981200"/>
            <a:ext cx="7772400" cy="10668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en-US" sz="2800" b="1">
                <a:solidFill>
                  <a:srgbClr val="663300"/>
                </a:solidFill>
                <a:effectLst>
                  <a:outerShdw blurRad="38100" dist="38100" dir="2700000" algn="tl">
                    <a:srgbClr val="C0C0C0"/>
                  </a:outerShdw>
                </a:effectLst>
                <a:ea typeface="黑体" pitchFamily="2" charset="-122"/>
              </a:rPr>
              <a:t>图的</a:t>
            </a:r>
            <a:r>
              <a:rPr lang="en-US" altLang="en-US" sz="2800" b="1">
                <a:solidFill>
                  <a:srgbClr val="663300"/>
                </a:solidFill>
                <a:effectLst>
                  <a:outerShdw blurRad="38100" dist="38100" dir="2700000" algn="tl">
                    <a:srgbClr val="C0C0C0"/>
                  </a:outerShdw>
                </a:effectLst>
                <a:latin typeface="Arial" charset="0"/>
                <a:ea typeface="黑体" pitchFamily="2" charset="-122"/>
              </a:rPr>
              <a:t>m</a:t>
            </a:r>
            <a:r>
              <a:rPr lang="en-US" altLang="en-US" sz="2800" b="1">
                <a:solidFill>
                  <a:srgbClr val="663300"/>
                </a:solidFill>
                <a:effectLst>
                  <a:outerShdw blurRad="38100" dist="38100" dir="2700000" algn="tl">
                    <a:srgbClr val="C0C0C0"/>
                  </a:outerShdw>
                </a:effectLst>
                <a:ea typeface="黑体" pitchFamily="2" charset="-122"/>
              </a:rPr>
              <a:t>着色问题</a:t>
            </a:r>
            <a:r>
              <a:rPr kumimoji="0" lang="zh-CN" altLang="en-US" sz="2800">
                <a:latin typeface="黑体" pitchFamily="2" charset="-122"/>
                <a:ea typeface="黑体" pitchFamily="2" charset="-122"/>
              </a:rPr>
              <a:t>：是否有一种着色法使</a:t>
            </a:r>
            <a:r>
              <a:rPr kumimoji="0" lang="en-US" altLang="zh-CN" sz="2800">
                <a:latin typeface="黑体" pitchFamily="2" charset="-122"/>
                <a:ea typeface="黑体" pitchFamily="2" charset="-122"/>
              </a:rPr>
              <a:t>G</a:t>
            </a:r>
            <a:r>
              <a:rPr kumimoji="0" lang="zh-CN" altLang="en-US" sz="2800">
                <a:latin typeface="黑体" pitchFamily="2" charset="-122"/>
                <a:ea typeface="黑体" pitchFamily="2" charset="-122"/>
              </a:rPr>
              <a:t>中每条边的</a:t>
            </a:r>
            <a:r>
              <a:rPr kumimoji="0" lang="en-US" altLang="zh-CN" sz="2800">
                <a:latin typeface="黑体" pitchFamily="2" charset="-122"/>
                <a:ea typeface="黑体" pitchFamily="2" charset="-122"/>
              </a:rPr>
              <a:t>2</a:t>
            </a:r>
            <a:r>
              <a:rPr kumimoji="0" lang="zh-CN" altLang="en-US" sz="2800">
                <a:latin typeface="黑体" pitchFamily="2" charset="-122"/>
                <a:ea typeface="黑体" pitchFamily="2" charset="-122"/>
              </a:rPr>
              <a:t>个顶点着不同颜色。</a:t>
            </a:r>
          </a:p>
        </p:txBody>
      </p:sp>
      <p:sp>
        <p:nvSpPr>
          <p:cNvPr id="93188" name="Rectangle 4">
            <a:extLst>
              <a:ext uri="{FF2B5EF4-FFF2-40B4-BE49-F238E27FC236}">
                <a16:creationId xmlns:a16="http://schemas.microsoft.com/office/drawing/2014/main" id="{CCC3945B-FE82-45C0-AF00-358358908805}"/>
              </a:ext>
            </a:extLst>
          </p:cNvPr>
          <p:cNvSpPr>
            <a:spLocks noChangeArrowheads="1"/>
          </p:cNvSpPr>
          <p:nvPr/>
        </p:nvSpPr>
        <p:spPr bwMode="auto">
          <a:xfrm>
            <a:off x="685800" y="3200400"/>
            <a:ext cx="7772400" cy="1066800"/>
          </a:xfrm>
          <a:prstGeom prst="rect">
            <a:avLst/>
          </a:prstGeom>
          <a:noFill/>
          <a:ln w="9525">
            <a:noFill/>
            <a:miter lim="800000"/>
            <a:headEnd/>
            <a:tailEnd/>
          </a:ln>
          <a:effectLst/>
        </p:spPr>
        <p:txBody>
          <a:bodyPr/>
          <a:lstStyle/>
          <a:p>
            <a:pPr marL="342900" indent="-342900" eaLnBrk="1" hangingPunct="1">
              <a:spcBef>
                <a:spcPct val="20000"/>
              </a:spcBef>
              <a:buFontTx/>
              <a:buChar char="•"/>
              <a:defRPr/>
            </a:pPr>
            <a:r>
              <a:rPr lang="en-US" altLang="en-US" sz="2800">
                <a:solidFill>
                  <a:srgbClr val="663300"/>
                </a:solidFill>
                <a:effectLst>
                  <a:outerShdw blurRad="38100" dist="38100" dir="2700000" algn="tl">
                    <a:srgbClr val="C0C0C0"/>
                  </a:outerShdw>
                </a:effectLst>
                <a:ea typeface="黑体" pitchFamily="2" charset="-122"/>
              </a:rPr>
              <a:t>图的</a:t>
            </a:r>
            <a:r>
              <a:rPr lang="zh-CN" altLang="en-US" sz="2800">
                <a:solidFill>
                  <a:srgbClr val="663300"/>
                </a:solidFill>
                <a:effectLst>
                  <a:outerShdw blurRad="38100" dist="38100" dir="2700000" algn="tl">
                    <a:srgbClr val="C0C0C0"/>
                  </a:outerShdw>
                </a:effectLst>
                <a:ea typeface="黑体" pitchFamily="2" charset="-122"/>
              </a:rPr>
              <a:t> </a:t>
            </a:r>
            <a:r>
              <a:rPr lang="en-US" altLang="zh-CN" sz="2800">
                <a:solidFill>
                  <a:srgbClr val="663300"/>
                </a:solidFill>
                <a:effectLst>
                  <a:outerShdw blurRad="38100" dist="38100" dir="2700000" algn="tl">
                    <a:srgbClr val="C0C0C0"/>
                  </a:outerShdw>
                </a:effectLst>
                <a:ea typeface="黑体" pitchFamily="2" charset="-122"/>
              </a:rPr>
              <a:t>m</a:t>
            </a:r>
            <a:r>
              <a:rPr lang="zh-CN" altLang="en-US" sz="2800">
                <a:solidFill>
                  <a:srgbClr val="663300"/>
                </a:solidFill>
                <a:effectLst>
                  <a:outerShdw blurRad="38100" dist="38100" dir="2700000" algn="tl">
                    <a:srgbClr val="C0C0C0"/>
                  </a:outerShdw>
                </a:effectLst>
                <a:ea typeface="黑体" pitchFamily="2" charset="-122"/>
              </a:rPr>
              <a:t>可着色优化问题</a:t>
            </a:r>
            <a:r>
              <a:rPr kumimoji="0" lang="zh-CN" altLang="en-US" sz="2800" b="0">
                <a:latin typeface="黑体" pitchFamily="2" charset="-122"/>
                <a:ea typeface="黑体" pitchFamily="2" charset="-122"/>
              </a:rPr>
              <a:t>：求一个图的色数</a:t>
            </a:r>
            <a:r>
              <a:rPr kumimoji="0" lang="en-US" altLang="zh-CN" sz="2800" b="0">
                <a:latin typeface="黑体" pitchFamily="2" charset="-122"/>
                <a:ea typeface="黑体" pitchFamily="2" charset="-122"/>
              </a:rPr>
              <a:t>m</a:t>
            </a:r>
            <a:r>
              <a:rPr kumimoji="0" lang="zh-CN" altLang="en-US" sz="2800" b="0">
                <a:latin typeface="黑体" pitchFamily="2" charset="-122"/>
                <a:ea typeface="黑体" pitchFamily="2" charset="-122"/>
              </a:rPr>
              <a:t>的问题称为图的</a:t>
            </a:r>
            <a:r>
              <a:rPr kumimoji="0" lang="en-US" altLang="zh-CN" sz="2800" b="0">
                <a:latin typeface="黑体" pitchFamily="2" charset="-122"/>
                <a:ea typeface="黑体" pitchFamily="2" charset="-122"/>
              </a:rPr>
              <a:t>m</a:t>
            </a:r>
            <a:r>
              <a:rPr kumimoji="0" lang="zh-CN" altLang="en-US" sz="2800" b="0">
                <a:latin typeface="黑体" pitchFamily="2" charset="-122"/>
                <a:ea typeface="黑体" pitchFamily="2" charset="-122"/>
              </a:rPr>
              <a:t>可着色优化问题。</a:t>
            </a:r>
          </a:p>
        </p:txBody>
      </p:sp>
      <p:sp>
        <p:nvSpPr>
          <p:cNvPr id="93189" name="Rectangle 5">
            <a:extLst>
              <a:ext uri="{FF2B5EF4-FFF2-40B4-BE49-F238E27FC236}">
                <a16:creationId xmlns:a16="http://schemas.microsoft.com/office/drawing/2014/main" id="{0A7C8806-DD34-4621-9717-FBC0B46E51BC}"/>
              </a:ext>
            </a:extLst>
          </p:cNvPr>
          <p:cNvSpPr>
            <a:spLocks noChangeArrowheads="1"/>
          </p:cNvSpPr>
          <p:nvPr/>
        </p:nvSpPr>
        <p:spPr bwMode="auto">
          <a:xfrm>
            <a:off x="685800" y="4724400"/>
            <a:ext cx="7772400" cy="1066800"/>
          </a:xfrm>
          <a:prstGeom prst="rect">
            <a:avLst/>
          </a:prstGeom>
          <a:noFill/>
          <a:ln w="9525">
            <a:noFill/>
            <a:miter lim="800000"/>
            <a:headEnd/>
            <a:tailEnd/>
          </a:ln>
          <a:effectLst/>
        </p:spPr>
        <p:txBody>
          <a:bodyPr/>
          <a:lstStyle/>
          <a:p>
            <a:pPr marL="342900" indent="-342900" eaLnBrk="1" hangingPunct="1">
              <a:spcBef>
                <a:spcPct val="20000"/>
              </a:spcBef>
              <a:buFontTx/>
              <a:buChar char="•"/>
              <a:defRPr/>
            </a:pPr>
            <a:r>
              <a:rPr lang="en-US" altLang="en-US" sz="2800">
                <a:solidFill>
                  <a:srgbClr val="663300"/>
                </a:solidFill>
                <a:effectLst>
                  <a:outerShdw blurRad="38100" dist="38100" dir="2700000" algn="tl">
                    <a:srgbClr val="C0C0C0"/>
                  </a:outerShdw>
                </a:effectLst>
                <a:ea typeface="黑体" pitchFamily="2" charset="-122"/>
              </a:rPr>
              <a:t>图的</a:t>
            </a:r>
            <a:r>
              <a:rPr lang="zh-CN" altLang="en-US" sz="2800">
                <a:solidFill>
                  <a:srgbClr val="663300"/>
                </a:solidFill>
                <a:effectLst>
                  <a:outerShdw blurRad="38100" dist="38100" dir="2700000" algn="tl">
                    <a:srgbClr val="C0C0C0"/>
                  </a:outerShdw>
                </a:effectLst>
                <a:ea typeface="黑体" pitchFamily="2" charset="-122"/>
              </a:rPr>
              <a:t>四色问题</a:t>
            </a:r>
            <a:r>
              <a:rPr kumimoji="0" lang="zh-CN" altLang="en-US" sz="2800" b="0">
                <a:latin typeface="黑体" pitchFamily="2" charset="-122"/>
                <a:ea typeface="黑体" pitchFamily="2" charset="-122"/>
              </a:rPr>
              <a:t>：用至多四种颜色可对一个图进行面着色。（</a:t>
            </a:r>
            <a:r>
              <a:rPr kumimoji="0" lang="en-US" altLang="zh-CN" sz="2800" b="0">
                <a:latin typeface="黑体" pitchFamily="2" charset="-122"/>
                <a:ea typeface="黑体" pitchFamily="2" charset="-122"/>
              </a:rPr>
              <a:t>1976</a:t>
            </a:r>
            <a:r>
              <a:rPr kumimoji="0" lang="zh-CN" altLang="en-US" sz="2800" b="0">
                <a:latin typeface="黑体" pitchFamily="2" charset="-122"/>
                <a:ea typeface="黑体" pitchFamily="2" charset="-122"/>
              </a:rPr>
              <a:t>年解决）</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E84D9E07-23D4-4C0E-ADAE-32508059EF7A}"/>
              </a:ext>
            </a:extLst>
          </p:cNvPr>
          <p:cNvSpPr>
            <a:spLocks noGrp="1" noChangeArrowheads="1"/>
          </p:cNvSpPr>
          <p:nvPr>
            <p:ph type="title"/>
          </p:nvPr>
        </p:nvSpPr>
        <p:spPr bwMode="auto">
          <a:xfrm>
            <a:off x="762000" y="152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a:latin typeface="黑体" panose="02010609060101010101" pitchFamily="49" charset="-122"/>
                <a:ea typeface="黑体" panose="02010609060101010101" pitchFamily="49" charset="-122"/>
              </a:rPr>
              <a:t>算法分析</a:t>
            </a:r>
          </a:p>
        </p:txBody>
      </p:sp>
      <p:sp>
        <p:nvSpPr>
          <p:cNvPr id="95235" name="Rectangle 3">
            <a:extLst>
              <a:ext uri="{FF2B5EF4-FFF2-40B4-BE49-F238E27FC236}">
                <a16:creationId xmlns:a16="http://schemas.microsoft.com/office/drawing/2014/main" id="{5671CD2F-6213-42B9-975A-7AC49B751D76}"/>
              </a:ext>
            </a:extLst>
          </p:cNvPr>
          <p:cNvSpPr>
            <a:spLocks noGrp="1" noChangeArrowheads="1"/>
          </p:cNvSpPr>
          <p:nvPr>
            <p:ph type="body" idx="1"/>
          </p:nvPr>
        </p:nvSpPr>
        <p:spPr bwMode="auto">
          <a:xfrm>
            <a:off x="609600" y="914400"/>
            <a:ext cx="8138864"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Clr>
                <a:schemeClr val="accent2"/>
              </a:buClr>
            </a:pPr>
            <a:r>
              <a:rPr kumimoji="0" lang="zh-CN" altLang="en-US" sz="2400" b="1" dirty="0"/>
              <a:t>解向量：</a:t>
            </a:r>
            <a:r>
              <a:rPr kumimoji="0" lang="en-US" altLang="zh-CN" sz="2400" b="1" dirty="0"/>
              <a:t>(x</a:t>
            </a:r>
            <a:r>
              <a:rPr kumimoji="0" lang="en-US" altLang="zh-CN" sz="2400" b="1" baseline="-25000" dirty="0"/>
              <a:t>1</a:t>
            </a:r>
            <a:r>
              <a:rPr kumimoji="0" lang="en-US" altLang="zh-CN" sz="2400" b="1" dirty="0"/>
              <a:t>, x</a:t>
            </a:r>
            <a:r>
              <a:rPr kumimoji="0" lang="en-US" altLang="zh-CN" sz="2400" b="1" baseline="-25000" dirty="0"/>
              <a:t>2</a:t>
            </a:r>
            <a:r>
              <a:rPr kumimoji="0" lang="en-US" altLang="zh-CN" sz="2400" b="1" dirty="0"/>
              <a:t>, … , </a:t>
            </a:r>
            <a:r>
              <a:rPr kumimoji="0" lang="en-US" altLang="zh-CN" sz="2400" b="1" dirty="0" err="1"/>
              <a:t>x</a:t>
            </a:r>
            <a:r>
              <a:rPr kumimoji="0" lang="en-US" altLang="zh-CN" sz="2400" b="1" baseline="-25000" dirty="0" err="1"/>
              <a:t>n</a:t>
            </a:r>
            <a:r>
              <a:rPr kumimoji="0" lang="en-US" altLang="zh-CN" sz="2400" b="1" dirty="0"/>
              <a:t>)</a:t>
            </a:r>
            <a:r>
              <a:rPr kumimoji="0" lang="zh-CN" altLang="en-US" sz="2400" b="1" dirty="0"/>
              <a:t>表示顶点</a:t>
            </a:r>
            <a:r>
              <a:rPr kumimoji="0" lang="en-US" altLang="zh-CN" sz="2400" b="1" dirty="0" err="1"/>
              <a:t>i</a:t>
            </a:r>
            <a:r>
              <a:rPr kumimoji="0" lang="zh-CN" altLang="en-US" sz="2400" b="1" dirty="0"/>
              <a:t>所着颜色</a:t>
            </a:r>
            <a:r>
              <a:rPr kumimoji="0" lang="en-US" altLang="zh-CN" sz="2400" b="1" dirty="0"/>
              <a:t>x[</a:t>
            </a:r>
            <a:r>
              <a:rPr kumimoji="0" lang="en-US" altLang="zh-CN" sz="2400" b="1" dirty="0" err="1"/>
              <a:t>i</a:t>
            </a:r>
            <a:r>
              <a:rPr kumimoji="0" lang="en-US" altLang="zh-CN" sz="2400" b="1" dirty="0"/>
              <a:t>] </a:t>
            </a:r>
          </a:p>
          <a:p>
            <a:pPr eaLnBrk="1" hangingPunct="1">
              <a:spcBef>
                <a:spcPct val="0"/>
              </a:spcBef>
              <a:buClr>
                <a:schemeClr val="accent2"/>
              </a:buClr>
            </a:pPr>
            <a:r>
              <a:rPr kumimoji="0" lang="zh-CN" altLang="en-US" sz="2400" b="1" dirty="0"/>
              <a:t>可行性约束函数：顶点</a:t>
            </a:r>
            <a:r>
              <a:rPr kumimoji="0" lang="en-US" altLang="zh-CN" sz="2400" b="1" dirty="0" err="1"/>
              <a:t>i</a:t>
            </a:r>
            <a:r>
              <a:rPr kumimoji="0" lang="zh-CN" altLang="zh-CN" sz="2400" b="1" dirty="0"/>
              <a:t>与已着色的相邻顶点颜色不重复。</a:t>
            </a:r>
            <a:endParaRPr kumimoji="0" lang="zh-CN" altLang="en-US" sz="2400" b="1" dirty="0"/>
          </a:p>
        </p:txBody>
      </p:sp>
      <p:sp>
        <p:nvSpPr>
          <p:cNvPr id="95236" name="Text Box 4">
            <a:extLst>
              <a:ext uri="{FF2B5EF4-FFF2-40B4-BE49-F238E27FC236}">
                <a16:creationId xmlns:a16="http://schemas.microsoft.com/office/drawing/2014/main" id="{9AB7E640-6F90-44B1-9536-6BD3A27BBB22}"/>
              </a:ext>
            </a:extLst>
          </p:cNvPr>
          <p:cNvSpPr txBox="1">
            <a:spLocks noChangeArrowheads="1"/>
          </p:cNvSpPr>
          <p:nvPr/>
        </p:nvSpPr>
        <p:spPr bwMode="auto">
          <a:xfrm>
            <a:off x="681038" y="3756025"/>
            <a:ext cx="3814762" cy="2873375"/>
          </a:xfrm>
          <a:prstGeom prst="rect">
            <a:avLst/>
          </a:prstGeom>
          <a:noFill/>
          <a:ln w="38100" algn="ctr">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000" dirty="0">
                <a:ea typeface="华文中宋" panose="02010600040101010101" pitchFamily="2" charset="-122"/>
              </a:rPr>
              <a:t>void backtrack(int t)</a:t>
            </a:r>
          </a:p>
          <a:p>
            <a:pPr eaLnBrk="1" hangingPunct="1"/>
            <a:r>
              <a:rPr kumimoji="0" lang="en-US" altLang="zh-CN" sz="2000" dirty="0">
                <a:ea typeface="华文中宋" panose="02010600040101010101" pitchFamily="2" charset="-122"/>
              </a:rPr>
              <a:t>   {</a:t>
            </a:r>
          </a:p>
          <a:p>
            <a:pPr eaLnBrk="1" hangingPunct="1"/>
            <a:r>
              <a:rPr kumimoji="0" lang="en-US" altLang="zh-CN" sz="2000" dirty="0">
                <a:ea typeface="华文中宋" panose="02010600040101010101" pitchFamily="2" charset="-122"/>
              </a:rPr>
              <a:t>      if (t&gt;n) {sum++;</a:t>
            </a:r>
            <a:r>
              <a:rPr kumimoji="0" lang="zh-CN" altLang="en-US" sz="2000" dirty="0">
                <a:ea typeface="华文中宋" panose="02010600040101010101" pitchFamily="2" charset="-122"/>
              </a:rPr>
              <a:t>输出解</a:t>
            </a:r>
            <a:r>
              <a:rPr kumimoji="0" lang="en-US" altLang="zh-CN" sz="2000" dirty="0">
                <a:ea typeface="华文中宋" panose="02010600040101010101" pitchFamily="2" charset="-122"/>
              </a:rPr>
              <a:t>}</a:t>
            </a:r>
          </a:p>
          <a:p>
            <a:pPr eaLnBrk="1" hangingPunct="1"/>
            <a:r>
              <a:rPr kumimoji="0" lang="en-US" altLang="zh-CN" sz="2000" dirty="0">
                <a:ea typeface="华文中宋" panose="02010600040101010101" pitchFamily="2" charset="-122"/>
              </a:rPr>
              <a:t>      else</a:t>
            </a:r>
          </a:p>
          <a:p>
            <a:pPr eaLnBrk="1" hangingPunct="1"/>
            <a:r>
              <a:rPr kumimoji="0" lang="en-US" altLang="zh-CN" sz="2000" dirty="0">
                <a:ea typeface="华文中宋" panose="02010600040101010101" pitchFamily="2" charset="-122"/>
              </a:rPr>
              <a:t>        for (int </a:t>
            </a:r>
            <a:r>
              <a:rPr kumimoji="0" lang="en-US" altLang="zh-CN" sz="2000" dirty="0" err="1">
                <a:ea typeface="华文中宋" panose="02010600040101010101" pitchFamily="2" charset="-122"/>
              </a:rPr>
              <a:t>i</a:t>
            </a:r>
            <a:r>
              <a:rPr kumimoji="0" lang="en-US" altLang="zh-CN" sz="2000" dirty="0">
                <a:ea typeface="华文中宋" panose="02010600040101010101" pitchFamily="2" charset="-122"/>
              </a:rPr>
              <a:t>=1;i&lt;=</a:t>
            </a:r>
            <a:r>
              <a:rPr kumimoji="0" lang="en-US" altLang="zh-CN" sz="2000" dirty="0" err="1">
                <a:ea typeface="华文中宋" panose="02010600040101010101" pitchFamily="2" charset="-122"/>
              </a:rPr>
              <a:t>m;i</a:t>
            </a:r>
            <a:r>
              <a:rPr kumimoji="0" lang="en-US" altLang="zh-CN" sz="2000" dirty="0">
                <a:ea typeface="华文中宋" panose="02010600040101010101" pitchFamily="2" charset="-122"/>
              </a:rPr>
              <a:t>++) {</a:t>
            </a:r>
          </a:p>
          <a:p>
            <a:pPr eaLnBrk="1" hangingPunct="1"/>
            <a:r>
              <a:rPr kumimoji="0" lang="en-US" altLang="zh-CN" sz="2000" dirty="0">
                <a:ea typeface="华文中宋" panose="02010600040101010101" pitchFamily="2" charset="-122"/>
              </a:rPr>
              <a:t>          x[t]=</a:t>
            </a:r>
            <a:r>
              <a:rPr kumimoji="0" lang="en-US" altLang="zh-CN" sz="2000" dirty="0" err="1">
                <a:ea typeface="华文中宋" panose="02010600040101010101" pitchFamily="2" charset="-122"/>
              </a:rPr>
              <a:t>i</a:t>
            </a:r>
            <a:r>
              <a:rPr kumimoji="0" lang="en-US" altLang="zh-CN" sz="2000" dirty="0">
                <a:ea typeface="华文中宋" panose="02010600040101010101" pitchFamily="2" charset="-122"/>
              </a:rPr>
              <a:t>;</a:t>
            </a:r>
          </a:p>
          <a:p>
            <a:pPr eaLnBrk="1" hangingPunct="1"/>
            <a:r>
              <a:rPr kumimoji="0" lang="en-US" altLang="zh-CN" sz="2000" dirty="0">
                <a:ea typeface="华文中宋" panose="02010600040101010101" pitchFamily="2" charset="-122"/>
              </a:rPr>
              <a:t>          if (ok(t)) backtrack(t+1);</a:t>
            </a:r>
          </a:p>
          <a:p>
            <a:pPr eaLnBrk="1" hangingPunct="1"/>
            <a:r>
              <a:rPr kumimoji="0" lang="en-US" altLang="zh-CN" sz="2000" dirty="0">
                <a:ea typeface="华文中宋" panose="02010600040101010101" pitchFamily="2" charset="-122"/>
              </a:rPr>
              <a:t>          }</a:t>
            </a:r>
          </a:p>
          <a:p>
            <a:pPr eaLnBrk="1" hangingPunct="1"/>
            <a:r>
              <a:rPr kumimoji="0" lang="en-US" altLang="zh-CN" sz="2000" dirty="0">
                <a:ea typeface="华文中宋" panose="02010600040101010101" pitchFamily="2" charset="-122"/>
              </a:rPr>
              <a:t>   }</a:t>
            </a:r>
          </a:p>
        </p:txBody>
      </p:sp>
      <p:sp>
        <p:nvSpPr>
          <p:cNvPr id="95237" name="Rectangle 5">
            <a:extLst>
              <a:ext uri="{FF2B5EF4-FFF2-40B4-BE49-F238E27FC236}">
                <a16:creationId xmlns:a16="http://schemas.microsoft.com/office/drawing/2014/main" id="{E3CEDA3A-3E29-4C8D-AB21-9E96FDCE6760}"/>
              </a:ext>
            </a:extLst>
          </p:cNvPr>
          <p:cNvSpPr>
            <a:spLocks noChangeArrowheads="1"/>
          </p:cNvSpPr>
          <p:nvPr/>
        </p:nvSpPr>
        <p:spPr bwMode="auto">
          <a:xfrm>
            <a:off x="609600" y="1752600"/>
            <a:ext cx="7848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Tx/>
              <a:buChar char="•"/>
            </a:pPr>
            <a:r>
              <a:rPr kumimoji="0" lang="en-US" altLang="zh-CN" dirty="0">
                <a:ea typeface="华文中宋" panose="02010600040101010101" pitchFamily="2" charset="-122"/>
              </a:rPr>
              <a:t>n</a:t>
            </a:r>
            <a:r>
              <a:rPr kumimoji="0" lang="zh-CN" altLang="en-US" dirty="0">
                <a:ea typeface="华文中宋" panose="02010600040101010101" pitchFamily="2" charset="-122"/>
              </a:rPr>
              <a:t>：图的顶点数</a:t>
            </a:r>
          </a:p>
          <a:p>
            <a:pPr eaLnBrk="1" hangingPunct="1">
              <a:buClr>
                <a:schemeClr val="accent2"/>
              </a:buClr>
              <a:buFontTx/>
              <a:buChar char="•"/>
            </a:pPr>
            <a:r>
              <a:rPr kumimoji="0" lang="en-US" altLang="zh-CN" dirty="0">
                <a:ea typeface="华文中宋" panose="02010600040101010101" pitchFamily="2" charset="-122"/>
              </a:rPr>
              <a:t>m</a:t>
            </a:r>
            <a:r>
              <a:rPr kumimoji="0" lang="zh-CN" altLang="en-US" dirty="0">
                <a:ea typeface="华文中宋" panose="02010600040101010101" pitchFamily="2" charset="-122"/>
              </a:rPr>
              <a:t>：可用颜色数</a:t>
            </a:r>
          </a:p>
          <a:p>
            <a:pPr eaLnBrk="1" hangingPunct="1">
              <a:buClr>
                <a:schemeClr val="accent2"/>
              </a:buClr>
              <a:buFontTx/>
              <a:buChar char="•"/>
            </a:pPr>
            <a:r>
              <a:rPr kumimoji="0" lang="en-US" altLang="zh-CN" dirty="0">
                <a:ea typeface="华文中宋" panose="02010600040101010101" pitchFamily="2" charset="-122"/>
              </a:rPr>
              <a:t>x</a:t>
            </a:r>
            <a:r>
              <a:rPr kumimoji="0" lang="zh-CN" altLang="en-US" dirty="0">
                <a:ea typeface="华文中宋" panose="02010600040101010101" pitchFamily="2" charset="-122"/>
              </a:rPr>
              <a:t>：当前解</a:t>
            </a:r>
          </a:p>
          <a:p>
            <a:pPr eaLnBrk="1" hangingPunct="1">
              <a:buClr>
                <a:schemeClr val="accent2"/>
              </a:buClr>
              <a:buFontTx/>
              <a:buChar char="•"/>
            </a:pPr>
            <a:r>
              <a:rPr kumimoji="0" lang="en-US" altLang="zh-CN" dirty="0">
                <a:ea typeface="华文中宋" panose="02010600040101010101" pitchFamily="2" charset="-122"/>
              </a:rPr>
              <a:t>sum</a:t>
            </a:r>
            <a:r>
              <a:rPr kumimoji="0" lang="zh-CN" altLang="en-US" dirty="0">
                <a:ea typeface="华文中宋" panose="02010600040101010101" pitchFamily="2" charset="-122"/>
              </a:rPr>
              <a:t>：当前已找到的可</a:t>
            </a:r>
            <a:r>
              <a:rPr kumimoji="0" lang="en-US" altLang="zh-CN" dirty="0">
                <a:ea typeface="华文中宋" panose="02010600040101010101" pitchFamily="2" charset="-122"/>
              </a:rPr>
              <a:t>m</a:t>
            </a:r>
            <a:r>
              <a:rPr kumimoji="0" lang="zh-CN" altLang="en-US" dirty="0">
                <a:ea typeface="华文中宋" panose="02010600040101010101" pitchFamily="2" charset="-122"/>
              </a:rPr>
              <a:t>着色方案数</a:t>
            </a:r>
            <a:endParaRPr kumimoji="0" lang="en-US" altLang="zh-CN" dirty="0">
              <a:ea typeface="华文中宋" panose="02010600040101010101" pitchFamily="2" charset="-122"/>
            </a:endParaRPr>
          </a:p>
          <a:p>
            <a:pPr eaLnBrk="1" hangingPunct="1">
              <a:buClr>
                <a:schemeClr val="accent2"/>
              </a:buClr>
              <a:buFontTx/>
              <a:buChar char="•"/>
            </a:pPr>
            <a:r>
              <a:rPr kumimoji="0" lang="en-US" altLang="zh-CN" dirty="0">
                <a:ea typeface="华文中宋" panose="02010600040101010101" pitchFamily="2" charset="-122"/>
              </a:rPr>
              <a:t>a: </a:t>
            </a:r>
            <a:r>
              <a:rPr kumimoji="0" lang="zh-CN" altLang="en-US" dirty="0">
                <a:ea typeface="华文中宋" panose="02010600040101010101" pitchFamily="2" charset="-122"/>
              </a:rPr>
              <a:t>图的邻接矩阵</a:t>
            </a:r>
          </a:p>
        </p:txBody>
      </p:sp>
      <p:sp>
        <p:nvSpPr>
          <p:cNvPr id="95238" name="Text Box 6">
            <a:extLst>
              <a:ext uri="{FF2B5EF4-FFF2-40B4-BE49-F238E27FC236}">
                <a16:creationId xmlns:a16="http://schemas.microsoft.com/office/drawing/2014/main" id="{962394B5-BB23-4F94-BD42-9F9A2ACC94A7}"/>
              </a:ext>
            </a:extLst>
          </p:cNvPr>
          <p:cNvSpPr txBox="1">
            <a:spLocks noChangeArrowheads="1"/>
          </p:cNvSpPr>
          <p:nvPr/>
        </p:nvSpPr>
        <p:spPr bwMode="auto">
          <a:xfrm>
            <a:off x="4759325" y="3736975"/>
            <a:ext cx="3690938" cy="2263775"/>
          </a:xfrm>
          <a:prstGeom prst="rect">
            <a:avLst/>
          </a:prstGeom>
          <a:noFill/>
          <a:ln w="38100" algn="ctr">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sz="2000" dirty="0">
                <a:ea typeface="华文中宋" panose="02010600040101010101" pitchFamily="2" charset="-122"/>
              </a:rPr>
              <a:t>bool ok(int k)</a:t>
            </a:r>
          </a:p>
          <a:p>
            <a:pPr eaLnBrk="1" hangingPunct="1"/>
            <a:r>
              <a:rPr kumimoji="0" lang="en-US" altLang="zh-CN" sz="2000" dirty="0">
                <a:ea typeface="华文中宋" panose="02010600040101010101" pitchFamily="2" charset="-122"/>
              </a:rPr>
              <a:t>   {// </a:t>
            </a:r>
            <a:r>
              <a:rPr kumimoji="0" lang="zh-CN" altLang="en-US" sz="2000" dirty="0">
                <a:ea typeface="华文中宋" panose="02010600040101010101" pitchFamily="2" charset="-122"/>
              </a:rPr>
              <a:t>检查颜色可用性</a:t>
            </a:r>
          </a:p>
          <a:p>
            <a:pPr eaLnBrk="1" hangingPunct="1"/>
            <a:r>
              <a:rPr kumimoji="0" lang="zh-CN" altLang="en-US" sz="2000" dirty="0">
                <a:ea typeface="华文中宋" panose="02010600040101010101" pitchFamily="2" charset="-122"/>
              </a:rPr>
              <a:t>      </a:t>
            </a:r>
            <a:r>
              <a:rPr kumimoji="0" lang="en-US" altLang="zh-CN" sz="2000" dirty="0">
                <a:ea typeface="华文中宋" panose="02010600040101010101" pitchFamily="2" charset="-122"/>
              </a:rPr>
              <a:t>for (int j=1;j&lt;=</a:t>
            </a:r>
            <a:r>
              <a:rPr kumimoji="0" lang="en-US" altLang="zh-CN" sz="2000" dirty="0" err="1">
                <a:ea typeface="华文中宋" panose="02010600040101010101" pitchFamily="2" charset="-122"/>
              </a:rPr>
              <a:t>n;j</a:t>
            </a:r>
            <a:r>
              <a:rPr kumimoji="0" lang="en-US" altLang="zh-CN" sz="2000" dirty="0">
                <a:ea typeface="华文中宋" panose="02010600040101010101" pitchFamily="2" charset="-122"/>
              </a:rPr>
              <a:t>++)</a:t>
            </a:r>
          </a:p>
          <a:p>
            <a:pPr eaLnBrk="1" hangingPunct="1"/>
            <a:r>
              <a:rPr kumimoji="0" lang="en-US" altLang="zh-CN" sz="2000" dirty="0">
                <a:ea typeface="华文中宋" panose="02010600040101010101" pitchFamily="2" charset="-122"/>
              </a:rPr>
              <a:t>        </a:t>
            </a:r>
            <a:r>
              <a:rPr kumimoji="0" lang="en-US" altLang="zh-CN" sz="2000" dirty="0">
                <a:solidFill>
                  <a:srgbClr val="FF0000"/>
                </a:solidFill>
                <a:ea typeface="华文中宋" panose="02010600040101010101" pitchFamily="2" charset="-122"/>
              </a:rPr>
              <a:t>if (a[k][j] &amp;&amp; (x[j]==x[k]))</a:t>
            </a:r>
            <a:r>
              <a:rPr kumimoji="0" lang="en-US" altLang="zh-CN" sz="2000" dirty="0">
                <a:ea typeface="华文中宋" panose="02010600040101010101" pitchFamily="2" charset="-122"/>
              </a:rPr>
              <a:t> </a:t>
            </a:r>
          </a:p>
          <a:p>
            <a:pPr eaLnBrk="1" hangingPunct="1"/>
            <a:r>
              <a:rPr kumimoji="0" lang="en-US" altLang="zh-CN" sz="2000" dirty="0">
                <a:ea typeface="华文中宋" panose="02010600040101010101" pitchFamily="2" charset="-122"/>
              </a:rPr>
              <a:t>          return false;</a:t>
            </a:r>
          </a:p>
          <a:p>
            <a:pPr eaLnBrk="1" hangingPunct="1"/>
            <a:r>
              <a:rPr kumimoji="0" lang="en-US" altLang="zh-CN" sz="2000" dirty="0">
                <a:ea typeface="华文中宋" panose="02010600040101010101" pitchFamily="2" charset="-122"/>
              </a:rPr>
              <a:t>      return true;</a:t>
            </a:r>
          </a:p>
          <a:p>
            <a:pPr eaLnBrk="1" hangingPunct="1"/>
            <a:r>
              <a:rPr kumimoji="0" lang="en-US" altLang="zh-CN" sz="2000" dirty="0">
                <a:ea typeface="华文中宋" panose="02010600040101010101" pitchFamily="2" charset="-122"/>
              </a:rPr>
              <a:t>   }</a:t>
            </a:r>
          </a:p>
        </p:txBody>
      </p:sp>
      <p:sp>
        <p:nvSpPr>
          <p:cNvPr id="95239" name="AutoShape 7">
            <a:extLst>
              <a:ext uri="{FF2B5EF4-FFF2-40B4-BE49-F238E27FC236}">
                <a16:creationId xmlns:a16="http://schemas.microsoft.com/office/drawing/2014/main" id="{719331FC-7D3F-4453-BA11-B04A3ADE9EEC}"/>
              </a:ext>
            </a:extLst>
          </p:cNvPr>
          <p:cNvSpPr>
            <a:spLocks noChangeArrowheads="1"/>
          </p:cNvSpPr>
          <p:nvPr/>
        </p:nvSpPr>
        <p:spPr bwMode="auto">
          <a:xfrm>
            <a:off x="6477000" y="2362200"/>
            <a:ext cx="1600200" cy="1066800"/>
          </a:xfrm>
          <a:prstGeom prst="wedgeRoundRectCallout">
            <a:avLst>
              <a:gd name="adj1" fmla="val -44347"/>
              <a:gd name="adj2" fmla="val 69940"/>
              <a:gd name="adj3" fmla="val 16667"/>
            </a:avLst>
          </a:prstGeom>
          <a:solidFill>
            <a:srgbClr val="FFFF99"/>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solidFill>
                  <a:srgbClr val="FF0000"/>
                </a:solidFill>
                <a:ea typeface="华文中宋" panose="02010600040101010101" pitchFamily="2" charset="-122"/>
              </a:rPr>
              <a:t>跟</a:t>
            </a:r>
            <a:r>
              <a:rPr lang="en-US" altLang="zh-CN" dirty="0">
                <a:solidFill>
                  <a:srgbClr val="FF0000"/>
                </a:solidFill>
                <a:ea typeface="华文中宋" panose="02010600040101010101" pitchFamily="2" charset="-122"/>
              </a:rPr>
              <a:t>n</a:t>
            </a:r>
            <a:r>
              <a:rPr lang="zh-CN" altLang="en-US" dirty="0">
                <a:solidFill>
                  <a:srgbClr val="FF0000"/>
                </a:solidFill>
                <a:ea typeface="华文中宋" panose="02010600040101010101" pitchFamily="2" charset="-122"/>
              </a:rPr>
              <a:t>皇后问题类似</a:t>
            </a:r>
          </a:p>
        </p:txBody>
      </p:sp>
      <p:sp>
        <p:nvSpPr>
          <p:cNvPr id="95240" name="Rectangle 8">
            <a:extLst>
              <a:ext uri="{FF2B5EF4-FFF2-40B4-BE49-F238E27FC236}">
                <a16:creationId xmlns:a16="http://schemas.microsoft.com/office/drawing/2014/main" id="{6DD4BDD4-3DAD-4DF3-9D69-7E1767D3D161}"/>
              </a:ext>
            </a:extLst>
          </p:cNvPr>
          <p:cNvSpPr>
            <a:spLocks noChangeArrowheads="1"/>
          </p:cNvSpPr>
          <p:nvPr/>
        </p:nvSpPr>
        <p:spPr bwMode="auto">
          <a:xfrm>
            <a:off x="4724400" y="61722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dirty="0">
                <a:solidFill>
                  <a:srgbClr val="0000CC"/>
                </a:solidFill>
                <a:ea typeface="华文中宋" panose="02010600040101010101" pitchFamily="2" charset="-122"/>
              </a:rPr>
              <a:t>思考：用迭代回溯如何实现？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 calcmode="lin" valueType="num">
                                      <p:cBhvr additive="base">
                                        <p:cTn id="7" dur="500" fill="hold"/>
                                        <p:tgtEl>
                                          <p:spTgt spid="95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5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5235">
                                            <p:txEl>
                                              <p:pRg st="1" end="1"/>
                                            </p:txEl>
                                          </p:spTgt>
                                        </p:tgtEl>
                                        <p:attrNameLst>
                                          <p:attrName>style.visibility</p:attrName>
                                        </p:attrNameLst>
                                      </p:cBhvr>
                                      <p:to>
                                        <p:strVal val="visible"/>
                                      </p:to>
                                    </p:set>
                                    <p:anim calcmode="lin" valueType="num">
                                      <p:cBhvr additive="base">
                                        <p:cTn id="13" dur="500" fill="hold"/>
                                        <p:tgtEl>
                                          <p:spTgt spid="952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5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5237"/>
                                        </p:tgtEl>
                                        <p:attrNameLst>
                                          <p:attrName>style.visibility</p:attrName>
                                        </p:attrNameLst>
                                      </p:cBhvr>
                                      <p:to>
                                        <p:strVal val="visible"/>
                                      </p:to>
                                    </p:set>
                                    <p:anim calcmode="lin" valueType="num">
                                      <p:cBhvr additive="base">
                                        <p:cTn id="19" dur="500" fill="hold"/>
                                        <p:tgtEl>
                                          <p:spTgt spid="95237"/>
                                        </p:tgtEl>
                                        <p:attrNameLst>
                                          <p:attrName>ppt_x</p:attrName>
                                        </p:attrNameLst>
                                      </p:cBhvr>
                                      <p:tavLst>
                                        <p:tav tm="0">
                                          <p:val>
                                            <p:strVal val="0-#ppt_w/2"/>
                                          </p:val>
                                        </p:tav>
                                        <p:tav tm="100000">
                                          <p:val>
                                            <p:strVal val="#ppt_x"/>
                                          </p:val>
                                        </p:tav>
                                      </p:tavLst>
                                    </p:anim>
                                    <p:anim calcmode="lin" valueType="num">
                                      <p:cBhvr additive="base">
                                        <p:cTn id="20" dur="500" fill="hold"/>
                                        <p:tgtEl>
                                          <p:spTgt spid="9523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5236"/>
                                        </p:tgtEl>
                                        <p:attrNameLst>
                                          <p:attrName>style.visibility</p:attrName>
                                        </p:attrNameLst>
                                      </p:cBhvr>
                                      <p:to>
                                        <p:strVal val="visible"/>
                                      </p:to>
                                    </p:set>
                                    <p:anim calcmode="lin" valueType="num">
                                      <p:cBhvr additive="base">
                                        <p:cTn id="25" dur="500" fill="hold"/>
                                        <p:tgtEl>
                                          <p:spTgt spid="95236"/>
                                        </p:tgtEl>
                                        <p:attrNameLst>
                                          <p:attrName>ppt_x</p:attrName>
                                        </p:attrNameLst>
                                      </p:cBhvr>
                                      <p:tavLst>
                                        <p:tav tm="0">
                                          <p:val>
                                            <p:strVal val="0-#ppt_w/2"/>
                                          </p:val>
                                        </p:tav>
                                        <p:tav tm="100000">
                                          <p:val>
                                            <p:strVal val="#ppt_x"/>
                                          </p:val>
                                        </p:tav>
                                      </p:tavLst>
                                    </p:anim>
                                    <p:anim calcmode="lin" valueType="num">
                                      <p:cBhvr additive="base">
                                        <p:cTn id="26" dur="500" fill="hold"/>
                                        <p:tgtEl>
                                          <p:spTgt spid="9523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5238"/>
                                        </p:tgtEl>
                                        <p:attrNameLst>
                                          <p:attrName>style.visibility</p:attrName>
                                        </p:attrNameLst>
                                      </p:cBhvr>
                                      <p:to>
                                        <p:strVal val="visible"/>
                                      </p:to>
                                    </p:set>
                                    <p:anim calcmode="lin" valueType="num">
                                      <p:cBhvr additive="base">
                                        <p:cTn id="31" dur="500" fill="hold"/>
                                        <p:tgtEl>
                                          <p:spTgt spid="95238"/>
                                        </p:tgtEl>
                                        <p:attrNameLst>
                                          <p:attrName>ppt_x</p:attrName>
                                        </p:attrNameLst>
                                      </p:cBhvr>
                                      <p:tavLst>
                                        <p:tav tm="0">
                                          <p:val>
                                            <p:strVal val="0-#ppt_w/2"/>
                                          </p:val>
                                        </p:tav>
                                        <p:tav tm="100000">
                                          <p:val>
                                            <p:strVal val="#ppt_x"/>
                                          </p:val>
                                        </p:tav>
                                      </p:tavLst>
                                    </p:anim>
                                    <p:anim calcmode="lin" valueType="num">
                                      <p:cBhvr additive="base">
                                        <p:cTn id="32" dur="500" fill="hold"/>
                                        <p:tgtEl>
                                          <p:spTgt spid="9523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5239"/>
                                        </p:tgtEl>
                                        <p:attrNameLst>
                                          <p:attrName>style.visibility</p:attrName>
                                        </p:attrNameLst>
                                      </p:cBhvr>
                                      <p:to>
                                        <p:strVal val="visible"/>
                                      </p:to>
                                    </p:set>
                                    <p:anim calcmode="lin" valueType="num">
                                      <p:cBhvr additive="base">
                                        <p:cTn id="37" dur="500" fill="hold"/>
                                        <p:tgtEl>
                                          <p:spTgt spid="95239"/>
                                        </p:tgtEl>
                                        <p:attrNameLst>
                                          <p:attrName>ppt_x</p:attrName>
                                        </p:attrNameLst>
                                      </p:cBhvr>
                                      <p:tavLst>
                                        <p:tav tm="0">
                                          <p:val>
                                            <p:strVal val="0-#ppt_w/2"/>
                                          </p:val>
                                        </p:tav>
                                        <p:tav tm="100000">
                                          <p:val>
                                            <p:strVal val="#ppt_x"/>
                                          </p:val>
                                        </p:tav>
                                      </p:tavLst>
                                    </p:anim>
                                    <p:anim calcmode="lin" valueType="num">
                                      <p:cBhvr additive="base">
                                        <p:cTn id="38" dur="500" fill="hold"/>
                                        <p:tgtEl>
                                          <p:spTgt spid="9523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5240"/>
                                        </p:tgtEl>
                                        <p:attrNameLst>
                                          <p:attrName>style.visibility</p:attrName>
                                        </p:attrNameLst>
                                      </p:cBhvr>
                                      <p:to>
                                        <p:strVal val="visible"/>
                                      </p:to>
                                    </p:set>
                                    <p:anim calcmode="lin" valueType="num">
                                      <p:cBhvr additive="base">
                                        <p:cTn id="43" dur="500" fill="hold"/>
                                        <p:tgtEl>
                                          <p:spTgt spid="95240"/>
                                        </p:tgtEl>
                                        <p:attrNameLst>
                                          <p:attrName>ppt_x</p:attrName>
                                        </p:attrNameLst>
                                      </p:cBhvr>
                                      <p:tavLst>
                                        <p:tav tm="0">
                                          <p:val>
                                            <p:strVal val="0-#ppt_w/2"/>
                                          </p:val>
                                        </p:tav>
                                        <p:tav tm="100000">
                                          <p:val>
                                            <p:strVal val="#ppt_x"/>
                                          </p:val>
                                        </p:tav>
                                      </p:tavLst>
                                    </p:anim>
                                    <p:anim calcmode="lin" valueType="num">
                                      <p:cBhvr additive="base">
                                        <p:cTn id="44" dur="500" fill="hold"/>
                                        <p:tgtEl>
                                          <p:spTgt spid="952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autoUpdateAnimBg="0"/>
      <p:bldP spid="95236" grpId="0" animBg="1" autoUpdateAnimBg="0"/>
      <p:bldP spid="95237" grpId="0" autoUpdateAnimBg="0"/>
      <p:bldP spid="95238" grpId="0" animBg="1" autoUpdateAnimBg="0"/>
      <p:bldP spid="95239" grpId="0" animBg="1" autoUpdateAnimBg="0"/>
      <p:bldP spid="95240"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AF78C67-E6C8-4C3C-A3CF-937967CC2BC7}"/>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Clr>
                <a:schemeClr val="accent2"/>
              </a:buClr>
            </a:pPr>
            <a:r>
              <a:rPr kumimoji="0" lang="zh-CN" altLang="en-US" b="1">
                <a:solidFill>
                  <a:schemeClr val="tx1"/>
                </a:solidFill>
                <a:latin typeface="Arial" panose="020B0604020202020204" pitchFamily="34" charset="0"/>
                <a:ea typeface="黑体" panose="02010609060101010101" pitchFamily="49" charset="-122"/>
              </a:rPr>
              <a:t>复杂度分析</a:t>
            </a:r>
          </a:p>
        </p:txBody>
      </p:sp>
      <p:sp>
        <p:nvSpPr>
          <p:cNvPr id="67587" name="Rectangle 3">
            <a:extLst>
              <a:ext uri="{FF2B5EF4-FFF2-40B4-BE49-F238E27FC236}">
                <a16:creationId xmlns:a16="http://schemas.microsoft.com/office/drawing/2014/main" id="{667DCCB5-DB20-424D-893C-2523054F1432}"/>
              </a:ext>
            </a:extLst>
          </p:cNvPr>
          <p:cNvSpPr>
            <a:spLocks noGrp="1" noChangeArrowheads="1"/>
          </p:cNvSpPr>
          <p:nvPr>
            <p:ph type="body" idx="1"/>
          </p:nvPr>
        </p:nvSpPr>
        <p:spPr bwMode="auto">
          <a:xfrm>
            <a:off x="685800" y="1981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zh-CN" altLang="zh-CN"/>
          </a:p>
        </p:txBody>
      </p:sp>
      <p:grpSp>
        <p:nvGrpSpPr>
          <p:cNvPr id="2" name="Group 4">
            <a:extLst>
              <a:ext uri="{FF2B5EF4-FFF2-40B4-BE49-F238E27FC236}">
                <a16:creationId xmlns:a16="http://schemas.microsoft.com/office/drawing/2014/main" id="{147DC6DA-A68F-4D22-9ED1-53D9064DFDFD}"/>
              </a:ext>
            </a:extLst>
          </p:cNvPr>
          <p:cNvGrpSpPr>
            <a:grpSpLocks/>
          </p:cNvGrpSpPr>
          <p:nvPr/>
        </p:nvGrpSpPr>
        <p:grpSpPr bwMode="auto">
          <a:xfrm>
            <a:off x="990600" y="990600"/>
            <a:ext cx="7172325" cy="2965450"/>
            <a:chOff x="567" y="1421"/>
            <a:chExt cx="4422" cy="1868"/>
          </a:xfrm>
        </p:grpSpPr>
        <p:sp>
          <p:nvSpPr>
            <p:cNvPr id="67590" name="AutoShape 5">
              <a:extLst>
                <a:ext uri="{FF2B5EF4-FFF2-40B4-BE49-F238E27FC236}">
                  <a16:creationId xmlns:a16="http://schemas.microsoft.com/office/drawing/2014/main" id="{DB0EC5E6-E675-4670-B49E-5138BB9CC5B2}"/>
                </a:ext>
              </a:extLst>
            </p:cNvPr>
            <p:cNvSpPr>
              <a:spLocks noChangeArrowheads="1"/>
            </p:cNvSpPr>
            <p:nvPr/>
          </p:nvSpPr>
          <p:spPr bwMode="auto">
            <a:xfrm>
              <a:off x="567" y="1421"/>
              <a:ext cx="4422" cy="1868"/>
            </a:xfrm>
            <a:prstGeom prst="roundRect">
              <a:avLst>
                <a:gd name="adj" fmla="val 16667"/>
              </a:avLst>
            </a:prstGeom>
            <a:solidFill>
              <a:schemeClr val="bg1"/>
            </a:solidFill>
            <a:ln w="38100">
              <a:solidFill>
                <a:srgbClr val="063DE8"/>
              </a:solidFill>
              <a:round/>
              <a:headEnd/>
              <a:tailEnd/>
            </a:ln>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endParaRPr kumimoji="0" lang="en-US" altLang="zh-CN" dirty="0">
                <a:latin typeface="Arial" panose="020B0604020202020204" pitchFamily="34" charset="0"/>
                <a:ea typeface="华文中宋" panose="02010600040101010101" pitchFamily="2" charset="-122"/>
                <a:sym typeface="Wingdings" panose="05000000000000000000" pitchFamily="2" charset="2"/>
              </a:endParaRPr>
            </a:p>
            <a:p>
              <a:r>
                <a:rPr kumimoji="0" lang="zh-CN" altLang="en-US" dirty="0">
                  <a:latin typeface="Arial" panose="020B0604020202020204" pitchFamily="34" charset="0"/>
                  <a:ea typeface="华文中宋" panose="02010600040101010101" pitchFamily="2" charset="-122"/>
                  <a:sym typeface="Wingdings" panose="05000000000000000000" pitchFamily="2" charset="2"/>
                </a:rPr>
                <a:t>图</a:t>
              </a:r>
              <a:r>
                <a:rPr kumimoji="0" lang="en-US" altLang="zh-CN" dirty="0">
                  <a:latin typeface="Arial" panose="020B0604020202020204" pitchFamily="34" charset="0"/>
                  <a:ea typeface="华文中宋" panose="02010600040101010101" pitchFamily="2" charset="-122"/>
                  <a:sym typeface="Wingdings" panose="05000000000000000000" pitchFamily="2" charset="2"/>
                </a:rPr>
                <a:t>m</a:t>
              </a:r>
              <a:r>
                <a:rPr kumimoji="0" lang="zh-CN" altLang="en-US" dirty="0">
                  <a:latin typeface="Arial" panose="020B0604020202020204" pitchFamily="34" charset="0"/>
                  <a:ea typeface="华文中宋" panose="02010600040101010101" pitchFamily="2" charset="-122"/>
                  <a:sym typeface="Wingdings" panose="05000000000000000000" pitchFamily="2" charset="2"/>
                </a:rPr>
                <a:t>可着色问题的解空间树中内结点个数是</a:t>
              </a:r>
            </a:p>
            <a:p>
              <a:r>
                <a:rPr kumimoji="0" lang="zh-CN" altLang="en-US" dirty="0">
                  <a:latin typeface="Arial" panose="020B0604020202020204" pitchFamily="34" charset="0"/>
                  <a:ea typeface="华文中宋" panose="02010600040101010101" pitchFamily="2" charset="-122"/>
                  <a:sym typeface="Wingdings" panose="05000000000000000000" pitchFamily="2" charset="2"/>
                </a:rPr>
                <a:t>对于每一个内结点，在最坏情况下，用</a:t>
              </a:r>
              <a:r>
                <a:rPr kumimoji="0" lang="en-US" altLang="zh-CN" dirty="0">
                  <a:latin typeface="Arial" panose="020B0604020202020204" pitchFamily="34" charset="0"/>
                  <a:ea typeface="华文中宋" panose="02010600040101010101" pitchFamily="2" charset="-122"/>
                  <a:sym typeface="Wingdings" panose="05000000000000000000" pitchFamily="2" charset="2"/>
                </a:rPr>
                <a:t>ok</a:t>
              </a:r>
              <a:r>
                <a:rPr kumimoji="0" lang="zh-CN" altLang="en-US" dirty="0">
                  <a:latin typeface="Arial" panose="020B0604020202020204" pitchFamily="34" charset="0"/>
                  <a:ea typeface="华文中宋" panose="02010600040101010101" pitchFamily="2" charset="-122"/>
                  <a:sym typeface="Wingdings" panose="05000000000000000000" pitchFamily="2" charset="2"/>
                </a:rPr>
                <a:t>检查当前扩展结点的每一个儿子所相应的颜色可用性需耗时</a:t>
              </a:r>
              <a:r>
                <a:rPr kumimoji="0" lang="en-US" altLang="zh-CN" dirty="0">
                  <a:solidFill>
                    <a:srgbClr val="FF0000"/>
                  </a:solidFill>
                  <a:latin typeface="Arial" panose="020B0604020202020204" pitchFamily="34" charset="0"/>
                  <a:ea typeface="华文中宋" panose="02010600040101010101" pitchFamily="2" charset="-122"/>
                  <a:sym typeface="Wingdings" panose="05000000000000000000" pitchFamily="2" charset="2"/>
                </a:rPr>
                <a:t>O(</a:t>
              </a:r>
              <a:r>
                <a:rPr kumimoji="0" lang="en-US" altLang="zh-CN" dirty="0" err="1">
                  <a:solidFill>
                    <a:srgbClr val="FF0000"/>
                  </a:solidFill>
                  <a:latin typeface="Arial" panose="020B0604020202020204" pitchFamily="34" charset="0"/>
                  <a:ea typeface="华文中宋" panose="02010600040101010101" pitchFamily="2" charset="-122"/>
                  <a:sym typeface="Wingdings" panose="05000000000000000000" pitchFamily="2" charset="2"/>
                </a:rPr>
                <a:t>mn</a:t>
              </a:r>
              <a:r>
                <a:rPr kumimoji="0" lang="en-US" altLang="zh-CN" dirty="0">
                  <a:solidFill>
                    <a:srgbClr val="FF0000"/>
                  </a:solidFill>
                  <a:latin typeface="Arial" panose="020B0604020202020204" pitchFamily="34" charset="0"/>
                  <a:ea typeface="华文中宋" panose="02010600040101010101" pitchFamily="2" charset="-122"/>
                  <a:sym typeface="Wingdings" panose="05000000000000000000" pitchFamily="2" charset="2"/>
                </a:rPr>
                <a:t>)</a:t>
              </a:r>
              <a:r>
                <a:rPr kumimoji="0" lang="zh-CN" altLang="en-US" dirty="0">
                  <a:latin typeface="Arial" panose="020B0604020202020204" pitchFamily="34" charset="0"/>
                  <a:ea typeface="华文中宋" panose="02010600040101010101" pitchFamily="2" charset="-122"/>
                  <a:sym typeface="Wingdings" panose="05000000000000000000" pitchFamily="2" charset="2"/>
                </a:rPr>
                <a:t>。因此，回溯法总的时间耗费是</a:t>
              </a:r>
            </a:p>
            <a:p>
              <a:endParaRPr kumimoji="0" lang="zh-CN" altLang="en-US" dirty="0">
                <a:latin typeface="Arial" panose="020B0604020202020204" pitchFamily="34" charset="0"/>
                <a:ea typeface="华文中宋" panose="02010600040101010101" pitchFamily="2" charset="-122"/>
                <a:sym typeface="Wingdings" panose="05000000000000000000" pitchFamily="2" charset="2"/>
              </a:endParaRPr>
            </a:p>
            <a:p>
              <a:endParaRPr kumimoji="0" lang="en-US" altLang="zh-CN" dirty="0">
                <a:latin typeface="Arial" panose="020B0604020202020204" pitchFamily="34" charset="0"/>
                <a:ea typeface="华文中宋" panose="02010600040101010101" pitchFamily="2" charset="-122"/>
                <a:sym typeface="Wingdings" panose="05000000000000000000" pitchFamily="2" charset="2"/>
              </a:endParaRPr>
            </a:p>
          </p:txBody>
        </p:sp>
        <p:graphicFrame>
          <p:nvGraphicFramePr>
            <p:cNvPr id="67591" name="Object 6">
              <a:extLst>
                <a:ext uri="{FF2B5EF4-FFF2-40B4-BE49-F238E27FC236}">
                  <a16:creationId xmlns:a16="http://schemas.microsoft.com/office/drawing/2014/main" id="{1E563412-54E8-4359-9B00-DD854DEA0B65}"/>
                </a:ext>
              </a:extLst>
            </p:cNvPr>
            <p:cNvGraphicFramePr>
              <a:graphicFrameLocks noChangeAspect="1"/>
            </p:cNvGraphicFramePr>
            <p:nvPr/>
          </p:nvGraphicFramePr>
          <p:xfrm>
            <a:off x="4286" y="1616"/>
            <a:ext cx="432" cy="452"/>
          </p:xfrm>
          <a:graphic>
            <a:graphicData uri="http://schemas.openxmlformats.org/presentationml/2006/ole">
              <mc:AlternateContent xmlns:mc="http://schemas.openxmlformats.org/markup-compatibility/2006">
                <mc:Choice xmlns:v="urn:schemas-microsoft-com:vml" Requires="v">
                  <p:oleObj name="公式" r:id="rId2" imgW="406224" imgH="431613" progId="Equation.3">
                    <p:embed/>
                  </p:oleObj>
                </mc:Choice>
                <mc:Fallback>
                  <p:oleObj name="公式" r:id="rId2" imgW="406224" imgH="431613"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 y="1616"/>
                          <a:ext cx="432"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2" name="Object 7">
              <a:extLst>
                <a:ext uri="{FF2B5EF4-FFF2-40B4-BE49-F238E27FC236}">
                  <a16:creationId xmlns:a16="http://schemas.microsoft.com/office/drawing/2014/main" id="{9062EE56-85ED-475B-8D0D-326D9D8A27C6}"/>
                </a:ext>
              </a:extLst>
            </p:cNvPr>
            <p:cNvGraphicFramePr>
              <a:graphicFrameLocks noChangeAspect="1"/>
            </p:cNvGraphicFramePr>
            <p:nvPr/>
          </p:nvGraphicFramePr>
          <p:xfrm>
            <a:off x="1292" y="2704"/>
            <a:ext cx="2858" cy="459"/>
          </p:xfrm>
          <a:graphic>
            <a:graphicData uri="http://schemas.openxmlformats.org/presentationml/2006/ole">
              <mc:AlternateContent xmlns:mc="http://schemas.openxmlformats.org/markup-compatibility/2006">
                <mc:Choice xmlns:v="urn:schemas-microsoft-com:vml" Requires="v">
                  <p:oleObj name="公式" r:id="rId4" imgW="2667000" imgH="431800" progId="Equation.3">
                    <p:embed/>
                  </p:oleObj>
                </mc:Choice>
                <mc:Fallback>
                  <p:oleObj name="公式" r:id="rId4" imgW="2667000" imgH="431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 y="2704"/>
                          <a:ext cx="2858"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96264" name="Picture 8" descr="t570">
            <a:extLst>
              <a:ext uri="{FF2B5EF4-FFF2-40B4-BE49-F238E27FC236}">
                <a16:creationId xmlns:a16="http://schemas.microsoft.com/office/drawing/2014/main" id="{2819CE07-291C-4C24-80DE-8D51A25927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4191000"/>
            <a:ext cx="6324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96264"/>
                                        </p:tgtEl>
                                        <p:attrNameLst>
                                          <p:attrName>style.visibility</p:attrName>
                                        </p:attrNameLst>
                                      </p:cBhvr>
                                      <p:to>
                                        <p:strVal val="visible"/>
                                      </p:to>
                                    </p:set>
                                    <p:anim calcmode="lin" valueType="num">
                                      <p:cBhvr additive="base">
                                        <p:cTn id="12" dur="500" fill="hold"/>
                                        <p:tgtEl>
                                          <p:spTgt spid="96264"/>
                                        </p:tgtEl>
                                        <p:attrNameLst>
                                          <p:attrName>ppt_x</p:attrName>
                                        </p:attrNameLst>
                                      </p:cBhvr>
                                      <p:tavLst>
                                        <p:tav tm="0">
                                          <p:val>
                                            <p:strVal val="0-#ppt_w/2"/>
                                          </p:val>
                                        </p:tav>
                                        <p:tav tm="100000">
                                          <p:val>
                                            <p:strVal val="#ppt_x"/>
                                          </p:val>
                                        </p:tav>
                                      </p:tavLst>
                                    </p:anim>
                                    <p:anim calcmode="lin" valueType="num">
                                      <p:cBhvr additive="base">
                                        <p:cTn id="13" dur="500" fill="hold"/>
                                        <p:tgtEl>
                                          <p:spTgt spid="962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E8158172-6533-4E60-919C-F3B52A0648B0}"/>
              </a:ext>
            </a:extLst>
          </p:cNvPr>
          <p:cNvSpPr>
            <a:spLocks noGrp="1" noChangeArrowheads="1"/>
          </p:cNvSpPr>
          <p:nvPr>
            <p:ph type="title"/>
          </p:nvPr>
        </p:nvSpPr>
        <p:spPr bwMode="auto">
          <a:xfrm>
            <a:off x="714375" y="428625"/>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buClr>
                <a:schemeClr val="accent2"/>
              </a:buClr>
              <a:defRPr/>
            </a:pPr>
            <a:r>
              <a:rPr kumimoji="0" lang="zh-CN" altLang="en-US" b="1" dirty="0">
                <a:effectLst>
                  <a:outerShdw blurRad="38100" dist="38100" dir="2700000" algn="tl">
                    <a:srgbClr val="C0C0C0"/>
                  </a:outerShdw>
                </a:effectLst>
                <a:latin typeface="Arial" charset="0"/>
              </a:rPr>
              <a:t>思考</a:t>
            </a:r>
          </a:p>
        </p:txBody>
      </p:sp>
      <p:sp>
        <p:nvSpPr>
          <p:cNvPr id="97283" name="Rectangle 3">
            <a:extLst>
              <a:ext uri="{FF2B5EF4-FFF2-40B4-BE49-F238E27FC236}">
                <a16:creationId xmlns:a16="http://schemas.microsoft.com/office/drawing/2014/main" id="{EBBCDF90-60D0-4C2A-BAB9-3EA41597B71F}"/>
              </a:ext>
            </a:extLst>
          </p:cNvPr>
          <p:cNvSpPr>
            <a:spLocks noGrp="1" noChangeArrowheads="1"/>
          </p:cNvSpPr>
          <p:nvPr>
            <p:ph type="body" idx="1"/>
          </p:nvPr>
        </p:nvSpPr>
        <p:spPr bwMode="auto">
          <a:xfrm>
            <a:off x="642938" y="1285875"/>
            <a:ext cx="7772400" cy="2590800"/>
          </a:xfrm>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defRPr/>
            </a:pPr>
            <a:r>
              <a:rPr kumimoji="0" lang="en-US" altLang="zh-CN" b="1" dirty="0">
                <a:effectLst>
                  <a:outerShdw blurRad="38100" dist="38100" dir="2700000" algn="tl">
                    <a:srgbClr val="C0C0C0"/>
                  </a:outerShdw>
                </a:effectLst>
                <a:latin typeface="Arial" charset="0"/>
              </a:rPr>
              <a:t>    </a:t>
            </a:r>
            <a:r>
              <a:rPr kumimoji="0" lang="zh-CN" altLang="en-US" b="1" dirty="0">
                <a:effectLst>
                  <a:outerShdw blurRad="38100" dist="38100" dir="2700000" algn="tl">
                    <a:srgbClr val="C0C0C0"/>
                  </a:outerShdw>
                </a:effectLst>
                <a:latin typeface="Arial" charset="0"/>
              </a:rPr>
              <a:t>图的</a:t>
            </a:r>
            <a:r>
              <a:rPr kumimoji="0" lang="en-US" altLang="zh-CN" b="1" dirty="0">
                <a:effectLst>
                  <a:outerShdw blurRad="38100" dist="38100" dir="2700000" algn="tl">
                    <a:srgbClr val="C0C0C0"/>
                  </a:outerShdw>
                </a:effectLst>
                <a:latin typeface="Arial" charset="0"/>
              </a:rPr>
              <a:t>m</a:t>
            </a:r>
            <a:r>
              <a:rPr kumimoji="0" lang="zh-CN" altLang="en-US" b="1" dirty="0">
                <a:effectLst>
                  <a:outerShdw blurRad="38100" dist="38100" dir="2700000" algn="tl">
                    <a:srgbClr val="C0C0C0"/>
                  </a:outerShdw>
                </a:effectLst>
                <a:latin typeface="Arial" charset="0"/>
              </a:rPr>
              <a:t>着色问题与图的最大团问题有何关系，你能否利用这个关系改进最大团问题的上界？</a:t>
            </a:r>
            <a:endParaRPr kumimoji="0" lang="en-US" altLang="zh-CN" b="1" dirty="0">
              <a:effectLst>
                <a:outerShdw blurRad="38100" dist="38100" dir="2700000" algn="tl">
                  <a:srgbClr val="C0C0C0"/>
                </a:outerShdw>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500" fill="hold"/>
                                        <p:tgtEl>
                                          <p:spTgt spid="97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72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build="p"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7.7|14.9|8.4|11|7.7|11.6|10.2|3.3|2.8"/>
</p:tagLst>
</file>

<file path=ppt/tags/tag2.xml><?xml version="1.0" encoding="utf-8"?>
<p:tagLst xmlns:a="http://schemas.openxmlformats.org/drawingml/2006/main" xmlns:r="http://schemas.openxmlformats.org/officeDocument/2006/relationships" xmlns:p="http://schemas.openxmlformats.org/presentationml/2006/main">
  <p:tag name="TIMING" val="|15.7|4.3|4.2|2|2.2|1.6|3|2.2|2.9|2.8|3.3"/>
</p:tagLst>
</file>

<file path=ppt/theme/theme1.xml><?xml version="1.0" encoding="utf-8"?>
<a:theme xmlns:a="http://schemas.openxmlformats.org/drawingml/2006/main" name="cloudbkgd">
  <a:themeElements>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bkgd">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cloudbkg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bkg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bkg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bkg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bkg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bkg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Data\Microsoft\Templates\cloudbkgd.pot</Template>
  <TotalTime>6573</TotalTime>
  <Words>5854</Words>
  <Application>Microsoft Office PowerPoint</Application>
  <PresentationFormat>全屏显示(4:3)</PresentationFormat>
  <Paragraphs>800</Paragraphs>
  <Slides>66</Slides>
  <Notes>11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66</vt:i4>
      </vt:variant>
    </vt:vector>
  </HeadingPairs>
  <TitlesOfParts>
    <vt:vector size="80" baseType="lpstr">
      <vt:lpstr>Input</vt:lpstr>
      <vt:lpstr>等线</vt:lpstr>
      <vt:lpstr>黑体</vt:lpstr>
      <vt:lpstr>华文中宋</vt:lpstr>
      <vt:lpstr>Arial</vt:lpstr>
      <vt:lpstr>Onyx</vt:lpstr>
      <vt:lpstr>Palatino Linotype</vt:lpstr>
      <vt:lpstr>Symbol</vt:lpstr>
      <vt:lpstr>Times New Roman</vt:lpstr>
      <vt:lpstr>Verdana</vt:lpstr>
      <vt:lpstr>cloudbkgd</vt:lpstr>
      <vt:lpstr>公式</vt:lpstr>
      <vt:lpstr>Equation</vt:lpstr>
      <vt:lpstr>位图图像</vt:lpstr>
      <vt:lpstr>PowerPoint 演示文稿</vt:lpstr>
      <vt:lpstr>学习要点与要求 </vt:lpstr>
      <vt:lpstr>引  言</vt:lpstr>
      <vt:lpstr>N皇后搜索过程与多叉树</vt:lpstr>
      <vt:lpstr>5.1 回溯法的算法框架</vt:lpstr>
      <vt:lpstr>问题的解空间（1）</vt:lpstr>
      <vt:lpstr>问题的解空间（2）</vt:lpstr>
      <vt:lpstr>搜索状态空间树的两种策略</vt:lpstr>
      <vt:lpstr>回溯法</vt:lpstr>
      <vt:lpstr>DFS算法回顾</vt:lpstr>
      <vt:lpstr>DFS算法回顾</vt:lpstr>
      <vt:lpstr>回溯法的基本思想</vt:lpstr>
      <vt:lpstr>PowerPoint 演示文稿</vt:lpstr>
      <vt:lpstr>回溯法解题步骤</vt:lpstr>
      <vt:lpstr>回溯法形式描述-递归算法</vt:lpstr>
      <vt:lpstr>回溯法形式描述-非递归算法</vt:lpstr>
      <vt:lpstr>子集树与排列树</vt:lpstr>
      <vt:lpstr>子集树与排列树算法框架-递归形式</vt:lpstr>
      <vt:lpstr>例：n=3的排列生成</vt:lpstr>
      <vt:lpstr>5.2 装载问题</vt:lpstr>
      <vt:lpstr>装载问题描述</vt:lpstr>
      <vt:lpstr>最优装载方案</vt:lpstr>
      <vt:lpstr>装载问题的回溯法</vt:lpstr>
      <vt:lpstr>程序框架</vt:lpstr>
      <vt:lpstr>程序框架</vt:lpstr>
      <vt:lpstr>剪枝处理—求最优值</vt:lpstr>
      <vt:lpstr>剪枝处理—求最优值</vt:lpstr>
      <vt:lpstr>求最优解—记录路径 </vt:lpstr>
      <vt:lpstr>迭代回溯</vt:lpstr>
      <vt:lpstr>5.3 批处理作业调度</vt:lpstr>
      <vt:lpstr>批处理作业调度问题描述</vt:lpstr>
      <vt:lpstr>实例</vt:lpstr>
      <vt:lpstr>算法设计</vt:lpstr>
      <vt:lpstr>算法设计</vt:lpstr>
      <vt:lpstr>图示分析</vt:lpstr>
      <vt:lpstr>f2[i]的计算</vt:lpstr>
      <vt:lpstr>算法框架</vt:lpstr>
      <vt:lpstr>算法实现</vt:lpstr>
      <vt:lpstr>初始化、调用、算法复杂性</vt:lpstr>
      <vt:lpstr>练习：确定批处理作业最佳作业调度方案，使其完成时间和达到最小。</vt:lpstr>
      <vt:lpstr>5.5  n后问题</vt:lpstr>
      <vt:lpstr>n皇后问题描述</vt:lpstr>
      <vt:lpstr>算法分析</vt:lpstr>
      <vt:lpstr>递归回溯-统计解总数</vt:lpstr>
      <vt:lpstr>迭代回溯</vt:lpstr>
      <vt:lpstr>5.6 0-1背包问题 </vt:lpstr>
      <vt:lpstr>算法分析</vt:lpstr>
      <vt:lpstr>上界（或限界）函数计算</vt:lpstr>
      <vt:lpstr>回溯程序Backtrack</vt:lpstr>
      <vt:lpstr>0-1背包问题的搜索树</vt:lpstr>
      <vt:lpstr>5.7 最大团问题</vt:lpstr>
      <vt:lpstr>几个概念(1)</vt:lpstr>
      <vt:lpstr>几个概念(2)</vt:lpstr>
      <vt:lpstr>举   例</vt:lpstr>
      <vt:lpstr>一些关系</vt:lpstr>
      <vt:lpstr>算法分析</vt:lpstr>
      <vt:lpstr>PowerPoint 演示文稿</vt:lpstr>
      <vt:lpstr>程序</vt:lpstr>
      <vt:lpstr>最大团问题复杂性</vt:lpstr>
      <vt:lpstr>5.8 图的m着色问题</vt:lpstr>
      <vt:lpstr>问题描述</vt:lpstr>
      <vt:lpstr>顶点着色与面着色</vt:lpstr>
      <vt:lpstr>问题描述</vt:lpstr>
      <vt:lpstr>算法分析</vt:lpstr>
      <vt:lpstr>复杂度分析</vt:lpstr>
      <vt:lpstr>思考</vt:lpstr>
    </vt:vector>
  </TitlesOfParts>
  <Company>shu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csshu</dc:creator>
  <cp:lastModifiedBy>江豪 汪</cp:lastModifiedBy>
  <cp:revision>255</cp:revision>
  <cp:lastPrinted>2021-10-26T15:13:25Z</cp:lastPrinted>
  <dcterms:created xsi:type="dcterms:W3CDTF">2003-09-20T00:20:09Z</dcterms:created>
  <dcterms:modified xsi:type="dcterms:W3CDTF">2024-10-30T08:34:47Z</dcterms:modified>
</cp:coreProperties>
</file>