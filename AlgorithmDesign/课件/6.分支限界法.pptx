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notesSlides/notesSlide1.xml" ContentType="application/vnd.openxmlformats-officedocument.presentationml.notesSlide+xml"/>
  <Override PartName="/ppt/ink/ink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handoutMasterIdLst>
    <p:handoutMasterId r:id="rId61"/>
  </p:handoutMasterIdLst>
  <p:sldIdLst>
    <p:sldId id="256" r:id="rId2"/>
    <p:sldId id="257" r:id="rId3"/>
    <p:sldId id="361" r:id="rId4"/>
    <p:sldId id="296" r:id="rId5"/>
    <p:sldId id="295" r:id="rId6"/>
    <p:sldId id="298" r:id="rId7"/>
    <p:sldId id="297" r:id="rId8"/>
    <p:sldId id="265" r:id="rId9"/>
    <p:sldId id="264" r:id="rId10"/>
    <p:sldId id="363" r:id="rId11"/>
    <p:sldId id="267" r:id="rId12"/>
    <p:sldId id="362" r:id="rId13"/>
    <p:sldId id="299" r:id="rId14"/>
    <p:sldId id="268" r:id="rId15"/>
    <p:sldId id="316" r:id="rId16"/>
    <p:sldId id="317" r:id="rId17"/>
    <p:sldId id="318" r:id="rId18"/>
    <p:sldId id="320" r:id="rId19"/>
    <p:sldId id="321" r:id="rId20"/>
    <p:sldId id="322" r:id="rId21"/>
    <p:sldId id="323" r:id="rId22"/>
    <p:sldId id="324" r:id="rId23"/>
    <p:sldId id="325" r:id="rId24"/>
    <p:sldId id="326" r:id="rId25"/>
    <p:sldId id="327" r:id="rId26"/>
    <p:sldId id="328" r:id="rId27"/>
    <p:sldId id="329" r:id="rId28"/>
    <p:sldId id="330" r:id="rId29"/>
    <p:sldId id="331" r:id="rId30"/>
    <p:sldId id="332" r:id="rId31"/>
    <p:sldId id="333" r:id="rId32"/>
    <p:sldId id="334" r:id="rId33"/>
    <p:sldId id="335" r:id="rId34"/>
    <p:sldId id="337" r:id="rId35"/>
    <p:sldId id="338" r:id="rId36"/>
    <p:sldId id="339" r:id="rId37"/>
    <p:sldId id="340" r:id="rId38"/>
    <p:sldId id="341" r:id="rId39"/>
    <p:sldId id="342" r:id="rId40"/>
    <p:sldId id="343" r:id="rId41"/>
    <p:sldId id="344" r:id="rId42"/>
    <p:sldId id="345" r:id="rId43"/>
    <p:sldId id="346" r:id="rId44"/>
    <p:sldId id="347" r:id="rId45"/>
    <p:sldId id="348" r:id="rId46"/>
    <p:sldId id="349" r:id="rId47"/>
    <p:sldId id="350" r:id="rId48"/>
    <p:sldId id="351" r:id="rId49"/>
    <p:sldId id="352" r:id="rId50"/>
    <p:sldId id="353" r:id="rId51"/>
    <p:sldId id="354" r:id="rId52"/>
    <p:sldId id="355" r:id="rId53"/>
    <p:sldId id="356" r:id="rId54"/>
    <p:sldId id="357" r:id="rId55"/>
    <p:sldId id="358" r:id="rId56"/>
    <p:sldId id="359" r:id="rId57"/>
    <p:sldId id="364" r:id="rId58"/>
    <p:sldId id="360" r:id="rId59"/>
  </p:sldIdLst>
  <p:sldSz cx="9144000" cy="6858000" type="screen4x3"/>
  <p:notesSz cx="6858000" cy="9144000"/>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C2F36"/>
    <a:srgbClr val="E6E6E6"/>
    <a:srgbClr val="FFFFFF"/>
    <a:srgbClr val="FFCC00"/>
    <a:srgbClr val="FF3399"/>
    <a:srgbClr val="CC3300"/>
    <a:srgbClr val="CC0099"/>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702" autoAdjust="0"/>
    <p:restoredTop sz="71461" autoAdjust="0"/>
  </p:normalViewPr>
  <p:slideViewPr>
    <p:cSldViewPr>
      <p:cViewPr varScale="1">
        <p:scale>
          <a:sx n="81" d="100"/>
          <a:sy n="81" d="100"/>
        </p:scale>
        <p:origin x="2310"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27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735946AC-E09A-483F-8583-9FD5E4B0CDF8}"/>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dirty="0">
                <a:latin typeface="Times New Roman" charset="0"/>
                <a:ea typeface="华文中宋" panose="02010600040101010101" pitchFamily="2" charset="-122"/>
              </a:defRPr>
            </a:lvl1pPr>
          </a:lstStyle>
          <a:p>
            <a:pPr>
              <a:defRPr/>
            </a:pPr>
            <a:endParaRPr lang="en-US" altLang="zh-CN"/>
          </a:p>
        </p:txBody>
      </p:sp>
      <p:sp>
        <p:nvSpPr>
          <p:cNvPr id="3075" name="Rectangle 3">
            <a:extLst>
              <a:ext uri="{FF2B5EF4-FFF2-40B4-BE49-F238E27FC236}">
                <a16:creationId xmlns:a16="http://schemas.microsoft.com/office/drawing/2014/main" id="{9CB92A7D-B3FE-47BD-9001-80EED12BFF5C}"/>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dirty="0">
                <a:latin typeface="Times New Roman" charset="0"/>
                <a:ea typeface="华文中宋" panose="02010600040101010101" pitchFamily="2" charset="-122"/>
              </a:defRPr>
            </a:lvl1pPr>
          </a:lstStyle>
          <a:p>
            <a:pPr>
              <a:defRPr/>
            </a:pPr>
            <a:endParaRPr lang="en-US" altLang="zh-CN"/>
          </a:p>
        </p:txBody>
      </p:sp>
      <p:sp>
        <p:nvSpPr>
          <p:cNvPr id="3076" name="Rectangle 4">
            <a:extLst>
              <a:ext uri="{FF2B5EF4-FFF2-40B4-BE49-F238E27FC236}">
                <a16:creationId xmlns:a16="http://schemas.microsoft.com/office/drawing/2014/main" id="{C7538F00-9974-4FF4-B14D-CB588A0480CC}"/>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dirty="0">
                <a:latin typeface="Times New Roman" charset="0"/>
                <a:ea typeface="华文中宋" panose="02010600040101010101" pitchFamily="2" charset="-122"/>
              </a:defRPr>
            </a:lvl1pPr>
          </a:lstStyle>
          <a:p>
            <a:pPr>
              <a:defRPr/>
            </a:pPr>
            <a:endParaRPr lang="en-US" altLang="zh-CN"/>
          </a:p>
        </p:txBody>
      </p:sp>
      <p:sp>
        <p:nvSpPr>
          <p:cNvPr id="3077" name="Rectangle 5">
            <a:extLst>
              <a:ext uri="{FF2B5EF4-FFF2-40B4-BE49-F238E27FC236}">
                <a16:creationId xmlns:a16="http://schemas.microsoft.com/office/drawing/2014/main" id="{44A0D55A-3C4B-4BD3-9F7D-7BC0BDD485F3}"/>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ea typeface="华文中宋" panose="02010600040101010101" pitchFamily="2" charset="-122"/>
              </a:defRPr>
            </a:lvl1pPr>
          </a:lstStyle>
          <a:p>
            <a:pPr>
              <a:defRPr/>
            </a:pPr>
            <a:fld id="{202D4972-DC98-46CD-9E4D-ABA7BC092A76}" type="slidenum">
              <a:rPr lang="en-US" altLang="zh-CN"/>
              <a:pPr>
                <a:defRPr/>
              </a:pPr>
              <a:t>‹#›</a:t>
            </a:fld>
            <a:endParaRPr lang="en-US" altLang="zh-CN" dirty="0"/>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3-10-23T10:56:24.836"/>
    </inkml:context>
    <inkml:brush xml:id="br0">
      <inkml:brushProperty name="width" value="0.05292" units="cm"/>
      <inkml:brushProperty name="height" value="0.05292" units="cm"/>
      <inkml:brushProperty name="color" value="#FF0000"/>
    </inkml:brush>
  </inkml:definitions>
  <inkml:trace contextRef="#ctx0" brushRef="#br0">5396 9148 17503 0,'0'10'1552'0,"0"-10"-1232"16,0 0-320-16,-5 3 0 0,-2 0 1536 0,2-1 256 15,1-4 64-15,4 2 0 0,0 0 560 0,-5 5 112 0,5-5 32 0,0 0 0 16,0 0-880-16,0 0-160 15,0 0-48-15,0 0 0 0,-7 5-640 0,3 0-128 0,-1 3-16 0,5-8-16 16,0 0-400-16,0 0-80 0,0 0 0 0,-2 14-16 16,2 4-176-16,0-2 192 0,2-7-192 0,-1 3 192 15,1 1-64-15,1-2 0 0,0 5 0 0,1 0 0 16,-1 2-128-16,0-2 160 0,2 0-160 0,0 4 160 16,-1 3-160-16,1-1 192 0,0-1-192 0,0-1 192 15,0 0-192-15,-2 0 192 0,2-4-192 0,-2 1 192 16,0 3-192-16,0-3 192 0,1 3-192 0,-1-4 192 15,0 0-192-15,0-2 0 0,0-4 0 0,1-1 128 16,-1 4-128-16,-2 0 0 0,1 6 0 0,0-3 0 16,1-6 0-16,-1-2 0 0,-1 0 0 0,1 0 0 15,-1 0 0-15,1 3 0 0,-2-3 0 0,0 4 0 0,0 0 0 16,0-2 0-16,-2-2 0 0,1 0 0 0,1 0 0 0,-2 5 0 16,1 1 0-16,1-14 0 0,0 0 0 0,-4-11 0 15,1 2 0-15,0-6 0 0,0-1 0 0,-1 0 0 16,1 2 0-16,0-6 0 0,0-7-144 0,1 1 144 15,1 2-192-15,-1 3 192 0,-1 5-192 0,1-1 192 16,1-11-192-16,1 4 192 0,0-1 0 0,0 1 0 16,1-1 0-16,1 5 0 31,-1-4 0-31,9-9 0 16,14-12 0-16,0 4 0 0,-5 1 0 0,-1 8 224 15,0 6-16-15,-1 7 0 0,1 11-208 0,-2-2 176 0,0-3-176 0,0 2 160 16,-1 6-160-16,-1-1 160 0,1 1-160 15,-1 0 160-15,-1 2-160 0,-2 3 160 0,0 5-160 0,1 3 160 16,-3 0-32-16,1 4-128 0,-2 0 192 0,0-6-64 16,0-12-128-16,0 3 128 0,-2 6-128 0,1 5 128 15,-1 3-128-15,1-1 0 0,-1 1 144 0,-1 2-144 16,0 3 160-16,-1 3-32 0,0 3-128 0,-1-1 192 16,-2-1 0-16,1 0-16 0,0 5 0 0,-1-5 0 15,1 4-48-15,-1-3 0 0,1-1 0 0,1-4 0 16,-1-3-128-16,1 3 160 0,-1 0-160 0,-1-4 160 15,1 1-160-15,1 0 0 0,-1-3 0 0,-1-4 128 16,-1-6-128-16,0 0 0 0,0 0 0 0,0 0 0 16,0 0 0-16,0 0 0 0,0 0 0 0,0 0 0 15,0 0-384-15,0 0 64 0,0 0 0 0,0 0 0 16,0 0-480-16,0 0-96 0,-1-6 0 0,-2-1-18736 16</inkml:trace>
  <inkml:trace contextRef="#ctx0" brushRef="#br0" timeOffset="1653.51">6323 3007 22111 0,'0'0'1968'16,"0"0"-1584"-16,0 0-384 0,0 0 0 0,0 0 560 0,0 0 16 16,0 0 16-16,0 0 0 0,0 0 1504 0,0 0 288 15,0 0 64-15,0 0 16 0,0 0-1104 0,0 0-208 16,3 9-64-16,1 0 0 0,-3 3-272 0,2 0-64 16,2 0-16-16,0 4 0 0,-2 1-176 0,0 2-48 15,2-2 0-15,0 4 0 0,-2 3-144 0,0-3-48 16,1 3 0-16,-3 0 0 0,1-3-48 0,-1 3-16 15,1 5 0-15,0-1 0 0,-2-3-64 0,0-1 0 16,0 0-16-16,0-3 0 0,0 0-176 0,0 0 0 0,0-5 0 16,0 0 128-16,-2 0-128 0,2-3 128 0,-2-5-128 15,-1 0 128-15,3-8-128 0,0 0 0 0,-3 8 0 16,3-8-176-16,0 0 176 0,0 0 0 0,0 0 0 0,0 0 0 16,-6-3 0-16,1-4 0 0,0-4 0 0,3-2 0 15,1 2-128-15,-1-2 128 0,4 0-128 0,-1-6 128 16,-1-2-160-16,4-3 160 0,-1 3-192 0,2-6 192 15,-1 1-240-15,1-1 64 0,2 1 16 0,-1-1 0 16,2-2-16-16,0 4 0 0,2 0 0 0,-2 1 0 16,0 0 176-16,0 3-160 0,0 5 160 0,1 0-160 15,1 2 160-15,0-1 0 0,-1 6 0 0,1-2 0 16,-2 3 0-16,2 0 0 0,-1 0 0 0,4-1-128 16,0 8 128-16,-2-2 0 0,-3 3-144 0,3 0 144 15,-1 3 0-15,0-2-144 0,-1 8 144 0,1-3 0 0,-2 2-128 16,-2 2 128-16,1 1 0 0,-1 2 0 0,-1 0 0 0,0 6 0 15,-2-2 0-15,0 4 0 0,-1 0 240 0,0 2-48 16,-2-1-16-16,0 5 0 0,0-1 0 0,0-2 0 16,-2 0 0-16,2 0 0 0,0-3-176 0,0 2 0 15,3-2 144-15,-1-4-144 0,-1-1 0 0,1-3 0 16,0 2 0-16,-1-6 128 0,1 2-128 0,-1-1 0 16,1-2 0-16,-2-2 0 0,0-6 0 0,0 0 0 15,0 7 0-15,0-7 0 0,0 0-304 0,0 0 32 16,0 0 0-16,0 0-12384 15,0 0-2464-15</inkml:trace>
</inkml:ink>
</file>

<file path=ppt/ink/ink2.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3-10-23T10:59:24.837"/>
    </inkml:context>
    <inkml:brush xml:id="br0">
      <inkml:brushProperty name="width" value="0.05292" units="cm"/>
      <inkml:brushProperty name="height" value="0.05292" units="cm"/>
      <inkml:brushProperty name="color" value="#FF0000"/>
    </inkml:brush>
  </inkml:definitions>
  <inkml:trace contextRef="#ctx0" brushRef="#br0">7506 7496 5519 0,'0'0'496'0,"0"0"-496"0,0 0 0 0,0 0 0 16,0 0 1664-16,0 0 256 0,0 0 32 0,0 0 16 15,-3-4 1136-15,-1-3 224 0,1 1 64 0,3 6 0 16,-3-7-1152-16,3 7-208 0,-3-8-48 0,3 8-16 0,-3-4-832 0,3 4-176 16,0 0-16-16,-4-5-16 15,4 5-112-15,-4-7-32 0,0 6 0 0,0-3 0 0,4 4-144 0,-5-3-48 16,5 3 0-16,-8 0 0 0,0 0-272 0,8 0-64 15,-8 3-16-15,0 2 0 0,0 3-240 0,1-1 128 16,1 1-128-16,1 0 0 0,0 1 128 0,0-1-128 16,2 5 0-16,0-1 144 0,0 0 16 0,-1 1 0 15,3 0 0-15,-2 1 0 0,-1-1 64 0,3 5 16 16,-1 0 0-16,2-1 0 0,0 1 16 0,2 0 16 16,-1-4 0-16,3 2 0 0,0 0-80 0,1 0 0 15,2 0-16-15,-1-3 0 0,2-5-32 0,2 0 0 16,-1 0 0-16,3 0 0 0,-1-3 48 0,2 1 0 0,0-1 0 15,-1-2 0-15,3-1-32 0,-1 1 0 16,2-1 0-16,0 1 0 0,-1-6-16 0,1 1 0 0,0-4 0 0,-2-1 0 16,1 1 0-16,-1-4 0 0,1-1 0 0,-2-5 0 15,-2 0-16-15,-2-5-128 0,1 2 192 0,-2-2-64 16,-2-1-128-16,-1-1 0 0,-1 1 0 16,-3-1 128-16,-1 1-128 0,-1-1 0 0,-3 2 0 0,-1 2 0 15,-1-2 0-15,-4 0 0 0,-1 4 0 0,-2-3 0 16,-1 3 0-16,-2 1-176 0,-3 1 176 0,-2 2-128 15,-2 5 128-15,1 0 0 0,-1 4 0 0,1 4 0 16,1 4 0-16,2 1-128 0,1 3 128 0,2 0 0 16,0 0 0-16,3 0 0 0,5 0 0 0,0 4-128 15,2-3 128-15,-1 2 0 0,1 1 0 0,1-3 0 16,2 4-256-16,0-2 16 0,-1 2 16 0,3 3 0 16,-1-3-528-16,1-2-96 0,-1 2-32 15,5 3-18848-15</inkml:trace>
</inkml:ink>
</file>

<file path=ppt/ink/ink3.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1-04T05:20:26.922"/>
    </inkml:context>
    <inkml:brush xml:id="br0">
      <inkml:brushProperty name="width" value="0.05292" units="cm"/>
      <inkml:brushProperty name="height" value="0.05292" units="cm"/>
      <inkml:brushProperty name="color" value="#FF0000"/>
    </inkml:brush>
  </inkml:definitions>
  <inkml:trace contextRef="#ctx0" brushRef="#br0">7276 12521 22111 0,'-11'-13'976'16,"2"3"208"-16,-4-4-944 0,1 6-240 0,12 8 0 0,0 0 0 0,-14-10 2384 0,4-1 432 16,4 3 96-16,6 8 16 0,0 0-1840 0,0 0-352 15,-3-10-80-15,3 10-16 0,0 0-480 0,0 0-160 16,0 0 0-16,6-10 0 0,-1-4 128 0,1 3-128 15,-6 11 0-15,10-5 0 0,0-3 128 0,-1 1-128 16,3-2 0-16,0 6 0 0,1 1 160 0,0-1-32 16,0 3 0-16,0-3 0 0,1 3 64 0,4 0 0 15,3 0 0-15,4 0 0 0,-1-5-64 0,4 0 0 16,1 2 0-16,4 1 0 0,7 2 0 0,-1 2 0 16,-1-2 0-16,3 5 0 0,-3-2-128 0,2 5 192 15,0 0-192-15,4-3 192 0,1 3-192 0,0-2 192 0,-1 1-192 16,5 1 192-16,0 0-192 0,3-2 0 0,-1 0 0 0,0 2 0 15,-1 0 0-15,0-1 128 0,-4 1-128 0,3-3 0 16,-1 3 0-16,1 0 0 0,1 3 128 0,2-1-128 16,1-2 0-16,3 0 0 0,3-3 0 0,2 1 0 15,0-1 128-15,-2-2-128 0,-2-1 0 0,2-4 128 16,2-4-128-16,2 4 0 0,1 2 144 0,3-3-144 16,1-2 0-16,-1-2 144 0,0-1-144 0,-4 4 0 15,-5-4 128-15,-2 0-128 0,0-2 0 0,0 4 0 16,-1 6 0-16,1 0 0 0,0 0 0 0,2 0 0 15,1 0 144-15,1 0-144 0,-4 0 0 0,2 0 144 16,-5-8-144-16,0 3 0 0,1 3 144 0,1 0-144 16,1 1 0-16,0-2 0 0,0 1 0 0,4-1 128 15,-1 4-128-15,0-1 128 0,-3-1-128 0,-1-2 128 0,-5-1-128 0,-2 0 144 16,0 2-144-16,0 0 160 0,-1 1-160 0,-1 1 0 16,1-3 0-16,-1 6 128 0,2 0-128 0,4-1 0 15,-2 1 144-15,-1-2-144 0,1-1 240 0,-3 4-32 16,-4 0 0-16,3-4 0 0,-1-1-16 0,2 1-16 15,-2 3 0-15,1-1 0 0,3 4-176 0,-1-1 160 16,0-3-160-16,5 1 160 0,3 0-160 0,-1 2 0 16,-2-2 0-16,-5-3 128 0,-2-3-128 0,-1 0 0 15,-2 3 0-15,-1 0 0 0,2-5 0 0,-4 2 0 16,-3-2 128-16,1 3-128 0,-1 2 224 0,0 0 16 16,0 2 0-16,-2-2 0 0,-3-2 32 0,2 2 16 15,0 2 0-15,-4-2 0 0,-4-4-128 0,-2 0-32 0,-5 0 0 0,-1 3 0 16,-2 1-128-16,0 0 0 0,-2-5 0 0,-1 3 0 15,-13 2 0-15,15 4 0 0,-3 4 128 0,0-4-128 16,-12-4 0-16,14-1 0 0,-3 2 0 0,1 3 0 31,-12-4-544-31,0 0-32 0,0 0-16 0,0 0-12208 0,11 8-2448 0</inkml:trace>
</inkml:ink>
</file>

<file path=ppt/ink/ink4.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1-04T05:45:40.748"/>
    </inkml:context>
    <inkml:brush xml:id="br0">
      <inkml:brushProperty name="width" value="0.05292" units="cm"/>
      <inkml:brushProperty name="height" value="0.05292" units="cm"/>
      <inkml:brushProperty name="color" value="#FF0000"/>
    </inkml:brush>
  </inkml:definitions>
  <inkml:trace contextRef="#ctx0" brushRef="#br0">3126 4872 7359 0,'0'0'320'0,"0"0"80"0,0 0-400 0,0 0 0 0,0 0 0 0,0 0 0 15,0 0 2416-15,0 0 400 0,0 0 64 0,0 0 32 16,-3-11-1824-16,3 11-352 0,0 0-80 0,0 0-16 16,0 0-400-16,0 0-96 0,0 0-16 0,0 0 0 15,-13-3-128-15,13 3 0 0,0 0 0 0,0 0 0 16,-16-2 0-16,16 2 0 0,-13 3 0 0,1 2 0 16,12-5 0-16,-13 11 0 0,0-1 0 0,3 3 128 15,4-5 208-15,-4 3 48 0,-1-1 0 0,5-2 0 16,6-8 0-16,-10 16 16 0,-1-2 0 0,3-4 0 15,8-10-64-15,-10 11-16 0,2-3 0 0,8-8 0 16,-8 10 16-16,8-10 0 0,0 0 0 0,-8 11 0 16,8-11 112-16,-6 10 0 0,6-10 16 0,0 0 0 15,0 0 128-15,-8 8 32 0,8-8 0 0,0 0 0 0,0 0 32 16,0 0 16-16,0 0 0 0,0 0 0 0,0 0-224 16,0 0-32-16,0 0-16 0,0 0 0 0,0 0-144 0,0 0-48 15,-2 12 0-15,2-12 0 0,0 0-16 0,0 0-16 16,0 0 0-16,14 8 0 0,-4-1-176 0,-10-7 160 15,14 3-160-15,-1-1 160 0,-2-2-160 0,1 0 0 16,-1 0 144-16,-1-2-144 0,-10 2 128 0,12-3-128 16,0 0 160-16,-12 3-160 0,16-4 288 0,-3 0-32 15,-2 0-16-15,2 0 0 0,-1 2-80 0,3-1-16 16,1 3 0-16,2-3 0 0,-1 1-144 0,3-4 192 16,-3 1-192-16,2 0 192 0,1 0-192 0,1-1 160 15,-1 1-160-15,3 0 160 0,-2-1-160 0,0 4 0 0,-1-1 0 16,0 0 0-16,-1-2 0 0,0 2 128 0,0 3-128 15,1 0 0-15,-3 0 0 0,1 0 0 0,0-2 128 0,-1 2-128 16,1 0 0-16,1-3 0 0,1 3 0 0,-1-2 128 16,3-1-128-16,-2 0 0 0,-1-2 0 0,0 2 0 15,0 1 0-15,1-1 0 0,-3-2 0 0,2-1 0 16,2 4 176-16,-1-1-48 0,-3 0-128 0,2 3 192 16,-1-5-48-16,0 5-16 0,-2-2 0 0,1 1 0 15,1-4 0-15,0 2 0 0,1-2 0 0,0 3 0 16,-1-1-128-16,0 0 0 0,-2-2 0 0,1 2 0 15,6-5 0-15,2 3 192 0,-4-3-192 0,2 5 192 16,-1-2-64-16,2 0 0 0,2-1 0 0,-2 1 0 16,-1-3-128-16,-1 3 192 0,0-3-192 0,-2 3 192 15,-1-1-192-15,2-1 0 0,-3-1 144 0,-1-3-144 16,1 6 0-16,1-1 0 0,-1-1 0 0,-1 1 128 0,1 1-128 16,-2 0 0-16,0 2 0 0,0-2 128 0,0-1-128 15,0 1 0-15,0 3 0 0,0-1 128 0,0 0-128 0,0 1 0 16,-4-6 0-16,2 5 128 0,2 0-128 0,0 3 0 15,-3 0 0-15,3 0 0 0,2-3 0 0,-1 1 0 16,1 2 0-16,-2-3 0 0,0 1 0 0,0-1 0 16,-1 3 0-16,-1 0 0 0,5-3 0 0,1 1 0 15,-3-4 0-15,3 6 0 0,-1 3 0 0,-2 2 0 16,-2 3 0-16,1-2 0 0,-2-6 0 0,1 0 0 16,-2 2 0-16,0-2 0 0,-1 5 0 0,3-4 144 15,-15-1-144-15,17 0 0 0,-2 2 128 0,1 3-128 16,0-2 0-16,0 2 0 0,0-7 0 0,0 2 0 0,0 3 128 15,0-1-128-15,0-2 0 0,0 0 0 0,-1 3 0 16,-1-1 0-16,1 4 0 0,-3-4 0 0,-12-2 128 0,15 5-128 16,-15-5 144-16,14 6-16 0,-1-1-128 0,-3 0 192 15,-10-5 16-15,0 0 0 0,0 0 0 0,0 0 0 16,0 0 16-16,0 0 0 0,0 0 0 0,0 0 0 16,0 0-32-16,0 0 0 0,0 0 0 0,0 0 0 15,0 0-192-15,0 0 176 0,0 0-176 0,-10 8 160 16,-1-5-160-16,0 2 0 0,-2-5 0 0,0 0 128 15,-5 0-1792 1,2 0-384-16,-3 0-64 0</inkml:trace>
  <inkml:trace contextRef="#ctx0" brushRef="#br0" timeOffset="814.91">6551 4822 3679 0,'0'0'320'16,"0"0"-320"-16,0 0 0 0,0 0 0 16,0 0 4624-16,0 0 864 0,0 0 160 0,0 0 48 15,0 0-3488-15,0 0-688 0,0 0-144 0,0 0-32 0,0 0-704 0,0 0-128 16,0 0-48-16,11-6 0 0,-11 6-320 0,0 0-144 15,13-2 128-15,-2 1-128 0,-11 1 176 0,15-2-48 16,-4 2-128-16,0 0 192 0,0 0 64 0,2 0 0 16,-13 0 0-16,15 2 0 0,1-4 112 0,3 2 16 15,-1-3 16-15,1 3 0 0,0 0-80 0,4 3 0 16,2 0-16-16,3-1 0 0,-3-2 0 0,3 0 0 16,0 0 0-16,3 0 0 0,-1 5-112 0,1-4 0 15,3 1-16-15,-1 1 0 0,1-1-176 0,3-1 0 16,1-1 0-16,3 5 0 0,0-3 0 0,4 1 0 15,2-3 0-15,3 5 0 0,3-2 0 0,1 0 0 16,-1-1 0-16,-2 1 0 0,-4 0 0 0,1 2 0 0,0-2 0 0,4-1 0 16,-4-2 208-16,1 3-32 0,3 0-16 0,2-1 0 15,1-2 0-15,1 0 0 0,0 3 0 0,-1-1 0 16,-4 1-32-16,-1 2 0 0,-4 1 0 0,1-1 0 16,-2 0-128-16,0 0 0 0,0-2 0 0,-3 3 128 15,-4-1-128-15,-1 0 192 0,-2 3-192 0,1 1 192 16,-3 0-192-16,-1-1 0 0,-3-5 0 0,0 5 128 15,0-3 0-15,0 3-128 0,1 3 192 0,-2-6-64 16,-1 3-128-16,0-4 0 0,1 0 0 0,0 1 128 16,1 3-128-16,2-5 0 0,-4-3 0 0,2 5 0 15,0-2 0-15,0-2-144 0,-4 1 0 0,3 0 0 16,-1 1-1520-16,2 0-288 0,1-1-64 16</inkml:trace>
  <inkml:trace contextRef="#ctx0" brushRef="#br0" timeOffset="53264.51">3874 14251 11055 0,'-8'-21'480'0,"3"13"112"0,-1 3-464 0,3-3-128 0,-1-5 0 0,4 2 0 0,4 3 4592 0,-1 0 896 16,-3 8 176-16,6-10 32 0,-6 10-3888 0,7-11-784 15,-7 11-144-15,6-8-48 0,-6 8-384 0,0 0-96 16,0 0-16-16,7-5 0 0,-7 5-144 0,0 0-48 15,0 0 0-15,0 0 0 0,0 0 192 0,0 0 48 16,12 0 0-16,-12 0 0 0,0 0-112 0,0 0-16 0,0 0 0 16,16 0 0-16,-16 0 160 0,15 2 32 0,-15-2 0 0,0 0 0 15,14 0 64-15,-1 0 32 0,-13 0 0 0,15 0 0 16,-3 1-96-16,-12-1-32 0,15 2 0 0,-15-2 0 16,14 5-416-16,-14-5 0 0,15 6 0 0,-15-6 0 15,17 5 0-15,-2 3 0 0,-2-3 0 0,1 3 0 16,1-3 0-16,-15-5 0 0,16 6 0 0,-2-3 0 15,2-3 0-15,-1 0 0 0,-3-1 0 0,4-1 0 16,2 2 0-16,-2-3 0 0,-1 1 0 0,1-1 128 16,0-2 0-16,0 2-128 0,0 0 192 0,0 0-64 15,0-2 176-15,0 3 16 0,-2-1 16 0,1 3 0 16,-1 0-112-16,2 0-32 0,2 0 0 0,-2 0 0 16,0-3-192-16,2 6 0 0,3-3 128 0,1 0-128 15,-1 0 0-15,1 0 0 0,1 0 0 0,1 0 0 16,2 0 0-16,-1 3 0 0,1-1 0 0,1-2 0 0,4 0 0 15,1 0 0-15,-2 5 0 0,2-2 0 0,2 0 0 0,1 2 0 16,1 0 0-16,-1 1 0 0,-3-1 0 0,0 0 0 16,0-2 0-16,4 5 0 0,-1 0 0 0,2-3 0 15,-3 1 0-15,1 1 0 0,0 1 0 0,2 3 0 16,-2 2 0-16,6 0 0 0,-1-2 0 0,1 2 0 16,1 3 0-16,0 0 0 0,0 0 128 0,-1-3-128 15,-1 1 0-15,1-1 144 0,-3 3-144 0,4-1 0 16,-1-4 0-16,4 2-176 0,2-2 176 0,1 0 0 15,2-1 0-15,1-2 0 0,1-3 128 0,1-2 0 16,1 0 0-16,-3-1 0 0,-4 1-128 0,1-3 0 0,-1-3 0 16,1 3 128-16,-2 3-128 0,2-2 0 15,-3 3 0-15,2 0 0 0,1-2 0 0,0 0 0 0,0 3 0 16,2-2 128-16,0 0-128 0,-2-1 0 0,-5-1 0 0,1 1 0 16,-3 3 0-16,1-2 0 0,0 2 0 0,1 3 0 15,-1-2 0-15,1 2 0 0,1 0 0 0,4-1 0 16,1-4 0-16,3 2 0 0,1 1 0 0,-2-1 0 15,-3-2 0-15,0 2 0 0,1 0 0 0,-1-1 0 16,0 0 0-16,0 0 0 0,2 3 0 0,-2-2 0 16,0 3 0-16,3 0 0 0,2 0 0 0,0 0 0 15,0-3 0-15,0 3 0 0,-5-4 0 0,2 4 0 16,0-3 0-16,0-2 0 0,-2 4 0 0,2-5 0 16,2 2 0-16,3 0 128 0,1 0-128 0,4 0 0 15,2 0 0-15,-1 0 0 0,-5-4 0 0,1 3 0 16,0-2 0-16,3 3 0 0,-3-1 0 0,3-2 0 15,1-1 0-15,3 5 0 0,2-2 0 0,0 1 0 16,-4-4 0-16,-1 3 0 0,0-2 0 0,0 3 0 0,0-4 0 0,2 1 0 16,-1 3 0-16,4-4 128 0,3 0-128 0,0 0 0 15,2 3 0-15,-4-2 128 0,-1-1-128 0,0 4 0 16,-1-4-128-16,4 3 128 0,-1-2 0 0,3 3 0 16,2-3 0-16,-2 2 0 0,-4 1 0 0,1-3 0 15,-1-1 0-15,-1 2 128 0,-5-1-128 0,2 3 0 16,4-3 0-16,-3 2 128 0,-3 1-128 0,2-3 0 15,2-1 0-15,0 0 0 0,-3 2 0 0,1-2 0 16,-1 0 0-16,4 0 0 0,0 0 0 0,1-2 0 16,6 1 0-16,0-3 0 0,1 3 0 0,-1-2 0 15,-1-1 0-15,-2 3 128 0,-1-2-128 0,4-1 0 16,0 0 0-16,3-1 0 0,-1-2 0 0,-1 3 0 0,-7-5 0 0,2 6 0 16,0-2 0-16,0 1 0 0,4-3 0 0,-1 1 0 15,2-1 0-15,0 3 0 0,-1-4 0 0,0 3 0 16,-4 0 0-16,1-2 0 0,1 3 0 0,3-1 0 15,4-3 0-15,1 1 0 0,1-1 0 0,-1 0 0 16,-5 0 0-16,-2 2 0 0,0 0 0 0,0 1 0 16,-3 0 0-16,3 2 0 0,2-1 0 0,3 3 0 15,-3-2 0-15,0-2 0 0,-2 0 0 0,0-1 0 16,1 2 0-16,-1-2 0 0,0 0 0 0,2 1 0 16,1 0 0-16,-2 0 144 0,-3-1-144 0,-1 1 0 15,0-3-704 1,-1 1-240-16,-3 3-48 0,4-1-16 0,0 2 1648 0,4 1 336 0,0-1 64 0,0-5 16 15,-6 5-832-15,-1-2-224 0,0 3 0 0,1-1 0 0,-1-2 0 16,3 2 0-16,0 0 128 0,3-2-128 0,0 0 0 16,-3-1 0-16,-1-2 0 0,-3 1 0 0,1 1 0 0,0 4 0 15,1-1 0-15,4 0 0 0,3-2 0 0,0 2 0 16,-2 1 0-16,-1-4 0 0,-2-1 0 0,0-1 0 16,0 0 0-16,1 5 0 0,2 0 0 0,2 3 0 15,0-5 0-15,0 0 0 0,0-1 0 0,1 4 128 16,-1-1-128-16,3 0 0 0,-2-5 128 0,4 1-128 15,9 4 0-15,-3 0 128 0,-4-10-128 0,-1 5 0 16,-2-5 0-16,0 2 0 0,-1 6 0 0,3-3 0 16,3-3 0-16,1 4 0 0,-2-1 0 0,-2 2 0 15,-2 3 128-15,-1-2-128 0,0-3 0 0,2 3 0 16,1-3 0-16,4 3 0 0,1 2 0 0,-2 0 0 0,-2-4 0 16,-1 1 0-16,-2 6 0 0,3-2 0 0,-1 1 0 0,3-1 0 15,1-1 0-15,-2 0 0 0,-5-2 0 0,-2 3 0 16,1-1 0-16,-3 0 0 0,1-2 0 0,5 2 0 15,3-2 0-15,-2 3 0 0,-6 1 0 0,0-1 0 16,-2-1 0-16,0 3 0 0,-3 0 0 0,0 3 0 16,0-1 0-16,2-1 0 0,1 1 0 0,-3 1 0 15,-5-1 0-15,-1-1 0 0,-2 1 0 0,0-2 0 16,-2 5 0-16,2-2 0 0,0 2 0 0,0-2 0 16,0-1 0-16,-2 1 0 0,1 0 0 0,-3 0 0 15,-2-1 0-15,-2 1 0 0,-2-6 0 0,-1 6 0 16,-2 5 0-16,2-3 0 0,-2 3 0 0,0-3 0 15,0-2 0-15,1 2 0 0,-1 1 0 0,-2 1 0 16,-4-4 0-16,0 0 0 0,-2-1 0 0,0-1 0 0,-2 6 0 16,-1-4 0-16,-1 0 0 0,-1-1 0 0,0 1 0 0,-1 2 0 15,0 3 128-15,1-3-128 0,2-4 0 0,0 1 0 16,0 6 0-16,1-5 0 0,1 0 0 0,-2-1 0 16,-4-4 0-16,-1 4 0 0,1 1 0 0,-1-1 0 15,3-2 0-15,-1 3 0 0,-4 0 0 0,2 2 0 16,-1 0 0-16,1 0 0 0,-2-5 0 0,1 1 0 15,-1 1 0-15,1 3 0 0,1-2 0 0,0 2 0 16,-3-5 0-16,1 1 0 0,1 1 0 0,-1 3 0 16,1 3 128-16,-2-5-128 0,-2-3 0 0,-1 0 0 15,-4 3 0-15,1-1 0 0,-1 1 0 0,1-3 0 16,-4-3 128-16,-2 3-128 0,1 0 0 0,0 5 0 16,-4-4 0-16,-1-1 0 0,0 0 0 0,0 2 0 0,-2 4 0 15,-11-6 0-15,13 0 0 0,-13 0 0 0,13 2 0 0,-13-2 0 16,0 0 0-16,12 3 0 0,-12-3-192 0,0 0 192 31,0 0-1232-31,0 0-128 0,7 8-32 0,-7-8-18768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7EA067-07BB-459D-9352-13FE49CB3624}" type="datetimeFigureOut">
              <a:rPr lang="zh-CN" altLang="en-US" smtClean="0"/>
              <a:t>2024/10/30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3F27EB-4D80-47C5-8BEE-5A219E081C30}" type="slidenum">
              <a:rPr lang="zh-CN" altLang="en-US" smtClean="0"/>
              <a:t>‹#›</a:t>
            </a:fld>
            <a:endParaRPr lang="zh-CN" altLang="en-US"/>
          </a:p>
        </p:txBody>
      </p:sp>
    </p:spTree>
    <p:extLst>
      <p:ext uri="{BB962C8B-B14F-4D97-AF65-F5344CB8AC3E}">
        <p14:creationId xmlns:p14="http://schemas.microsoft.com/office/powerpoint/2010/main" val="2074302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没有</a:t>
            </a:r>
            <a:r>
              <a:rPr lang="en-US" altLang="zh-CN" dirty="0"/>
              <a:t>-1</a:t>
            </a:r>
            <a:r>
              <a:rPr lang="zh-CN" altLang="en-US" dirty="0"/>
              <a:t>怎么计算</a:t>
            </a:r>
            <a:r>
              <a:rPr lang="en-US" altLang="zh-CN" dirty="0"/>
              <a:t>r;</a:t>
            </a:r>
            <a:r>
              <a:rPr lang="zh-CN" altLang="en-US" dirty="0"/>
              <a:t>需要增加对</a:t>
            </a:r>
            <a:r>
              <a:rPr lang="en-US" altLang="zh-CN" dirty="0"/>
              <a:t>r</a:t>
            </a:r>
            <a:r>
              <a:rPr lang="zh-CN" altLang="en-US"/>
              <a:t>的处理；</a:t>
            </a:r>
            <a:endParaRPr lang="zh-CN" altLang="en-US" dirty="0"/>
          </a:p>
        </p:txBody>
      </p:sp>
      <p:sp>
        <p:nvSpPr>
          <p:cNvPr id="4" name="灯片编号占位符 3"/>
          <p:cNvSpPr>
            <a:spLocks noGrp="1"/>
          </p:cNvSpPr>
          <p:nvPr>
            <p:ph type="sldNum" sz="quarter" idx="5"/>
          </p:nvPr>
        </p:nvSpPr>
        <p:spPr/>
        <p:txBody>
          <a:bodyPr/>
          <a:lstStyle/>
          <a:p>
            <a:fld id="{B93F27EB-4D80-47C5-8BEE-5A219E081C30}" type="slidenum">
              <a:rPr lang="zh-CN" altLang="en-US" smtClean="0"/>
              <a:t>33</a:t>
            </a:fld>
            <a:endParaRPr lang="zh-CN" altLang="en-US"/>
          </a:p>
        </p:txBody>
      </p:sp>
    </p:spTree>
    <p:extLst>
      <p:ext uri="{BB962C8B-B14F-4D97-AF65-F5344CB8AC3E}">
        <p14:creationId xmlns:p14="http://schemas.microsoft.com/office/powerpoint/2010/main" val="3651823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lvl1pPr>
              <a:defRPr>
                <a:ea typeface="华文中宋" panose="02010600040101010101" pitchFamily="2" charset="-122"/>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ea typeface="华文中宋" panose="02010600040101010101" pitchFamily="2" charset="-122"/>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dirty="0"/>
              <a:t>单击此处编辑母版副标题样式</a:t>
            </a:r>
          </a:p>
        </p:txBody>
      </p:sp>
      <p:sp>
        <p:nvSpPr>
          <p:cNvPr id="4" name="Rectangle 4">
            <a:extLst>
              <a:ext uri="{FF2B5EF4-FFF2-40B4-BE49-F238E27FC236}">
                <a16:creationId xmlns:a16="http://schemas.microsoft.com/office/drawing/2014/main" id="{8D2B0816-9238-4EF5-B7EC-F5264E7B42E6}"/>
              </a:ext>
            </a:extLst>
          </p:cNvPr>
          <p:cNvSpPr>
            <a:spLocks noGrp="1" noChangeArrowheads="1"/>
          </p:cNvSpPr>
          <p:nvPr>
            <p:ph type="dt" sz="half" idx="10"/>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2537109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ea typeface="华文中宋" panose="02010600040101010101" pitchFamily="2" charset="-122"/>
              </a:defRPr>
            </a:lvl1pPr>
          </a:lstStyle>
          <a:p>
            <a:r>
              <a:rPr lang="zh-CN" altLang="en-US" dirty="0"/>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lvl1pPr>
              <a:defRPr>
                <a:ea typeface="华文中宋" panose="02010600040101010101" pitchFamily="2" charset="-122"/>
              </a:defRPr>
            </a:lvl1pPr>
            <a:lvl2pPr>
              <a:defRPr>
                <a:ea typeface="华文中宋" panose="02010600040101010101" pitchFamily="2" charset="-122"/>
              </a:defRPr>
            </a:lvl2pPr>
            <a:lvl3pPr>
              <a:defRPr>
                <a:ea typeface="华文中宋" panose="02010600040101010101" pitchFamily="2" charset="-122"/>
              </a:defRPr>
            </a:lvl3pPr>
            <a:lvl4pPr>
              <a:defRPr>
                <a:ea typeface="华文中宋" panose="02010600040101010101" pitchFamily="2" charset="-122"/>
              </a:defRPr>
            </a:lvl4pPr>
            <a:lvl5pPr>
              <a:defRPr>
                <a:ea typeface="华文中宋" panose="02010600040101010101"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4">
            <a:extLst>
              <a:ext uri="{FF2B5EF4-FFF2-40B4-BE49-F238E27FC236}">
                <a16:creationId xmlns:a16="http://schemas.microsoft.com/office/drawing/2014/main" id="{61C2A9EF-ADF3-435A-821C-DA349F5DD10F}"/>
              </a:ext>
            </a:extLst>
          </p:cNvPr>
          <p:cNvSpPr>
            <a:spLocks noGrp="1" noChangeArrowheads="1"/>
          </p:cNvSpPr>
          <p:nvPr>
            <p:ph type="dt" sz="half" idx="10"/>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2711624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ea typeface="华文中宋" panose="02010600040101010101" pitchFamily="2" charset="-122"/>
              </a:defRPr>
            </a:lvl1pPr>
          </a:lstStyle>
          <a:p>
            <a:r>
              <a:rPr lang="zh-CN" altLang="en-US" dirty="0"/>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ea typeface="华文中宋" panose="02010600040101010101" pitchFamily="2" charset="-122"/>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dirty="0"/>
              <a:t>单击此处编辑母版文本样式</a:t>
            </a:r>
          </a:p>
        </p:txBody>
      </p:sp>
      <p:sp>
        <p:nvSpPr>
          <p:cNvPr id="4" name="Rectangle 4">
            <a:extLst>
              <a:ext uri="{FF2B5EF4-FFF2-40B4-BE49-F238E27FC236}">
                <a16:creationId xmlns:a16="http://schemas.microsoft.com/office/drawing/2014/main" id="{D333706A-7DD1-4DE9-869F-974A07F89218}"/>
              </a:ext>
            </a:extLst>
          </p:cNvPr>
          <p:cNvSpPr>
            <a:spLocks noGrp="1" noChangeArrowheads="1"/>
          </p:cNvSpPr>
          <p:nvPr>
            <p:ph type="dt" sz="half" idx="10"/>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15340126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ea typeface="华文中宋" panose="02010600040101010101" pitchFamily="2" charset="-122"/>
              </a:defRPr>
            </a:lvl1pPr>
          </a:lstStyle>
          <a:p>
            <a:r>
              <a:rPr lang="zh-CN" altLang="en-US" dirty="0"/>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ea typeface="华文中宋" panose="02010600040101010101" pitchFamily="2" charset="-122"/>
              </a:defRPr>
            </a:lvl1pPr>
            <a:lvl2pPr>
              <a:defRPr sz="2400">
                <a:ea typeface="华文中宋" panose="02010600040101010101" pitchFamily="2" charset="-122"/>
              </a:defRPr>
            </a:lvl2pPr>
            <a:lvl3pPr>
              <a:defRPr sz="2000">
                <a:ea typeface="华文中宋" panose="02010600040101010101" pitchFamily="2" charset="-122"/>
              </a:defRPr>
            </a:lvl3pPr>
            <a:lvl4pPr>
              <a:defRPr sz="1800">
                <a:ea typeface="华文中宋" panose="02010600040101010101" pitchFamily="2" charset="-122"/>
              </a:defRPr>
            </a:lvl4pPr>
            <a:lvl5pPr>
              <a:defRPr sz="1800">
                <a:ea typeface="华文中宋" panose="02010600040101010101"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ea typeface="华文中宋" panose="02010600040101010101" pitchFamily="2" charset="-122"/>
              </a:defRPr>
            </a:lvl1pPr>
            <a:lvl2pPr>
              <a:defRPr sz="2400">
                <a:ea typeface="华文中宋" panose="02010600040101010101" pitchFamily="2" charset="-122"/>
              </a:defRPr>
            </a:lvl2pPr>
            <a:lvl3pPr>
              <a:defRPr sz="2000">
                <a:ea typeface="华文中宋" panose="02010600040101010101" pitchFamily="2" charset="-122"/>
              </a:defRPr>
            </a:lvl3pPr>
            <a:lvl4pPr>
              <a:defRPr sz="1800">
                <a:ea typeface="华文中宋" panose="02010600040101010101" pitchFamily="2" charset="-122"/>
              </a:defRPr>
            </a:lvl4pPr>
            <a:lvl5pPr>
              <a:defRPr sz="1800">
                <a:ea typeface="华文中宋" panose="02010600040101010101"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Rectangle 4">
            <a:extLst>
              <a:ext uri="{FF2B5EF4-FFF2-40B4-BE49-F238E27FC236}">
                <a16:creationId xmlns:a16="http://schemas.microsoft.com/office/drawing/2014/main" id="{211E828B-934C-4629-9865-0E91E28EE8E2}"/>
              </a:ext>
            </a:extLst>
          </p:cNvPr>
          <p:cNvSpPr>
            <a:spLocks noGrp="1" noChangeArrowheads="1"/>
          </p:cNvSpPr>
          <p:nvPr>
            <p:ph type="dt" sz="half" idx="10"/>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710409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ea typeface="华文中宋" panose="02010600040101010101" pitchFamily="2" charset="-122"/>
              </a:defRPr>
            </a:lvl1pPr>
          </a:lstStyle>
          <a:p>
            <a:r>
              <a:rPr lang="zh-CN" altLang="en-US" dirty="0"/>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ea typeface="华文中宋" panose="0201060004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ea typeface="华文中宋" panose="02010600040101010101" pitchFamily="2" charset="-122"/>
              </a:defRPr>
            </a:lvl1pPr>
            <a:lvl2pPr>
              <a:defRPr sz="2000">
                <a:ea typeface="华文中宋" panose="02010600040101010101" pitchFamily="2" charset="-122"/>
              </a:defRPr>
            </a:lvl2pPr>
            <a:lvl3pPr>
              <a:defRPr sz="1800">
                <a:ea typeface="华文中宋" panose="02010600040101010101" pitchFamily="2" charset="-122"/>
              </a:defRPr>
            </a:lvl3pPr>
            <a:lvl4pPr>
              <a:defRPr sz="1600">
                <a:ea typeface="华文中宋" panose="02010600040101010101" pitchFamily="2" charset="-122"/>
              </a:defRPr>
            </a:lvl4pPr>
            <a:lvl5pPr>
              <a:defRPr sz="1600">
                <a:ea typeface="华文中宋" panose="02010600040101010101"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ea typeface="华文中宋" panose="0201060004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ea typeface="华文中宋" panose="02010600040101010101" pitchFamily="2" charset="-122"/>
              </a:defRPr>
            </a:lvl1pPr>
            <a:lvl2pPr>
              <a:defRPr sz="2000">
                <a:ea typeface="华文中宋" panose="02010600040101010101" pitchFamily="2" charset="-122"/>
              </a:defRPr>
            </a:lvl2pPr>
            <a:lvl3pPr>
              <a:defRPr sz="1800">
                <a:ea typeface="华文中宋" panose="02010600040101010101" pitchFamily="2" charset="-122"/>
              </a:defRPr>
            </a:lvl3pPr>
            <a:lvl4pPr>
              <a:defRPr sz="1600">
                <a:ea typeface="华文中宋" panose="02010600040101010101" pitchFamily="2" charset="-122"/>
              </a:defRPr>
            </a:lvl4pPr>
            <a:lvl5pPr>
              <a:defRPr sz="1600">
                <a:ea typeface="华文中宋" panose="02010600040101010101"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Rectangle 4">
            <a:extLst>
              <a:ext uri="{FF2B5EF4-FFF2-40B4-BE49-F238E27FC236}">
                <a16:creationId xmlns:a16="http://schemas.microsoft.com/office/drawing/2014/main" id="{D8CF4D7A-2E46-432A-ACDD-C1798E2D2483}"/>
              </a:ext>
            </a:extLst>
          </p:cNvPr>
          <p:cNvSpPr>
            <a:spLocks noGrp="1" noChangeArrowheads="1"/>
          </p:cNvSpPr>
          <p:nvPr>
            <p:ph type="dt" sz="half" idx="10"/>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2940829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ea typeface="华文中宋" panose="02010600040101010101" pitchFamily="2" charset="-122"/>
              </a:defRPr>
            </a:lvl1pPr>
          </a:lstStyle>
          <a:p>
            <a:r>
              <a:rPr lang="zh-CN" altLang="en-US" dirty="0"/>
              <a:t>单击此处编辑母版标题样式</a:t>
            </a:r>
          </a:p>
        </p:txBody>
      </p:sp>
      <p:sp>
        <p:nvSpPr>
          <p:cNvPr id="3" name="Rectangle 4">
            <a:extLst>
              <a:ext uri="{FF2B5EF4-FFF2-40B4-BE49-F238E27FC236}">
                <a16:creationId xmlns:a16="http://schemas.microsoft.com/office/drawing/2014/main" id="{3E820142-F91E-41C7-A33A-3B46920FF45E}"/>
              </a:ext>
            </a:extLst>
          </p:cNvPr>
          <p:cNvSpPr>
            <a:spLocks noGrp="1" noChangeArrowheads="1"/>
          </p:cNvSpPr>
          <p:nvPr>
            <p:ph type="dt" sz="half" idx="10"/>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1535410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1082CD4-11F1-468C-87D1-A454FCA6A243}"/>
              </a:ext>
            </a:extLst>
          </p:cNvPr>
          <p:cNvSpPr>
            <a:spLocks noGrp="1" noChangeArrowheads="1"/>
          </p:cNvSpPr>
          <p:nvPr>
            <p:ph type="dt" sz="half" idx="10"/>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093100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ea typeface="华文中宋" panose="02010600040101010101" pitchFamily="2" charset="-122"/>
              </a:defRPr>
            </a:lvl1pPr>
          </a:lstStyle>
          <a:p>
            <a:r>
              <a:rPr lang="zh-CN" altLang="en-US" dirty="0"/>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ea typeface="华文中宋" panose="02010600040101010101" pitchFamily="2" charset="-122"/>
              </a:defRPr>
            </a:lvl1pPr>
            <a:lvl2pPr>
              <a:defRPr sz="2800">
                <a:ea typeface="华文中宋" panose="02010600040101010101" pitchFamily="2" charset="-122"/>
              </a:defRPr>
            </a:lvl2pPr>
            <a:lvl3pPr>
              <a:defRPr sz="2400">
                <a:ea typeface="华文中宋" panose="02010600040101010101" pitchFamily="2" charset="-122"/>
              </a:defRPr>
            </a:lvl3pPr>
            <a:lvl4pPr>
              <a:defRPr sz="2000">
                <a:ea typeface="华文中宋" panose="02010600040101010101" pitchFamily="2" charset="-122"/>
              </a:defRPr>
            </a:lvl4pPr>
            <a:lvl5pPr>
              <a:defRPr sz="2000">
                <a:ea typeface="华文中宋" panose="02010600040101010101" pitchFamily="2" charset="-122"/>
              </a:defRPr>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ea typeface="华文中宋" panose="02010600040101010101" pitchFamily="2"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
        <p:nvSpPr>
          <p:cNvPr id="5" name="Rectangle 4">
            <a:extLst>
              <a:ext uri="{FF2B5EF4-FFF2-40B4-BE49-F238E27FC236}">
                <a16:creationId xmlns:a16="http://schemas.microsoft.com/office/drawing/2014/main" id="{39953084-9989-4264-9AAE-873C61FF9353}"/>
              </a:ext>
            </a:extLst>
          </p:cNvPr>
          <p:cNvSpPr>
            <a:spLocks noGrp="1" noChangeArrowheads="1"/>
          </p:cNvSpPr>
          <p:nvPr>
            <p:ph type="dt" sz="half" idx="10"/>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2265118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ea typeface="华文中宋" panose="02010600040101010101" pitchFamily="2" charset="-122"/>
              </a:defRPr>
            </a:lvl1pPr>
          </a:lstStyle>
          <a:p>
            <a:r>
              <a:rPr lang="zh-CN" altLang="en-US" dirty="0"/>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ea typeface="华文中宋" panose="02010600040101010101" pitchFamily="2" charset="-12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dirty="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ea typeface="华文中宋" panose="02010600040101010101" pitchFamily="2"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
        <p:nvSpPr>
          <p:cNvPr id="5" name="Rectangle 4">
            <a:extLst>
              <a:ext uri="{FF2B5EF4-FFF2-40B4-BE49-F238E27FC236}">
                <a16:creationId xmlns:a16="http://schemas.microsoft.com/office/drawing/2014/main" id="{268414E3-10D4-445E-9C78-2C9A650AC157}"/>
              </a:ext>
            </a:extLst>
          </p:cNvPr>
          <p:cNvSpPr>
            <a:spLocks noGrp="1" noChangeArrowheads="1"/>
          </p:cNvSpPr>
          <p:nvPr>
            <p:ph type="dt" sz="half" idx="10"/>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632769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ea typeface="华文中宋" panose="02010600040101010101" pitchFamily="2" charset="-122"/>
              </a:defRPr>
            </a:lvl1pPr>
          </a:lstStyle>
          <a:p>
            <a:r>
              <a:rPr lang="zh-CN" altLang="en-US" dirty="0"/>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lvl1pPr>
              <a:defRPr>
                <a:ea typeface="华文中宋" panose="02010600040101010101" pitchFamily="2" charset="-122"/>
              </a:defRPr>
            </a:lvl1pPr>
            <a:lvl2pPr>
              <a:defRPr>
                <a:ea typeface="华文中宋" panose="02010600040101010101" pitchFamily="2" charset="-122"/>
              </a:defRPr>
            </a:lvl2pPr>
            <a:lvl3pPr>
              <a:defRPr>
                <a:ea typeface="华文中宋" panose="02010600040101010101" pitchFamily="2" charset="-122"/>
              </a:defRPr>
            </a:lvl3pPr>
            <a:lvl4pPr>
              <a:defRPr>
                <a:ea typeface="华文中宋" panose="02010600040101010101" pitchFamily="2" charset="-122"/>
              </a:defRPr>
            </a:lvl4pPr>
            <a:lvl5pPr>
              <a:defRPr>
                <a:ea typeface="华文中宋" panose="02010600040101010101"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4">
            <a:extLst>
              <a:ext uri="{FF2B5EF4-FFF2-40B4-BE49-F238E27FC236}">
                <a16:creationId xmlns:a16="http://schemas.microsoft.com/office/drawing/2014/main" id="{D2EC146F-5151-465E-AEFA-5CC9D2EAE84D}"/>
              </a:ext>
            </a:extLst>
          </p:cNvPr>
          <p:cNvSpPr>
            <a:spLocks noGrp="1" noChangeArrowheads="1"/>
          </p:cNvSpPr>
          <p:nvPr>
            <p:ph type="dt" sz="half" idx="10"/>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139179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lvl1pPr>
              <a:defRPr>
                <a:ea typeface="华文中宋" panose="02010600040101010101" pitchFamily="2" charset="-122"/>
              </a:defRPr>
            </a:lvl1pPr>
          </a:lstStyle>
          <a:p>
            <a:r>
              <a:rPr lang="zh-CN" altLang="en-US" dirty="0"/>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lvl1pPr>
              <a:defRPr>
                <a:ea typeface="华文中宋" panose="02010600040101010101" pitchFamily="2" charset="-122"/>
              </a:defRPr>
            </a:lvl1pPr>
            <a:lvl2pPr>
              <a:defRPr>
                <a:ea typeface="华文中宋" panose="02010600040101010101" pitchFamily="2" charset="-122"/>
              </a:defRPr>
            </a:lvl2pPr>
            <a:lvl3pPr>
              <a:defRPr>
                <a:ea typeface="华文中宋" panose="02010600040101010101" pitchFamily="2" charset="-122"/>
              </a:defRPr>
            </a:lvl3pPr>
            <a:lvl4pPr>
              <a:defRPr>
                <a:ea typeface="华文中宋" panose="02010600040101010101" pitchFamily="2" charset="-122"/>
              </a:defRPr>
            </a:lvl4pPr>
            <a:lvl5pPr>
              <a:defRPr>
                <a:ea typeface="华文中宋" panose="02010600040101010101"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4">
            <a:extLst>
              <a:ext uri="{FF2B5EF4-FFF2-40B4-BE49-F238E27FC236}">
                <a16:creationId xmlns:a16="http://schemas.microsoft.com/office/drawing/2014/main" id="{8E666106-3204-4B69-842E-EB863C917B52}"/>
              </a:ext>
            </a:extLst>
          </p:cNvPr>
          <p:cNvSpPr>
            <a:spLocks noGrp="1" noChangeArrowheads="1"/>
          </p:cNvSpPr>
          <p:nvPr>
            <p:ph type="dt" sz="half" idx="10"/>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13568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descr="cdbkgnd">
            <a:extLst>
              <a:ext uri="{FF2B5EF4-FFF2-40B4-BE49-F238E27FC236}">
                <a16:creationId xmlns:a16="http://schemas.microsoft.com/office/drawing/2014/main" id="{21FDF69C-126E-4CF0-8A26-FE8B4E2967D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4">
            <a:extLst>
              <a:ext uri="{FF2B5EF4-FFF2-40B4-BE49-F238E27FC236}">
                <a16:creationId xmlns:a16="http://schemas.microsoft.com/office/drawing/2014/main" id="{906DBA32-E476-4BEA-8B01-7252E3717239}"/>
              </a:ext>
            </a:extLst>
          </p:cNvPr>
          <p:cNvSpPr>
            <a:spLocks noGrp="1" noChangeArrowheads="1"/>
          </p:cNvSpPr>
          <p:nvPr>
            <p:ph type="dt" sz="half" idx="2"/>
          </p:nvPr>
        </p:nvSpPr>
        <p:spPr bwMode="auto">
          <a:xfrm>
            <a:off x="304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dirty="0">
                <a:latin typeface="Times New Roman" charset="0"/>
                <a:ea typeface="华文中宋" panose="02010600040101010101" pitchFamily="2" charset="-122"/>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charset="0"/>
          <a:ea typeface="宋体" pitchFamily="2" charset="-122"/>
        </a:defRPr>
      </a:lvl5pPr>
      <a:lvl6pPr marL="457200" algn="ctr" rtl="0" fontAlgn="base">
        <a:spcBef>
          <a:spcPct val="0"/>
        </a:spcBef>
        <a:spcAft>
          <a:spcPct val="0"/>
        </a:spcAft>
        <a:defRPr kumimoji="1" sz="4400">
          <a:solidFill>
            <a:schemeClr val="tx2"/>
          </a:solidFill>
          <a:latin typeface="Times New Roman" charset="0"/>
          <a:ea typeface="宋体" pitchFamily="2" charset="-122"/>
        </a:defRPr>
      </a:lvl6pPr>
      <a:lvl7pPr marL="914400" algn="ctr" rtl="0" fontAlgn="base">
        <a:spcBef>
          <a:spcPct val="0"/>
        </a:spcBef>
        <a:spcAft>
          <a:spcPct val="0"/>
        </a:spcAft>
        <a:defRPr kumimoji="1" sz="4400">
          <a:solidFill>
            <a:schemeClr val="tx2"/>
          </a:solidFill>
          <a:latin typeface="Times New Roman" charset="0"/>
          <a:ea typeface="宋体" pitchFamily="2" charset="-122"/>
        </a:defRPr>
      </a:lvl7pPr>
      <a:lvl8pPr marL="1371600" algn="ctr" rtl="0" fontAlgn="base">
        <a:spcBef>
          <a:spcPct val="0"/>
        </a:spcBef>
        <a:spcAft>
          <a:spcPct val="0"/>
        </a:spcAft>
        <a:defRPr kumimoji="1" sz="4400">
          <a:solidFill>
            <a:schemeClr val="tx2"/>
          </a:solidFill>
          <a:latin typeface="Times New Roman" charset="0"/>
          <a:ea typeface="宋体" pitchFamily="2" charset="-122"/>
        </a:defRPr>
      </a:lvl8pPr>
      <a:lvl9pPr marL="1828800" algn="ctr" rtl="0" fontAlgn="base">
        <a:spcBef>
          <a:spcPct val="0"/>
        </a:spcBef>
        <a:spcAft>
          <a:spcPct val="0"/>
        </a:spcAft>
        <a:defRPr kumimoji="1" sz="4400">
          <a:solidFill>
            <a:schemeClr val="tx2"/>
          </a:solidFill>
          <a:latin typeface="Times New Roman"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customXml" Target="../ink/ink1.xml"/></Relationships>
</file>

<file path=ppt/slides/_rels/slide21.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slide" Target="slide5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4">
            <a:extLst>
              <a:ext uri="{FF2B5EF4-FFF2-40B4-BE49-F238E27FC236}">
                <a16:creationId xmlns:a16="http://schemas.microsoft.com/office/drawing/2014/main" id="{6D4081A2-45D4-44B6-8DBA-F640A1B7014F}"/>
              </a:ext>
            </a:extLst>
          </p:cNvPr>
          <p:cNvSpPr txBox="1">
            <a:spLocks noChangeArrowheads="1"/>
          </p:cNvSpPr>
          <p:nvPr/>
        </p:nvSpPr>
        <p:spPr bwMode="auto">
          <a:xfrm>
            <a:off x="685800" y="2565400"/>
            <a:ext cx="7772400" cy="137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ormAutofit lnSpcReduction="10000"/>
          </a:bodyPr>
          <a:lstStyle>
            <a:lvl1pPr algn="ctr" rtl="0" eaLnBrk="0" fontAlgn="base" hangingPunct="0">
              <a:spcBef>
                <a:spcPct val="0"/>
              </a:spcBef>
              <a:spcAft>
                <a:spcPct val="0"/>
              </a:spcAft>
              <a:defRPr kumimoji="1" sz="4400">
                <a:solidFill>
                  <a:schemeClr val="tx2"/>
                </a:solidFill>
                <a:latin typeface="Palatino Linotype" panose="02040502050505030304" pitchFamily="18" charset="0"/>
                <a:ea typeface="华文中宋" panose="02010600040101010101" pitchFamily="2" charset="-122"/>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defRPr/>
            </a:pPr>
            <a:r>
              <a:rPr lang="zh-CN" altLang="en-US" sz="4800" b="1" kern="0" dirty="0">
                <a:solidFill>
                  <a:schemeClr val="bg2"/>
                </a:solidFill>
                <a:latin typeface="华文中宋" panose="02010600040101010101" pitchFamily="2" charset="-122"/>
              </a:rPr>
              <a:t>算法设计与分析</a:t>
            </a:r>
            <a:br>
              <a:rPr lang="zh-CN" altLang="en-US" sz="4800" b="1" kern="0" dirty="0">
                <a:solidFill>
                  <a:schemeClr val="bg2"/>
                </a:solidFill>
              </a:rPr>
            </a:br>
            <a:r>
              <a:rPr lang="zh-CN" altLang="en-US" b="1" kern="0" dirty="0">
                <a:solidFill>
                  <a:schemeClr val="bg2"/>
                </a:solidFill>
              </a:rPr>
              <a:t>    </a:t>
            </a:r>
            <a:endParaRPr lang="zh-CN" altLang="en-US" sz="3200" b="1" kern="0" dirty="0">
              <a:solidFill>
                <a:schemeClr val="bg2"/>
              </a:solidFill>
            </a:endParaRPr>
          </a:p>
        </p:txBody>
      </p:sp>
      <p:sp>
        <p:nvSpPr>
          <p:cNvPr id="7" name="Rectangle 4">
            <a:extLst>
              <a:ext uri="{FF2B5EF4-FFF2-40B4-BE49-F238E27FC236}">
                <a16:creationId xmlns:a16="http://schemas.microsoft.com/office/drawing/2014/main" id="{42DD6E39-51A1-4CF7-8BC7-F4909EEE2021}"/>
              </a:ext>
            </a:extLst>
          </p:cNvPr>
          <p:cNvSpPr txBox="1">
            <a:spLocks noChangeArrowheads="1"/>
          </p:cNvSpPr>
          <p:nvPr/>
        </p:nvSpPr>
        <p:spPr bwMode="auto">
          <a:xfrm>
            <a:off x="685800" y="3644900"/>
            <a:ext cx="7772400" cy="137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defRPr/>
            </a:pPr>
            <a:r>
              <a:rPr lang="en-US" altLang="zh-CN" sz="4000" b="1" kern="0" dirty="0">
                <a:solidFill>
                  <a:srgbClr val="AC2F36"/>
                </a:solidFill>
                <a:latin typeface="Palatino Linotype" panose="02040502050505030304" pitchFamily="18" charset="0"/>
                <a:ea typeface="华文中宋" panose="02010600040101010101" pitchFamily="2" charset="-122"/>
              </a:rPr>
              <a:t>6. </a:t>
            </a:r>
            <a:r>
              <a:rPr lang="zh-CN" altLang="en-US" sz="4000" b="1" kern="0" dirty="0">
                <a:solidFill>
                  <a:srgbClr val="AC2F36"/>
                </a:solidFill>
                <a:latin typeface="Palatino Linotype" panose="02040502050505030304" pitchFamily="18" charset="0"/>
                <a:ea typeface="华文中宋" panose="02010600040101010101" pitchFamily="2" charset="-122"/>
              </a:rPr>
              <a:t>分支限界法</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9" name="Text Box 5">
            <a:extLst>
              <a:ext uri="{FF2B5EF4-FFF2-40B4-BE49-F238E27FC236}">
                <a16:creationId xmlns:a16="http://schemas.microsoft.com/office/drawing/2014/main" id="{5EB756F9-B4C1-4CB5-AC30-99186E40A772}"/>
              </a:ext>
            </a:extLst>
          </p:cNvPr>
          <p:cNvSpPr txBox="1">
            <a:spLocks noChangeArrowheads="1"/>
          </p:cNvSpPr>
          <p:nvPr/>
        </p:nvSpPr>
        <p:spPr bwMode="auto">
          <a:xfrm>
            <a:off x="685800" y="1219200"/>
            <a:ext cx="7391400" cy="456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r>
              <a:rPr kumimoji="0" lang="en-US" altLang="zh-CN" b="1" dirty="0">
                <a:latin typeface="华文中宋" panose="02010600040101010101" pitchFamily="2" charset="-122"/>
                <a:ea typeface="华文中宋" panose="02010600040101010101" pitchFamily="2" charset="-122"/>
              </a:rPr>
              <a:t> 6.1   </a:t>
            </a:r>
            <a:r>
              <a:rPr kumimoji="0" lang="zh-CN" altLang="en-US" b="1" dirty="0">
                <a:latin typeface="华文中宋" panose="02010600040101010101" pitchFamily="2" charset="-122"/>
                <a:ea typeface="华文中宋" panose="02010600040101010101" pitchFamily="2" charset="-122"/>
              </a:rPr>
              <a:t>分支限界法的基本思想</a:t>
            </a:r>
          </a:p>
          <a:p>
            <a:pPr eaLnBrk="1" hangingPunct="1">
              <a:lnSpc>
                <a:spcPct val="90000"/>
              </a:lnSpc>
              <a:spcBef>
                <a:spcPct val="50000"/>
              </a:spcBef>
            </a:pPr>
            <a:r>
              <a:rPr kumimoji="0" lang="zh-CN" altLang="en-US" b="1" dirty="0">
                <a:solidFill>
                  <a:schemeClr val="bg1">
                    <a:lumMod val="75000"/>
                  </a:schemeClr>
                </a:solidFill>
                <a:latin typeface="华文中宋" panose="02010600040101010101" pitchFamily="2" charset="-122"/>
                <a:ea typeface="华文中宋" panose="02010600040101010101" pitchFamily="2" charset="-122"/>
              </a:rPr>
              <a:t> </a:t>
            </a:r>
            <a:r>
              <a:rPr kumimoji="0" lang="en-US" altLang="zh-CN" b="1" dirty="0">
                <a:solidFill>
                  <a:schemeClr val="bg1">
                    <a:lumMod val="75000"/>
                  </a:schemeClr>
                </a:solidFill>
                <a:latin typeface="华文中宋" panose="02010600040101010101" pitchFamily="2" charset="-122"/>
                <a:ea typeface="华文中宋" panose="02010600040101010101" pitchFamily="2" charset="-122"/>
              </a:rPr>
              <a:t>6.2   </a:t>
            </a:r>
            <a:r>
              <a:rPr kumimoji="0" lang="zh-CN" altLang="en-US" b="1" dirty="0">
                <a:solidFill>
                  <a:schemeClr val="bg1">
                    <a:lumMod val="75000"/>
                  </a:schemeClr>
                </a:solidFill>
                <a:latin typeface="华文中宋" panose="02010600040101010101" pitchFamily="2" charset="-122"/>
                <a:ea typeface="华文中宋" panose="02010600040101010101" pitchFamily="2" charset="-122"/>
              </a:rPr>
              <a:t>单源最短路径问题</a:t>
            </a:r>
          </a:p>
          <a:p>
            <a:pPr eaLnBrk="1" hangingPunct="1">
              <a:lnSpc>
                <a:spcPct val="90000"/>
              </a:lnSpc>
              <a:spcBef>
                <a:spcPct val="50000"/>
              </a:spcBef>
            </a:pPr>
            <a:r>
              <a:rPr kumimoji="0" lang="zh-CN" altLang="en-US" b="1" dirty="0">
                <a:solidFill>
                  <a:schemeClr val="bg1">
                    <a:lumMod val="75000"/>
                  </a:schemeClr>
                </a:solidFill>
                <a:latin typeface="华文中宋" panose="02010600040101010101" pitchFamily="2" charset="-122"/>
                <a:ea typeface="华文中宋" panose="02010600040101010101" pitchFamily="2" charset="-122"/>
              </a:rPr>
              <a:t> </a:t>
            </a:r>
            <a:r>
              <a:rPr kumimoji="0" lang="en-US" altLang="zh-CN" b="1" dirty="0">
                <a:solidFill>
                  <a:schemeClr val="bg1">
                    <a:lumMod val="75000"/>
                  </a:schemeClr>
                </a:solidFill>
                <a:latin typeface="华文中宋" panose="02010600040101010101" pitchFamily="2" charset="-122"/>
                <a:ea typeface="华文中宋" panose="02010600040101010101" pitchFamily="2" charset="-122"/>
              </a:rPr>
              <a:t>6.3   </a:t>
            </a:r>
            <a:r>
              <a:rPr kumimoji="0" lang="zh-CN" altLang="en-US" b="1" dirty="0">
                <a:solidFill>
                  <a:schemeClr val="bg1">
                    <a:lumMod val="75000"/>
                  </a:schemeClr>
                </a:solidFill>
                <a:latin typeface="华文中宋" panose="02010600040101010101" pitchFamily="2" charset="-122"/>
                <a:ea typeface="华文中宋" panose="02010600040101010101" pitchFamily="2" charset="-122"/>
              </a:rPr>
              <a:t>装载问题：          两种搜索队列</a:t>
            </a:r>
          </a:p>
          <a:p>
            <a:pPr eaLnBrk="1" hangingPunct="1">
              <a:lnSpc>
                <a:spcPct val="90000"/>
              </a:lnSpc>
              <a:spcBef>
                <a:spcPct val="50000"/>
              </a:spcBef>
            </a:pPr>
            <a:r>
              <a:rPr kumimoji="0" lang="zh-CN" altLang="en-US" b="1" dirty="0">
                <a:solidFill>
                  <a:schemeClr val="bg1">
                    <a:lumMod val="75000"/>
                  </a:schemeClr>
                </a:solidFill>
                <a:latin typeface="华文中宋" panose="02010600040101010101" pitchFamily="2" charset="-122"/>
                <a:ea typeface="华文中宋" panose="02010600040101010101" pitchFamily="2" charset="-122"/>
              </a:rPr>
              <a:t> </a:t>
            </a:r>
            <a:r>
              <a:rPr kumimoji="0" lang="en-US" altLang="zh-CN" b="1" dirty="0">
                <a:solidFill>
                  <a:schemeClr val="bg1">
                    <a:lumMod val="75000"/>
                  </a:schemeClr>
                </a:solidFill>
                <a:latin typeface="华文中宋" panose="02010600040101010101" pitchFamily="2" charset="-122"/>
                <a:ea typeface="华文中宋" panose="02010600040101010101" pitchFamily="2" charset="-122"/>
              </a:rPr>
              <a:t>6.4   </a:t>
            </a:r>
            <a:r>
              <a:rPr kumimoji="0" lang="zh-CN" altLang="en-US" b="1" dirty="0">
                <a:solidFill>
                  <a:schemeClr val="bg1">
                    <a:lumMod val="75000"/>
                  </a:schemeClr>
                </a:solidFill>
                <a:latin typeface="华文中宋" panose="02010600040101010101" pitchFamily="2" charset="-122"/>
                <a:ea typeface="华文中宋" panose="02010600040101010101" pitchFamily="2" charset="-122"/>
              </a:rPr>
              <a:t>布线问题：          搜索方式 </a:t>
            </a:r>
          </a:p>
          <a:p>
            <a:pPr eaLnBrk="1" hangingPunct="1">
              <a:lnSpc>
                <a:spcPct val="90000"/>
              </a:lnSpc>
              <a:spcBef>
                <a:spcPct val="50000"/>
              </a:spcBef>
            </a:pPr>
            <a:r>
              <a:rPr kumimoji="0" lang="zh-CN" altLang="en-US" b="1" dirty="0">
                <a:latin typeface="华文中宋" panose="02010600040101010101" pitchFamily="2" charset="-122"/>
                <a:ea typeface="华文中宋" panose="02010600040101010101" pitchFamily="2" charset="-122"/>
              </a:rPr>
              <a:t> </a:t>
            </a:r>
            <a:r>
              <a:rPr kumimoji="0" lang="en-US" altLang="zh-CN" b="1" dirty="0">
                <a:latin typeface="华文中宋" panose="02010600040101010101" pitchFamily="2" charset="-122"/>
                <a:ea typeface="华文中宋" panose="02010600040101010101" pitchFamily="2" charset="-122"/>
              </a:rPr>
              <a:t>6.5    0</a:t>
            </a:r>
            <a:r>
              <a:rPr kumimoji="0" lang="zh-CN" altLang="en-US" b="1" dirty="0">
                <a:latin typeface="华文中宋" panose="02010600040101010101" pitchFamily="2" charset="-122"/>
                <a:ea typeface="华文中宋" panose="02010600040101010101" pitchFamily="2" charset="-122"/>
              </a:rPr>
              <a:t>－</a:t>
            </a:r>
            <a:r>
              <a:rPr kumimoji="0" lang="en-US" altLang="zh-CN" b="1" dirty="0">
                <a:latin typeface="华文中宋" panose="02010600040101010101" pitchFamily="2" charset="-122"/>
                <a:ea typeface="华文中宋" panose="02010600040101010101" pitchFamily="2" charset="-122"/>
              </a:rPr>
              <a:t>1</a:t>
            </a:r>
            <a:r>
              <a:rPr kumimoji="0" lang="zh-CN" altLang="en-US" b="1" dirty="0">
                <a:latin typeface="华文中宋" panose="02010600040101010101" pitchFamily="2" charset="-122"/>
                <a:ea typeface="华文中宋" panose="02010600040101010101" pitchFamily="2" charset="-122"/>
              </a:rPr>
              <a:t>背包问题</a:t>
            </a:r>
          </a:p>
          <a:p>
            <a:pPr eaLnBrk="1" hangingPunct="1">
              <a:lnSpc>
                <a:spcPct val="90000"/>
              </a:lnSpc>
              <a:spcBef>
                <a:spcPct val="50000"/>
              </a:spcBef>
            </a:pPr>
            <a:r>
              <a:rPr kumimoji="0" lang="zh-CN" altLang="en-US" b="1" dirty="0">
                <a:latin typeface="华文中宋" panose="02010600040101010101" pitchFamily="2" charset="-122"/>
                <a:ea typeface="华文中宋" panose="02010600040101010101" pitchFamily="2" charset="-122"/>
              </a:rPr>
              <a:t> </a:t>
            </a:r>
            <a:r>
              <a:rPr kumimoji="0" lang="en-US" altLang="zh-CN" b="1" dirty="0">
                <a:latin typeface="华文中宋" panose="02010600040101010101" pitchFamily="2" charset="-122"/>
                <a:ea typeface="华文中宋" panose="02010600040101010101" pitchFamily="2" charset="-122"/>
              </a:rPr>
              <a:t>6.6    </a:t>
            </a:r>
            <a:r>
              <a:rPr kumimoji="0" lang="zh-CN" altLang="en-US" b="1" dirty="0">
                <a:latin typeface="华文中宋" panose="02010600040101010101" pitchFamily="2" charset="-122"/>
                <a:ea typeface="华文中宋" panose="02010600040101010101" pitchFamily="2" charset="-122"/>
              </a:rPr>
              <a:t>最大团问题：      优先级确定</a:t>
            </a:r>
          </a:p>
          <a:p>
            <a:pPr eaLnBrk="1" hangingPunct="1">
              <a:lnSpc>
                <a:spcPct val="90000"/>
              </a:lnSpc>
              <a:spcBef>
                <a:spcPct val="50000"/>
              </a:spcBef>
            </a:pPr>
            <a:r>
              <a:rPr kumimoji="0" lang="zh-CN" altLang="en-US" b="1" dirty="0">
                <a:latin typeface="华文中宋" panose="02010600040101010101" pitchFamily="2" charset="-122"/>
                <a:ea typeface="华文中宋" panose="02010600040101010101" pitchFamily="2" charset="-122"/>
              </a:rPr>
              <a:t> </a:t>
            </a:r>
            <a:r>
              <a:rPr kumimoji="0" lang="en-US" altLang="zh-CN" b="1" dirty="0">
                <a:latin typeface="华文中宋" panose="02010600040101010101" pitchFamily="2" charset="-122"/>
                <a:ea typeface="华文中宋" panose="02010600040101010101" pitchFamily="2" charset="-122"/>
              </a:rPr>
              <a:t>6.7    </a:t>
            </a:r>
            <a:r>
              <a:rPr kumimoji="0" lang="zh-CN" altLang="en-US" b="1" dirty="0">
                <a:latin typeface="华文中宋" panose="02010600040101010101" pitchFamily="2" charset="-122"/>
                <a:ea typeface="华文中宋" panose="02010600040101010101" pitchFamily="2" charset="-122"/>
              </a:rPr>
              <a:t>旅行售货员问题：优先级确定</a:t>
            </a:r>
          </a:p>
          <a:p>
            <a:pPr eaLnBrk="1" hangingPunct="1">
              <a:lnSpc>
                <a:spcPct val="90000"/>
              </a:lnSpc>
              <a:spcBef>
                <a:spcPct val="50000"/>
              </a:spcBef>
            </a:pPr>
            <a:r>
              <a:rPr kumimoji="0" lang="zh-CN" altLang="en-US" b="1" dirty="0">
                <a:solidFill>
                  <a:schemeClr val="bg1">
                    <a:lumMod val="75000"/>
                  </a:schemeClr>
                </a:solidFill>
                <a:latin typeface="华文中宋" panose="02010600040101010101" pitchFamily="2" charset="-122"/>
                <a:ea typeface="华文中宋" panose="02010600040101010101" pitchFamily="2" charset="-122"/>
              </a:rPr>
              <a:t> </a:t>
            </a:r>
            <a:r>
              <a:rPr kumimoji="0" lang="en-US" altLang="zh-CN" b="1" dirty="0">
                <a:solidFill>
                  <a:schemeClr val="bg1">
                    <a:lumMod val="75000"/>
                  </a:schemeClr>
                </a:solidFill>
                <a:latin typeface="华文中宋" panose="02010600040101010101" pitchFamily="2" charset="-122"/>
                <a:ea typeface="华文中宋" panose="02010600040101010101" pitchFamily="2" charset="-122"/>
              </a:rPr>
              <a:t>6.8    </a:t>
            </a:r>
            <a:r>
              <a:rPr kumimoji="0" lang="zh-CN" altLang="en-US" b="1" dirty="0">
                <a:solidFill>
                  <a:schemeClr val="bg1">
                    <a:lumMod val="75000"/>
                  </a:schemeClr>
                </a:solidFill>
                <a:latin typeface="华文中宋" panose="02010600040101010101" pitchFamily="2" charset="-122"/>
                <a:ea typeface="华文中宋" panose="02010600040101010101" pitchFamily="2" charset="-122"/>
              </a:rPr>
              <a:t>电路板排列问题</a:t>
            </a:r>
          </a:p>
          <a:p>
            <a:pPr eaLnBrk="1" hangingPunct="1">
              <a:lnSpc>
                <a:spcPct val="90000"/>
              </a:lnSpc>
              <a:spcBef>
                <a:spcPct val="50000"/>
              </a:spcBef>
            </a:pPr>
            <a:r>
              <a:rPr kumimoji="0" lang="zh-CN" altLang="en-US" b="1" dirty="0">
                <a:solidFill>
                  <a:schemeClr val="bg1">
                    <a:lumMod val="75000"/>
                  </a:schemeClr>
                </a:solidFill>
                <a:latin typeface="华文中宋" panose="02010600040101010101" pitchFamily="2" charset="-122"/>
                <a:ea typeface="华文中宋" panose="02010600040101010101" pitchFamily="2" charset="-122"/>
              </a:rPr>
              <a:t> </a:t>
            </a:r>
            <a:r>
              <a:rPr kumimoji="0" lang="en-US" altLang="zh-CN" b="1" dirty="0">
                <a:solidFill>
                  <a:schemeClr val="bg1">
                    <a:lumMod val="75000"/>
                  </a:schemeClr>
                </a:solidFill>
                <a:latin typeface="华文中宋" panose="02010600040101010101" pitchFamily="2" charset="-122"/>
                <a:ea typeface="华文中宋" panose="02010600040101010101" pitchFamily="2" charset="-122"/>
              </a:rPr>
              <a:t>6.9    </a:t>
            </a:r>
            <a:r>
              <a:rPr kumimoji="0" lang="zh-CN" altLang="en-US" b="1" dirty="0">
                <a:solidFill>
                  <a:schemeClr val="bg1">
                    <a:lumMod val="75000"/>
                  </a:schemeClr>
                </a:solidFill>
                <a:latin typeface="华文中宋" panose="02010600040101010101" pitchFamily="2" charset="-122"/>
                <a:ea typeface="华文中宋" panose="02010600040101010101" pitchFamily="2" charset="-122"/>
              </a:rPr>
              <a:t>批处理作业调度</a:t>
            </a:r>
          </a:p>
        </p:txBody>
      </p:sp>
      <p:sp>
        <p:nvSpPr>
          <p:cNvPr id="15363" name="Rectangle 9">
            <a:extLst>
              <a:ext uri="{FF2B5EF4-FFF2-40B4-BE49-F238E27FC236}">
                <a16:creationId xmlns:a16="http://schemas.microsoft.com/office/drawing/2014/main" id="{9A1EA75B-19E7-4D7A-83F4-6720B24F5DAB}"/>
              </a:ext>
            </a:extLst>
          </p:cNvPr>
          <p:cNvSpPr>
            <a:spLocks noGrp="1" noChangeArrowheads="1"/>
          </p:cNvSpPr>
          <p:nvPr>
            <p:ph type="title"/>
          </p:nvPr>
        </p:nvSpPr>
        <p:spPr bwMode="auto">
          <a:xfrm>
            <a:off x="1066800" y="457200"/>
            <a:ext cx="7010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3600" b="1">
                <a:solidFill>
                  <a:srgbClr val="C00000"/>
                </a:solidFill>
                <a:latin typeface="华文中宋" panose="02010600040101010101" pitchFamily="2" charset="-122"/>
              </a:rPr>
              <a:t>本章主要知识点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9"/>
                                        </p:tgtEl>
                                        <p:attrNameLst>
                                          <p:attrName>style.visibility</p:attrName>
                                        </p:attrNameLst>
                                      </p:cBhvr>
                                      <p:to>
                                        <p:strVal val="visible"/>
                                      </p:to>
                                    </p:set>
                                    <p:animEffect transition="in" filter="blinds(horizontal)">
                                      <p:cBhvr>
                                        <p:cTn id="7" dur="500"/>
                                        <p:tgtEl>
                                          <p:spTgt spid="6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947D6759-3CD6-4AEF-9AED-E07C4C60BEC2}"/>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3600" b="1">
                <a:solidFill>
                  <a:srgbClr val="3907F1"/>
                </a:solidFill>
                <a:latin typeface="华文中宋" panose="02010600040101010101" pitchFamily="2" charset="-122"/>
              </a:rPr>
              <a:t>学习要点</a:t>
            </a:r>
          </a:p>
        </p:txBody>
      </p:sp>
      <p:sp>
        <p:nvSpPr>
          <p:cNvPr id="142339" name="Rectangle 3">
            <a:extLst>
              <a:ext uri="{FF2B5EF4-FFF2-40B4-BE49-F238E27FC236}">
                <a16:creationId xmlns:a16="http://schemas.microsoft.com/office/drawing/2014/main" id="{E508DBC7-91F8-4982-B30C-A8FD05EB40AA}"/>
              </a:ext>
            </a:extLst>
          </p:cNvPr>
          <p:cNvSpPr>
            <a:spLocks noGrp="1" noChangeArrowheads="1"/>
          </p:cNvSpPr>
          <p:nvPr>
            <p:ph type="body" idx="1"/>
          </p:nvPr>
        </p:nvSpPr>
        <p:spPr bwMode="auto">
          <a:xfrm>
            <a:off x="685800" y="1447800"/>
            <a:ext cx="7772400" cy="464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30000"/>
              </a:lnSpc>
              <a:buFont typeface="Symbol" panose="05050102010706020507" pitchFamily="18" charset="2"/>
              <a:buChar char="·"/>
            </a:pPr>
            <a:r>
              <a:rPr lang="zh-CN" altLang="en-US" sz="2800" b="1"/>
              <a:t>理解分支限界法的剪枝搜索策略</a:t>
            </a:r>
          </a:p>
          <a:p>
            <a:pPr eaLnBrk="1" hangingPunct="1">
              <a:lnSpc>
                <a:spcPct val="130000"/>
              </a:lnSpc>
              <a:buFont typeface="Symbol" panose="05050102010706020507" pitchFamily="18" charset="2"/>
              <a:buChar char="·"/>
            </a:pPr>
            <a:r>
              <a:rPr lang="zh-CN" altLang="en-US" sz="2800" b="1"/>
              <a:t>掌握分支限界法的算法框架，会描述队列变化</a:t>
            </a:r>
          </a:p>
          <a:p>
            <a:pPr lvl="1" eaLnBrk="1" hangingPunct="1">
              <a:lnSpc>
                <a:spcPct val="130000"/>
              </a:lnSpc>
              <a:buFont typeface="Symbol" panose="05050102010706020507" pitchFamily="18" charset="2"/>
              <a:buNone/>
            </a:pPr>
            <a:r>
              <a:rPr lang="zh-CN" altLang="en-US" sz="2400" b="1">
                <a:solidFill>
                  <a:srgbClr val="0000CC"/>
                </a:solidFill>
              </a:rPr>
              <a:t>（</a:t>
            </a:r>
            <a:r>
              <a:rPr lang="en-US" altLang="zh-CN" sz="2400" b="1">
                <a:solidFill>
                  <a:srgbClr val="0000CC"/>
                </a:solidFill>
              </a:rPr>
              <a:t>1</a:t>
            </a:r>
            <a:r>
              <a:rPr lang="zh-CN" altLang="en-US" sz="2400" b="1">
                <a:solidFill>
                  <a:srgbClr val="0000CC"/>
                </a:solidFill>
              </a:rPr>
              <a:t>）队列式</a:t>
            </a:r>
            <a:r>
              <a:rPr lang="en-US" altLang="zh-CN" sz="2400" b="1">
                <a:solidFill>
                  <a:srgbClr val="0000CC"/>
                </a:solidFill>
              </a:rPr>
              <a:t>(FIFO)</a:t>
            </a:r>
            <a:r>
              <a:rPr lang="zh-CN" altLang="en-US" sz="2400" b="1">
                <a:solidFill>
                  <a:srgbClr val="0000CC"/>
                </a:solidFill>
              </a:rPr>
              <a:t>分支限界法</a:t>
            </a:r>
          </a:p>
          <a:p>
            <a:pPr lvl="1" eaLnBrk="1" hangingPunct="1">
              <a:lnSpc>
                <a:spcPct val="130000"/>
              </a:lnSpc>
              <a:buFont typeface="Symbol" panose="05050102010706020507" pitchFamily="18" charset="2"/>
              <a:buNone/>
            </a:pPr>
            <a:r>
              <a:rPr lang="zh-CN" altLang="en-US" sz="2400" b="1">
                <a:solidFill>
                  <a:srgbClr val="0000CC"/>
                </a:solidFill>
              </a:rPr>
              <a:t>（</a:t>
            </a:r>
            <a:r>
              <a:rPr lang="en-US" altLang="zh-CN" sz="2400" b="1">
                <a:solidFill>
                  <a:srgbClr val="0000CC"/>
                </a:solidFill>
              </a:rPr>
              <a:t>2</a:t>
            </a:r>
            <a:r>
              <a:rPr lang="zh-CN" altLang="en-US" sz="2400" b="1">
                <a:solidFill>
                  <a:srgbClr val="0000CC"/>
                </a:solidFill>
              </a:rPr>
              <a:t>）优先队列式分支限界法</a:t>
            </a:r>
            <a:r>
              <a:rPr lang="zh-CN" altLang="en-US" sz="2400" b="1"/>
              <a:t> ：会确定优先级  </a:t>
            </a:r>
            <a:endParaRPr lang="zh-CN" altLang="en-US" sz="2400" b="1">
              <a:sym typeface="Symbol" panose="05050102010706020507" pitchFamily="18" charset="2"/>
            </a:endParaRPr>
          </a:p>
          <a:p>
            <a:pPr eaLnBrk="1" hangingPunct="1">
              <a:lnSpc>
                <a:spcPct val="130000"/>
              </a:lnSpc>
              <a:buFont typeface="Symbol" panose="05050102010706020507" pitchFamily="18" charset="2"/>
              <a:buChar char="·"/>
            </a:pPr>
            <a:r>
              <a:rPr lang="zh-CN" altLang="en-US" sz="2800" b="1"/>
              <a:t>通过应用范例学习分支限界法的设计策略</a:t>
            </a:r>
          </a:p>
          <a:p>
            <a:pPr eaLnBrk="1" hangingPunct="1">
              <a:lnSpc>
                <a:spcPct val="130000"/>
              </a:lnSpc>
              <a:buFont typeface="Symbol" panose="05050102010706020507" pitchFamily="18" charset="2"/>
              <a:buChar char="·"/>
            </a:pPr>
            <a:r>
              <a:rPr lang="zh-CN" altLang="en-US" sz="2800" b="1"/>
              <a:t>侧重，掌握两类例子：子集树、排列树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2339">
                                            <p:txEl>
                                              <p:pRg st="0" end="0"/>
                                            </p:txEl>
                                          </p:spTgt>
                                        </p:tgtEl>
                                        <p:attrNameLst>
                                          <p:attrName>style.visibility</p:attrName>
                                        </p:attrNameLst>
                                      </p:cBhvr>
                                      <p:to>
                                        <p:strVal val="visible"/>
                                      </p:to>
                                    </p:set>
                                    <p:anim calcmode="lin" valueType="num">
                                      <p:cBhvr additive="base">
                                        <p:cTn id="7" dur="500" fill="hold"/>
                                        <p:tgtEl>
                                          <p:spTgt spid="1423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23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2339">
                                            <p:txEl>
                                              <p:pRg st="1" end="1"/>
                                            </p:txEl>
                                          </p:spTgt>
                                        </p:tgtEl>
                                        <p:attrNameLst>
                                          <p:attrName>style.visibility</p:attrName>
                                        </p:attrNameLst>
                                      </p:cBhvr>
                                      <p:to>
                                        <p:strVal val="visible"/>
                                      </p:to>
                                    </p:set>
                                    <p:anim calcmode="lin" valueType="num">
                                      <p:cBhvr additive="base">
                                        <p:cTn id="13" dur="500" fill="hold"/>
                                        <p:tgtEl>
                                          <p:spTgt spid="1423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2339">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142339">
                                            <p:txEl>
                                              <p:pRg st="2" end="2"/>
                                            </p:txEl>
                                          </p:spTgt>
                                        </p:tgtEl>
                                        <p:attrNameLst>
                                          <p:attrName>style.visibility</p:attrName>
                                        </p:attrNameLst>
                                      </p:cBhvr>
                                      <p:to>
                                        <p:strVal val="visible"/>
                                      </p:to>
                                    </p:set>
                                    <p:anim calcmode="lin" valueType="num">
                                      <p:cBhvr additive="base">
                                        <p:cTn id="17" dur="500" fill="hold"/>
                                        <p:tgtEl>
                                          <p:spTgt spid="142339">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42339">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42339">
                                            <p:txEl>
                                              <p:pRg st="3" end="3"/>
                                            </p:txEl>
                                          </p:spTgt>
                                        </p:tgtEl>
                                        <p:attrNameLst>
                                          <p:attrName>style.visibility</p:attrName>
                                        </p:attrNameLst>
                                      </p:cBhvr>
                                      <p:to>
                                        <p:strVal val="visible"/>
                                      </p:to>
                                    </p:set>
                                    <p:anim calcmode="lin" valueType="num">
                                      <p:cBhvr additive="base">
                                        <p:cTn id="21" dur="500" fill="hold"/>
                                        <p:tgtEl>
                                          <p:spTgt spid="142339">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14233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142339">
                                            <p:txEl>
                                              <p:pRg st="4" end="4"/>
                                            </p:txEl>
                                          </p:spTgt>
                                        </p:tgtEl>
                                        <p:attrNameLst>
                                          <p:attrName>style.visibility</p:attrName>
                                        </p:attrNameLst>
                                      </p:cBhvr>
                                      <p:to>
                                        <p:strVal val="visible"/>
                                      </p:to>
                                    </p:set>
                                    <p:anim calcmode="lin" valueType="num">
                                      <p:cBhvr additive="base">
                                        <p:cTn id="27" dur="500" fill="hold"/>
                                        <p:tgtEl>
                                          <p:spTgt spid="142339">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4233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142339">
                                            <p:txEl>
                                              <p:pRg st="5" end="5"/>
                                            </p:txEl>
                                          </p:spTgt>
                                        </p:tgtEl>
                                        <p:attrNameLst>
                                          <p:attrName>style.visibility</p:attrName>
                                        </p:attrNameLst>
                                      </p:cBhvr>
                                      <p:to>
                                        <p:strVal val="visible"/>
                                      </p:to>
                                    </p:set>
                                    <p:anim calcmode="lin" valueType="num">
                                      <p:cBhvr additive="base">
                                        <p:cTn id="33" dur="500" fill="hold"/>
                                        <p:tgtEl>
                                          <p:spTgt spid="142339">
                                            <p:txEl>
                                              <p:pRg st="5" end="5"/>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4233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56EFA664-5267-461A-8970-C5C48810AC2B}"/>
              </a:ext>
            </a:extLst>
          </p:cNvPr>
          <p:cNvSpPr>
            <a:spLocks noGrp="1" noChangeArrowheads="1"/>
          </p:cNvSpPr>
          <p:nvPr>
            <p:ph type="title"/>
          </p:nvPr>
        </p:nvSpPr>
        <p:spPr bwMode="auto">
          <a:xfrm>
            <a:off x="609600" y="228600"/>
            <a:ext cx="77724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a:solidFill>
                  <a:schemeClr val="accent2"/>
                </a:solidFill>
              </a:rPr>
              <a:t>分支限界法与回溯法</a:t>
            </a:r>
          </a:p>
        </p:txBody>
      </p:sp>
      <p:sp>
        <p:nvSpPr>
          <p:cNvPr id="49576" name="Rectangle 424">
            <a:extLst>
              <a:ext uri="{FF2B5EF4-FFF2-40B4-BE49-F238E27FC236}">
                <a16:creationId xmlns:a16="http://schemas.microsoft.com/office/drawing/2014/main" id="{07A420B0-5A28-4CB0-B12C-5CEE7A4982F4}"/>
              </a:ext>
            </a:extLst>
          </p:cNvPr>
          <p:cNvSpPr>
            <a:spLocks noGrp="1" noChangeArrowheads="1"/>
          </p:cNvSpPr>
          <p:nvPr>
            <p:ph type="body" idx="1"/>
          </p:nvPr>
        </p:nvSpPr>
        <p:spPr bwMode="auto">
          <a:xfrm>
            <a:off x="228600" y="1143000"/>
            <a:ext cx="8610600" cy="2362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20000"/>
              </a:lnSpc>
              <a:spcBef>
                <a:spcPct val="0"/>
              </a:spcBef>
              <a:buFontTx/>
              <a:buNone/>
            </a:pPr>
            <a:r>
              <a:rPr kumimoji="0" lang="zh-CN" altLang="en-US" sz="2800" b="1">
                <a:latin typeface="Arial" panose="020B0604020202020204" pitchFamily="34" charset="0"/>
              </a:rPr>
              <a:t>（</a:t>
            </a:r>
            <a:r>
              <a:rPr kumimoji="0" lang="en-US" altLang="zh-CN" sz="2800" b="1">
                <a:latin typeface="Arial" panose="020B0604020202020204" pitchFamily="34" charset="0"/>
              </a:rPr>
              <a:t>1</a:t>
            </a:r>
            <a:r>
              <a:rPr kumimoji="0" lang="zh-CN" altLang="en-US" sz="2800" b="1">
                <a:latin typeface="Arial" panose="020B0604020202020204" pitchFamily="34" charset="0"/>
              </a:rPr>
              <a:t>）求解目标：</a:t>
            </a:r>
            <a:r>
              <a:rPr kumimoji="0" lang="zh-CN" altLang="en-US" sz="2800" b="1">
                <a:solidFill>
                  <a:srgbClr val="FF0000"/>
                </a:solidFill>
                <a:latin typeface="Arial" panose="020B0604020202020204" pitchFamily="34" charset="0"/>
              </a:rPr>
              <a:t>基本相同</a:t>
            </a:r>
          </a:p>
          <a:p>
            <a:pPr lvl="1" eaLnBrk="1" hangingPunct="1">
              <a:lnSpc>
                <a:spcPct val="120000"/>
              </a:lnSpc>
              <a:spcBef>
                <a:spcPct val="0"/>
              </a:spcBef>
              <a:buFontTx/>
              <a:buNone/>
            </a:pPr>
            <a:r>
              <a:rPr kumimoji="0" lang="zh-CN" altLang="en-US" b="1">
                <a:solidFill>
                  <a:srgbClr val="CC0099"/>
                </a:solidFill>
                <a:latin typeface="华文中宋" panose="02010600040101010101" pitchFamily="2" charset="-122"/>
              </a:rPr>
              <a:t>回溯法：</a:t>
            </a:r>
            <a:r>
              <a:rPr kumimoji="0" lang="zh-CN" altLang="en-US" b="1">
                <a:latin typeface="华文中宋" panose="02010600040101010101" pitchFamily="2" charset="-122"/>
              </a:rPr>
              <a:t>通过回溯找出满足约束条件的所有解或最优解</a:t>
            </a:r>
          </a:p>
          <a:p>
            <a:pPr lvl="1" eaLnBrk="1" hangingPunct="1">
              <a:lnSpc>
                <a:spcPct val="120000"/>
              </a:lnSpc>
              <a:spcBef>
                <a:spcPct val="0"/>
              </a:spcBef>
              <a:buFontTx/>
              <a:buNone/>
            </a:pPr>
            <a:r>
              <a:rPr kumimoji="0" lang="zh-CN" altLang="en-US" b="1">
                <a:solidFill>
                  <a:srgbClr val="CC0099"/>
                </a:solidFill>
                <a:latin typeface="华文中宋" panose="02010600040101010101" pitchFamily="2" charset="-122"/>
              </a:rPr>
              <a:t>分支限界法：</a:t>
            </a:r>
            <a:r>
              <a:rPr kumimoji="0" lang="zh-CN" altLang="en-US" b="1">
                <a:latin typeface="华文中宋" panose="02010600040101010101" pitchFamily="2" charset="-122"/>
              </a:rPr>
              <a:t>找出满足约束条件的一个解，或是在满足约束条件的解中找出在某种意义下的最优解 </a:t>
            </a:r>
          </a:p>
        </p:txBody>
      </p:sp>
      <p:sp>
        <p:nvSpPr>
          <p:cNvPr id="49577" name="Rectangle 425">
            <a:extLst>
              <a:ext uri="{FF2B5EF4-FFF2-40B4-BE49-F238E27FC236}">
                <a16:creationId xmlns:a16="http://schemas.microsoft.com/office/drawing/2014/main" id="{45606539-A4A2-4CE9-AA89-B2F0E2299705}"/>
              </a:ext>
            </a:extLst>
          </p:cNvPr>
          <p:cNvSpPr>
            <a:spLocks noChangeArrowheads="1"/>
          </p:cNvSpPr>
          <p:nvPr/>
        </p:nvSpPr>
        <p:spPr bwMode="auto">
          <a:xfrm>
            <a:off x="76200" y="4038600"/>
            <a:ext cx="89154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2800" b="1">
                <a:latin typeface="Arial" panose="020B0604020202020204" pitchFamily="34" charset="0"/>
                <a:ea typeface="华文中宋" panose="02010600040101010101" pitchFamily="2" charset="-122"/>
              </a:rPr>
              <a:t> </a:t>
            </a:r>
            <a:r>
              <a:rPr kumimoji="0" lang="zh-CN" altLang="en-US" sz="2800" b="1">
                <a:latin typeface="Arial" panose="020B0604020202020204" pitchFamily="34" charset="0"/>
                <a:ea typeface="华文中宋" panose="02010600040101010101" pitchFamily="2" charset="-122"/>
              </a:rPr>
              <a:t>（</a:t>
            </a:r>
            <a:r>
              <a:rPr kumimoji="0" lang="en-US" altLang="zh-CN" sz="2800" b="1">
                <a:latin typeface="Arial" panose="020B0604020202020204" pitchFamily="34" charset="0"/>
                <a:ea typeface="华文中宋" panose="02010600040101010101" pitchFamily="2" charset="-122"/>
              </a:rPr>
              <a:t>2</a:t>
            </a:r>
            <a:r>
              <a:rPr kumimoji="0" lang="zh-CN" altLang="en-US" sz="2800" b="1">
                <a:latin typeface="Arial" panose="020B0604020202020204" pitchFamily="34" charset="0"/>
                <a:ea typeface="华文中宋" panose="02010600040101010101" pitchFamily="2" charset="-122"/>
              </a:rPr>
              <a:t>）搜索方式：</a:t>
            </a:r>
            <a:r>
              <a:rPr kumimoji="0" lang="zh-CN" altLang="en-US" sz="2800" b="1">
                <a:solidFill>
                  <a:srgbClr val="CC3300"/>
                </a:solidFill>
                <a:latin typeface="Arial" panose="020B0604020202020204" pitchFamily="34" charset="0"/>
                <a:ea typeface="华文中宋" panose="02010600040101010101" pitchFamily="2" charset="-122"/>
              </a:rPr>
              <a:t>不同</a:t>
            </a:r>
          </a:p>
          <a:p>
            <a:pPr lvl="1" eaLnBrk="1" hangingPunct="1">
              <a:spcBef>
                <a:spcPct val="50000"/>
              </a:spcBef>
            </a:pPr>
            <a:r>
              <a:rPr kumimoji="0" lang="zh-CN" altLang="en-US" sz="2800" b="1">
                <a:solidFill>
                  <a:srgbClr val="CC3300"/>
                </a:solidFill>
                <a:latin typeface="华文中宋" panose="02010600040101010101" pitchFamily="2" charset="-122"/>
                <a:ea typeface="华文中宋" panose="02010600040101010101" pitchFamily="2" charset="-122"/>
              </a:rPr>
              <a:t>回溯法：</a:t>
            </a:r>
            <a:r>
              <a:rPr kumimoji="0" lang="zh-CN" altLang="en-US" sz="2800" b="1">
                <a:latin typeface="华文中宋" panose="02010600040101010101" pitchFamily="2" charset="-122"/>
                <a:ea typeface="华文中宋" panose="02010600040101010101" pitchFamily="2" charset="-122"/>
              </a:rPr>
              <a:t>以深度优先</a:t>
            </a:r>
            <a:r>
              <a:rPr kumimoji="0" lang="en-US" altLang="zh-CN" sz="2800" b="1">
                <a:latin typeface="华文中宋" panose="02010600040101010101" pitchFamily="2" charset="-122"/>
                <a:ea typeface="华文中宋" panose="02010600040101010101" pitchFamily="2" charset="-122"/>
              </a:rPr>
              <a:t>DFS</a:t>
            </a:r>
            <a:r>
              <a:rPr kumimoji="0" lang="zh-CN" altLang="en-US" sz="2800" b="1">
                <a:latin typeface="华文中宋" panose="02010600040101010101" pitchFamily="2" charset="-122"/>
                <a:ea typeface="华文中宋" panose="02010600040101010101" pitchFamily="2" charset="-122"/>
              </a:rPr>
              <a:t>的方式搜索解空间树</a:t>
            </a:r>
          </a:p>
          <a:p>
            <a:pPr lvl="1" eaLnBrk="1" hangingPunct="1">
              <a:spcBef>
                <a:spcPct val="50000"/>
              </a:spcBef>
            </a:pPr>
            <a:r>
              <a:rPr kumimoji="0" lang="zh-CN" altLang="en-US" sz="2800" b="1">
                <a:solidFill>
                  <a:srgbClr val="CC3300"/>
                </a:solidFill>
                <a:latin typeface="华文中宋" panose="02010600040101010101" pitchFamily="2" charset="-122"/>
                <a:ea typeface="华文中宋" panose="02010600040101010101" pitchFamily="2" charset="-122"/>
              </a:rPr>
              <a:t>分支限界法：</a:t>
            </a:r>
            <a:r>
              <a:rPr kumimoji="0" lang="zh-CN" altLang="en-US" sz="2800" b="1">
                <a:latin typeface="华文中宋" panose="02010600040101010101" pitchFamily="2" charset="-122"/>
                <a:ea typeface="华文中宋" panose="02010600040101010101" pitchFamily="2" charset="-122"/>
              </a:rPr>
              <a:t>以广度优先</a:t>
            </a:r>
            <a:r>
              <a:rPr kumimoji="0" lang="en-US" altLang="zh-CN" sz="2800" b="1">
                <a:latin typeface="华文中宋" panose="02010600040101010101" pitchFamily="2" charset="-122"/>
                <a:ea typeface="华文中宋" panose="02010600040101010101" pitchFamily="2" charset="-122"/>
              </a:rPr>
              <a:t>BFS</a:t>
            </a:r>
            <a:r>
              <a:rPr kumimoji="0" lang="zh-CN" altLang="en-US" sz="2800" b="1">
                <a:latin typeface="华文中宋" panose="02010600040101010101" pitchFamily="2" charset="-122"/>
                <a:ea typeface="华文中宋" panose="02010600040101010101" pitchFamily="2" charset="-122"/>
              </a:rPr>
              <a:t>或以最小耗费优先的方式搜索解空间树</a:t>
            </a:r>
            <a:endParaRPr lang="zh-CN" altLang="en-US" sz="2800" b="1">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9576">
                                            <p:txEl>
                                              <p:pRg st="0" end="0"/>
                                            </p:txEl>
                                          </p:spTgt>
                                        </p:tgtEl>
                                        <p:attrNameLst>
                                          <p:attrName>style.visibility</p:attrName>
                                        </p:attrNameLst>
                                      </p:cBhvr>
                                      <p:to>
                                        <p:strVal val="visible"/>
                                      </p:to>
                                    </p:set>
                                    <p:anim calcmode="lin" valueType="num">
                                      <p:cBhvr additive="base">
                                        <p:cTn id="7" dur="500" fill="hold"/>
                                        <p:tgtEl>
                                          <p:spTgt spid="4957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9576">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9576">
                                            <p:txEl>
                                              <p:pRg st="1" end="1"/>
                                            </p:txEl>
                                          </p:spTgt>
                                        </p:tgtEl>
                                        <p:attrNameLst>
                                          <p:attrName>style.visibility</p:attrName>
                                        </p:attrNameLst>
                                      </p:cBhvr>
                                      <p:to>
                                        <p:strVal val="visible"/>
                                      </p:to>
                                    </p:set>
                                    <p:anim calcmode="lin" valueType="num">
                                      <p:cBhvr additive="base">
                                        <p:cTn id="11" dur="500" fill="hold"/>
                                        <p:tgtEl>
                                          <p:spTgt spid="49576">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49576">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49576">
                                            <p:txEl>
                                              <p:pRg st="2" end="2"/>
                                            </p:txEl>
                                          </p:spTgt>
                                        </p:tgtEl>
                                        <p:attrNameLst>
                                          <p:attrName>style.visibility</p:attrName>
                                        </p:attrNameLst>
                                      </p:cBhvr>
                                      <p:to>
                                        <p:strVal val="visible"/>
                                      </p:to>
                                    </p:set>
                                    <p:anim calcmode="lin" valueType="num">
                                      <p:cBhvr additive="base">
                                        <p:cTn id="15" dur="500" fill="hold"/>
                                        <p:tgtEl>
                                          <p:spTgt spid="49576">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4957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49577"/>
                                        </p:tgtEl>
                                        <p:attrNameLst>
                                          <p:attrName>style.visibility</p:attrName>
                                        </p:attrNameLst>
                                      </p:cBhvr>
                                      <p:to>
                                        <p:strVal val="visible"/>
                                      </p:to>
                                    </p:set>
                                    <p:anim calcmode="lin" valueType="num">
                                      <p:cBhvr additive="base">
                                        <p:cTn id="21" dur="500" fill="hold"/>
                                        <p:tgtEl>
                                          <p:spTgt spid="49577"/>
                                        </p:tgtEl>
                                        <p:attrNameLst>
                                          <p:attrName>ppt_x</p:attrName>
                                        </p:attrNameLst>
                                      </p:cBhvr>
                                      <p:tavLst>
                                        <p:tav tm="0">
                                          <p:val>
                                            <p:strVal val="0-#ppt_w/2"/>
                                          </p:val>
                                        </p:tav>
                                        <p:tav tm="100000">
                                          <p:val>
                                            <p:strVal val="#ppt_x"/>
                                          </p:val>
                                        </p:tav>
                                      </p:tavLst>
                                    </p:anim>
                                    <p:anim calcmode="lin" valueType="num">
                                      <p:cBhvr additive="base">
                                        <p:cTn id="22" dur="500" fill="hold"/>
                                        <p:tgtEl>
                                          <p:spTgt spid="4957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576" grpId="0" build="p" autoUpdateAnimBg="0"/>
      <p:bldP spid="49577"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7156BDA-A628-4760-B3FB-F27F09B5D811}"/>
              </a:ext>
            </a:extLst>
          </p:cNvPr>
          <p:cNvSpPr>
            <a:spLocks noGrp="1" noChangeArrowheads="1"/>
          </p:cNvSpPr>
          <p:nvPr>
            <p:ph type="title"/>
          </p:nvPr>
        </p:nvSpPr>
        <p:spPr bwMode="auto">
          <a:xfrm>
            <a:off x="685800" y="24384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4800" b="1">
                <a:solidFill>
                  <a:srgbClr val="AC2F36"/>
                </a:solidFill>
              </a:rPr>
              <a:t>6.1	</a:t>
            </a:r>
            <a:r>
              <a:rPr lang="zh-CN" altLang="en-US" sz="4800" b="1">
                <a:solidFill>
                  <a:srgbClr val="AC2F36"/>
                </a:solidFill>
              </a:rPr>
              <a:t>分支限界法的基本思想</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9458" name="Rectangle 1026">
            <a:extLst>
              <a:ext uri="{FF2B5EF4-FFF2-40B4-BE49-F238E27FC236}">
                <a16:creationId xmlns:a16="http://schemas.microsoft.com/office/drawing/2014/main" id="{84025386-2F2E-461F-ABF9-8127B719EC67}"/>
              </a:ext>
            </a:extLst>
          </p:cNvPr>
          <p:cNvSpPr>
            <a:spLocks noGrp="1" noChangeArrowheads="1"/>
          </p:cNvSpPr>
          <p:nvPr>
            <p:ph type="title"/>
          </p:nvPr>
        </p:nvSpPr>
        <p:spPr bwMode="auto">
          <a:xfrm>
            <a:off x="685800" y="228600"/>
            <a:ext cx="7772400" cy="757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a:solidFill>
                  <a:srgbClr val="C00000"/>
                </a:solidFill>
              </a:rPr>
              <a:t>分支限界法的基本思想</a:t>
            </a:r>
          </a:p>
        </p:txBody>
      </p:sp>
      <p:sp>
        <p:nvSpPr>
          <p:cNvPr id="51203" name="Rectangle 1027">
            <a:extLst>
              <a:ext uri="{FF2B5EF4-FFF2-40B4-BE49-F238E27FC236}">
                <a16:creationId xmlns:a16="http://schemas.microsoft.com/office/drawing/2014/main" id="{C45237D2-B5AD-493A-92C4-200F4BCDD184}"/>
              </a:ext>
            </a:extLst>
          </p:cNvPr>
          <p:cNvSpPr>
            <a:spLocks noGrp="1" noChangeArrowheads="1"/>
          </p:cNvSpPr>
          <p:nvPr>
            <p:ph type="body" idx="1"/>
          </p:nvPr>
        </p:nvSpPr>
        <p:spPr bwMode="auto">
          <a:xfrm>
            <a:off x="457200" y="1143000"/>
            <a:ext cx="83058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pPr>
            <a:r>
              <a:rPr kumimoji="0" lang="zh-CN" altLang="en-US" sz="2800" b="1">
                <a:solidFill>
                  <a:srgbClr val="C00000"/>
                </a:solidFill>
                <a:latin typeface="华文中宋" panose="02010600040101010101" pitchFamily="2" charset="-122"/>
              </a:rPr>
              <a:t>分支限界法以广度优先或以最小耗费优先的方式搜索问题的解空间树，扩展节点。 </a:t>
            </a:r>
          </a:p>
        </p:txBody>
      </p:sp>
      <p:sp>
        <p:nvSpPr>
          <p:cNvPr id="51204" name="Text Box 1028">
            <a:extLst>
              <a:ext uri="{FF2B5EF4-FFF2-40B4-BE49-F238E27FC236}">
                <a16:creationId xmlns:a16="http://schemas.microsoft.com/office/drawing/2014/main" id="{A272BC04-65EB-4C6F-A022-61E33400B165}"/>
              </a:ext>
            </a:extLst>
          </p:cNvPr>
          <p:cNvSpPr txBox="1">
            <a:spLocks noChangeArrowheads="1"/>
          </p:cNvSpPr>
          <p:nvPr/>
        </p:nvSpPr>
        <p:spPr bwMode="auto">
          <a:xfrm>
            <a:off x="381000" y="2209800"/>
            <a:ext cx="85344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buFontTx/>
              <a:buChar char="•"/>
            </a:pPr>
            <a:r>
              <a:rPr kumimoji="0" lang="zh-CN" altLang="en-US" sz="2800" b="1">
                <a:solidFill>
                  <a:srgbClr val="C00000"/>
                </a:solidFill>
                <a:latin typeface="华文中宋" panose="02010600040101010101" pitchFamily="2" charset="-122"/>
                <a:ea typeface="华文中宋" panose="02010600040101010101" pitchFamily="2" charset="-122"/>
              </a:rPr>
              <a:t>节点扩展方式</a:t>
            </a:r>
          </a:p>
          <a:p>
            <a:pPr lvl="1" eaLnBrk="1" hangingPunct="1">
              <a:lnSpc>
                <a:spcPct val="80000"/>
              </a:lnSpc>
              <a:spcBef>
                <a:spcPct val="50000"/>
              </a:spcBef>
              <a:buFontTx/>
              <a:buAutoNum type="arabicPeriod"/>
            </a:pPr>
            <a:r>
              <a:rPr kumimoji="0" lang="zh-CN" altLang="en-US" sz="2800" b="1">
                <a:latin typeface="华文中宋" panose="02010600040101010101" pitchFamily="2" charset="-122"/>
                <a:ea typeface="华文中宋" panose="02010600040101010101" pitchFamily="2" charset="-122"/>
              </a:rPr>
              <a:t>每一个活结点</a:t>
            </a:r>
            <a:r>
              <a:rPr kumimoji="0" lang="zh-CN" altLang="en-US" sz="2800" b="1">
                <a:solidFill>
                  <a:srgbClr val="C00000"/>
                </a:solidFill>
                <a:latin typeface="华文中宋" panose="02010600040101010101" pitchFamily="2" charset="-122"/>
                <a:ea typeface="华文中宋" panose="02010600040101010101" pitchFamily="2" charset="-122"/>
              </a:rPr>
              <a:t>只有一次机会</a:t>
            </a:r>
            <a:r>
              <a:rPr kumimoji="0" lang="zh-CN" altLang="en-US" sz="2800" b="1">
                <a:latin typeface="华文中宋" panose="02010600040101010101" pitchFamily="2" charset="-122"/>
                <a:ea typeface="华文中宋" panose="02010600040101010101" pitchFamily="2" charset="-122"/>
              </a:rPr>
              <a:t>成为扩展结点。活结点一旦成为扩展结点，就一次性产生它的所有儿子结点。</a:t>
            </a:r>
          </a:p>
          <a:p>
            <a:pPr lvl="1" eaLnBrk="1" hangingPunct="1">
              <a:lnSpc>
                <a:spcPct val="80000"/>
              </a:lnSpc>
              <a:spcBef>
                <a:spcPct val="50000"/>
              </a:spcBef>
              <a:buFontTx/>
              <a:buAutoNum type="arabicPeriod"/>
            </a:pPr>
            <a:r>
              <a:rPr kumimoji="0" lang="zh-CN" altLang="en-US" sz="2800" b="1">
                <a:latin typeface="华文中宋" panose="02010600040101010101" pitchFamily="2" charset="-122"/>
                <a:ea typeface="华文中宋" panose="02010600040101010101" pitchFamily="2" charset="-122"/>
              </a:rPr>
              <a:t>对导致不可行解或导致非最优解的儿子结点被舍弃，其余儿子结点被加入活结点表中</a:t>
            </a:r>
          </a:p>
        </p:txBody>
      </p:sp>
      <p:sp>
        <p:nvSpPr>
          <p:cNvPr id="51205" name="Text Box 1029">
            <a:extLst>
              <a:ext uri="{FF2B5EF4-FFF2-40B4-BE49-F238E27FC236}">
                <a16:creationId xmlns:a16="http://schemas.microsoft.com/office/drawing/2014/main" id="{E653B3E6-F6AB-4CFC-96AC-EA9E898335B0}"/>
              </a:ext>
            </a:extLst>
          </p:cNvPr>
          <p:cNvSpPr txBox="1">
            <a:spLocks noChangeArrowheads="1"/>
          </p:cNvSpPr>
          <p:nvPr/>
        </p:nvSpPr>
        <p:spPr bwMode="auto">
          <a:xfrm>
            <a:off x="381000" y="4800600"/>
            <a:ext cx="86106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buFontTx/>
              <a:buChar char="•"/>
            </a:pPr>
            <a:r>
              <a:rPr kumimoji="0" lang="zh-CN" altLang="en-US" sz="2800" b="1">
                <a:solidFill>
                  <a:srgbClr val="C00000"/>
                </a:solidFill>
                <a:latin typeface="华文中宋" panose="02010600040101010101" pitchFamily="2" charset="-122"/>
                <a:ea typeface="华文中宋" panose="02010600040101010101" pitchFamily="2" charset="-122"/>
              </a:rPr>
              <a:t>操作方式</a:t>
            </a:r>
          </a:p>
          <a:p>
            <a:pPr eaLnBrk="1" hangingPunct="1">
              <a:lnSpc>
                <a:spcPct val="90000"/>
              </a:lnSpc>
              <a:spcBef>
                <a:spcPct val="50000"/>
              </a:spcBef>
            </a:pPr>
            <a:r>
              <a:rPr kumimoji="0" lang="zh-CN" altLang="en-US" sz="2800" b="1">
                <a:latin typeface="华文中宋" panose="02010600040101010101" pitchFamily="2" charset="-122"/>
                <a:ea typeface="华文中宋" panose="02010600040101010101" pitchFamily="2" charset="-122"/>
              </a:rPr>
              <a:t>  从活结点表中取下一结点成为当前扩展结点。重复上述结点扩展过程，直到找到所需的解或活结点表为空时为止。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anim calcmode="lin" valueType="num">
                                      <p:cBhvr additive="base">
                                        <p:cTn id="7" dur="500" fill="hold"/>
                                        <p:tgtEl>
                                          <p:spTgt spid="512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12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1204"/>
                                        </p:tgtEl>
                                        <p:attrNameLst>
                                          <p:attrName>style.visibility</p:attrName>
                                        </p:attrNameLst>
                                      </p:cBhvr>
                                      <p:to>
                                        <p:strVal val="visible"/>
                                      </p:to>
                                    </p:set>
                                    <p:anim calcmode="lin" valueType="num">
                                      <p:cBhvr additive="base">
                                        <p:cTn id="13" dur="500" fill="hold"/>
                                        <p:tgtEl>
                                          <p:spTgt spid="51204"/>
                                        </p:tgtEl>
                                        <p:attrNameLst>
                                          <p:attrName>ppt_x</p:attrName>
                                        </p:attrNameLst>
                                      </p:cBhvr>
                                      <p:tavLst>
                                        <p:tav tm="0">
                                          <p:val>
                                            <p:strVal val="0-#ppt_w/2"/>
                                          </p:val>
                                        </p:tav>
                                        <p:tav tm="100000">
                                          <p:val>
                                            <p:strVal val="#ppt_x"/>
                                          </p:val>
                                        </p:tav>
                                      </p:tavLst>
                                    </p:anim>
                                    <p:anim calcmode="lin" valueType="num">
                                      <p:cBhvr additive="base">
                                        <p:cTn id="14" dur="500" fill="hold"/>
                                        <p:tgtEl>
                                          <p:spTgt spid="5120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1205"/>
                                        </p:tgtEl>
                                        <p:attrNameLst>
                                          <p:attrName>style.visibility</p:attrName>
                                        </p:attrNameLst>
                                      </p:cBhvr>
                                      <p:to>
                                        <p:strVal val="visible"/>
                                      </p:to>
                                    </p:set>
                                    <p:anim calcmode="lin" valueType="num">
                                      <p:cBhvr additive="base">
                                        <p:cTn id="19" dur="500" fill="hold"/>
                                        <p:tgtEl>
                                          <p:spTgt spid="51205"/>
                                        </p:tgtEl>
                                        <p:attrNameLst>
                                          <p:attrName>ppt_x</p:attrName>
                                        </p:attrNameLst>
                                      </p:cBhvr>
                                      <p:tavLst>
                                        <p:tav tm="0">
                                          <p:val>
                                            <p:strVal val="0-#ppt_w/2"/>
                                          </p:val>
                                        </p:tav>
                                        <p:tav tm="100000">
                                          <p:val>
                                            <p:strVal val="#ppt_x"/>
                                          </p:val>
                                        </p:tav>
                                      </p:tavLst>
                                    </p:anim>
                                    <p:anim calcmode="lin" valueType="num">
                                      <p:cBhvr additive="base">
                                        <p:cTn id="20" dur="500" fill="hold"/>
                                        <p:tgtEl>
                                          <p:spTgt spid="5120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build="p" autoUpdateAnimBg="0"/>
      <p:bldP spid="51204" grpId="0" autoUpdateAnimBg="0"/>
      <p:bldP spid="51205"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0482" name="Rectangle 1026">
            <a:extLst>
              <a:ext uri="{FF2B5EF4-FFF2-40B4-BE49-F238E27FC236}">
                <a16:creationId xmlns:a16="http://schemas.microsoft.com/office/drawing/2014/main" id="{27421D0C-08C1-43A5-A082-9DCF3CC0EFE9}"/>
              </a:ext>
            </a:extLst>
          </p:cNvPr>
          <p:cNvSpPr>
            <a:spLocks noGrp="1" noChangeArrowheads="1"/>
          </p:cNvSpPr>
          <p:nvPr>
            <p:ph type="title"/>
          </p:nvPr>
        </p:nvSpPr>
        <p:spPr bwMode="auto">
          <a:xfrm>
            <a:off x="609600" y="381000"/>
            <a:ext cx="77724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a:solidFill>
                  <a:srgbClr val="AC2F36"/>
                </a:solidFill>
              </a:rPr>
              <a:t>常见的两种分支限界法</a:t>
            </a:r>
          </a:p>
        </p:txBody>
      </p:sp>
      <p:sp>
        <p:nvSpPr>
          <p:cNvPr id="50179" name="Rectangle 1027">
            <a:extLst>
              <a:ext uri="{FF2B5EF4-FFF2-40B4-BE49-F238E27FC236}">
                <a16:creationId xmlns:a16="http://schemas.microsoft.com/office/drawing/2014/main" id="{3590143C-C4D4-4517-A509-A10884E733E7}"/>
              </a:ext>
            </a:extLst>
          </p:cNvPr>
          <p:cNvSpPr>
            <a:spLocks noGrp="1" noChangeArrowheads="1"/>
          </p:cNvSpPr>
          <p:nvPr>
            <p:ph type="body" idx="1"/>
          </p:nvPr>
        </p:nvSpPr>
        <p:spPr bwMode="auto">
          <a:xfrm>
            <a:off x="685800" y="1295400"/>
            <a:ext cx="7772400" cy="1676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40000"/>
              </a:spcBef>
              <a:buFontTx/>
              <a:buNone/>
            </a:pPr>
            <a:r>
              <a:rPr kumimoji="0" lang="zh-CN" altLang="en-US" sz="2800" b="1">
                <a:latin typeface="华文中宋" panose="02010600040101010101" pitchFamily="2" charset="-122"/>
              </a:rPr>
              <a:t>（</a:t>
            </a:r>
            <a:r>
              <a:rPr kumimoji="0" lang="en-US" altLang="zh-CN" sz="2800" b="1">
                <a:latin typeface="华文中宋" panose="02010600040101010101" pitchFamily="2" charset="-122"/>
              </a:rPr>
              <a:t>1</a:t>
            </a:r>
            <a:r>
              <a:rPr kumimoji="0" lang="zh-CN" altLang="en-US" sz="2800" b="1">
                <a:latin typeface="华文中宋" panose="02010600040101010101" pitchFamily="2" charset="-122"/>
              </a:rPr>
              <a:t>）队列式</a:t>
            </a:r>
            <a:r>
              <a:rPr kumimoji="0" lang="en-US" altLang="zh-CN" sz="2800" b="1">
                <a:latin typeface="华文中宋" panose="02010600040101010101" pitchFamily="2" charset="-122"/>
              </a:rPr>
              <a:t>(FIFO)</a:t>
            </a:r>
            <a:r>
              <a:rPr kumimoji="0" lang="zh-CN" altLang="en-US" sz="2800" b="1">
                <a:latin typeface="华文中宋" panose="02010600040101010101" pitchFamily="2" charset="-122"/>
              </a:rPr>
              <a:t>分支限界法</a:t>
            </a:r>
          </a:p>
          <a:p>
            <a:pPr eaLnBrk="1" hangingPunct="1">
              <a:spcBef>
                <a:spcPct val="40000"/>
              </a:spcBef>
              <a:buFontTx/>
              <a:buNone/>
            </a:pPr>
            <a:r>
              <a:rPr kumimoji="0" lang="zh-CN" altLang="en-US" sz="2800" b="1">
                <a:latin typeface="华文中宋" panose="02010600040101010101" pitchFamily="2" charset="-122"/>
              </a:rPr>
              <a:t>    按照队列先进先出（</a:t>
            </a:r>
            <a:r>
              <a:rPr kumimoji="0" lang="en-US" altLang="zh-CN" sz="2800" b="1">
                <a:latin typeface="华文中宋" panose="02010600040101010101" pitchFamily="2" charset="-122"/>
              </a:rPr>
              <a:t>FIFO</a:t>
            </a:r>
            <a:r>
              <a:rPr kumimoji="0" lang="zh-CN" altLang="en-US" sz="2800" b="1">
                <a:latin typeface="华文中宋" panose="02010600040101010101" pitchFamily="2" charset="-122"/>
              </a:rPr>
              <a:t>）原则选取下一个节点为扩展节点</a:t>
            </a:r>
          </a:p>
        </p:txBody>
      </p:sp>
      <p:sp>
        <p:nvSpPr>
          <p:cNvPr id="50180" name="Rectangle 1028">
            <a:extLst>
              <a:ext uri="{FF2B5EF4-FFF2-40B4-BE49-F238E27FC236}">
                <a16:creationId xmlns:a16="http://schemas.microsoft.com/office/drawing/2014/main" id="{28006822-9FBF-452E-B537-B26C7D5235C9}"/>
              </a:ext>
            </a:extLst>
          </p:cNvPr>
          <p:cNvSpPr>
            <a:spLocks noChangeArrowheads="1"/>
          </p:cNvSpPr>
          <p:nvPr/>
        </p:nvSpPr>
        <p:spPr bwMode="auto">
          <a:xfrm>
            <a:off x="685800" y="3048000"/>
            <a:ext cx="77724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40000"/>
              </a:spcBef>
            </a:pPr>
            <a:r>
              <a:rPr kumimoji="0" lang="zh-CN" altLang="en-US" sz="2800" b="1" dirty="0">
                <a:latin typeface="华文中宋" panose="02010600040101010101" pitchFamily="2" charset="-122"/>
                <a:ea typeface="华文中宋" panose="02010600040101010101" pitchFamily="2" charset="-122"/>
              </a:rPr>
              <a:t>（</a:t>
            </a:r>
            <a:r>
              <a:rPr kumimoji="0" lang="en-US" altLang="zh-CN" sz="2800" b="1" dirty="0">
                <a:latin typeface="华文中宋" panose="02010600040101010101" pitchFamily="2" charset="-122"/>
                <a:ea typeface="华文中宋" panose="02010600040101010101" pitchFamily="2" charset="-122"/>
              </a:rPr>
              <a:t>2</a:t>
            </a:r>
            <a:r>
              <a:rPr kumimoji="0" lang="zh-CN" altLang="en-US" sz="2800" b="1" dirty="0">
                <a:latin typeface="华文中宋" panose="02010600040101010101" pitchFamily="2" charset="-122"/>
                <a:ea typeface="华文中宋" panose="02010600040101010101" pitchFamily="2" charset="-122"/>
              </a:rPr>
              <a:t>）优先队列式分支限界法</a:t>
            </a:r>
          </a:p>
          <a:p>
            <a:pPr eaLnBrk="1" hangingPunct="1">
              <a:spcBef>
                <a:spcPct val="40000"/>
              </a:spcBef>
            </a:pPr>
            <a:r>
              <a:rPr kumimoji="0" lang="zh-CN" altLang="en-US" sz="2800" b="1" dirty="0">
                <a:latin typeface="华文中宋" panose="02010600040101010101" pitchFamily="2" charset="-122"/>
                <a:ea typeface="华文中宋" panose="02010600040101010101" pitchFamily="2" charset="-122"/>
              </a:rPr>
              <a:t>    按照优先队列中规定的优先级选取优先级最高的节点成为当前扩展节点。</a:t>
            </a:r>
            <a:endParaRPr lang="zh-CN" altLang="en-US" sz="2800" b="1" dirty="0">
              <a:ea typeface="华文中宋" panose="02010600040101010101" pitchFamily="2" charset="-122"/>
            </a:endParaRPr>
          </a:p>
        </p:txBody>
      </p:sp>
      <p:sp>
        <p:nvSpPr>
          <p:cNvPr id="50181" name="Rectangle 1029">
            <a:extLst>
              <a:ext uri="{FF2B5EF4-FFF2-40B4-BE49-F238E27FC236}">
                <a16:creationId xmlns:a16="http://schemas.microsoft.com/office/drawing/2014/main" id="{5953AFC3-356F-4E5C-A41D-51AD6CD388CB}"/>
              </a:ext>
            </a:extLst>
          </p:cNvPr>
          <p:cNvSpPr>
            <a:spLocks noChangeArrowheads="1"/>
          </p:cNvSpPr>
          <p:nvPr/>
        </p:nvSpPr>
        <p:spPr bwMode="auto">
          <a:xfrm>
            <a:off x="838200" y="4724400"/>
            <a:ext cx="77724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35000"/>
              </a:spcBef>
            </a:pPr>
            <a:r>
              <a:rPr kumimoji="0" lang="zh-CN" altLang="en-US" sz="2800" b="1">
                <a:latin typeface="华文中宋" panose="02010600040101010101" pitchFamily="2" charset="-122"/>
                <a:ea typeface="华文中宋" panose="02010600040101010101" pitchFamily="2" charset="-122"/>
              </a:rPr>
              <a:t>优先级：与节点有关的数值</a:t>
            </a:r>
          </a:p>
          <a:p>
            <a:pPr eaLnBrk="1" hangingPunct="1">
              <a:lnSpc>
                <a:spcPct val="90000"/>
              </a:lnSpc>
              <a:spcBef>
                <a:spcPct val="35000"/>
              </a:spcBef>
            </a:pPr>
            <a:r>
              <a:rPr kumimoji="0" lang="zh-CN" altLang="en-US" sz="2800" b="1">
                <a:latin typeface="华文中宋" panose="02010600040101010101" pitchFamily="2" charset="-122"/>
                <a:ea typeface="华文中宋" panose="02010600040101010101" pitchFamily="2" charset="-122"/>
              </a:rPr>
              <a:t>最大（小）优先级：</a:t>
            </a:r>
          </a:p>
          <a:p>
            <a:pPr eaLnBrk="1" hangingPunct="1">
              <a:lnSpc>
                <a:spcPct val="90000"/>
              </a:lnSpc>
              <a:spcBef>
                <a:spcPct val="35000"/>
              </a:spcBef>
            </a:pPr>
            <a:r>
              <a:rPr kumimoji="0" lang="zh-CN" altLang="en-US" sz="2800" b="1">
                <a:latin typeface="华文中宋" panose="02010600040101010101" pitchFamily="2" charset="-122"/>
                <a:ea typeface="华文中宋" panose="02010600040101010101" pitchFamily="2" charset="-122"/>
              </a:rPr>
              <a:t>最大（小）堆：</a:t>
            </a:r>
            <a:endParaRPr lang="zh-CN" altLang="en-US" sz="2800" b="1">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anim calcmode="lin" valueType="num">
                                      <p:cBhvr additive="base">
                                        <p:cTn id="7" dur="500" fill="hold"/>
                                        <p:tgtEl>
                                          <p:spTgt spid="5017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017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0179">
                                            <p:txEl>
                                              <p:pRg st="1" end="1"/>
                                            </p:txEl>
                                          </p:spTgt>
                                        </p:tgtEl>
                                        <p:attrNameLst>
                                          <p:attrName>style.visibility</p:attrName>
                                        </p:attrNameLst>
                                      </p:cBhvr>
                                      <p:to>
                                        <p:strVal val="visible"/>
                                      </p:to>
                                    </p:set>
                                    <p:anim calcmode="lin" valueType="num">
                                      <p:cBhvr additive="base">
                                        <p:cTn id="13" dur="500" fill="hold"/>
                                        <p:tgtEl>
                                          <p:spTgt spid="5017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017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0180"/>
                                        </p:tgtEl>
                                        <p:attrNameLst>
                                          <p:attrName>style.visibility</p:attrName>
                                        </p:attrNameLst>
                                      </p:cBhvr>
                                      <p:to>
                                        <p:strVal val="visible"/>
                                      </p:to>
                                    </p:set>
                                    <p:anim calcmode="lin" valueType="num">
                                      <p:cBhvr additive="base">
                                        <p:cTn id="19" dur="500" fill="hold"/>
                                        <p:tgtEl>
                                          <p:spTgt spid="50180"/>
                                        </p:tgtEl>
                                        <p:attrNameLst>
                                          <p:attrName>ppt_x</p:attrName>
                                        </p:attrNameLst>
                                      </p:cBhvr>
                                      <p:tavLst>
                                        <p:tav tm="0">
                                          <p:val>
                                            <p:strVal val="0-#ppt_w/2"/>
                                          </p:val>
                                        </p:tav>
                                        <p:tav tm="100000">
                                          <p:val>
                                            <p:strVal val="#ppt_x"/>
                                          </p:val>
                                        </p:tav>
                                      </p:tavLst>
                                    </p:anim>
                                    <p:anim calcmode="lin" valueType="num">
                                      <p:cBhvr additive="base">
                                        <p:cTn id="20" dur="500" fill="hold"/>
                                        <p:tgtEl>
                                          <p:spTgt spid="50180"/>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0181"/>
                                        </p:tgtEl>
                                        <p:attrNameLst>
                                          <p:attrName>style.visibility</p:attrName>
                                        </p:attrNameLst>
                                      </p:cBhvr>
                                      <p:to>
                                        <p:strVal val="visible"/>
                                      </p:to>
                                    </p:set>
                                    <p:anim calcmode="lin" valueType="num">
                                      <p:cBhvr additive="base">
                                        <p:cTn id="25" dur="500" fill="hold"/>
                                        <p:tgtEl>
                                          <p:spTgt spid="50181"/>
                                        </p:tgtEl>
                                        <p:attrNameLst>
                                          <p:attrName>ppt_x</p:attrName>
                                        </p:attrNameLst>
                                      </p:cBhvr>
                                      <p:tavLst>
                                        <p:tav tm="0">
                                          <p:val>
                                            <p:strVal val="0-#ppt_w/2"/>
                                          </p:val>
                                        </p:tav>
                                        <p:tav tm="100000">
                                          <p:val>
                                            <p:strVal val="#ppt_x"/>
                                          </p:val>
                                        </p:tav>
                                      </p:tavLst>
                                    </p:anim>
                                    <p:anim calcmode="lin" valueType="num">
                                      <p:cBhvr additive="base">
                                        <p:cTn id="26" dur="500" fill="hold"/>
                                        <p:tgtEl>
                                          <p:spTgt spid="5018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autoUpdateAnimBg="0"/>
      <p:bldP spid="50180" grpId="0" autoUpdateAnimBg="0"/>
      <p:bldP spid="50181"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7410" name="Rectangle 1026">
            <a:extLst>
              <a:ext uri="{FF2B5EF4-FFF2-40B4-BE49-F238E27FC236}">
                <a16:creationId xmlns:a16="http://schemas.microsoft.com/office/drawing/2014/main" id="{E1C3D33F-49AA-431F-B6B0-00B4D85038DD}"/>
              </a:ext>
            </a:extLst>
          </p:cNvPr>
          <p:cNvSpPr>
            <a:spLocks noGrp="1" noChangeArrowheads="1"/>
          </p:cNvSpPr>
          <p:nvPr>
            <p:ph type="title"/>
          </p:nvPr>
        </p:nvSpPr>
        <p:spPr bwMode="auto">
          <a:xfrm>
            <a:off x="685800" y="304800"/>
            <a:ext cx="7772400" cy="7620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4000" b="1" dirty="0">
                <a:solidFill>
                  <a:srgbClr val="AC2F36"/>
                </a:solidFill>
              </a:rPr>
              <a:t>分支限界法</a:t>
            </a:r>
            <a:r>
              <a:rPr lang="zh-CN" altLang="en-US" sz="4000" b="1" dirty="0">
                <a:solidFill>
                  <a:srgbClr val="AC2F36"/>
                </a:solidFill>
                <a:effectLst>
                  <a:outerShdw blurRad="38100" dist="38100" dir="2700000" algn="tl">
                    <a:srgbClr val="C0C0C0"/>
                  </a:outerShdw>
                </a:effectLst>
              </a:rPr>
              <a:t>问题的解空间</a:t>
            </a:r>
          </a:p>
        </p:txBody>
      </p:sp>
      <p:sp>
        <p:nvSpPr>
          <p:cNvPr id="17411" name="Rectangle 1027">
            <a:extLst>
              <a:ext uri="{FF2B5EF4-FFF2-40B4-BE49-F238E27FC236}">
                <a16:creationId xmlns:a16="http://schemas.microsoft.com/office/drawing/2014/main" id="{34988E63-DE42-48E4-9900-1701C90A7C5F}"/>
              </a:ext>
            </a:extLst>
          </p:cNvPr>
          <p:cNvSpPr>
            <a:spLocks noGrp="1" noChangeArrowheads="1"/>
          </p:cNvSpPr>
          <p:nvPr>
            <p:ph type="body" idx="1"/>
          </p:nvPr>
        </p:nvSpPr>
        <p:spPr bwMode="auto">
          <a:xfrm>
            <a:off x="685800" y="1066800"/>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spcBef>
                <a:spcPct val="50000"/>
              </a:spcBef>
              <a:buFontTx/>
              <a:buNone/>
            </a:pPr>
            <a:r>
              <a:rPr kumimoji="0" lang="zh-CN" altLang="en-US" sz="2800" b="1">
                <a:solidFill>
                  <a:srgbClr val="AC2F36"/>
                </a:solidFill>
                <a:latin typeface="华文中宋" panose="02010600040101010101" pitchFamily="2" charset="-122"/>
              </a:rPr>
              <a:t>与回溯类似</a:t>
            </a:r>
          </a:p>
          <a:p>
            <a:pPr eaLnBrk="1" hangingPunct="1">
              <a:lnSpc>
                <a:spcPct val="90000"/>
              </a:lnSpc>
              <a:spcBef>
                <a:spcPct val="50000"/>
              </a:spcBef>
              <a:buFontTx/>
              <a:buNone/>
            </a:pPr>
            <a:r>
              <a:rPr lang="en-US" altLang="zh-CN" sz="2800" b="1"/>
              <a:t>1. </a:t>
            </a:r>
            <a:r>
              <a:rPr lang="zh-CN" altLang="en-US" sz="2800" b="1"/>
              <a:t>解空间树：子集树、排列树</a:t>
            </a:r>
          </a:p>
        </p:txBody>
      </p:sp>
      <p:sp>
        <p:nvSpPr>
          <p:cNvPr id="17413" name="Text Box 1029">
            <a:extLst>
              <a:ext uri="{FF2B5EF4-FFF2-40B4-BE49-F238E27FC236}">
                <a16:creationId xmlns:a16="http://schemas.microsoft.com/office/drawing/2014/main" id="{E68DF257-906E-407B-8A10-8D80040712D8}"/>
              </a:ext>
            </a:extLst>
          </p:cNvPr>
          <p:cNvSpPr txBox="1">
            <a:spLocks noChangeArrowheads="1"/>
          </p:cNvSpPr>
          <p:nvPr/>
        </p:nvSpPr>
        <p:spPr bwMode="auto">
          <a:xfrm>
            <a:off x="492125" y="3290888"/>
            <a:ext cx="8423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ea typeface="华文中宋" panose="02010600040101010101" pitchFamily="2" charset="-122"/>
              </a:rPr>
              <a:t>  3. </a:t>
            </a:r>
            <a:r>
              <a:rPr lang="zh-CN" altLang="en-US" sz="2800" b="1">
                <a:ea typeface="华文中宋" panose="02010600040101010101" pitchFamily="2" charset="-122"/>
              </a:rPr>
              <a:t>约束条件</a:t>
            </a:r>
          </a:p>
        </p:txBody>
      </p:sp>
      <p:sp>
        <p:nvSpPr>
          <p:cNvPr id="17414" name="Text Box 1030">
            <a:extLst>
              <a:ext uri="{FF2B5EF4-FFF2-40B4-BE49-F238E27FC236}">
                <a16:creationId xmlns:a16="http://schemas.microsoft.com/office/drawing/2014/main" id="{AC5C9308-47DA-4348-8262-E744000F40A0}"/>
              </a:ext>
            </a:extLst>
          </p:cNvPr>
          <p:cNvSpPr txBox="1">
            <a:spLocks noChangeArrowheads="1"/>
          </p:cNvSpPr>
          <p:nvPr/>
        </p:nvSpPr>
        <p:spPr bwMode="auto">
          <a:xfrm>
            <a:off x="492125" y="3748088"/>
            <a:ext cx="8423275" cy="154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40000"/>
              </a:spcBef>
            </a:pPr>
            <a:r>
              <a:rPr lang="en-US" altLang="zh-CN" sz="2800" b="1">
                <a:ea typeface="华文中宋" panose="02010600040101010101" pitchFamily="2" charset="-122"/>
              </a:rPr>
              <a:t>        1</a:t>
            </a:r>
            <a:r>
              <a:rPr lang="zh-CN" altLang="en-US" sz="2800" b="1">
                <a:ea typeface="华文中宋" panose="02010600040101010101" pitchFamily="2" charset="-122"/>
              </a:rPr>
              <a:t>）显式约束：对分量</a:t>
            </a:r>
            <a:r>
              <a:rPr lang="en-US" altLang="zh-CN" sz="2800" b="1">
                <a:ea typeface="华文中宋" panose="02010600040101010101" pitchFamily="2" charset="-122"/>
              </a:rPr>
              <a:t>x</a:t>
            </a:r>
            <a:r>
              <a:rPr lang="en-US" altLang="zh-CN" sz="2800" b="1" baseline="-25000">
                <a:ea typeface="华文中宋" panose="02010600040101010101" pitchFamily="2" charset="-122"/>
              </a:rPr>
              <a:t>i</a:t>
            </a:r>
            <a:r>
              <a:rPr lang="zh-CN" altLang="en-US" sz="2800" b="1">
                <a:ea typeface="华文中宋" panose="02010600040101010101" pitchFamily="2" charset="-122"/>
              </a:rPr>
              <a:t>的取值限定。</a:t>
            </a:r>
          </a:p>
          <a:p>
            <a:pPr eaLnBrk="1" hangingPunct="1">
              <a:spcBef>
                <a:spcPct val="40000"/>
              </a:spcBef>
            </a:pPr>
            <a:r>
              <a:rPr lang="zh-CN" altLang="en-US" sz="2800" b="1">
                <a:ea typeface="华文中宋" panose="02010600040101010101" pitchFamily="2" charset="-122"/>
              </a:rPr>
              <a:t>        </a:t>
            </a:r>
            <a:r>
              <a:rPr lang="en-US" altLang="zh-CN" sz="2800" b="1">
                <a:ea typeface="华文中宋" panose="02010600040101010101" pitchFamily="2" charset="-122"/>
              </a:rPr>
              <a:t>2</a:t>
            </a:r>
            <a:r>
              <a:rPr lang="zh-CN" altLang="en-US" sz="2800" b="1">
                <a:ea typeface="华文中宋" panose="02010600040101010101" pitchFamily="2" charset="-122"/>
              </a:rPr>
              <a:t>）隐式约束：为满足问题的解而对</a:t>
            </a:r>
            <a:r>
              <a:rPr lang="zh-CN" altLang="en-US" sz="2800" b="1">
                <a:solidFill>
                  <a:schemeClr val="tx2"/>
                </a:solidFill>
                <a:ea typeface="华文中宋" panose="02010600040101010101" pitchFamily="2" charset="-122"/>
              </a:rPr>
              <a:t>不同分量</a:t>
            </a:r>
            <a:r>
              <a:rPr lang="zh-CN" altLang="en-US" sz="2800" b="1">
                <a:ea typeface="华文中宋" panose="02010600040101010101" pitchFamily="2" charset="-122"/>
              </a:rPr>
              <a:t>之间施加的约束。</a:t>
            </a:r>
          </a:p>
        </p:txBody>
      </p:sp>
      <p:sp>
        <p:nvSpPr>
          <p:cNvPr id="17416" name="Text Box 1032">
            <a:extLst>
              <a:ext uri="{FF2B5EF4-FFF2-40B4-BE49-F238E27FC236}">
                <a16:creationId xmlns:a16="http://schemas.microsoft.com/office/drawing/2014/main" id="{5B014486-1C50-4C74-BE9E-1FD8ABEF6F1D}"/>
              </a:ext>
            </a:extLst>
          </p:cNvPr>
          <p:cNvSpPr txBox="1">
            <a:spLocks noChangeArrowheads="1"/>
          </p:cNvSpPr>
          <p:nvPr/>
        </p:nvSpPr>
        <p:spPr bwMode="auto">
          <a:xfrm>
            <a:off x="457200" y="5334000"/>
            <a:ext cx="84232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ea typeface="华文中宋" panose="02010600040101010101" pitchFamily="2" charset="-122"/>
              </a:rPr>
              <a:t>  4. </a:t>
            </a:r>
            <a:r>
              <a:rPr lang="zh-CN" altLang="en-US" sz="2800" b="1">
                <a:ea typeface="华文中宋" panose="02010600040101010101" pitchFamily="2" charset="-122"/>
              </a:rPr>
              <a:t>解空间：对于问题的一个实例，解向量满足显式约束条件的所有多元组，构成了该实例的一个解空间。</a:t>
            </a:r>
          </a:p>
        </p:txBody>
      </p:sp>
      <p:sp>
        <p:nvSpPr>
          <p:cNvPr id="17417" name="Rectangle 1033">
            <a:extLst>
              <a:ext uri="{FF2B5EF4-FFF2-40B4-BE49-F238E27FC236}">
                <a16:creationId xmlns:a16="http://schemas.microsoft.com/office/drawing/2014/main" id="{2852722C-0F14-4B6A-9099-773D89F9EFA8}"/>
              </a:ext>
            </a:extLst>
          </p:cNvPr>
          <p:cNvSpPr>
            <a:spLocks noChangeArrowheads="1"/>
          </p:cNvSpPr>
          <p:nvPr/>
        </p:nvSpPr>
        <p:spPr bwMode="auto">
          <a:xfrm>
            <a:off x="685800" y="2133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pPr>
            <a:r>
              <a:rPr lang="en-US" altLang="zh-CN" sz="2800" b="1">
                <a:ea typeface="华文中宋" panose="02010600040101010101" pitchFamily="2" charset="-122"/>
              </a:rPr>
              <a:t>2. </a:t>
            </a:r>
            <a:r>
              <a:rPr lang="zh-CN" altLang="en-US" sz="2800" b="1">
                <a:ea typeface="华文中宋" panose="02010600040101010101" pitchFamily="2" charset="-122"/>
              </a:rPr>
              <a:t>解向量：问题解的向量表示形式。</a:t>
            </a:r>
          </a:p>
          <a:p>
            <a:pPr eaLnBrk="1" hangingPunct="1">
              <a:lnSpc>
                <a:spcPct val="90000"/>
              </a:lnSpc>
              <a:spcBef>
                <a:spcPct val="50000"/>
              </a:spcBef>
            </a:pPr>
            <a:r>
              <a:rPr lang="zh-CN" altLang="en-US" sz="2800" b="1">
                <a:ea typeface="华文中宋" panose="02010600040101010101" pitchFamily="2" charset="-122"/>
              </a:rPr>
              <a:t>        </a:t>
            </a:r>
            <a:r>
              <a:rPr lang="en-US" altLang="zh-CN" sz="2800" b="1">
                <a:ea typeface="华文中宋" panose="02010600040101010101" pitchFamily="2" charset="-122"/>
              </a:rPr>
              <a:t>(x</a:t>
            </a:r>
            <a:r>
              <a:rPr lang="en-US" altLang="zh-CN" sz="2800" b="1" baseline="-25000">
                <a:ea typeface="华文中宋" panose="02010600040101010101" pitchFamily="2" charset="-122"/>
              </a:rPr>
              <a:t>1</a:t>
            </a:r>
            <a:r>
              <a:rPr lang="en-US" altLang="zh-CN" sz="2800" b="1">
                <a:ea typeface="华文中宋" panose="02010600040101010101" pitchFamily="2" charset="-122"/>
              </a:rPr>
              <a:t>, x</a:t>
            </a:r>
            <a:r>
              <a:rPr lang="en-US" altLang="zh-CN" sz="2800" b="1" baseline="-25000">
                <a:ea typeface="华文中宋" panose="02010600040101010101" pitchFamily="2" charset="-122"/>
              </a:rPr>
              <a:t>2</a:t>
            </a:r>
            <a:r>
              <a:rPr lang="en-US" altLang="zh-CN" sz="2800" b="1">
                <a:ea typeface="华文中宋" panose="02010600040101010101" pitchFamily="2" charset="-122"/>
              </a:rPr>
              <a:t>, …, x</a:t>
            </a:r>
            <a:r>
              <a:rPr lang="en-US" altLang="zh-CN" sz="2800" b="1" baseline="-25000">
                <a:ea typeface="华文中宋" panose="02010600040101010101" pitchFamily="2" charset="-122"/>
              </a:rPr>
              <a:t>k</a:t>
            </a:r>
            <a:r>
              <a:rPr lang="en-US" altLang="zh-CN" sz="2800" b="1">
                <a:ea typeface="华文中宋" panose="02010600040101010101" pitchFamily="2" charset="-122"/>
              </a:rPr>
              <a:t>)     k </a:t>
            </a:r>
            <a:r>
              <a:rPr lang="en-US" altLang="zh-CN" sz="2800" b="1">
                <a:ea typeface="华文中宋" panose="02010600040101010101" pitchFamily="2" charset="-122"/>
                <a:sym typeface="Symbol" panose="05050102010706020507" pitchFamily="18" charset="2"/>
              </a:rPr>
              <a:t> n,  n:</a:t>
            </a:r>
            <a:r>
              <a:rPr lang="zh-CN" altLang="zh-CN" sz="2800" b="1">
                <a:ea typeface="华文中宋" panose="02010600040101010101" pitchFamily="2" charset="-122"/>
                <a:sym typeface="Symbol" panose="05050102010706020507" pitchFamily="18" charset="2"/>
              </a:rPr>
              <a:t>问题的规模。</a:t>
            </a:r>
            <a:endParaRPr lang="zh-CN" altLang="en-US" sz="2800" b="1">
              <a:ea typeface="华文中宋" panose="02010600040101010101" pitchFamily="2" charset="-122"/>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 calcmode="lin" valueType="num">
                                      <p:cBhvr additive="base">
                                        <p:cTn id="7" dur="500" fill="hold"/>
                                        <p:tgtEl>
                                          <p:spTgt spid="174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4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411">
                                            <p:txEl>
                                              <p:pRg st="1" end="1"/>
                                            </p:txEl>
                                          </p:spTgt>
                                        </p:tgtEl>
                                        <p:attrNameLst>
                                          <p:attrName>style.visibility</p:attrName>
                                        </p:attrNameLst>
                                      </p:cBhvr>
                                      <p:to>
                                        <p:strVal val="visible"/>
                                      </p:to>
                                    </p:set>
                                    <p:anim calcmode="lin" valueType="num">
                                      <p:cBhvr additive="base">
                                        <p:cTn id="13" dur="500" fill="hold"/>
                                        <p:tgtEl>
                                          <p:spTgt spid="1741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4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7417">
                                            <p:txEl>
                                              <p:pRg st="0" end="0"/>
                                            </p:txEl>
                                          </p:spTgt>
                                        </p:tgtEl>
                                        <p:attrNameLst>
                                          <p:attrName>style.visibility</p:attrName>
                                        </p:attrNameLst>
                                      </p:cBhvr>
                                      <p:to>
                                        <p:strVal val="visible"/>
                                      </p:to>
                                    </p:set>
                                    <p:anim calcmode="lin" valueType="num">
                                      <p:cBhvr additive="base">
                                        <p:cTn id="19" dur="500" fill="hold"/>
                                        <p:tgtEl>
                                          <p:spTgt spid="17417">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41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7417">
                                            <p:txEl>
                                              <p:pRg st="1" end="1"/>
                                            </p:txEl>
                                          </p:spTgt>
                                        </p:tgtEl>
                                        <p:attrNameLst>
                                          <p:attrName>style.visibility</p:attrName>
                                        </p:attrNameLst>
                                      </p:cBhvr>
                                      <p:to>
                                        <p:strVal val="visible"/>
                                      </p:to>
                                    </p:set>
                                    <p:anim calcmode="lin" valueType="num">
                                      <p:cBhvr additive="base">
                                        <p:cTn id="25" dur="500" fill="hold"/>
                                        <p:tgtEl>
                                          <p:spTgt spid="17417">
                                            <p:txEl>
                                              <p:pRg st="1" end="1"/>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41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7413"/>
                                        </p:tgtEl>
                                        <p:attrNameLst>
                                          <p:attrName>style.visibility</p:attrName>
                                        </p:attrNameLst>
                                      </p:cBhvr>
                                      <p:to>
                                        <p:strVal val="visible"/>
                                      </p:to>
                                    </p:set>
                                    <p:animEffect transition="in" filter="blinds(horizontal)">
                                      <p:cBhvr>
                                        <p:cTn id="31" dur="500"/>
                                        <p:tgtEl>
                                          <p:spTgt spid="1741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7414"/>
                                        </p:tgtEl>
                                        <p:attrNameLst>
                                          <p:attrName>style.visibility</p:attrName>
                                        </p:attrNameLst>
                                      </p:cBhvr>
                                      <p:to>
                                        <p:strVal val="visible"/>
                                      </p:to>
                                    </p:set>
                                    <p:animEffect transition="in" filter="blinds(horizontal)">
                                      <p:cBhvr>
                                        <p:cTn id="36" dur="500"/>
                                        <p:tgtEl>
                                          <p:spTgt spid="1741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7416"/>
                                        </p:tgtEl>
                                        <p:attrNameLst>
                                          <p:attrName>style.visibility</p:attrName>
                                        </p:attrNameLst>
                                      </p:cBhvr>
                                      <p:to>
                                        <p:strVal val="visible"/>
                                      </p:to>
                                    </p:set>
                                    <p:animEffect transition="in" filter="blinds(horizontal)">
                                      <p:cBhvr>
                                        <p:cTn id="41" dur="500"/>
                                        <p:tgtEl>
                                          <p:spTgt spid="174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autoUpdateAnimBg="0"/>
      <p:bldP spid="17413" grpId="0" autoUpdateAnimBg="0"/>
      <p:bldP spid="17414" grpId="0" autoUpdateAnimBg="0"/>
      <p:bldP spid="17416" grpId="0" autoUpdateAnimBg="0"/>
      <p:bldP spid="17417"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EAD84322-B645-4FDD-BEA4-04A77006F859}"/>
              </a:ext>
            </a:extLst>
          </p:cNvPr>
          <p:cNvSpPr>
            <a:spLocks noGrp="1" noChangeArrowheads="1"/>
          </p:cNvSpPr>
          <p:nvPr>
            <p:ph type="title"/>
          </p:nvPr>
        </p:nvSpPr>
        <p:spPr bwMode="auto">
          <a:xfrm>
            <a:off x="685800" y="152400"/>
            <a:ext cx="7772400" cy="11430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4000" dirty="0">
                <a:solidFill>
                  <a:srgbClr val="FF0000"/>
                </a:solidFill>
                <a:effectLst>
                  <a:outerShdw blurRad="38100" dist="38100" dir="2700000" algn="tl">
                    <a:srgbClr val="C0C0C0"/>
                  </a:outerShdw>
                </a:effectLst>
              </a:rPr>
              <a:t>分支限界法问题的解空间（续</a:t>
            </a:r>
            <a:r>
              <a:rPr lang="en-US" altLang="zh-CN" sz="4000" dirty="0">
                <a:solidFill>
                  <a:srgbClr val="FF0000"/>
                </a:solidFill>
                <a:effectLst>
                  <a:outerShdw blurRad="38100" dist="38100" dir="2700000" algn="tl">
                    <a:srgbClr val="C0C0C0"/>
                  </a:outerShdw>
                </a:effectLst>
              </a:rPr>
              <a:t>1</a:t>
            </a:r>
            <a:r>
              <a:rPr lang="zh-CN" altLang="en-US" sz="4000" dirty="0">
                <a:solidFill>
                  <a:srgbClr val="FF0000"/>
                </a:solidFill>
                <a:effectLst>
                  <a:outerShdw blurRad="38100" dist="38100" dir="2700000" algn="tl">
                    <a:srgbClr val="C0C0C0"/>
                  </a:outerShdw>
                </a:effectLst>
              </a:rPr>
              <a:t>）</a:t>
            </a:r>
          </a:p>
        </p:txBody>
      </p:sp>
      <p:sp>
        <p:nvSpPr>
          <p:cNvPr id="13315" name="Rectangle 3">
            <a:extLst>
              <a:ext uri="{FF2B5EF4-FFF2-40B4-BE49-F238E27FC236}">
                <a16:creationId xmlns:a16="http://schemas.microsoft.com/office/drawing/2014/main" id="{75E3F473-EBC4-4CA6-9FB7-6548AD173988}"/>
              </a:ext>
            </a:extLst>
          </p:cNvPr>
          <p:cNvSpPr>
            <a:spLocks noGrp="1" noChangeArrowheads="1"/>
          </p:cNvSpPr>
          <p:nvPr>
            <p:ph type="body" idx="1"/>
          </p:nvPr>
        </p:nvSpPr>
        <p:spPr bwMode="auto">
          <a:xfrm>
            <a:off x="533400" y="1066800"/>
            <a:ext cx="8077200" cy="5410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buFontTx/>
              <a:buNone/>
            </a:pPr>
            <a:r>
              <a:rPr lang="en-US" altLang="zh-CN" sz="2400" b="1">
                <a:latin typeface="华文中宋" panose="02010600040101010101" pitchFamily="2" charset="-122"/>
              </a:rPr>
              <a:t>4</a:t>
            </a:r>
            <a:r>
              <a:rPr lang="zh-CN" altLang="en-US" sz="2400" b="1">
                <a:latin typeface="华文中宋" panose="02010600040101010101" pitchFamily="2" charset="-122"/>
              </a:rPr>
              <a:t>、状态空间树：用于形象描述解空间的树。</a:t>
            </a:r>
          </a:p>
          <a:p>
            <a:pPr eaLnBrk="1" hangingPunct="1">
              <a:spcBef>
                <a:spcPct val="50000"/>
              </a:spcBef>
              <a:buFontTx/>
              <a:buNone/>
            </a:pPr>
            <a:r>
              <a:rPr lang="zh-CN" altLang="en-US" sz="2400" b="1">
                <a:latin typeface="华文中宋" panose="02010600040101010101" pitchFamily="2" charset="-122"/>
              </a:rPr>
              <a:t>    子集树和排列树</a:t>
            </a:r>
          </a:p>
          <a:p>
            <a:pPr eaLnBrk="1" hangingPunct="1">
              <a:spcBef>
                <a:spcPct val="40000"/>
              </a:spcBef>
              <a:buFontTx/>
              <a:buNone/>
            </a:pPr>
            <a:r>
              <a:rPr lang="en-US" altLang="zh-CN" sz="2400" b="1">
                <a:latin typeface="华文中宋" panose="02010600040101010101" pitchFamily="2" charset="-122"/>
              </a:rPr>
              <a:t>5</a:t>
            </a:r>
            <a:r>
              <a:rPr lang="zh-CN" altLang="en-US" sz="2400" b="1">
                <a:latin typeface="华文中宋" panose="02010600040101010101" pitchFamily="2" charset="-122"/>
              </a:rPr>
              <a:t>、搜索方式：构造队列</a:t>
            </a:r>
            <a:r>
              <a:rPr lang="zh-CN" altLang="en-US" sz="2400" b="1"/>
              <a:t>、优先级队列</a:t>
            </a:r>
            <a:endParaRPr lang="zh-CN" altLang="en-US" sz="2400" b="1">
              <a:latin typeface="华文中宋" panose="02010600040101010101" pitchFamily="2" charset="-122"/>
            </a:endParaRPr>
          </a:p>
          <a:p>
            <a:pPr eaLnBrk="1" hangingPunct="1">
              <a:spcBef>
                <a:spcPct val="50000"/>
              </a:spcBef>
              <a:buFontTx/>
              <a:buNone/>
            </a:pPr>
            <a:r>
              <a:rPr lang="en-US" altLang="zh-CN" sz="2400" b="1"/>
              <a:t>6</a:t>
            </a:r>
            <a:r>
              <a:rPr lang="zh-CN" altLang="en-US" sz="2400" b="1"/>
              <a:t>、目标函数与最优解</a:t>
            </a:r>
          </a:p>
          <a:p>
            <a:pPr eaLnBrk="1" hangingPunct="1">
              <a:spcBef>
                <a:spcPct val="50000"/>
              </a:spcBef>
              <a:buFontTx/>
              <a:buNone/>
            </a:pPr>
            <a:r>
              <a:rPr lang="zh-CN" altLang="en-US" sz="2400" b="1"/>
              <a:t>    （</a:t>
            </a:r>
            <a:r>
              <a:rPr lang="en-US" altLang="zh-CN" sz="2400" b="1"/>
              <a:t>1</a:t>
            </a:r>
            <a:r>
              <a:rPr lang="zh-CN" altLang="en-US" sz="2400" b="1"/>
              <a:t>）目标函数：衡量问题解的“优劣”标准。</a:t>
            </a:r>
          </a:p>
          <a:p>
            <a:pPr eaLnBrk="1" hangingPunct="1">
              <a:spcBef>
                <a:spcPct val="50000"/>
              </a:spcBef>
              <a:buFontTx/>
              <a:buNone/>
            </a:pPr>
            <a:r>
              <a:rPr lang="zh-CN" altLang="en-US" sz="2400" b="1"/>
              <a:t>    （</a:t>
            </a:r>
            <a:r>
              <a:rPr lang="en-US" altLang="zh-CN" sz="2400" b="1"/>
              <a:t>2</a:t>
            </a:r>
            <a:r>
              <a:rPr lang="zh-CN" altLang="en-US" sz="2400" b="1"/>
              <a:t>）最优解：使目标函数取极（大</a:t>
            </a:r>
            <a:r>
              <a:rPr lang="en-US" altLang="zh-CN" sz="2400" b="1"/>
              <a:t>/</a:t>
            </a:r>
            <a:r>
              <a:rPr lang="zh-CN" altLang="en-US" sz="2400" b="1"/>
              <a:t>小）值的解。</a:t>
            </a:r>
          </a:p>
          <a:p>
            <a:pPr eaLnBrk="1" hangingPunct="1">
              <a:spcBef>
                <a:spcPct val="50000"/>
              </a:spcBef>
              <a:buFontTx/>
              <a:buNone/>
            </a:pPr>
            <a:r>
              <a:rPr lang="zh-CN" altLang="en-US" sz="2400" b="1"/>
              <a:t> </a:t>
            </a:r>
            <a:r>
              <a:rPr lang="en-US" altLang="zh-CN" sz="2400" b="1"/>
              <a:t>7</a:t>
            </a:r>
            <a:r>
              <a:rPr lang="zh-CN" altLang="en-US" sz="2400" b="1"/>
              <a:t>、通过剪枝加速搜索</a:t>
            </a:r>
          </a:p>
          <a:p>
            <a:pPr eaLnBrk="1" hangingPunct="1">
              <a:spcBef>
                <a:spcPct val="50000"/>
              </a:spcBef>
              <a:buFontTx/>
              <a:buNone/>
            </a:pPr>
            <a:r>
              <a:rPr lang="zh-CN" altLang="en-US" sz="2400" b="1"/>
              <a:t>        剪枝函数给出每一个可行节点相应的子树可能获得的最大价值的上界。若这上界不比当前最优值更大，则剪枝。</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 calcmode="lin" valueType="num">
                                      <p:cBhvr additive="base">
                                        <p:cTn id="7" dur="500" fill="hold"/>
                                        <p:tgtEl>
                                          <p:spTgt spid="133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3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315">
                                            <p:txEl>
                                              <p:pRg st="1" end="1"/>
                                            </p:txEl>
                                          </p:spTgt>
                                        </p:tgtEl>
                                        <p:attrNameLst>
                                          <p:attrName>style.visibility</p:attrName>
                                        </p:attrNameLst>
                                      </p:cBhvr>
                                      <p:to>
                                        <p:strVal val="visible"/>
                                      </p:to>
                                    </p:set>
                                    <p:anim calcmode="lin" valueType="num">
                                      <p:cBhvr additive="base">
                                        <p:cTn id="13" dur="500" fill="hold"/>
                                        <p:tgtEl>
                                          <p:spTgt spid="1331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3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315">
                                            <p:txEl>
                                              <p:pRg st="2" end="2"/>
                                            </p:txEl>
                                          </p:spTgt>
                                        </p:tgtEl>
                                        <p:attrNameLst>
                                          <p:attrName>style.visibility</p:attrName>
                                        </p:attrNameLst>
                                      </p:cBhvr>
                                      <p:to>
                                        <p:strVal val="visible"/>
                                      </p:to>
                                    </p:set>
                                    <p:anim calcmode="lin" valueType="num">
                                      <p:cBhvr additive="base">
                                        <p:cTn id="19" dur="500" fill="hold"/>
                                        <p:tgtEl>
                                          <p:spTgt spid="1331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31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3315">
                                            <p:txEl>
                                              <p:pRg st="3" end="3"/>
                                            </p:txEl>
                                          </p:spTgt>
                                        </p:tgtEl>
                                        <p:attrNameLst>
                                          <p:attrName>style.visibility</p:attrName>
                                        </p:attrNameLst>
                                      </p:cBhvr>
                                      <p:to>
                                        <p:strVal val="visible"/>
                                      </p:to>
                                    </p:set>
                                    <p:anim calcmode="lin" valueType="num">
                                      <p:cBhvr additive="base">
                                        <p:cTn id="25" dur="500" fill="hold"/>
                                        <p:tgtEl>
                                          <p:spTgt spid="1331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331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3315">
                                            <p:txEl>
                                              <p:pRg st="4" end="4"/>
                                            </p:txEl>
                                          </p:spTgt>
                                        </p:tgtEl>
                                        <p:attrNameLst>
                                          <p:attrName>style.visibility</p:attrName>
                                        </p:attrNameLst>
                                      </p:cBhvr>
                                      <p:to>
                                        <p:strVal val="visible"/>
                                      </p:to>
                                    </p:set>
                                    <p:anim calcmode="lin" valueType="num">
                                      <p:cBhvr additive="base">
                                        <p:cTn id="31" dur="500" fill="hold"/>
                                        <p:tgtEl>
                                          <p:spTgt spid="1331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331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3315">
                                            <p:txEl>
                                              <p:pRg st="5" end="5"/>
                                            </p:txEl>
                                          </p:spTgt>
                                        </p:tgtEl>
                                        <p:attrNameLst>
                                          <p:attrName>style.visibility</p:attrName>
                                        </p:attrNameLst>
                                      </p:cBhvr>
                                      <p:to>
                                        <p:strVal val="visible"/>
                                      </p:to>
                                    </p:set>
                                    <p:anim calcmode="lin" valueType="num">
                                      <p:cBhvr additive="base">
                                        <p:cTn id="37" dur="500" fill="hold"/>
                                        <p:tgtEl>
                                          <p:spTgt spid="1331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331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3315">
                                            <p:txEl>
                                              <p:pRg st="6" end="6"/>
                                            </p:txEl>
                                          </p:spTgt>
                                        </p:tgtEl>
                                        <p:attrNameLst>
                                          <p:attrName>style.visibility</p:attrName>
                                        </p:attrNameLst>
                                      </p:cBhvr>
                                      <p:to>
                                        <p:strVal val="visible"/>
                                      </p:to>
                                    </p:set>
                                    <p:anim calcmode="lin" valueType="num">
                                      <p:cBhvr additive="base">
                                        <p:cTn id="43" dur="500" fill="hold"/>
                                        <p:tgtEl>
                                          <p:spTgt spid="13315">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331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3315">
                                            <p:txEl>
                                              <p:pRg st="7" end="7"/>
                                            </p:txEl>
                                          </p:spTgt>
                                        </p:tgtEl>
                                        <p:attrNameLst>
                                          <p:attrName>style.visibility</p:attrName>
                                        </p:attrNameLst>
                                      </p:cBhvr>
                                      <p:to>
                                        <p:strVal val="visible"/>
                                      </p:to>
                                    </p:set>
                                    <p:anim calcmode="lin" valueType="num">
                                      <p:cBhvr additive="base">
                                        <p:cTn id="49" dur="500" fill="hold"/>
                                        <p:tgtEl>
                                          <p:spTgt spid="13315">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3315">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4133B404-CBDE-44CC-A2E7-09C2A48E26D3}"/>
              </a:ext>
            </a:extLst>
          </p:cNvPr>
          <p:cNvSpPr>
            <a:spLocks noGrp="1" noChangeArrowheads="1"/>
          </p:cNvSpPr>
          <p:nvPr>
            <p:ph type="title"/>
          </p:nvPr>
        </p:nvSpPr>
        <p:spPr bwMode="auto">
          <a:xfrm>
            <a:off x="685800" y="3048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en-US" altLang="zh-CN" b="1">
                <a:latin typeface="华文中宋" panose="02010600040101010101" pitchFamily="2" charset="-122"/>
              </a:rPr>
              <a:t>0-1</a:t>
            </a:r>
            <a:r>
              <a:rPr kumimoji="0" lang="zh-CN" altLang="en-US" b="1">
                <a:latin typeface="华文中宋" panose="02010600040101010101" pitchFamily="2" charset="-122"/>
              </a:rPr>
              <a:t>背包问题</a:t>
            </a:r>
          </a:p>
        </p:txBody>
      </p:sp>
      <p:sp>
        <p:nvSpPr>
          <p:cNvPr id="23555" name="Rectangle 3">
            <a:extLst>
              <a:ext uri="{FF2B5EF4-FFF2-40B4-BE49-F238E27FC236}">
                <a16:creationId xmlns:a16="http://schemas.microsoft.com/office/drawing/2014/main" id="{1AEC2ED1-2891-4CD2-A1D3-A48CAA699B77}"/>
              </a:ext>
            </a:extLst>
          </p:cNvPr>
          <p:cNvSpPr>
            <a:spLocks noGrp="1" noChangeArrowheads="1"/>
          </p:cNvSpPr>
          <p:nvPr>
            <p:ph type="body" idx="1"/>
          </p:nvPr>
        </p:nvSpPr>
        <p:spPr bwMode="auto">
          <a:xfrm>
            <a:off x="285750" y="1285875"/>
            <a:ext cx="8501063" cy="4276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spcBef>
                <a:spcPct val="0"/>
              </a:spcBef>
              <a:buFontTx/>
              <a:buNone/>
            </a:pPr>
            <a:r>
              <a:rPr kumimoji="0" lang="zh-CN" altLang="en-US" sz="2800" b="1">
                <a:latin typeface="华文中宋" panose="02010600040101010101" pitchFamily="2" charset="-122"/>
              </a:rPr>
              <a:t>例：</a:t>
            </a:r>
            <a:r>
              <a:rPr kumimoji="0" lang="en-US" altLang="zh-CN" sz="2800" b="1">
                <a:latin typeface="华文中宋" panose="02010600040101010101" pitchFamily="2" charset="-122"/>
              </a:rPr>
              <a:t>n=3</a:t>
            </a:r>
            <a:r>
              <a:rPr kumimoji="0" lang="zh-CN" altLang="en-US" sz="2800" b="1">
                <a:latin typeface="华文中宋" panose="02010600040101010101" pitchFamily="2" charset="-122"/>
              </a:rPr>
              <a:t>时，</a:t>
            </a:r>
            <a:r>
              <a:rPr kumimoji="0" lang="en-US" altLang="zh-CN" sz="2800" b="1">
                <a:latin typeface="华文中宋" panose="02010600040101010101" pitchFamily="2" charset="-122"/>
              </a:rPr>
              <a:t>0-1</a:t>
            </a:r>
            <a:r>
              <a:rPr kumimoji="0" lang="zh-CN" altLang="en-US" sz="2800" b="1">
                <a:latin typeface="华文中宋" panose="02010600040101010101" pitchFamily="2" charset="-122"/>
              </a:rPr>
              <a:t>背包问题用完全二叉树表示的解空间</a:t>
            </a:r>
          </a:p>
          <a:p>
            <a:pPr eaLnBrk="1" hangingPunct="1">
              <a:lnSpc>
                <a:spcPct val="90000"/>
              </a:lnSpc>
              <a:spcBef>
                <a:spcPct val="0"/>
              </a:spcBef>
              <a:buFontTx/>
              <a:buNone/>
            </a:pPr>
            <a:endParaRPr kumimoji="0" lang="zh-CN" altLang="en-US" sz="2800" b="1">
              <a:latin typeface="华文中宋" panose="02010600040101010101" pitchFamily="2" charset="-122"/>
            </a:endParaRPr>
          </a:p>
          <a:p>
            <a:pPr eaLnBrk="1" hangingPunct="1">
              <a:lnSpc>
                <a:spcPct val="90000"/>
              </a:lnSpc>
              <a:spcBef>
                <a:spcPct val="0"/>
              </a:spcBef>
              <a:buFontTx/>
              <a:buNone/>
            </a:pPr>
            <a:endParaRPr kumimoji="0" lang="zh-CN" altLang="en-US" sz="2800" b="1">
              <a:latin typeface="华文中宋" panose="02010600040101010101" pitchFamily="2" charset="-122"/>
            </a:endParaRPr>
          </a:p>
          <a:p>
            <a:pPr eaLnBrk="1" hangingPunct="1">
              <a:lnSpc>
                <a:spcPct val="90000"/>
              </a:lnSpc>
              <a:spcBef>
                <a:spcPct val="0"/>
              </a:spcBef>
              <a:buFontTx/>
              <a:buNone/>
            </a:pPr>
            <a:endParaRPr kumimoji="0" lang="zh-CN" altLang="en-US" sz="2800" b="1">
              <a:latin typeface="华文中宋" panose="02010600040101010101" pitchFamily="2" charset="-122"/>
            </a:endParaRPr>
          </a:p>
          <a:p>
            <a:pPr eaLnBrk="1" hangingPunct="1">
              <a:lnSpc>
                <a:spcPct val="90000"/>
              </a:lnSpc>
              <a:spcBef>
                <a:spcPct val="0"/>
              </a:spcBef>
              <a:buFontTx/>
              <a:buNone/>
            </a:pPr>
            <a:endParaRPr kumimoji="0" lang="zh-CN" altLang="en-US" sz="2800" b="1">
              <a:latin typeface="华文中宋" panose="02010600040101010101" pitchFamily="2" charset="-122"/>
            </a:endParaRPr>
          </a:p>
          <a:p>
            <a:pPr eaLnBrk="1" hangingPunct="1">
              <a:lnSpc>
                <a:spcPct val="90000"/>
              </a:lnSpc>
              <a:spcBef>
                <a:spcPct val="0"/>
              </a:spcBef>
              <a:buFontTx/>
              <a:buNone/>
            </a:pPr>
            <a:endParaRPr kumimoji="0" lang="zh-CN" altLang="en-US" sz="2800" b="1">
              <a:latin typeface="华文中宋" panose="02010600040101010101" pitchFamily="2" charset="-122"/>
            </a:endParaRPr>
          </a:p>
          <a:p>
            <a:pPr eaLnBrk="1" hangingPunct="1">
              <a:lnSpc>
                <a:spcPct val="90000"/>
              </a:lnSpc>
              <a:spcBef>
                <a:spcPct val="0"/>
              </a:spcBef>
              <a:buFontTx/>
              <a:buNone/>
            </a:pPr>
            <a:endParaRPr kumimoji="0" lang="zh-CN" altLang="en-US" sz="2800" b="1">
              <a:latin typeface="华文中宋" panose="02010600040101010101" pitchFamily="2" charset="-122"/>
            </a:endParaRPr>
          </a:p>
          <a:p>
            <a:pPr eaLnBrk="1" hangingPunct="1">
              <a:lnSpc>
                <a:spcPct val="90000"/>
              </a:lnSpc>
              <a:spcBef>
                <a:spcPct val="0"/>
              </a:spcBef>
              <a:buFontTx/>
              <a:buNone/>
            </a:pPr>
            <a:endParaRPr kumimoji="0" lang="zh-CN" altLang="en-US" sz="2800" b="1">
              <a:latin typeface="华文中宋" panose="02010600040101010101" pitchFamily="2" charset="-122"/>
            </a:endParaRPr>
          </a:p>
          <a:p>
            <a:pPr eaLnBrk="1" hangingPunct="1">
              <a:lnSpc>
                <a:spcPct val="90000"/>
              </a:lnSpc>
              <a:spcBef>
                <a:spcPct val="50000"/>
              </a:spcBef>
              <a:buFontTx/>
              <a:buNone/>
            </a:pPr>
            <a:r>
              <a:rPr lang="zh-CN" altLang="en-US" sz="2800" b="1">
                <a:latin typeface="华文中宋" panose="02010600040101010101" pitchFamily="2" charset="-122"/>
              </a:rPr>
              <a:t>简单搜索举例：</a:t>
            </a:r>
            <a:endParaRPr lang="en-US" altLang="zh-CN" sz="2800" b="1">
              <a:latin typeface="华文中宋" panose="02010600040101010101" pitchFamily="2" charset="-122"/>
            </a:endParaRPr>
          </a:p>
          <a:p>
            <a:pPr eaLnBrk="1" hangingPunct="1">
              <a:lnSpc>
                <a:spcPct val="90000"/>
              </a:lnSpc>
              <a:spcBef>
                <a:spcPct val="50000"/>
              </a:spcBef>
              <a:buFontTx/>
              <a:buNone/>
            </a:pPr>
            <a:r>
              <a:rPr lang="en-US" altLang="zh-CN" sz="2800" b="1">
                <a:latin typeface="华文中宋" panose="02010600040101010101" pitchFamily="2" charset="-122"/>
              </a:rPr>
              <a:t>     n=3,c=30, w=[16,15,15], p=[45,25,25]</a:t>
            </a:r>
          </a:p>
        </p:txBody>
      </p:sp>
      <p:pic>
        <p:nvPicPr>
          <p:cNvPr id="23556" name="Picture 4" descr="t51">
            <a:extLst>
              <a:ext uri="{FF2B5EF4-FFF2-40B4-BE49-F238E27FC236}">
                <a16:creationId xmlns:a16="http://schemas.microsoft.com/office/drawing/2014/main" id="{753FF673-33C2-4AC0-8640-260ABB59EA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3188" y="2000250"/>
            <a:ext cx="42672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6BB76175-83B1-4012-B9B0-40B31387151F}"/>
              </a:ext>
            </a:extLst>
          </p:cNvPr>
          <p:cNvSpPr>
            <a:spLocks noGrp="1" noChangeArrowheads="1"/>
          </p:cNvSpPr>
          <p:nvPr>
            <p:ph type="title"/>
          </p:nvPr>
        </p:nvSpPr>
        <p:spPr bwMode="auto">
          <a:xfrm>
            <a:off x="685800" y="4572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a:solidFill>
                  <a:schemeClr val="tx1"/>
                </a:solidFill>
              </a:rPr>
              <a:t>例：四城市的</a:t>
            </a:r>
            <a:r>
              <a:rPr lang="en-US" altLang="zh-CN" sz="4000" b="1">
                <a:solidFill>
                  <a:schemeClr val="tx1"/>
                </a:solidFill>
              </a:rPr>
              <a:t>TSP</a:t>
            </a:r>
            <a:r>
              <a:rPr lang="zh-CN" altLang="en-US" sz="4000" b="1">
                <a:solidFill>
                  <a:schemeClr val="tx1"/>
                </a:solidFill>
              </a:rPr>
              <a:t>问题</a:t>
            </a:r>
          </a:p>
        </p:txBody>
      </p:sp>
      <p:pic>
        <p:nvPicPr>
          <p:cNvPr id="19466" name="Picture 10" descr="t53">
            <a:extLst>
              <a:ext uri="{FF2B5EF4-FFF2-40B4-BE49-F238E27FC236}">
                <a16:creationId xmlns:a16="http://schemas.microsoft.com/office/drawing/2014/main" id="{0D2369FC-B019-4702-8327-E89C3C0181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2286000"/>
            <a:ext cx="38862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28">
            <a:extLst>
              <a:ext uri="{FF2B5EF4-FFF2-40B4-BE49-F238E27FC236}">
                <a16:creationId xmlns:a16="http://schemas.microsoft.com/office/drawing/2014/main" id="{20B5A91B-61E9-4A86-BEF0-680240EC5537}"/>
              </a:ext>
            </a:extLst>
          </p:cNvPr>
          <p:cNvGrpSpPr>
            <a:grpSpLocks/>
          </p:cNvGrpSpPr>
          <p:nvPr/>
        </p:nvGrpSpPr>
        <p:grpSpPr bwMode="auto">
          <a:xfrm>
            <a:off x="1295400" y="2514600"/>
            <a:ext cx="2514600" cy="2209800"/>
            <a:chOff x="816" y="720"/>
            <a:chExt cx="1584" cy="1392"/>
          </a:xfrm>
        </p:grpSpPr>
        <p:sp>
          <p:nvSpPr>
            <p:cNvPr id="24582" name="Oval 11">
              <a:extLst>
                <a:ext uri="{FF2B5EF4-FFF2-40B4-BE49-F238E27FC236}">
                  <a16:creationId xmlns:a16="http://schemas.microsoft.com/office/drawing/2014/main" id="{BB8ED2E3-AE52-4E53-B2ED-6228914DCC9D}"/>
                </a:ext>
              </a:extLst>
            </p:cNvPr>
            <p:cNvSpPr>
              <a:spLocks noChangeArrowheads="1"/>
            </p:cNvSpPr>
            <p:nvPr/>
          </p:nvSpPr>
          <p:spPr bwMode="auto">
            <a:xfrm>
              <a:off x="1008" y="864"/>
              <a:ext cx="192" cy="192"/>
            </a:xfrm>
            <a:prstGeom prst="ellipse">
              <a:avLst/>
            </a:prstGeom>
            <a:solidFill>
              <a:schemeClr val="accent1"/>
            </a:solidFill>
            <a:ln w="952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ea typeface="华文中宋" panose="02010600040101010101" pitchFamily="2" charset="-122"/>
                </a:rPr>
                <a:t>1</a:t>
              </a:r>
            </a:p>
          </p:txBody>
        </p:sp>
        <p:sp>
          <p:nvSpPr>
            <p:cNvPr id="24583" name="Oval 12">
              <a:extLst>
                <a:ext uri="{FF2B5EF4-FFF2-40B4-BE49-F238E27FC236}">
                  <a16:creationId xmlns:a16="http://schemas.microsoft.com/office/drawing/2014/main" id="{0EE5E1E4-3400-42BE-9B6A-328752B370A2}"/>
                </a:ext>
              </a:extLst>
            </p:cNvPr>
            <p:cNvSpPr>
              <a:spLocks noChangeArrowheads="1"/>
            </p:cNvSpPr>
            <p:nvPr/>
          </p:nvSpPr>
          <p:spPr bwMode="auto">
            <a:xfrm>
              <a:off x="2016" y="864"/>
              <a:ext cx="192" cy="192"/>
            </a:xfrm>
            <a:prstGeom prst="ellipse">
              <a:avLst/>
            </a:prstGeom>
            <a:solidFill>
              <a:schemeClr val="accent1"/>
            </a:solidFill>
            <a:ln w="952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ea typeface="华文中宋" panose="02010600040101010101" pitchFamily="2" charset="-122"/>
                </a:rPr>
                <a:t>2</a:t>
              </a:r>
            </a:p>
          </p:txBody>
        </p:sp>
        <p:sp>
          <p:nvSpPr>
            <p:cNvPr id="24584" name="Oval 13">
              <a:extLst>
                <a:ext uri="{FF2B5EF4-FFF2-40B4-BE49-F238E27FC236}">
                  <a16:creationId xmlns:a16="http://schemas.microsoft.com/office/drawing/2014/main" id="{B647AE6A-357F-44EB-B53F-ED93EA9CD130}"/>
                </a:ext>
              </a:extLst>
            </p:cNvPr>
            <p:cNvSpPr>
              <a:spLocks noChangeArrowheads="1"/>
            </p:cNvSpPr>
            <p:nvPr/>
          </p:nvSpPr>
          <p:spPr bwMode="auto">
            <a:xfrm>
              <a:off x="2016" y="1776"/>
              <a:ext cx="192" cy="192"/>
            </a:xfrm>
            <a:prstGeom prst="ellipse">
              <a:avLst/>
            </a:prstGeom>
            <a:solidFill>
              <a:schemeClr val="accent1"/>
            </a:solidFill>
            <a:ln w="952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ea typeface="华文中宋" panose="02010600040101010101" pitchFamily="2" charset="-122"/>
                </a:rPr>
                <a:t>3</a:t>
              </a:r>
            </a:p>
          </p:txBody>
        </p:sp>
        <p:sp>
          <p:nvSpPr>
            <p:cNvPr id="24585" name="Oval 14">
              <a:extLst>
                <a:ext uri="{FF2B5EF4-FFF2-40B4-BE49-F238E27FC236}">
                  <a16:creationId xmlns:a16="http://schemas.microsoft.com/office/drawing/2014/main" id="{3DB0EB95-0E51-47A9-9AAE-41E18FFB4EF6}"/>
                </a:ext>
              </a:extLst>
            </p:cNvPr>
            <p:cNvSpPr>
              <a:spLocks noChangeArrowheads="1"/>
            </p:cNvSpPr>
            <p:nvPr/>
          </p:nvSpPr>
          <p:spPr bwMode="auto">
            <a:xfrm>
              <a:off x="1008" y="1776"/>
              <a:ext cx="192" cy="192"/>
            </a:xfrm>
            <a:prstGeom prst="ellipse">
              <a:avLst/>
            </a:prstGeom>
            <a:solidFill>
              <a:schemeClr val="accent1"/>
            </a:solidFill>
            <a:ln w="952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ea typeface="华文中宋" panose="02010600040101010101" pitchFamily="2" charset="-122"/>
                </a:rPr>
                <a:t>4</a:t>
              </a:r>
            </a:p>
          </p:txBody>
        </p:sp>
        <p:cxnSp>
          <p:nvCxnSpPr>
            <p:cNvPr id="24586" name="AutoShape 16">
              <a:extLst>
                <a:ext uri="{FF2B5EF4-FFF2-40B4-BE49-F238E27FC236}">
                  <a16:creationId xmlns:a16="http://schemas.microsoft.com/office/drawing/2014/main" id="{326EF0DC-969E-4C71-AC1E-F1E10543E8CA}"/>
                </a:ext>
              </a:extLst>
            </p:cNvPr>
            <p:cNvCxnSpPr>
              <a:cxnSpLocks noChangeShapeType="1"/>
              <a:stCxn id="24582" idx="6"/>
              <a:endCxn id="24583" idx="2"/>
            </p:cNvCxnSpPr>
            <p:nvPr/>
          </p:nvCxnSpPr>
          <p:spPr bwMode="auto">
            <a:xfrm>
              <a:off x="1200" y="960"/>
              <a:ext cx="816"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4587" name="AutoShape 17">
              <a:extLst>
                <a:ext uri="{FF2B5EF4-FFF2-40B4-BE49-F238E27FC236}">
                  <a16:creationId xmlns:a16="http://schemas.microsoft.com/office/drawing/2014/main" id="{FC419846-7656-4C1C-A226-C85651E17B50}"/>
                </a:ext>
              </a:extLst>
            </p:cNvPr>
            <p:cNvCxnSpPr>
              <a:cxnSpLocks noChangeShapeType="1"/>
              <a:stCxn id="24583" idx="4"/>
              <a:endCxn id="24584" idx="0"/>
            </p:cNvCxnSpPr>
            <p:nvPr/>
          </p:nvCxnSpPr>
          <p:spPr bwMode="auto">
            <a:xfrm>
              <a:off x="2112" y="1056"/>
              <a:ext cx="0" cy="72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4588" name="AutoShape 18">
              <a:extLst>
                <a:ext uri="{FF2B5EF4-FFF2-40B4-BE49-F238E27FC236}">
                  <a16:creationId xmlns:a16="http://schemas.microsoft.com/office/drawing/2014/main" id="{C4507C9F-DA20-41DC-B370-726BD877C225}"/>
                </a:ext>
              </a:extLst>
            </p:cNvPr>
            <p:cNvCxnSpPr>
              <a:cxnSpLocks noChangeShapeType="1"/>
              <a:stCxn id="24582" idx="4"/>
              <a:endCxn id="24585" idx="0"/>
            </p:cNvCxnSpPr>
            <p:nvPr/>
          </p:nvCxnSpPr>
          <p:spPr bwMode="auto">
            <a:xfrm>
              <a:off x="1104" y="1056"/>
              <a:ext cx="0" cy="72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4589" name="AutoShape 19">
              <a:extLst>
                <a:ext uri="{FF2B5EF4-FFF2-40B4-BE49-F238E27FC236}">
                  <a16:creationId xmlns:a16="http://schemas.microsoft.com/office/drawing/2014/main" id="{8ACD3E4B-AAB2-432E-8D2E-CA66FAC28A26}"/>
                </a:ext>
              </a:extLst>
            </p:cNvPr>
            <p:cNvCxnSpPr>
              <a:cxnSpLocks noChangeShapeType="1"/>
              <a:stCxn id="24585" idx="6"/>
              <a:endCxn id="24584" idx="2"/>
            </p:cNvCxnSpPr>
            <p:nvPr/>
          </p:nvCxnSpPr>
          <p:spPr bwMode="auto">
            <a:xfrm>
              <a:off x="1200" y="1872"/>
              <a:ext cx="816"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4590" name="AutoShape 20">
              <a:extLst>
                <a:ext uri="{FF2B5EF4-FFF2-40B4-BE49-F238E27FC236}">
                  <a16:creationId xmlns:a16="http://schemas.microsoft.com/office/drawing/2014/main" id="{998654C2-167D-4274-8133-3C3A86879E2D}"/>
                </a:ext>
              </a:extLst>
            </p:cNvPr>
            <p:cNvCxnSpPr>
              <a:cxnSpLocks noChangeShapeType="1"/>
              <a:stCxn id="24582" idx="5"/>
              <a:endCxn id="24584" idx="1"/>
            </p:cNvCxnSpPr>
            <p:nvPr/>
          </p:nvCxnSpPr>
          <p:spPr bwMode="auto">
            <a:xfrm>
              <a:off x="1172" y="1028"/>
              <a:ext cx="872" cy="77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4591" name="AutoShape 21">
              <a:extLst>
                <a:ext uri="{FF2B5EF4-FFF2-40B4-BE49-F238E27FC236}">
                  <a16:creationId xmlns:a16="http://schemas.microsoft.com/office/drawing/2014/main" id="{CB8268B7-642A-4E85-B47E-BD58C1BD4D1B}"/>
                </a:ext>
              </a:extLst>
            </p:cNvPr>
            <p:cNvCxnSpPr>
              <a:cxnSpLocks noChangeShapeType="1"/>
              <a:stCxn id="24585" idx="7"/>
              <a:endCxn id="24583" idx="3"/>
            </p:cNvCxnSpPr>
            <p:nvPr/>
          </p:nvCxnSpPr>
          <p:spPr bwMode="auto">
            <a:xfrm flipV="1">
              <a:off x="1172" y="1028"/>
              <a:ext cx="872" cy="77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24592" name="Text Box 22">
              <a:extLst>
                <a:ext uri="{FF2B5EF4-FFF2-40B4-BE49-F238E27FC236}">
                  <a16:creationId xmlns:a16="http://schemas.microsoft.com/office/drawing/2014/main" id="{275FF592-95D7-4293-BA83-8E6DBA8DCE8F}"/>
                </a:ext>
              </a:extLst>
            </p:cNvPr>
            <p:cNvSpPr txBox="1">
              <a:spLocks noChangeArrowheads="1"/>
            </p:cNvSpPr>
            <p:nvPr/>
          </p:nvSpPr>
          <p:spPr bwMode="auto">
            <a:xfrm>
              <a:off x="1440" y="72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a:ea typeface="华文中宋" panose="02010600040101010101" pitchFamily="2" charset="-122"/>
                </a:rPr>
                <a:t>30</a:t>
              </a:r>
            </a:p>
          </p:txBody>
        </p:sp>
        <p:sp>
          <p:nvSpPr>
            <p:cNvPr id="24593" name="Text Box 23">
              <a:extLst>
                <a:ext uri="{FF2B5EF4-FFF2-40B4-BE49-F238E27FC236}">
                  <a16:creationId xmlns:a16="http://schemas.microsoft.com/office/drawing/2014/main" id="{70420C75-9330-40DC-826D-69EE39E71AA3}"/>
                </a:ext>
              </a:extLst>
            </p:cNvPr>
            <p:cNvSpPr txBox="1">
              <a:spLocks noChangeArrowheads="1"/>
            </p:cNvSpPr>
            <p:nvPr/>
          </p:nvSpPr>
          <p:spPr bwMode="auto">
            <a:xfrm>
              <a:off x="2112" y="1286"/>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a:ea typeface="华文中宋" panose="02010600040101010101" pitchFamily="2" charset="-122"/>
                </a:rPr>
                <a:t>10</a:t>
              </a:r>
            </a:p>
          </p:txBody>
        </p:sp>
        <p:sp>
          <p:nvSpPr>
            <p:cNvPr id="24594" name="Text Box 24">
              <a:extLst>
                <a:ext uri="{FF2B5EF4-FFF2-40B4-BE49-F238E27FC236}">
                  <a16:creationId xmlns:a16="http://schemas.microsoft.com/office/drawing/2014/main" id="{71C9A7AB-3613-459D-A14A-F11F9AB25CE8}"/>
                </a:ext>
              </a:extLst>
            </p:cNvPr>
            <p:cNvSpPr txBox="1">
              <a:spLocks noChangeArrowheads="1"/>
            </p:cNvSpPr>
            <p:nvPr/>
          </p:nvSpPr>
          <p:spPr bwMode="auto">
            <a:xfrm>
              <a:off x="1824" y="1142"/>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a:ea typeface="华文中宋" panose="02010600040101010101" pitchFamily="2" charset="-122"/>
                </a:rPr>
                <a:t>5</a:t>
              </a:r>
            </a:p>
          </p:txBody>
        </p:sp>
        <p:sp>
          <p:nvSpPr>
            <p:cNvPr id="24595" name="Text Box 25">
              <a:extLst>
                <a:ext uri="{FF2B5EF4-FFF2-40B4-BE49-F238E27FC236}">
                  <a16:creationId xmlns:a16="http://schemas.microsoft.com/office/drawing/2014/main" id="{E632E4CD-7CF6-4E8A-817C-56739554CF01}"/>
                </a:ext>
              </a:extLst>
            </p:cNvPr>
            <p:cNvSpPr txBox="1">
              <a:spLocks noChangeArrowheads="1"/>
            </p:cNvSpPr>
            <p:nvPr/>
          </p:nvSpPr>
          <p:spPr bwMode="auto">
            <a:xfrm>
              <a:off x="816" y="1152"/>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a:ea typeface="华文中宋" panose="02010600040101010101" pitchFamily="2" charset="-122"/>
                </a:rPr>
                <a:t>6</a:t>
              </a:r>
            </a:p>
          </p:txBody>
        </p:sp>
        <p:sp>
          <p:nvSpPr>
            <p:cNvPr id="24596" name="Text Box 26">
              <a:extLst>
                <a:ext uri="{FF2B5EF4-FFF2-40B4-BE49-F238E27FC236}">
                  <a16:creationId xmlns:a16="http://schemas.microsoft.com/office/drawing/2014/main" id="{DB63776D-E41C-4146-810B-B69F756AC209}"/>
                </a:ext>
              </a:extLst>
            </p:cNvPr>
            <p:cNvSpPr txBox="1">
              <a:spLocks noChangeArrowheads="1"/>
            </p:cNvSpPr>
            <p:nvPr/>
          </p:nvSpPr>
          <p:spPr bwMode="auto">
            <a:xfrm>
              <a:off x="1536" y="1862"/>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a:ea typeface="华文中宋" panose="02010600040101010101" pitchFamily="2" charset="-122"/>
                </a:rPr>
                <a:t>20</a:t>
              </a:r>
            </a:p>
          </p:txBody>
        </p:sp>
        <p:sp>
          <p:nvSpPr>
            <p:cNvPr id="24597" name="Text Box 27">
              <a:extLst>
                <a:ext uri="{FF2B5EF4-FFF2-40B4-BE49-F238E27FC236}">
                  <a16:creationId xmlns:a16="http://schemas.microsoft.com/office/drawing/2014/main" id="{2AD758B4-111F-4983-BED0-8F11C6BDE21F}"/>
                </a:ext>
              </a:extLst>
            </p:cNvPr>
            <p:cNvSpPr txBox="1">
              <a:spLocks noChangeArrowheads="1"/>
            </p:cNvSpPr>
            <p:nvPr/>
          </p:nvSpPr>
          <p:spPr bwMode="auto">
            <a:xfrm>
              <a:off x="1584" y="1526"/>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a:ea typeface="华文中宋" panose="02010600040101010101" pitchFamily="2" charset="-122"/>
                </a:rPr>
                <a:t>4</a:t>
              </a:r>
            </a:p>
          </p:txBody>
        </p:sp>
      </p:grpSp>
      <p:sp>
        <p:nvSpPr>
          <p:cNvPr id="19485" name="Rectangle 29">
            <a:extLst>
              <a:ext uri="{FF2B5EF4-FFF2-40B4-BE49-F238E27FC236}">
                <a16:creationId xmlns:a16="http://schemas.microsoft.com/office/drawing/2014/main" id="{0157C21F-9C20-4D44-9EFD-C0730C9ADF01}"/>
              </a:ext>
            </a:extLst>
          </p:cNvPr>
          <p:cNvSpPr>
            <a:spLocks noGrp="1" noChangeArrowheads="1"/>
          </p:cNvSpPr>
          <p:nvPr>
            <p:ph type="body" idx="1"/>
          </p:nvPr>
        </p:nvSpPr>
        <p:spPr bwMode="auto">
          <a:xfrm>
            <a:off x="685800" y="13716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pPr>
            <a:r>
              <a:rPr lang="zh-CN" altLang="en-US" sz="2800" b="1"/>
              <a:t>简单搜索举例：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9466"/>
                                        </p:tgtEl>
                                        <p:attrNameLst>
                                          <p:attrName>style.visibility</p:attrName>
                                        </p:attrNameLst>
                                      </p:cBhvr>
                                      <p:to>
                                        <p:strVal val="visible"/>
                                      </p:to>
                                    </p:set>
                                    <p:anim calcmode="lin" valueType="num">
                                      <p:cBhvr additive="base">
                                        <p:cTn id="13" dur="500" fill="hold"/>
                                        <p:tgtEl>
                                          <p:spTgt spid="19466"/>
                                        </p:tgtEl>
                                        <p:attrNameLst>
                                          <p:attrName>ppt_x</p:attrName>
                                        </p:attrNameLst>
                                      </p:cBhvr>
                                      <p:tavLst>
                                        <p:tav tm="0">
                                          <p:val>
                                            <p:strVal val="0-#ppt_w/2"/>
                                          </p:val>
                                        </p:tav>
                                        <p:tav tm="100000">
                                          <p:val>
                                            <p:strVal val="#ppt_x"/>
                                          </p:val>
                                        </p:tav>
                                      </p:tavLst>
                                    </p:anim>
                                    <p:anim calcmode="lin" valueType="num">
                                      <p:cBhvr additive="base">
                                        <p:cTn id="14" dur="500" fill="hold"/>
                                        <p:tgtEl>
                                          <p:spTgt spid="1946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485">
                                            <p:txEl>
                                              <p:pRg st="0" end="0"/>
                                            </p:txEl>
                                          </p:spTgt>
                                        </p:tgtEl>
                                        <p:attrNameLst>
                                          <p:attrName>style.visibility</p:attrName>
                                        </p:attrNameLst>
                                      </p:cBhvr>
                                      <p:to>
                                        <p:strVal val="visible"/>
                                      </p:to>
                                    </p:set>
                                    <p:anim calcmode="lin" valueType="num">
                                      <p:cBhvr additive="base">
                                        <p:cTn id="19" dur="500" fill="hold"/>
                                        <p:tgtEl>
                                          <p:spTgt spid="19485">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48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85"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62" name="Rectangle 1026">
            <a:extLst>
              <a:ext uri="{FF2B5EF4-FFF2-40B4-BE49-F238E27FC236}">
                <a16:creationId xmlns:a16="http://schemas.microsoft.com/office/drawing/2014/main" id="{093AC8F3-C464-49C1-A0FE-95D8FA4A8F60}"/>
              </a:ext>
            </a:extLst>
          </p:cNvPr>
          <p:cNvSpPr>
            <a:spLocks noGrp="1" noChangeArrowheads="1"/>
          </p:cNvSpPr>
          <p:nvPr>
            <p:ph type="title"/>
          </p:nvPr>
        </p:nvSpPr>
        <p:spPr bwMode="auto">
          <a:xfrm>
            <a:off x="685800" y="152400"/>
            <a:ext cx="7772400" cy="6858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4000" dirty="0">
                <a:effectLst>
                  <a:outerShdw blurRad="38100" dist="38100" dir="2700000" algn="tl">
                    <a:srgbClr val="C0C0C0"/>
                  </a:outerShdw>
                </a:effectLst>
              </a:rPr>
              <a:t>子集树与排列树算法框架</a:t>
            </a:r>
          </a:p>
        </p:txBody>
      </p:sp>
      <p:sp>
        <p:nvSpPr>
          <p:cNvPr id="143364" name="Rectangle 1028">
            <a:extLst>
              <a:ext uri="{FF2B5EF4-FFF2-40B4-BE49-F238E27FC236}">
                <a16:creationId xmlns:a16="http://schemas.microsoft.com/office/drawing/2014/main" id="{DD7082A7-3CD3-44F3-8E92-B94191D2C885}"/>
              </a:ext>
            </a:extLst>
          </p:cNvPr>
          <p:cNvSpPr>
            <a:spLocks noChangeArrowheads="1"/>
          </p:cNvSpPr>
          <p:nvPr/>
        </p:nvSpPr>
        <p:spPr bwMode="auto">
          <a:xfrm>
            <a:off x="76200" y="914400"/>
            <a:ext cx="4495800" cy="5562600"/>
          </a:xfrm>
          <a:prstGeom prst="rect">
            <a:avLst/>
          </a:prstGeom>
          <a:noFill/>
          <a:ln w="34925">
            <a:solidFill>
              <a:srgbClr val="FF9933"/>
            </a:solidFill>
            <a:miter lim="800000"/>
            <a:headEnd/>
            <a:tailEnd/>
          </a:ln>
          <a:effectLst/>
        </p:spPr>
        <p:txBody>
          <a:bodyPr/>
          <a:lstStyle/>
          <a:p>
            <a:pPr marL="342900" indent="-342900" eaLnBrk="1" hangingPunct="1">
              <a:defRPr/>
            </a:pPr>
            <a:r>
              <a:rPr lang="zh-CN" altLang="en-US" sz="2200" b="1" dirty="0">
                <a:effectLst>
                  <a:outerShdw blurRad="38100" dist="38100" dir="2700000" algn="tl">
                    <a:srgbClr val="C0C0C0"/>
                  </a:outerShdw>
                </a:effectLst>
                <a:latin typeface="Times New Roman" charset="0"/>
                <a:ea typeface="华文中宋" panose="02010600040101010101" pitchFamily="2" charset="-122"/>
              </a:rPr>
              <a:t>子集树：</a:t>
            </a:r>
            <a:r>
              <a:rPr kumimoji="0" lang="en-US" altLang="zh-CN" sz="2200" b="1" dirty="0">
                <a:latin typeface="Times New Roman" charset="0"/>
                <a:ea typeface="华文中宋" panose="02010600040101010101" pitchFamily="2" charset="-122"/>
              </a:rPr>
              <a:t>//r</a:t>
            </a:r>
            <a:r>
              <a:rPr kumimoji="0" lang="zh-CN" altLang="en-US" sz="2200" b="1" dirty="0">
                <a:latin typeface="Times New Roman" charset="0"/>
                <a:ea typeface="华文中宋" panose="02010600040101010101" pitchFamily="2" charset="-122"/>
              </a:rPr>
              <a:t>是树</a:t>
            </a:r>
            <a:r>
              <a:rPr kumimoji="0" lang="en-US" altLang="zh-CN" sz="2200" b="1" dirty="0">
                <a:latin typeface="Times New Roman" charset="0"/>
                <a:ea typeface="华文中宋" panose="02010600040101010101" pitchFamily="2" charset="-122"/>
              </a:rPr>
              <a:t>T</a:t>
            </a:r>
            <a:r>
              <a:rPr kumimoji="0" lang="zh-CN" altLang="en-US" sz="2200" b="1" dirty="0">
                <a:latin typeface="Times New Roman" charset="0"/>
                <a:ea typeface="华文中宋" panose="02010600040101010101" pitchFamily="2" charset="-122"/>
              </a:rPr>
              <a:t>的根</a:t>
            </a:r>
          </a:p>
          <a:p>
            <a:pPr marL="342900" indent="-342900" eaLnBrk="1" hangingPunct="1">
              <a:defRPr/>
            </a:pPr>
            <a:r>
              <a:rPr kumimoji="0" lang="en-US" altLang="zh-CN" b="1" dirty="0">
                <a:latin typeface="Times New Roman" charset="0"/>
                <a:ea typeface="华文中宋" panose="02010600040101010101" pitchFamily="2" charset="-122"/>
              </a:rPr>
              <a:t>void </a:t>
            </a:r>
            <a:r>
              <a:rPr kumimoji="0" lang="en-US" altLang="zh-CN" b="1" dirty="0" err="1">
                <a:latin typeface="Times New Roman" charset="0"/>
                <a:ea typeface="华文中宋" panose="02010600040101010101" pitchFamily="2" charset="-122"/>
              </a:rPr>
              <a:t>branchBound</a:t>
            </a:r>
            <a:r>
              <a:rPr kumimoji="0" lang="en-US" altLang="zh-CN" b="1" dirty="0">
                <a:latin typeface="Times New Roman" charset="0"/>
                <a:ea typeface="华文中宋" panose="02010600040101010101" pitchFamily="2" charset="-122"/>
              </a:rPr>
              <a:t> (){</a:t>
            </a:r>
          </a:p>
          <a:p>
            <a:pPr marL="342900" indent="-342900" eaLnBrk="1" hangingPunct="1">
              <a:defRPr/>
            </a:pPr>
            <a:r>
              <a:rPr kumimoji="0" lang="en-US" altLang="zh-CN" b="1" dirty="0">
                <a:latin typeface="Times New Roman" charset="0"/>
                <a:ea typeface="华文中宋" panose="02010600040101010101" pitchFamily="2" charset="-122"/>
              </a:rPr>
              <a:t>   Q={ };   //</a:t>
            </a:r>
            <a:r>
              <a:rPr kumimoji="0" lang="zh-CN" altLang="en-US" b="1" dirty="0">
                <a:latin typeface="Times New Roman" charset="0"/>
                <a:ea typeface="华文中宋" panose="02010600040101010101" pitchFamily="2" charset="-122"/>
              </a:rPr>
              <a:t>记</a:t>
            </a:r>
            <a:r>
              <a:rPr kumimoji="0" lang="en-US" altLang="zh-CN" b="1" dirty="0">
                <a:latin typeface="Times New Roman" charset="0"/>
                <a:ea typeface="华文中宋" panose="02010600040101010101" pitchFamily="2" charset="-122"/>
              </a:rPr>
              <a:t>Q</a:t>
            </a:r>
            <a:r>
              <a:rPr kumimoji="0" lang="zh-CN" altLang="en-US" b="1" dirty="0">
                <a:latin typeface="Times New Roman" charset="0"/>
                <a:ea typeface="华文中宋" panose="02010600040101010101" pitchFamily="2" charset="-122"/>
              </a:rPr>
              <a:t>为队列或堆</a:t>
            </a:r>
          </a:p>
          <a:p>
            <a:pPr marL="342900" indent="-342900" eaLnBrk="1" hangingPunct="1">
              <a:defRPr/>
            </a:pPr>
            <a:r>
              <a:rPr kumimoji="0" lang="zh-CN" altLang="en-US" b="1" dirty="0">
                <a:latin typeface="Times New Roman" charset="0"/>
                <a:ea typeface="华文中宋" panose="02010600040101010101" pitchFamily="2" charset="-122"/>
              </a:rPr>
              <a:t>  </a:t>
            </a:r>
            <a:r>
              <a:rPr kumimoji="0" lang="en-US" altLang="zh-CN" b="1" dirty="0">
                <a:latin typeface="Times New Roman" charset="0"/>
                <a:ea typeface="华文中宋" panose="02010600040101010101" pitchFamily="2" charset="-122"/>
              </a:rPr>
              <a:t>for(r</a:t>
            </a:r>
            <a:r>
              <a:rPr kumimoji="0" lang="zh-CN" altLang="en-US" b="1" dirty="0">
                <a:latin typeface="Times New Roman" charset="0"/>
                <a:ea typeface="华文中宋" panose="02010600040101010101" pitchFamily="2" charset="-122"/>
              </a:rPr>
              <a:t>的</a:t>
            </a:r>
            <a:r>
              <a:rPr kumimoji="0" lang="en-US" altLang="zh-CN" b="1" dirty="0">
                <a:latin typeface="Times New Roman" charset="0"/>
                <a:ea typeface="华文中宋" panose="02010600040101010101" pitchFamily="2" charset="-122"/>
              </a:rPr>
              <a:t>2</a:t>
            </a:r>
            <a:r>
              <a:rPr kumimoji="0" lang="zh-CN" altLang="en-US" b="1" dirty="0">
                <a:latin typeface="Times New Roman" charset="0"/>
                <a:ea typeface="华文中宋" panose="02010600040101010101" pitchFamily="2" charset="-122"/>
              </a:rPr>
              <a:t>个儿子节点</a:t>
            </a:r>
            <a:r>
              <a:rPr kumimoji="0" lang="en-US" altLang="zh-CN" b="1" dirty="0">
                <a:latin typeface="Times New Roman" charset="0"/>
                <a:ea typeface="华文中宋" panose="02010600040101010101" pitchFamily="2" charset="-122"/>
              </a:rPr>
              <a:t>w)</a:t>
            </a:r>
          </a:p>
          <a:p>
            <a:pPr marL="342900" indent="-342900" eaLnBrk="1" hangingPunct="1">
              <a:defRPr/>
            </a:pPr>
            <a:r>
              <a:rPr kumimoji="0" lang="en-US" altLang="zh-CN" b="1" dirty="0">
                <a:latin typeface="Times New Roman" charset="0"/>
                <a:ea typeface="华文中宋" panose="02010600040101010101" pitchFamily="2" charset="-122"/>
              </a:rPr>
              <a:t>     if (w</a:t>
            </a:r>
            <a:r>
              <a:rPr kumimoji="0" lang="zh-CN" altLang="en-US" b="1" dirty="0">
                <a:latin typeface="Times New Roman" charset="0"/>
                <a:ea typeface="华文中宋" panose="02010600040101010101" pitchFamily="2" charset="-122"/>
              </a:rPr>
              <a:t>是活结点</a:t>
            </a:r>
            <a:r>
              <a:rPr kumimoji="0" lang="en-US" altLang="zh-CN" b="1" dirty="0">
                <a:latin typeface="Times New Roman" charset="0"/>
                <a:ea typeface="华文中宋" panose="02010600040101010101" pitchFamily="2" charset="-122"/>
              </a:rPr>
              <a:t>) w</a:t>
            </a:r>
            <a:r>
              <a:rPr kumimoji="0" lang="zh-CN" altLang="en-US" b="1" dirty="0">
                <a:latin typeface="Times New Roman" charset="0"/>
                <a:ea typeface="华文中宋" panose="02010600040101010101" pitchFamily="2" charset="-122"/>
              </a:rPr>
              <a:t>入队列</a:t>
            </a:r>
            <a:r>
              <a:rPr kumimoji="0" lang="en-US" altLang="zh-CN" b="1" dirty="0">
                <a:latin typeface="Times New Roman" charset="0"/>
                <a:ea typeface="华文中宋" panose="02010600040101010101" pitchFamily="2" charset="-122"/>
              </a:rPr>
              <a:t>Q;</a:t>
            </a:r>
          </a:p>
          <a:p>
            <a:pPr marL="342900" indent="-342900" eaLnBrk="1" hangingPunct="1">
              <a:defRPr/>
            </a:pPr>
            <a:r>
              <a:rPr kumimoji="0" lang="en-US" altLang="zh-CN" b="1" dirty="0">
                <a:latin typeface="Times New Roman" charset="0"/>
                <a:ea typeface="华文中宋" panose="02010600040101010101" pitchFamily="2" charset="-122"/>
              </a:rPr>
              <a:t>     else </a:t>
            </a:r>
            <a:r>
              <a:rPr kumimoji="0" lang="zh-CN" altLang="en-US" b="1" dirty="0">
                <a:latin typeface="Times New Roman" charset="0"/>
                <a:ea typeface="华文中宋" panose="02010600040101010101" pitchFamily="2" charset="-122"/>
              </a:rPr>
              <a:t>舍去</a:t>
            </a:r>
            <a:r>
              <a:rPr kumimoji="0" lang="en-US" altLang="zh-CN" b="1" dirty="0">
                <a:latin typeface="Times New Roman" charset="0"/>
                <a:ea typeface="华文中宋" panose="02010600040101010101" pitchFamily="2" charset="-122"/>
              </a:rPr>
              <a:t>w; </a:t>
            </a:r>
          </a:p>
          <a:p>
            <a:pPr marL="342900" indent="-342900" eaLnBrk="1" hangingPunct="1">
              <a:defRPr/>
            </a:pPr>
            <a:r>
              <a:rPr kumimoji="0" lang="en-US" altLang="zh-CN" b="1" dirty="0">
                <a:latin typeface="Times New Roman" charset="0"/>
                <a:ea typeface="华文中宋" panose="02010600040101010101" pitchFamily="2" charset="-122"/>
              </a:rPr>
              <a:t>   while (Q!=</a:t>
            </a:r>
            <a:r>
              <a:rPr kumimoji="0" lang="en-US" altLang="zh-CN" b="1" dirty="0">
                <a:latin typeface="Times New Roman" charset="0"/>
                <a:ea typeface="华文中宋" panose="02010600040101010101" pitchFamily="2" charset="-122"/>
                <a:sym typeface="Symbol" pitchFamily="18" charset="2"/>
              </a:rPr>
              <a:t></a:t>
            </a:r>
            <a:r>
              <a:rPr kumimoji="0" lang="en-US" altLang="zh-CN" b="1" dirty="0">
                <a:latin typeface="Times New Roman" charset="0"/>
                <a:ea typeface="华文中宋" panose="02010600040101010101" pitchFamily="2" charset="-122"/>
              </a:rPr>
              <a:t>){</a:t>
            </a:r>
          </a:p>
          <a:p>
            <a:pPr marL="342900" indent="-342900" eaLnBrk="1" hangingPunct="1">
              <a:defRPr/>
            </a:pPr>
            <a:r>
              <a:rPr kumimoji="0" lang="en-US" altLang="zh-CN" b="1" dirty="0">
                <a:latin typeface="Times New Roman" charset="0"/>
                <a:ea typeface="华文中宋" panose="02010600040101010101" pitchFamily="2" charset="-122"/>
              </a:rPr>
              <a:t>      </a:t>
            </a:r>
            <a:r>
              <a:rPr kumimoji="0" lang="zh-CN" altLang="en-US" b="1" dirty="0">
                <a:latin typeface="Times New Roman" charset="0"/>
                <a:ea typeface="华文中宋" panose="02010600040101010101" pitchFamily="2" charset="-122"/>
              </a:rPr>
              <a:t>取</a:t>
            </a:r>
            <a:r>
              <a:rPr kumimoji="0" lang="en-US" altLang="zh-CN" b="1" dirty="0">
                <a:latin typeface="Times New Roman" charset="0"/>
                <a:ea typeface="华文中宋" panose="02010600040101010101" pitchFamily="2" charset="-122"/>
              </a:rPr>
              <a:t>Q</a:t>
            </a:r>
            <a:r>
              <a:rPr kumimoji="0" lang="zh-CN" altLang="en-US" b="1" dirty="0">
                <a:latin typeface="Times New Roman" charset="0"/>
                <a:ea typeface="华文中宋" panose="02010600040101010101" pitchFamily="2" charset="-122"/>
              </a:rPr>
              <a:t>的头元素</a:t>
            </a:r>
            <a:r>
              <a:rPr kumimoji="0" lang="en-US" altLang="zh-CN" b="1" dirty="0">
                <a:latin typeface="Times New Roman" charset="0"/>
                <a:ea typeface="华文中宋" panose="02010600040101010101" pitchFamily="2" charset="-122"/>
              </a:rPr>
              <a:t>t;</a:t>
            </a:r>
          </a:p>
          <a:p>
            <a:pPr marL="342900" indent="-342900" eaLnBrk="1" hangingPunct="1">
              <a:defRPr/>
            </a:pPr>
            <a:r>
              <a:rPr kumimoji="0" lang="en-US" altLang="zh-CN" b="1" dirty="0">
                <a:latin typeface="Times New Roman" charset="0"/>
                <a:ea typeface="华文中宋" panose="02010600040101010101" pitchFamily="2" charset="-122"/>
              </a:rPr>
              <a:t>      </a:t>
            </a:r>
            <a:r>
              <a:rPr kumimoji="0" lang="zh-CN" altLang="en-US" b="1" dirty="0">
                <a:latin typeface="Times New Roman" charset="0"/>
                <a:ea typeface="华文中宋" panose="02010600040101010101" pitchFamily="2" charset="-122"/>
              </a:rPr>
              <a:t>对</a:t>
            </a:r>
            <a:r>
              <a:rPr kumimoji="0" lang="en-US" altLang="zh-CN" b="1" dirty="0">
                <a:latin typeface="Times New Roman" charset="0"/>
                <a:ea typeface="华文中宋" panose="02010600040101010101" pitchFamily="2" charset="-122"/>
              </a:rPr>
              <a:t>t</a:t>
            </a:r>
            <a:r>
              <a:rPr kumimoji="0" lang="zh-CN" altLang="en-US" b="1" dirty="0">
                <a:latin typeface="Times New Roman" charset="0"/>
                <a:ea typeface="华文中宋" panose="02010600040101010101" pitchFamily="2" charset="-122"/>
              </a:rPr>
              <a:t>的</a:t>
            </a:r>
            <a:r>
              <a:rPr kumimoji="0" lang="en-US" altLang="zh-CN" b="1" dirty="0">
                <a:latin typeface="Times New Roman" charset="0"/>
                <a:ea typeface="华文中宋" panose="02010600040101010101" pitchFamily="2" charset="-122"/>
              </a:rPr>
              <a:t>2</a:t>
            </a:r>
            <a:r>
              <a:rPr kumimoji="0" lang="zh-CN" altLang="en-US" b="1" dirty="0">
                <a:latin typeface="Times New Roman" charset="0"/>
                <a:ea typeface="华文中宋" panose="02010600040101010101" pitchFamily="2" charset="-122"/>
              </a:rPr>
              <a:t>个儿子节点</a:t>
            </a:r>
            <a:r>
              <a:rPr kumimoji="0" lang="en-US" altLang="zh-CN" b="1" dirty="0">
                <a:latin typeface="Times New Roman" charset="0"/>
                <a:ea typeface="华文中宋" panose="02010600040101010101" pitchFamily="2" charset="-122"/>
              </a:rPr>
              <a:t>w  {</a:t>
            </a:r>
          </a:p>
          <a:p>
            <a:pPr marL="342900" indent="-342900" eaLnBrk="1" hangingPunct="1">
              <a:defRPr/>
            </a:pPr>
            <a:r>
              <a:rPr kumimoji="0" lang="en-US" altLang="zh-CN" b="1" dirty="0">
                <a:latin typeface="Times New Roman" charset="0"/>
                <a:ea typeface="华文中宋" panose="02010600040101010101" pitchFamily="2" charset="-122"/>
              </a:rPr>
              <a:t>      if (w</a:t>
            </a:r>
            <a:r>
              <a:rPr kumimoji="0" lang="zh-CN" altLang="en-US" b="1" dirty="0">
                <a:latin typeface="Times New Roman" charset="0"/>
                <a:ea typeface="华文中宋" panose="02010600040101010101" pitchFamily="2" charset="-122"/>
              </a:rPr>
              <a:t>是叶结点</a:t>
            </a:r>
            <a:r>
              <a:rPr kumimoji="0" lang="en-US" altLang="zh-CN" b="1" dirty="0">
                <a:latin typeface="Times New Roman" charset="0"/>
                <a:ea typeface="华文中宋" panose="02010600040101010101" pitchFamily="2" charset="-122"/>
              </a:rPr>
              <a:t>) </a:t>
            </a:r>
            <a:r>
              <a:rPr kumimoji="0" lang="zh-CN" altLang="en-US" b="1" dirty="0">
                <a:latin typeface="Times New Roman" charset="0"/>
                <a:ea typeface="华文中宋" panose="02010600040101010101" pitchFamily="2" charset="-122"/>
              </a:rPr>
              <a:t>计算最优值；</a:t>
            </a:r>
          </a:p>
          <a:p>
            <a:pPr marL="342900" indent="-342900" eaLnBrk="1" hangingPunct="1">
              <a:defRPr/>
            </a:pPr>
            <a:r>
              <a:rPr kumimoji="0" lang="zh-CN" altLang="en-US" b="1" dirty="0">
                <a:latin typeface="Times New Roman" charset="0"/>
                <a:ea typeface="华文中宋" panose="02010600040101010101" pitchFamily="2" charset="-122"/>
              </a:rPr>
              <a:t>      </a:t>
            </a:r>
            <a:r>
              <a:rPr kumimoji="0" lang="en-US" altLang="zh-CN" b="1" dirty="0">
                <a:latin typeface="Times New Roman" charset="0"/>
                <a:ea typeface="华文中宋" panose="02010600040101010101" pitchFamily="2" charset="-122"/>
              </a:rPr>
              <a:t>else</a:t>
            </a:r>
          </a:p>
          <a:p>
            <a:pPr marL="342900" indent="-342900" eaLnBrk="1" hangingPunct="1">
              <a:defRPr/>
            </a:pPr>
            <a:r>
              <a:rPr kumimoji="0" lang="en-US" altLang="zh-CN" b="1" dirty="0">
                <a:latin typeface="Times New Roman" charset="0"/>
                <a:ea typeface="华文中宋" panose="02010600040101010101" pitchFamily="2" charset="-122"/>
              </a:rPr>
              <a:t>     { if (w</a:t>
            </a:r>
            <a:r>
              <a:rPr kumimoji="0" lang="zh-CN" altLang="en-US" b="1" dirty="0">
                <a:latin typeface="Times New Roman" charset="0"/>
                <a:ea typeface="华文中宋" panose="02010600040101010101" pitchFamily="2" charset="-122"/>
              </a:rPr>
              <a:t>是好活结点</a:t>
            </a:r>
            <a:r>
              <a:rPr kumimoji="0" lang="en-US" altLang="zh-CN" b="1" dirty="0">
                <a:latin typeface="Times New Roman" charset="0"/>
                <a:ea typeface="华文中宋" panose="02010600040101010101" pitchFamily="2" charset="-122"/>
              </a:rPr>
              <a:t>) w</a:t>
            </a:r>
            <a:r>
              <a:rPr kumimoji="0" lang="zh-CN" altLang="en-US" b="1" dirty="0">
                <a:latin typeface="Times New Roman" charset="0"/>
                <a:ea typeface="华文中宋" panose="02010600040101010101" pitchFamily="2" charset="-122"/>
              </a:rPr>
              <a:t>入队列</a:t>
            </a:r>
            <a:r>
              <a:rPr kumimoji="0" lang="en-US" altLang="zh-CN" b="1" dirty="0">
                <a:latin typeface="Times New Roman" charset="0"/>
                <a:ea typeface="华文中宋" panose="02010600040101010101" pitchFamily="2" charset="-122"/>
              </a:rPr>
              <a:t>Q;</a:t>
            </a:r>
          </a:p>
          <a:p>
            <a:pPr marL="342900" indent="-342900" eaLnBrk="1" hangingPunct="1">
              <a:defRPr/>
            </a:pPr>
            <a:r>
              <a:rPr kumimoji="0" lang="en-US" altLang="zh-CN" b="1" dirty="0">
                <a:latin typeface="Times New Roman" charset="0"/>
                <a:ea typeface="华文中宋" panose="02010600040101010101" pitchFamily="2" charset="-122"/>
              </a:rPr>
              <a:t>       else </a:t>
            </a:r>
            <a:r>
              <a:rPr kumimoji="0" lang="zh-CN" altLang="en-US" b="1" dirty="0">
                <a:latin typeface="Times New Roman" charset="0"/>
                <a:ea typeface="华文中宋" panose="02010600040101010101" pitchFamily="2" charset="-122"/>
              </a:rPr>
              <a:t>舍去</a:t>
            </a:r>
            <a:r>
              <a:rPr kumimoji="0" lang="en-US" altLang="zh-CN" b="1" dirty="0">
                <a:latin typeface="Times New Roman" charset="0"/>
                <a:ea typeface="华文中宋" panose="02010600040101010101" pitchFamily="2" charset="-122"/>
              </a:rPr>
              <a:t>w</a:t>
            </a:r>
            <a:r>
              <a:rPr kumimoji="0" lang="zh-CN" altLang="en-US" b="1" dirty="0">
                <a:latin typeface="Times New Roman" charset="0"/>
                <a:ea typeface="华文中宋" panose="02010600040101010101" pitchFamily="2" charset="-122"/>
              </a:rPr>
              <a:t>；</a:t>
            </a:r>
            <a:r>
              <a:rPr kumimoji="0" lang="en-US" altLang="zh-CN" b="1" dirty="0">
                <a:latin typeface="Times New Roman" charset="0"/>
                <a:ea typeface="华文中宋" panose="02010600040101010101" pitchFamily="2" charset="-122"/>
              </a:rPr>
              <a:t>} </a:t>
            </a:r>
          </a:p>
          <a:p>
            <a:pPr marL="342900" indent="-342900" eaLnBrk="1" hangingPunct="1">
              <a:defRPr/>
            </a:pPr>
            <a:r>
              <a:rPr kumimoji="0" lang="en-US" altLang="zh-CN" b="1" dirty="0">
                <a:latin typeface="Times New Roman" charset="0"/>
                <a:ea typeface="华文中宋" panose="02010600040101010101" pitchFamily="2" charset="-122"/>
              </a:rPr>
              <a:t>    }</a:t>
            </a:r>
          </a:p>
          <a:p>
            <a:pPr marL="342900" indent="-342900" eaLnBrk="1" hangingPunct="1">
              <a:defRPr/>
            </a:pPr>
            <a:r>
              <a:rPr kumimoji="0" lang="en-US" altLang="zh-CN" b="1" dirty="0">
                <a:latin typeface="Times New Roman" charset="0"/>
                <a:ea typeface="华文中宋" panose="02010600040101010101" pitchFamily="2" charset="-122"/>
              </a:rPr>
              <a:t>}</a:t>
            </a:r>
          </a:p>
        </p:txBody>
      </p:sp>
      <p:sp>
        <p:nvSpPr>
          <p:cNvPr id="143365" name="Rectangle 1029">
            <a:extLst>
              <a:ext uri="{FF2B5EF4-FFF2-40B4-BE49-F238E27FC236}">
                <a16:creationId xmlns:a16="http://schemas.microsoft.com/office/drawing/2014/main" id="{5961B263-B1E0-4464-B322-80092FA9FA5E}"/>
              </a:ext>
            </a:extLst>
          </p:cNvPr>
          <p:cNvSpPr>
            <a:spLocks noChangeArrowheads="1"/>
          </p:cNvSpPr>
          <p:nvPr/>
        </p:nvSpPr>
        <p:spPr bwMode="auto">
          <a:xfrm>
            <a:off x="4572000" y="914400"/>
            <a:ext cx="4572000" cy="5562600"/>
          </a:xfrm>
          <a:prstGeom prst="rect">
            <a:avLst/>
          </a:prstGeom>
          <a:noFill/>
          <a:ln w="34925">
            <a:solidFill>
              <a:srgbClr val="FF9933"/>
            </a:solidFill>
            <a:miter lim="800000"/>
            <a:headEnd/>
            <a:tailEnd/>
          </a:ln>
          <a:effectLst/>
        </p:spPr>
        <p:txBody>
          <a:bodyPr/>
          <a:lstStyle/>
          <a:p>
            <a:pPr marL="342900" indent="-342900" eaLnBrk="1" hangingPunct="1">
              <a:defRPr/>
            </a:pPr>
            <a:r>
              <a:rPr lang="zh-CN" altLang="en-US" sz="2200" b="1" dirty="0">
                <a:effectLst>
                  <a:outerShdw blurRad="38100" dist="38100" dir="2700000" algn="tl">
                    <a:srgbClr val="C0C0C0"/>
                  </a:outerShdw>
                </a:effectLst>
                <a:latin typeface="Times New Roman" charset="0"/>
                <a:ea typeface="华文中宋" panose="02010600040101010101" pitchFamily="2" charset="-122"/>
              </a:rPr>
              <a:t>排列：</a:t>
            </a:r>
            <a:r>
              <a:rPr kumimoji="0" lang="en-US" altLang="zh-CN" sz="2200" b="1" dirty="0">
                <a:latin typeface="Times New Roman" charset="0"/>
                <a:ea typeface="华文中宋" panose="02010600040101010101" pitchFamily="2" charset="-122"/>
              </a:rPr>
              <a:t>//r</a:t>
            </a:r>
            <a:r>
              <a:rPr kumimoji="0" lang="zh-CN" altLang="en-US" sz="2200" b="1" dirty="0">
                <a:latin typeface="Times New Roman" charset="0"/>
                <a:ea typeface="华文中宋" panose="02010600040101010101" pitchFamily="2" charset="-122"/>
              </a:rPr>
              <a:t>是树</a:t>
            </a:r>
            <a:r>
              <a:rPr kumimoji="0" lang="en-US" altLang="zh-CN" sz="2200" b="1" dirty="0">
                <a:latin typeface="Times New Roman" charset="0"/>
                <a:ea typeface="华文中宋" panose="02010600040101010101" pitchFamily="2" charset="-122"/>
              </a:rPr>
              <a:t>T</a:t>
            </a:r>
            <a:r>
              <a:rPr kumimoji="0" lang="zh-CN" altLang="en-US" sz="2200" b="1" dirty="0">
                <a:latin typeface="Times New Roman" charset="0"/>
                <a:ea typeface="华文中宋" panose="02010600040101010101" pitchFamily="2" charset="-122"/>
              </a:rPr>
              <a:t>的根</a:t>
            </a:r>
          </a:p>
          <a:p>
            <a:pPr marL="342900" indent="-342900" eaLnBrk="1" hangingPunct="1">
              <a:defRPr/>
            </a:pPr>
            <a:r>
              <a:rPr kumimoji="0" lang="en-US" altLang="zh-CN" b="1" dirty="0">
                <a:latin typeface="Times New Roman" charset="0"/>
                <a:ea typeface="华文中宋" panose="02010600040101010101" pitchFamily="2" charset="-122"/>
              </a:rPr>
              <a:t>void </a:t>
            </a:r>
            <a:r>
              <a:rPr kumimoji="0" lang="en-US" altLang="zh-CN" b="1" dirty="0" err="1">
                <a:latin typeface="Times New Roman" charset="0"/>
                <a:ea typeface="华文中宋" panose="02010600040101010101" pitchFamily="2" charset="-122"/>
              </a:rPr>
              <a:t>branchBound</a:t>
            </a:r>
            <a:r>
              <a:rPr kumimoji="0" lang="en-US" altLang="zh-CN" b="1" dirty="0">
                <a:latin typeface="Times New Roman" charset="0"/>
                <a:ea typeface="华文中宋" panose="02010600040101010101" pitchFamily="2" charset="-122"/>
              </a:rPr>
              <a:t> (){</a:t>
            </a:r>
          </a:p>
          <a:p>
            <a:pPr marL="342900" indent="-342900" eaLnBrk="1" hangingPunct="1">
              <a:defRPr/>
            </a:pPr>
            <a:r>
              <a:rPr kumimoji="0" lang="en-US" altLang="zh-CN" b="1" dirty="0">
                <a:latin typeface="Times New Roman" charset="0"/>
                <a:ea typeface="华文中宋" panose="02010600040101010101" pitchFamily="2" charset="-122"/>
              </a:rPr>
              <a:t>   Q={ }; //</a:t>
            </a:r>
            <a:r>
              <a:rPr kumimoji="0" lang="zh-CN" altLang="en-US" b="1" dirty="0">
                <a:latin typeface="Times New Roman" charset="0"/>
                <a:ea typeface="华文中宋" panose="02010600040101010101" pitchFamily="2" charset="-122"/>
              </a:rPr>
              <a:t>记</a:t>
            </a:r>
            <a:r>
              <a:rPr kumimoji="0" lang="en-US" altLang="zh-CN" b="1" dirty="0">
                <a:latin typeface="Times New Roman" charset="0"/>
                <a:ea typeface="华文中宋" panose="02010600040101010101" pitchFamily="2" charset="-122"/>
              </a:rPr>
              <a:t>Q</a:t>
            </a:r>
            <a:r>
              <a:rPr kumimoji="0" lang="zh-CN" altLang="en-US" b="1" dirty="0">
                <a:latin typeface="Times New Roman" charset="0"/>
                <a:ea typeface="华文中宋" panose="02010600040101010101" pitchFamily="2" charset="-122"/>
              </a:rPr>
              <a:t>为队列或堆</a:t>
            </a:r>
          </a:p>
          <a:p>
            <a:pPr marL="342900" indent="-342900" eaLnBrk="1" hangingPunct="1">
              <a:defRPr/>
            </a:pPr>
            <a:r>
              <a:rPr kumimoji="0" lang="zh-CN" altLang="en-US" b="1" dirty="0">
                <a:latin typeface="Times New Roman" charset="0"/>
                <a:ea typeface="华文中宋" panose="02010600040101010101" pitchFamily="2" charset="-122"/>
              </a:rPr>
              <a:t>  </a:t>
            </a:r>
            <a:r>
              <a:rPr kumimoji="0" lang="en-US" altLang="zh-CN" b="1" dirty="0">
                <a:latin typeface="Times New Roman" charset="0"/>
                <a:ea typeface="华文中宋" panose="02010600040101010101" pitchFamily="2" charset="-122"/>
              </a:rPr>
              <a:t>for(r</a:t>
            </a:r>
            <a:r>
              <a:rPr kumimoji="0" lang="zh-CN" altLang="en-US" b="1" dirty="0">
                <a:latin typeface="Times New Roman" charset="0"/>
                <a:ea typeface="华文中宋" panose="02010600040101010101" pitchFamily="2" charset="-122"/>
              </a:rPr>
              <a:t>的所有儿子节点</a:t>
            </a:r>
            <a:r>
              <a:rPr kumimoji="0" lang="en-US" altLang="zh-CN" b="1" dirty="0">
                <a:latin typeface="Times New Roman" charset="0"/>
                <a:ea typeface="华文中宋" panose="02010600040101010101" pitchFamily="2" charset="-122"/>
              </a:rPr>
              <a:t>w)</a:t>
            </a:r>
          </a:p>
          <a:p>
            <a:pPr marL="342900" indent="-342900" eaLnBrk="1" hangingPunct="1">
              <a:defRPr/>
            </a:pPr>
            <a:r>
              <a:rPr kumimoji="0" lang="en-US" altLang="zh-CN" b="1" dirty="0">
                <a:latin typeface="Times New Roman" charset="0"/>
                <a:ea typeface="华文中宋" panose="02010600040101010101" pitchFamily="2" charset="-122"/>
              </a:rPr>
              <a:t>     if (w</a:t>
            </a:r>
            <a:r>
              <a:rPr kumimoji="0" lang="zh-CN" altLang="en-US" b="1" dirty="0">
                <a:latin typeface="Times New Roman" charset="0"/>
                <a:ea typeface="华文中宋" panose="02010600040101010101" pitchFamily="2" charset="-122"/>
              </a:rPr>
              <a:t>是活结点</a:t>
            </a:r>
            <a:r>
              <a:rPr kumimoji="0" lang="en-US" altLang="zh-CN" b="1" dirty="0">
                <a:latin typeface="Times New Roman" charset="0"/>
                <a:ea typeface="华文中宋" panose="02010600040101010101" pitchFamily="2" charset="-122"/>
              </a:rPr>
              <a:t>) w</a:t>
            </a:r>
            <a:r>
              <a:rPr kumimoji="0" lang="zh-CN" altLang="en-US" b="1" dirty="0">
                <a:latin typeface="Times New Roman" charset="0"/>
                <a:ea typeface="华文中宋" panose="02010600040101010101" pitchFamily="2" charset="-122"/>
              </a:rPr>
              <a:t>入队列</a:t>
            </a:r>
            <a:r>
              <a:rPr kumimoji="0" lang="en-US" altLang="zh-CN" b="1" dirty="0">
                <a:latin typeface="Times New Roman" charset="0"/>
                <a:ea typeface="华文中宋" panose="02010600040101010101" pitchFamily="2" charset="-122"/>
              </a:rPr>
              <a:t>Q;</a:t>
            </a:r>
          </a:p>
          <a:p>
            <a:pPr marL="342900" indent="-342900" eaLnBrk="1" hangingPunct="1">
              <a:defRPr/>
            </a:pPr>
            <a:r>
              <a:rPr kumimoji="0" lang="en-US" altLang="zh-CN" b="1" dirty="0">
                <a:latin typeface="Times New Roman" charset="0"/>
                <a:ea typeface="华文中宋" panose="02010600040101010101" pitchFamily="2" charset="-122"/>
              </a:rPr>
              <a:t>     else </a:t>
            </a:r>
            <a:r>
              <a:rPr kumimoji="0" lang="zh-CN" altLang="en-US" b="1" dirty="0">
                <a:latin typeface="Times New Roman" charset="0"/>
                <a:ea typeface="华文中宋" panose="02010600040101010101" pitchFamily="2" charset="-122"/>
              </a:rPr>
              <a:t>舍去</a:t>
            </a:r>
            <a:r>
              <a:rPr kumimoji="0" lang="en-US" altLang="zh-CN" b="1" dirty="0">
                <a:latin typeface="Times New Roman" charset="0"/>
                <a:ea typeface="华文中宋" panose="02010600040101010101" pitchFamily="2" charset="-122"/>
              </a:rPr>
              <a:t>w;</a:t>
            </a:r>
          </a:p>
          <a:p>
            <a:pPr marL="342900" indent="-342900" eaLnBrk="1" hangingPunct="1">
              <a:defRPr/>
            </a:pPr>
            <a:r>
              <a:rPr kumimoji="0" lang="en-US" altLang="zh-CN" b="1" dirty="0">
                <a:latin typeface="Times New Roman" charset="0"/>
                <a:ea typeface="华文中宋" panose="02010600040101010101" pitchFamily="2" charset="-122"/>
              </a:rPr>
              <a:t>   while (Q!=</a:t>
            </a:r>
            <a:r>
              <a:rPr kumimoji="0" lang="en-US" altLang="zh-CN" b="1" dirty="0">
                <a:latin typeface="Times New Roman" charset="0"/>
                <a:ea typeface="华文中宋" panose="02010600040101010101" pitchFamily="2" charset="-122"/>
                <a:sym typeface="Symbol" pitchFamily="18" charset="2"/>
              </a:rPr>
              <a:t></a:t>
            </a:r>
            <a:r>
              <a:rPr kumimoji="0" lang="en-US" altLang="zh-CN" b="1" dirty="0">
                <a:latin typeface="Times New Roman" charset="0"/>
                <a:ea typeface="华文中宋" panose="02010600040101010101" pitchFamily="2" charset="-122"/>
              </a:rPr>
              <a:t>){</a:t>
            </a:r>
          </a:p>
          <a:p>
            <a:pPr marL="342900" indent="-342900" eaLnBrk="1" hangingPunct="1">
              <a:defRPr/>
            </a:pPr>
            <a:r>
              <a:rPr kumimoji="0" lang="en-US" altLang="zh-CN" b="1" dirty="0">
                <a:latin typeface="Times New Roman" charset="0"/>
                <a:ea typeface="华文中宋" panose="02010600040101010101" pitchFamily="2" charset="-122"/>
              </a:rPr>
              <a:t>      </a:t>
            </a:r>
            <a:r>
              <a:rPr kumimoji="0" lang="zh-CN" altLang="en-US" b="1" dirty="0">
                <a:latin typeface="Times New Roman" charset="0"/>
                <a:ea typeface="华文中宋" panose="02010600040101010101" pitchFamily="2" charset="-122"/>
              </a:rPr>
              <a:t>取</a:t>
            </a:r>
            <a:r>
              <a:rPr kumimoji="0" lang="en-US" altLang="zh-CN" b="1" dirty="0">
                <a:latin typeface="Times New Roman" charset="0"/>
                <a:ea typeface="华文中宋" panose="02010600040101010101" pitchFamily="2" charset="-122"/>
              </a:rPr>
              <a:t>Q</a:t>
            </a:r>
            <a:r>
              <a:rPr kumimoji="0" lang="zh-CN" altLang="en-US" b="1" dirty="0">
                <a:latin typeface="Times New Roman" charset="0"/>
                <a:ea typeface="华文中宋" panose="02010600040101010101" pitchFamily="2" charset="-122"/>
              </a:rPr>
              <a:t>的头元素</a:t>
            </a:r>
            <a:r>
              <a:rPr kumimoji="0" lang="en-US" altLang="zh-CN" b="1" dirty="0">
                <a:latin typeface="Times New Roman" charset="0"/>
                <a:ea typeface="华文中宋" panose="02010600040101010101" pitchFamily="2" charset="-122"/>
              </a:rPr>
              <a:t>t;</a:t>
            </a:r>
          </a:p>
          <a:p>
            <a:pPr marL="342900" indent="-342900" eaLnBrk="1" hangingPunct="1">
              <a:defRPr/>
            </a:pPr>
            <a:r>
              <a:rPr kumimoji="0" lang="en-US" altLang="zh-CN" b="1" dirty="0">
                <a:latin typeface="Times New Roman" charset="0"/>
                <a:ea typeface="华文中宋" panose="02010600040101010101" pitchFamily="2" charset="-122"/>
              </a:rPr>
              <a:t>      </a:t>
            </a:r>
            <a:r>
              <a:rPr kumimoji="0" lang="zh-CN" altLang="en-US" b="1" dirty="0">
                <a:latin typeface="Times New Roman" charset="0"/>
                <a:ea typeface="华文中宋" panose="02010600040101010101" pitchFamily="2" charset="-122"/>
              </a:rPr>
              <a:t>对</a:t>
            </a:r>
            <a:r>
              <a:rPr kumimoji="0" lang="en-US" altLang="zh-CN" b="1" dirty="0">
                <a:latin typeface="Times New Roman" charset="0"/>
                <a:ea typeface="华文中宋" panose="02010600040101010101" pitchFamily="2" charset="-122"/>
              </a:rPr>
              <a:t>t</a:t>
            </a:r>
            <a:r>
              <a:rPr kumimoji="0" lang="zh-CN" altLang="en-US" b="1" dirty="0">
                <a:latin typeface="Times New Roman" charset="0"/>
                <a:ea typeface="华文中宋" panose="02010600040101010101" pitchFamily="2" charset="-122"/>
              </a:rPr>
              <a:t>的所有儿子节点</a:t>
            </a:r>
            <a:r>
              <a:rPr kumimoji="0" lang="en-US" altLang="zh-CN" b="1" dirty="0">
                <a:latin typeface="Times New Roman" charset="0"/>
                <a:ea typeface="华文中宋" panose="02010600040101010101" pitchFamily="2" charset="-122"/>
              </a:rPr>
              <a:t>w{</a:t>
            </a:r>
          </a:p>
          <a:p>
            <a:pPr marL="342900" indent="-342900" eaLnBrk="1" hangingPunct="1">
              <a:defRPr/>
            </a:pPr>
            <a:r>
              <a:rPr kumimoji="0" lang="en-US" altLang="zh-CN" b="1" dirty="0">
                <a:latin typeface="Times New Roman" charset="0"/>
                <a:ea typeface="华文中宋" panose="02010600040101010101" pitchFamily="2" charset="-122"/>
              </a:rPr>
              <a:t>       if (w</a:t>
            </a:r>
            <a:r>
              <a:rPr kumimoji="0" lang="zh-CN" altLang="en-US" b="1" dirty="0">
                <a:latin typeface="Times New Roman" charset="0"/>
                <a:ea typeface="华文中宋" panose="02010600040101010101" pitchFamily="2" charset="-122"/>
              </a:rPr>
              <a:t>是叶结点</a:t>
            </a:r>
            <a:r>
              <a:rPr kumimoji="0" lang="en-US" altLang="zh-CN" b="1" dirty="0">
                <a:latin typeface="Times New Roman" charset="0"/>
                <a:ea typeface="华文中宋" panose="02010600040101010101" pitchFamily="2" charset="-122"/>
              </a:rPr>
              <a:t>) </a:t>
            </a:r>
            <a:r>
              <a:rPr kumimoji="0" lang="zh-CN" altLang="en-US" b="1" dirty="0">
                <a:latin typeface="Times New Roman" charset="0"/>
                <a:ea typeface="华文中宋" panose="02010600040101010101" pitchFamily="2" charset="-122"/>
              </a:rPr>
              <a:t>计算最优值；</a:t>
            </a:r>
          </a:p>
          <a:p>
            <a:pPr marL="342900" indent="-342900" eaLnBrk="1" hangingPunct="1">
              <a:defRPr/>
            </a:pPr>
            <a:r>
              <a:rPr kumimoji="0" lang="zh-CN" altLang="en-US" b="1" dirty="0">
                <a:latin typeface="Times New Roman" charset="0"/>
                <a:ea typeface="华文中宋" panose="02010600040101010101" pitchFamily="2" charset="-122"/>
              </a:rPr>
              <a:t>      </a:t>
            </a:r>
            <a:r>
              <a:rPr kumimoji="0" lang="en-US" altLang="zh-CN" b="1" dirty="0">
                <a:latin typeface="Times New Roman" charset="0"/>
                <a:ea typeface="华文中宋" panose="02010600040101010101" pitchFamily="2" charset="-122"/>
              </a:rPr>
              <a:t>else{ if (w</a:t>
            </a:r>
            <a:r>
              <a:rPr kumimoji="0" lang="zh-CN" altLang="en-US" b="1" dirty="0">
                <a:latin typeface="Times New Roman" charset="0"/>
                <a:ea typeface="华文中宋" panose="02010600040101010101" pitchFamily="2" charset="-122"/>
              </a:rPr>
              <a:t>是好活结点</a:t>
            </a:r>
            <a:r>
              <a:rPr kumimoji="0" lang="en-US" altLang="zh-CN" b="1" dirty="0">
                <a:latin typeface="Times New Roman" charset="0"/>
                <a:ea typeface="华文中宋" panose="02010600040101010101" pitchFamily="2" charset="-122"/>
              </a:rPr>
              <a:t>) </a:t>
            </a:r>
          </a:p>
          <a:p>
            <a:pPr marL="342900" indent="-342900" eaLnBrk="1" hangingPunct="1">
              <a:defRPr/>
            </a:pPr>
            <a:r>
              <a:rPr kumimoji="0" lang="en-US" altLang="zh-CN" b="1" dirty="0">
                <a:latin typeface="Times New Roman" charset="0"/>
                <a:ea typeface="华文中宋" panose="02010600040101010101" pitchFamily="2" charset="-122"/>
              </a:rPr>
              <a:t>                   w</a:t>
            </a:r>
            <a:r>
              <a:rPr kumimoji="0" lang="zh-CN" altLang="en-US" b="1" dirty="0">
                <a:latin typeface="Times New Roman" charset="0"/>
                <a:ea typeface="华文中宋" panose="02010600040101010101" pitchFamily="2" charset="-122"/>
              </a:rPr>
              <a:t>入队列</a:t>
            </a:r>
            <a:r>
              <a:rPr kumimoji="0" lang="en-US" altLang="zh-CN" b="1" dirty="0">
                <a:latin typeface="Times New Roman" charset="0"/>
                <a:ea typeface="华文中宋" panose="02010600040101010101" pitchFamily="2" charset="-122"/>
              </a:rPr>
              <a:t>Q;</a:t>
            </a:r>
          </a:p>
          <a:p>
            <a:pPr marL="342900" indent="-342900" eaLnBrk="1" hangingPunct="1">
              <a:defRPr/>
            </a:pPr>
            <a:r>
              <a:rPr kumimoji="0" lang="en-US" altLang="zh-CN" b="1" dirty="0">
                <a:latin typeface="Times New Roman" charset="0"/>
                <a:ea typeface="华文中宋" panose="02010600040101010101" pitchFamily="2" charset="-122"/>
              </a:rPr>
              <a:t>              else </a:t>
            </a:r>
            <a:r>
              <a:rPr kumimoji="0" lang="zh-CN" altLang="en-US" b="1" dirty="0">
                <a:latin typeface="Times New Roman" charset="0"/>
                <a:ea typeface="华文中宋" panose="02010600040101010101" pitchFamily="2" charset="-122"/>
              </a:rPr>
              <a:t>舍去</a:t>
            </a:r>
            <a:r>
              <a:rPr kumimoji="0" lang="en-US" altLang="zh-CN" b="1" dirty="0">
                <a:latin typeface="Times New Roman" charset="0"/>
                <a:ea typeface="华文中宋" panose="02010600040101010101" pitchFamily="2" charset="-122"/>
              </a:rPr>
              <a:t>w</a:t>
            </a:r>
            <a:r>
              <a:rPr kumimoji="0" lang="zh-CN" altLang="en-US" b="1" dirty="0">
                <a:latin typeface="Times New Roman" charset="0"/>
                <a:ea typeface="华文中宋" panose="02010600040101010101" pitchFamily="2" charset="-122"/>
              </a:rPr>
              <a:t>；</a:t>
            </a:r>
            <a:r>
              <a:rPr kumimoji="0" lang="en-US" altLang="zh-CN" b="1" dirty="0">
                <a:latin typeface="Times New Roman" charset="0"/>
                <a:ea typeface="华文中宋" panose="02010600040101010101" pitchFamily="2" charset="-122"/>
              </a:rPr>
              <a:t>} </a:t>
            </a:r>
          </a:p>
          <a:p>
            <a:pPr marL="342900" indent="-342900" eaLnBrk="1" hangingPunct="1">
              <a:defRPr/>
            </a:pPr>
            <a:r>
              <a:rPr kumimoji="0" lang="en-US" altLang="zh-CN" b="1" dirty="0">
                <a:latin typeface="Times New Roman" charset="0"/>
                <a:ea typeface="华文中宋" panose="02010600040101010101" pitchFamily="2" charset="-122"/>
              </a:rPr>
              <a:t>     }</a:t>
            </a:r>
          </a:p>
          <a:p>
            <a:pPr marL="342900" indent="-342900" eaLnBrk="1" hangingPunct="1">
              <a:defRPr/>
            </a:pPr>
            <a:r>
              <a:rPr kumimoji="0" lang="en-US" altLang="zh-CN" b="1" dirty="0">
                <a:latin typeface="Times New Roman" charset="0"/>
                <a:ea typeface="华文中宋" panose="020106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3364"/>
                                        </p:tgtEl>
                                        <p:attrNameLst>
                                          <p:attrName>style.visibility</p:attrName>
                                        </p:attrNameLst>
                                      </p:cBhvr>
                                      <p:to>
                                        <p:strVal val="visible"/>
                                      </p:to>
                                    </p:set>
                                    <p:anim calcmode="lin" valueType="num">
                                      <p:cBhvr additive="base">
                                        <p:cTn id="7" dur="500" fill="hold"/>
                                        <p:tgtEl>
                                          <p:spTgt spid="143364"/>
                                        </p:tgtEl>
                                        <p:attrNameLst>
                                          <p:attrName>ppt_x</p:attrName>
                                        </p:attrNameLst>
                                      </p:cBhvr>
                                      <p:tavLst>
                                        <p:tav tm="0">
                                          <p:val>
                                            <p:strVal val="0-#ppt_w/2"/>
                                          </p:val>
                                        </p:tav>
                                        <p:tav tm="100000">
                                          <p:val>
                                            <p:strVal val="#ppt_x"/>
                                          </p:val>
                                        </p:tav>
                                      </p:tavLst>
                                    </p:anim>
                                    <p:anim calcmode="lin" valueType="num">
                                      <p:cBhvr additive="base">
                                        <p:cTn id="8" dur="500" fill="hold"/>
                                        <p:tgtEl>
                                          <p:spTgt spid="14336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3365"/>
                                        </p:tgtEl>
                                        <p:attrNameLst>
                                          <p:attrName>style.visibility</p:attrName>
                                        </p:attrNameLst>
                                      </p:cBhvr>
                                      <p:to>
                                        <p:strVal val="visible"/>
                                      </p:to>
                                    </p:set>
                                    <p:anim calcmode="lin" valueType="num">
                                      <p:cBhvr additive="base">
                                        <p:cTn id="13" dur="500" fill="hold"/>
                                        <p:tgtEl>
                                          <p:spTgt spid="143365"/>
                                        </p:tgtEl>
                                        <p:attrNameLst>
                                          <p:attrName>ppt_x</p:attrName>
                                        </p:attrNameLst>
                                      </p:cBhvr>
                                      <p:tavLst>
                                        <p:tav tm="0">
                                          <p:val>
                                            <p:strVal val="0-#ppt_w/2"/>
                                          </p:val>
                                        </p:tav>
                                        <p:tav tm="100000">
                                          <p:val>
                                            <p:strVal val="#ppt_x"/>
                                          </p:val>
                                        </p:tav>
                                      </p:tavLst>
                                    </p:anim>
                                    <p:anim calcmode="lin" valueType="num">
                                      <p:cBhvr additive="base">
                                        <p:cTn id="14" dur="500" fill="hold"/>
                                        <p:tgtEl>
                                          <p:spTgt spid="1433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4" grpId="0" animBg="1" autoUpdateAnimBg="0"/>
      <p:bldP spid="143365"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Rectangle 1026">
            <a:extLst>
              <a:ext uri="{FF2B5EF4-FFF2-40B4-BE49-F238E27FC236}">
                <a16:creationId xmlns:a16="http://schemas.microsoft.com/office/drawing/2014/main" id="{5DEAFE6F-ADAA-4914-BF4B-2A2725563453}"/>
              </a:ext>
            </a:extLst>
          </p:cNvPr>
          <p:cNvSpPr>
            <a:spLocks noGrp="1" noChangeArrowheads="1"/>
          </p:cNvSpPr>
          <p:nvPr>
            <p:ph type="title"/>
          </p:nvPr>
        </p:nvSpPr>
        <p:spPr bwMode="auto">
          <a:xfrm>
            <a:off x="685800" y="22860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solidFill>
                  <a:schemeClr val="accent2"/>
                </a:solidFill>
                <a:latin typeface="华文中宋" panose="02010600040101010101" pitchFamily="2" charset="-122"/>
              </a:rPr>
              <a:t>6.2	</a:t>
            </a:r>
            <a:r>
              <a:rPr lang="zh-CN" altLang="en-US" b="1">
                <a:solidFill>
                  <a:schemeClr val="accent2"/>
                </a:solidFill>
                <a:latin typeface="华文中宋" panose="02010600040101010101" pitchFamily="2" charset="-122"/>
              </a:rPr>
              <a:t>单源最短路径问题</a:t>
            </a:r>
            <a:r>
              <a:rPr lang="en-US" altLang="zh-CN" b="1">
                <a:solidFill>
                  <a:srgbClr val="FF0000"/>
                </a:solidFill>
                <a:latin typeface="华文中宋" panose="02010600040101010101" pitchFamily="2" charset="-122"/>
              </a:rPr>
              <a:t>-</a:t>
            </a:r>
            <a:r>
              <a:rPr lang="zh-CN" altLang="en-US" b="1">
                <a:solidFill>
                  <a:srgbClr val="FF0000"/>
                </a:solidFill>
                <a:latin typeface="华文中宋" panose="02010600040101010101" pitchFamily="2" charset="-122"/>
              </a:rPr>
              <a:t>自学</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761742FC-C703-46C2-AEC2-02E26D220A4D}"/>
              </a:ext>
            </a:extLst>
          </p:cNvPr>
          <p:cNvSpPr>
            <a:spLocks noGrp="1" noChangeArrowheads="1"/>
          </p:cNvSpPr>
          <p:nvPr>
            <p:ph type="title"/>
          </p:nvPr>
        </p:nvSpPr>
        <p:spPr bwMode="auto">
          <a:xfrm>
            <a:off x="685800" y="609600"/>
            <a:ext cx="77724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a:solidFill>
                  <a:schemeClr val="accent2"/>
                </a:solidFill>
              </a:rPr>
              <a:t>1. </a:t>
            </a:r>
            <a:r>
              <a:rPr lang="zh-CN" altLang="en-US" b="1">
                <a:solidFill>
                  <a:schemeClr val="accent2"/>
                </a:solidFill>
              </a:rPr>
              <a:t>问题描述</a:t>
            </a:r>
          </a:p>
        </p:txBody>
      </p:sp>
      <p:sp>
        <p:nvSpPr>
          <p:cNvPr id="20483" name="Rectangle 3">
            <a:extLst>
              <a:ext uri="{FF2B5EF4-FFF2-40B4-BE49-F238E27FC236}">
                <a16:creationId xmlns:a16="http://schemas.microsoft.com/office/drawing/2014/main" id="{B83FD698-FE59-4844-BDBD-741DB29B1496}"/>
              </a:ext>
            </a:extLst>
          </p:cNvPr>
          <p:cNvSpPr>
            <a:spLocks noGrp="1" noChangeArrowheads="1"/>
          </p:cNvSpPr>
          <p:nvPr>
            <p:ph type="body" idx="1"/>
          </p:nvPr>
        </p:nvSpPr>
        <p:spPr bwMode="auto">
          <a:xfrm>
            <a:off x="609600" y="1524000"/>
            <a:ext cx="8077200" cy="2209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spcBef>
                <a:spcPct val="0"/>
              </a:spcBef>
            </a:pPr>
            <a:r>
              <a:rPr kumimoji="0" lang="zh-CN" altLang="en-US" sz="2800" b="1">
                <a:latin typeface="Arial" panose="020B0604020202020204" pitchFamily="34" charset="0"/>
              </a:rPr>
              <a:t>单源最短路径问题：</a:t>
            </a:r>
            <a:r>
              <a:rPr kumimoji="0" lang="zh-CN" altLang="en-US" sz="2800" b="1">
                <a:latin typeface="华文中宋" panose="02010600040101010101" pitchFamily="2" charset="-122"/>
              </a:rPr>
              <a:t>在下图所给的有向图</a:t>
            </a:r>
            <a:r>
              <a:rPr kumimoji="0" lang="en-US" altLang="zh-CN" sz="2800" b="1">
                <a:latin typeface="华文中宋" panose="02010600040101010101" pitchFamily="2" charset="-122"/>
              </a:rPr>
              <a:t>G</a:t>
            </a:r>
            <a:r>
              <a:rPr kumimoji="0" lang="zh-CN" altLang="en-US" sz="2800" b="1">
                <a:latin typeface="华文中宋" panose="02010600040101010101" pitchFamily="2" charset="-122"/>
              </a:rPr>
              <a:t>中，每一边都有一个非负边权。要求图</a:t>
            </a:r>
            <a:r>
              <a:rPr kumimoji="0" lang="en-US" altLang="zh-CN" sz="2800" b="1">
                <a:latin typeface="华文中宋" panose="02010600040101010101" pitchFamily="2" charset="-122"/>
              </a:rPr>
              <a:t>G</a:t>
            </a:r>
            <a:r>
              <a:rPr kumimoji="0" lang="zh-CN" altLang="en-US" sz="2800" b="1">
                <a:latin typeface="华文中宋" panose="02010600040101010101" pitchFamily="2" charset="-122"/>
              </a:rPr>
              <a:t>的从源顶点</a:t>
            </a:r>
            <a:r>
              <a:rPr kumimoji="0" lang="en-US" altLang="zh-CN" sz="2800" b="1">
                <a:latin typeface="华文中宋" panose="02010600040101010101" pitchFamily="2" charset="-122"/>
              </a:rPr>
              <a:t>s</a:t>
            </a:r>
            <a:r>
              <a:rPr kumimoji="0" lang="zh-CN" altLang="en-US" sz="2800" b="1">
                <a:latin typeface="华文中宋" panose="02010600040101010101" pitchFamily="2" charset="-122"/>
              </a:rPr>
              <a:t>到目标顶点</a:t>
            </a:r>
            <a:r>
              <a:rPr kumimoji="0" lang="en-US" altLang="zh-CN" sz="2800" b="1">
                <a:latin typeface="华文中宋" panose="02010600040101010101" pitchFamily="2" charset="-122"/>
              </a:rPr>
              <a:t>t</a:t>
            </a:r>
            <a:r>
              <a:rPr kumimoji="0" lang="zh-CN" altLang="en-US" sz="2800" b="1">
                <a:latin typeface="华文中宋" panose="02010600040101010101" pitchFamily="2" charset="-122"/>
              </a:rPr>
              <a:t>之间的最短路径</a:t>
            </a:r>
          </a:p>
        </p:txBody>
      </p:sp>
      <p:pic>
        <p:nvPicPr>
          <p:cNvPr id="20486" name="Picture 6" descr="未命名">
            <a:extLst>
              <a:ext uri="{FF2B5EF4-FFF2-40B4-BE49-F238E27FC236}">
                <a16:creationId xmlns:a16="http://schemas.microsoft.com/office/drawing/2014/main" id="{28FA9337-92BD-434B-8916-B5B0776BF1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2100" y="3505200"/>
            <a:ext cx="60198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0486"/>
                                        </p:tgtEl>
                                        <p:attrNameLst>
                                          <p:attrName>style.visibility</p:attrName>
                                        </p:attrNameLst>
                                      </p:cBhvr>
                                      <p:to>
                                        <p:strVal val="visible"/>
                                      </p:to>
                                    </p:set>
                                    <p:anim calcmode="lin" valueType="num">
                                      <p:cBhvr additive="base">
                                        <p:cTn id="13" dur="500" fill="hold"/>
                                        <p:tgtEl>
                                          <p:spTgt spid="20486"/>
                                        </p:tgtEl>
                                        <p:attrNameLst>
                                          <p:attrName>ppt_x</p:attrName>
                                        </p:attrNameLst>
                                      </p:cBhvr>
                                      <p:tavLst>
                                        <p:tav tm="0">
                                          <p:val>
                                            <p:strVal val="#ppt_x"/>
                                          </p:val>
                                        </p:tav>
                                        <p:tav tm="100000">
                                          <p:val>
                                            <p:strVal val="#ppt_x"/>
                                          </p:val>
                                        </p:tav>
                                      </p:tavLst>
                                    </p:anim>
                                    <p:anim calcmode="lin" valueType="num">
                                      <p:cBhvr additive="base">
                                        <p:cTn id="14" dur="500" fill="hold"/>
                                        <p:tgtEl>
                                          <p:spTgt spid="204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pic>
        <p:nvPicPr>
          <p:cNvPr id="69645" name="Picture 13" descr="t620">
            <a:extLst>
              <a:ext uri="{FF2B5EF4-FFF2-40B4-BE49-F238E27FC236}">
                <a16:creationId xmlns:a16="http://schemas.microsoft.com/office/drawing/2014/main" id="{3CDA4C8B-47AC-4846-84B7-87188A2FC6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3657600"/>
            <a:ext cx="60198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Rectangle 2">
            <a:extLst>
              <a:ext uri="{FF2B5EF4-FFF2-40B4-BE49-F238E27FC236}">
                <a16:creationId xmlns:a16="http://schemas.microsoft.com/office/drawing/2014/main" id="{9DEED964-E8EE-4338-A445-06B2C8C19DE0}"/>
              </a:ext>
            </a:extLst>
          </p:cNvPr>
          <p:cNvSpPr>
            <a:spLocks noGrp="1" noChangeArrowheads="1"/>
          </p:cNvSpPr>
          <p:nvPr>
            <p:ph type="title"/>
          </p:nvPr>
        </p:nvSpPr>
        <p:spPr bwMode="auto">
          <a:xfrm>
            <a:off x="762000" y="762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zh-CN" altLang="en-US" sz="3600" b="1">
                <a:latin typeface="Arial" panose="020B0604020202020204" pitchFamily="34" charset="0"/>
              </a:rPr>
              <a:t>算法分析</a:t>
            </a:r>
          </a:p>
        </p:txBody>
      </p:sp>
      <p:sp>
        <p:nvSpPr>
          <p:cNvPr id="69635" name="Rectangle 3">
            <a:extLst>
              <a:ext uri="{FF2B5EF4-FFF2-40B4-BE49-F238E27FC236}">
                <a16:creationId xmlns:a16="http://schemas.microsoft.com/office/drawing/2014/main" id="{7483EB7A-8ED7-46E2-84AB-20407B77509B}"/>
              </a:ext>
            </a:extLst>
          </p:cNvPr>
          <p:cNvSpPr>
            <a:spLocks noGrp="1" noChangeArrowheads="1"/>
          </p:cNvSpPr>
          <p:nvPr>
            <p:ph type="body" idx="1"/>
          </p:nvPr>
        </p:nvSpPr>
        <p:spPr bwMode="auto">
          <a:xfrm>
            <a:off x="304800" y="7620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800" b="1"/>
              <a:t>用极小堆</a:t>
            </a:r>
            <a:r>
              <a:rPr lang="en-US" altLang="zh-CN" sz="2800" b="1"/>
              <a:t>Q</a:t>
            </a:r>
            <a:r>
              <a:rPr lang="zh-CN" altLang="en-US" sz="2800" b="1"/>
              <a:t>存放结点</a:t>
            </a:r>
          </a:p>
        </p:txBody>
      </p:sp>
      <p:sp>
        <p:nvSpPr>
          <p:cNvPr id="69636" name="Text Box 4">
            <a:extLst>
              <a:ext uri="{FF2B5EF4-FFF2-40B4-BE49-F238E27FC236}">
                <a16:creationId xmlns:a16="http://schemas.microsoft.com/office/drawing/2014/main" id="{C1AD64E5-31A1-40AE-8585-1336F69CB81A}"/>
              </a:ext>
            </a:extLst>
          </p:cNvPr>
          <p:cNvSpPr txBox="1">
            <a:spLocks noChangeArrowheads="1"/>
          </p:cNvSpPr>
          <p:nvPr/>
        </p:nvSpPr>
        <p:spPr bwMode="auto">
          <a:xfrm>
            <a:off x="304800" y="1295400"/>
            <a:ext cx="37338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zh-CN" altLang="en-US" sz="2800" b="1">
                <a:ea typeface="华文中宋" panose="02010600040101010101" pitchFamily="2" charset="-122"/>
              </a:rPr>
              <a:t>用优先队列式分支限界法</a:t>
            </a:r>
          </a:p>
          <a:p>
            <a:pPr eaLnBrk="1" hangingPunct="1">
              <a:spcBef>
                <a:spcPct val="20000"/>
              </a:spcBef>
              <a:buFontTx/>
              <a:buChar char="•"/>
            </a:pPr>
            <a:r>
              <a:rPr lang="zh-CN" altLang="en-US" sz="2800" b="1">
                <a:ea typeface="华文中宋" panose="02010600040101010101" pitchFamily="2" charset="-122"/>
              </a:rPr>
              <a:t>每一个结点旁边的数字表示该结点所对应的当前路长。见图</a:t>
            </a:r>
          </a:p>
        </p:txBody>
      </p:sp>
      <p:sp>
        <p:nvSpPr>
          <p:cNvPr id="69648" name="Oval 16">
            <a:extLst>
              <a:ext uri="{FF2B5EF4-FFF2-40B4-BE49-F238E27FC236}">
                <a16:creationId xmlns:a16="http://schemas.microsoft.com/office/drawing/2014/main" id="{DB43D47B-2CAE-4C9C-8E04-F05D34C8E3E4}"/>
              </a:ext>
            </a:extLst>
          </p:cNvPr>
          <p:cNvSpPr>
            <a:spLocks noChangeArrowheads="1"/>
          </p:cNvSpPr>
          <p:nvPr/>
        </p:nvSpPr>
        <p:spPr bwMode="auto">
          <a:xfrm>
            <a:off x="4191000" y="5715000"/>
            <a:ext cx="228600" cy="228600"/>
          </a:xfrm>
          <a:prstGeom prst="ellipse">
            <a:avLst/>
          </a:prstGeom>
          <a:solidFill>
            <a:schemeClr val="accent1"/>
          </a:solidFill>
          <a:ln w="952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中宋" panose="02010600040101010101" pitchFamily="2" charset="-122"/>
            </a:endParaRPr>
          </a:p>
        </p:txBody>
      </p:sp>
      <p:sp>
        <p:nvSpPr>
          <p:cNvPr id="69649" name="Oval 17">
            <a:extLst>
              <a:ext uri="{FF2B5EF4-FFF2-40B4-BE49-F238E27FC236}">
                <a16:creationId xmlns:a16="http://schemas.microsoft.com/office/drawing/2014/main" id="{85A96DF2-3405-4B16-AA8A-BEE23FD5F471}"/>
              </a:ext>
            </a:extLst>
          </p:cNvPr>
          <p:cNvSpPr>
            <a:spLocks noChangeArrowheads="1"/>
          </p:cNvSpPr>
          <p:nvPr/>
        </p:nvSpPr>
        <p:spPr bwMode="auto">
          <a:xfrm>
            <a:off x="8120063" y="5257800"/>
            <a:ext cx="228600" cy="228600"/>
          </a:xfrm>
          <a:prstGeom prst="ellipse">
            <a:avLst/>
          </a:prstGeom>
          <a:solidFill>
            <a:schemeClr val="accent1"/>
          </a:solidFill>
          <a:ln w="952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中宋" panose="02010600040101010101" pitchFamily="2" charset="-122"/>
            </a:endParaRPr>
          </a:p>
        </p:txBody>
      </p:sp>
      <p:grpSp>
        <p:nvGrpSpPr>
          <p:cNvPr id="28680" name="Group 36">
            <a:extLst>
              <a:ext uri="{FF2B5EF4-FFF2-40B4-BE49-F238E27FC236}">
                <a16:creationId xmlns:a16="http://schemas.microsoft.com/office/drawing/2014/main" id="{BA8254E1-147E-4722-BA70-F3B2BB8BF987}"/>
              </a:ext>
            </a:extLst>
          </p:cNvPr>
          <p:cNvGrpSpPr>
            <a:grpSpLocks/>
          </p:cNvGrpSpPr>
          <p:nvPr/>
        </p:nvGrpSpPr>
        <p:grpSpPr bwMode="auto">
          <a:xfrm>
            <a:off x="4114800" y="990600"/>
            <a:ext cx="5029200" cy="2209800"/>
            <a:chOff x="2592" y="624"/>
            <a:chExt cx="3168" cy="1392"/>
          </a:xfrm>
        </p:grpSpPr>
        <p:pic>
          <p:nvPicPr>
            <p:cNvPr id="28705" name="Picture 14" descr="未命名">
              <a:extLst>
                <a:ext uri="{FF2B5EF4-FFF2-40B4-BE49-F238E27FC236}">
                  <a16:creationId xmlns:a16="http://schemas.microsoft.com/office/drawing/2014/main" id="{C770B168-1EF7-4A29-B1A6-68F627564A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2" y="624"/>
              <a:ext cx="3168" cy="1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06" name="Oval 15">
              <a:extLst>
                <a:ext uri="{FF2B5EF4-FFF2-40B4-BE49-F238E27FC236}">
                  <a16:creationId xmlns:a16="http://schemas.microsoft.com/office/drawing/2014/main" id="{5D3880CA-899A-4DB9-9799-C26C3701AD03}"/>
                </a:ext>
              </a:extLst>
            </p:cNvPr>
            <p:cNvSpPr>
              <a:spLocks noChangeArrowheads="1"/>
            </p:cNvSpPr>
            <p:nvPr/>
          </p:nvSpPr>
          <p:spPr bwMode="auto">
            <a:xfrm>
              <a:off x="4005" y="1716"/>
              <a:ext cx="153" cy="153"/>
            </a:xfrm>
            <a:prstGeom prst="ellipse">
              <a:avLst/>
            </a:prstGeom>
            <a:solidFill>
              <a:schemeClr val="accent1"/>
            </a:solidFill>
            <a:ln w="952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中宋" panose="02010600040101010101" pitchFamily="2" charset="-122"/>
              </a:endParaRPr>
            </a:p>
          </p:txBody>
        </p:sp>
        <p:sp>
          <p:nvSpPr>
            <p:cNvPr id="28707" name="Text Box 18">
              <a:extLst>
                <a:ext uri="{FF2B5EF4-FFF2-40B4-BE49-F238E27FC236}">
                  <a16:creationId xmlns:a16="http://schemas.microsoft.com/office/drawing/2014/main" id="{6DA191A0-A819-417A-B3D6-F7462DD378ED}"/>
                </a:ext>
              </a:extLst>
            </p:cNvPr>
            <p:cNvSpPr txBox="1">
              <a:spLocks noChangeArrowheads="1"/>
            </p:cNvSpPr>
            <p:nvPr/>
          </p:nvSpPr>
          <p:spPr bwMode="auto">
            <a:xfrm>
              <a:off x="3024" y="931"/>
              <a:ext cx="1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b="1">
                  <a:ea typeface="华文中宋" panose="02010600040101010101" pitchFamily="2" charset="-122"/>
                </a:rPr>
                <a:t>2</a:t>
              </a:r>
            </a:p>
          </p:txBody>
        </p:sp>
        <p:sp>
          <p:nvSpPr>
            <p:cNvPr id="28708" name="Text Box 19">
              <a:extLst>
                <a:ext uri="{FF2B5EF4-FFF2-40B4-BE49-F238E27FC236}">
                  <a16:creationId xmlns:a16="http://schemas.microsoft.com/office/drawing/2014/main" id="{30C5B89E-2EF8-4E43-ADC1-8F02E98F798A}"/>
                </a:ext>
              </a:extLst>
            </p:cNvPr>
            <p:cNvSpPr txBox="1">
              <a:spLocks noChangeArrowheads="1"/>
            </p:cNvSpPr>
            <p:nvPr/>
          </p:nvSpPr>
          <p:spPr bwMode="auto">
            <a:xfrm>
              <a:off x="2976" y="1267"/>
              <a:ext cx="1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b="1">
                  <a:ea typeface="华文中宋" panose="02010600040101010101" pitchFamily="2" charset="-122"/>
                </a:rPr>
                <a:t>3</a:t>
              </a:r>
            </a:p>
          </p:txBody>
        </p:sp>
        <p:sp>
          <p:nvSpPr>
            <p:cNvPr id="28709" name="Text Box 20">
              <a:extLst>
                <a:ext uri="{FF2B5EF4-FFF2-40B4-BE49-F238E27FC236}">
                  <a16:creationId xmlns:a16="http://schemas.microsoft.com/office/drawing/2014/main" id="{BCC69007-EB12-4502-9980-B8E827279496}"/>
                </a:ext>
              </a:extLst>
            </p:cNvPr>
            <p:cNvSpPr txBox="1">
              <a:spLocks noChangeArrowheads="1"/>
            </p:cNvSpPr>
            <p:nvPr/>
          </p:nvSpPr>
          <p:spPr bwMode="auto">
            <a:xfrm>
              <a:off x="2976" y="1440"/>
              <a:ext cx="1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b="1">
                  <a:ea typeface="华文中宋" panose="02010600040101010101" pitchFamily="2" charset="-122"/>
                </a:rPr>
                <a:t>4</a:t>
              </a:r>
            </a:p>
          </p:txBody>
        </p:sp>
        <p:sp>
          <p:nvSpPr>
            <p:cNvPr id="28710" name="Text Box 21">
              <a:extLst>
                <a:ext uri="{FF2B5EF4-FFF2-40B4-BE49-F238E27FC236}">
                  <a16:creationId xmlns:a16="http://schemas.microsoft.com/office/drawing/2014/main" id="{FD4FEC75-3994-4828-AF47-F86788A41F79}"/>
                </a:ext>
              </a:extLst>
            </p:cNvPr>
            <p:cNvSpPr txBox="1">
              <a:spLocks noChangeArrowheads="1"/>
            </p:cNvSpPr>
            <p:nvPr/>
          </p:nvSpPr>
          <p:spPr bwMode="auto">
            <a:xfrm>
              <a:off x="3360" y="960"/>
              <a:ext cx="1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b="1">
                  <a:ea typeface="华文中宋" panose="02010600040101010101" pitchFamily="2" charset="-122"/>
                </a:rPr>
                <a:t>3</a:t>
              </a:r>
            </a:p>
          </p:txBody>
        </p:sp>
        <p:sp>
          <p:nvSpPr>
            <p:cNvPr id="28711" name="Text Box 22">
              <a:extLst>
                <a:ext uri="{FF2B5EF4-FFF2-40B4-BE49-F238E27FC236}">
                  <a16:creationId xmlns:a16="http://schemas.microsoft.com/office/drawing/2014/main" id="{A5D2E1A2-430A-4E3A-A562-126FE3415891}"/>
                </a:ext>
              </a:extLst>
            </p:cNvPr>
            <p:cNvSpPr txBox="1">
              <a:spLocks noChangeArrowheads="1"/>
            </p:cNvSpPr>
            <p:nvPr/>
          </p:nvSpPr>
          <p:spPr bwMode="auto">
            <a:xfrm>
              <a:off x="3648" y="768"/>
              <a:ext cx="1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b="1">
                  <a:ea typeface="华文中宋" panose="02010600040101010101" pitchFamily="2" charset="-122"/>
                </a:rPr>
                <a:t>7</a:t>
              </a:r>
            </a:p>
          </p:txBody>
        </p:sp>
        <p:sp>
          <p:nvSpPr>
            <p:cNvPr id="28712" name="Text Box 23">
              <a:extLst>
                <a:ext uri="{FF2B5EF4-FFF2-40B4-BE49-F238E27FC236}">
                  <a16:creationId xmlns:a16="http://schemas.microsoft.com/office/drawing/2014/main" id="{28DA41D2-5605-4CFB-8584-E8D72E188372}"/>
                </a:ext>
              </a:extLst>
            </p:cNvPr>
            <p:cNvSpPr txBox="1">
              <a:spLocks noChangeArrowheads="1"/>
            </p:cNvSpPr>
            <p:nvPr/>
          </p:nvSpPr>
          <p:spPr bwMode="auto">
            <a:xfrm>
              <a:off x="3744" y="912"/>
              <a:ext cx="1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b="1">
                  <a:ea typeface="华文中宋" panose="02010600040101010101" pitchFamily="2" charset="-122"/>
                </a:rPr>
                <a:t>2</a:t>
              </a:r>
            </a:p>
          </p:txBody>
        </p:sp>
        <p:sp>
          <p:nvSpPr>
            <p:cNvPr id="28713" name="Text Box 24">
              <a:extLst>
                <a:ext uri="{FF2B5EF4-FFF2-40B4-BE49-F238E27FC236}">
                  <a16:creationId xmlns:a16="http://schemas.microsoft.com/office/drawing/2014/main" id="{0E107FD7-562A-49EB-A93F-113D384672F9}"/>
                </a:ext>
              </a:extLst>
            </p:cNvPr>
            <p:cNvSpPr txBox="1">
              <a:spLocks noChangeArrowheads="1"/>
            </p:cNvSpPr>
            <p:nvPr/>
          </p:nvSpPr>
          <p:spPr bwMode="auto">
            <a:xfrm>
              <a:off x="3648" y="1267"/>
              <a:ext cx="1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b="1">
                  <a:ea typeface="华文中宋" panose="02010600040101010101" pitchFamily="2" charset="-122"/>
                </a:rPr>
                <a:t>9</a:t>
              </a:r>
            </a:p>
          </p:txBody>
        </p:sp>
        <p:sp>
          <p:nvSpPr>
            <p:cNvPr id="28714" name="Text Box 25">
              <a:extLst>
                <a:ext uri="{FF2B5EF4-FFF2-40B4-BE49-F238E27FC236}">
                  <a16:creationId xmlns:a16="http://schemas.microsoft.com/office/drawing/2014/main" id="{5A7D3440-A239-43A8-A1C9-2D1F2DF73B6A}"/>
                </a:ext>
              </a:extLst>
            </p:cNvPr>
            <p:cNvSpPr txBox="1">
              <a:spLocks noChangeArrowheads="1"/>
            </p:cNvSpPr>
            <p:nvPr/>
          </p:nvSpPr>
          <p:spPr bwMode="auto">
            <a:xfrm>
              <a:off x="3648" y="1392"/>
              <a:ext cx="1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b="1">
                  <a:ea typeface="华文中宋" panose="02010600040101010101" pitchFamily="2" charset="-122"/>
                </a:rPr>
                <a:t>2</a:t>
              </a:r>
            </a:p>
          </p:txBody>
        </p:sp>
        <p:sp>
          <p:nvSpPr>
            <p:cNvPr id="28715" name="Text Box 26">
              <a:extLst>
                <a:ext uri="{FF2B5EF4-FFF2-40B4-BE49-F238E27FC236}">
                  <a16:creationId xmlns:a16="http://schemas.microsoft.com/office/drawing/2014/main" id="{517E4DE5-A1CE-47EA-9B44-2DB18CEA6DFE}"/>
                </a:ext>
              </a:extLst>
            </p:cNvPr>
            <p:cNvSpPr txBox="1">
              <a:spLocks noChangeArrowheads="1"/>
            </p:cNvSpPr>
            <p:nvPr/>
          </p:nvSpPr>
          <p:spPr bwMode="auto">
            <a:xfrm>
              <a:off x="3648" y="1632"/>
              <a:ext cx="1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b="1">
                  <a:ea typeface="华文中宋" panose="02010600040101010101" pitchFamily="2" charset="-122"/>
                </a:rPr>
                <a:t>2</a:t>
              </a:r>
            </a:p>
          </p:txBody>
        </p:sp>
        <p:sp>
          <p:nvSpPr>
            <p:cNvPr id="28716" name="Text Box 27">
              <a:extLst>
                <a:ext uri="{FF2B5EF4-FFF2-40B4-BE49-F238E27FC236}">
                  <a16:creationId xmlns:a16="http://schemas.microsoft.com/office/drawing/2014/main" id="{FBC69E15-ED73-4FA6-AB4D-57E38297955F}"/>
                </a:ext>
              </a:extLst>
            </p:cNvPr>
            <p:cNvSpPr txBox="1">
              <a:spLocks noChangeArrowheads="1"/>
            </p:cNvSpPr>
            <p:nvPr/>
          </p:nvSpPr>
          <p:spPr bwMode="auto">
            <a:xfrm>
              <a:off x="4080" y="1411"/>
              <a:ext cx="1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b="1">
                  <a:ea typeface="华文中宋" panose="02010600040101010101" pitchFamily="2" charset="-122"/>
                </a:rPr>
                <a:t>1</a:t>
              </a:r>
            </a:p>
          </p:txBody>
        </p:sp>
        <p:sp>
          <p:nvSpPr>
            <p:cNvPr id="28717" name="Text Box 28">
              <a:extLst>
                <a:ext uri="{FF2B5EF4-FFF2-40B4-BE49-F238E27FC236}">
                  <a16:creationId xmlns:a16="http://schemas.microsoft.com/office/drawing/2014/main" id="{ADD2FB1B-438C-4FCD-ABB7-A8A6F9A12B55}"/>
                </a:ext>
              </a:extLst>
            </p:cNvPr>
            <p:cNvSpPr txBox="1">
              <a:spLocks noChangeArrowheads="1"/>
            </p:cNvSpPr>
            <p:nvPr/>
          </p:nvSpPr>
          <p:spPr bwMode="auto">
            <a:xfrm>
              <a:off x="4464" y="1632"/>
              <a:ext cx="1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b="1">
                  <a:ea typeface="华文中宋" panose="02010600040101010101" pitchFamily="2" charset="-122"/>
                </a:rPr>
                <a:t>1</a:t>
              </a:r>
            </a:p>
          </p:txBody>
        </p:sp>
        <p:sp>
          <p:nvSpPr>
            <p:cNvPr id="28718" name="Text Box 29">
              <a:extLst>
                <a:ext uri="{FF2B5EF4-FFF2-40B4-BE49-F238E27FC236}">
                  <a16:creationId xmlns:a16="http://schemas.microsoft.com/office/drawing/2014/main" id="{A5BDDA03-3CE3-4652-98F0-01349BE3238F}"/>
                </a:ext>
              </a:extLst>
            </p:cNvPr>
            <p:cNvSpPr txBox="1">
              <a:spLocks noChangeArrowheads="1"/>
            </p:cNvSpPr>
            <p:nvPr/>
          </p:nvSpPr>
          <p:spPr bwMode="auto">
            <a:xfrm>
              <a:off x="5232" y="1555"/>
              <a:ext cx="1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b="1">
                  <a:ea typeface="华文中宋" panose="02010600040101010101" pitchFamily="2" charset="-122"/>
                </a:rPr>
                <a:t>2</a:t>
              </a:r>
            </a:p>
          </p:txBody>
        </p:sp>
        <p:sp>
          <p:nvSpPr>
            <p:cNvPr id="28719" name="Text Box 30">
              <a:extLst>
                <a:ext uri="{FF2B5EF4-FFF2-40B4-BE49-F238E27FC236}">
                  <a16:creationId xmlns:a16="http://schemas.microsoft.com/office/drawing/2014/main" id="{F2140E19-8D6C-44EF-B67F-43FD34D4319E}"/>
                </a:ext>
              </a:extLst>
            </p:cNvPr>
            <p:cNvSpPr txBox="1">
              <a:spLocks noChangeArrowheads="1"/>
            </p:cNvSpPr>
            <p:nvPr/>
          </p:nvSpPr>
          <p:spPr bwMode="auto">
            <a:xfrm>
              <a:off x="4752" y="1507"/>
              <a:ext cx="1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b="1">
                  <a:ea typeface="华文中宋" panose="02010600040101010101" pitchFamily="2" charset="-122"/>
                </a:rPr>
                <a:t>2</a:t>
              </a:r>
            </a:p>
          </p:txBody>
        </p:sp>
        <p:sp>
          <p:nvSpPr>
            <p:cNvPr id="28720" name="Text Box 31">
              <a:extLst>
                <a:ext uri="{FF2B5EF4-FFF2-40B4-BE49-F238E27FC236}">
                  <a16:creationId xmlns:a16="http://schemas.microsoft.com/office/drawing/2014/main" id="{5182AC6E-82C6-4AFC-9247-4044C1766B91}"/>
                </a:ext>
              </a:extLst>
            </p:cNvPr>
            <p:cNvSpPr txBox="1">
              <a:spLocks noChangeArrowheads="1"/>
            </p:cNvSpPr>
            <p:nvPr/>
          </p:nvSpPr>
          <p:spPr bwMode="auto">
            <a:xfrm>
              <a:off x="4368" y="1267"/>
              <a:ext cx="1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b="1">
                  <a:ea typeface="华文中宋" panose="02010600040101010101" pitchFamily="2" charset="-122"/>
                </a:rPr>
                <a:t>3</a:t>
              </a:r>
            </a:p>
          </p:txBody>
        </p:sp>
        <p:sp>
          <p:nvSpPr>
            <p:cNvPr id="28721" name="Text Box 32">
              <a:extLst>
                <a:ext uri="{FF2B5EF4-FFF2-40B4-BE49-F238E27FC236}">
                  <a16:creationId xmlns:a16="http://schemas.microsoft.com/office/drawing/2014/main" id="{D4FF2640-F948-45F3-B08B-B78400D65E56}"/>
                </a:ext>
              </a:extLst>
            </p:cNvPr>
            <p:cNvSpPr txBox="1">
              <a:spLocks noChangeArrowheads="1"/>
            </p:cNvSpPr>
            <p:nvPr/>
          </p:nvSpPr>
          <p:spPr bwMode="auto">
            <a:xfrm>
              <a:off x="4560" y="931"/>
              <a:ext cx="1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b="1">
                  <a:ea typeface="华文中宋" panose="02010600040101010101" pitchFamily="2" charset="-122"/>
                </a:rPr>
                <a:t>2</a:t>
              </a:r>
            </a:p>
          </p:txBody>
        </p:sp>
        <p:sp>
          <p:nvSpPr>
            <p:cNvPr id="28722" name="Text Box 33">
              <a:extLst>
                <a:ext uri="{FF2B5EF4-FFF2-40B4-BE49-F238E27FC236}">
                  <a16:creationId xmlns:a16="http://schemas.microsoft.com/office/drawing/2014/main" id="{2CC6F883-8074-4E99-9A1F-D0812EC8C82F}"/>
                </a:ext>
              </a:extLst>
            </p:cNvPr>
            <p:cNvSpPr txBox="1">
              <a:spLocks noChangeArrowheads="1"/>
            </p:cNvSpPr>
            <p:nvPr/>
          </p:nvSpPr>
          <p:spPr bwMode="auto">
            <a:xfrm>
              <a:off x="4416" y="768"/>
              <a:ext cx="1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b="1">
                  <a:ea typeface="华文中宋" panose="02010600040101010101" pitchFamily="2" charset="-122"/>
                </a:rPr>
                <a:t>1</a:t>
              </a:r>
            </a:p>
          </p:txBody>
        </p:sp>
        <p:sp>
          <p:nvSpPr>
            <p:cNvPr id="28723" name="Text Box 34">
              <a:extLst>
                <a:ext uri="{FF2B5EF4-FFF2-40B4-BE49-F238E27FC236}">
                  <a16:creationId xmlns:a16="http://schemas.microsoft.com/office/drawing/2014/main" id="{5A78FC66-0859-4B3E-AD0D-D066E2EF4AC6}"/>
                </a:ext>
              </a:extLst>
            </p:cNvPr>
            <p:cNvSpPr txBox="1">
              <a:spLocks noChangeArrowheads="1"/>
            </p:cNvSpPr>
            <p:nvPr/>
          </p:nvSpPr>
          <p:spPr bwMode="auto">
            <a:xfrm>
              <a:off x="5280" y="864"/>
              <a:ext cx="1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b="1">
                  <a:ea typeface="华文中宋" panose="02010600040101010101" pitchFamily="2" charset="-122"/>
                </a:rPr>
                <a:t>2</a:t>
              </a:r>
            </a:p>
          </p:txBody>
        </p:sp>
        <p:sp>
          <p:nvSpPr>
            <p:cNvPr id="28724" name="Text Box 35">
              <a:extLst>
                <a:ext uri="{FF2B5EF4-FFF2-40B4-BE49-F238E27FC236}">
                  <a16:creationId xmlns:a16="http://schemas.microsoft.com/office/drawing/2014/main" id="{17605FE4-183A-44A0-ACBC-3B9E9896C14D}"/>
                </a:ext>
              </a:extLst>
            </p:cNvPr>
            <p:cNvSpPr txBox="1">
              <a:spLocks noChangeArrowheads="1"/>
            </p:cNvSpPr>
            <p:nvPr/>
          </p:nvSpPr>
          <p:spPr bwMode="auto">
            <a:xfrm>
              <a:off x="5136" y="1267"/>
              <a:ext cx="1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b="1">
                  <a:ea typeface="华文中宋" panose="02010600040101010101" pitchFamily="2" charset="-122"/>
                </a:rPr>
                <a:t>2</a:t>
              </a:r>
            </a:p>
          </p:txBody>
        </p:sp>
      </p:grpSp>
      <p:sp>
        <p:nvSpPr>
          <p:cNvPr id="28681" name="Text Box 37">
            <a:extLst>
              <a:ext uri="{FF2B5EF4-FFF2-40B4-BE49-F238E27FC236}">
                <a16:creationId xmlns:a16="http://schemas.microsoft.com/office/drawing/2014/main" id="{D2B099D9-C68D-4A95-9471-FA20CAC78A36}"/>
              </a:ext>
            </a:extLst>
          </p:cNvPr>
          <p:cNvSpPr txBox="1">
            <a:spLocks noChangeArrowheads="1"/>
          </p:cNvSpPr>
          <p:nvPr/>
        </p:nvSpPr>
        <p:spPr bwMode="auto">
          <a:xfrm>
            <a:off x="5181600" y="762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0000"/>
                </a:solidFill>
                <a:ea typeface="华文中宋" panose="02010600040101010101" pitchFamily="2" charset="-122"/>
              </a:rPr>
              <a:t>A</a:t>
            </a:r>
          </a:p>
        </p:txBody>
      </p:sp>
      <p:sp>
        <p:nvSpPr>
          <p:cNvPr id="28682" name="Text Box 38">
            <a:extLst>
              <a:ext uri="{FF2B5EF4-FFF2-40B4-BE49-F238E27FC236}">
                <a16:creationId xmlns:a16="http://schemas.microsoft.com/office/drawing/2014/main" id="{461C4CC2-E1B8-4E0F-84CD-8FA1580A04DC}"/>
              </a:ext>
            </a:extLst>
          </p:cNvPr>
          <p:cNvSpPr txBox="1">
            <a:spLocks noChangeArrowheads="1"/>
          </p:cNvSpPr>
          <p:nvPr/>
        </p:nvSpPr>
        <p:spPr bwMode="auto">
          <a:xfrm>
            <a:off x="5181600" y="2133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0000"/>
                </a:solidFill>
                <a:ea typeface="华文中宋" panose="02010600040101010101" pitchFamily="2" charset="-122"/>
              </a:rPr>
              <a:t>B</a:t>
            </a:r>
          </a:p>
        </p:txBody>
      </p:sp>
      <p:sp>
        <p:nvSpPr>
          <p:cNvPr id="28683" name="Text Box 39">
            <a:extLst>
              <a:ext uri="{FF2B5EF4-FFF2-40B4-BE49-F238E27FC236}">
                <a16:creationId xmlns:a16="http://schemas.microsoft.com/office/drawing/2014/main" id="{2C567033-1FF5-4FA6-BE3A-2214A1C26378}"/>
              </a:ext>
            </a:extLst>
          </p:cNvPr>
          <p:cNvSpPr txBox="1">
            <a:spLocks noChangeArrowheads="1"/>
          </p:cNvSpPr>
          <p:nvPr/>
        </p:nvSpPr>
        <p:spPr bwMode="auto">
          <a:xfrm>
            <a:off x="5029200" y="2895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0000"/>
                </a:solidFill>
                <a:ea typeface="华文中宋" panose="02010600040101010101" pitchFamily="2" charset="-122"/>
              </a:rPr>
              <a:t>C</a:t>
            </a:r>
          </a:p>
        </p:txBody>
      </p:sp>
      <p:sp>
        <p:nvSpPr>
          <p:cNvPr id="28684" name="Text Box 40">
            <a:extLst>
              <a:ext uri="{FF2B5EF4-FFF2-40B4-BE49-F238E27FC236}">
                <a16:creationId xmlns:a16="http://schemas.microsoft.com/office/drawing/2014/main" id="{21C970DB-27A1-442B-AA34-B0FFC5388BD2}"/>
              </a:ext>
            </a:extLst>
          </p:cNvPr>
          <p:cNvSpPr txBox="1">
            <a:spLocks noChangeArrowheads="1"/>
          </p:cNvSpPr>
          <p:nvPr/>
        </p:nvSpPr>
        <p:spPr bwMode="auto">
          <a:xfrm>
            <a:off x="6400800" y="762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0000"/>
                </a:solidFill>
                <a:ea typeface="华文中宋" panose="02010600040101010101" pitchFamily="2" charset="-122"/>
              </a:rPr>
              <a:t>D</a:t>
            </a:r>
          </a:p>
        </p:txBody>
      </p:sp>
      <p:sp>
        <p:nvSpPr>
          <p:cNvPr id="28685" name="Text Box 41">
            <a:extLst>
              <a:ext uri="{FF2B5EF4-FFF2-40B4-BE49-F238E27FC236}">
                <a16:creationId xmlns:a16="http://schemas.microsoft.com/office/drawing/2014/main" id="{2C30157E-64F9-4D0C-92A7-75CCB7EF104B}"/>
              </a:ext>
            </a:extLst>
          </p:cNvPr>
          <p:cNvSpPr txBox="1">
            <a:spLocks noChangeArrowheads="1"/>
          </p:cNvSpPr>
          <p:nvPr/>
        </p:nvSpPr>
        <p:spPr bwMode="auto">
          <a:xfrm>
            <a:off x="6477000" y="1524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0000"/>
                </a:solidFill>
                <a:ea typeface="华文中宋" panose="02010600040101010101" pitchFamily="2" charset="-122"/>
              </a:rPr>
              <a:t>E</a:t>
            </a:r>
          </a:p>
        </p:txBody>
      </p:sp>
      <p:sp>
        <p:nvSpPr>
          <p:cNvPr id="28686" name="Text Box 42">
            <a:extLst>
              <a:ext uri="{FF2B5EF4-FFF2-40B4-BE49-F238E27FC236}">
                <a16:creationId xmlns:a16="http://schemas.microsoft.com/office/drawing/2014/main" id="{89EA43AC-EBD2-4F90-A5D2-0E15DCC7DDDF}"/>
              </a:ext>
            </a:extLst>
          </p:cNvPr>
          <p:cNvSpPr txBox="1">
            <a:spLocks noChangeArrowheads="1"/>
          </p:cNvSpPr>
          <p:nvPr/>
        </p:nvSpPr>
        <p:spPr bwMode="auto">
          <a:xfrm>
            <a:off x="6400800" y="2971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0000"/>
                </a:solidFill>
                <a:ea typeface="华文中宋" panose="02010600040101010101" pitchFamily="2" charset="-122"/>
              </a:rPr>
              <a:t>F</a:t>
            </a:r>
          </a:p>
        </p:txBody>
      </p:sp>
      <p:sp>
        <p:nvSpPr>
          <p:cNvPr id="28687" name="Text Box 43">
            <a:extLst>
              <a:ext uri="{FF2B5EF4-FFF2-40B4-BE49-F238E27FC236}">
                <a16:creationId xmlns:a16="http://schemas.microsoft.com/office/drawing/2014/main" id="{7E89DC8A-5F3C-4557-B529-03E56BEB796B}"/>
              </a:ext>
            </a:extLst>
          </p:cNvPr>
          <p:cNvSpPr txBox="1">
            <a:spLocks noChangeArrowheads="1"/>
          </p:cNvSpPr>
          <p:nvPr/>
        </p:nvSpPr>
        <p:spPr bwMode="auto">
          <a:xfrm>
            <a:off x="7696200" y="762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0000"/>
                </a:solidFill>
                <a:ea typeface="华文中宋" panose="02010600040101010101" pitchFamily="2" charset="-122"/>
              </a:rPr>
              <a:t>G</a:t>
            </a:r>
          </a:p>
        </p:txBody>
      </p:sp>
      <p:sp>
        <p:nvSpPr>
          <p:cNvPr id="28688" name="Text Box 44">
            <a:extLst>
              <a:ext uri="{FF2B5EF4-FFF2-40B4-BE49-F238E27FC236}">
                <a16:creationId xmlns:a16="http://schemas.microsoft.com/office/drawing/2014/main" id="{030DBA18-4757-45FE-9309-37A68215306A}"/>
              </a:ext>
            </a:extLst>
          </p:cNvPr>
          <p:cNvSpPr txBox="1">
            <a:spLocks noChangeArrowheads="1"/>
          </p:cNvSpPr>
          <p:nvPr/>
        </p:nvSpPr>
        <p:spPr bwMode="auto">
          <a:xfrm>
            <a:off x="7772400" y="1524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0000"/>
                </a:solidFill>
                <a:ea typeface="华文中宋" panose="02010600040101010101" pitchFamily="2" charset="-122"/>
              </a:rPr>
              <a:t>H</a:t>
            </a:r>
          </a:p>
        </p:txBody>
      </p:sp>
      <p:sp>
        <p:nvSpPr>
          <p:cNvPr id="28689" name="Text Box 45">
            <a:extLst>
              <a:ext uri="{FF2B5EF4-FFF2-40B4-BE49-F238E27FC236}">
                <a16:creationId xmlns:a16="http://schemas.microsoft.com/office/drawing/2014/main" id="{152FDEFC-77DC-4718-91C5-91111CC121EE}"/>
              </a:ext>
            </a:extLst>
          </p:cNvPr>
          <p:cNvSpPr txBox="1">
            <a:spLocks noChangeArrowheads="1"/>
          </p:cNvSpPr>
          <p:nvPr/>
        </p:nvSpPr>
        <p:spPr bwMode="auto">
          <a:xfrm>
            <a:off x="7696200" y="2971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0000"/>
                </a:solidFill>
                <a:ea typeface="华文中宋" panose="02010600040101010101" pitchFamily="2" charset="-122"/>
              </a:rPr>
              <a:t>I</a:t>
            </a:r>
          </a:p>
        </p:txBody>
      </p:sp>
      <p:sp>
        <p:nvSpPr>
          <p:cNvPr id="28690" name="Text Box 46">
            <a:extLst>
              <a:ext uri="{FF2B5EF4-FFF2-40B4-BE49-F238E27FC236}">
                <a16:creationId xmlns:a16="http://schemas.microsoft.com/office/drawing/2014/main" id="{F31ED762-4F46-4B5C-A6F5-65837146760C}"/>
              </a:ext>
            </a:extLst>
          </p:cNvPr>
          <p:cNvSpPr txBox="1">
            <a:spLocks noChangeArrowheads="1"/>
          </p:cNvSpPr>
          <p:nvPr/>
        </p:nvSpPr>
        <p:spPr bwMode="auto">
          <a:xfrm>
            <a:off x="4648200" y="4419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0000"/>
                </a:solidFill>
                <a:ea typeface="华文中宋" panose="02010600040101010101" pitchFamily="2" charset="-122"/>
              </a:rPr>
              <a:t>A</a:t>
            </a:r>
          </a:p>
        </p:txBody>
      </p:sp>
      <p:sp>
        <p:nvSpPr>
          <p:cNvPr id="28691" name="Text Box 47">
            <a:extLst>
              <a:ext uri="{FF2B5EF4-FFF2-40B4-BE49-F238E27FC236}">
                <a16:creationId xmlns:a16="http://schemas.microsoft.com/office/drawing/2014/main" id="{60F6BB8D-0289-4955-A136-4BBE9870D3CC}"/>
              </a:ext>
            </a:extLst>
          </p:cNvPr>
          <p:cNvSpPr txBox="1">
            <a:spLocks noChangeArrowheads="1"/>
          </p:cNvSpPr>
          <p:nvPr/>
        </p:nvSpPr>
        <p:spPr bwMode="auto">
          <a:xfrm>
            <a:off x="6553200" y="4495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0000"/>
                </a:solidFill>
                <a:ea typeface="华文中宋" panose="02010600040101010101" pitchFamily="2" charset="-122"/>
              </a:rPr>
              <a:t>B</a:t>
            </a:r>
          </a:p>
        </p:txBody>
      </p:sp>
      <p:sp>
        <p:nvSpPr>
          <p:cNvPr id="28692" name="Text Box 48">
            <a:extLst>
              <a:ext uri="{FF2B5EF4-FFF2-40B4-BE49-F238E27FC236}">
                <a16:creationId xmlns:a16="http://schemas.microsoft.com/office/drawing/2014/main" id="{CBD74FE5-9D52-451B-AD63-4AE35F29EB0A}"/>
              </a:ext>
            </a:extLst>
          </p:cNvPr>
          <p:cNvSpPr txBox="1">
            <a:spLocks noChangeArrowheads="1"/>
          </p:cNvSpPr>
          <p:nvPr/>
        </p:nvSpPr>
        <p:spPr bwMode="auto">
          <a:xfrm>
            <a:off x="7848600" y="4724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0000"/>
                </a:solidFill>
                <a:ea typeface="华文中宋" panose="02010600040101010101" pitchFamily="2" charset="-122"/>
              </a:rPr>
              <a:t>C</a:t>
            </a:r>
          </a:p>
        </p:txBody>
      </p:sp>
      <p:sp>
        <p:nvSpPr>
          <p:cNvPr id="28693" name="Text Box 49">
            <a:extLst>
              <a:ext uri="{FF2B5EF4-FFF2-40B4-BE49-F238E27FC236}">
                <a16:creationId xmlns:a16="http://schemas.microsoft.com/office/drawing/2014/main" id="{8C26E2AC-853D-43F1-BD94-C04FFBD8933D}"/>
              </a:ext>
            </a:extLst>
          </p:cNvPr>
          <p:cNvSpPr txBox="1">
            <a:spLocks noChangeArrowheads="1"/>
          </p:cNvSpPr>
          <p:nvPr/>
        </p:nvSpPr>
        <p:spPr bwMode="auto">
          <a:xfrm>
            <a:off x="3200400" y="5181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0000CC"/>
                </a:solidFill>
                <a:ea typeface="华文中宋" panose="02010600040101010101" pitchFamily="2" charset="-122"/>
              </a:rPr>
              <a:t>B1</a:t>
            </a:r>
          </a:p>
        </p:txBody>
      </p:sp>
      <p:sp>
        <p:nvSpPr>
          <p:cNvPr id="28694" name="Text Box 50">
            <a:extLst>
              <a:ext uri="{FF2B5EF4-FFF2-40B4-BE49-F238E27FC236}">
                <a16:creationId xmlns:a16="http://schemas.microsoft.com/office/drawing/2014/main" id="{79394384-F45A-4EA4-9108-E72867DB006E}"/>
              </a:ext>
            </a:extLst>
          </p:cNvPr>
          <p:cNvSpPr txBox="1">
            <a:spLocks noChangeArrowheads="1"/>
          </p:cNvSpPr>
          <p:nvPr/>
        </p:nvSpPr>
        <p:spPr bwMode="auto">
          <a:xfrm>
            <a:off x="4267200" y="5181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0000"/>
                </a:solidFill>
                <a:ea typeface="华文中宋" panose="02010600040101010101" pitchFamily="2" charset="-122"/>
              </a:rPr>
              <a:t>E</a:t>
            </a:r>
          </a:p>
        </p:txBody>
      </p:sp>
      <p:sp>
        <p:nvSpPr>
          <p:cNvPr id="28695" name="Text Box 51">
            <a:extLst>
              <a:ext uri="{FF2B5EF4-FFF2-40B4-BE49-F238E27FC236}">
                <a16:creationId xmlns:a16="http://schemas.microsoft.com/office/drawing/2014/main" id="{EC0ECD10-BE16-4F76-B40E-2D18F1630969}"/>
              </a:ext>
            </a:extLst>
          </p:cNvPr>
          <p:cNvSpPr txBox="1">
            <a:spLocks noChangeArrowheads="1"/>
          </p:cNvSpPr>
          <p:nvPr/>
        </p:nvSpPr>
        <p:spPr bwMode="auto">
          <a:xfrm>
            <a:off x="5334000" y="4953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0000"/>
                </a:solidFill>
                <a:ea typeface="华文中宋" panose="02010600040101010101" pitchFamily="2" charset="-122"/>
              </a:rPr>
              <a:t>D</a:t>
            </a:r>
          </a:p>
        </p:txBody>
      </p:sp>
      <p:sp>
        <p:nvSpPr>
          <p:cNvPr id="28696" name="Text Box 52">
            <a:extLst>
              <a:ext uri="{FF2B5EF4-FFF2-40B4-BE49-F238E27FC236}">
                <a16:creationId xmlns:a16="http://schemas.microsoft.com/office/drawing/2014/main" id="{E0D45992-CEE3-4533-A72A-FBF0CE6CC41B}"/>
              </a:ext>
            </a:extLst>
          </p:cNvPr>
          <p:cNvSpPr txBox="1">
            <a:spLocks noChangeArrowheads="1"/>
          </p:cNvSpPr>
          <p:nvPr/>
        </p:nvSpPr>
        <p:spPr bwMode="auto">
          <a:xfrm>
            <a:off x="6248400" y="5181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0000"/>
                </a:solidFill>
                <a:ea typeface="华文中宋" panose="02010600040101010101" pitchFamily="2" charset="-122"/>
              </a:rPr>
              <a:t>F</a:t>
            </a:r>
          </a:p>
        </p:txBody>
      </p:sp>
      <p:sp>
        <p:nvSpPr>
          <p:cNvPr id="28697" name="Text Box 53">
            <a:extLst>
              <a:ext uri="{FF2B5EF4-FFF2-40B4-BE49-F238E27FC236}">
                <a16:creationId xmlns:a16="http://schemas.microsoft.com/office/drawing/2014/main" id="{325701E8-1149-488A-9E77-C48E5A879147}"/>
              </a:ext>
            </a:extLst>
          </p:cNvPr>
          <p:cNvSpPr txBox="1">
            <a:spLocks noChangeArrowheads="1"/>
          </p:cNvSpPr>
          <p:nvPr/>
        </p:nvSpPr>
        <p:spPr bwMode="auto">
          <a:xfrm>
            <a:off x="6781800" y="5334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0000CC"/>
                </a:solidFill>
                <a:ea typeface="华文中宋" panose="02010600040101010101" pitchFamily="2" charset="-122"/>
              </a:rPr>
              <a:t>E1</a:t>
            </a:r>
          </a:p>
        </p:txBody>
      </p:sp>
      <p:sp>
        <p:nvSpPr>
          <p:cNvPr id="28698" name="Text Box 54">
            <a:extLst>
              <a:ext uri="{FF2B5EF4-FFF2-40B4-BE49-F238E27FC236}">
                <a16:creationId xmlns:a16="http://schemas.microsoft.com/office/drawing/2014/main" id="{2200D2D1-053F-4001-90DD-7886134B0B6A}"/>
              </a:ext>
            </a:extLst>
          </p:cNvPr>
          <p:cNvSpPr txBox="1">
            <a:spLocks noChangeArrowheads="1"/>
          </p:cNvSpPr>
          <p:nvPr/>
        </p:nvSpPr>
        <p:spPr bwMode="auto">
          <a:xfrm>
            <a:off x="7848600" y="5181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0000CC"/>
                </a:solidFill>
                <a:ea typeface="华文中宋" panose="02010600040101010101" pitchFamily="2" charset="-122"/>
              </a:rPr>
              <a:t>F1</a:t>
            </a:r>
          </a:p>
        </p:txBody>
      </p:sp>
      <p:sp>
        <p:nvSpPr>
          <p:cNvPr id="28699" name="Text Box 55">
            <a:extLst>
              <a:ext uri="{FF2B5EF4-FFF2-40B4-BE49-F238E27FC236}">
                <a16:creationId xmlns:a16="http://schemas.microsoft.com/office/drawing/2014/main" id="{74F9849F-EC25-4E8C-8A2A-FF1D37DEA2E0}"/>
              </a:ext>
            </a:extLst>
          </p:cNvPr>
          <p:cNvSpPr txBox="1">
            <a:spLocks noChangeArrowheads="1"/>
          </p:cNvSpPr>
          <p:nvPr/>
        </p:nvSpPr>
        <p:spPr bwMode="auto">
          <a:xfrm>
            <a:off x="4267200" y="6019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0000CC"/>
                </a:solidFill>
                <a:ea typeface="华文中宋" panose="02010600040101010101" pitchFamily="2" charset="-122"/>
              </a:rPr>
              <a:t>F2</a:t>
            </a:r>
          </a:p>
        </p:txBody>
      </p:sp>
      <p:sp>
        <p:nvSpPr>
          <p:cNvPr id="28700" name="Text Box 56">
            <a:extLst>
              <a:ext uri="{FF2B5EF4-FFF2-40B4-BE49-F238E27FC236}">
                <a16:creationId xmlns:a16="http://schemas.microsoft.com/office/drawing/2014/main" id="{2A0F20DC-46BD-48BD-8942-D2CFA62A6BF8}"/>
              </a:ext>
            </a:extLst>
          </p:cNvPr>
          <p:cNvSpPr txBox="1">
            <a:spLocks noChangeArrowheads="1"/>
          </p:cNvSpPr>
          <p:nvPr/>
        </p:nvSpPr>
        <p:spPr bwMode="auto">
          <a:xfrm>
            <a:off x="5105400" y="5486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0000"/>
                </a:solidFill>
                <a:ea typeface="华文中宋" panose="02010600040101010101" pitchFamily="2" charset="-122"/>
              </a:rPr>
              <a:t>H</a:t>
            </a:r>
          </a:p>
        </p:txBody>
      </p:sp>
      <p:sp>
        <p:nvSpPr>
          <p:cNvPr id="28701" name="Text Box 57">
            <a:extLst>
              <a:ext uri="{FF2B5EF4-FFF2-40B4-BE49-F238E27FC236}">
                <a16:creationId xmlns:a16="http://schemas.microsoft.com/office/drawing/2014/main" id="{C83115B4-03BC-46FD-843A-BBBFD69CD590}"/>
              </a:ext>
            </a:extLst>
          </p:cNvPr>
          <p:cNvSpPr txBox="1">
            <a:spLocks noChangeArrowheads="1"/>
          </p:cNvSpPr>
          <p:nvPr/>
        </p:nvSpPr>
        <p:spPr bwMode="auto">
          <a:xfrm>
            <a:off x="5410200" y="5715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0000"/>
                </a:solidFill>
                <a:ea typeface="华文中宋" panose="02010600040101010101" pitchFamily="2" charset="-122"/>
              </a:rPr>
              <a:t>I</a:t>
            </a:r>
          </a:p>
        </p:txBody>
      </p:sp>
      <p:sp>
        <p:nvSpPr>
          <p:cNvPr id="28702" name="Text Box 58">
            <a:extLst>
              <a:ext uri="{FF2B5EF4-FFF2-40B4-BE49-F238E27FC236}">
                <a16:creationId xmlns:a16="http://schemas.microsoft.com/office/drawing/2014/main" id="{DDE2FE40-4282-4CE9-A934-C5823740822A}"/>
              </a:ext>
            </a:extLst>
          </p:cNvPr>
          <p:cNvSpPr txBox="1">
            <a:spLocks noChangeArrowheads="1"/>
          </p:cNvSpPr>
          <p:nvPr/>
        </p:nvSpPr>
        <p:spPr bwMode="auto">
          <a:xfrm>
            <a:off x="6096000" y="5791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0000CC"/>
                </a:solidFill>
                <a:ea typeface="华文中宋" panose="02010600040101010101" pitchFamily="2" charset="-122"/>
              </a:rPr>
              <a:t>H1</a:t>
            </a:r>
          </a:p>
        </p:txBody>
      </p:sp>
      <p:sp>
        <p:nvSpPr>
          <p:cNvPr id="28703" name="Text Box 59">
            <a:extLst>
              <a:ext uri="{FF2B5EF4-FFF2-40B4-BE49-F238E27FC236}">
                <a16:creationId xmlns:a16="http://schemas.microsoft.com/office/drawing/2014/main" id="{503DB666-DA92-49BF-BFDA-A3BF646AC39A}"/>
              </a:ext>
            </a:extLst>
          </p:cNvPr>
          <p:cNvSpPr txBox="1">
            <a:spLocks noChangeArrowheads="1"/>
          </p:cNvSpPr>
          <p:nvPr/>
        </p:nvSpPr>
        <p:spPr bwMode="auto">
          <a:xfrm>
            <a:off x="5410200" y="62484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0000CC"/>
                </a:solidFill>
                <a:ea typeface="华文中宋" panose="02010600040101010101" pitchFamily="2" charset="-122"/>
              </a:rPr>
              <a:t>H2</a:t>
            </a:r>
          </a:p>
        </p:txBody>
      </p:sp>
      <p:sp>
        <p:nvSpPr>
          <p:cNvPr id="28704" name="Text Box 60">
            <a:extLst>
              <a:ext uri="{FF2B5EF4-FFF2-40B4-BE49-F238E27FC236}">
                <a16:creationId xmlns:a16="http://schemas.microsoft.com/office/drawing/2014/main" id="{86793BD7-3A53-4CF0-B830-4E7A19D8985A}"/>
              </a:ext>
            </a:extLst>
          </p:cNvPr>
          <p:cNvSpPr txBox="1">
            <a:spLocks noChangeArrowheads="1"/>
          </p:cNvSpPr>
          <p:nvPr/>
        </p:nvSpPr>
        <p:spPr bwMode="auto">
          <a:xfrm>
            <a:off x="5943600" y="6400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0000"/>
                </a:solidFill>
                <a:ea typeface="华文中宋" panose="02010600040101010101" pitchFamily="2" charset="-122"/>
              </a:rPr>
              <a:t>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9635">
                                            <p:txEl>
                                              <p:pRg st="0" end="0"/>
                                            </p:txEl>
                                          </p:spTgt>
                                        </p:tgtEl>
                                        <p:attrNameLst>
                                          <p:attrName>style.visibility</p:attrName>
                                        </p:attrNameLst>
                                      </p:cBhvr>
                                      <p:to>
                                        <p:strVal val="visible"/>
                                      </p:to>
                                    </p:set>
                                    <p:anim calcmode="lin" valueType="num">
                                      <p:cBhvr additive="base">
                                        <p:cTn id="7" dur="500" fill="hold"/>
                                        <p:tgtEl>
                                          <p:spTgt spid="696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96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9636"/>
                                        </p:tgtEl>
                                        <p:attrNameLst>
                                          <p:attrName>style.visibility</p:attrName>
                                        </p:attrNameLst>
                                      </p:cBhvr>
                                      <p:to>
                                        <p:strVal val="visible"/>
                                      </p:to>
                                    </p:set>
                                    <p:anim calcmode="lin" valueType="num">
                                      <p:cBhvr additive="base">
                                        <p:cTn id="13" dur="500" fill="hold"/>
                                        <p:tgtEl>
                                          <p:spTgt spid="69636"/>
                                        </p:tgtEl>
                                        <p:attrNameLst>
                                          <p:attrName>ppt_x</p:attrName>
                                        </p:attrNameLst>
                                      </p:cBhvr>
                                      <p:tavLst>
                                        <p:tav tm="0">
                                          <p:val>
                                            <p:strVal val="0-#ppt_w/2"/>
                                          </p:val>
                                        </p:tav>
                                        <p:tav tm="100000">
                                          <p:val>
                                            <p:strVal val="#ppt_x"/>
                                          </p:val>
                                        </p:tav>
                                      </p:tavLst>
                                    </p:anim>
                                    <p:anim calcmode="lin" valueType="num">
                                      <p:cBhvr additive="base">
                                        <p:cTn id="14" dur="500" fill="hold"/>
                                        <p:tgtEl>
                                          <p:spTgt spid="6963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69645"/>
                                        </p:tgtEl>
                                        <p:attrNameLst>
                                          <p:attrName>style.visibility</p:attrName>
                                        </p:attrNameLst>
                                      </p:cBhvr>
                                      <p:to>
                                        <p:strVal val="visible"/>
                                      </p:to>
                                    </p:set>
                                    <p:anim calcmode="lin" valueType="num">
                                      <p:cBhvr additive="base">
                                        <p:cTn id="19" dur="500" fill="hold"/>
                                        <p:tgtEl>
                                          <p:spTgt spid="69645"/>
                                        </p:tgtEl>
                                        <p:attrNameLst>
                                          <p:attrName>ppt_x</p:attrName>
                                        </p:attrNameLst>
                                      </p:cBhvr>
                                      <p:tavLst>
                                        <p:tav tm="0">
                                          <p:val>
                                            <p:strVal val="0-#ppt_w/2"/>
                                          </p:val>
                                        </p:tav>
                                        <p:tav tm="100000">
                                          <p:val>
                                            <p:strVal val="#ppt_x"/>
                                          </p:val>
                                        </p:tav>
                                      </p:tavLst>
                                    </p:anim>
                                    <p:anim calcmode="lin" valueType="num">
                                      <p:cBhvr additive="base">
                                        <p:cTn id="20" dur="500" fill="hold"/>
                                        <p:tgtEl>
                                          <p:spTgt spid="69645"/>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500"/>
                            </p:stCondLst>
                            <p:childTnLst>
                              <p:par>
                                <p:cTn id="22" presetID="2" presetClass="entr" presetSubtype="8" fill="hold" grpId="0" nodeType="afterEffect">
                                  <p:stCondLst>
                                    <p:cond delay="0"/>
                                  </p:stCondLst>
                                  <p:childTnLst>
                                    <p:set>
                                      <p:cBhvr>
                                        <p:cTn id="23" dur="1" fill="hold">
                                          <p:stCondLst>
                                            <p:cond delay="0"/>
                                          </p:stCondLst>
                                        </p:cTn>
                                        <p:tgtEl>
                                          <p:spTgt spid="69648"/>
                                        </p:tgtEl>
                                        <p:attrNameLst>
                                          <p:attrName>style.visibility</p:attrName>
                                        </p:attrNameLst>
                                      </p:cBhvr>
                                      <p:to>
                                        <p:strVal val="visible"/>
                                      </p:to>
                                    </p:set>
                                    <p:anim calcmode="lin" valueType="num">
                                      <p:cBhvr additive="base">
                                        <p:cTn id="24" dur="500" fill="hold"/>
                                        <p:tgtEl>
                                          <p:spTgt spid="69648"/>
                                        </p:tgtEl>
                                        <p:attrNameLst>
                                          <p:attrName>ppt_x</p:attrName>
                                        </p:attrNameLst>
                                      </p:cBhvr>
                                      <p:tavLst>
                                        <p:tav tm="0">
                                          <p:val>
                                            <p:strVal val="0-#ppt_w/2"/>
                                          </p:val>
                                        </p:tav>
                                        <p:tav tm="100000">
                                          <p:val>
                                            <p:strVal val="#ppt_x"/>
                                          </p:val>
                                        </p:tav>
                                      </p:tavLst>
                                    </p:anim>
                                    <p:anim calcmode="lin" valueType="num">
                                      <p:cBhvr additive="base">
                                        <p:cTn id="25" dur="500" fill="hold"/>
                                        <p:tgtEl>
                                          <p:spTgt spid="69648"/>
                                        </p:tgtEl>
                                        <p:attrNameLst>
                                          <p:attrName>ppt_y</p:attrName>
                                        </p:attrNameLst>
                                      </p:cBhvr>
                                      <p:tavLst>
                                        <p:tav tm="0">
                                          <p:val>
                                            <p:strVal val="#ppt_y"/>
                                          </p:val>
                                        </p:tav>
                                        <p:tav tm="100000">
                                          <p:val>
                                            <p:strVal val="#ppt_y"/>
                                          </p:val>
                                        </p:tav>
                                      </p:tavLst>
                                    </p:anim>
                                  </p:childTnLst>
                                </p:cTn>
                              </p:par>
                            </p:childTnLst>
                          </p:cTn>
                        </p:par>
                        <p:par>
                          <p:cTn id="26" fill="hold" nodeType="afterGroup">
                            <p:stCondLst>
                              <p:cond delay="1000"/>
                            </p:stCondLst>
                            <p:childTnLst>
                              <p:par>
                                <p:cTn id="27" presetID="2" presetClass="entr" presetSubtype="8" fill="hold" grpId="0" nodeType="afterEffect">
                                  <p:stCondLst>
                                    <p:cond delay="0"/>
                                  </p:stCondLst>
                                  <p:childTnLst>
                                    <p:set>
                                      <p:cBhvr>
                                        <p:cTn id="28" dur="1" fill="hold">
                                          <p:stCondLst>
                                            <p:cond delay="0"/>
                                          </p:stCondLst>
                                        </p:cTn>
                                        <p:tgtEl>
                                          <p:spTgt spid="69649"/>
                                        </p:tgtEl>
                                        <p:attrNameLst>
                                          <p:attrName>style.visibility</p:attrName>
                                        </p:attrNameLst>
                                      </p:cBhvr>
                                      <p:to>
                                        <p:strVal val="visible"/>
                                      </p:to>
                                    </p:set>
                                    <p:anim calcmode="lin" valueType="num">
                                      <p:cBhvr additive="base">
                                        <p:cTn id="29" dur="500" fill="hold"/>
                                        <p:tgtEl>
                                          <p:spTgt spid="69649"/>
                                        </p:tgtEl>
                                        <p:attrNameLst>
                                          <p:attrName>ppt_x</p:attrName>
                                        </p:attrNameLst>
                                      </p:cBhvr>
                                      <p:tavLst>
                                        <p:tav tm="0">
                                          <p:val>
                                            <p:strVal val="0-#ppt_w/2"/>
                                          </p:val>
                                        </p:tav>
                                        <p:tav tm="100000">
                                          <p:val>
                                            <p:strVal val="#ppt_x"/>
                                          </p:val>
                                        </p:tav>
                                      </p:tavLst>
                                    </p:anim>
                                    <p:anim calcmode="lin" valueType="num">
                                      <p:cBhvr additive="base">
                                        <p:cTn id="30" dur="500" fill="hold"/>
                                        <p:tgtEl>
                                          <p:spTgt spid="696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build="p" autoUpdateAnimBg="0"/>
      <p:bldP spid="69636" grpId="0" autoUpdateAnimBg="0"/>
      <p:bldP spid="69648" grpId="0" animBg="1"/>
      <p:bldP spid="69649"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2ED80C0B-5824-425D-B15D-370D24829688}"/>
              </a:ext>
            </a:extLst>
          </p:cNvPr>
          <p:cNvSpPr>
            <a:spLocks noGrp="1" noChangeArrowheads="1"/>
          </p:cNvSpPr>
          <p:nvPr>
            <p:ph type="title"/>
          </p:nvPr>
        </p:nvSpPr>
        <p:spPr bwMode="auto">
          <a:xfrm>
            <a:off x="685800" y="1524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800">
                <a:solidFill>
                  <a:schemeClr val="accent2"/>
                </a:solidFill>
              </a:rPr>
              <a:t>算法思想</a:t>
            </a:r>
            <a:endParaRPr lang="zh-CN" altLang="en-US" sz="4000" b="1"/>
          </a:p>
        </p:txBody>
      </p:sp>
      <p:sp>
        <p:nvSpPr>
          <p:cNvPr id="70659" name="Rectangle 3">
            <a:extLst>
              <a:ext uri="{FF2B5EF4-FFF2-40B4-BE49-F238E27FC236}">
                <a16:creationId xmlns:a16="http://schemas.microsoft.com/office/drawing/2014/main" id="{D94D3B67-7B25-4022-B047-F5E6CE0DC0DF}"/>
              </a:ext>
            </a:extLst>
          </p:cNvPr>
          <p:cNvSpPr>
            <a:spLocks noGrp="1" noChangeArrowheads="1"/>
          </p:cNvSpPr>
          <p:nvPr>
            <p:ph type="body" idx="1"/>
          </p:nvPr>
        </p:nvSpPr>
        <p:spPr bwMode="auto">
          <a:xfrm>
            <a:off x="250825" y="990600"/>
            <a:ext cx="8740775" cy="5562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33400" indent="-533400" eaLnBrk="1" hangingPunct="1">
              <a:spcBef>
                <a:spcPct val="35000"/>
              </a:spcBef>
              <a:buFontTx/>
              <a:buNone/>
            </a:pPr>
            <a:r>
              <a:rPr kumimoji="0" lang="zh-CN" altLang="en-US" sz="2800" b="1">
                <a:latin typeface="华文中宋" panose="02010600040101010101" pitchFamily="2" charset="-122"/>
              </a:rPr>
              <a:t>优先队列式分支限界法：用极小堆</a:t>
            </a:r>
            <a:r>
              <a:rPr kumimoji="0" lang="en-US" altLang="zh-CN" sz="2800" b="1">
                <a:latin typeface="华文中宋" panose="02010600040101010101" pitchFamily="2" charset="-122"/>
              </a:rPr>
              <a:t>Q</a:t>
            </a:r>
            <a:r>
              <a:rPr kumimoji="0" lang="zh-CN" altLang="en-US" sz="2800" b="1">
                <a:latin typeface="华文中宋" panose="02010600040101010101" pitchFamily="2" charset="-122"/>
              </a:rPr>
              <a:t>来存储活结点表</a:t>
            </a:r>
          </a:p>
          <a:p>
            <a:pPr marL="533400" indent="-533400" eaLnBrk="1" hangingPunct="1">
              <a:spcBef>
                <a:spcPct val="35000"/>
              </a:spcBef>
              <a:buFontTx/>
              <a:buNone/>
            </a:pPr>
            <a:r>
              <a:rPr kumimoji="0" lang="zh-CN" altLang="en-US" sz="2800" b="1">
                <a:solidFill>
                  <a:srgbClr val="FF0000"/>
                </a:solidFill>
                <a:latin typeface="华文中宋" panose="02010600040101010101" pitchFamily="2" charset="-122"/>
              </a:rPr>
              <a:t>优先级</a:t>
            </a:r>
            <a:r>
              <a:rPr kumimoji="0" lang="en-US" altLang="zh-CN" sz="2800" b="1">
                <a:solidFill>
                  <a:srgbClr val="FF0000"/>
                </a:solidFill>
                <a:latin typeface="华文中宋" panose="02010600040101010101" pitchFamily="2" charset="-122"/>
              </a:rPr>
              <a:t>:</a:t>
            </a:r>
            <a:r>
              <a:rPr kumimoji="0" lang="en-US" altLang="zh-CN" sz="2800" b="1">
                <a:latin typeface="华文中宋" panose="02010600040101010101" pitchFamily="2" charset="-122"/>
              </a:rPr>
              <a:t> </a:t>
            </a:r>
            <a:r>
              <a:rPr kumimoji="0" lang="zh-CN" altLang="en-US" sz="2800" b="1">
                <a:latin typeface="华文中宋" panose="02010600040101010101" pitchFamily="2" charset="-122"/>
              </a:rPr>
              <a:t>结点所对应的当前路长最小者优先。</a:t>
            </a:r>
          </a:p>
          <a:p>
            <a:pPr marL="533400" indent="-533400" eaLnBrk="1" hangingPunct="1">
              <a:spcBef>
                <a:spcPct val="35000"/>
              </a:spcBef>
              <a:buFontTx/>
              <a:buNone/>
            </a:pPr>
            <a:r>
              <a:rPr kumimoji="0" lang="zh-CN" altLang="en-US" sz="2800" b="1">
                <a:latin typeface="华文中宋" panose="02010600040101010101" pitchFamily="2" charset="-122"/>
              </a:rPr>
              <a:t>算法过程：</a:t>
            </a:r>
          </a:p>
          <a:p>
            <a:pPr marL="914400" lvl="1" indent="-457200" eaLnBrk="1" hangingPunct="1">
              <a:spcBef>
                <a:spcPct val="35000"/>
              </a:spcBef>
              <a:buFontTx/>
              <a:buAutoNum type="arabicPeriod"/>
            </a:pPr>
            <a:r>
              <a:rPr kumimoji="0" lang="zh-CN" altLang="en-US" sz="2600" b="1">
                <a:latin typeface="华文中宋" panose="02010600040101010101" pitchFamily="2" charset="-122"/>
              </a:rPr>
              <a:t>取图</a:t>
            </a:r>
            <a:r>
              <a:rPr kumimoji="0" lang="en-US" altLang="zh-CN" sz="2600" b="1">
                <a:latin typeface="华文中宋" panose="02010600040101010101" pitchFamily="2" charset="-122"/>
              </a:rPr>
              <a:t>G</a:t>
            </a:r>
            <a:r>
              <a:rPr kumimoji="0" lang="zh-CN" altLang="en-US" sz="2600" b="1">
                <a:latin typeface="华文中宋" panose="02010600040101010101" pitchFamily="2" charset="-122"/>
              </a:rPr>
              <a:t>的源顶点</a:t>
            </a:r>
            <a:r>
              <a:rPr kumimoji="0" lang="en-US" altLang="zh-CN" sz="2600" b="1">
                <a:latin typeface="华文中宋" panose="02010600040101010101" pitchFamily="2" charset="-122"/>
              </a:rPr>
              <a:t>s</a:t>
            </a:r>
            <a:r>
              <a:rPr kumimoji="0" lang="zh-CN" altLang="en-US" sz="2600" b="1">
                <a:latin typeface="华文中宋" panose="02010600040101010101" pitchFamily="2" charset="-122"/>
              </a:rPr>
              <a:t>，</a:t>
            </a:r>
            <a:r>
              <a:rPr kumimoji="0" lang="en-US" altLang="zh-CN" sz="2600" b="1">
                <a:latin typeface="华文中宋" panose="02010600040101010101" pitchFamily="2" charset="-122"/>
              </a:rPr>
              <a:t>Q=</a:t>
            </a:r>
            <a:r>
              <a:rPr kumimoji="0" lang="en-US" altLang="zh-CN" sz="2600" b="1">
                <a:latin typeface="华文中宋" panose="02010600040101010101" pitchFamily="2" charset="-122"/>
                <a:sym typeface="Symbol" panose="05050102010706020507" pitchFamily="18" charset="2"/>
              </a:rPr>
              <a:t></a:t>
            </a:r>
            <a:r>
              <a:rPr kumimoji="0" lang="zh-CN" altLang="en-US" sz="2600" b="1">
                <a:latin typeface="华文中宋" panose="02010600040101010101" pitchFamily="2" charset="-122"/>
              </a:rPr>
              <a:t>。</a:t>
            </a:r>
          </a:p>
          <a:p>
            <a:pPr marL="914400" lvl="1" indent="-457200" eaLnBrk="1" hangingPunct="1">
              <a:spcBef>
                <a:spcPct val="35000"/>
              </a:spcBef>
              <a:buFontTx/>
              <a:buAutoNum type="arabicPeriod"/>
            </a:pPr>
            <a:r>
              <a:rPr kumimoji="0" lang="zh-CN" altLang="en-US" sz="2600" b="1">
                <a:latin typeface="华文中宋" panose="02010600040101010101" pitchFamily="2" charset="-122"/>
              </a:rPr>
              <a:t>扩展结点</a:t>
            </a:r>
            <a:r>
              <a:rPr kumimoji="0" lang="en-US" altLang="zh-CN" sz="2600" b="1">
                <a:latin typeface="华文中宋" panose="02010600040101010101" pitchFamily="2" charset="-122"/>
              </a:rPr>
              <a:t>s</a:t>
            </a:r>
            <a:r>
              <a:rPr kumimoji="0" lang="zh-CN" altLang="en-US" sz="2600" b="1">
                <a:latin typeface="华文中宋" panose="02010600040101010101" pitchFamily="2" charset="-122"/>
              </a:rPr>
              <a:t>，它的儿子结点被依次插入堆</a:t>
            </a:r>
            <a:r>
              <a:rPr kumimoji="0" lang="en-US" altLang="zh-CN" sz="2600" b="1">
                <a:latin typeface="华文中宋" panose="02010600040101010101" pitchFamily="2" charset="-122"/>
              </a:rPr>
              <a:t>Q</a:t>
            </a:r>
            <a:r>
              <a:rPr kumimoji="0" lang="zh-CN" altLang="en-US" sz="2600" b="1">
                <a:latin typeface="华文中宋" panose="02010600040101010101" pitchFamily="2" charset="-122"/>
              </a:rPr>
              <a:t>中。</a:t>
            </a:r>
          </a:p>
          <a:p>
            <a:pPr marL="914400" lvl="1" indent="-457200" eaLnBrk="1" hangingPunct="1">
              <a:spcBef>
                <a:spcPct val="35000"/>
              </a:spcBef>
              <a:buFontTx/>
              <a:buAutoNum type="arabicPeriod"/>
            </a:pPr>
            <a:r>
              <a:rPr kumimoji="0" lang="zh-CN" altLang="en-US" sz="2600" b="1">
                <a:latin typeface="华文中宋" panose="02010600040101010101" pitchFamily="2" charset="-122"/>
              </a:rPr>
              <a:t>从</a:t>
            </a:r>
            <a:r>
              <a:rPr kumimoji="0" lang="en-US" altLang="zh-CN" sz="2600" b="1">
                <a:latin typeface="华文中宋" panose="02010600040101010101" pitchFamily="2" charset="-122"/>
              </a:rPr>
              <a:t>Q</a:t>
            </a:r>
            <a:r>
              <a:rPr kumimoji="0" lang="zh-CN" altLang="en-US" sz="2600" b="1">
                <a:latin typeface="华文中宋" panose="02010600040101010101" pitchFamily="2" charset="-122"/>
              </a:rPr>
              <a:t>中取出当前具有最小路长的点</a:t>
            </a:r>
            <a:r>
              <a:rPr kumimoji="0" lang="en-US" altLang="zh-CN" sz="2600" b="1">
                <a:latin typeface="华文中宋" panose="02010600040101010101" pitchFamily="2" charset="-122"/>
              </a:rPr>
              <a:t>i</a:t>
            </a:r>
            <a:r>
              <a:rPr kumimoji="0" lang="zh-CN" altLang="en-US" sz="2600" b="1">
                <a:latin typeface="华文中宋" panose="02010600040101010101" pitchFamily="2" charset="-122"/>
              </a:rPr>
              <a:t>作为当前扩展结点，对与</a:t>
            </a:r>
            <a:r>
              <a:rPr kumimoji="0" lang="en-US" altLang="zh-CN" sz="2600" b="1">
                <a:latin typeface="华文中宋" panose="02010600040101010101" pitchFamily="2" charset="-122"/>
              </a:rPr>
              <a:t>i</a:t>
            </a:r>
            <a:r>
              <a:rPr kumimoji="0" lang="zh-CN" altLang="en-US" sz="2600" b="1">
                <a:latin typeface="华文中宋" panose="02010600040101010101" pitchFamily="2" charset="-122"/>
              </a:rPr>
              <a:t>相邻的</a:t>
            </a:r>
            <a:r>
              <a:rPr kumimoji="0" lang="en-US" altLang="zh-CN" sz="2600" b="1">
                <a:latin typeface="华文中宋" panose="02010600040101010101" pitchFamily="2" charset="-122"/>
              </a:rPr>
              <a:t>j, dist[i]+c[i][j]&lt; dist[j]</a:t>
            </a:r>
            <a:r>
              <a:rPr kumimoji="0" lang="zh-CN" altLang="en-US" sz="2600" b="1">
                <a:latin typeface="华文中宋" panose="02010600040101010101" pitchFamily="2" charset="-122"/>
              </a:rPr>
              <a:t>，则将</a:t>
            </a:r>
            <a:r>
              <a:rPr kumimoji="0" lang="en-US" altLang="zh-CN" sz="2600" b="1">
                <a:latin typeface="华文中宋" panose="02010600040101010101" pitchFamily="2" charset="-122"/>
              </a:rPr>
              <a:t>j</a:t>
            </a:r>
            <a:r>
              <a:rPr kumimoji="0" lang="zh-CN" altLang="en-US" sz="2600" b="1">
                <a:latin typeface="华文中宋" panose="02010600040101010101" pitchFamily="2" charset="-122"/>
              </a:rPr>
              <a:t>作为插入到活结点优先队列</a:t>
            </a:r>
            <a:r>
              <a:rPr kumimoji="0" lang="en-US" altLang="zh-CN" sz="2600" b="1">
                <a:latin typeface="华文中宋" panose="02010600040101010101" pitchFamily="2" charset="-122"/>
              </a:rPr>
              <a:t>Q</a:t>
            </a:r>
            <a:r>
              <a:rPr kumimoji="0" lang="zh-CN" altLang="en-US" sz="2600" b="1">
                <a:latin typeface="华文中宋" panose="02010600040101010101" pitchFamily="2" charset="-122"/>
              </a:rPr>
              <a:t>中。</a:t>
            </a:r>
          </a:p>
          <a:p>
            <a:pPr marL="914400" lvl="1" indent="-457200" eaLnBrk="1" hangingPunct="1">
              <a:spcBef>
                <a:spcPct val="35000"/>
              </a:spcBef>
              <a:buFontTx/>
              <a:buAutoNum type="arabicPeriod"/>
            </a:pPr>
            <a:r>
              <a:rPr kumimoji="0" lang="zh-CN" altLang="en-US" sz="2600" b="1">
                <a:latin typeface="华文中宋" panose="02010600040101010101" pitchFamily="2" charset="-122"/>
              </a:rPr>
              <a:t>这个结点的扩展过程一直继续到活结点优先队列为空时为止。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anim calcmode="lin" valueType="num">
                                      <p:cBhvr additive="base">
                                        <p:cTn id="7" dur="500" fill="hold"/>
                                        <p:tgtEl>
                                          <p:spTgt spid="706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06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0659">
                                            <p:txEl>
                                              <p:pRg st="1" end="1"/>
                                            </p:txEl>
                                          </p:spTgt>
                                        </p:tgtEl>
                                        <p:attrNameLst>
                                          <p:attrName>style.visibility</p:attrName>
                                        </p:attrNameLst>
                                      </p:cBhvr>
                                      <p:to>
                                        <p:strVal val="visible"/>
                                      </p:to>
                                    </p:set>
                                    <p:anim calcmode="lin" valueType="num">
                                      <p:cBhvr additive="base">
                                        <p:cTn id="13" dur="500" fill="hold"/>
                                        <p:tgtEl>
                                          <p:spTgt spid="706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06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0659">
                                            <p:txEl>
                                              <p:pRg st="2" end="2"/>
                                            </p:txEl>
                                          </p:spTgt>
                                        </p:tgtEl>
                                        <p:attrNameLst>
                                          <p:attrName>style.visibility</p:attrName>
                                        </p:attrNameLst>
                                      </p:cBhvr>
                                      <p:to>
                                        <p:strVal val="visible"/>
                                      </p:to>
                                    </p:set>
                                    <p:anim calcmode="lin" valueType="num">
                                      <p:cBhvr additive="base">
                                        <p:cTn id="19" dur="500" fill="hold"/>
                                        <p:tgtEl>
                                          <p:spTgt spid="7065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0659">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70659">
                                            <p:txEl>
                                              <p:pRg st="3" end="3"/>
                                            </p:txEl>
                                          </p:spTgt>
                                        </p:tgtEl>
                                        <p:attrNameLst>
                                          <p:attrName>style.visibility</p:attrName>
                                        </p:attrNameLst>
                                      </p:cBhvr>
                                      <p:to>
                                        <p:strVal val="visible"/>
                                      </p:to>
                                    </p:set>
                                    <p:anim calcmode="lin" valueType="num">
                                      <p:cBhvr additive="base">
                                        <p:cTn id="23" dur="500" fill="hold"/>
                                        <p:tgtEl>
                                          <p:spTgt spid="70659">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70659">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70659">
                                            <p:txEl>
                                              <p:pRg st="4" end="4"/>
                                            </p:txEl>
                                          </p:spTgt>
                                        </p:tgtEl>
                                        <p:attrNameLst>
                                          <p:attrName>style.visibility</p:attrName>
                                        </p:attrNameLst>
                                      </p:cBhvr>
                                      <p:to>
                                        <p:strVal val="visible"/>
                                      </p:to>
                                    </p:set>
                                    <p:anim calcmode="lin" valueType="num">
                                      <p:cBhvr additive="base">
                                        <p:cTn id="27" dur="500" fill="hold"/>
                                        <p:tgtEl>
                                          <p:spTgt spid="70659">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70659">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70659">
                                            <p:txEl>
                                              <p:pRg st="5" end="5"/>
                                            </p:txEl>
                                          </p:spTgt>
                                        </p:tgtEl>
                                        <p:attrNameLst>
                                          <p:attrName>style.visibility</p:attrName>
                                        </p:attrNameLst>
                                      </p:cBhvr>
                                      <p:to>
                                        <p:strVal val="visible"/>
                                      </p:to>
                                    </p:set>
                                    <p:anim calcmode="lin" valueType="num">
                                      <p:cBhvr additive="base">
                                        <p:cTn id="31" dur="500" fill="hold"/>
                                        <p:tgtEl>
                                          <p:spTgt spid="70659">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70659">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70659">
                                            <p:txEl>
                                              <p:pRg st="6" end="6"/>
                                            </p:txEl>
                                          </p:spTgt>
                                        </p:tgtEl>
                                        <p:attrNameLst>
                                          <p:attrName>style.visibility</p:attrName>
                                        </p:attrNameLst>
                                      </p:cBhvr>
                                      <p:to>
                                        <p:strVal val="visible"/>
                                      </p:to>
                                    </p:set>
                                    <p:anim calcmode="lin" valueType="num">
                                      <p:cBhvr additive="base">
                                        <p:cTn id="35" dur="500" fill="hold"/>
                                        <p:tgtEl>
                                          <p:spTgt spid="70659">
                                            <p:txEl>
                                              <p:pRg st="6" end="6"/>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70659">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55AA0FCE-B980-423B-94CE-3720AE83C018}"/>
              </a:ext>
            </a:extLst>
          </p:cNvPr>
          <p:cNvSpPr>
            <a:spLocks noGrp="1" noChangeArrowheads="1"/>
          </p:cNvSpPr>
          <p:nvPr>
            <p:ph type="title"/>
          </p:nvPr>
        </p:nvSpPr>
        <p:spPr bwMode="auto">
          <a:xfrm>
            <a:off x="685800" y="3048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a:solidFill>
                  <a:schemeClr val="accent2"/>
                </a:solidFill>
              </a:rPr>
              <a:t>剪枝策略</a:t>
            </a:r>
          </a:p>
        </p:txBody>
      </p:sp>
      <p:sp>
        <p:nvSpPr>
          <p:cNvPr id="71683" name="Rectangle 3">
            <a:extLst>
              <a:ext uri="{FF2B5EF4-FFF2-40B4-BE49-F238E27FC236}">
                <a16:creationId xmlns:a16="http://schemas.microsoft.com/office/drawing/2014/main" id="{1BC98E00-6EB8-4E2F-A373-003FF743E0C7}"/>
              </a:ext>
            </a:extLst>
          </p:cNvPr>
          <p:cNvSpPr>
            <a:spLocks noGrp="1" noChangeArrowheads="1"/>
          </p:cNvSpPr>
          <p:nvPr>
            <p:ph type="body" idx="1"/>
          </p:nvPr>
        </p:nvSpPr>
        <p:spPr bwMode="auto">
          <a:xfrm>
            <a:off x="609600" y="1066800"/>
            <a:ext cx="8229600" cy="144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609600" indent="-609600">
              <a:spcBef>
                <a:spcPct val="0"/>
              </a:spcBef>
              <a:buFontTx/>
              <a:buAutoNum type="arabicPeriod"/>
            </a:pPr>
            <a:r>
              <a:rPr kumimoji="0" lang="zh-CN" altLang="en-US" sz="2800" b="1"/>
              <a:t>在算法扩展结点的过程中，一旦发现一个结点的下界不小于当前找到的最短路长，则算法剪去以该结点为根的子树。</a:t>
            </a:r>
          </a:p>
        </p:txBody>
      </p:sp>
      <p:sp>
        <p:nvSpPr>
          <p:cNvPr id="71684" name="Rectangle 4">
            <a:extLst>
              <a:ext uri="{FF2B5EF4-FFF2-40B4-BE49-F238E27FC236}">
                <a16:creationId xmlns:a16="http://schemas.microsoft.com/office/drawing/2014/main" id="{5A893105-0F83-423D-AD97-31C6CB5D9FF1}"/>
              </a:ext>
            </a:extLst>
          </p:cNvPr>
          <p:cNvSpPr>
            <a:spLocks noChangeArrowheads="1"/>
          </p:cNvSpPr>
          <p:nvPr/>
        </p:nvSpPr>
        <p:spPr bwMode="auto">
          <a:xfrm>
            <a:off x="609600" y="2514600"/>
            <a:ext cx="82296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buFontTx/>
              <a:buAutoNum type="arabicPeriod" startAt="2"/>
            </a:pPr>
            <a:r>
              <a:rPr kumimoji="0" lang="zh-CN" altLang="en-US" sz="2800" b="1">
                <a:latin typeface="华文中宋" panose="02010600040101010101" pitchFamily="2" charset="-122"/>
                <a:ea typeface="华文中宋" panose="02010600040101010101" pitchFamily="2" charset="-122"/>
              </a:rPr>
              <a:t>利用结点间的控制关系进行剪枝：从源顶点</a:t>
            </a:r>
            <a:r>
              <a:rPr kumimoji="0" lang="en-US" altLang="zh-CN" sz="2800" b="1">
                <a:latin typeface="华文中宋" panose="02010600040101010101" pitchFamily="2" charset="-122"/>
                <a:ea typeface="华文中宋" panose="02010600040101010101" pitchFamily="2" charset="-122"/>
              </a:rPr>
              <a:t>s</a:t>
            </a:r>
            <a:r>
              <a:rPr kumimoji="0" lang="zh-CN" altLang="en-US" sz="2800" b="1">
                <a:latin typeface="华文中宋" panose="02010600040101010101" pitchFamily="2" charset="-122"/>
                <a:ea typeface="华文中宋" panose="02010600040101010101" pitchFamily="2" charset="-122"/>
              </a:rPr>
              <a:t>出发，</a:t>
            </a:r>
            <a:r>
              <a:rPr kumimoji="0" lang="en-US" altLang="zh-CN" sz="2800" b="1">
                <a:latin typeface="华文中宋" panose="02010600040101010101" pitchFamily="2" charset="-122"/>
                <a:ea typeface="华文中宋" panose="02010600040101010101" pitchFamily="2" charset="-122"/>
              </a:rPr>
              <a:t>2</a:t>
            </a:r>
            <a:r>
              <a:rPr kumimoji="0" lang="zh-CN" altLang="en-US" sz="2800" b="1">
                <a:latin typeface="华文中宋" panose="02010600040101010101" pitchFamily="2" charset="-122"/>
                <a:ea typeface="华文中宋" panose="02010600040101010101" pitchFamily="2" charset="-122"/>
              </a:rPr>
              <a:t>条不同路径到达图</a:t>
            </a:r>
            <a:r>
              <a:rPr kumimoji="0" lang="en-US" altLang="zh-CN" sz="2800" b="1">
                <a:latin typeface="华文中宋" panose="02010600040101010101" pitchFamily="2" charset="-122"/>
                <a:ea typeface="华文中宋" panose="02010600040101010101" pitchFamily="2" charset="-122"/>
              </a:rPr>
              <a:t>G</a:t>
            </a:r>
            <a:r>
              <a:rPr kumimoji="0" lang="zh-CN" altLang="en-US" sz="2800" b="1">
                <a:latin typeface="华文中宋" panose="02010600040101010101" pitchFamily="2" charset="-122"/>
                <a:ea typeface="华文中宋" panose="02010600040101010101" pitchFamily="2" charset="-122"/>
              </a:rPr>
              <a:t>的同一顶点，如两条路径的路长不同，可以将较长路径所对应的树中的结点为根的子树剪去。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 calcmode="lin" valueType="num">
                                      <p:cBhvr additive="base">
                                        <p:cTn id="7" dur="500" fill="hold"/>
                                        <p:tgtEl>
                                          <p:spTgt spid="716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16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1684"/>
                                        </p:tgtEl>
                                        <p:attrNameLst>
                                          <p:attrName>style.visibility</p:attrName>
                                        </p:attrNameLst>
                                      </p:cBhvr>
                                      <p:to>
                                        <p:strVal val="visible"/>
                                      </p:to>
                                    </p:set>
                                    <p:anim calcmode="lin" valueType="num">
                                      <p:cBhvr additive="base">
                                        <p:cTn id="13" dur="500" fill="hold"/>
                                        <p:tgtEl>
                                          <p:spTgt spid="71684"/>
                                        </p:tgtEl>
                                        <p:attrNameLst>
                                          <p:attrName>ppt_x</p:attrName>
                                        </p:attrNameLst>
                                      </p:cBhvr>
                                      <p:tavLst>
                                        <p:tav tm="0">
                                          <p:val>
                                            <p:strVal val="0-#ppt_w/2"/>
                                          </p:val>
                                        </p:tav>
                                        <p:tav tm="100000">
                                          <p:val>
                                            <p:strVal val="#ppt_x"/>
                                          </p:val>
                                        </p:tav>
                                      </p:tavLst>
                                    </p:anim>
                                    <p:anim calcmode="lin" valueType="num">
                                      <p:cBhvr additive="base">
                                        <p:cTn id="14" dur="500" fill="hold"/>
                                        <p:tgtEl>
                                          <p:spTgt spid="716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autoUpdateAnimBg="0"/>
      <p:bldP spid="71684"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19CDC078-4CBA-441D-B660-25DC9292A099}"/>
              </a:ext>
            </a:extLst>
          </p:cNvPr>
          <p:cNvSpPr>
            <a:spLocks noGrp="1" noChangeArrowheads="1"/>
          </p:cNvSpPr>
          <p:nvPr>
            <p:ph type="title"/>
          </p:nvPr>
        </p:nvSpPr>
        <p:spPr bwMode="auto">
          <a:xfrm>
            <a:off x="685800" y="76200"/>
            <a:ext cx="777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kumimoji="0" lang="zh-CN" altLang="en-US" sz="4000" b="1"/>
              <a:t>关键部分算法</a:t>
            </a:r>
          </a:p>
        </p:txBody>
      </p:sp>
      <p:sp>
        <p:nvSpPr>
          <p:cNvPr id="31747" name="Rectangle 3">
            <a:extLst>
              <a:ext uri="{FF2B5EF4-FFF2-40B4-BE49-F238E27FC236}">
                <a16:creationId xmlns:a16="http://schemas.microsoft.com/office/drawing/2014/main" id="{48CCD300-36EF-482B-9223-D448DDF548BF}"/>
              </a:ext>
            </a:extLst>
          </p:cNvPr>
          <p:cNvSpPr>
            <a:spLocks noGrp="1" noChangeArrowheads="1"/>
          </p:cNvSpPr>
          <p:nvPr>
            <p:ph type="body" idx="1"/>
          </p:nvPr>
        </p:nvSpPr>
        <p:spPr bwMode="auto">
          <a:xfrm>
            <a:off x="152400" y="762000"/>
            <a:ext cx="8839200" cy="5562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90000"/>
              </a:lnSpc>
              <a:spcBef>
                <a:spcPct val="50000"/>
              </a:spcBef>
              <a:buFontTx/>
              <a:buNone/>
            </a:pPr>
            <a:r>
              <a:rPr kumimoji="0" lang="en-US" altLang="zh-CN" sz="2400" b="1">
                <a:solidFill>
                  <a:schemeClr val="accent2"/>
                </a:solidFill>
              </a:rPr>
              <a:t>while (true){      </a:t>
            </a:r>
            <a:r>
              <a:rPr kumimoji="0" lang="en-US" altLang="zh-CN" sz="2400" b="1"/>
              <a:t>// </a:t>
            </a:r>
            <a:r>
              <a:rPr kumimoji="0" lang="zh-CN" altLang="en-US" sz="2400" b="1"/>
              <a:t>搜索问题的解空间</a:t>
            </a:r>
          </a:p>
          <a:p>
            <a:pPr algn="just" eaLnBrk="1" hangingPunct="1">
              <a:lnSpc>
                <a:spcPct val="90000"/>
              </a:lnSpc>
              <a:spcBef>
                <a:spcPct val="50000"/>
              </a:spcBef>
              <a:buFontTx/>
              <a:buNone/>
            </a:pPr>
            <a:r>
              <a:rPr kumimoji="0" lang="zh-CN" altLang="en-US" sz="2400" b="1">
                <a:solidFill>
                  <a:schemeClr val="accent2"/>
                </a:solidFill>
              </a:rPr>
              <a:t>   </a:t>
            </a:r>
            <a:r>
              <a:rPr kumimoji="0" lang="en-US" altLang="zh-CN" sz="2400" b="1">
                <a:solidFill>
                  <a:schemeClr val="accent2"/>
                </a:solidFill>
              </a:rPr>
              <a:t>for (int j=1;j&lt;=n;j++)</a:t>
            </a:r>
          </a:p>
          <a:p>
            <a:pPr algn="just" eaLnBrk="1" hangingPunct="1">
              <a:lnSpc>
                <a:spcPct val="90000"/>
              </a:lnSpc>
              <a:spcBef>
                <a:spcPct val="50000"/>
              </a:spcBef>
              <a:buFontTx/>
              <a:buNone/>
            </a:pPr>
            <a:r>
              <a:rPr kumimoji="0" lang="en-US" altLang="zh-CN" sz="2400" b="1">
                <a:solidFill>
                  <a:schemeClr val="accent2"/>
                </a:solidFill>
              </a:rPr>
              <a:t>     if(</a:t>
            </a:r>
            <a:r>
              <a:rPr kumimoji="0" lang="en-US" altLang="zh-CN" sz="2400" b="1">
                <a:solidFill>
                  <a:srgbClr val="FF0000"/>
                </a:solidFill>
              </a:rPr>
              <a:t>c[E.i][j] &lt;max &amp;&amp;  E.length+cE.i][j] &lt; dist[j]</a:t>
            </a:r>
            <a:r>
              <a:rPr kumimoji="0" lang="en-US" altLang="zh-CN" sz="2400" b="1">
                <a:solidFill>
                  <a:schemeClr val="accent2"/>
                </a:solidFill>
              </a:rPr>
              <a:t>)</a:t>
            </a:r>
          </a:p>
          <a:p>
            <a:pPr algn="just" eaLnBrk="1" hangingPunct="1">
              <a:lnSpc>
                <a:spcPct val="90000"/>
              </a:lnSpc>
              <a:spcBef>
                <a:spcPct val="50000"/>
              </a:spcBef>
              <a:buFontTx/>
              <a:buNone/>
            </a:pPr>
            <a:r>
              <a:rPr kumimoji="0" lang="en-US" altLang="zh-CN" sz="2400" b="1">
                <a:solidFill>
                  <a:schemeClr val="accent2"/>
                </a:solidFill>
              </a:rPr>
              <a:t>      {  </a:t>
            </a:r>
            <a:r>
              <a:rPr kumimoji="0" lang="en-US" altLang="zh-CN" sz="2400" b="1"/>
              <a:t>// </a:t>
            </a:r>
            <a:r>
              <a:rPr kumimoji="0" lang="zh-CN" altLang="en-US" sz="2400" b="1"/>
              <a:t>顶点</a:t>
            </a:r>
            <a:r>
              <a:rPr kumimoji="0" lang="en-US" altLang="zh-CN" sz="2400" b="1"/>
              <a:t>i</a:t>
            </a:r>
            <a:r>
              <a:rPr kumimoji="0" lang="zh-CN" altLang="en-US" sz="2400" b="1"/>
              <a:t>到顶点</a:t>
            </a:r>
            <a:r>
              <a:rPr kumimoji="0" lang="en-US" altLang="zh-CN" sz="2400" b="1"/>
              <a:t>j</a:t>
            </a:r>
            <a:r>
              <a:rPr kumimoji="0" lang="zh-CN" altLang="en-US" sz="2400" b="1"/>
              <a:t>可达，且满足控制约束</a:t>
            </a:r>
          </a:p>
          <a:p>
            <a:pPr algn="just" eaLnBrk="1" hangingPunct="1">
              <a:lnSpc>
                <a:spcPct val="90000"/>
              </a:lnSpc>
              <a:spcBef>
                <a:spcPct val="50000"/>
              </a:spcBef>
              <a:buFontTx/>
              <a:buNone/>
            </a:pPr>
            <a:r>
              <a:rPr kumimoji="0" lang="zh-CN" altLang="en-US" sz="2400" b="1">
                <a:solidFill>
                  <a:schemeClr val="accent2"/>
                </a:solidFill>
              </a:rPr>
              <a:t>          </a:t>
            </a:r>
            <a:r>
              <a:rPr kumimoji="0" lang="en-US" altLang="zh-CN" sz="2400" b="1">
                <a:solidFill>
                  <a:schemeClr val="accent2"/>
                </a:solidFill>
              </a:rPr>
              <a:t>dist[j]=E.length+c[E.i][j];  //</a:t>
            </a:r>
            <a:r>
              <a:rPr kumimoji="0" lang="zh-CN" altLang="en-US" sz="2400" b="1">
                <a:solidFill>
                  <a:schemeClr val="accent2"/>
                </a:solidFill>
              </a:rPr>
              <a:t>修正数值</a:t>
            </a:r>
          </a:p>
          <a:p>
            <a:pPr algn="just" eaLnBrk="1" hangingPunct="1">
              <a:lnSpc>
                <a:spcPct val="90000"/>
              </a:lnSpc>
              <a:spcBef>
                <a:spcPct val="50000"/>
              </a:spcBef>
              <a:buFontTx/>
              <a:buNone/>
            </a:pPr>
            <a:r>
              <a:rPr kumimoji="0" lang="zh-CN" altLang="en-US" sz="2400" b="1">
                <a:solidFill>
                  <a:schemeClr val="accent2"/>
                </a:solidFill>
              </a:rPr>
              <a:t>          </a:t>
            </a:r>
            <a:r>
              <a:rPr kumimoji="0" lang="en-US" altLang="zh-CN" sz="2400" b="1">
                <a:solidFill>
                  <a:schemeClr val="accent2"/>
                </a:solidFill>
              </a:rPr>
              <a:t>prev[j]=E.i;           //</a:t>
            </a:r>
            <a:r>
              <a:rPr kumimoji="0" lang="zh-CN" altLang="en-US" sz="2400" b="1">
                <a:solidFill>
                  <a:schemeClr val="accent2"/>
                </a:solidFill>
              </a:rPr>
              <a:t>确定节点</a:t>
            </a:r>
            <a:r>
              <a:rPr kumimoji="0" lang="en-US" altLang="zh-CN" sz="2400" b="1">
                <a:solidFill>
                  <a:schemeClr val="accent2"/>
                </a:solidFill>
              </a:rPr>
              <a:t>j</a:t>
            </a:r>
            <a:r>
              <a:rPr kumimoji="0" lang="zh-CN" altLang="en-US" sz="2400" b="1">
                <a:solidFill>
                  <a:schemeClr val="accent2"/>
                </a:solidFill>
              </a:rPr>
              <a:t>的父节点</a:t>
            </a:r>
          </a:p>
          <a:p>
            <a:pPr algn="just" eaLnBrk="1" hangingPunct="1">
              <a:lnSpc>
                <a:spcPct val="90000"/>
              </a:lnSpc>
              <a:spcBef>
                <a:spcPct val="50000"/>
              </a:spcBef>
              <a:buFontTx/>
              <a:buNone/>
            </a:pPr>
            <a:r>
              <a:rPr kumimoji="0" lang="zh-CN" altLang="en-US" sz="2400" b="1">
                <a:solidFill>
                  <a:schemeClr val="accent2"/>
                </a:solidFill>
              </a:rPr>
              <a:t>          </a:t>
            </a:r>
            <a:r>
              <a:rPr kumimoji="0" lang="en-US" altLang="zh-CN" sz="2400" b="1">
                <a:solidFill>
                  <a:schemeClr val="accent2"/>
                </a:solidFill>
              </a:rPr>
              <a:t>MinHeapNode node = new MinHeapNode(j,dist[j]);</a:t>
            </a:r>
          </a:p>
          <a:p>
            <a:pPr algn="just" eaLnBrk="1" hangingPunct="1">
              <a:lnSpc>
                <a:spcPct val="90000"/>
              </a:lnSpc>
              <a:spcBef>
                <a:spcPct val="50000"/>
              </a:spcBef>
              <a:buFontTx/>
              <a:buNone/>
            </a:pPr>
            <a:r>
              <a:rPr kumimoji="0" lang="en-US" altLang="zh-CN" sz="2400" b="1">
                <a:solidFill>
                  <a:schemeClr val="accent2"/>
                </a:solidFill>
              </a:rPr>
              <a:t>          heap.Insert(node);     </a:t>
            </a:r>
            <a:r>
              <a:rPr kumimoji="0" lang="en-US" altLang="zh-CN" sz="2400" b="1"/>
              <a:t>// </a:t>
            </a:r>
            <a:r>
              <a:rPr kumimoji="0" lang="zh-CN" altLang="en-US" sz="2400" b="1"/>
              <a:t>加入活结点优先队列</a:t>
            </a:r>
          </a:p>
          <a:p>
            <a:pPr algn="just" eaLnBrk="1" hangingPunct="1">
              <a:lnSpc>
                <a:spcPct val="90000"/>
              </a:lnSpc>
              <a:spcBef>
                <a:spcPct val="50000"/>
              </a:spcBef>
              <a:buFontTx/>
              <a:buNone/>
            </a:pPr>
            <a:r>
              <a:rPr kumimoji="0" lang="zh-CN" altLang="en-US" sz="2400" b="1">
                <a:solidFill>
                  <a:schemeClr val="accent2"/>
                </a:solidFill>
              </a:rPr>
              <a:t>      </a:t>
            </a:r>
            <a:r>
              <a:rPr kumimoji="0" lang="en-US" altLang="zh-CN" sz="2400" b="1">
                <a:solidFill>
                  <a:schemeClr val="accent2"/>
                </a:solidFill>
              </a:rPr>
              <a:t>}</a:t>
            </a:r>
          </a:p>
          <a:p>
            <a:pPr algn="just" eaLnBrk="1" hangingPunct="1">
              <a:lnSpc>
                <a:spcPct val="90000"/>
              </a:lnSpc>
              <a:spcBef>
                <a:spcPct val="50000"/>
              </a:spcBef>
              <a:buFontTx/>
              <a:buNone/>
            </a:pPr>
            <a:r>
              <a:rPr kumimoji="0" lang="en-US" altLang="zh-CN" sz="2400" b="1">
                <a:solidFill>
                  <a:schemeClr val="accent2"/>
                </a:solidFill>
              </a:rPr>
              <a:t>       if (heap.isEmpty()) break;</a:t>
            </a:r>
          </a:p>
          <a:p>
            <a:pPr algn="just" eaLnBrk="1" hangingPunct="1">
              <a:lnSpc>
                <a:spcPct val="90000"/>
              </a:lnSpc>
              <a:spcBef>
                <a:spcPct val="50000"/>
              </a:spcBef>
              <a:buFontTx/>
              <a:buNone/>
            </a:pPr>
            <a:r>
              <a:rPr kumimoji="0" lang="en-US" altLang="zh-CN" sz="2400" b="1">
                <a:solidFill>
                  <a:schemeClr val="accent2"/>
                </a:solidFill>
              </a:rPr>
              <a:t>       else enode = (MinHeapNode) heap.removeMin();</a:t>
            </a:r>
          </a:p>
          <a:p>
            <a:pPr algn="just" eaLnBrk="1" hangingPunct="1">
              <a:lnSpc>
                <a:spcPct val="90000"/>
              </a:lnSpc>
              <a:spcBef>
                <a:spcPct val="50000"/>
              </a:spcBef>
              <a:buFontTx/>
              <a:buNone/>
            </a:pPr>
            <a:r>
              <a:rPr kumimoji="0" lang="en-US" altLang="zh-CN" sz="2400" b="1">
                <a:solidFill>
                  <a:schemeClr val="accent2"/>
                </a:solidFill>
              </a:rPr>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3021389E-75C9-4440-B800-B848B3DC5E42}"/>
              </a:ext>
            </a:extLst>
          </p:cNvPr>
          <p:cNvSpPr>
            <a:spLocks noGrp="1" noChangeArrowheads="1"/>
          </p:cNvSpPr>
          <p:nvPr>
            <p:ph type="title"/>
          </p:nvPr>
        </p:nvSpPr>
        <p:spPr bwMode="auto">
          <a:xfrm>
            <a:off x="685800" y="20574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pPr>
            <a:r>
              <a:rPr lang="en-US" altLang="zh-CN" sz="4800" b="1" dirty="0">
                <a:solidFill>
                  <a:srgbClr val="AC2F36"/>
                </a:solidFill>
              </a:rPr>
              <a:t>6.3 </a:t>
            </a:r>
            <a:r>
              <a:rPr lang="zh-CN" altLang="en-US" sz="4800" b="1" dirty="0">
                <a:solidFill>
                  <a:srgbClr val="AC2F36"/>
                </a:solidFill>
              </a:rPr>
              <a:t>装载问题</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1507BA2E-0744-436B-AC1F-401D34B1E2DE}"/>
              </a:ext>
            </a:extLst>
          </p:cNvPr>
          <p:cNvSpPr>
            <a:spLocks noGrp="1" noChangeArrowheads="1"/>
          </p:cNvSpPr>
          <p:nvPr>
            <p:ph type="title"/>
          </p:nvPr>
        </p:nvSpPr>
        <p:spPr bwMode="auto">
          <a:xfrm>
            <a:off x="609600" y="3048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pPr>
            <a:r>
              <a:rPr lang="en-US" altLang="zh-CN" sz="4000" b="1">
                <a:solidFill>
                  <a:schemeClr val="accent2"/>
                </a:solidFill>
              </a:rPr>
              <a:t>1. </a:t>
            </a:r>
            <a:r>
              <a:rPr lang="zh-CN" altLang="en-US" sz="4000" b="1">
                <a:solidFill>
                  <a:schemeClr val="accent2"/>
                </a:solidFill>
              </a:rPr>
              <a:t>问题描述</a:t>
            </a:r>
          </a:p>
        </p:txBody>
      </p:sp>
      <p:sp>
        <p:nvSpPr>
          <p:cNvPr id="102403" name="Rectangle 3">
            <a:extLst>
              <a:ext uri="{FF2B5EF4-FFF2-40B4-BE49-F238E27FC236}">
                <a16:creationId xmlns:a16="http://schemas.microsoft.com/office/drawing/2014/main" id="{378159EF-D16E-48F8-8CE2-4144E0A045AF}"/>
              </a:ext>
            </a:extLst>
          </p:cNvPr>
          <p:cNvSpPr>
            <a:spLocks noGrp="1" noChangeArrowheads="1"/>
          </p:cNvSpPr>
          <p:nvPr>
            <p:ph type="body" idx="1"/>
          </p:nvPr>
        </p:nvSpPr>
        <p:spPr bwMode="auto">
          <a:xfrm>
            <a:off x="381000" y="1066800"/>
            <a:ext cx="7772400" cy="144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spcBef>
                <a:spcPct val="50000"/>
              </a:spcBef>
            </a:pPr>
            <a:r>
              <a:rPr kumimoji="0" lang="zh-CN" altLang="en-US" sz="2800" b="1">
                <a:latin typeface="华文中宋" panose="02010600040101010101" pitchFamily="2" charset="-122"/>
              </a:rPr>
              <a:t>有一批共个集装箱要装上</a:t>
            </a:r>
            <a:r>
              <a:rPr kumimoji="0" lang="en-US" altLang="zh-CN" sz="2800" b="1">
                <a:latin typeface="华文中宋" panose="02010600040101010101" pitchFamily="2" charset="-122"/>
              </a:rPr>
              <a:t>2</a:t>
            </a:r>
            <a:r>
              <a:rPr kumimoji="0" lang="zh-CN" altLang="en-US" sz="2800" b="1">
                <a:latin typeface="华文中宋" panose="02010600040101010101" pitchFamily="2" charset="-122"/>
              </a:rPr>
              <a:t>艘载重量分别为</a:t>
            </a:r>
            <a:r>
              <a:rPr kumimoji="0" lang="en-US" altLang="zh-CN" sz="2800" b="1">
                <a:latin typeface="华文中宋" panose="02010600040101010101" pitchFamily="2" charset="-122"/>
              </a:rPr>
              <a:t>C1</a:t>
            </a:r>
            <a:r>
              <a:rPr kumimoji="0" lang="zh-CN" altLang="en-US" sz="2800" b="1">
                <a:latin typeface="华文中宋" panose="02010600040101010101" pitchFamily="2" charset="-122"/>
              </a:rPr>
              <a:t>和</a:t>
            </a:r>
            <a:r>
              <a:rPr kumimoji="0" lang="en-US" altLang="zh-CN" sz="2800" b="1">
                <a:latin typeface="华文中宋" panose="02010600040101010101" pitchFamily="2" charset="-122"/>
              </a:rPr>
              <a:t>C2</a:t>
            </a:r>
            <a:r>
              <a:rPr kumimoji="0" lang="zh-CN" altLang="en-US" sz="2800" b="1">
                <a:latin typeface="华文中宋" panose="02010600040101010101" pitchFamily="2" charset="-122"/>
              </a:rPr>
              <a:t>的轮船，其中集装箱</a:t>
            </a:r>
            <a:r>
              <a:rPr kumimoji="0" lang="en-US" altLang="zh-CN" sz="2800" b="1">
                <a:latin typeface="华文中宋" panose="02010600040101010101" pitchFamily="2" charset="-122"/>
              </a:rPr>
              <a:t>i</a:t>
            </a:r>
            <a:r>
              <a:rPr kumimoji="0" lang="zh-CN" altLang="en-US" sz="2800" b="1">
                <a:latin typeface="华文中宋" panose="02010600040101010101" pitchFamily="2" charset="-122"/>
              </a:rPr>
              <a:t>的重量为</a:t>
            </a:r>
            <a:r>
              <a:rPr kumimoji="0" lang="en-US" altLang="zh-CN" sz="2800" b="1">
                <a:latin typeface="华文中宋" panose="02010600040101010101" pitchFamily="2" charset="-122"/>
              </a:rPr>
              <a:t>w</a:t>
            </a:r>
            <a:r>
              <a:rPr kumimoji="0" lang="en-US" altLang="zh-CN" sz="2800" b="1" baseline="-25000">
                <a:latin typeface="华文中宋" panose="02010600040101010101" pitchFamily="2" charset="-122"/>
              </a:rPr>
              <a:t>i</a:t>
            </a:r>
            <a:r>
              <a:rPr kumimoji="0" lang="zh-CN" altLang="en-US" sz="2800" b="1">
                <a:latin typeface="华文中宋" panose="02010600040101010101" pitchFamily="2" charset="-122"/>
              </a:rPr>
              <a:t>，且</a:t>
            </a:r>
          </a:p>
        </p:txBody>
      </p:sp>
      <p:graphicFrame>
        <p:nvGraphicFramePr>
          <p:cNvPr id="102404" name="Object 4">
            <a:extLst>
              <a:ext uri="{FF2B5EF4-FFF2-40B4-BE49-F238E27FC236}">
                <a16:creationId xmlns:a16="http://schemas.microsoft.com/office/drawing/2014/main" id="{12F1EB9A-D587-436A-A839-67942D44F27D}"/>
              </a:ext>
            </a:extLst>
          </p:cNvPr>
          <p:cNvGraphicFramePr>
            <a:graphicFrameLocks noChangeAspect="1"/>
          </p:cNvGraphicFramePr>
          <p:nvPr/>
        </p:nvGraphicFramePr>
        <p:xfrm>
          <a:off x="4114800" y="1981200"/>
          <a:ext cx="1676400" cy="838200"/>
        </p:xfrm>
        <a:graphic>
          <a:graphicData uri="http://schemas.openxmlformats.org/presentationml/2006/ole">
            <mc:AlternateContent xmlns:mc="http://schemas.openxmlformats.org/markup-compatibility/2006">
              <mc:Choice xmlns:v="urn:schemas-microsoft-com:vml" Requires="v">
                <p:oleObj name="Microsoft 公式 3.0" r:id="rId2" imgW="927100" imgH="431800" progId="Equation.3">
                  <p:embed/>
                </p:oleObj>
              </mc:Choice>
              <mc:Fallback>
                <p:oleObj name="Microsoft 公式 3.0" r:id="rId2" imgW="927100" imgH="4318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981200"/>
                        <a:ext cx="1676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05" name="Text Box 5">
            <a:extLst>
              <a:ext uri="{FF2B5EF4-FFF2-40B4-BE49-F238E27FC236}">
                <a16:creationId xmlns:a16="http://schemas.microsoft.com/office/drawing/2014/main" id="{71B339F7-4ABB-4C02-8BA4-CC11EE397DB9}"/>
              </a:ext>
            </a:extLst>
          </p:cNvPr>
          <p:cNvSpPr txBox="1">
            <a:spLocks noChangeArrowheads="1"/>
          </p:cNvSpPr>
          <p:nvPr/>
        </p:nvSpPr>
        <p:spPr bwMode="auto">
          <a:xfrm>
            <a:off x="457200" y="2819400"/>
            <a:ext cx="79248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buFontTx/>
              <a:buChar char="•"/>
            </a:pPr>
            <a:r>
              <a:rPr kumimoji="0" lang="zh-CN" altLang="en-US" sz="2800" b="1">
                <a:latin typeface="华文中宋" panose="02010600040101010101" pitchFamily="2" charset="-122"/>
                <a:ea typeface="华文中宋" panose="02010600040101010101" pitchFamily="2" charset="-122"/>
              </a:rPr>
              <a:t>装载问题要求确定是否有一个合理的装载方案可将这个集装箱装上这</a:t>
            </a:r>
            <a:r>
              <a:rPr kumimoji="0" lang="en-US" altLang="zh-CN" sz="2800" b="1">
                <a:latin typeface="华文中宋" panose="02010600040101010101" pitchFamily="2" charset="-122"/>
                <a:ea typeface="华文中宋" panose="02010600040101010101" pitchFamily="2" charset="-122"/>
              </a:rPr>
              <a:t>2</a:t>
            </a:r>
            <a:r>
              <a:rPr kumimoji="0" lang="zh-CN" altLang="en-US" sz="2800" b="1">
                <a:latin typeface="华文中宋" panose="02010600040101010101" pitchFamily="2" charset="-122"/>
                <a:ea typeface="华文中宋" panose="02010600040101010101" pitchFamily="2" charset="-122"/>
              </a:rPr>
              <a:t>艘轮船。如果有，找出一种装载方案。 </a:t>
            </a:r>
          </a:p>
        </p:txBody>
      </p:sp>
      <p:sp>
        <p:nvSpPr>
          <p:cNvPr id="102406" name="Text Box 6">
            <a:extLst>
              <a:ext uri="{FF2B5EF4-FFF2-40B4-BE49-F238E27FC236}">
                <a16:creationId xmlns:a16="http://schemas.microsoft.com/office/drawing/2014/main" id="{8DBFE82A-45B0-4100-96B8-50F7A73887B4}"/>
              </a:ext>
            </a:extLst>
          </p:cNvPr>
          <p:cNvSpPr txBox="1">
            <a:spLocks noChangeArrowheads="1"/>
          </p:cNvSpPr>
          <p:nvPr/>
        </p:nvSpPr>
        <p:spPr bwMode="auto">
          <a:xfrm>
            <a:off x="381000" y="4191000"/>
            <a:ext cx="82296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buFontTx/>
              <a:buChar char="•"/>
            </a:pPr>
            <a:r>
              <a:rPr kumimoji="0" lang="zh-CN" altLang="en-US" sz="2800" b="1">
                <a:latin typeface="华文中宋" panose="02010600040101010101" pitchFamily="2" charset="-122"/>
                <a:ea typeface="华文中宋" panose="02010600040101010101" pitchFamily="2" charset="-122"/>
              </a:rPr>
              <a:t>如果一个给定装载问题有解，则采用装载策略 </a:t>
            </a:r>
          </a:p>
          <a:p>
            <a:pPr algn="just" eaLnBrk="1" hangingPunct="1">
              <a:spcBef>
                <a:spcPct val="50000"/>
              </a:spcBef>
            </a:pPr>
            <a:r>
              <a:rPr kumimoji="0" lang="en-US" altLang="zh-CN" sz="2800" b="1">
                <a:latin typeface="华文中宋" panose="02010600040101010101" pitchFamily="2" charset="-122"/>
                <a:ea typeface="华文中宋" panose="02010600040101010101" pitchFamily="2" charset="-122"/>
              </a:rPr>
              <a:t>(1)</a:t>
            </a:r>
            <a:r>
              <a:rPr kumimoji="0" lang="zh-CN" altLang="en-US" sz="2800" b="1">
                <a:latin typeface="华文中宋" panose="02010600040101010101" pitchFamily="2" charset="-122"/>
                <a:ea typeface="华文中宋" panose="02010600040101010101" pitchFamily="2" charset="-122"/>
              </a:rPr>
              <a:t>首先将第一艘轮船尽可能装满；</a:t>
            </a:r>
          </a:p>
          <a:p>
            <a:pPr algn="just" eaLnBrk="1" hangingPunct="1">
              <a:spcBef>
                <a:spcPct val="50000"/>
              </a:spcBef>
            </a:pPr>
            <a:r>
              <a:rPr kumimoji="0" lang="en-US" altLang="zh-CN" sz="2800" b="1">
                <a:latin typeface="华文中宋" panose="02010600040101010101" pitchFamily="2" charset="-122"/>
                <a:ea typeface="华文中宋" panose="02010600040101010101" pitchFamily="2" charset="-122"/>
              </a:rPr>
              <a:t>(2)</a:t>
            </a:r>
            <a:r>
              <a:rPr kumimoji="0" lang="zh-CN" altLang="en-US" sz="2800" b="1">
                <a:latin typeface="华文中宋" panose="02010600040101010101" pitchFamily="2" charset="-122"/>
                <a:ea typeface="华文中宋" panose="02010600040101010101" pitchFamily="2" charset="-122"/>
              </a:rPr>
              <a:t>将剩余的集装箱装上第二艘轮船。 </a:t>
            </a:r>
          </a:p>
        </p:txBody>
      </p:sp>
      <mc:AlternateContent xmlns:mc="http://schemas.openxmlformats.org/markup-compatibility/2006" xmlns:p14="http://schemas.microsoft.com/office/powerpoint/2010/main">
        <mc:Choice Requires="p14">
          <p:contentPart p14:bwMode="auto" r:id="rId4">
            <p14:nvContentPartPr>
              <p14:cNvPr id="2" name="墨迹 1">
                <a:extLst>
                  <a:ext uri="{FF2B5EF4-FFF2-40B4-BE49-F238E27FC236}">
                    <a16:creationId xmlns:a16="http://schemas.microsoft.com/office/drawing/2014/main" id="{3F0933D1-3F5B-2DD7-B04B-F5350F98B5DE}"/>
                  </a:ext>
                </a:extLst>
              </p14:cNvPr>
              <p14:cNvContentPartPr/>
              <p14:nvPr/>
            </p14:nvContentPartPr>
            <p14:xfrm>
              <a:off x="1926720" y="1082520"/>
              <a:ext cx="475920" cy="2471040"/>
            </p14:xfrm>
          </p:contentPart>
        </mc:Choice>
        <mc:Fallback xmlns="">
          <p:pic>
            <p:nvPicPr>
              <p:cNvPr id="2" name="墨迹 1">
                <a:extLst>
                  <a:ext uri="{FF2B5EF4-FFF2-40B4-BE49-F238E27FC236}">
                    <a16:creationId xmlns:a16="http://schemas.microsoft.com/office/drawing/2014/main" id="{3F0933D1-3F5B-2DD7-B04B-F5350F98B5DE}"/>
                  </a:ext>
                </a:extLst>
              </p:cNvPr>
              <p:cNvPicPr/>
              <p:nvPr/>
            </p:nvPicPr>
            <p:blipFill>
              <a:blip r:embed="rId5"/>
              <a:stretch>
                <a:fillRect/>
              </a:stretch>
            </p:blipFill>
            <p:spPr>
              <a:xfrm>
                <a:off x="1917360" y="1073160"/>
                <a:ext cx="494640" cy="24897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03">
                                            <p:txEl>
                                              <p:pRg st="0" end="0"/>
                                            </p:txEl>
                                          </p:spTgt>
                                        </p:tgtEl>
                                        <p:attrNameLst>
                                          <p:attrName>style.visibility</p:attrName>
                                        </p:attrNameLst>
                                      </p:cBhvr>
                                      <p:to>
                                        <p:strVal val="visible"/>
                                      </p:to>
                                    </p:set>
                                    <p:anim calcmode="lin" valueType="num">
                                      <p:cBhvr additive="base">
                                        <p:cTn id="7" dur="500" fill="hold"/>
                                        <p:tgtEl>
                                          <p:spTgt spid="1024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03">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nodeType="afterEffect">
                                  <p:stCondLst>
                                    <p:cond delay="0"/>
                                  </p:stCondLst>
                                  <p:childTnLst>
                                    <p:set>
                                      <p:cBhvr>
                                        <p:cTn id="11" dur="1" fill="hold">
                                          <p:stCondLst>
                                            <p:cond delay="0"/>
                                          </p:stCondLst>
                                        </p:cTn>
                                        <p:tgtEl>
                                          <p:spTgt spid="102404"/>
                                        </p:tgtEl>
                                        <p:attrNameLst>
                                          <p:attrName>style.visibility</p:attrName>
                                        </p:attrNameLst>
                                      </p:cBhvr>
                                      <p:to>
                                        <p:strVal val="visible"/>
                                      </p:to>
                                    </p:set>
                                    <p:anim calcmode="lin" valueType="num">
                                      <p:cBhvr additive="base">
                                        <p:cTn id="12" dur="500" fill="hold"/>
                                        <p:tgtEl>
                                          <p:spTgt spid="102404"/>
                                        </p:tgtEl>
                                        <p:attrNameLst>
                                          <p:attrName>ppt_x</p:attrName>
                                        </p:attrNameLst>
                                      </p:cBhvr>
                                      <p:tavLst>
                                        <p:tav tm="0">
                                          <p:val>
                                            <p:strVal val="0-#ppt_w/2"/>
                                          </p:val>
                                        </p:tav>
                                        <p:tav tm="100000">
                                          <p:val>
                                            <p:strVal val="#ppt_x"/>
                                          </p:val>
                                        </p:tav>
                                      </p:tavLst>
                                    </p:anim>
                                    <p:anim calcmode="lin" valueType="num">
                                      <p:cBhvr additive="base">
                                        <p:cTn id="13" dur="500" fill="hold"/>
                                        <p:tgtEl>
                                          <p:spTgt spid="102404"/>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02405"/>
                                        </p:tgtEl>
                                        <p:attrNameLst>
                                          <p:attrName>style.visibility</p:attrName>
                                        </p:attrNameLst>
                                      </p:cBhvr>
                                      <p:to>
                                        <p:strVal val="visible"/>
                                      </p:to>
                                    </p:set>
                                    <p:anim calcmode="lin" valueType="num">
                                      <p:cBhvr additive="base">
                                        <p:cTn id="18" dur="500" fill="hold"/>
                                        <p:tgtEl>
                                          <p:spTgt spid="102405"/>
                                        </p:tgtEl>
                                        <p:attrNameLst>
                                          <p:attrName>ppt_x</p:attrName>
                                        </p:attrNameLst>
                                      </p:cBhvr>
                                      <p:tavLst>
                                        <p:tav tm="0">
                                          <p:val>
                                            <p:strVal val="0-#ppt_w/2"/>
                                          </p:val>
                                        </p:tav>
                                        <p:tav tm="100000">
                                          <p:val>
                                            <p:strVal val="#ppt_x"/>
                                          </p:val>
                                        </p:tav>
                                      </p:tavLst>
                                    </p:anim>
                                    <p:anim calcmode="lin" valueType="num">
                                      <p:cBhvr additive="base">
                                        <p:cTn id="19" dur="500" fill="hold"/>
                                        <p:tgtEl>
                                          <p:spTgt spid="102405"/>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02406"/>
                                        </p:tgtEl>
                                        <p:attrNameLst>
                                          <p:attrName>style.visibility</p:attrName>
                                        </p:attrNameLst>
                                      </p:cBhvr>
                                      <p:to>
                                        <p:strVal val="visible"/>
                                      </p:to>
                                    </p:set>
                                    <p:anim calcmode="lin" valueType="num">
                                      <p:cBhvr additive="base">
                                        <p:cTn id="24" dur="500" fill="hold"/>
                                        <p:tgtEl>
                                          <p:spTgt spid="102406"/>
                                        </p:tgtEl>
                                        <p:attrNameLst>
                                          <p:attrName>ppt_x</p:attrName>
                                        </p:attrNameLst>
                                      </p:cBhvr>
                                      <p:tavLst>
                                        <p:tav tm="0">
                                          <p:val>
                                            <p:strVal val="0-#ppt_w/2"/>
                                          </p:val>
                                        </p:tav>
                                        <p:tav tm="100000">
                                          <p:val>
                                            <p:strVal val="#ppt_x"/>
                                          </p:val>
                                        </p:tav>
                                      </p:tavLst>
                                    </p:anim>
                                    <p:anim calcmode="lin" valueType="num">
                                      <p:cBhvr additive="base">
                                        <p:cTn id="25" dur="500" fill="hold"/>
                                        <p:tgtEl>
                                          <p:spTgt spid="1024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build="p" autoUpdateAnimBg="0"/>
      <p:bldP spid="102405" grpId="0" autoUpdateAnimBg="0"/>
      <p:bldP spid="102406"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A8F60C2A-BFBC-43F3-815A-739AB000A39E}"/>
              </a:ext>
            </a:extLst>
          </p:cNvPr>
          <p:cNvSpPr>
            <a:spLocks noGrp="1" noChangeArrowheads="1"/>
          </p:cNvSpPr>
          <p:nvPr>
            <p:ph type="title"/>
          </p:nvPr>
        </p:nvSpPr>
        <p:spPr bwMode="auto">
          <a:xfrm>
            <a:off x="685800" y="1524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pPr>
            <a:r>
              <a:rPr lang="en-US" altLang="zh-CN" sz="4000" b="1">
                <a:solidFill>
                  <a:schemeClr val="accent2"/>
                </a:solidFill>
              </a:rPr>
              <a:t>2. </a:t>
            </a:r>
            <a:r>
              <a:rPr lang="zh-CN" altLang="en-US" sz="4000" b="1">
                <a:solidFill>
                  <a:schemeClr val="accent2"/>
                </a:solidFill>
              </a:rPr>
              <a:t>队列式分支限界法</a:t>
            </a:r>
          </a:p>
        </p:txBody>
      </p:sp>
      <p:sp>
        <p:nvSpPr>
          <p:cNvPr id="103427" name="Rectangle 3">
            <a:extLst>
              <a:ext uri="{FF2B5EF4-FFF2-40B4-BE49-F238E27FC236}">
                <a16:creationId xmlns:a16="http://schemas.microsoft.com/office/drawing/2014/main" id="{3976A3F3-3C0D-4AC4-93DA-FC40F46624F7}"/>
              </a:ext>
            </a:extLst>
          </p:cNvPr>
          <p:cNvSpPr>
            <a:spLocks noGrp="1" noChangeArrowheads="1"/>
          </p:cNvSpPr>
          <p:nvPr>
            <p:ph type="body" idx="1"/>
          </p:nvPr>
        </p:nvSpPr>
        <p:spPr bwMode="auto">
          <a:xfrm>
            <a:off x="179388" y="914400"/>
            <a:ext cx="8424862" cy="1676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90000"/>
              </a:lnSpc>
              <a:spcBef>
                <a:spcPct val="50000"/>
              </a:spcBef>
            </a:pPr>
            <a:r>
              <a:rPr kumimoji="0" lang="zh-CN" altLang="en-US" sz="2600" b="1">
                <a:latin typeface="华文中宋" panose="02010600040101010101" pitchFamily="2" charset="-122"/>
              </a:rPr>
              <a:t>循环操作。先检测当前扩展结点</a:t>
            </a:r>
            <a:r>
              <a:rPr kumimoji="0" lang="en-US" altLang="zh-CN" sz="2600" b="1">
                <a:latin typeface="华文中宋" panose="02010600040101010101" pitchFamily="2" charset="-122"/>
              </a:rPr>
              <a:t>u</a:t>
            </a:r>
            <a:r>
              <a:rPr kumimoji="0" lang="zh-CN" altLang="en-US" sz="2600" b="1">
                <a:latin typeface="华文中宋" panose="02010600040101010101" pitchFamily="2" charset="-122"/>
              </a:rPr>
              <a:t>的左儿子</a:t>
            </a:r>
            <a:r>
              <a:rPr kumimoji="0" lang="en-US" altLang="zh-CN" sz="2600" b="1">
                <a:latin typeface="华文中宋" panose="02010600040101010101" pitchFamily="2" charset="-122"/>
              </a:rPr>
              <a:t>L</a:t>
            </a:r>
            <a:r>
              <a:rPr kumimoji="0" lang="zh-CN" altLang="en-US" sz="2600" b="1">
                <a:latin typeface="华文中宋" panose="02010600040101010101" pitchFamily="2" charset="-122"/>
              </a:rPr>
              <a:t>，如可行，将</a:t>
            </a:r>
            <a:r>
              <a:rPr kumimoji="0" lang="en-US" altLang="zh-CN" sz="2600" b="1">
                <a:latin typeface="华文中宋" panose="02010600040101010101" pitchFamily="2" charset="-122"/>
              </a:rPr>
              <a:t>L</a:t>
            </a:r>
            <a:r>
              <a:rPr kumimoji="0" lang="zh-CN" altLang="en-US" sz="2600" b="1">
                <a:latin typeface="华文中宋" panose="02010600040101010101" pitchFamily="2" charset="-122"/>
              </a:rPr>
              <a:t>加入到</a:t>
            </a:r>
            <a:r>
              <a:rPr kumimoji="0" lang="en-US" altLang="zh-CN" sz="2600" b="1">
                <a:latin typeface="华文中宋" panose="02010600040101010101" pitchFamily="2" charset="-122"/>
              </a:rPr>
              <a:t>Q</a:t>
            </a:r>
            <a:r>
              <a:rPr kumimoji="0" lang="zh-CN" altLang="en-US" sz="2600" b="1">
                <a:latin typeface="华文中宋" panose="02010600040101010101" pitchFamily="2" charset="-122"/>
              </a:rPr>
              <a:t>中。右儿子</a:t>
            </a:r>
            <a:r>
              <a:rPr kumimoji="0" lang="en-US" altLang="zh-CN" sz="2600" b="1">
                <a:latin typeface="华文中宋" panose="02010600040101010101" pitchFamily="2" charset="-122"/>
              </a:rPr>
              <a:t>R</a:t>
            </a:r>
            <a:r>
              <a:rPr kumimoji="0" lang="zh-CN" altLang="en-US" sz="2600" b="1">
                <a:latin typeface="华文中宋" panose="02010600040101010101" pitchFamily="2" charset="-122"/>
              </a:rPr>
              <a:t>必可行，将</a:t>
            </a:r>
            <a:r>
              <a:rPr kumimoji="0" lang="en-US" altLang="zh-CN" sz="2600" b="1">
                <a:latin typeface="华文中宋" panose="02010600040101010101" pitchFamily="2" charset="-122"/>
              </a:rPr>
              <a:t>R</a:t>
            </a:r>
            <a:r>
              <a:rPr kumimoji="0" lang="zh-CN" altLang="en-US" sz="2600" b="1">
                <a:latin typeface="华文中宋" panose="02010600040101010101" pitchFamily="2" charset="-122"/>
              </a:rPr>
              <a:t>加入</a:t>
            </a:r>
            <a:r>
              <a:rPr kumimoji="0" lang="en-US" altLang="zh-CN" sz="2600" b="1">
                <a:latin typeface="华文中宋" panose="02010600040101010101" pitchFamily="2" charset="-122"/>
              </a:rPr>
              <a:t>Q</a:t>
            </a:r>
            <a:r>
              <a:rPr kumimoji="0" lang="zh-CN" altLang="en-US" sz="2600" b="1">
                <a:latin typeface="华文中宋" panose="02010600040101010101" pitchFamily="2" charset="-122"/>
              </a:rPr>
              <a:t>中。</a:t>
            </a:r>
            <a:r>
              <a:rPr kumimoji="0" lang="en-US" altLang="zh-CN" sz="2600" b="1">
                <a:latin typeface="华文中宋" panose="02010600040101010101" pitchFamily="2" charset="-122"/>
              </a:rPr>
              <a:t>2</a:t>
            </a:r>
            <a:r>
              <a:rPr kumimoji="0" lang="zh-CN" altLang="en-US" sz="2600" b="1">
                <a:latin typeface="华文中宋" panose="02010600040101010101" pitchFamily="2" charset="-122"/>
              </a:rPr>
              <a:t>个儿子结点都产生后，舍弃</a:t>
            </a:r>
            <a:r>
              <a:rPr kumimoji="0" lang="en-US" altLang="zh-CN" sz="2600" b="1">
                <a:latin typeface="华文中宋" panose="02010600040101010101" pitchFamily="2" charset="-122"/>
              </a:rPr>
              <a:t>u</a:t>
            </a:r>
            <a:r>
              <a:rPr kumimoji="0" lang="zh-CN" altLang="en-US" sz="2600" b="1">
                <a:latin typeface="华文中宋" panose="02010600040101010101" pitchFamily="2" charset="-122"/>
              </a:rPr>
              <a:t>。必要时添加一个</a:t>
            </a:r>
            <a:r>
              <a:rPr kumimoji="0" lang="zh-CN" altLang="en-US" sz="2600" b="1">
                <a:solidFill>
                  <a:srgbClr val="FF0000"/>
                </a:solidFill>
                <a:latin typeface="华文中宋" panose="02010600040101010101" pitchFamily="2" charset="-122"/>
              </a:rPr>
              <a:t>层尾部标记</a:t>
            </a:r>
            <a:r>
              <a:rPr kumimoji="0" lang="en-US" altLang="zh-CN" sz="2600" b="1">
                <a:solidFill>
                  <a:srgbClr val="FF0000"/>
                </a:solidFill>
                <a:latin typeface="华文中宋" panose="02010600040101010101" pitchFamily="2" charset="-122"/>
              </a:rPr>
              <a:t>-1</a:t>
            </a:r>
            <a:r>
              <a:rPr kumimoji="0" lang="en-US" altLang="zh-CN" sz="2600" b="1">
                <a:latin typeface="华文中宋" panose="02010600040101010101" pitchFamily="2" charset="-122"/>
              </a:rPr>
              <a:t> </a:t>
            </a:r>
            <a:r>
              <a:rPr kumimoji="0" lang="zh-CN" altLang="en-US" sz="2600" b="1">
                <a:latin typeface="华文中宋" panose="02010600040101010101" pitchFamily="2" charset="-122"/>
              </a:rPr>
              <a:t>。</a:t>
            </a:r>
          </a:p>
        </p:txBody>
      </p:sp>
      <p:pic>
        <p:nvPicPr>
          <p:cNvPr id="103428" name="Picture 4" descr="t51">
            <a:extLst>
              <a:ext uri="{FF2B5EF4-FFF2-40B4-BE49-F238E27FC236}">
                <a16:creationId xmlns:a16="http://schemas.microsoft.com/office/drawing/2014/main" id="{40908A8E-A645-4712-98B2-47831CAC96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2819400"/>
            <a:ext cx="34290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9" name="Rectangle 5">
            <a:extLst>
              <a:ext uri="{FF2B5EF4-FFF2-40B4-BE49-F238E27FC236}">
                <a16:creationId xmlns:a16="http://schemas.microsoft.com/office/drawing/2014/main" id="{98A0C6EE-319D-4DB9-BB72-A11C774A0D5C}"/>
              </a:ext>
            </a:extLst>
          </p:cNvPr>
          <p:cNvSpPr>
            <a:spLocks noChangeArrowheads="1"/>
          </p:cNvSpPr>
          <p:nvPr/>
        </p:nvSpPr>
        <p:spPr bwMode="auto">
          <a:xfrm>
            <a:off x="381000" y="3309938"/>
            <a:ext cx="48768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buFontTx/>
              <a:buChar char="•"/>
            </a:pPr>
            <a:r>
              <a:rPr kumimoji="0" lang="zh-CN" altLang="en-US" b="1">
                <a:latin typeface="华文中宋" panose="02010600040101010101" pitchFamily="2" charset="-122"/>
                <a:ea typeface="华文中宋" panose="02010600040101010101" pitchFamily="2" charset="-122"/>
              </a:rPr>
              <a:t>从</a:t>
            </a:r>
            <a:r>
              <a:rPr kumimoji="0" lang="en-US" altLang="zh-CN" b="1">
                <a:latin typeface="华文中宋" panose="02010600040101010101" pitchFamily="2" charset="-122"/>
                <a:ea typeface="华文中宋" panose="02010600040101010101" pitchFamily="2" charset="-122"/>
              </a:rPr>
              <a:t>Q</a:t>
            </a:r>
            <a:r>
              <a:rPr kumimoji="0" lang="zh-CN" altLang="en-US" b="1">
                <a:latin typeface="华文中宋" panose="02010600040101010101" pitchFamily="2" charset="-122"/>
                <a:ea typeface="华文中宋" panose="02010600040101010101" pitchFamily="2" charset="-122"/>
              </a:rPr>
              <a:t>中取出队首元素作为当前扩展结点。取队首元素时，活结点队列一定不空。</a:t>
            </a:r>
          </a:p>
          <a:p>
            <a:pPr algn="just" eaLnBrk="1" hangingPunct="1">
              <a:spcBef>
                <a:spcPct val="50000"/>
              </a:spcBef>
              <a:buFontTx/>
              <a:buChar char="•"/>
            </a:pPr>
            <a:r>
              <a:rPr kumimoji="0" lang="zh-CN" altLang="en-US" b="1">
                <a:latin typeface="华文中宋" panose="02010600040101010101" pitchFamily="2" charset="-122"/>
                <a:ea typeface="华文中宋" panose="02010600040101010101" pitchFamily="2" charset="-122"/>
              </a:rPr>
              <a:t>当取出的元素是</a:t>
            </a:r>
            <a:r>
              <a:rPr kumimoji="0" lang="en-US" altLang="zh-CN" b="1">
                <a:latin typeface="华文中宋" panose="02010600040101010101" pitchFamily="2" charset="-122"/>
                <a:ea typeface="华文中宋" panose="02010600040101010101" pitchFamily="2" charset="-122"/>
              </a:rPr>
              <a:t>-1</a:t>
            </a:r>
            <a:r>
              <a:rPr kumimoji="0" lang="zh-CN" altLang="en-US" b="1">
                <a:latin typeface="华文中宋" panose="02010600040101010101" pitchFamily="2" charset="-122"/>
                <a:ea typeface="华文中宋" panose="02010600040101010101" pitchFamily="2" charset="-122"/>
              </a:rPr>
              <a:t>时，再判断当前</a:t>
            </a:r>
            <a:r>
              <a:rPr kumimoji="0" lang="en-US" altLang="zh-CN" b="1">
                <a:latin typeface="华文中宋" panose="02010600040101010101" pitchFamily="2" charset="-122"/>
                <a:ea typeface="华文中宋" panose="02010600040101010101" pitchFamily="2" charset="-122"/>
              </a:rPr>
              <a:t>Q</a:t>
            </a:r>
            <a:r>
              <a:rPr kumimoji="0" lang="zh-CN" altLang="en-US" b="1">
                <a:latin typeface="华文中宋" panose="02010600040101010101" pitchFamily="2" charset="-122"/>
                <a:ea typeface="华文中宋" panose="02010600040101010101" pitchFamily="2" charset="-122"/>
              </a:rPr>
              <a:t>是否为空。如</a:t>
            </a:r>
            <a:r>
              <a:rPr kumimoji="0" lang="en-US" altLang="zh-CN" b="1">
                <a:latin typeface="华文中宋" panose="02010600040101010101" pitchFamily="2" charset="-122"/>
                <a:ea typeface="华文中宋" panose="02010600040101010101" pitchFamily="2" charset="-122"/>
              </a:rPr>
              <a:t>Q</a:t>
            </a:r>
            <a:r>
              <a:rPr kumimoji="0" lang="zh-CN" altLang="en-US" b="1">
                <a:latin typeface="华文中宋" panose="02010600040101010101" pitchFamily="2" charset="-122"/>
                <a:ea typeface="华文中宋" panose="02010600040101010101" pitchFamily="2" charset="-122"/>
              </a:rPr>
              <a:t>非空，则将尾部标记</a:t>
            </a:r>
            <a:r>
              <a:rPr kumimoji="0" lang="en-US" altLang="zh-CN" b="1">
                <a:latin typeface="华文中宋" panose="02010600040101010101" pitchFamily="2" charset="-122"/>
                <a:ea typeface="华文中宋" panose="02010600040101010101" pitchFamily="2" charset="-122"/>
              </a:rPr>
              <a:t>-1</a:t>
            </a:r>
            <a:r>
              <a:rPr kumimoji="0" lang="zh-CN" altLang="en-US" b="1">
                <a:latin typeface="华文中宋" panose="02010600040101010101" pitchFamily="2" charset="-122"/>
                <a:ea typeface="华文中宋" panose="02010600040101010101" pitchFamily="2" charset="-122"/>
              </a:rPr>
              <a:t>加入</a:t>
            </a:r>
            <a:r>
              <a:rPr kumimoji="0" lang="en-US" altLang="zh-CN" b="1">
                <a:latin typeface="华文中宋" panose="02010600040101010101" pitchFamily="2" charset="-122"/>
                <a:ea typeface="华文中宋" panose="02010600040101010101" pitchFamily="2" charset="-122"/>
              </a:rPr>
              <a:t>Q</a:t>
            </a:r>
            <a:r>
              <a:rPr kumimoji="0" lang="zh-CN" altLang="en-US" b="1">
                <a:latin typeface="华文中宋" panose="02010600040101010101" pitchFamily="2" charset="-122"/>
                <a:ea typeface="华文中宋" panose="02010600040101010101" pitchFamily="2" charset="-122"/>
              </a:rPr>
              <a:t>，算法开始处理下一层的活结点。</a:t>
            </a:r>
          </a:p>
        </p:txBody>
      </p:sp>
      <p:sp>
        <p:nvSpPr>
          <p:cNvPr id="103430" name="Text Box 6">
            <a:extLst>
              <a:ext uri="{FF2B5EF4-FFF2-40B4-BE49-F238E27FC236}">
                <a16:creationId xmlns:a16="http://schemas.microsoft.com/office/drawing/2014/main" id="{17032E04-DD73-4604-AAC8-6103721450A3}"/>
              </a:ext>
            </a:extLst>
          </p:cNvPr>
          <p:cNvSpPr txBox="1">
            <a:spLocks noChangeArrowheads="1"/>
          </p:cNvSpPr>
          <p:nvPr/>
        </p:nvSpPr>
        <p:spPr bwMode="auto">
          <a:xfrm>
            <a:off x="5334000" y="3352800"/>
            <a:ext cx="457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0000"/>
                </a:solidFill>
                <a:ea typeface="华文中宋" panose="02010600040101010101" pitchFamily="2" charset="-122"/>
              </a:rPr>
              <a:t>10</a:t>
            </a:r>
          </a:p>
        </p:txBody>
      </p:sp>
      <p:sp>
        <p:nvSpPr>
          <p:cNvPr id="103431" name="Text Box 7">
            <a:extLst>
              <a:ext uri="{FF2B5EF4-FFF2-40B4-BE49-F238E27FC236}">
                <a16:creationId xmlns:a16="http://schemas.microsoft.com/office/drawing/2014/main" id="{09554DC8-2DC9-4D13-93B3-E8AF41D140AB}"/>
              </a:ext>
            </a:extLst>
          </p:cNvPr>
          <p:cNvSpPr txBox="1">
            <a:spLocks noChangeArrowheads="1"/>
          </p:cNvSpPr>
          <p:nvPr/>
        </p:nvSpPr>
        <p:spPr bwMode="auto">
          <a:xfrm>
            <a:off x="5334000" y="4038600"/>
            <a:ext cx="457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0000"/>
                </a:solidFill>
                <a:ea typeface="华文中宋" panose="02010600040101010101" pitchFamily="2" charset="-122"/>
              </a:rPr>
              <a:t>40</a:t>
            </a:r>
          </a:p>
        </p:txBody>
      </p:sp>
      <p:sp>
        <p:nvSpPr>
          <p:cNvPr id="103432" name="Text Box 8">
            <a:extLst>
              <a:ext uri="{FF2B5EF4-FFF2-40B4-BE49-F238E27FC236}">
                <a16:creationId xmlns:a16="http://schemas.microsoft.com/office/drawing/2014/main" id="{4CD1B184-C039-46FA-8434-F0526B8DCF69}"/>
              </a:ext>
            </a:extLst>
          </p:cNvPr>
          <p:cNvSpPr txBox="1">
            <a:spLocks noChangeArrowheads="1"/>
          </p:cNvSpPr>
          <p:nvPr/>
        </p:nvSpPr>
        <p:spPr bwMode="auto">
          <a:xfrm>
            <a:off x="5334000" y="4740275"/>
            <a:ext cx="457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0000"/>
                </a:solidFill>
                <a:ea typeface="华文中宋" panose="02010600040101010101" pitchFamily="2" charset="-122"/>
              </a:rPr>
              <a:t>40</a:t>
            </a:r>
          </a:p>
        </p:txBody>
      </p:sp>
      <p:sp>
        <p:nvSpPr>
          <p:cNvPr id="103434" name="Text Box 10">
            <a:extLst>
              <a:ext uri="{FF2B5EF4-FFF2-40B4-BE49-F238E27FC236}">
                <a16:creationId xmlns:a16="http://schemas.microsoft.com/office/drawing/2014/main" id="{FBBA072C-1F81-4890-9B11-9C286269C17A}"/>
              </a:ext>
            </a:extLst>
          </p:cNvPr>
          <p:cNvSpPr txBox="1">
            <a:spLocks noChangeArrowheads="1"/>
          </p:cNvSpPr>
          <p:nvPr/>
        </p:nvSpPr>
        <p:spPr bwMode="auto">
          <a:xfrm>
            <a:off x="5410200" y="2819400"/>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0000"/>
                </a:solidFill>
                <a:ea typeface="华文中宋" panose="02010600040101010101" pitchFamily="2" charset="-122"/>
              </a:rPr>
              <a:t>c=50</a:t>
            </a:r>
          </a:p>
        </p:txBody>
      </p:sp>
      <p:sp>
        <p:nvSpPr>
          <p:cNvPr id="11" name="TextBox 10">
            <a:extLst>
              <a:ext uri="{FF2B5EF4-FFF2-40B4-BE49-F238E27FC236}">
                <a16:creationId xmlns:a16="http://schemas.microsoft.com/office/drawing/2014/main" id="{7EC0FD8E-C8F8-406C-8FBC-30AF619CCC08}"/>
              </a:ext>
            </a:extLst>
          </p:cNvPr>
          <p:cNvSpPr txBox="1">
            <a:spLocks noChangeArrowheads="1"/>
          </p:cNvSpPr>
          <p:nvPr/>
        </p:nvSpPr>
        <p:spPr bwMode="auto">
          <a:xfrm>
            <a:off x="714375" y="2500313"/>
            <a:ext cx="42862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ea typeface="华文中宋" panose="02010600040101010101" pitchFamily="2" charset="-122"/>
              </a:rPr>
              <a:t>例：</a:t>
            </a:r>
            <a:r>
              <a:rPr lang="en-US" altLang="zh-CN">
                <a:ea typeface="华文中宋" panose="02010600040101010101" pitchFamily="2" charset="-122"/>
              </a:rPr>
              <a:t>n=3</a:t>
            </a:r>
            <a:r>
              <a:rPr lang="zh-CN" altLang="en-US">
                <a:ea typeface="华文中宋" panose="02010600040101010101" pitchFamily="2" charset="-122"/>
              </a:rPr>
              <a:t>，</a:t>
            </a:r>
            <a:r>
              <a:rPr lang="en-US" altLang="zh-CN">
                <a:ea typeface="华文中宋" panose="02010600040101010101" pitchFamily="2" charset="-122"/>
              </a:rPr>
              <a:t>c=5</a:t>
            </a:r>
            <a:r>
              <a:rPr lang="zh-CN" altLang="en-US">
                <a:ea typeface="华文中宋" panose="02010600040101010101" pitchFamily="2" charset="-122"/>
              </a:rPr>
              <a:t>，</a:t>
            </a:r>
            <a:r>
              <a:rPr lang="en-US" altLang="zh-CN">
                <a:ea typeface="华文中宋" panose="02010600040101010101" pitchFamily="2" charset="-122"/>
              </a:rPr>
              <a:t>w[]={10,40,40}</a:t>
            </a:r>
            <a:endParaRPr lang="zh-CN" altLang="en-US">
              <a:ea typeface="华文中宋" panose="02010600040101010101" pitchFamily="2" charset="-122"/>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7E814C90-56A8-020C-9CD6-0C72E3FD46B8}"/>
                  </a:ext>
                </a:extLst>
              </p14:cNvPr>
              <p14:cNvContentPartPr/>
              <p14:nvPr/>
            </p14:nvContentPartPr>
            <p14:xfrm>
              <a:off x="2647800" y="2647440"/>
              <a:ext cx="133200" cy="170640"/>
            </p14:xfrm>
          </p:contentPart>
        </mc:Choice>
        <mc:Fallback xmlns="">
          <p:pic>
            <p:nvPicPr>
              <p:cNvPr id="2" name="墨迹 1">
                <a:extLst>
                  <a:ext uri="{FF2B5EF4-FFF2-40B4-BE49-F238E27FC236}">
                    <a16:creationId xmlns:a16="http://schemas.microsoft.com/office/drawing/2014/main" id="{7E814C90-56A8-020C-9CD6-0C72E3FD46B8}"/>
                  </a:ext>
                </a:extLst>
              </p:cNvPr>
              <p:cNvPicPr/>
              <p:nvPr/>
            </p:nvPicPr>
            <p:blipFill>
              <a:blip r:embed="rId4"/>
              <a:stretch>
                <a:fillRect/>
              </a:stretch>
            </p:blipFill>
            <p:spPr>
              <a:xfrm>
                <a:off x="2638440" y="2638080"/>
                <a:ext cx="151920" cy="1893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3427">
                                            <p:txEl>
                                              <p:pRg st="0" end="0"/>
                                            </p:txEl>
                                          </p:spTgt>
                                        </p:tgtEl>
                                        <p:attrNameLst>
                                          <p:attrName>style.visibility</p:attrName>
                                        </p:attrNameLst>
                                      </p:cBhvr>
                                      <p:to>
                                        <p:strVal val="visible"/>
                                      </p:to>
                                    </p:set>
                                    <p:anim calcmode="lin" valueType="num">
                                      <p:cBhvr additive="base">
                                        <p:cTn id="7" dur="500" fill="hold"/>
                                        <p:tgtEl>
                                          <p:spTgt spid="1034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34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03428"/>
                                        </p:tgtEl>
                                        <p:attrNameLst>
                                          <p:attrName>style.visibility</p:attrName>
                                        </p:attrNameLst>
                                      </p:cBhvr>
                                      <p:to>
                                        <p:strVal val="visible"/>
                                      </p:to>
                                    </p:set>
                                    <p:anim calcmode="lin" valueType="num">
                                      <p:cBhvr additive="base">
                                        <p:cTn id="13" dur="500" fill="hold"/>
                                        <p:tgtEl>
                                          <p:spTgt spid="103428"/>
                                        </p:tgtEl>
                                        <p:attrNameLst>
                                          <p:attrName>ppt_x</p:attrName>
                                        </p:attrNameLst>
                                      </p:cBhvr>
                                      <p:tavLst>
                                        <p:tav tm="0">
                                          <p:val>
                                            <p:strVal val="0-#ppt_w/2"/>
                                          </p:val>
                                        </p:tav>
                                        <p:tav tm="100000">
                                          <p:val>
                                            <p:strVal val="#ppt_x"/>
                                          </p:val>
                                        </p:tav>
                                      </p:tavLst>
                                    </p:anim>
                                    <p:anim calcmode="lin" valueType="num">
                                      <p:cBhvr additive="base">
                                        <p:cTn id="14" dur="500" fill="hold"/>
                                        <p:tgtEl>
                                          <p:spTgt spid="103428"/>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500"/>
                            </p:stCondLst>
                            <p:childTnLst>
                              <p:par>
                                <p:cTn id="16" presetID="2" presetClass="entr" presetSubtype="8" fill="hold" grpId="0" nodeType="afterEffect">
                                  <p:stCondLst>
                                    <p:cond delay="0"/>
                                  </p:stCondLst>
                                  <p:childTnLst>
                                    <p:set>
                                      <p:cBhvr>
                                        <p:cTn id="17" dur="1" fill="hold">
                                          <p:stCondLst>
                                            <p:cond delay="0"/>
                                          </p:stCondLst>
                                        </p:cTn>
                                        <p:tgtEl>
                                          <p:spTgt spid="103430"/>
                                        </p:tgtEl>
                                        <p:attrNameLst>
                                          <p:attrName>style.visibility</p:attrName>
                                        </p:attrNameLst>
                                      </p:cBhvr>
                                      <p:to>
                                        <p:strVal val="visible"/>
                                      </p:to>
                                    </p:set>
                                    <p:anim calcmode="lin" valueType="num">
                                      <p:cBhvr additive="base">
                                        <p:cTn id="18" dur="500" fill="hold"/>
                                        <p:tgtEl>
                                          <p:spTgt spid="103430"/>
                                        </p:tgtEl>
                                        <p:attrNameLst>
                                          <p:attrName>ppt_x</p:attrName>
                                        </p:attrNameLst>
                                      </p:cBhvr>
                                      <p:tavLst>
                                        <p:tav tm="0">
                                          <p:val>
                                            <p:strVal val="0-#ppt_w/2"/>
                                          </p:val>
                                        </p:tav>
                                        <p:tav tm="100000">
                                          <p:val>
                                            <p:strVal val="#ppt_x"/>
                                          </p:val>
                                        </p:tav>
                                      </p:tavLst>
                                    </p:anim>
                                    <p:anim calcmode="lin" valueType="num">
                                      <p:cBhvr additive="base">
                                        <p:cTn id="19" dur="500" fill="hold"/>
                                        <p:tgtEl>
                                          <p:spTgt spid="103430"/>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1000"/>
                            </p:stCondLst>
                            <p:childTnLst>
                              <p:par>
                                <p:cTn id="21" presetID="2" presetClass="entr" presetSubtype="8" fill="hold" grpId="0" nodeType="afterEffect">
                                  <p:stCondLst>
                                    <p:cond delay="0"/>
                                  </p:stCondLst>
                                  <p:childTnLst>
                                    <p:set>
                                      <p:cBhvr>
                                        <p:cTn id="22" dur="1" fill="hold">
                                          <p:stCondLst>
                                            <p:cond delay="0"/>
                                          </p:stCondLst>
                                        </p:cTn>
                                        <p:tgtEl>
                                          <p:spTgt spid="103431"/>
                                        </p:tgtEl>
                                        <p:attrNameLst>
                                          <p:attrName>style.visibility</p:attrName>
                                        </p:attrNameLst>
                                      </p:cBhvr>
                                      <p:to>
                                        <p:strVal val="visible"/>
                                      </p:to>
                                    </p:set>
                                    <p:anim calcmode="lin" valueType="num">
                                      <p:cBhvr additive="base">
                                        <p:cTn id="23" dur="500" fill="hold"/>
                                        <p:tgtEl>
                                          <p:spTgt spid="103431"/>
                                        </p:tgtEl>
                                        <p:attrNameLst>
                                          <p:attrName>ppt_x</p:attrName>
                                        </p:attrNameLst>
                                      </p:cBhvr>
                                      <p:tavLst>
                                        <p:tav tm="0">
                                          <p:val>
                                            <p:strVal val="0-#ppt_w/2"/>
                                          </p:val>
                                        </p:tav>
                                        <p:tav tm="100000">
                                          <p:val>
                                            <p:strVal val="#ppt_x"/>
                                          </p:val>
                                        </p:tav>
                                      </p:tavLst>
                                    </p:anim>
                                    <p:anim calcmode="lin" valueType="num">
                                      <p:cBhvr additive="base">
                                        <p:cTn id="24" dur="500" fill="hold"/>
                                        <p:tgtEl>
                                          <p:spTgt spid="103431"/>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1500"/>
                            </p:stCondLst>
                            <p:childTnLst>
                              <p:par>
                                <p:cTn id="26" presetID="2" presetClass="entr" presetSubtype="8" fill="hold" grpId="0" nodeType="afterEffect">
                                  <p:stCondLst>
                                    <p:cond delay="0"/>
                                  </p:stCondLst>
                                  <p:childTnLst>
                                    <p:set>
                                      <p:cBhvr>
                                        <p:cTn id="27" dur="1" fill="hold">
                                          <p:stCondLst>
                                            <p:cond delay="0"/>
                                          </p:stCondLst>
                                        </p:cTn>
                                        <p:tgtEl>
                                          <p:spTgt spid="103432"/>
                                        </p:tgtEl>
                                        <p:attrNameLst>
                                          <p:attrName>style.visibility</p:attrName>
                                        </p:attrNameLst>
                                      </p:cBhvr>
                                      <p:to>
                                        <p:strVal val="visible"/>
                                      </p:to>
                                    </p:set>
                                    <p:anim calcmode="lin" valueType="num">
                                      <p:cBhvr additive="base">
                                        <p:cTn id="28" dur="500" fill="hold"/>
                                        <p:tgtEl>
                                          <p:spTgt spid="103432"/>
                                        </p:tgtEl>
                                        <p:attrNameLst>
                                          <p:attrName>ppt_x</p:attrName>
                                        </p:attrNameLst>
                                      </p:cBhvr>
                                      <p:tavLst>
                                        <p:tav tm="0">
                                          <p:val>
                                            <p:strVal val="0-#ppt_w/2"/>
                                          </p:val>
                                        </p:tav>
                                        <p:tav tm="100000">
                                          <p:val>
                                            <p:strVal val="#ppt_x"/>
                                          </p:val>
                                        </p:tav>
                                      </p:tavLst>
                                    </p:anim>
                                    <p:anim calcmode="lin" valueType="num">
                                      <p:cBhvr additive="base">
                                        <p:cTn id="29" dur="500" fill="hold"/>
                                        <p:tgtEl>
                                          <p:spTgt spid="103432"/>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additive="base">
                                        <p:cTn id="34" dur="500" fill="hold"/>
                                        <p:tgtEl>
                                          <p:spTgt spid="11"/>
                                        </p:tgtEl>
                                        <p:attrNameLst>
                                          <p:attrName>ppt_x</p:attrName>
                                        </p:attrNameLst>
                                      </p:cBhvr>
                                      <p:tavLst>
                                        <p:tav tm="0">
                                          <p:val>
                                            <p:strVal val="#ppt_x"/>
                                          </p:val>
                                        </p:tav>
                                        <p:tav tm="100000">
                                          <p:val>
                                            <p:strVal val="#ppt_x"/>
                                          </p:val>
                                        </p:tav>
                                      </p:tavLst>
                                    </p:anim>
                                    <p:anim calcmode="lin" valueType="num">
                                      <p:cBhvr additive="base">
                                        <p:cTn id="35" dur="500" fill="hold"/>
                                        <p:tgtEl>
                                          <p:spTgt spid="11"/>
                                        </p:tgtEl>
                                        <p:attrNameLst>
                                          <p:attrName>ppt_y</p:attrName>
                                        </p:attrNameLst>
                                      </p:cBhvr>
                                      <p:tavLst>
                                        <p:tav tm="0">
                                          <p:val>
                                            <p:strVal val="1+#ppt_h/2"/>
                                          </p:val>
                                        </p:tav>
                                        <p:tav tm="100000">
                                          <p:val>
                                            <p:strVal val="#ppt_y"/>
                                          </p:val>
                                        </p:tav>
                                      </p:tavLst>
                                    </p:anim>
                                  </p:childTnLst>
                                </p:cTn>
                              </p:par>
                            </p:childTnLst>
                          </p:cTn>
                        </p:par>
                        <p:par>
                          <p:cTn id="36" fill="hold" nodeType="afterGroup">
                            <p:stCondLst>
                              <p:cond delay="500"/>
                            </p:stCondLst>
                            <p:childTnLst>
                              <p:par>
                                <p:cTn id="37" presetID="2" presetClass="entr" presetSubtype="8" fill="hold" grpId="0" nodeType="afterEffect">
                                  <p:stCondLst>
                                    <p:cond delay="0"/>
                                  </p:stCondLst>
                                  <p:childTnLst>
                                    <p:set>
                                      <p:cBhvr>
                                        <p:cTn id="38" dur="1" fill="hold">
                                          <p:stCondLst>
                                            <p:cond delay="0"/>
                                          </p:stCondLst>
                                        </p:cTn>
                                        <p:tgtEl>
                                          <p:spTgt spid="103434"/>
                                        </p:tgtEl>
                                        <p:attrNameLst>
                                          <p:attrName>style.visibility</p:attrName>
                                        </p:attrNameLst>
                                      </p:cBhvr>
                                      <p:to>
                                        <p:strVal val="visible"/>
                                      </p:to>
                                    </p:set>
                                    <p:anim calcmode="lin" valueType="num">
                                      <p:cBhvr additive="base">
                                        <p:cTn id="39" dur="500" fill="hold"/>
                                        <p:tgtEl>
                                          <p:spTgt spid="103434"/>
                                        </p:tgtEl>
                                        <p:attrNameLst>
                                          <p:attrName>ppt_x</p:attrName>
                                        </p:attrNameLst>
                                      </p:cBhvr>
                                      <p:tavLst>
                                        <p:tav tm="0">
                                          <p:val>
                                            <p:strVal val="0-#ppt_w/2"/>
                                          </p:val>
                                        </p:tav>
                                        <p:tav tm="100000">
                                          <p:val>
                                            <p:strVal val="#ppt_x"/>
                                          </p:val>
                                        </p:tav>
                                      </p:tavLst>
                                    </p:anim>
                                    <p:anim calcmode="lin" valueType="num">
                                      <p:cBhvr additive="base">
                                        <p:cTn id="40" dur="500" fill="hold"/>
                                        <p:tgtEl>
                                          <p:spTgt spid="103434"/>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103429"/>
                                        </p:tgtEl>
                                        <p:attrNameLst>
                                          <p:attrName>style.visibility</p:attrName>
                                        </p:attrNameLst>
                                      </p:cBhvr>
                                      <p:to>
                                        <p:strVal val="visible"/>
                                      </p:to>
                                    </p:set>
                                    <p:anim calcmode="lin" valueType="num">
                                      <p:cBhvr additive="base">
                                        <p:cTn id="45" dur="500" fill="hold"/>
                                        <p:tgtEl>
                                          <p:spTgt spid="103429"/>
                                        </p:tgtEl>
                                        <p:attrNameLst>
                                          <p:attrName>ppt_x</p:attrName>
                                        </p:attrNameLst>
                                      </p:cBhvr>
                                      <p:tavLst>
                                        <p:tav tm="0">
                                          <p:val>
                                            <p:strVal val="0-#ppt_w/2"/>
                                          </p:val>
                                        </p:tav>
                                        <p:tav tm="100000">
                                          <p:val>
                                            <p:strVal val="#ppt_x"/>
                                          </p:val>
                                        </p:tav>
                                      </p:tavLst>
                                    </p:anim>
                                    <p:anim calcmode="lin" valueType="num">
                                      <p:cBhvr additive="base">
                                        <p:cTn id="46" dur="500" fill="hold"/>
                                        <p:tgtEl>
                                          <p:spTgt spid="1034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build="p" autoUpdateAnimBg="0"/>
      <p:bldP spid="103429" grpId="0" autoUpdateAnimBg="0"/>
      <p:bldP spid="103430" grpId="0" autoUpdateAnimBg="0"/>
      <p:bldP spid="103431" grpId="0" autoUpdateAnimBg="0"/>
      <p:bldP spid="103432" grpId="0" autoUpdateAnimBg="0"/>
      <p:bldP spid="103434" grpId="0" autoUpdateAnimBg="0"/>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6035A074-4999-4A32-B3E6-6C2ED3D2640A}"/>
              </a:ext>
            </a:extLst>
          </p:cNvPr>
          <p:cNvSpPr>
            <a:spLocks noGrp="1" noChangeArrowheads="1"/>
          </p:cNvSpPr>
          <p:nvPr>
            <p:ph type="title"/>
          </p:nvPr>
        </p:nvSpPr>
        <p:spPr bwMode="auto">
          <a:xfrm>
            <a:off x="685800" y="152400"/>
            <a:ext cx="8153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spcBef>
                <a:spcPct val="50000"/>
              </a:spcBef>
            </a:pPr>
            <a:r>
              <a:rPr kumimoji="0" lang="en-US" altLang="zh-CN" sz="3600" b="1" dirty="0" err="1">
                <a:latin typeface="华文中宋" panose="02010600040101010101" pitchFamily="2" charset="-122"/>
              </a:rPr>
              <a:t>MaxLoading</a:t>
            </a:r>
            <a:r>
              <a:rPr kumimoji="0" lang="zh-CN" altLang="en-US" sz="3600" b="1" dirty="0">
                <a:latin typeface="华文中宋" panose="02010600040101010101" pitchFamily="2" charset="-122"/>
              </a:rPr>
              <a:t>实现对解空间的限界操作</a:t>
            </a:r>
          </a:p>
        </p:txBody>
      </p:sp>
      <p:sp>
        <p:nvSpPr>
          <p:cNvPr id="104451" name="Rectangle 3">
            <a:extLst>
              <a:ext uri="{FF2B5EF4-FFF2-40B4-BE49-F238E27FC236}">
                <a16:creationId xmlns:a16="http://schemas.microsoft.com/office/drawing/2014/main" id="{DD1ACC16-D310-4C20-B4A0-4A4DDE73A79C}"/>
              </a:ext>
            </a:extLst>
          </p:cNvPr>
          <p:cNvSpPr>
            <a:spLocks noGrp="1" noChangeArrowheads="1"/>
          </p:cNvSpPr>
          <p:nvPr>
            <p:ph type="body" idx="1"/>
          </p:nvPr>
        </p:nvSpPr>
        <p:spPr bwMode="auto">
          <a:xfrm>
            <a:off x="381000" y="838200"/>
            <a:ext cx="8610600" cy="1524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80000"/>
              </a:lnSpc>
              <a:spcBef>
                <a:spcPct val="50000"/>
              </a:spcBef>
              <a:buFontTx/>
              <a:buNone/>
            </a:pPr>
            <a:r>
              <a:rPr kumimoji="0" lang="en-US" altLang="zh-CN" sz="2400" b="1">
                <a:solidFill>
                  <a:srgbClr val="0000FF"/>
                </a:solidFill>
              </a:rPr>
              <a:t>c</a:t>
            </a:r>
            <a:r>
              <a:rPr kumimoji="0" lang="zh-CN" altLang="en-US" sz="2400" b="1">
                <a:solidFill>
                  <a:srgbClr val="0000FF"/>
                </a:solidFill>
              </a:rPr>
              <a:t>：载重量    </a:t>
            </a:r>
            <a:r>
              <a:rPr kumimoji="0" lang="en-US" altLang="zh-CN" sz="2400" b="1">
                <a:solidFill>
                  <a:srgbClr val="0000FF"/>
                </a:solidFill>
              </a:rPr>
              <a:t>w[i]</a:t>
            </a:r>
            <a:r>
              <a:rPr kumimoji="0" lang="zh-CN" altLang="en-US" sz="2400" b="1">
                <a:solidFill>
                  <a:srgbClr val="0000FF"/>
                </a:solidFill>
              </a:rPr>
              <a:t>：第</a:t>
            </a:r>
            <a:r>
              <a:rPr kumimoji="0" lang="en-US" altLang="zh-CN" sz="2400" b="1">
                <a:solidFill>
                  <a:srgbClr val="0000FF"/>
                </a:solidFill>
              </a:rPr>
              <a:t>i</a:t>
            </a:r>
            <a:r>
              <a:rPr kumimoji="0" lang="zh-CN" altLang="en-US" sz="2400" b="1">
                <a:solidFill>
                  <a:srgbClr val="0000FF"/>
                </a:solidFill>
              </a:rPr>
              <a:t>个集装箱重量</a:t>
            </a:r>
          </a:p>
          <a:p>
            <a:pPr algn="just" eaLnBrk="1" hangingPunct="1">
              <a:lnSpc>
                <a:spcPct val="80000"/>
              </a:lnSpc>
              <a:spcBef>
                <a:spcPct val="50000"/>
              </a:spcBef>
              <a:buFontTx/>
              <a:buNone/>
            </a:pPr>
            <a:r>
              <a:rPr kumimoji="0" lang="en-US" altLang="zh-CN" sz="2400" b="1">
                <a:solidFill>
                  <a:srgbClr val="0000FF"/>
                </a:solidFill>
              </a:rPr>
              <a:t>Ew</a:t>
            </a:r>
            <a:r>
              <a:rPr kumimoji="0" lang="zh-CN" altLang="en-US" sz="2400" b="1">
                <a:solidFill>
                  <a:srgbClr val="0000FF"/>
                </a:solidFill>
              </a:rPr>
              <a:t>：扩展结点所相应的载重量       </a:t>
            </a:r>
            <a:r>
              <a:rPr kumimoji="0" lang="en-US" altLang="zh-CN" sz="2400" b="1">
                <a:solidFill>
                  <a:srgbClr val="0000FF"/>
                </a:solidFill>
              </a:rPr>
              <a:t>bestw</a:t>
            </a:r>
            <a:r>
              <a:rPr kumimoji="0" lang="zh-CN" altLang="en-US" sz="2400" b="1">
                <a:solidFill>
                  <a:srgbClr val="0000FF"/>
                </a:solidFill>
              </a:rPr>
              <a:t>：</a:t>
            </a:r>
            <a:r>
              <a:rPr kumimoji="0" lang="zh-CN" altLang="en-US" sz="2400" b="1">
                <a:solidFill>
                  <a:srgbClr val="0000FF"/>
                </a:solidFill>
                <a:latin typeface="华文中宋" panose="02010600040101010101" pitchFamily="2" charset="-122"/>
              </a:rPr>
              <a:t>当前最优载重量</a:t>
            </a:r>
            <a:r>
              <a:rPr kumimoji="0" lang="zh-CN" altLang="en-US" sz="2400" b="1">
                <a:solidFill>
                  <a:srgbClr val="0000FF"/>
                </a:solidFill>
                <a:cs typeface="Times New Roman" panose="02020603050405020304" pitchFamily="18" charset="0"/>
              </a:rPr>
              <a:t> </a:t>
            </a:r>
          </a:p>
          <a:p>
            <a:pPr algn="just" eaLnBrk="1" hangingPunct="1">
              <a:lnSpc>
                <a:spcPct val="80000"/>
              </a:lnSpc>
              <a:spcBef>
                <a:spcPct val="50000"/>
              </a:spcBef>
              <a:buFontTx/>
              <a:buNone/>
            </a:pPr>
            <a:r>
              <a:rPr kumimoji="0" lang="zh-CN" altLang="en-US" sz="2600" b="1">
                <a:solidFill>
                  <a:srgbClr val="FF0000"/>
                </a:solidFill>
              </a:rPr>
              <a:t>函数</a:t>
            </a:r>
            <a:r>
              <a:rPr kumimoji="0" lang="en-US" altLang="zh-CN" sz="2600" b="1">
                <a:solidFill>
                  <a:srgbClr val="FF0000"/>
                </a:solidFill>
              </a:rPr>
              <a:t>EnQueue</a:t>
            </a:r>
            <a:r>
              <a:rPr kumimoji="0" lang="zh-CN" altLang="en-US" sz="2600" b="1">
                <a:solidFill>
                  <a:srgbClr val="FF0000"/>
                </a:solidFill>
              </a:rPr>
              <a:t>：</a:t>
            </a:r>
            <a:r>
              <a:rPr kumimoji="0" lang="zh-CN" altLang="en-US" sz="2000" b="1">
                <a:solidFill>
                  <a:srgbClr val="0000FF"/>
                </a:solidFill>
                <a:latin typeface="华文中宋" panose="02010600040101010101" pitchFamily="2" charset="-122"/>
              </a:rPr>
              <a:t>将活结点加人到活结点队列</a:t>
            </a:r>
            <a:r>
              <a:rPr kumimoji="0" lang="en-US" altLang="zh-CN" sz="2000" b="1">
                <a:solidFill>
                  <a:srgbClr val="0000FF"/>
                </a:solidFill>
              </a:rPr>
              <a:t>Q</a:t>
            </a:r>
            <a:r>
              <a:rPr kumimoji="0" lang="zh-CN" altLang="en-US" sz="2000" b="1">
                <a:solidFill>
                  <a:srgbClr val="0000FF"/>
                </a:solidFill>
                <a:latin typeface="华文中宋" panose="02010600040101010101" pitchFamily="2" charset="-122"/>
              </a:rPr>
              <a:t>中</a:t>
            </a:r>
            <a:endParaRPr kumimoji="0" lang="zh-CN" altLang="en-US" sz="2000" b="1">
              <a:solidFill>
                <a:srgbClr val="0000FF"/>
              </a:solidFill>
            </a:endParaRPr>
          </a:p>
        </p:txBody>
      </p:sp>
      <p:sp>
        <p:nvSpPr>
          <p:cNvPr id="104452" name="Rectangle 4">
            <a:extLst>
              <a:ext uri="{FF2B5EF4-FFF2-40B4-BE49-F238E27FC236}">
                <a16:creationId xmlns:a16="http://schemas.microsoft.com/office/drawing/2014/main" id="{804DC88D-7000-4463-B0A7-ECAACFC156E3}"/>
              </a:ext>
            </a:extLst>
          </p:cNvPr>
          <p:cNvSpPr>
            <a:spLocks noChangeArrowheads="1"/>
          </p:cNvSpPr>
          <p:nvPr/>
        </p:nvSpPr>
        <p:spPr bwMode="auto">
          <a:xfrm>
            <a:off x="381000" y="2209800"/>
            <a:ext cx="84582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80000"/>
              </a:lnSpc>
              <a:spcBef>
                <a:spcPct val="50000"/>
              </a:spcBef>
            </a:pPr>
            <a:r>
              <a:rPr kumimoji="0" lang="en-US" altLang="zh-CN" sz="2000" b="1">
                <a:solidFill>
                  <a:srgbClr val="0000FF"/>
                </a:solidFill>
                <a:ea typeface="华文中宋" panose="02010600040101010101" pitchFamily="2" charset="-122"/>
              </a:rPr>
              <a:t> </a:t>
            </a:r>
            <a:r>
              <a:rPr kumimoji="0" lang="en-US" altLang="zh-CN" sz="2000" b="1">
                <a:solidFill>
                  <a:srgbClr val="0000FF"/>
                </a:solidFill>
                <a:ea typeface="华文中宋" panose="02010600040101010101" pitchFamily="2" charset="-122"/>
                <a:cs typeface="Times New Roman" panose="02020603050405020304" pitchFamily="18" charset="0"/>
              </a:rPr>
              <a:t>while (true) {   </a:t>
            </a:r>
            <a:r>
              <a:rPr kumimoji="0" lang="en-US" altLang="zh-CN" b="1">
                <a:solidFill>
                  <a:srgbClr val="0000FF"/>
                </a:solidFill>
                <a:ea typeface="华文中宋" panose="02010600040101010101" pitchFamily="2" charset="-122"/>
                <a:cs typeface="Times New Roman" panose="02020603050405020304" pitchFamily="18" charset="0"/>
              </a:rPr>
              <a:t>// </a:t>
            </a:r>
            <a:r>
              <a:rPr kumimoji="0" lang="en-US" altLang="zh-CN" b="1">
                <a:solidFill>
                  <a:srgbClr val="FF0000"/>
                </a:solidFill>
                <a:latin typeface="华文中宋" panose="02010600040101010101" pitchFamily="2" charset="-122"/>
                <a:ea typeface="华文中宋" panose="02010600040101010101" pitchFamily="2" charset="-122"/>
              </a:rPr>
              <a:t>MaxLoading</a:t>
            </a:r>
            <a:r>
              <a:rPr kumimoji="0" lang="zh-CN" altLang="en-US" b="1">
                <a:solidFill>
                  <a:srgbClr val="FF0000"/>
                </a:solidFill>
                <a:latin typeface="华文中宋" panose="02010600040101010101" pitchFamily="2" charset="-122"/>
                <a:ea typeface="华文中宋" panose="02010600040101010101" pitchFamily="2" charset="-122"/>
              </a:rPr>
              <a:t>部分算法</a:t>
            </a:r>
            <a:endParaRPr kumimoji="0" lang="zh-CN" altLang="en-US" b="1">
              <a:solidFill>
                <a:srgbClr val="FF0000"/>
              </a:solidFill>
              <a:ea typeface="华文中宋" panose="02010600040101010101" pitchFamily="2" charset="-122"/>
            </a:endParaRPr>
          </a:p>
          <a:p>
            <a:pPr algn="just" eaLnBrk="1" hangingPunct="1">
              <a:lnSpc>
                <a:spcPct val="80000"/>
              </a:lnSpc>
              <a:spcBef>
                <a:spcPct val="50000"/>
              </a:spcBef>
            </a:pPr>
            <a:r>
              <a:rPr kumimoji="0" lang="zh-CN" altLang="en-US" sz="2000" b="1">
                <a:solidFill>
                  <a:srgbClr val="0000FF"/>
                </a:solidFill>
                <a:ea typeface="华文中宋" panose="02010600040101010101" pitchFamily="2" charset="-122"/>
              </a:rPr>
              <a:t>        </a:t>
            </a:r>
            <a:r>
              <a:rPr kumimoji="0" lang="en-US" altLang="zh-CN" sz="2000" b="1">
                <a:solidFill>
                  <a:srgbClr val="0000FF"/>
                </a:solidFill>
                <a:ea typeface="华文中宋" panose="02010600040101010101" pitchFamily="2" charset="-122"/>
              </a:rPr>
              <a:t>if (</a:t>
            </a:r>
            <a:r>
              <a:rPr kumimoji="0" lang="en-US" altLang="zh-CN" b="1">
                <a:solidFill>
                  <a:srgbClr val="FF0000"/>
                </a:solidFill>
                <a:ea typeface="华文中宋" panose="02010600040101010101" pitchFamily="2" charset="-122"/>
              </a:rPr>
              <a:t>Ew + w[i]</a:t>
            </a:r>
            <a:r>
              <a:rPr kumimoji="0" lang="en-US" altLang="zh-CN" b="1">
                <a:solidFill>
                  <a:srgbClr val="0000FF"/>
                </a:solidFill>
                <a:ea typeface="华文中宋" panose="02010600040101010101" pitchFamily="2" charset="-122"/>
              </a:rPr>
              <a:t> &lt;= c</a:t>
            </a:r>
            <a:r>
              <a:rPr kumimoji="0" lang="en-US" altLang="zh-CN" sz="2000" b="1">
                <a:solidFill>
                  <a:srgbClr val="0000FF"/>
                </a:solidFill>
                <a:ea typeface="华文中宋" panose="02010600040101010101" pitchFamily="2" charset="-122"/>
              </a:rPr>
              <a:t>)                    </a:t>
            </a:r>
            <a:r>
              <a:rPr kumimoji="0" lang="en-US" altLang="zh-CN" sz="2000" b="1">
                <a:ea typeface="华文中宋" panose="02010600040101010101" pitchFamily="2" charset="-122"/>
              </a:rPr>
              <a:t>// </a:t>
            </a:r>
            <a:r>
              <a:rPr kumimoji="0" lang="zh-CN" altLang="en-US" sz="2000" b="1">
                <a:latin typeface="华文中宋" panose="02010600040101010101" pitchFamily="2" charset="-122"/>
                <a:ea typeface="华文中宋" panose="02010600040101010101" pitchFamily="2" charset="-122"/>
              </a:rPr>
              <a:t>检查左儿子结点。</a:t>
            </a:r>
            <a:endParaRPr kumimoji="0" lang="zh-CN" altLang="en-US" sz="2000" b="1">
              <a:solidFill>
                <a:srgbClr val="0000FF"/>
              </a:solidFill>
              <a:ea typeface="华文中宋" panose="02010600040101010101" pitchFamily="2" charset="-122"/>
            </a:endParaRPr>
          </a:p>
          <a:p>
            <a:pPr algn="just" eaLnBrk="1" hangingPunct="1">
              <a:lnSpc>
                <a:spcPct val="80000"/>
              </a:lnSpc>
              <a:spcBef>
                <a:spcPct val="50000"/>
              </a:spcBef>
            </a:pPr>
            <a:r>
              <a:rPr kumimoji="0" lang="zh-CN" altLang="en-US" sz="2000" b="1">
                <a:solidFill>
                  <a:srgbClr val="0000FF"/>
                </a:solidFill>
                <a:ea typeface="华文中宋" panose="02010600040101010101" pitchFamily="2" charset="-122"/>
              </a:rPr>
              <a:t>            </a:t>
            </a:r>
            <a:r>
              <a:rPr kumimoji="0" lang="en-US" altLang="zh-CN" sz="2000" b="1">
                <a:solidFill>
                  <a:srgbClr val="0000FF"/>
                </a:solidFill>
                <a:ea typeface="华文中宋" panose="02010600040101010101" pitchFamily="2" charset="-122"/>
              </a:rPr>
              <a:t>EnQueue(Q, Ew + w[i], bestw,i);   //</a:t>
            </a:r>
            <a:r>
              <a:rPr kumimoji="0" lang="zh-CN" altLang="en-US" sz="2000" b="1">
                <a:latin typeface="华文中宋" panose="02010600040101010101" pitchFamily="2" charset="-122"/>
                <a:ea typeface="华文中宋" panose="02010600040101010101" pitchFamily="2" charset="-122"/>
              </a:rPr>
              <a:t>如可行，左儿子入队</a:t>
            </a:r>
            <a:endParaRPr kumimoji="0" lang="zh-CN" altLang="en-US" sz="2000" b="1">
              <a:solidFill>
                <a:schemeClr val="accent2"/>
              </a:solidFill>
              <a:ea typeface="华文中宋" panose="02010600040101010101" pitchFamily="2" charset="-122"/>
            </a:endParaRPr>
          </a:p>
          <a:p>
            <a:pPr algn="just" eaLnBrk="1" hangingPunct="1">
              <a:lnSpc>
                <a:spcPct val="80000"/>
              </a:lnSpc>
              <a:spcBef>
                <a:spcPct val="50000"/>
              </a:spcBef>
            </a:pPr>
            <a:r>
              <a:rPr kumimoji="0" lang="zh-CN" altLang="en-US" sz="2000" b="1">
                <a:solidFill>
                  <a:srgbClr val="0000FF"/>
                </a:solidFill>
                <a:ea typeface="华文中宋" panose="02010600040101010101" pitchFamily="2" charset="-122"/>
              </a:rPr>
              <a:t>         </a:t>
            </a:r>
            <a:r>
              <a:rPr kumimoji="0" lang="en-US" altLang="zh-CN" sz="2000" b="1">
                <a:solidFill>
                  <a:srgbClr val="0000FF"/>
                </a:solidFill>
                <a:ea typeface="华文中宋" panose="02010600040101010101" pitchFamily="2" charset="-122"/>
              </a:rPr>
              <a:t>EnQueue(Q,Ew, bestw, i);          </a:t>
            </a:r>
            <a:r>
              <a:rPr kumimoji="0" lang="en-US" altLang="zh-CN" sz="2000" b="1">
                <a:ea typeface="华文中宋" panose="02010600040101010101" pitchFamily="2" charset="-122"/>
              </a:rPr>
              <a:t>//</a:t>
            </a:r>
            <a:r>
              <a:rPr kumimoji="0" lang="zh-CN" altLang="en-US" sz="2000" b="1">
                <a:latin typeface="华文中宋" panose="02010600040101010101" pitchFamily="2" charset="-122"/>
                <a:ea typeface="华文中宋" panose="02010600040101010101" pitchFamily="2" charset="-122"/>
              </a:rPr>
              <a:t>右儿子结点总是可行的，入队</a:t>
            </a:r>
            <a:endParaRPr kumimoji="0" lang="zh-CN" altLang="en-US" sz="2000" b="1">
              <a:ea typeface="华文中宋" panose="02010600040101010101" pitchFamily="2" charset="-122"/>
            </a:endParaRPr>
          </a:p>
          <a:p>
            <a:pPr algn="just" eaLnBrk="1" hangingPunct="1">
              <a:lnSpc>
                <a:spcPct val="80000"/>
              </a:lnSpc>
              <a:spcBef>
                <a:spcPct val="50000"/>
              </a:spcBef>
            </a:pPr>
            <a:r>
              <a:rPr kumimoji="0" lang="zh-CN" altLang="en-US" sz="2000" b="1">
                <a:solidFill>
                  <a:srgbClr val="0000FF"/>
                </a:solidFill>
                <a:ea typeface="华文中宋" panose="02010600040101010101" pitchFamily="2" charset="-122"/>
              </a:rPr>
              <a:t>         </a:t>
            </a:r>
            <a:r>
              <a:rPr kumimoji="0" lang="en-US" altLang="zh-CN" sz="2000" b="1">
                <a:solidFill>
                  <a:srgbClr val="0000FF"/>
                </a:solidFill>
                <a:ea typeface="华文中宋" panose="02010600040101010101" pitchFamily="2" charset="-122"/>
              </a:rPr>
              <a:t>Q.delete(Ew);          </a:t>
            </a:r>
            <a:r>
              <a:rPr kumimoji="0" lang="en-US" altLang="zh-CN" sz="2000" b="1">
                <a:ea typeface="华文中宋" panose="02010600040101010101" pitchFamily="2" charset="-122"/>
              </a:rPr>
              <a:t>// </a:t>
            </a:r>
            <a:r>
              <a:rPr kumimoji="0" lang="zh-CN" altLang="en-US" sz="2000" b="1">
                <a:latin typeface="华文中宋" panose="02010600040101010101" pitchFamily="2" charset="-122"/>
                <a:ea typeface="华文中宋" panose="02010600040101010101" pitchFamily="2" charset="-122"/>
              </a:rPr>
              <a:t>取下一扩展结点</a:t>
            </a:r>
            <a:endParaRPr kumimoji="0" lang="zh-CN" altLang="en-US" sz="2000" b="1">
              <a:ea typeface="华文中宋" panose="02010600040101010101" pitchFamily="2" charset="-122"/>
            </a:endParaRPr>
          </a:p>
          <a:p>
            <a:pPr algn="just" eaLnBrk="1" hangingPunct="1">
              <a:lnSpc>
                <a:spcPct val="80000"/>
              </a:lnSpc>
              <a:spcBef>
                <a:spcPct val="50000"/>
              </a:spcBef>
            </a:pPr>
            <a:r>
              <a:rPr kumimoji="0" lang="zh-CN" altLang="en-US" sz="2000" b="1">
                <a:solidFill>
                  <a:srgbClr val="0000FF"/>
                </a:solidFill>
                <a:ea typeface="华文中宋" panose="02010600040101010101" pitchFamily="2" charset="-122"/>
              </a:rPr>
              <a:t>         </a:t>
            </a:r>
            <a:r>
              <a:rPr kumimoji="0" lang="en-US" altLang="zh-CN" sz="2000" b="1">
                <a:solidFill>
                  <a:srgbClr val="0000FF"/>
                </a:solidFill>
                <a:ea typeface="华文中宋" panose="02010600040101010101" pitchFamily="2" charset="-122"/>
              </a:rPr>
              <a:t>if (Ew == -1)   {  </a:t>
            </a:r>
          </a:p>
          <a:p>
            <a:pPr algn="just" eaLnBrk="1" hangingPunct="1">
              <a:lnSpc>
                <a:spcPct val="80000"/>
              </a:lnSpc>
              <a:spcBef>
                <a:spcPct val="50000"/>
              </a:spcBef>
            </a:pPr>
            <a:r>
              <a:rPr kumimoji="0" lang="en-US" altLang="zh-CN" sz="2000" b="1">
                <a:solidFill>
                  <a:srgbClr val="0000FF"/>
                </a:solidFill>
                <a:ea typeface="华文中宋" panose="02010600040101010101" pitchFamily="2" charset="-122"/>
              </a:rPr>
              <a:t>             if (Q.isEmpty())    return bestw;</a:t>
            </a:r>
            <a:endParaRPr kumimoji="0" lang="en-US" altLang="zh-CN" sz="2000" b="1">
              <a:solidFill>
                <a:schemeClr val="accent2"/>
              </a:solidFill>
              <a:ea typeface="华文中宋" panose="02010600040101010101" pitchFamily="2" charset="-122"/>
            </a:endParaRPr>
          </a:p>
          <a:p>
            <a:pPr algn="just" eaLnBrk="1" hangingPunct="1">
              <a:lnSpc>
                <a:spcPct val="80000"/>
              </a:lnSpc>
              <a:spcBef>
                <a:spcPct val="50000"/>
              </a:spcBef>
            </a:pPr>
            <a:r>
              <a:rPr kumimoji="0" lang="en-US" altLang="zh-CN" sz="2000" b="1">
                <a:solidFill>
                  <a:srgbClr val="0000FF"/>
                </a:solidFill>
                <a:ea typeface="华文中宋" panose="02010600040101010101" pitchFamily="2" charset="-122"/>
              </a:rPr>
              <a:t>             Q.Add(-1); Q.delete(Ew); </a:t>
            </a:r>
            <a:r>
              <a:rPr kumimoji="0" lang="en-US" altLang="zh-CN" sz="2000" b="1">
                <a:ea typeface="华文中宋" panose="02010600040101010101" pitchFamily="2" charset="-122"/>
              </a:rPr>
              <a:t>// </a:t>
            </a:r>
            <a:r>
              <a:rPr kumimoji="0" lang="zh-CN" altLang="en-US" sz="2000" b="1">
                <a:latin typeface="华文中宋" panose="02010600040101010101" pitchFamily="2" charset="-122"/>
                <a:ea typeface="华文中宋" panose="02010600040101010101" pitchFamily="2" charset="-122"/>
              </a:rPr>
              <a:t>同层结点尾部标志，取下一扩展结点</a:t>
            </a:r>
            <a:endParaRPr kumimoji="0" lang="zh-CN" altLang="en-US" sz="2000" b="1">
              <a:ea typeface="华文中宋" panose="02010600040101010101" pitchFamily="2" charset="-122"/>
            </a:endParaRPr>
          </a:p>
          <a:p>
            <a:pPr algn="just" eaLnBrk="1" hangingPunct="1">
              <a:lnSpc>
                <a:spcPct val="80000"/>
              </a:lnSpc>
              <a:spcBef>
                <a:spcPct val="50000"/>
              </a:spcBef>
            </a:pPr>
            <a:r>
              <a:rPr kumimoji="0" lang="zh-CN" altLang="en-US" sz="2000" b="1">
                <a:solidFill>
                  <a:srgbClr val="0000FF"/>
                </a:solidFill>
                <a:ea typeface="华文中宋" panose="02010600040101010101" pitchFamily="2" charset="-122"/>
              </a:rPr>
              <a:t>             </a:t>
            </a:r>
            <a:r>
              <a:rPr kumimoji="0" lang="en-US" altLang="zh-CN" sz="2000" b="1">
                <a:solidFill>
                  <a:srgbClr val="0000FF"/>
                </a:solidFill>
                <a:ea typeface="华文中宋" panose="02010600040101010101" pitchFamily="2" charset="-122"/>
              </a:rPr>
              <a:t>i++;                      </a:t>
            </a:r>
            <a:r>
              <a:rPr kumimoji="0" lang="en-US" altLang="zh-CN" sz="2000" b="1">
                <a:ea typeface="华文中宋" panose="02010600040101010101" pitchFamily="2" charset="-122"/>
              </a:rPr>
              <a:t>// </a:t>
            </a:r>
            <a:r>
              <a:rPr kumimoji="0" lang="zh-CN" altLang="en-US" sz="2000" b="1">
                <a:latin typeface="华文中宋" panose="02010600040101010101" pitchFamily="2" charset="-122"/>
                <a:ea typeface="华文中宋" panose="02010600040101010101" pitchFamily="2" charset="-122"/>
              </a:rPr>
              <a:t>进入下一层</a:t>
            </a:r>
            <a:r>
              <a:rPr kumimoji="0" lang="zh-CN" altLang="en-US" sz="2000" b="1">
                <a:solidFill>
                  <a:srgbClr val="0000FF"/>
                </a:solidFill>
                <a:ea typeface="华文中宋" panose="02010600040101010101" pitchFamily="2" charset="-122"/>
              </a:rPr>
              <a:t>        </a:t>
            </a:r>
          </a:p>
          <a:p>
            <a:pPr algn="just" eaLnBrk="1" hangingPunct="1">
              <a:lnSpc>
                <a:spcPct val="80000"/>
              </a:lnSpc>
              <a:spcBef>
                <a:spcPct val="50000"/>
              </a:spcBef>
            </a:pPr>
            <a:r>
              <a:rPr kumimoji="0" lang="zh-CN" altLang="en-US" sz="2000" b="1">
                <a:solidFill>
                  <a:srgbClr val="0000FF"/>
                </a:solidFill>
                <a:ea typeface="华文中宋" panose="02010600040101010101" pitchFamily="2" charset="-122"/>
              </a:rPr>
              <a:t>          </a:t>
            </a:r>
            <a:r>
              <a:rPr kumimoji="0" lang="en-US" altLang="zh-CN" sz="2000" b="1">
                <a:solidFill>
                  <a:srgbClr val="0000FF"/>
                </a:solidFill>
                <a:ea typeface="华文中宋" panose="02010600040101010101" pitchFamily="2" charset="-122"/>
              </a:rPr>
              <a:t>}</a:t>
            </a:r>
          </a:p>
          <a:p>
            <a:pPr algn="just" eaLnBrk="1" hangingPunct="1">
              <a:lnSpc>
                <a:spcPct val="80000"/>
              </a:lnSpc>
              <a:spcBef>
                <a:spcPct val="50000"/>
              </a:spcBef>
            </a:pPr>
            <a:r>
              <a:rPr kumimoji="0" lang="en-US" altLang="zh-CN" sz="2000" b="1">
                <a:solidFill>
                  <a:srgbClr val="0000FF"/>
                </a:solidFill>
                <a:ea typeface="华文中宋" panose="02010600040101010101" pitchFamily="2" charset="-122"/>
              </a:rPr>
              <a:t>   }</a:t>
            </a:r>
          </a:p>
        </p:txBody>
      </p:sp>
      <p:sp>
        <p:nvSpPr>
          <p:cNvPr id="104453" name="Rectangle 5">
            <a:extLst>
              <a:ext uri="{FF2B5EF4-FFF2-40B4-BE49-F238E27FC236}">
                <a16:creationId xmlns:a16="http://schemas.microsoft.com/office/drawing/2014/main" id="{8496688C-218A-4A1F-BE85-B02EC24F5724}"/>
              </a:ext>
            </a:extLst>
          </p:cNvPr>
          <p:cNvSpPr>
            <a:spLocks noChangeArrowheads="1"/>
          </p:cNvSpPr>
          <p:nvPr/>
        </p:nvSpPr>
        <p:spPr bwMode="auto">
          <a:xfrm>
            <a:off x="4648200" y="6096000"/>
            <a:ext cx="4376738" cy="479425"/>
          </a:xfrm>
          <a:prstGeom prst="rect">
            <a:avLst/>
          </a:prstGeom>
          <a:noFill/>
          <a:ln w="34925">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Char char="•"/>
            </a:pPr>
            <a:r>
              <a:rPr kumimoji="0" lang="zh-CN" altLang="en-US" sz="2800" b="1">
                <a:solidFill>
                  <a:srgbClr val="FF0000"/>
                </a:solidFill>
                <a:latin typeface="华文中宋" panose="02010600040101010101" pitchFamily="2" charset="-122"/>
                <a:ea typeface="华文中宋" panose="02010600040101010101" pitchFamily="2" charset="-122"/>
              </a:rPr>
              <a:t>约束函数：</a:t>
            </a:r>
            <a:r>
              <a:rPr kumimoji="0" lang="en-US" altLang="zh-CN" sz="2800" b="1">
                <a:solidFill>
                  <a:srgbClr val="0000FF"/>
                </a:solidFill>
                <a:ea typeface="华文中宋" panose="02010600040101010101" pitchFamily="2" charset="-122"/>
                <a:cs typeface="Times New Roman" panose="02020603050405020304" pitchFamily="18" charset="0"/>
              </a:rPr>
              <a:t>Ew + w[i] &lt;= 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4451"/>
                                        </p:tgtEl>
                                        <p:attrNameLst>
                                          <p:attrName>style.visibility</p:attrName>
                                        </p:attrNameLst>
                                      </p:cBhvr>
                                      <p:to>
                                        <p:strVal val="visible"/>
                                      </p:to>
                                    </p:set>
                                    <p:anim calcmode="lin" valueType="num">
                                      <p:cBhvr additive="base">
                                        <p:cTn id="7" dur="500" fill="hold"/>
                                        <p:tgtEl>
                                          <p:spTgt spid="104451"/>
                                        </p:tgtEl>
                                        <p:attrNameLst>
                                          <p:attrName>ppt_x</p:attrName>
                                        </p:attrNameLst>
                                      </p:cBhvr>
                                      <p:tavLst>
                                        <p:tav tm="0">
                                          <p:val>
                                            <p:strVal val="0-#ppt_w/2"/>
                                          </p:val>
                                        </p:tav>
                                        <p:tav tm="100000">
                                          <p:val>
                                            <p:strVal val="#ppt_x"/>
                                          </p:val>
                                        </p:tav>
                                      </p:tavLst>
                                    </p:anim>
                                    <p:anim calcmode="lin" valueType="num">
                                      <p:cBhvr additive="base">
                                        <p:cTn id="8" dur="500" fill="hold"/>
                                        <p:tgtEl>
                                          <p:spTgt spid="10445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4452"/>
                                        </p:tgtEl>
                                        <p:attrNameLst>
                                          <p:attrName>style.visibility</p:attrName>
                                        </p:attrNameLst>
                                      </p:cBhvr>
                                      <p:to>
                                        <p:strVal val="visible"/>
                                      </p:to>
                                    </p:set>
                                    <p:anim calcmode="lin" valueType="num">
                                      <p:cBhvr additive="base">
                                        <p:cTn id="13" dur="500" fill="hold"/>
                                        <p:tgtEl>
                                          <p:spTgt spid="104452"/>
                                        </p:tgtEl>
                                        <p:attrNameLst>
                                          <p:attrName>ppt_x</p:attrName>
                                        </p:attrNameLst>
                                      </p:cBhvr>
                                      <p:tavLst>
                                        <p:tav tm="0">
                                          <p:val>
                                            <p:strVal val="0-#ppt_w/2"/>
                                          </p:val>
                                        </p:tav>
                                        <p:tav tm="100000">
                                          <p:val>
                                            <p:strVal val="#ppt_x"/>
                                          </p:val>
                                        </p:tav>
                                      </p:tavLst>
                                    </p:anim>
                                    <p:anim calcmode="lin" valueType="num">
                                      <p:cBhvr additive="base">
                                        <p:cTn id="14" dur="500" fill="hold"/>
                                        <p:tgtEl>
                                          <p:spTgt spid="10445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4453"/>
                                        </p:tgtEl>
                                        <p:attrNameLst>
                                          <p:attrName>style.visibility</p:attrName>
                                        </p:attrNameLst>
                                      </p:cBhvr>
                                      <p:to>
                                        <p:strVal val="visible"/>
                                      </p:to>
                                    </p:set>
                                    <p:anim calcmode="lin" valueType="num">
                                      <p:cBhvr additive="base">
                                        <p:cTn id="19" dur="500" fill="hold"/>
                                        <p:tgtEl>
                                          <p:spTgt spid="104453"/>
                                        </p:tgtEl>
                                        <p:attrNameLst>
                                          <p:attrName>ppt_x</p:attrName>
                                        </p:attrNameLst>
                                      </p:cBhvr>
                                      <p:tavLst>
                                        <p:tav tm="0">
                                          <p:val>
                                            <p:strVal val="0-#ppt_w/2"/>
                                          </p:val>
                                        </p:tav>
                                        <p:tav tm="100000">
                                          <p:val>
                                            <p:strVal val="#ppt_x"/>
                                          </p:val>
                                        </p:tav>
                                      </p:tavLst>
                                    </p:anim>
                                    <p:anim calcmode="lin" valueType="num">
                                      <p:cBhvr additive="base">
                                        <p:cTn id="20" dur="500" fill="hold"/>
                                        <p:tgtEl>
                                          <p:spTgt spid="1044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autoUpdateAnimBg="0"/>
      <p:bldP spid="104452" grpId="0" autoUpdateAnimBg="0"/>
      <p:bldP spid="104453"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97FD8C31-EAF7-4B4C-BAEF-711DCC697F60}"/>
              </a:ext>
            </a:extLst>
          </p:cNvPr>
          <p:cNvSpPr>
            <a:spLocks noGrp="1" noChangeArrowheads="1"/>
          </p:cNvSpPr>
          <p:nvPr>
            <p:ph type="title"/>
          </p:nvPr>
        </p:nvSpPr>
        <p:spPr bwMode="auto">
          <a:xfrm>
            <a:off x="685800" y="381000"/>
            <a:ext cx="77724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pPr>
            <a:r>
              <a:rPr lang="en-US" altLang="zh-CN" sz="4000" b="1">
                <a:solidFill>
                  <a:schemeClr val="accent2"/>
                </a:solidFill>
              </a:rPr>
              <a:t>3. </a:t>
            </a:r>
            <a:r>
              <a:rPr lang="zh-CN" altLang="en-US" sz="4000" b="1">
                <a:solidFill>
                  <a:schemeClr val="accent2"/>
                </a:solidFill>
              </a:rPr>
              <a:t>算法的改进</a:t>
            </a:r>
            <a:r>
              <a:rPr lang="en-US" altLang="zh-CN" sz="4000" b="1">
                <a:solidFill>
                  <a:schemeClr val="accent2"/>
                </a:solidFill>
              </a:rPr>
              <a:t>-</a:t>
            </a:r>
            <a:r>
              <a:rPr kumimoji="0" lang="zh-CN" altLang="en-US" sz="4000" b="1">
                <a:latin typeface="华文中宋" panose="02010600040101010101" pitchFamily="2" charset="-122"/>
              </a:rPr>
              <a:t>剪右支</a:t>
            </a:r>
          </a:p>
        </p:txBody>
      </p:sp>
      <p:sp>
        <p:nvSpPr>
          <p:cNvPr id="36867" name="Rectangle 3">
            <a:extLst>
              <a:ext uri="{FF2B5EF4-FFF2-40B4-BE49-F238E27FC236}">
                <a16:creationId xmlns:a16="http://schemas.microsoft.com/office/drawing/2014/main" id="{15B29312-6240-4BD5-B504-42367A1CF041}"/>
              </a:ext>
            </a:extLst>
          </p:cNvPr>
          <p:cNvSpPr>
            <a:spLocks noGrp="1" noChangeArrowheads="1"/>
          </p:cNvSpPr>
          <p:nvPr>
            <p:ph type="body" idx="1"/>
          </p:nvPr>
        </p:nvSpPr>
        <p:spPr bwMode="auto">
          <a:xfrm>
            <a:off x="457200" y="1219200"/>
            <a:ext cx="8382000" cy="4876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80000"/>
              </a:lnSpc>
              <a:spcBef>
                <a:spcPct val="40000"/>
              </a:spcBef>
            </a:pPr>
            <a:r>
              <a:rPr kumimoji="0" lang="zh-CN" altLang="en-US" sz="2800" b="1">
                <a:latin typeface="华文中宋" panose="02010600040101010101" pitchFamily="2" charset="-122"/>
              </a:rPr>
              <a:t>进入结点队列的左子树表示将此集装箱装上船，右子树表示不将此集装箱装上船。设</a:t>
            </a:r>
          </a:p>
          <a:p>
            <a:pPr eaLnBrk="1" hangingPunct="1">
              <a:lnSpc>
                <a:spcPct val="80000"/>
              </a:lnSpc>
              <a:spcBef>
                <a:spcPct val="40000"/>
              </a:spcBef>
            </a:pPr>
            <a:r>
              <a:rPr kumimoji="0" lang="en-US" altLang="zh-CN" sz="2800" b="1">
                <a:latin typeface="华文中宋" panose="02010600040101010101" pitchFamily="2" charset="-122"/>
              </a:rPr>
              <a:t>Bestw</a:t>
            </a:r>
            <a:r>
              <a:rPr kumimoji="0" lang="zh-CN" altLang="en-US" sz="2800" b="1">
                <a:latin typeface="华文中宋" panose="02010600040101010101" pitchFamily="2" charset="-122"/>
              </a:rPr>
              <a:t>：当前最优解；</a:t>
            </a:r>
            <a:r>
              <a:rPr kumimoji="0" lang="en-US" altLang="zh-CN" sz="2800" b="1">
                <a:latin typeface="华文中宋" panose="02010600040101010101" pitchFamily="2" charset="-122"/>
              </a:rPr>
              <a:t>r</a:t>
            </a:r>
            <a:r>
              <a:rPr kumimoji="0" lang="zh-CN" altLang="en-US" sz="2800" b="1">
                <a:latin typeface="华文中宋" panose="02010600040101010101" pitchFamily="2" charset="-122"/>
              </a:rPr>
              <a:t>：剩余集装箱的重量。</a:t>
            </a:r>
          </a:p>
          <a:p>
            <a:pPr eaLnBrk="1" hangingPunct="1">
              <a:lnSpc>
                <a:spcPct val="80000"/>
              </a:lnSpc>
              <a:spcBef>
                <a:spcPct val="40000"/>
              </a:spcBef>
            </a:pPr>
            <a:r>
              <a:rPr kumimoji="0" lang="en-US" altLang="zh-CN" sz="2800" b="1">
                <a:latin typeface="华文中宋" panose="02010600040101010101" pitchFamily="2" charset="-122"/>
              </a:rPr>
              <a:t>Ew</a:t>
            </a:r>
            <a:r>
              <a:rPr kumimoji="0" lang="zh-CN" altLang="en-US" sz="2800" b="1">
                <a:latin typeface="华文中宋" panose="02010600040101010101" pitchFamily="2" charset="-122"/>
              </a:rPr>
              <a:t>：当前扩展结点所相应的重量；</a:t>
            </a:r>
          </a:p>
          <a:p>
            <a:pPr eaLnBrk="1" hangingPunct="1">
              <a:lnSpc>
                <a:spcPct val="80000"/>
              </a:lnSpc>
              <a:spcBef>
                <a:spcPct val="40000"/>
              </a:spcBef>
            </a:pPr>
            <a:r>
              <a:rPr kumimoji="0" lang="zh-CN" altLang="en-US" sz="2800" b="1">
                <a:solidFill>
                  <a:srgbClr val="FF0000"/>
                </a:solidFill>
                <a:latin typeface="华文中宋" panose="02010600040101010101" pitchFamily="2" charset="-122"/>
              </a:rPr>
              <a:t>约束函数：</a:t>
            </a:r>
            <a:r>
              <a:rPr kumimoji="0" lang="en-US" altLang="zh-CN" sz="2800" b="1">
                <a:solidFill>
                  <a:srgbClr val="0000FF"/>
                </a:solidFill>
                <a:cs typeface="Times New Roman" panose="02020603050405020304" pitchFamily="18" charset="0"/>
              </a:rPr>
              <a:t>Ew + w[i] &lt;= c</a:t>
            </a:r>
            <a:r>
              <a:rPr kumimoji="0" lang="zh-CN" altLang="en-US" sz="2800" b="1">
                <a:solidFill>
                  <a:srgbClr val="0000FF"/>
                </a:solidFill>
              </a:rPr>
              <a:t>，</a:t>
            </a:r>
          </a:p>
          <a:p>
            <a:pPr eaLnBrk="1" hangingPunct="1">
              <a:lnSpc>
                <a:spcPct val="80000"/>
              </a:lnSpc>
              <a:spcBef>
                <a:spcPct val="40000"/>
              </a:spcBef>
              <a:buFontTx/>
              <a:buNone/>
            </a:pPr>
            <a:r>
              <a:rPr kumimoji="0" lang="zh-CN" altLang="en-US" sz="2800" b="1">
                <a:solidFill>
                  <a:srgbClr val="0000FF"/>
                </a:solidFill>
              </a:rPr>
              <a:t>                        当 </a:t>
            </a:r>
            <a:r>
              <a:rPr kumimoji="0" lang="en-US" altLang="zh-CN" sz="2800" b="1">
                <a:solidFill>
                  <a:srgbClr val="0000FF"/>
                </a:solidFill>
              </a:rPr>
              <a:t>Ew + w[i]&gt; c</a:t>
            </a:r>
            <a:r>
              <a:rPr kumimoji="0" lang="zh-CN" altLang="en-US" sz="2800" b="1">
                <a:solidFill>
                  <a:srgbClr val="0000FF"/>
                </a:solidFill>
              </a:rPr>
              <a:t>，</a:t>
            </a:r>
            <a:r>
              <a:rPr kumimoji="0" lang="zh-CN" altLang="en-US" sz="2800" b="1">
                <a:latin typeface="华文中宋" panose="02010600040101010101" pitchFamily="2" charset="-122"/>
              </a:rPr>
              <a:t>可将其左子树剪去。</a:t>
            </a:r>
            <a:endParaRPr kumimoji="0" lang="zh-CN" altLang="en-US" sz="2800" b="1">
              <a:solidFill>
                <a:srgbClr val="0000FF"/>
              </a:solidFill>
            </a:endParaRPr>
          </a:p>
          <a:p>
            <a:pPr eaLnBrk="1" hangingPunct="1">
              <a:lnSpc>
                <a:spcPct val="80000"/>
              </a:lnSpc>
              <a:spcBef>
                <a:spcPct val="40000"/>
              </a:spcBef>
            </a:pPr>
            <a:r>
              <a:rPr kumimoji="0" lang="zh-CN" altLang="en-US" sz="2800" b="1">
                <a:solidFill>
                  <a:srgbClr val="FF0000"/>
                </a:solidFill>
                <a:latin typeface="华文中宋" panose="02010600040101010101" pitchFamily="2" charset="-122"/>
              </a:rPr>
              <a:t>限界函数：</a:t>
            </a:r>
            <a:r>
              <a:rPr kumimoji="0" lang="en-US" altLang="zh-CN" sz="2800" b="1">
                <a:solidFill>
                  <a:srgbClr val="0000FF"/>
                </a:solidFill>
              </a:rPr>
              <a:t>Ew+r&gt;bestw</a:t>
            </a:r>
            <a:r>
              <a:rPr kumimoji="0" lang="zh-CN" altLang="en-US" sz="2800" b="1">
                <a:latin typeface="华文中宋" panose="02010600040101010101" pitchFamily="2" charset="-122"/>
              </a:rPr>
              <a:t>，</a:t>
            </a:r>
          </a:p>
          <a:p>
            <a:pPr eaLnBrk="1" hangingPunct="1">
              <a:lnSpc>
                <a:spcPct val="80000"/>
              </a:lnSpc>
              <a:spcBef>
                <a:spcPct val="40000"/>
              </a:spcBef>
              <a:buFontTx/>
              <a:buNone/>
            </a:pPr>
            <a:r>
              <a:rPr kumimoji="0" lang="zh-CN" altLang="en-US" sz="2800" b="1">
                <a:latin typeface="华文中宋" panose="02010600040101010101" pitchFamily="2" charset="-122"/>
              </a:rPr>
              <a:t>            如</a:t>
            </a:r>
            <a:r>
              <a:rPr kumimoji="0" lang="en-US" altLang="zh-CN" sz="2800" b="1">
                <a:solidFill>
                  <a:srgbClr val="0000FF"/>
                </a:solidFill>
              </a:rPr>
              <a:t>Ew+r</a:t>
            </a:r>
            <a:r>
              <a:rPr kumimoji="0" lang="en-US" altLang="zh-CN" sz="2800" b="1">
                <a:solidFill>
                  <a:srgbClr val="0000FF"/>
                </a:solidFill>
                <a:sym typeface="Symbol" panose="05050102010706020507" pitchFamily="18" charset="2"/>
              </a:rPr>
              <a:t></a:t>
            </a:r>
            <a:r>
              <a:rPr kumimoji="0" lang="en-US" altLang="zh-CN" sz="2800" b="1">
                <a:solidFill>
                  <a:srgbClr val="0000FF"/>
                </a:solidFill>
              </a:rPr>
              <a:t>bestw</a:t>
            </a:r>
            <a:r>
              <a:rPr kumimoji="0" lang="zh-CN" altLang="en-US" sz="2800" b="1">
                <a:latin typeface="华文中宋" panose="02010600040101010101" pitchFamily="2" charset="-122"/>
              </a:rPr>
              <a:t>将右子树剪去。</a:t>
            </a:r>
          </a:p>
          <a:p>
            <a:pPr eaLnBrk="1" hangingPunct="1">
              <a:lnSpc>
                <a:spcPct val="80000"/>
              </a:lnSpc>
              <a:spcBef>
                <a:spcPct val="40000"/>
              </a:spcBef>
            </a:pPr>
            <a:r>
              <a:rPr kumimoji="0" lang="zh-CN" altLang="en-US" sz="2800" b="1">
                <a:latin typeface="华文中宋" panose="02010600040101010101" pitchFamily="2" charset="-122"/>
              </a:rPr>
              <a:t>为确保右子树成功剪枝，在算法每一次进入左子树的时候更新</a:t>
            </a:r>
            <a:r>
              <a:rPr kumimoji="0" lang="en-US" altLang="zh-CN" sz="2800" b="1">
                <a:latin typeface="华文中宋" panose="02010600040101010101" pitchFamily="2" charset="-122"/>
              </a:rPr>
              <a:t>bestw</a:t>
            </a:r>
            <a:r>
              <a:rPr kumimoji="0" lang="zh-CN" altLang="en-US" sz="2800" b="1">
                <a:latin typeface="华文中宋" panose="02010600040101010101" pitchFamily="2" charset="-122"/>
              </a:rPr>
              <a:t>的值。</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EA51FA7D-BB31-4244-B438-1BDC3D6379D0}"/>
                  </a:ext>
                </a:extLst>
              </p14:cNvPr>
              <p14:cNvContentPartPr/>
              <p14:nvPr/>
            </p14:nvContentPartPr>
            <p14:xfrm>
              <a:off x="2591280" y="4444920"/>
              <a:ext cx="2144880" cy="68760"/>
            </p14:xfrm>
          </p:contentPart>
        </mc:Choice>
        <mc:Fallback xmlns="">
          <p:pic>
            <p:nvPicPr>
              <p:cNvPr id="2" name="墨迹 1">
                <a:extLst>
                  <a:ext uri="{FF2B5EF4-FFF2-40B4-BE49-F238E27FC236}">
                    <a16:creationId xmlns:a16="http://schemas.microsoft.com/office/drawing/2014/main" id="{EA51FA7D-BB31-4244-B438-1BDC3D6379D0}"/>
                  </a:ext>
                </a:extLst>
              </p:cNvPr>
              <p:cNvPicPr/>
              <p:nvPr/>
            </p:nvPicPr>
            <p:blipFill>
              <a:blip r:embed="rId3"/>
              <a:stretch>
                <a:fillRect/>
              </a:stretch>
            </p:blipFill>
            <p:spPr>
              <a:xfrm>
                <a:off x="2581920" y="4435560"/>
                <a:ext cx="2163600" cy="87480"/>
              </a:xfrm>
              <a:prstGeom prst="rect">
                <a:avLst/>
              </a:prstGeom>
            </p:spPr>
          </p:pic>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6504" name="AutoShape 8">
            <a:extLst>
              <a:ext uri="{FF2B5EF4-FFF2-40B4-BE49-F238E27FC236}">
                <a16:creationId xmlns:a16="http://schemas.microsoft.com/office/drawing/2014/main" id="{A8B9BFA4-CA50-4889-BB1C-1E031BE52E9F}"/>
              </a:ext>
            </a:extLst>
          </p:cNvPr>
          <p:cNvSpPr>
            <a:spLocks noChangeArrowheads="1"/>
          </p:cNvSpPr>
          <p:nvPr/>
        </p:nvSpPr>
        <p:spPr bwMode="auto">
          <a:xfrm>
            <a:off x="7086600" y="457200"/>
            <a:ext cx="1981200" cy="762000"/>
          </a:xfrm>
          <a:prstGeom prst="wedgeRoundRectCallout">
            <a:avLst>
              <a:gd name="adj1" fmla="val -47116"/>
              <a:gd name="adj2" fmla="val 135000"/>
              <a:gd name="adj3" fmla="val 16667"/>
            </a:avLst>
          </a:prstGeom>
          <a:solidFill>
            <a:schemeClr val="hlink"/>
          </a:solidFill>
          <a:ln w="6350">
            <a:solidFill>
              <a:schemeClr val="hlink"/>
            </a:solidFill>
            <a:miter lim="800000"/>
            <a:headEnd/>
            <a:tailEnd/>
          </a:ln>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zh-CN" altLang="en-US" b="1">
                <a:solidFill>
                  <a:srgbClr val="FF0000"/>
                </a:solidFill>
                <a:latin typeface="华文中宋" panose="02010600040101010101" pitchFamily="2" charset="-122"/>
                <a:ea typeface="华文中宋" panose="02010600040101010101" pitchFamily="2" charset="-122"/>
              </a:rPr>
              <a:t>右儿子剪枝 </a:t>
            </a:r>
          </a:p>
        </p:txBody>
      </p:sp>
      <p:sp>
        <p:nvSpPr>
          <p:cNvPr id="106502" name="AutoShape 6">
            <a:extLst>
              <a:ext uri="{FF2B5EF4-FFF2-40B4-BE49-F238E27FC236}">
                <a16:creationId xmlns:a16="http://schemas.microsoft.com/office/drawing/2014/main" id="{63C5C38E-57D4-45AC-A3EE-BD7883688291}"/>
              </a:ext>
            </a:extLst>
          </p:cNvPr>
          <p:cNvSpPr>
            <a:spLocks noChangeArrowheads="1"/>
          </p:cNvSpPr>
          <p:nvPr/>
        </p:nvSpPr>
        <p:spPr bwMode="auto">
          <a:xfrm>
            <a:off x="2819400" y="5791200"/>
            <a:ext cx="1676400" cy="762000"/>
          </a:xfrm>
          <a:prstGeom prst="wedgeRoundRectCallout">
            <a:avLst>
              <a:gd name="adj1" fmla="val 6060"/>
              <a:gd name="adj2" fmla="val -362917"/>
              <a:gd name="adj3" fmla="val 16667"/>
            </a:avLst>
          </a:prstGeom>
          <a:solidFill>
            <a:schemeClr val="hlink"/>
          </a:solidFill>
          <a:ln w="6350">
            <a:solidFill>
              <a:schemeClr val="hlink"/>
            </a:solidFill>
            <a:miter lim="800000"/>
            <a:headEnd/>
            <a:tailEnd/>
          </a:ln>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zh-CN" altLang="en-US" b="1">
                <a:solidFill>
                  <a:srgbClr val="FF0000"/>
                </a:solidFill>
                <a:latin typeface="华文中宋" panose="02010600040101010101" pitchFamily="2" charset="-122"/>
                <a:ea typeface="华文中宋" panose="02010600040101010101" pitchFamily="2" charset="-122"/>
              </a:rPr>
              <a:t>提前更新</a:t>
            </a:r>
            <a:r>
              <a:rPr kumimoji="0" lang="en-US" altLang="zh-CN" b="1">
                <a:solidFill>
                  <a:srgbClr val="FF0000"/>
                </a:solidFill>
                <a:latin typeface="华文中宋" panose="02010600040101010101" pitchFamily="2" charset="-122"/>
                <a:ea typeface="华文中宋" panose="02010600040101010101" pitchFamily="2" charset="-122"/>
              </a:rPr>
              <a:t>bestw </a:t>
            </a:r>
          </a:p>
        </p:txBody>
      </p:sp>
      <p:sp>
        <p:nvSpPr>
          <p:cNvPr id="37892" name="Rectangle 2">
            <a:extLst>
              <a:ext uri="{FF2B5EF4-FFF2-40B4-BE49-F238E27FC236}">
                <a16:creationId xmlns:a16="http://schemas.microsoft.com/office/drawing/2014/main" id="{B952B6B6-2FB3-47DE-9618-E2F64BB35950}"/>
              </a:ext>
            </a:extLst>
          </p:cNvPr>
          <p:cNvSpPr>
            <a:spLocks noGrp="1" noChangeArrowheads="1"/>
          </p:cNvSpPr>
          <p:nvPr>
            <p:ph type="title"/>
          </p:nvPr>
        </p:nvSpPr>
        <p:spPr bwMode="auto">
          <a:xfrm>
            <a:off x="685800" y="457200"/>
            <a:ext cx="77724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pPr>
            <a:r>
              <a:rPr lang="zh-CN" altLang="en-US" sz="4000">
                <a:solidFill>
                  <a:schemeClr val="accent2"/>
                </a:solidFill>
              </a:rPr>
              <a:t>算法的改进</a:t>
            </a:r>
            <a:r>
              <a:rPr lang="en-US" altLang="zh-CN" sz="4000">
                <a:solidFill>
                  <a:schemeClr val="accent2"/>
                </a:solidFill>
              </a:rPr>
              <a:t>-</a:t>
            </a:r>
            <a:r>
              <a:rPr lang="zh-CN" altLang="en-US" sz="4000">
                <a:solidFill>
                  <a:schemeClr val="accent2"/>
                </a:solidFill>
              </a:rPr>
              <a:t>部分算法</a:t>
            </a:r>
          </a:p>
        </p:txBody>
      </p:sp>
      <p:sp>
        <p:nvSpPr>
          <p:cNvPr id="106500" name="Text Box 4">
            <a:extLst>
              <a:ext uri="{FF2B5EF4-FFF2-40B4-BE49-F238E27FC236}">
                <a16:creationId xmlns:a16="http://schemas.microsoft.com/office/drawing/2014/main" id="{7EFB5896-756E-4FD0-9206-B04FEBABF208}"/>
              </a:ext>
            </a:extLst>
          </p:cNvPr>
          <p:cNvSpPr txBox="1">
            <a:spLocks noChangeArrowheads="1"/>
          </p:cNvSpPr>
          <p:nvPr/>
        </p:nvSpPr>
        <p:spPr bwMode="auto">
          <a:xfrm>
            <a:off x="152400" y="1371600"/>
            <a:ext cx="4343400" cy="3778250"/>
          </a:xfrm>
          <a:prstGeom prst="rect">
            <a:avLst/>
          </a:prstGeom>
          <a:noFill/>
          <a:ln w="3492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kumimoji="0" lang="en-US" altLang="zh-CN" b="1">
                <a:ea typeface="华文中宋" panose="02010600040101010101" pitchFamily="2" charset="-122"/>
                <a:cs typeface="Times New Roman" panose="02020603050405020304" pitchFamily="18" charset="0"/>
              </a:rPr>
              <a:t>// </a:t>
            </a:r>
            <a:r>
              <a:rPr kumimoji="0" lang="zh-CN" altLang="en-US" b="1">
                <a:latin typeface="华文中宋" panose="02010600040101010101" pitchFamily="2" charset="-122"/>
                <a:ea typeface="华文中宋" panose="02010600040101010101" pitchFamily="2" charset="-122"/>
                <a:cs typeface="Times New Roman" panose="02020603050405020304" pitchFamily="18" charset="0"/>
              </a:rPr>
              <a:t>检查左儿子结点</a:t>
            </a:r>
            <a:endParaRPr kumimoji="0" lang="zh-CN" altLang="en-US" b="1">
              <a:ea typeface="华文中宋" panose="02010600040101010101" pitchFamily="2" charset="-122"/>
              <a:cs typeface="Times New Roman" panose="02020603050405020304" pitchFamily="18" charset="0"/>
            </a:endParaRPr>
          </a:p>
          <a:p>
            <a:pPr algn="just" eaLnBrk="1" hangingPunct="1">
              <a:spcBef>
                <a:spcPct val="50000"/>
              </a:spcBef>
            </a:pPr>
            <a:r>
              <a:rPr kumimoji="0" lang="zh-CN" altLang="en-US" b="1">
                <a:solidFill>
                  <a:srgbClr val="0000FF"/>
                </a:solidFill>
                <a:ea typeface="华文中宋" panose="02010600040101010101" pitchFamily="2" charset="-122"/>
                <a:cs typeface="Times New Roman" panose="02020603050405020304" pitchFamily="18" charset="0"/>
              </a:rPr>
              <a:t>      </a:t>
            </a:r>
            <a:r>
              <a:rPr kumimoji="0" lang="en-US" altLang="zh-CN" b="1">
                <a:solidFill>
                  <a:srgbClr val="0000FF"/>
                </a:solidFill>
                <a:ea typeface="华文中宋" panose="02010600040101010101" pitchFamily="2" charset="-122"/>
                <a:cs typeface="Times New Roman" panose="02020603050405020304" pitchFamily="18" charset="0"/>
              </a:rPr>
              <a:t>int wt = Ew + w[i]; </a:t>
            </a:r>
          </a:p>
          <a:p>
            <a:pPr algn="just" eaLnBrk="1" hangingPunct="1">
              <a:spcBef>
                <a:spcPct val="50000"/>
              </a:spcBef>
            </a:pPr>
            <a:r>
              <a:rPr kumimoji="0" lang="en-US" altLang="zh-CN" b="1">
                <a:solidFill>
                  <a:srgbClr val="0000FF"/>
                </a:solidFill>
                <a:ea typeface="华文中宋" panose="02010600040101010101" pitchFamily="2" charset="-122"/>
                <a:cs typeface="Times New Roman" panose="02020603050405020304" pitchFamily="18" charset="0"/>
              </a:rPr>
              <a:t>      if (wt &lt;= c){ </a:t>
            </a:r>
            <a:r>
              <a:rPr kumimoji="0" lang="en-US" altLang="zh-CN" b="1">
                <a:ea typeface="华文中宋" panose="02010600040101010101" pitchFamily="2" charset="-122"/>
                <a:cs typeface="Times New Roman" panose="02020603050405020304" pitchFamily="18" charset="0"/>
              </a:rPr>
              <a:t>// </a:t>
            </a:r>
            <a:r>
              <a:rPr kumimoji="0" lang="zh-CN" altLang="en-US" b="1">
                <a:latin typeface="华文中宋" panose="02010600040101010101" pitchFamily="2" charset="-122"/>
                <a:ea typeface="华文中宋" panose="02010600040101010101" pitchFamily="2" charset="-122"/>
              </a:rPr>
              <a:t>可行结点</a:t>
            </a:r>
            <a:endParaRPr kumimoji="0" lang="zh-CN" altLang="en-US" b="1">
              <a:ea typeface="华文中宋" panose="02010600040101010101" pitchFamily="2" charset="-122"/>
            </a:endParaRPr>
          </a:p>
          <a:p>
            <a:pPr algn="just" eaLnBrk="1" hangingPunct="1">
              <a:spcBef>
                <a:spcPct val="50000"/>
              </a:spcBef>
            </a:pPr>
            <a:r>
              <a:rPr kumimoji="0" lang="zh-CN" altLang="en-US" b="1">
                <a:solidFill>
                  <a:srgbClr val="0000FF"/>
                </a:solidFill>
                <a:ea typeface="华文中宋" panose="02010600040101010101" pitchFamily="2" charset="-122"/>
              </a:rPr>
              <a:t>        </a:t>
            </a:r>
            <a:r>
              <a:rPr kumimoji="0" lang="en-US" altLang="zh-CN" b="1">
                <a:solidFill>
                  <a:srgbClr val="0000FF"/>
                </a:solidFill>
                <a:ea typeface="华文中宋" panose="02010600040101010101" pitchFamily="2" charset="-122"/>
              </a:rPr>
              <a:t>if (wt &gt; bestw) bestw = wt;</a:t>
            </a:r>
            <a:endParaRPr kumimoji="0" lang="en-US" altLang="zh-CN" b="1">
              <a:solidFill>
                <a:schemeClr val="accent2"/>
              </a:solidFill>
              <a:ea typeface="华文中宋" panose="02010600040101010101" pitchFamily="2" charset="-122"/>
            </a:endParaRPr>
          </a:p>
          <a:p>
            <a:pPr algn="just" eaLnBrk="1" hangingPunct="1">
              <a:spcBef>
                <a:spcPct val="50000"/>
              </a:spcBef>
            </a:pPr>
            <a:r>
              <a:rPr kumimoji="0" lang="en-US" altLang="zh-CN" b="1">
                <a:solidFill>
                  <a:srgbClr val="0000FF"/>
                </a:solidFill>
                <a:ea typeface="华文中宋" panose="02010600040101010101" pitchFamily="2" charset="-122"/>
              </a:rPr>
              <a:t>        </a:t>
            </a:r>
            <a:r>
              <a:rPr kumimoji="0" lang="en-US" altLang="zh-CN" b="1">
                <a:ea typeface="华文中宋" panose="02010600040101010101" pitchFamily="2" charset="-122"/>
              </a:rPr>
              <a:t>// </a:t>
            </a:r>
            <a:r>
              <a:rPr kumimoji="0" lang="zh-CN" altLang="en-US" b="1">
                <a:latin typeface="华文中宋" panose="02010600040101010101" pitchFamily="2" charset="-122"/>
                <a:ea typeface="华文中宋" panose="02010600040101010101" pitchFamily="2" charset="-122"/>
              </a:rPr>
              <a:t>加入活结点队列</a:t>
            </a:r>
            <a:endParaRPr kumimoji="0" lang="zh-CN" altLang="en-US" b="1">
              <a:ea typeface="华文中宋" panose="02010600040101010101" pitchFamily="2" charset="-122"/>
            </a:endParaRPr>
          </a:p>
          <a:p>
            <a:pPr algn="just" eaLnBrk="1" hangingPunct="1">
              <a:spcBef>
                <a:spcPct val="50000"/>
              </a:spcBef>
            </a:pPr>
            <a:r>
              <a:rPr kumimoji="0" lang="zh-CN" altLang="en-US" b="1">
                <a:solidFill>
                  <a:srgbClr val="0000FF"/>
                </a:solidFill>
                <a:ea typeface="华文中宋" panose="02010600040101010101" pitchFamily="2" charset="-122"/>
              </a:rPr>
              <a:t>         </a:t>
            </a:r>
            <a:r>
              <a:rPr kumimoji="0" lang="en-US" altLang="zh-CN" b="1">
                <a:solidFill>
                  <a:srgbClr val="0000FF"/>
                </a:solidFill>
                <a:ea typeface="华文中宋" panose="02010600040101010101" pitchFamily="2" charset="-122"/>
              </a:rPr>
              <a:t>if (i &lt; n) Q.Add(wt);</a:t>
            </a:r>
            <a:endParaRPr kumimoji="0" lang="en-US" altLang="zh-CN" b="1">
              <a:solidFill>
                <a:schemeClr val="accent2"/>
              </a:solidFill>
              <a:ea typeface="华文中宋" panose="02010600040101010101" pitchFamily="2" charset="-122"/>
            </a:endParaRPr>
          </a:p>
          <a:p>
            <a:pPr algn="just" eaLnBrk="1" hangingPunct="1">
              <a:spcBef>
                <a:spcPct val="50000"/>
              </a:spcBef>
            </a:pPr>
            <a:r>
              <a:rPr kumimoji="0" lang="en-US" altLang="zh-CN" b="1">
                <a:solidFill>
                  <a:srgbClr val="0000FF"/>
                </a:solidFill>
                <a:ea typeface="华文中宋" panose="02010600040101010101" pitchFamily="2" charset="-122"/>
              </a:rPr>
              <a:t>     }</a:t>
            </a:r>
            <a:endParaRPr kumimoji="0" lang="en-US" altLang="zh-CN" b="1">
              <a:solidFill>
                <a:schemeClr val="accent2"/>
              </a:solidFill>
              <a:latin typeface="Arial" panose="020B0604020202020204" pitchFamily="34" charset="0"/>
              <a:ea typeface="华文行楷" panose="02010800040101010101" pitchFamily="2" charset="-122"/>
            </a:endParaRPr>
          </a:p>
        </p:txBody>
      </p:sp>
      <p:sp>
        <p:nvSpPr>
          <p:cNvPr id="106503" name="Text Box 7">
            <a:extLst>
              <a:ext uri="{FF2B5EF4-FFF2-40B4-BE49-F238E27FC236}">
                <a16:creationId xmlns:a16="http://schemas.microsoft.com/office/drawing/2014/main" id="{3E253239-1680-42E6-A66F-D835FE3BF484}"/>
              </a:ext>
            </a:extLst>
          </p:cNvPr>
          <p:cNvSpPr txBox="1">
            <a:spLocks noChangeArrowheads="1"/>
          </p:cNvSpPr>
          <p:nvPr/>
        </p:nvSpPr>
        <p:spPr bwMode="auto">
          <a:xfrm>
            <a:off x="4572000" y="1371600"/>
            <a:ext cx="4343400" cy="3230563"/>
          </a:xfrm>
          <a:prstGeom prst="rect">
            <a:avLst/>
          </a:prstGeom>
          <a:noFill/>
          <a:ln w="3492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kumimoji="0" lang="en-US" altLang="zh-CN" b="1">
                <a:solidFill>
                  <a:srgbClr val="0000FF"/>
                </a:solidFill>
                <a:ea typeface="华文中宋" panose="02010600040101010101" pitchFamily="2" charset="-122"/>
                <a:cs typeface="Times New Roman" panose="02020603050405020304" pitchFamily="18" charset="0"/>
              </a:rPr>
              <a:t>// </a:t>
            </a:r>
            <a:r>
              <a:rPr kumimoji="0" lang="zh-CN" altLang="en-US" b="1">
                <a:solidFill>
                  <a:srgbClr val="0000FF"/>
                </a:solidFill>
                <a:ea typeface="华文中宋" panose="02010600040101010101" pitchFamily="2" charset="-122"/>
                <a:cs typeface="Times New Roman" panose="02020603050405020304" pitchFamily="18" charset="0"/>
              </a:rPr>
              <a:t>检查右儿子结点</a:t>
            </a:r>
          </a:p>
          <a:p>
            <a:pPr algn="just" eaLnBrk="1" hangingPunct="1">
              <a:spcBef>
                <a:spcPct val="50000"/>
              </a:spcBef>
            </a:pPr>
            <a:r>
              <a:rPr kumimoji="0" lang="zh-CN" altLang="en-US" b="1">
                <a:solidFill>
                  <a:srgbClr val="0000FF"/>
                </a:solidFill>
                <a:ea typeface="华文中宋" panose="02010600040101010101" pitchFamily="2" charset="-122"/>
                <a:cs typeface="Times New Roman" panose="02020603050405020304" pitchFamily="18" charset="0"/>
              </a:rPr>
              <a:t>    </a:t>
            </a:r>
            <a:r>
              <a:rPr kumimoji="0" lang="en-US" altLang="zh-CN" b="1">
                <a:solidFill>
                  <a:srgbClr val="0000FF"/>
                </a:solidFill>
                <a:ea typeface="华文中宋" panose="02010600040101010101" pitchFamily="2" charset="-122"/>
                <a:cs typeface="Times New Roman" panose="02020603050405020304" pitchFamily="18" charset="0"/>
              </a:rPr>
              <a:t>if (Ew + r &gt; bestw &amp;&amp; i &lt; n) </a:t>
            </a:r>
          </a:p>
          <a:p>
            <a:pPr algn="just" eaLnBrk="1" hangingPunct="1">
              <a:spcBef>
                <a:spcPct val="50000"/>
              </a:spcBef>
            </a:pPr>
            <a:r>
              <a:rPr kumimoji="0" lang="en-US" altLang="zh-CN" b="1">
                <a:solidFill>
                  <a:srgbClr val="0000FF"/>
                </a:solidFill>
                <a:ea typeface="华文中宋" panose="02010600040101010101" pitchFamily="2" charset="-122"/>
                <a:cs typeface="Times New Roman" panose="02020603050405020304" pitchFamily="18" charset="0"/>
              </a:rPr>
              <a:t>// </a:t>
            </a:r>
            <a:r>
              <a:rPr kumimoji="0" lang="zh-CN" altLang="en-US" b="1">
                <a:solidFill>
                  <a:srgbClr val="0000FF"/>
                </a:solidFill>
                <a:ea typeface="华文中宋" panose="02010600040101010101" pitchFamily="2" charset="-122"/>
                <a:cs typeface="Times New Roman" panose="02020603050405020304" pitchFamily="18" charset="0"/>
              </a:rPr>
              <a:t>可能含最优解</a:t>
            </a:r>
          </a:p>
          <a:p>
            <a:pPr algn="just" eaLnBrk="1" hangingPunct="1">
              <a:spcBef>
                <a:spcPct val="50000"/>
              </a:spcBef>
            </a:pPr>
            <a:r>
              <a:rPr kumimoji="0" lang="zh-CN" altLang="en-US" b="1">
                <a:solidFill>
                  <a:srgbClr val="0000FF"/>
                </a:solidFill>
                <a:ea typeface="华文中宋" panose="02010600040101010101" pitchFamily="2" charset="-122"/>
                <a:cs typeface="Times New Roman" panose="02020603050405020304" pitchFamily="18" charset="0"/>
              </a:rPr>
              <a:t>        </a:t>
            </a:r>
            <a:r>
              <a:rPr kumimoji="0" lang="en-US" altLang="zh-CN" b="1">
                <a:solidFill>
                  <a:srgbClr val="0000FF"/>
                </a:solidFill>
                <a:ea typeface="华文中宋" panose="02010600040101010101" pitchFamily="2" charset="-122"/>
                <a:cs typeface="Times New Roman" panose="02020603050405020304" pitchFamily="18" charset="0"/>
              </a:rPr>
              <a:t>Q.Add(Ew);        </a:t>
            </a:r>
          </a:p>
          <a:p>
            <a:pPr algn="just" eaLnBrk="1" hangingPunct="1">
              <a:spcBef>
                <a:spcPct val="50000"/>
              </a:spcBef>
            </a:pPr>
            <a:r>
              <a:rPr kumimoji="0" lang="en-US" altLang="zh-CN" b="1">
                <a:solidFill>
                  <a:srgbClr val="0000FF"/>
                </a:solidFill>
                <a:ea typeface="华文中宋" panose="02010600040101010101" pitchFamily="2" charset="-122"/>
                <a:cs typeface="Times New Roman" panose="02020603050405020304" pitchFamily="18" charset="0"/>
              </a:rPr>
              <a:t>       Q.delete(Ew); </a:t>
            </a:r>
          </a:p>
          <a:p>
            <a:pPr algn="just" eaLnBrk="1" hangingPunct="1">
              <a:spcBef>
                <a:spcPct val="50000"/>
              </a:spcBef>
            </a:pPr>
            <a:r>
              <a:rPr kumimoji="0" lang="en-US" altLang="zh-CN" b="1">
                <a:solidFill>
                  <a:srgbClr val="0000FF"/>
                </a:solidFill>
                <a:ea typeface="华文中宋" panose="02010600040101010101" pitchFamily="2" charset="-122"/>
                <a:cs typeface="Times New Roman" panose="02020603050405020304" pitchFamily="18" charset="0"/>
              </a:rPr>
              <a:t>// </a:t>
            </a:r>
            <a:r>
              <a:rPr kumimoji="0" lang="zh-CN" altLang="en-US" b="1">
                <a:solidFill>
                  <a:srgbClr val="0000FF"/>
                </a:solidFill>
                <a:ea typeface="华文中宋" panose="02010600040101010101" pitchFamily="2" charset="-122"/>
                <a:cs typeface="Times New Roman" panose="02020603050405020304" pitchFamily="18" charset="0"/>
              </a:rPr>
              <a:t>取下一扩展结点 </a:t>
            </a:r>
          </a:p>
        </p:txBody>
      </p:sp>
      <p:sp>
        <p:nvSpPr>
          <p:cNvPr id="106505" name="Text Box 9">
            <a:extLst>
              <a:ext uri="{FF2B5EF4-FFF2-40B4-BE49-F238E27FC236}">
                <a16:creationId xmlns:a16="http://schemas.microsoft.com/office/drawing/2014/main" id="{3E4D02CB-686B-4BFC-9ADB-76A4664BD752}"/>
              </a:ext>
            </a:extLst>
          </p:cNvPr>
          <p:cNvSpPr txBox="1">
            <a:spLocks noChangeArrowheads="1"/>
          </p:cNvSpPr>
          <p:nvPr/>
        </p:nvSpPr>
        <p:spPr bwMode="auto">
          <a:xfrm>
            <a:off x="4572000" y="4800600"/>
            <a:ext cx="4343400" cy="193833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华文中宋" panose="02010600040101010101" pitchFamily="2" charset="-122"/>
                <a:ea typeface="华文中宋" panose="02010600040101010101" pitchFamily="2" charset="-122"/>
              </a:rPr>
              <a:t>bestw:</a:t>
            </a:r>
            <a:r>
              <a:rPr lang="zh-CN" altLang="en-US" b="1">
                <a:latin typeface="华文中宋" panose="02010600040101010101" pitchFamily="2" charset="-122"/>
                <a:ea typeface="华文中宋" panose="02010600040101010101" pitchFamily="2" charset="-122"/>
              </a:rPr>
              <a:t>当前最优解</a:t>
            </a:r>
          </a:p>
          <a:p>
            <a:pPr eaLnBrk="1" hangingPunct="1">
              <a:spcBef>
                <a:spcPct val="50000"/>
              </a:spcBef>
            </a:pPr>
            <a:r>
              <a:rPr lang="en-US" altLang="zh-CN" b="1">
                <a:latin typeface="华文中宋" panose="02010600040101010101" pitchFamily="2" charset="-122"/>
                <a:ea typeface="华文中宋" panose="02010600040101010101" pitchFamily="2" charset="-122"/>
              </a:rPr>
              <a:t>Ew:</a:t>
            </a:r>
            <a:r>
              <a:rPr lang="zh-CN" altLang="en-US" b="1">
                <a:latin typeface="华文中宋" panose="02010600040101010101" pitchFamily="2" charset="-122"/>
                <a:ea typeface="华文中宋" panose="02010600040101010101" pitchFamily="2" charset="-122"/>
              </a:rPr>
              <a:t>当前扩展结点所相应的重量</a:t>
            </a:r>
          </a:p>
          <a:p>
            <a:pPr eaLnBrk="1" hangingPunct="1">
              <a:spcBef>
                <a:spcPct val="50000"/>
              </a:spcBef>
            </a:pPr>
            <a:r>
              <a:rPr lang="en-US" altLang="zh-CN" b="1">
                <a:latin typeface="华文中宋" panose="02010600040101010101" pitchFamily="2" charset="-122"/>
                <a:ea typeface="华文中宋" panose="02010600040101010101" pitchFamily="2" charset="-122"/>
              </a:rPr>
              <a:t>r:</a:t>
            </a:r>
            <a:r>
              <a:rPr lang="zh-CN" altLang="en-US" b="1">
                <a:latin typeface="华文中宋" panose="02010600040101010101" pitchFamily="2" charset="-122"/>
                <a:ea typeface="华文中宋" panose="02010600040101010101" pitchFamily="2" charset="-122"/>
              </a:rPr>
              <a:t>剩余集装箱的重量。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6500"/>
                                        </p:tgtEl>
                                        <p:attrNameLst>
                                          <p:attrName>style.visibility</p:attrName>
                                        </p:attrNameLst>
                                      </p:cBhvr>
                                      <p:to>
                                        <p:strVal val="visible"/>
                                      </p:to>
                                    </p:set>
                                    <p:anim calcmode="lin" valueType="num">
                                      <p:cBhvr additive="base">
                                        <p:cTn id="7" dur="500" fill="hold"/>
                                        <p:tgtEl>
                                          <p:spTgt spid="106500"/>
                                        </p:tgtEl>
                                        <p:attrNameLst>
                                          <p:attrName>ppt_x</p:attrName>
                                        </p:attrNameLst>
                                      </p:cBhvr>
                                      <p:tavLst>
                                        <p:tav tm="0">
                                          <p:val>
                                            <p:strVal val="0-#ppt_w/2"/>
                                          </p:val>
                                        </p:tav>
                                        <p:tav tm="100000">
                                          <p:val>
                                            <p:strVal val="#ppt_x"/>
                                          </p:val>
                                        </p:tav>
                                      </p:tavLst>
                                    </p:anim>
                                    <p:anim calcmode="lin" valueType="num">
                                      <p:cBhvr additive="base">
                                        <p:cTn id="8" dur="500" fill="hold"/>
                                        <p:tgtEl>
                                          <p:spTgt spid="10650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6502"/>
                                        </p:tgtEl>
                                        <p:attrNameLst>
                                          <p:attrName>style.visibility</p:attrName>
                                        </p:attrNameLst>
                                      </p:cBhvr>
                                      <p:to>
                                        <p:strVal val="visible"/>
                                      </p:to>
                                    </p:set>
                                    <p:anim calcmode="lin" valueType="num">
                                      <p:cBhvr additive="base">
                                        <p:cTn id="13" dur="500" fill="hold"/>
                                        <p:tgtEl>
                                          <p:spTgt spid="106502"/>
                                        </p:tgtEl>
                                        <p:attrNameLst>
                                          <p:attrName>ppt_x</p:attrName>
                                        </p:attrNameLst>
                                      </p:cBhvr>
                                      <p:tavLst>
                                        <p:tav tm="0">
                                          <p:val>
                                            <p:strVal val="0-#ppt_w/2"/>
                                          </p:val>
                                        </p:tav>
                                        <p:tav tm="100000">
                                          <p:val>
                                            <p:strVal val="#ppt_x"/>
                                          </p:val>
                                        </p:tav>
                                      </p:tavLst>
                                    </p:anim>
                                    <p:anim calcmode="lin" valueType="num">
                                      <p:cBhvr additive="base">
                                        <p:cTn id="14" dur="500" fill="hold"/>
                                        <p:tgtEl>
                                          <p:spTgt spid="10650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06503"/>
                                        </p:tgtEl>
                                        <p:attrNameLst>
                                          <p:attrName>style.visibility</p:attrName>
                                        </p:attrNameLst>
                                      </p:cBhvr>
                                      <p:to>
                                        <p:strVal val="visible"/>
                                      </p:to>
                                    </p:set>
                                    <p:anim calcmode="lin" valueType="num">
                                      <p:cBhvr additive="base">
                                        <p:cTn id="19" dur="500" fill="hold"/>
                                        <p:tgtEl>
                                          <p:spTgt spid="106503"/>
                                        </p:tgtEl>
                                        <p:attrNameLst>
                                          <p:attrName>ppt_x</p:attrName>
                                        </p:attrNameLst>
                                      </p:cBhvr>
                                      <p:tavLst>
                                        <p:tav tm="0">
                                          <p:val>
                                            <p:strVal val="1+#ppt_w/2"/>
                                          </p:val>
                                        </p:tav>
                                        <p:tav tm="100000">
                                          <p:val>
                                            <p:strVal val="#ppt_x"/>
                                          </p:val>
                                        </p:tav>
                                      </p:tavLst>
                                    </p:anim>
                                    <p:anim calcmode="lin" valueType="num">
                                      <p:cBhvr additive="base">
                                        <p:cTn id="20" dur="500" fill="hold"/>
                                        <p:tgtEl>
                                          <p:spTgt spid="10650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06504"/>
                                        </p:tgtEl>
                                        <p:attrNameLst>
                                          <p:attrName>style.visibility</p:attrName>
                                        </p:attrNameLst>
                                      </p:cBhvr>
                                      <p:to>
                                        <p:strVal val="visible"/>
                                      </p:to>
                                    </p:set>
                                    <p:anim calcmode="lin" valueType="num">
                                      <p:cBhvr additive="base">
                                        <p:cTn id="25" dur="500" fill="hold"/>
                                        <p:tgtEl>
                                          <p:spTgt spid="106504"/>
                                        </p:tgtEl>
                                        <p:attrNameLst>
                                          <p:attrName>ppt_x</p:attrName>
                                        </p:attrNameLst>
                                      </p:cBhvr>
                                      <p:tavLst>
                                        <p:tav tm="0">
                                          <p:val>
                                            <p:strVal val="1+#ppt_w/2"/>
                                          </p:val>
                                        </p:tav>
                                        <p:tav tm="100000">
                                          <p:val>
                                            <p:strVal val="#ppt_x"/>
                                          </p:val>
                                        </p:tav>
                                      </p:tavLst>
                                    </p:anim>
                                    <p:anim calcmode="lin" valueType="num">
                                      <p:cBhvr additive="base">
                                        <p:cTn id="26" dur="500" fill="hold"/>
                                        <p:tgtEl>
                                          <p:spTgt spid="106504"/>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6505"/>
                                        </p:tgtEl>
                                        <p:attrNameLst>
                                          <p:attrName>style.visibility</p:attrName>
                                        </p:attrNameLst>
                                      </p:cBhvr>
                                      <p:to>
                                        <p:strVal val="visible"/>
                                      </p:to>
                                    </p:set>
                                    <p:anim calcmode="lin" valueType="num">
                                      <p:cBhvr additive="base">
                                        <p:cTn id="31" dur="500" fill="hold"/>
                                        <p:tgtEl>
                                          <p:spTgt spid="106505"/>
                                        </p:tgtEl>
                                        <p:attrNameLst>
                                          <p:attrName>ppt_x</p:attrName>
                                        </p:attrNameLst>
                                      </p:cBhvr>
                                      <p:tavLst>
                                        <p:tav tm="0">
                                          <p:val>
                                            <p:strVal val="0-#ppt_w/2"/>
                                          </p:val>
                                        </p:tav>
                                        <p:tav tm="100000">
                                          <p:val>
                                            <p:strVal val="#ppt_x"/>
                                          </p:val>
                                        </p:tav>
                                      </p:tavLst>
                                    </p:anim>
                                    <p:anim calcmode="lin" valueType="num">
                                      <p:cBhvr additive="base">
                                        <p:cTn id="32" dur="500" fill="hold"/>
                                        <p:tgtEl>
                                          <p:spTgt spid="10650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4" grpId="0" animBg="1" autoUpdateAnimBg="0"/>
      <p:bldP spid="106502" grpId="0" animBg="1" autoUpdateAnimBg="0"/>
      <p:bldP spid="106500" grpId="0" animBg="1" autoUpdateAnimBg="0"/>
      <p:bldP spid="106503" grpId="0" animBg="1" autoUpdateAnimBg="0"/>
      <p:bldP spid="106505" grpId="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1CBB0689-AFFE-4F0A-8742-1877E97636C8}"/>
              </a:ext>
            </a:extLst>
          </p:cNvPr>
          <p:cNvSpPr>
            <a:spLocks noGrp="1" noChangeArrowheads="1"/>
          </p:cNvSpPr>
          <p:nvPr>
            <p:ph type="title"/>
          </p:nvPr>
        </p:nvSpPr>
        <p:spPr bwMode="auto">
          <a:xfrm>
            <a:off x="304800" y="228600"/>
            <a:ext cx="8153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pPr>
            <a:r>
              <a:rPr kumimoji="0" lang="en-US" altLang="zh-CN" sz="3600" b="1">
                <a:solidFill>
                  <a:srgbClr val="0000FF"/>
                </a:solidFill>
                <a:cs typeface="Times New Roman" panose="02020603050405020304" pitchFamily="18" charset="0"/>
              </a:rPr>
              <a:t> </a:t>
            </a:r>
            <a:r>
              <a:rPr kumimoji="0" lang="en-US" altLang="zh-CN" sz="3600" b="1">
                <a:solidFill>
                  <a:srgbClr val="FF0000"/>
                </a:solidFill>
                <a:latin typeface="华文中宋" panose="02010600040101010101" pitchFamily="2" charset="-122"/>
                <a:cs typeface="Times New Roman" panose="02020603050405020304" pitchFamily="18" charset="0"/>
              </a:rPr>
              <a:t>MaxLoading:</a:t>
            </a:r>
            <a:r>
              <a:rPr lang="zh-CN" altLang="en-US" sz="3200" b="1">
                <a:solidFill>
                  <a:srgbClr val="0000CC"/>
                </a:solidFill>
                <a:cs typeface="Times New Roman" panose="02020603050405020304" pitchFamily="18" charset="0"/>
              </a:rPr>
              <a:t>队列式分支限界法</a:t>
            </a:r>
            <a:r>
              <a:rPr lang="en-US" altLang="zh-CN" sz="3200" b="1">
                <a:solidFill>
                  <a:srgbClr val="0000CC"/>
                </a:solidFill>
                <a:cs typeface="Times New Roman" panose="02020603050405020304" pitchFamily="18" charset="0"/>
              </a:rPr>
              <a:t>-</a:t>
            </a:r>
            <a:r>
              <a:rPr lang="zh-CN" altLang="en-US" sz="3200" b="1">
                <a:solidFill>
                  <a:srgbClr val="0000CC"/>
                </a:solidFill>
                <a:cs typeface="Times New Roman" panose="02020603050405020304" pitchFamily="18" charset="0"/>
              </a:rPr>
              <a:t>完整算法</a:t>
            </a:r>
          </a:p>
        </p:txBody>
      </p:sp>
      <p:sp>
        <p:nvSpPr>
          <p:cNvPr id="38915" name="Rectangle 3">
            <a:extLst>
              <a:ext uri="{FF2B5EF4-FFF2-40B4-BE49-F238E27FC236}">
                <a16:creationId xmlns:a16="http://schemas.microsoft.com/office/drawing/2014/main" id="{EF187DEE-E548-4FBE-89FD-BE8F07567501}"/>
              </a:ext>
            </a:extLst>
          </p:cNvPr>
          <p:cNvSpPr>
            <a:spLocks noGrp="1" noChangeArrowheads="1"/>
          </p:cNvSpPr>
          <p:nvPr>
            <p:ph type="body" idx="1"/>
          </p:nvPr>
        </p:nvSpPr>
        <p:spPr bwMode="auto">
          <a:xfrm>
            <a:off x="304800" y="914400"/>
            <a:ext cx="4267200" cy="5715000"/>
          </a:xfrm>
          <a:noFill/>
          <a:ln w="3492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just" eaLnBrk="1" hangingPunct="1">
              <a:lnSpc>
                <a:spcPct val="90000"/>
              </a:lnSpc>
              <a:buFontTx/>
              <a:buNone/>
            </a:pPr>
            <a:r>
              <a:rPr lang="en-US" altLang="zh-CN" sz="1800" b="1">
                <a:solidFill>
                  <a:srgbClr val="0000CC"/>
                </a:solidFill>
              </a:rPr>
              <a:t>// </a:t>
            </a:r>
            <a:r>
              <a:rPr lang="zh-CN" altLang="en-US" sz="1800" b="1">
                <a:solidFill>
                  <a:srgbClr val="0000CC"/>
                </a:solidFill>
              </a:rPr>
              <a:t>初始化</a:t>
            </a:r>
          </a:p>
          <a:p>
            <a:pPr algn="just" eaLnBrk="1" hangingPunct="1">
              <a:buFontTx/>
              <a:buNone/>
            </a:pPr>
            <a:r>
              <a:rPr lang="en-US" altLang="zh-CN" sz="1800" b="1">
                <a:solidFill>
                  <a:srgbClr val="0000CC"/>
                </a:solidFill>
              </a:rPr>
              <a:t>Queue Q;    //</a:t>
            </a:r>
            <a:r>
              <a:rPr lang="zh-CN" altLang="en-US" sz="1800" b="1">
                <a:solidFill>
                  <a:srgbClr val="0000CC"/>
                </a:solidFill>
              </a:rPr>
              <a:t>活结点队列</a:t>
            </a:r>
          </a:p>
          <a:p>
            <a:pPr algn="just" eaLnBrk="1" hangingPunct="1">
              <a:buFontTx/>
              <a:buNone/>
            </a:pPr>
            <a:r>
              <a:rPr lang="en-US" altLang="zh-CN" sz="1800" b="1">
                <a:solidFill>
                  <a:srgbClr val="0000CC"/>
                </a:solidFill>
              </a:rPr>
              <a:t>Q.Add(-1);      //</a:t>
            </a:r>
            <a:r>
              <a:rPr lang="zh-CN" altLang="en-US" sz="1800" b="1">
                <a:solidFill>
                  <a:srgbClr val="0000CC"/>
                </a:solidFill>
              </a:rPr>
              <a:t>同层结点尾部标志</a:t>
            </a:r>
          </a:p>
          <a:p>
            <a:pPr algn="just" eaLnBrk="1" hangingPunct="1">
              <a:buFontTx/>
              <a:buNone/>
            </a:pPr>
            <a:r>
              <a:rPr lang="en-US" altLang="zh-CN" sz="1800" b="1">
                <a:solidFill>
                  <a:srgbClr val="0000CC"/>
                </a:solidFill>
              </a:rPr>
              <a:t>int i=1;       //</a:t>
            </a:r>
            <a:r>
              <a:rPr lang="zh-CN" altLang="en-US" sz="1800" b="1">
                <a:solidFill>
                  <a:srgbClr val="0000CC"/>
                </a:solidFill>
              </a:rPr>
              <a:t>当前扩展结点所处的层</a:t>
            </a:r>
          </a:p>
          <a:p>
            <a:pPr algn="just" eaLnBrk="1" hangingPunct="1">
              <a:buFontTx/>
              <a:buNone/>
            </a:pPr>
            <a:r>
              <a:rPr lang="en-US" altLang="zh-CN" sz="1800" b="1">
                <a:solidFill>
                  <a:srgbClr val="0000CC"/>
                </a:solidFill>
              </a:rPr>
              <a:t>int bestw=0,    //</a:t>
            </a:r>
            <a:r>
              <a:rPr lang="zh-CN" altLang="en-US" sz="1800" b="1">
                <a:solidFill>
                  <a:srgbClr val="0000CC"/>
                </a:solidFill>
              </a:rPr>
              <a:t>当前最优载重量</a:t>
            </a:r>
          </a:p>
          <a:p>
            <a:pPr algn="just" eaLnBrk="1" hangingPunct="1">
              <a:buFontTx/>
              <a:buNone/>
            </a:pPr>
            <a:r>
              <a:rPr lang="zh-CN" altLang="en-US" sz="1800" b="1">
                <a:solidFill>
                  <a:srgbClr val="0000CC"/>
                </a:solidFill>
              </a:rPr>
              <a:t>         </a:t>
            </a:r>
            <a:r>
              <a:rPr lang="en-US" altLang="zh-CN" sz="1800" b="1">
                <a:solidFill>
                  <a:srgbClr val="0000CC"/>
                </a:solidFill>
              </a:rPr>
              <a:t>Ew= 0</a:t>
            </a:r>
            <a:r>
              <a:rPr lang="zh-CN" altLang="en-US" sz="1800" b="1">
                <a:solidFill>
                  <a:srgbClr val="0000CC"/>
                </a:solidFill>
              </a:rPr>
              <a:t>，</a:t>
            </a:r>
            <a:r>
              <a:rPr lang="en-US" altLang="zh-CN" sz="1800" b="1">
                <a:solidFill>
                  <a:srgbClr val="0000CC"/>
                </a:solidFill>
              </a:rPr>
              <a:t>//</a:t>
            </a:r>
            <a:r>
              <a:rPr lang="zh-CN" altLang="en-US" sz="1800" b="1">
                <a:solidFill>
                  <a:srgbClr val="0000CC"/>
                </a:solidFill>
              </a:rPr>
              <a:t>扩展结点所相应的载重量</a:t>
            </a:r>
          </a:p>
          <a:p>
            <a:pPr algn="just" eaLnBrk="1" hangingPunct="1">
              <a:buFontTx/>
              <a:buNone/>
            </a:pPr>
            <a:r>
              <a:rPr lang="zh-CN" altLang="en-US" sz="1800" b="1">
                <a:solidFill>
                  <a:srgbClr val="0000CC"/>
                </a:solidFill>
              </a:rPr>
              <a:t>          </a:t>
            </a:r>
            <a:r>
              <a:rPr lang="en-US" altLang="zh-CN" sz="1800" b="1">
                <a:solidFill>
                  <a:srgbClr val="0000CC"/>
                </a:solidFill>
              </a:rPr>
              <a:t>r=0;            //</a:t>
            </a:r>
            <a:r>
              <a:rPr lang="zh-CN" altLang="en-US" sz="1800" b="1">
                <a:solidFill>
                  <a:srgbClr val="0000CC"/>
                </a:solidFill>
              </a:rPr>
              <a:t>剩余集装箱重量</a:t>
            </a:r>
          </a:p>
          <a:p>
            <a:pPr algn="just" eaLnBrk="1" hangingPunct="1">
              <a:buFontTx/>
              <a:buNone/>
            </a:pPr>
            <a:r>
              <a:rPr lang="en-US" altLang="zh-CN" sz="1800" b="1">
                <a:solidFill>
                  <a:srgbClr val="0000CC"/>
                </a:solidFill>
              </a:rPr>
              <a:t>for(int j=2; j &lt;=n;j++)</a:t>
            </a:r>
          </a:p>
          <a:p>
            <a:pPr algn="just" eaLnBrk="1" hangingPunct="1">
              <a:lnSpc>
                <a:spcPct val="90000"/>
              </a:lnSpc>
              <a:buFontTx/>
              <a:buNone/>
            </a:pPr>
            <a:r>
              <a:rPr lang="en-US" altLang="zh-CN" sz="1800" b="1">
                <a:solidFill>
                  <a:srgbClr val="0000CC"/>
                </a:solidFill>
              </a:rPr>
              <a:t>       r+=w[j];            //</a:t>
            </a:r>
            <a:r>
              <a:rPr lang="zh-CN" altLang="en-US" sz="1800" b="1">
                <a:solidFill>
                  <a:srgbClr val="0000CC"/>
                </a:solidFill>
              </a:rPr>
              <a:t>搜索子集空间树</a:t>
            </a:r>
          </a:p>
          <a:p>
            <a:pPr algn="just" eaLnBrk="1" hangingPunct="1">
              <a:lnSpc>
                <a:spcPct val="90000"/>
              </a:lnSpc>
              <a:buFontTx/>
              <a:buNone/>
            </a:pPr>
            <a:r>
              <a:rPr kumimoji="0" lang="en-US" altLang="zh-CN" sz="1800" b="1">
                <a:solidFill>
                  <a:srgbClr val="0000FF"/>
                </a:solidFill>
                <a:latin typeface="华文中宋" panose="02010600040101010101" pitchFamily="2" charset="-122"/>
              </a:rPr>
              <a:t>while (true){</a:t>
            </a:r>
          </a:p>
          <a:p>
            <a:pPr algn="just" eaLnBrk="1" hangingPunct="1">
              <a:lnSpc>
                <a:spcPct val="90000"/>
              </a:lnSpc>
              <a:buFontTx/>
              <a:buNone/>
            </a:pPr>
            <a:r>
              <a:rPr kumimoji="0" lang="en-US" altLang="zh-CN" sz="1800" b="1">
                <a:solidFill>
                  <a:srgbClr val="0000FF"/>
                </a:solidFill>
                <a:latin typeface="华文中宋" panose="02010600040101010101" pitchFamily="2" charset="-122"/>
              </a:rPr>
              <a:t>  int wt = Ew+w[i];</a:t>
            </a:r>
            <a:r>
              <a:rPr kumimoji="0" lang="en-US" altLang="zh-CN" sz="1800" b="1">
                <a:latin typeface="华文中宋" panose="02010600040101010101" pitchFamily="2" charset="-122"/>
              </a:rPr>
              <a:t>//</a:t>
            </a:r>
            <a:r>
              <a:rPr kumimoji="0" lang="zh-CN" altLang="en-US" sz="1800" b="1">
                <a:latin typeface="华文中宋" panose="02010600040101010101" pitchFamily="2" charset="-122"/>
              </a:rPr>
              <a:t>检查左儿子结点</a:t>
            </a:r>
            <a:endParaRPr kumimoji="0" lang="zh-CN" altLang="en-US" sz="1800" b="1">
              <a:solidFill>
                <a:srgbClr val="0000FF"/>
              </a:solidFill>
              <a:latin typeface="华文中宋" panose="02010600040101010101" pitchFamily="2" charset="-122"/>
            </a:endParaRPr>
          </a:p>
          <a:p>
            <a:pPr algn="just" eaLnBrk="1" hangingPunct="1">
              <a:lnSpc>
                <a:spcPct val="90000"/>
              </a:lnSpc>
              <a:spcBef>
                <a:spcPct val="50000"/>
              </a:spcBef>
              <a:buFontTx/>
              <a:buNone/>
            </a:pPr>
            <a:r>
              <a:rPr kumimoji="0" lang="zh-CN" altLang="en-US" sz="1800" b="1">
                <a:solidFill>
                  <a:srgbClr val="0000FF"/>
                </a:solidFill>
                <a:latin typeface="华文中宋" panose="02010600040101010101" pitchFamily="2" charset="-122"/>
              </a:rPr>
              <a:t>  </a:t>
            </a:r>
            <a:r>
              <a:rPr kumimoji="0" lang="en-US" altLang="zh-CN" sz="1800" b="1">
                <a:solidFill>
                  <a:srgbClr val="FF0000"/>
                </a:solidFill>
                <a:latin typeface="华文中宋" panose="02010600040101010101" pitchFamily="2" charset="-122"/>
              </a:rPr>
              <a:t>if (wt &lt;= c){ // </a:t>
            </a:r>
            <a:r>
              <a:rPr kumimoji="0" lang="zh-CN" altLang="en-US" sz="1800" b="1">
                <a:solidFill>
                  <a:srgbClr val="FF0000"/>
                </a:solidFill>
                <a:latin typeface="华文中宋" panose="02010600040101010101" pitchFamily="2" charset="-122"/>
              </a:rPr>
              <a:t>可行结点</a:t>
            </a:r>
          </a:p>
          <a:p>
            <a:pPr algn="just" eaLnBrk="1" hangingPunct="1">
              <a:lnSpc>
                <a:spcPct val="90000"/>
              </a:lnSpc>
              <a:spcBef>
                <a:spcPct val="50000"/>
              </a:spcBef>
              <a:buFontTx/>
              <a:buNone/>
            </a:pPr>
            <a:r>
              <a:rPr kumimoji="0" lang="zh-CN" altLang="en-US" sz="1800" b="1">
                <a:solidFill>
                  <a:srgbClr val="FF0000"/>
                </a:solidFill>
                <a:latin typeface="华文中宋" panose="02010600040101010101" pitchFamily="2" charset="-122"/>
              </a:rPr>
              <a:t>    </a:t>
            </a:r>
            <a:r>
              <a:rPr kumimoji="0" lang="en-US" altLang="zh-CN" sz="1800" b="1">
                <a:solidFill>
                  <a:srgbClr val="FF0000"/>
                </a:solidFill>
                <a:latin typeface="华文中宋" panose="02010600040101010101" pitchFamily="2" charset="-122"/>
              </a:rPr>
              <a:t>if (wt &gt; bestw) bestw = wt;</a:t>
            </a:r>
          </a:p>
          <a:p>
            <a:pPr algn="just" eaLnBrk="1" hangingPunct="1">
              <a:lnSpc>
                <a:spcPct val="90000"/>
              </a:lnSpc>
              <a:spcBef>
                <a:spcPct val="50000"/>
              </a:spcBef>
              <a:buFontTx/>
              <a:buNone/>
            </a:pPr>
            <a:r>
              <a:rPr kumimoji="0" lang="en-US" altLang="zh-CN" sz="1800" b="1">
                <a:solidFill>
                  <a:srgbClr val="0000FF"/>
                </a:solidFill>
                <a:latin typeface="华文中宋" panose="02010600040101010101" pitchFamily="2" charset="-122"/>
              </a:rPr>
              <a:t>        </a:t>
            </a:r>
            <a:r>
              <a:rPr kumimoji="0" lang="en-US" altLang="zh-CN" sz="1800" b="1">
                <a:latin typeface="华文中宋" panose="02010600040101010101" pitchFamily="2" charset="-122"/>
              </a:rPr>
              <a:t>// </a:t>
            </a:r>
            <a:r>
              <a:rPr kumimoji="0" lang="zh-CN" altLang="en-US" sz="1800" b="1">
                <a:latin typeface="华文中宋" panose="02010600040101010101" pitchFamily="2" charset="-122"/>
              </a:rPr>
              <a:t>加入活结点队列</a:t>
            </a:r>
          </a:p>
          <a:p>
            <a:pPr algn="just" eaLnBrk="1" hangingPunct="1">
              <a:lnSpc>
                <a:spcPct val="90000"/>
              </a:lnSpc>
              <a:spcBef>
                <a:spcPct val="50000"/>
              </a:spcBef>
              <a:buFontTx/>
              <a:buNone/>
            </a:pPr>
            <a:r>
              <a:rPr kumimoji="0" lang="zh-CN" altLang="en-US" sz="1800" b="1">
                <a:solidFill>
                  <a:srgbClr val="0000FF"/>
                </a:solidFill>
                <a:latin typeface="华文中宋" panose="02010600040101010101" pitchFamily="2" charset="-122"/>
              </a:rPr>
              <a:t>    </a:t>
            </a:r>
            <a:r>
              <a:rPr kumimoji="0" lang="en-US" altLang="zh-CN" sz="1800" b="1">
                <a:solidFill>
                  <a:srgbClr val="0000FF"/>
                </a:solidFill>
                <a:latin typeface="华文中宋" panose="02010600040101010101" pitchFamily="2" charset="-122"/>
              </a:rPr>
              <a:t>if (i &lt; n) Q.Add(wt);   </a:t>
            </a:r>
          </a:p>
          <a:p>
            <a:pPr algn="just" eaLnBrk="1" hangingPunct="1">
              <a:lnSpc>
                <a:spcPct val="90000"/>
              </a:lnSpc>
              <a:spcBef>
                <a:spcPct val="50000"/>
              </a:spcBef>
              <a:buFontTx/>
              <a:buNone/>
            </a:pPr>
            <a:r>
              <a:rPr kumimoji="0" lang="en-US" altLang="zh-CN" sz="1800" b="1">
                <a:solidFill>
                  <a:srgbClr val="0000FF"/>
                </a:solidFill>
                <a:latin typeface="华文中宋" panose="02010600040101010101" pitchFamily="2" charset="-122"/>
              </a:rPr>
              <a:t>  }</a:t>
            </a:r>
          </a:p>
        </p:txBody>
      </p:sp>
      <p:sp>
        <p:nvSpPr>
          <p:cNvPr id="38916" name="Rectangle 4">
            <a:extLst>
              <a:ext uri="{FF2B5EF4-FFF2-40B4-BE49-F238E27FC236}">
                <a16:creationId xmlns:a16="http://schemas.microsoft.com/office/drawing/2014/main" id="{C8B7370C-9CD9-4D8A-A2B9-53AD4A657207}"/>
              </a:ext>
            </a:extLst>
          </p:cNvPr>
          <p:cNvSpPr>
            <a:spLocks noChangeArrowheads="1"/>
          </p:cNvSpPr>
          <p:nvPr/>
        </p:nvSpPr>
        <p:spPr bwMode="auto">
          <a:xfrm>
            <a:off x="4648200" y="914400"/>
            <a:ext cx="4267200" cy="5715000"/>
          </a:xfrm>
          <a:prstGeom prst="rect">
            <a:avLst/>
          </a:prstGeom>
          <a:noFill/>
          <a:ln w="3492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80000"/>
              </a:lnSpc>
              <a:spcBef>
                <a:spcPct val="50000"/>
              </a:spcBef>
            </a:pPr>
            <a:r>
              <a:rPr kumimoji="0" lang="en-US" altLang="zh-CN" sz="2000" b="1">
                <a:solidFill>
                  <a:srgbClr val="0000FF"/>
                </a:solidFill>
                <a:latin typeface="华文中宋" panose="02010600040101010101" pitchFamily="2" charset="-122"/>
                <a:ea typeface="华文中宋" panose="02010600040101010101" pitchFamily="2" charset="-122"/>
              </a:rPr>
              <a:t> // </a:t>
            </a:r>
            <a:r>
              <a:rPr kumimoji="0" lang="zh-CN" altLang="en-US" sz="2000" b="1">
                <a:solidFill>
                  <a:srgbClr val="0000FF"/>
                </a:solidFill>
                <a:latin typeface="华文中宋" panose="02010600040101010101" pitchFamily="2" charset="-122"/>
                <a:ea typeface="华文中宋" panose="02010600040101010101" pitchFamily="2" charset="-122"/>
              </a:rPr>
              <a:t>检查右儿子结点</a:t>
            </a:r>
          </a:p>
          <a:p>
            <a:pPr algn="just" eaLnBrk="1" hangingPunct="1">
              <a:lnSpc>
                <a:spcPct val="80000"/>
              </a:lnSpc>
              <a:spcBef>
                <a:spcPct val="50000"/>
              </a:spcBef>
            </a:pPr>
            <a:r>
              <a:rPr kumimoji="0" lang="zh-CN" altLang="en-US" sz="2000" b="1">
                <a:solidFill>
                  <a:srgbClr val="0000FF"/>
                </a:solidFill>
                <a:latin typeface="华文中宋" panose="02010600040101010101" pitchFamily="2" charset="-122"/>
                <a:ea typeface="华文中宋" panose="02010600040101010101" pitchFamily="2" charset="-122"/>
              </a:rPr>
              <a:t>  </a:t>
            </a:r>
            <a:r>
              <a:rPr kumimoji="0" lang="en-US" altLang="zh-CN" sz="2000" b="1">
                <a:solidFill>
                  <a:srgbClr val="FF0000"/>
                </a:solidFill>
                <a:latin typeface="华文中宋" panose="02010600040101010101" pitchFamily="2" charset="-122"/>
                <a:ea typeface="华文中宋" panose="02010600040101010101" pitchFamily="2" charset="-122"/>
              </a:rPr>
              <a:t>if (Ew + r &gt; bestw &amp;&amp; i &lt; n)</a:t>
            </a:r>
            <a:r>
              <a:rPr kumimoji="0" lang="en-US" altLang="zh-CN" sz="2000" b="1">
                <a:solidFill>
                  <a:srgbClr val="0000FF"/>
                </a:solidFill>
                <a:latin typeface="华文中宋" panose="02010600040101010101" pitchFamily="2" charset="-122"/>
                <a:ea typeface="华文中宋" panose="02010600040101010101" pitchFamily="2" charset="-122"/>
              </a:rPr>
              <a:t> </a:t>
            </a:r>
          </a:p>
          <a:p>
            <a:pPr algn="just" eaLnBrk="1" hangingPunct="1">
              <a:lnSpc>
                <a:spcPct val="80000"/>
              </a:lnSpc>
              <a:spcBef>
                <a:spcPct val="50000"/>
              </a:spcBef>
            </a:pPr>
            <a:r>
              <a:rPr kumimoji="0" lang="en-US" altLang="zh-CN" sz="2000" b="1">
                <a:solidFill>
                  <a:srgbClr val="0000FF"/>
                </a:solidFill>
                <a:latin typeface="华文中宋" panose="02010600040101010101" pitchFamily="2" charset="-122"/>
                <a:ea typeface="华文中宋" panose="02010600040101010101" pitchFamily="2" charset="-122"/>
              </a:rPr>
              <a:t>      Q.Add(Ew);        </a:t>
            </a:r>
          </a:p>
          <a:p>
            <a:pPr algn="just" eaLnBrk="1" hangingPunct="1">
              <a:lnSpc>
                <a:spcPct val="80000"/>
              </a:lnSpc>
              <a:spcBef>
                <a:spcPct val="50000"/>
              </a:spcBef>
            </a:pPr>
            <a:r>
              <a:rPr kumimoji="0" lang="en-US" altLang="zh-CN" sz="2000" b="1">
                <a:solidFill>
                  <a:srgbClr val="0000FF"/>
                </a:solidFill>
                <a:latin typeface="华文中宋" panose="02010600040101010101" pitchFamily="2" charset="-122"/>
                <a:ea typeface="华文中宋" panose="02010600040101010101" pitchFamily="2" charset="-122"/>
              </a:rPr>
              <a:t>  Q.delete(Ew); // </a:t>
            </a:r>
            <a:r>
              <a:rPr kumimoji="0" lang="zh-CN" altLang="en-US" sz="2000" b="1">
                <a:solidFill>
                  <a:srgbClr val="0000FF"/>
                </a:solidFill>
                <a:latin typeface="华文中宋" panose="02010600040101010101" pitchFamily="2" charset="-122"/>
                <a:ea typeface="华文中宋" panose="02010600040101010101" pitchFamily="2" charset="-122"/>
              </a:rPr>
              <a:t>取下一扩展结点</a:t>
            </a:r>
            <a:endParaRPr kumimoji="0" lang="zh-CN" altLang="en-US" sz="2000" b="1">
              <a:solidFill>
                <a:schemeClr val="accent2"/>
              </a:solidFill>
              <a:latin typeface="华文中宋" panose="02010600040101010101" pitchFamily="2" charset="-122"/>
              <a:ea typeface="华文中宋" panose="02010600040101010101" pitchFamily="2" charset="-122"/>
            </a:endParaRPr>
          </a:p>
          <a:p>
            <a:pPr algn="just" eaLnBrk="1" hangingPunct="1">
              <a:lnSpc>
                <a:spcPct val="80000"/>
              </a:lnSpc>
              <a:spcBef>
                <a:spcPct val="50000"/>
              </a:spcBef>
            </a:pPr>
            <a:r>
              <a:rPr kumimoji="0" lang="zh-CN" altLang="en-US" sz="2000" b="1">
                <a:solidFill>
                  <a:srgbClr val="0000FF"/>
                </a:solidFill>
                <a:ea typeface="华文中宋" panose="02010600040101010101" pitchFamily="2" charset="-122"/>
                <a:cs typeface="Times New Roman" panose="02020603050405020304" pitchFamily="18" charset="0"/>
              </a:rPr>
              <a:t>   </a:t>
            </a:r>
            <a:r>
              <a:rPr kumimoji="0" lang="en-US" altLang="zh-CN" sz="2000" b="1">
                <a:solidFill>
                  <a:srgbClr val="0000FF"/>
                </a:solidFill>
                <a:ea typeface="华文中宋" panose="02010600040101010101" pitchFamily="2" charset="-122"/>
                <a:cs typeface="Times New Roman" panose="02020603050405020304" pitchFamily="18" charset="0"/>
              </a:rPr>
              <a:t>if (Ew == -1)</a:t>
            </a:r>
            <a:endParaRPr kumimoji="0" lang="en-US" altLang="zh-CN" sz="2000" b="1">
              <a:solidFill>
                <a:schemeClr val="accent2"/>
              </a:solidFill>
              <a:ea typeface="华文中宋" panose="02010600040101010101" pitchFamily="2" charset="-122"/>
              <a:cs typeface="Times New Roman" panose="02020603050405020304" pitchFamily="18" charset="0"/>
            </a:endParaRPr>
          </a:p>
          <a:p>
            <a:pPr algn="just" eaLnBrk="1" hangingPunct="1">
              <a:lnSpc>
                <a:spcPct val="80000"/>
              </a:lnSpc>
              <a:spcBef>
                <a:spcPct val="50000"/>
              </a:spcBef>
            </a:pPr>
            <a:r>
              <a:rPr kumimoji="0" lang="en-US" altLang="zh-CN" sz="2000" b="1">
                <a:solidFill>
                  <a:srgbClr val="0000FF"/>
                </a:solidFill>
                <a:ea typeface="华文中宋" panose="02010600040101010101" pitchFamily="2" charset="-122"/>
                <a:cs typeface="Times New Roman" panose="02020603050405020304" pitchFamily="18" charset="0"/>
              </a:rPr>
              <a:t>   {   if (Q.isEmpty())   return </a:t>
            </a:r>
            <a:r>
              <a:rPr kumimoji="0" lang="en-US" altLang="zh-CN" sz="2000" b="1">
                <a:solidFill>
                  <a:srgbClr val="0000FF"/>
                </a:solidFill>
                <a:latin typeface="华文中宋" panose="02010600040101010101" pitchFamily="2" charset="-122"/>
                <a:ea typeface="华文中宋" panose="02010600040101010101" pitchFamily="2" charset="-122"/>
              </a:rPr>
              <a:t>bestw;</a:t>
            </a:r>
          </a:p>
          <a:p>
            <a:pPr algn="just" eaLnBrk="1" hangingPunct="1">
              <a:lnSpc>
                <a:spcPct val="80000"/>
              </a:lnSpc>
              <a:spcBef>
                <a:spcPct val="50000"/>
              </a:spcBef>
            </a:pPr>
            <a:r>
              <a:rPr kumimoji="0" lang="en-US" altLang="zh-CN" sz="2000" b="1">
                <a:solidFill>
                  <a:srgbClr val="0000FF"/>
                </a:solidFill>
                <a:latin typeface="华文中宋" panose="02010600040101010101" pitchFamily="2" charset="-122"/>
                <a:ea typeface="华文中宋" panose="02010600040101010101" pitchFamily="2" charset="-122"/>
              </a:rPr>
              <a:t>     Q.Add(-1); Q.delete(Ew);</a:t>
            </a:r>
          </a:p>
          <a:p>
            <a:pPr algn="just" eaLnBrk="1" hangingPunct="1">
              <a:lnSpc>
                <a:spcPct val="80000"/>
              </a:lnSpc>
              <a:spcBef>
                <a:spcPct val="50000"/>
              </a:spcBef>
            </a:pPr>
            <a:r>
              <a:rPr kumimoji="0" lang="en-US" altLang="zh-CN" sz="2000" b="1">
                <a:solidFill>
                  <a:srgbClr val="0000FF"/>
                </a:solidFill>
                <a:latin typeface="华文中宋" panose="02010600040101010101" pitchFamily="2" charset="-122"/>
                <a:ea typeface="华文中宋" panose="02010600040101010101" pitchFamily="2" charset="-122"/>
              </a:rPr>
              <a:t> //</a:t>
            </a:r>
            <a:r>
              <a:rPr kumimoji="0" lang="zh-CN" altLang="en-US" sz="2000" b="1">
                <a:solidFill>
                  <a:srgbClr val="0000FF"/>
                </a:solidFill>
                <a:latin typeface="华文中宋" panose="02010600040101010101" pitchFamily="2" charset="-122"/>
                <a:ea typeface="华文中宋" panose="02010600040101010101" pitchFamily="2" charset="-122"/>
              </a:rPr>
              <a:t>同层尾部标志，取下一扩展结点</a:t>
            </a:r>
          </a:p>
          <a:p>
            <a:pPr algn="just" eaLnBrk="1" hangingPunct="1">
              <a:lnSpc>
                <a:spcPct val="80000"/>
              </a:lnSpc>
              <a:spcBef>
                <a:spcPct val="50000"/>
              </a:spcBef>
            </a:pPr>
            <a:r>
              <a:rPr kumimoji="0" lang="zh-CN" altLang="en-US" sz="2000" b="1">
                <a:solidFill>
                  <a:srgbClr val="0000FF"/>
                </a:solidFill>
                <a:latin typeface="华文中宋" panose="02010600040101010101" pitchFamily="2" charset="-122"/>
                <a:ea typeface="华文中宋" panose="02010600040101010101" pitchFamily="2" charset="-122"/>
              </a:rPr>
              <a:t>     </a:t>
            </a:r>
            <a:r>
              <a:rPr kumimoji="0" lang="en-US" altLang="zh-CN" sz="2000" b="1">
                <a:solidFill>
                  <a:srgbClr val="0000FF"/>
                </a:solidFill>
                <a:latin typeface="华文中宋" panose="02010600040101010101" pitchFamily="2" charset="-122"/>
                <a:ea typeface="华文中宋" panose="02010600040101010101" pitchFamily="2" charset="-122"/>
              </a:rPr>
              <a:t>i++; // </a:t>
            </a:r>
            <a:r>
              <a:rPr kumimoji="0" lang="zh-CN" altLang="en-US" sz="2000" b="1">
                <a:solidFill>
                  <a:srgbClr val="0000FF"/>
                </a:solidFill>
                <a:latin typeface="华文中宋" panose="02010600040101010101" pitchFamily="2" charset="-122"/>
                <a:ea typeface="华文中宋" panose="02010600040101010101" pitchFamily="2" charset="-122"/>
              </a:rPr>
              <a:t>进入下一层</a:t>
            </a:r>
          </a:p>
          <a:p>
            <a:pPr algn="just" eaLnBrk="1" hangingPunct="1">
              <a:lnSpc>
                <a:spcPct val="80000"/>
              </a:lnSpc>
              <a:spcBef>
                <a:spcPct val="50000"/>
              </a:spcBef>
            </a:pPr>
            <a:r>
              <a:rPr kumimoji="0" lang="zh-CN" altLang="en-US" sz="2000" b="1">
                <a:solidFill>
                  <a:srgbClr val="0000FF"/>
                </a:solidFill>
                <a:latin typeface="华文中宋" panose="02010600040101010101" pitchFamily="2" charset="-122"/>
                <a:ea typeface="华文中宋" panose="02010600040101010101" pitchFamily="2" charset="-122"/>
              </a:rPr>
              <a:t>     </a:t>
            </a:r>
            <a:r>
              <a:rPr kumimoji="0" lang="en-US" altLang="zh-CN" sz="2000" b="1">
                <a:solidFill>
                  <a:srgbClr val="0000FF"/>
                </a:solidFill>
                <a:latin typeface="华文中宋" panose="02010600040101010101" pitchFamily="2" charset="-122"/>
                <a:ea typeface="华文中宋" panose="02010600040101010101" pitchFamily="2" charset="-122"/>
              </a:rPr>
              <a:t>r-=w[i];}</a:t>
            </a:r>
          </a:p>
          <a:p>
            <a:pPr algn="just" eaLnBrk="1" hangingPunct="1">
              <a:lnSpc>
                <a:spcPct val="80000"/>
              </a:lnSpc>
              <a:spcBef>
                <a:spcPct val="50000"/>
              </a:spcBef>
            </a:pPr>
            <a:r>
              <a:rPr kumimoji="0" lang="en-US" altLang="zh-CN" sz="2000" b="1">
                <a:solidFill>
                  <a:srgbClr val="0000FF"/>
                </a:solidFill>
                <a:latin typeface="华文中宋" panose="02010600040101010101" pitchFamily="2" charset="-122"/>
                <a:ea typeface="华文中宋" panose="02010600040101010101" pitchFamily="2" charset="-122"/>
              </a:rPr>
              <a:t>   }</a:t>
            </a:r>
          </a:p>
          <a:p>
            <a:pPr algn="just" eaLnBrk="1" hangingPunct="1">
              <a:lnSpc>
                <a:spcPct val="80000"/>
              </a:lnSpc>
              <a:spcBef>
                <a:spcPct val="50000"/>
              </a:spcBef>
            </a:pPr>
            <a:r>
              <a:rPr kumimoji="0" lang="en-US" altLang="zh-CN" sz="2000" b="1">
                <a:solidFill>
                  <a:srgbClr val="0000FF"/>
                </a:solidFill>
                <a:latin typeface="华文中宋" panose="02010600040101010101" pitchFamily="2" charset="-122"/>
                <a:ea typeface="华文中宋" panose="02010600040101010101" pitchFamily="2" charset="-122"/>
              </a:rPr>
              <a:t>}    </a:t>
            </a:r>
          </a:p>
          <a:p>
            <a:pPr eaLnBrk="1" hangingPunct="1">
              <a:lnSpc>
                <a:spcPct val="80000"/>
              </a:lnSpc>
              <a:spcBef>
                <a:spcPct val="20000"/>
              </a:spcBef>
              <a:buFontTx/>
              <a:buChar char="•"/>
            </a:pPr>
            <a:endParaRPr lang="en-US" altLang="zh-CN" sz="2000" b="1">
              <a:latin typeface="华文中宋" panose="02010600040101010101" pitchFamily="2" charset="-122"/>
              <a:ea typeface="华文中宋" panose="0201060004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6650BB6B-7B21-4B11-9E9D-409ECDFF994D}"/>
              </a:ext>
            </a:extLst>
          </p:cNvPr>
          <p:cNvSpPr>
            <a:spLocks noGrp="1" noChangeArrowheads="1"/>
          </p:cNvSpPr>
          <p:nvPr>
            <p:ph type="title"/>
          </p:nvPr>
        </p:nvSpPr>
        <p:spPr bwMode="auto">
          <a:xfrm>
            <a:off x="685800" y="3048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spcBef>
                <a:spcPct val="50000"/>
              </a:spcBef>
            </a:pPr>
            <a:r>
              <a:rPr kumimoji="0" lang="zh-CN" altLang="en-US" sz="3200" b="1">
                <a:solidFill>
                  <a:srgbClr val="0000FF"/>
                </a:solidFill>
                <a:latin typeface="华文中宋" panose="02010600040101010101" pitchFamily="2" charset="-122"/>
              </a:rPr>
              <a:t>实例与操作过程</a:t>
            </a:r>
          </a:p>
        </p:txBody>
      </p:sp>
      <p:sp>
        <p:nvSpPr>
          <p:cNvPr id="108547" name="Rectangle 3">
            <a:extLst>
              <a:ext uri="{FF2B5EF4-FFF2-40B4-BE49-F238E27FC236}">
                <a16:creationId xmlns:a16="http://schemas.microsoft.com/office/drawing/2014/main" id="{5D65E63E-3A9C-46B3-A5FB-5950C6CF571C}"/>
              </a:ext>
            </a:extLst>
          </p:cNvPr>
          <p:cNvSpPr>
            <a:spLocks noGrp="1" noChangeArrowheads="1"/>
          </p:cNvSpPr>
          <p:nvPr>
            <p:ph type="body" idx="1"/>
          </p:nvPr>
        </p:nvSpPr>
        <p:spPr bwMode="auto">
          <a:xfrm>
            <a:off x="609600" y="1143000"/>
            <a:ext cx="7772400"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2800" b="1">
                <a:solidFill>
                  <a:srgbClr val="0000CC"/>
                </a:solidFill>
              </a:rPr>
              <a:t>n=3</a:t>
            </a:r>
            <a:r>
              <a:rPr lang="zh-CN" altLang="en-US" sz="2800" b="1">
                <a:solidFill>
                  <a:srgbClr val="0000CC"/>
                </a:solidFill>
              </a:rPr>
              <a:t>，</a:t>
            </a:r>
            <a:r>
              <a:rPr lang="en-US" altLang="zh-CN" sz="2800" b="1">
                <a:solidFill>
                  <a:srgbClr val="0000CC"/>
                </a:solidFill>
              </a:rPr>
              <a:t>c</a:t>
            </a:r>
            <a:r>
              <a:rPr lang="en-US" altLang="zh-CN" sz="2800" b="1" baseline="-25000">
                <a:solidFill>
                  <a:srgbClr val="0000CC"/>
                </a:solidFill>
              </a:rPr>
              <a:t>1</a:t>
            </a:r>
            <a:r>
              <a:rPr lang="en-US" altLang="zh-CN" sz="2800" b="1">
                <a:solidFill>
                  <a:srgbClr val="0000CC"/>
                </a:solidFill>
              </a:rPr>
              <a:t>= c</a:t>
            </a:r>
            <a:r>
              <a:rPr lang="en-US" altLang="zh-CN" sz="2800" b="1" baseline="-25000">
                <a:solidFill>
                  <a:srgbClr val="0000CC"/>
                </a:solidFill>
              </a:rPr>
              <a:t>2</a:t>
            </a:r>
            <a:r>
              <a:rPr lang="en-US" altLang="zh-CN" sz="2800" b="1">
                <a:solidFill>
                  <a:srgbClr val="0000CC"/>
                </a:solidFill>
              </a:rPr>
              <a:t>= 50</a:t>
            </a:r>
            <a:r>
              <a:rPr lang="zh-CN" altLang="en-US" sz="2800" b="1">
                <a:solidFill>
                  <a:srgbClr val="0000CC"/>
                </a:solidFill>
              </a:rPr>
              <a:t>，</a:t>
            </a:r>
            <a:r>
              <a:rPr lang="en-US" altLang="zh-CN" sz="2800" b="1">
                <a:solidFill>
                  <a:srgbClr val="0000CC"/>
                </a:solidFill>
              </a:rPr>
              <a:t>w=[10,40,40]</a:t>
            </a:r>
          </a:p>
        </p:txBody>
      </p:sp>
      <p:grpSp>
        <p:nvGrpSpPr>
          <p:cNvPr id="2" name="Group 40">
            <a:extLst>
              <a:ext uri="{FF2B5EF4-FFF2-40B4-BE49-F238E27FC236}">
                <a16:creationId xmlns:a16="http://schemas.microsoft.com/office/drawing/2014/main" id="{6ECFD4F0-5175-46AA-A787-3622FB27FBAF}"/>
              </a:ext>
            </a:extLst>
          </p:cNvPr>
          <p:cNvGrpSpPr>
            <a:grpSpLocks/>
          </p:cNvGrpSpPr>
          <p:nvPr/>
        </p:nvGrpSpPr>
        <p:grpSpPr bwMode="auto">
          <a:xfrm>
            <a:off x="2209800" y="2743200"/>
            <a:ext cx="3581400" cy="2819400"/>
            <a:chOff x="1248" y="1296"/>
            <a:chExt cx="2256" cy="1776"/>
          </a:xfrm>
        </p:grpSpPr>
        <p:pic>
          <p:nvPicPr>
            <p:cNvPr id="39967" name="Picture 4" descr="t51">
              <a:extLst>
                <a:ext uri="{FF2B5EF4-FFF2-40B4-BE49-F238E27FC236}">
                  <a16:creationId xmlns:a16="http://schemas.microsoft.com/office/drawing/2014/main" id="{3821A82B-8D02-4864-AF01-6FA6430397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4" y="1296"/>
              <a:ext cx="2160" cy="1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68" name="Text Box 5">
              <a:extLst>
                <a:ext uri="{FF2B5EF4-FFF2-40B4-BE49-F238E27FC236}">
                  <a16:creationId xmlns:a16="http://schemas.microsoft.com/office/drawing/2014/main" id="{5F2DDB00-AFF6-46C6-8F04-465F5D26DC12}"/>
                </a:ext>
              </a:extLst>
            </p:cNvPr>
            <p:cNvSpPr txBox="1">
              <a:spLocks noChangeArrowheads="1"/>
            </p:cNvSpPr>
            <p:nvPr/>
          </p:nvSpPr>
          <p:spPr bwMode="auto">
            <a:xfrm>
              <a:off x="1248" y="1632"/>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0000"/>
                  </a:solidFill>
                  <a:ea typeface="华文中宋" panose="02010600040101010101" pitchFamily="2" charset="-122"/>
                </a:rPr>
                <a:t>10</a:t>
              </a:r>
            </a:p>
          </p:txBody>
        </p:sp>
        <p:sp>
          <p:nvSpPr>
            <p:cNvPr id="39969" name="Text Box 6">
              <a:extLst>
                <a:ext uri="{FF2B5EF4-FFF2-40B4-BE49-F238E27FC236}">
                  <a16:creationId xmlns:a16="http://schemas.microsoft.com/office/drawing/2014/main" id="{901B30C3-DBFC-4FF9-9158-877E93BD8939}"/>
                </a:ext>
              </a:extLst>
            </p:cNvPr>
            <p:cNvSpPr txBox="1">
              <a:spLocks noChangeArrowheads="1"/>
            </p:cNvSpPr>
            <p:nvPr/>
          </p:nvSpPr>
          <p:spPr bwMode="auto">
            <a:xfrm>
              <a:off x="1248" y="2064"/>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0000"/>
                  </a:solidFill>
                  <a:ea typeface="华文中宋" panose="02010600040101010101" pitchFamily="2" charset="-122"/>
                </a:rPr>
                <a:t>40</a:t>
              </a:r>
            </a:p>
          </p:txBody>
        </p:sp>
        <p:sp>
          <p:nvSpPr>
            <p:cNvPr id="39970" name="Text Box 7">
              <a:extLst>
                <a:ext uri="{FF2B5EF4-FFF2-40B4-BE49-F238E27FC236}">
                  <a16:creationId xmlns:a16="http://schemas.microsoft.com/office/drawing/2014/main" id="{DD99073C-1998-497F-A33E-7697F0F9B81A}"/>
                </a:ext>
              </a:extLst>
            </p:cNvPr>
            <p:cNvSpPr txBox="1">
              <a:spLocks noChangeArrowheads="1"/>
            </p:cNvSpPr>
            <p:nvPr/>
          </p:nvSpPr>
          <p:spPr bwMode="auto">
            <a:xfrm>
              <a:off x="1248" y="2506"/>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solidFill>
                    <a:srgbClr val="FF0000"/>
                  </a:solidFill>
                  <a:ea typeface="华文中宋" panose="02010600040101010101" pitchFamily="2" charset="-122"/>
                </a:rPr>
                <a:t>40</a:t>
              </a:r>
            </a:p>
          </p:txBody>
        </p:sp>
      </p:grpSp>
      <p:graphicFrame>
        <p:nvGraphicFramePr>
          <p:cNvPr id="108590" name="Group 46">
            <a:extLst>
              <a:ext uri="{FF2B5EF4-FFF2-40B4-BE49-F238E27FC236}">
                <a16:creationId xmlns:a16="http://schemas.microsoft.com/office/drawing/2014/main" id="{80662F51-87D3-43C5-B75B-FA4F83CB009B}"/>
              </a:ext>
            </a:extLst>
          </p:cNvPr>
          <p:cNvGraphicFramePr>
            <a:graphicFrameLocks noGrp="1"/>
          </p:cNvGraphicFramePr>
          <p:nvPr/>
        </p:nvGraphicFramePr>
        <p:xfrm>
          <a:off x="1524000" y="5654675"/>
          <a:ext cx="6705600" cy="517956"/>
        </p:xfrm>
        <a:graphic>
          <a:graphicData uri="http://schemas.openxmlformats.org/drawingml/2006/table">
            <a:tbl>
              <a:tblPr/>
              <a:tblGrid>
                <a:gridCol w="609600">
                  <a:extLst>
                    <a:ext uri="{9D8B030D-6E8A-4147-A177-3AD203B41FA5}">
                      <a16:colId xmlns:a16="http://schemas.microsoft.com/office/drawing/2014/main" val="1033189155"/>
                    </a:ext>
                  </a:extLst>
                </a:gridCol>
                <a:gridCol w="609600">
                  <a:extLst>
                    <a:ext uri="{9D8B030D-6E8A-4147-A177-3AD203B41FA5}">
                      <a16:colId xmlns:a16="http://schemas.microsoft.com/office/drawing/2014/main" val="1490460067"/>
                    </a:ext>
                  </a:extLst>
                </a:gridCol>
                <a:gridCol w="609600">
                  <a:extLst>
                    <a:ext uri="{9D8B030D-6E8A-4147-A177-3AD203B41FA5}">
                      <a16:colId xmlns:a16="http://schemas.microsoft.com/office/drawing/2014/main" val="1693228118"/>
                    </a:ext>
                  </a:extLst>
                </a:gridCol>
                <a:gridCol w="609600">
                  <a:extLst>
                    <a:ext uri="{9D8B030D-6E8A-4147-A177-3AD203B41FA5}">
                      <a16:colId xmlns:a16="http://schemas.microsoft.com/office/drawing/2014/main" val="3676184290"/>
                    </a:ext>
                  </a:extLst>
                </a:gridCol>
                <a:gridCol w="609600">
                  <a:extLst>
                    <a:ext uri="{9D8B030D-6E8A-4147-A177-3AD203B41FA5}">
                      <a16:colId xmlns:a16="http://schemas.microsoft.com/office/drawing/2014/main" val="3906192559"/>
                    </a:ext>
                  </a:extLst>
                </a:gridCol>
                <a:gridCol w="609600">
                  <a:extLst>
                    <a:ext uri="{9D8B030D-6E8A-4147-A177-3AD203B41FA5}">
                      <a16:colId xmlns:a16="http://schemas.microsoft.com/office/drawing/2014/main" val="1609838510"/>
                    </a:ext>
                  </a:extLst>
                </a:gridCol>
                <a:gridCol w="609600">
                  <a:extLst>
                    <a:ext uri="{9D8B030D-6E8A-4147-A177-3AD203B41FA5}">
                      <a16:colId xmlns:a16="http://schemas.microsoft.com/office/drawing/2014/main" val="2940951713"/>
                    </a:ext>
                  </a:extLst>
                </a:gridCol>
                <a:gridCol w="609600">
                  <a:extLst>
                    <a:ext uri="{9D8B030D-6E8A-4147-A177-3AD203B41FA5}">
                      <a16:colId xmlns:a16="http://schemas.microsoft.com/office/drawing/2014/main" val="1929451051"/>
                    </a:ext>
                  </a:extLst>
                </a:gridCol>
                <a:gridCol w="609600">
                  <a:extLst>
                    <a:ext uri="{9D8B030D-6E8A-4147-A177-3AD203B41FA5}">
                      <a16:colId xmlns:a16="http://schemas.microsoft.com/office/drawing/2014/main" val="2271032770"/>
                    </a:ext>
                  </a:extLst>
                </a:gridCol>
                <a:gridCol w="609600">
                  <a:extLst>
                    <a:ext uri="{9D8B030D-6E8A-4147-A177-3AD203B41FA5}">
                      <a16:colId xmlns:a16="http://schemas.microsoft.com/office/drawing/2014/main" val="2249300304"/>
                    </a:ext>
                  </a:extLst>
                </a:gridCol>
                <a:gridCol w="609600">
                  <a:extLst>
                    <a:ext uri="{9D8B030D-6E8A-4147-A177-3AD203B41FA5}">
                      <a16:colId xmlns:a16="http://schemas.microsoft.com/office/drawing/2014/main" val="2235120596"/>
                    </a:ext>
                  </a:extLst>
                </a:gridCol>
              </a:tblGrid>
              <a:tr h="51752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Q</a:t>
                      </a:r>
                    </a:p>
                  </a:txBody>
                  <a:tcPr marT="45618" marB="45618"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-1</a:t>
                      </a: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10</a:t>
                      </a: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0</a:t>
                      </a: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-1</a:t>
                      </a: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50</a:t>
                      </a: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40</a:t>
                      </a: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10</a:t>
                      </a: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0</a:t>
                      </a: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-1</a:t>
                      </a: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a:t>
                      </a:r>
                    </a:p>
                  </a:txBody>
                  <a:tcPr marT="45618" marB="456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6261678"/>
                  </a:ext>
                </a:extLst>
              </a:tr>
            </a:tbl>
          </a:graphicData>
        </a:graphic>
      </p:graphicFrame>
      <p:sp>
        <p:nvSpPr>
          <p:cNvPr id="108583" name="Rectangle 39">
            <a:extLst>
              <a:ext uri="{FF2B5EF4-FFF2-40B4-BE49-F238E27FC236}">
                <a16:creationId xmlns:a16="http://schemas.microsoft.com/office/drawing/2014/main" id="{5C42B73D-ED80-48A2-B42A-CE1B25A90E88}"/>
              </a:ext>
            </a:extLst>
          </p:cNvPr>
          <p:cNvSpPr>
            <a:spLocks noChangeArrowheads="1"/>
          </p:cNvSpPr>
          <p:nvPr/>
        </p:nvSpPr>
        <p:spPr bwMode="auto">
          <a:xfrm>
            <a:off x="609600" y="1752600"/>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zh-CN" altLang="en-US" sz="2800" b="1">
                <a:solidFill>
                  <a:srgbClr val="0000CC"/>
                </a:solidFill>
                <a:ea typeface="华文中宋" panose="02010600040101010101" pitchFamily="2" charset="-122"/>
              </a:rPr>
              <a:t>初始时：</a:t>
            </a:r>
            <a:r>
              <a:rPr lang="en-US" altLang="zh-CN" sz="2800" b="1">
                <a:solidFill>
                  <a:srgbClr val="0000CC"/>
                </a:solidFill>
                <a:ea typeface="华文中宋" panose="02010600040101010101" pitchFamily="2" charset="-122"/>
              </a:rPr>
              <a:t>bestw=0, Ew=0, r=0, i=1</a:t>
            </a:r>
          </a:p>
          <a:p>
            <a:pPr eaLnBrk="1" hangingPunct="1">
              <a:spcBef>
                <a:spcPct val="20000"/>
              </a:spcBef>
              <a:buFontTx/>
              <a:buChar char="•"/>
            </a:pPr>
            <a:r>
              <a:rPr lang="zh-CN" altLang="en-US" sz="2800" b="1">
                <a:solidFill>
                  <a:srgbClr val="0000CC"/>
                </a:solidFill>
                <a:ea typeface="华文中宋" panose="02010600040101010101" pitchFamily="2" charset="-122"/>
              </a:rPr>
              <a:t>接下来：</a:t>
            </a:r>
            <a:r>
              <a:rPr lang="en-US" altLang="zh-CN" sz="2800" b="1">
                <a:solidFill>
                  <a:srgbClr val="0000CC"/>
                </a:solidFill>
                <a:ea typeface="华文中宋" panose="02010600040101010101" pitchFamily="2" charset="-122"/>
              </a:rPr>
              <a:t>r=40+40=80, </a:t>
            </a:r>
            <a:r>
              <a:rPr lang="zh-CN" altLang="en-US" sz="2800" b="1">
                <a:solidFill>
                  <a:srgbClr val="0000CC"/>
                </a:solidFill>
                <a:ea typeface="华文中宋" panose="02010600040101010101" pitchFamily="2" charset="-122"/>
              </a:rPr>
              <a:t>循环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8547">
                                            <p:txEl>
                                              <p:pRg st="0" end="0"/>
                                            </p:txEl>
                                          </p:spTgt>
                                        </p:tgtEl>
                                        <p:attrNameLst>
                                          <p:attrName>style.visibility</p:attrName>
                                        </p:attrNameLst>
                                      </p:cBhvr>
                                      <p:to>
                                        <p:strVal val="visible"/>
                                      </p:to>
                                    </p:set>
                                    <p:anim calcmode="lin" valueType="num">
                                      <p:cBhvr additive="base">
                                        <p:cTn id="7" dur="500" fill="hold"/>
                                        <p:tgtEl>
                                          <p:spTgt spid="1085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85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8583"/>
                                        </p:tgtEl>
                                        <p:attrNameLst>
                                          <p:attrName>style.visibility</p:attrName>
                                        </p:attrNameLst>
                                      </p:cBhvr>
                                      <p:to>
                                        <p:strVal val="visible"/>
                                      </p:to>
                                    </p:set>
                                    <p:anim calcmode="lin" valueType="num">
                                      <p:cBhvr additive="base">
                                        <p:cTn id="13" dur="500" fill="hold"/>
                                        <p:tgtEl>
                                          <p:spTgt spid="108583"/>
                                        </p:tgtEl>
                                        <p:attrNameLst>
                                          <p:attrName>ppt_x</p:attrName>
                                        </p:attrNameLst>
                                      </p:cBhvr>
                                      <p:tavLst>
                                        <p:tav tm="0">
                                          <p:val>
                                            <p:strVal val="0-#ppt_w/2"/>
                                          </p:val>
                                        </p:tav>
                                        <p:tav tm="100000">
                                          <p:val>
                                            <p:strVal val="#ppt_x"/>
                                          </p:val>
                                        </p:tav>
                                      </p:tavLst>
                                    </p:anim>
                                    <p:anim calcmode="lin" valueType="num">
                                      <p:cBhvr additive="base">
                                        <p:cTn id="14" dur="500" fill="hold"/>
                                        <p:tgtEl>
                                          <p:spTgt spid="10858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08590"/>
                                        </p:tgtEl>
                                        <p:attrNameLst>
                                          <p:attrName>style.visibility</p:attrName>
                                        </p:attrNameLst>
                                      </p:cBhvr>
                                      <p:to>
                                        <p:strVal val="visible"/>
                                      </p:to>
                                    </p:set>
                                    <p:anim calcmode="lin" valueType="num">
                                      <p:cBhvr additive="base">
                                        <p:cTn id="25" dur="500" fill="hold"/>
                                        <p:tgtEl>
                                          <p:spTgt spid="108590"/>
                                        </p:tgtEl>
                                        <p:attrNameLst>
                                          <p:attrName>ppt_x</p:attrName>
                                        </p:attrNameLst>
                                      </p:cBhvr>
                                      <p:tavLst>
                                        <p:tav tm="0">
                                          <p:val>
                                            <p:strVal val="0-#ppt_w/2"/>
                                          </p:val>
                                        </p:tav>
                                        <p:tav tm="100000">
                                          <p:val>
                                            <p:strVal val="#ppt_x"/>
                                          </p:val>
                                        </p:tav>
                                      </p:tavLst>
                                    </p:anim>
                                    <p:anim calcmode="lin" valueType="num">
                                      <p:cBhvr additive="base">
                                        <p:cTn id="26" dur="500" fill="hold"/>
                                        <p:tgtEl>
                                          <p:spTgt spid="1085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7" grpId="0" build="p" autoUpdateAnimBg="0"/>
      <p:bldP spid="108583"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928816A2-DED7-4190-BACA-C0B5BEB9534F}"/>
              </a:ext>
            </a:extLst>
          </p:cNvPr>
          <p:cNvSpPr>
            <a:spLocks noGrp="1" noChangeArrowheads="1"/>
          </p:cNvSpPr>
          <p:nvPr>
            <p:ph type="title"/>
          </p:nvPr>
        </p:nvSpPr>
        <p:spPr bwMode="auto">
          <a:xfrm>
            <a:off x="685800" y="76200"/>
            <a:ext cx="77724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4000">
                <a:solidFill>
                  <a:schemeClr val="accent2"/>
                </a:solidFill>
              </a:rPr>
              <a:t>4. </a:t>
            </a:r>
            <a:r>
              <a:rPr kumimoji="0" lang="zh-CN" altLang="en-US" sz="4000">
                <a:solidFill>
                  <a:schemeClr val="accent2"/>
                </a:solidFill>
              </a:rPr>
              <a:t>构造最优解</a:t>
            </a:r>
          </a:p>
        </p:txBody>
      </p:sp>
      <p:sp>
        <p:nvSpPr>
          <p:cNvPr id="109571" name="Rectangle 3">
            <a:extLst>
              <a:ext uri="{FF2B5EF4-FFF2-40B4-BE49-F238E27FC236}">
                <a16:creationId xmlns:a16="http://schemas.microsoft.com/office/drawing/2014/main" id="{8101AD21-8739-48BF-825C-793125059460}"/>
              </a:ext>
            </a:extLst>
          </p:cNvPr>
          <p:cNvSpPr>
            <a:spLocks noGrp="1" noChangeArrowheads="1"/>
          </p:cNvSpPr>
          <p:nvPr>
            <p:ph type="body" idx="1"/>
          </p:nvPr>
        </p:nvSpPr>
        <p:spPr bwMode="auto">
          <a:xfrm>
            <a:off x="609600" y="838200"/>
            <a:ext cx="7772400" cy="213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33400" indent="-533400" eaLnBrk="1" hangingPunct="1">
              <a:lnSpc>
                <a:spcPct val="90000"/>
              </a:lnSpc>
              <a:spcBef>
                <a:spcPct val="50000"/>
              </a:spcBef>
              <a:buFontTx/>
              <a:buNone/>
            </a:pPr>
            <a:r>
              <a:rPr kumimoji="0" lang="zh-CN" altLang="en-US" sz="2400" b="1">
                <a:latin typeface="华文中宋" panose="02010600040101010101" pitchFamily="2" charset="-122"/>
              </a:rPr>
              <a:t>做法：</a:t>
            </a:r>
          </a:p>
          <a:p>
            <a:pPr marL="533400" indent="-533400" eaLnBrk="1" hangingPunct="1">
              <a:spcBef>
                <a:spcPct val="5000"/>
              </a:spcBef>
              <a:buFontTx/>
              <a:buAutoNum type="arabicPeriod"/>
            </a:pPr>
            <a:r>
              <a:rPr kumimoji="0" lang="zh-CN" altLang="en-US" sz="2400" b="1">
                <a:latin typeface="华文中宋" panose="02010600040101010101" pitchFamily="2" charset="-122"/>
              </a:rPr>
              <a:t>保存路径：为能方便地构造出相应的最优解，算法必须存储相应子集树中从活结点到根结点的路径</a:t>
            </a:r>
          </a:p>
          <a:p>
            <a:pPr marL="533400" indent="-533400" eaLnBrk="1" hangingPunct="1">
              <a:spcBef>
                <a:spcPct val="5000"/>
              </a:spcBef>
              <a:buFontTx/>
              <a:buAutoNum type="arabicPeriod"/>
            </a:pPr>
            <a:r>
              <a:rPr kumimoji="0" lang="zh-CN" altLang="en-US" sz="2400" b="1">
                <a:latin typeface="华文中宋" panose="02010600040101010101" pitchFamily="2" charset="-122"/>
              </a:rPr>
              <a:t>设置指向其父结点的指针</a:t>
            </a:r>
          </a:p>
          <a:p>
            <a:pPr marL="533400" indent="-533400" eaLnBrk="1" hangingPunct="1">
              <a:spcBef>
                <a:spcPct val="5000"/>
              </a:spcBef>
              <a:buFontTx/>
              <a:buAutoNum type="arabicPeriod"/>
            </a:pPr>
            <a:r>
              <a:rPr kumimoji="0" lang="zh-CN" altLang="en-US" sz="2400" b="1">
                <a:latin typeface="华文中宋" panose="02010600040101010101" pitchFamily="2" charset="-122"/>
              </a:rPr>
              <a:t>设置左、右儿子标志</a:t>
            </a:r>
          </a:p>
        </p:txBody>
      </p:sp>
      <p:sp>
        <p:nvSpPr>
          <p:cNvPr id="109572" name="Rectangle 4">
            <a:extLst>
              <a:ext uri="{FF2B5EF4-FFF2-40B4-BE49-F238E27FC236}">
                <a16:creationId xmlns:a16="http://schemas.microsoft.com/office/drawing/2014/main" id="{EABAD6BB-45B2-4810-8545-D04EEF0A7CB3}"/>
              </a:ext>
            </a:extLst>
          </p:cNvPr>
          <p:cNvSpPr>
            <a:spLocks noChangeArrowheads="1"/>
          </p:cNvSpPr>
          <p:nvPr/>
        </p:nvSpPr>
        <p:spPr bwMode="auto">
          <a:xfrm>
            <a:off x="533400" y="3000375"/>
            <a:ext cx="5791200" cy="294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b="1">
                <a:solidFill>
                  <a:srgbClr val="0000FF"/>
                </a:solidFill>
                <a:ea typeface="华文中宋" panose="02010600040101010101" pitchFamily="2" charset="-122"/>
              </a:rPr>
              <a:t>class QNode{</a:t>
            </a:r>
          </a:p>
          <a:p>
            <a:pPr eaLnBrk="1" hangingPunct="1"/>
            <a:r>
              <a:rPr kumimoji="0" lang="en-US" altLang="zh-CN" b="1">
                <a:solidFill>
                  <a:srgbClr val="0000FF"/>
                </a:solidFill>
                <a:ea typeface="华文中宋" panose="02010600040101010101" pitchFamily="2" charset="-122"/>
              </a:rPr>
              <a:t>   friend void EnQueue(……);</a:t>
            </a:r>
          </a:p>
          <a:p>
            <a:pPr algn="just" eaLnBrk="1" hangingPunct="1"/>
            <a:r>
              <a:rPr kumimoji="0" lang="en-US" altLang="zh-CN" b="1">
                <a:solidFill>
                  <a:srgbClr val="0000FF"/>
                </a:solidFill>
                <a:ea typeface="华文中宋" panose="02010600040101010101" pitchFamily="2" charset="-122"/>
              </a:rPr>
              <a:t>   friend Type Maxloading(……);</a:t>
            </a:r>
          </a:p>
          <a:p>
            <a:pPr algn="just" eaLnBrk="1" hangingPunct="1"/>
            <a:r>
              <a:rPr kumimoji="0" lang="en-US" altLang="zh-CN" b="1">
                <a:solidFill>
                  <a:srgbClr val="0000FF"/>
                </a:solidFill>
                <a:ea typeface="华文中宋" panose="02010600040101010101" pitchFamily="2" charset="-122"/>
              </a:rPr>
              <a:t>   QNode parent; </a:t>
            </a:r>
            <a:r>
              <a:rPr kumimoji="0" lang="en-US" altLang="zh-CN" b="1">
                <a:ea typeface="华文中宋" panose="02010600040101010101" pitchFamily="2" charset="-122"/>
              </a:rPr>
              <a:t>// </a:t>
            </a:r>
            <a:r>
              <a:rPr kumimoji="0" lang="zh-CN" altLang="en-US" b="1">
                <a:ea typeface="华文中宋" panose="02010600040101010101" pitchFamily="2" charset="-122"/>
              </a:rPr>
              <a:t>父结点</a:t>
            </a:r>
          </a:p>
          <a:p>
            <a:pPr algn="just" eaLnBrk="1" hangingPunct="1"/>
            <a:r>
              <a:rPr kumimoji="0" lang="zh-CN" altLang="en-US" b="1">
                <a:solidFill>
                  <a:srgbClr val="0000FF"/>
                </a:solidFill>
                <a:ea typeface="华文中宋" panose="02010600040101010101" pitchFamily="2" charset="-122"/>
              </a:rPr>
              <a:t>   </a:t>
            </a:r>
            <a:r>
              <a:rPr kumimoji="0" lang="en-US" altLang="zh-CN" b="1">
                <a:solidFill>
                  <a:srgbClr val="0000FF"/>
                </a:solidFill>
                <a:ea typeface="华文中宋" panose="02010600040101010101" pitchFamily="2" charset="-122"/>
              </a:rPr>
              <a:t>boolean LChild;</a:t>
            </a:r>
            <a:r>
              <a:rPr kumimoji="0" lang="en-US" altLang="zh-CN" b="1">
                <a:ea typeface="华文中宋" panose="02010600040101010101" pitchFamily="2" charset="-122"/>
              </a:rPr>
              <a:t>// </a:t>
            </a:r>
            <a:r>
              <a:rPr kumimoji="0" lang="zh-CN" altLang="en-US" b="1">
                <a:ea typeface="华文中宋" panose="02010600040101010101" pitchFamily="2" charset="-122"/>
              </a:rPr>
              <a:t>左儿子标志</a:t>
            </a:r>
          </a:p>
          <a:p>
            <a:pPr algn="just" eaLnBrk="1" hangingPunct="1"/>
            <a:r>
              <a:rPr kumimoji="0" lang="zh-CN" altLang="en-US" b="1">
                <a:solidFill>
                  <a:srgbClr val="0000FF"/>
                </a:solidFill>
                <a:ea typeface="华文中宋" panose="02010600040101010101" pitchFamily="2" charset="-122"/>
              </a:rPr>
              <a:t>   </a:t>
            </a:r>
            <a:r>
              <a:rPr kumimoji="0" lang="en-US" altLang="zh-CN" b="1">
                <a:solidFill>
                  <a:srgbClr val="0000FF"/>
                </a:solidFill>
                <a:ea typeface="华文中宋" panose="02010600040101010101" pitchFamily="2" charset="-122"/>
              </a:rPr>
              <a:t>int weight; </a:t>
            </a:r>
            <a:r>
              <a:rPr kumimoji="0" lang="en-US" altLang="zh-CN" b="1">
                <a:ea typeface="华文中宋" panose="02010600040101010101" pitchFamily="2" charset="-122"/>
              </a:rPr>
              <a:t>// </a:t>
            </a:r>
            <a:r>
              <a:rPr kumimoji="0" lang="zh-CN" altLang="en-US" b="1">
                <a:ea typeface="华文中宋" panose="02010600040101010101" pitchFamily="2" charset="-122"/>
              </a:rPr>
              <a:t>结点所相应的载重量</a:t>
            </a:r>
          </a:p>
          <a:p>
            <a:pPr algn="just" eaLnBrk="1" hangingPunct="1"/>
            <a:r>
              <a:rPr kumimoji="0" lang="en-US" altLang="zh-CN" b="1">
                <a:solidFill>
                  <a:srgbClr val="0000FF"/>
                </a:solidFill>
                <a:ea typeface="华文中宋" panose="02010600040101010101" pitchFamily="2" charset="-122"/>
              </a:rPr>
              <a:t>}</a:t>
            </a:r>
          </a:p>
        </p:txBody>
      </p:sp>
      <p:graphicFrame>
        <p:nvGraphicFramePr>
          <p:cNvPr id="109596" name="Group 28">
            <a:extLst>
              <a:ext uri="{FF2B5EF4-FFF2-40B4-BE49-F238E27FC236}">
                <a16:creationId xmlns:a16="http://schemas.microsoft.com/office/drawing/2014/main" id="{66C11B9C-456E-4F86-853B-0A9378F6A007}"/>
              </a:ext>
            </a:extLst>
          </p:cNvPr>
          <p:cNvGraphicFramePr>
            <a:graphicFrameLocks noGrp="1"/>
          </p:cNvGraphicFramePr>
          <p:nvPr/>
        </p:nvGraphicFramePr>
        <p:xfrm>
          <a:off x="6705600" y="3505200"/>
          <a:ext cx="1676400" cy="1660526"/>
        </p:xfrm>
        <a:graphic>
          <a:graphicData uri="http://schemas.openxmlformats.org/drawingml/2006/table">
            <a:tbl>
              <a:tblPr/>
              <a:tblGrid>
                <a:gridCol w="1676400">
                  <a:extLst>
                    <a:ext uri="{9D8B030D-6E8A-4147-A177-3AD203B41FA5}">
                      <a16:colId xmlns:a16="http://schemas.microsoft.com/office/drawing/2014/main" val="20000"/>
                    </a:ext>
                  </a:extLst>
                </a:gridCol>
              </a:tblGrid>
              <a:tr h="5524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rPr>
                        <a:t>parent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40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err="1">
                          <a:ln>
                            <a:noFill/>
                          </a:ln>
                          <a:solidFill>
                            <a:srgbClr val="0000FF"/>
                          </a:solidFill>
                          <a:effectLst/>
                          <a:latin typeface="华文中宋" panose="02010600040101010101" pitchFamily="2" charset="-122"/>
                          <a:ea typeface="华文中宋" panose="02010600040101010101" pitchFamily="2" charset="-122"/>
                        </a:rPr>
                        <a:t>LChild</a:t>
                      </a:r>
                      <a:endParaRPr kumimoji="0" lang="en-US" altLang="zh-CN" sz="20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40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rPr>
                        <a:t>weight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9588" name="Text Box 20">
            <a:extLst>
              <a:ext uri="{FF2B5EF4-FFF2-40B4-BE49-F238E27FC236}">
                <a16:creationId xmlns:a16="http://schemas.microsoft.com/office/drawing/2014/main" id="{3BD5FAE7-056C-4A18-91CF-7765E5AD54A3}"/>
              </a:ext>
            </a:extLst>
          </p:cNvPr>
          <p:cNvSpPr txBox="1">
            <a:spLocks noChangeArrowheads="1"/>
          </p:cNvSpPr>
          <p:nvPr/>
        </p:nvSpPr>
        <p:spPr bwMode="auto">
          <a:xfrm>
            <a:off x="6705600" y="28956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solidFill>
                  <a:srgbClr val="FF0000"/>
                </a:solidFill>
                <a:ea typeface="华文中宋" panose="02010600040101010101" pitchFamily="2" charset="-122"/>
              </a:rPr>
              <a:t>结点</a:t>
            </a:r>
            <a:r>
              <a:rPr lang="en-US" altLang="zh-CN" b="1">
                <a:solidFill>
                  <a:srgbClr val="FF0000"/>
                </a:solidFill>
                <a:ea typeface="华文中宋" panose="02010600040101010101" pitchFamily="2" charset="-122"/>
              </a:rPr>
              <a:t>E</a:t>
            </a:r>
            <a:r>
              <a:rPr lang="zh-CN" altLang="en-US" b="1">
                <a:solidFill>
                  <a:srgbClr val="FF0000"/>
                </a:solidFill>
                <a:ea typeface="华文中宋" panose="02010600040101010101" pitchFamily="2" charset="-122"/>
              </a:rPr>
              <a:t>的结构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9571"/>
                                        </p:tgtEl>
                                        <p:attrNameLst>
                                          <p:attrName>style.visibility</p:attrName>
                                        </p:attrNameLst>
                                      </p:cBhvr>
                                      <p:to>
                                        <p:strVal val="visible"/>
                                      </p:to>
                                    </p:set>
                                    <p:anim calcmode="lin" valueType="num">
                                      <p:cBhvr additive="base">
                                        <p:cTn id="7" dur="500" fill="hold"/>
                                        <p:tgtEl>
                                          <p:spTgt spid="109571"/>
                                        </p:tgtEl>
                                        <p:attrNameLst>
                                          <p:attrName>ppt_x</p:attrName>
                                        </p:attrNameLst>
                                      </p:cBhvr>
                                      <p:tavLst>
                                        <p:tav tm="0">
                                          <p:val>
                                            <p:strVal val="0-#ppt_w/2"/>
                                          </p:val>
                                        </p:tav>
                                        <p:tav tm="100000">
                                          <p:val>
                                            <p:strVal val="#ppt_x"/>
                                          </p:val>
                                        </p:tav>
                                      </p:tavLst>
                                    </p:anim>
                                    <p:anim calcmode="lin" valueType="num">
                                      <p:cBhvr additive="base">
                                        <p:cTn id="8" dur="500" fill="hold"/>
                                        <p:tgtEl>
                                          <p:spTgt spid="10957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9572"/>
                                        </p:tgtEl>
                                        <p:attrNameLst>
                                          <p:attrName>style.visibility</p:attrName>
                                        </p:attrNameLst>
                                      </p:cBhvr>
                                      <p:to>
                                        <p:strVal val="visible"/>
                                      </p:to>
                                    </p:set>
                                    <p:anim calcmode="lin" valueType="num">
                                      <p:cBhvr additive="base">
                                        <p:cTn id="13" dur="500" fill="hold"/>
                                        <p:tgtEl>
                                          <p:spTgt spid="109572"/>
                                        </p:tgtEl>
                                        <p:attrNameLst>
                                          <p:attrName>ppt_x</p:attrName>
                                        </p:attrNameLst>
                                      </p:cBhvr>
                                      <p:tavLst>
                                        <p:tav tm="0">
                                          <p:val>
                                            <p:strVal val="0-#ppt_w/2"/>
                                          </p:val>
                                        </p:tav>
                                        <p:tav tm="100000">
                                          <p:val>
                                            <p:strVal val="#ppt_x"/>
                                          </p:val>
                                        </p:tav>
                                      </p:tavLst>
                                    </p:anim>
                                    <p:anim calcmode="lin" valueType="num">
                                      <p:cBhvr additive="base">
                                        <p:cTn id="14" dur="500" fill="hold"/>
                                        <p:tgtEl>
                                          <p:spTgt spid="10957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9588"/>
                                        </p:tgtEl>
                                        <p:attrNameLst>
                                          <p:attrName>style.visibility</p:attrName>
                                        </p:attrNameLst>
                                      </p:cBhvr>
                                      <p:to>
                                        <p:strVal val="visible"/>
                                      </p:to>
                                    </p:set>
                                    <p:anim calcmode="lin" valueType="num">
                                      <p:cBhvr additive="base">
                                        <p:cTn id="19" dur="500" fill="hold"/>
                                        <p:tgtEl>
                                          <p:spTgt spid="109588"/>
                                        </p:tgtEl>
                                        <p:attrNameLst>
                                          <p:attrName>ppt_x</p:attrName>
                                        </p:attrNameLst>
                                      </p:cBhvr>
                                      <p:tavLst>
                                        <p:tav tm="0">
                                          <p:val>
                                            <p:strVal val="0-#ppt_w/2"/>
                                          </p:val>
                                        </p:tav>
                                        <p:tav tm="100000">
                                          <p:val>
                                            <p:strVal val="#ppt_x"/>
                                          </p:val>
                                        </p:tav>
                                      </p:tavLst>
                                    </p:anim>
                                    <p:anim calcmode="lin" valueType="num">
                                      <p:cBhvr additive="base">
                                        <p:cTn id="20" dur="500" fill="hold"/>
                                        <p:tgtEl>
                                          <p:spTgt spid="109588"/>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500"/>
                            </p:stCondLst>
                            <p:childTnLst>
                              <p:par>
                                <p:cTn id="22" presetID="2" presetClass="entr" presetSubtype="8" fill="hold" nodeType="afterEffect">
                                  <p:stCondLst>
                                    <p:cond delay="0"/>
                                  </p:stCondLst>
                                  <p:childTnLst>
                                    <p:set>
                                      <p:cBhvr>
                                        <p:cTn id="23" dur="1" fill="hold">
                                          <p:stCondLst>
                                            <p:cond delay="0"/>
                                          </p:stCondLst>
                                        </p:cTn>
                                        <p:tgtEl>
                                          <p:spTgt spid="109596"/>
                                        </p:tgtEl>
                                        <p:attrNameLst>
                                          <p:attrName>style.visibility</p:attrName>
                                        </p:attrNameLst>
                                      </p:cBhvr>
                                      <p:to>
                                        <p:strVal val="visible"/>
                                      </p:to>
                                    </p:set>
                                    <p:anim calcmode="lin" valueType="num">
                                      <p:cBhvr additive="base">
                                        <p:cTn id="24" dur="500" fill="hold"/>
                                        <p:tgtEl>
                                          <p:spTgt spid="109596"/>
                                        </p:tgtEl>
                                        <p:attrNameLst>
                                          <p:attrName>ppt_x</p:attrName>
                                        </p:attrNameLst>
                                      </p:cBhvr>
                                      <p:tavLst>
                                        <p:tav tm="0">
                                          <p:val>
                                            <p:strVal val="0-#ppt_w/2"/>
                                          </p:val>
                                        </p:tav>
                                        <p:tav tm="100000">
                                          <p:val>
                                            <p:strVal val="#ppt_x"/>
                                          </p:val>
                                        </p:tav>
                                      </p:tavLst>
                                    </p:anim>
                                    <p:anim calcmode="lin" valueType="num">
                                      <p:cBhvr additive="base">
                                        <p:cTn id="25" dur="500" fill="hold"/>
                                        <p:tgtEl>
                                          <p:spTgt spid="1095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1" grpId="0" autoUpdateAnimBg="0"/>
      <p:bldP spid="109572" grpId="0" autoUpdateAnimBg="0"/>
      <p:bldP spid="109588"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77FF7702-72BB-4940-8752-7318B05D9032}"/>
              </a:ext>
            </a:extLst>
          </p:cNvPr>
          <p:cNvSpPr>
            <a:spLocks noGrp="1" noChangeArrowheads="1"/>
          </p:cNvSpPr>
          <p:nvPr>
            <p:ph type="title"/>
          </p:nvPr>
        </p:nvSpPr>
        <p:spPr bwMode="auto">
          <a:xfrm>
            <a:off x="76200" y="76200"/>
            <a:ext cx="396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pPr>
            <a:r>
              <a:rPr lang="zh-CN" altLang="en-US" sz="3600" b="1"/>
              <a:t>结构与队列</a:t>
            </a:r>
          </a:p>
        </p:txBody>
      </p:sp>
      <p:graphicFrame>
        <p:nvGraphicFramePr>
          <p:cNvPr id="110721" name="Group 129">
            <a:extLst>
              <a:ext uri="{FF2B5EF4-FFF2-40B4-BE49-F238E27FC236}">
                <a16:creationId xmlns:a16="http://schemas.microsoft.com/office/drawing/2014/main" id="{50EB580C-0161-4A0C-832D-EAD23B7BA070}"/>
              </a:ext>
            </a:extLst>
          </p:cNvPr>
          <p:cNvGraphicFramePr>
            <a:graphicFrameLocks noGrp="1"/>
          </p:cNvGraphicFramePr>
          <p:nvPr/>
        </p:nvGraphicFramePr>
        <p:xfrm>
          <a:off x="3962400" y="381000"/>
          <a:ext cx="990600" cy="1050925"/>
        </p:xfrm>
        <a:graphic>
          <a:graphicData uri="http://schemas.openxmlformats.org/drawingml/2006/table">
            <a:tbl>
              <a:tblPr/>
              <a:tblGrid>
                <a:gridCol w="990600">
                  <a:extLst>
                    <a:ext uri="{9D8B030D-6E8A-4147-A177-3AD203B41FA5}">
                      <a16:colId xmlns:a16="http://schemas.microsoft.com/office/drawing/2014/main" val="3138680422"/>
                    </a:ext>
                  </a:extLst>
                </a:gridCol>
              </a:tblGrid>
              <a:tr h="243987">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rPr>
                        <a:t>A</a:t>
                      </a:r>
                    </a:p>
                  </a:txBody>
                  <a:tcPr marL="0" marR="0" marT="0" marB="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46507419"/>
                  </a:ext>
                </a:extLst>
              </a:tr>
              <a:tr h="27003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rPr>
                        <a:t>parent</a:t>
                      </a:r>
                    </a:p>
                  </a:txBody>
                  <a:tcPr marL="0" marR="0" marT="0" marB="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11326814"/>
                  </a:ext>
                </a:extLst>
              </a:tr>
              <a:tr h="26845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err="1">
                          <a:ln>
                            <a:noFill/>
                          </a:ln>
                          <a:solidFill>
                            <a:srgbClr val="0000FF"/>
                          </a:solidFill>
                          <a:effectLst/>
                          <a:latin typeface="华文中宋" panose="02010600040101010101" pitchFamily="2" charset="-122"/>
                          <a:ea typeface="华文中宋" panose="02010600040101010101" pitchFamily="2" charset="-122"/>
                        </a:rPr>
                        <a:t>LChild</a:t>
                      </a:r>
                      <a:endParaRPr kumimoji="0" lang="en-US" altLang="zh-CN" sz="16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421222"/>
                  </a:ext>
                </a:extLst>
              </a:tr>
              <a:tr h="26845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6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rPr>
                        <a:t>weight</a:t>
                      </a:r>
                    </a:p>
                  </a:txBody>
                  <a:tcPr marL="0" marR="0" marT="0" marB="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18102902"/>
                  </a:ext>
                </a:extLst>
              </a:tr>
            </a:tbl>
          </a:graphicData>
        </a:graphic>
      </p:graphicFrame>
      <p:graphicFrame>
        <p:nvGraphicFramePr>
          <p:cNvPr id="110700" name="Group 108">
            <a:extLst>
              <a:ext uri="{FF2B5EF4-FFF2-40B4-BE49-F238E27FC236}">
                <a16:creationId xmlns:a16="http://schemas.microsoft.com/office/drawing/2014/main" id="{8A80EEE4-A7F2-41EC-8CDE-094294228720}"/>
              </a:ext>
            </a:extLst>
          </p:cNvPr>
          <p:cNvGraphicFramePr>
            <a:graphicFrameLocks noGrp="1"/>
          </p:cNvGraphicFramePr>
          <p:nvPr/>
        </p:nvGraphicFramePr>
        <p:xfrm>
          <a:off x="5867400" y="1828800"/>
          <a:ext cx="990600" cy="990601"/>
        </p:xfrm>
        <a:graphic>
          <a:graphicData uri="http://schemas.openxmlformats.org/drawingml/2006/table">
            <a:tbl>
              <a:tblPr/>
              <a:tblGrid>
                <a:gridCol w="990600">
                  <a:extLst>
                    <a:ext uri="{9D8B030D-6E8A-4147-A177-3AD203B41FA5}">
                      <a16:colId xmlns:a16="http://schemas.microsoft.com/office/drawing/2014/main" val="2165778163"/>
                    </a:ext>
                  </a:extLst>
                </a:gridCol>
              </a:tblGrid>
              <a:tr h="214313">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4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rPr>
                        <a:t>C</a:t>
                      </a:r>
                    </a:p>
                  </a:txBody>
                  <a:tcPr marL="0" marR="0" marT="0" marB="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74868090"/>
                  </a:ext>
                </a:extLst>
              </a:tr>
              <a:tr h="246063">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4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77151210"/>
                  </a:ext>
                </a:extLst>
              </a:tr>
              <a:tr h="24765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4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7936244"/>
                  </a:ext>
                </a:extLst>
              </a:tr>
              <a:tr h="2825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4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460843"/>
                  </a:ext>
                </a:extLst>
              </a:tr>
            </a:tbl>
          </a:graphicData>
        </a:graphic>
      </p:graphicFrame>
      <p:graphicFrame>
        <p:nvGraphicFramePr>
          <p:cNvPr id="110628" name="Group 36">
            <a:extLst>
              <a:ext uri="{FF2B5EF4-FFF2-40B4-BE49-F238E27FC236}">
                <a16:creationId xmlns:a16="http://schemas.microsoft.com/office/drawing/2014/main" id="{CA849533-45A8-460D-ADCD-4D51F1F80ADC}"/>
              </a:ext>
            </a:extLst>
          </p:cNvPr>
          <p:cNvGraphicFramePr>
            <a:graphicFrameLocks noGrp="1"/>
          </p:cNvGraphicFramePr>
          <p:nvPr/>
        </p:nvGraphicFramePr>
        <p:xfrm>
          <a:off x="2133600" y="1752600"/>
          <a:ext cx="990600" cy="1066801"/>
        </p:xfrm>
        <a:graphic>
          <a:graphicData uri="http://schemas.openxmlformats.org/drawingml/2006/table">
            <a:tbl>
              <a:tblPr/>
              <a:tblGrid>
                <a:gridCol w="990600">
                  <a:extLst>
                    <a:ext uri="{9D8B030D-6E8A-4147-A177-3AD203B41FA5}">
                      <a16:colId xmlns:a16="http://schemas.microsoft.com/office/drawing/2014/main" val="685450626"/>
                    </a:ext>
                  </a:extLst>
                </a:gridCol>
              </a:tblGrid>
              <a:tr h="2667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4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rPr>
                        <a:t>B</a:t>
                      </a:r>
                    </a:p>
                  </a:txBody>
                  <a:tcPr marL="0" marR="0" marT="0" marB="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63398320"/>
                  </a:ext>
                </a:extLst>
              </a:tr>
              <a:tr h="265113">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4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30734622"/>
                  </a:ext>
                </a:extLst>
              </a:tr>
              <a:tr h="26828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4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64633704"/>
                  </a:ext>
                </a:extLst>
              </a:tr>
              <a:tr h="2667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4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91990280"/>
                  </a:ext>
                </a:extLst>
              </a:tr>
            </a:tbl>
          </a:graphicData>
        </a:graphic>
      </p:graphicFrame>
      <p:graphicFrame>
        <p:nvGraphicFramePr>
          <p:cNvPr id="110684" name="Group 92">
            <a:extLst>
              <a:ext uri="{FF2B5EF4-FFF2-40B4-BE49-F238E27FC236}">
                <a16:creationId xmlns:a16="http://schemas.microsoft.com/office/drawing/2014/main" id="{8340C95C-12B0-435F-8F26-6AA9BA82D701}"/>
              </a:ext>
            </a:extLst>
          </p:cNvPr>
          <p:cNvGraphicFramePr>
            <a:graphicFrameLocks noGrp="1"/>
          </p:cNvGraphicFramePr>
          <p:nvPr/>
        </p:nvGraphicFramePr>
        <p:xfrm>
          <a:off x="7086600" y="3048000"/>
          <a:ext cx="990600" cy="1219201"/>
        </p:xfrm>
        <a:graphic>
          <a:graphicData uri="http://schemas.openxmlformats.org/drawingml/2006/table">
            <a:tbl>
              <a:tblPr/>
              <a:tblGrid>
                <a:gridCol w="990600">
                  <a:extLst>
                    <a:ext uri="{9D8B030D-6E8A-4147-A177-3AD203B41FA5}">
                      <a16:colId xmlns:a16="http://schemas.microsoft.com/office/drawing/2014/main" val="1534485908"/>
                    </a:ext>
                  </a:extLst>
                </a:gridCol>
              </a:tblGrid>
              <a:tr h="2952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4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rPr>
                        <a:t>G</a:t>
                      </a:r>
                    </a:p>
                  </a:txBody>
                  <a:tcPr marL="0" marR="0" marT="0" marB="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16973799"/>
                  </a:ext>
                </a:extLst>
              </a:tr>
              <a:tr h="30638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4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82690173"/>
                  </a:ext>
                </a:extLst>
              </a:tr>
              <a:tr h="309563">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4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94758725"/>
                  </a:ext>
                </a:extLst>
              </a:tr>
              <a:tr h="3079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4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9572105"/>
                  </a:ext>
                </a:extLst>
              </a:tr>
            </a:tbl>
          </a:graphicData>
        </a:graphic>
      </p:graphicFrame>
      <p:graphicFrame>
        <p:nvGraphicFramePr>
          <p:cNvPr id="110656" name="Group 64">
            <a:extLst>
              <a:ext uri="{FF2B5EF4-FFF2-40B4-BE49-F238E27FC236}">
                <a16:creationId xmlns:a16="http://schemas.microsoft.com/office/drawing/2014/main" id="{BA6EA327-D6D9-4C0B-A126-9E9224B5D0C4}"/>
              </a:ext>
            </a:extLst>
          </p:cNvPr>
          <p:cNvGraphicFramePr>
            <a:graphicFrameLocks noGrp="1"/>
          </p:cNvGraphicFramePr>
          <p:nvPr/>
        </p:nvGraphicFramePr>
        <p:xfrm>
          <a:off x="5105400" y="3048000"/>
          <a:ext cx="990600" cy="1219201"/>
        </p:xfrm>
        <a:graphic>
          <a:graphicData uri="http://schemas.openxmlformats.org/drawingml/2006/table">
            <a:tbl>
              <a:tblPr/>
              <a:tblGrid>
                <a:gridCol w="990600">
                  <a:extLst>
                    <a:ext uri="{9D8B030D-6E8A-4147-A177-3AD203B41FA5}">
                      <a16:colId xmlns:a16="http://schemas.microsoft.com/office/drawing/2014/main" val="943667395"/>
                    </a:ext>
                  </a:extLst>
                </a:gridCol>
              </a:tblGrid>
              <a:tr h="3048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4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rPr>
                        <a:t>F</a:t>
                      </a:r>
                    </a:p>
                  </a:txBody>
                  <a:tcPr marL="0" marR="0" marT="0" marB="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56235385"/>
                  </a:ext>
                </a:extLst>
              </a:tr>
              <a:tr h="303213">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4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26229453"/>
                  </a:ext>
                </a:extLst>
              </a:tr>
              <a:tr h="30638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4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68766556"/>
                  </a:ext>
                </a:extLst>
              </a:tr>
              <a:tr h="3048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4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10757820"/>
                  </a:ext>
                </a:extLst>
              </a:tr>
            </a:tbl>
          </a:graphicData>
        </a:graphic>
      </p:graphicFrame>
      <p:graphicFrame>
        <p:nvGraphicFramePr>
          <p:cNvPr id="110699" name="Group 107">
            <a:extLst>
              <a:ext uri="{FF2B5EF4-FFF2-40B4-BE49-F238E27FC236}">
                <a16:creationId xmlns:a16="http://schemas.microsoft.com/office/drawing/2014/main" id="{83D06030-4E88-48D5-A02A-BC09FD2C5594}"/>
              </a:ext>
            </a:extLst>
          </p:cNvPr>
          <p:cNvGraphicFramePr>
            <a:graphicFrameLocks noGrp="1"/>
          </p:cNvGraphicFramePr>
          <p:nvPr/>
        </p:nvGraphicFramePr>
        <p:xfrm>
          <a:off x="3429000" y="3124200"/>
          <a:ext cx="990600" cy="1203324"/>
        </p:xfrm>
        <a:graphic>
          <a:graphicData uri="http://schemas.openxmlformats.org/drawingml/2006/table">
            <a:tbl>
              <a:tblPr/>
              <a:tblGrid>
                <a:gridCol w="990600">
                  <a:extLst>
                    <a:ext uri="{9D8B030D-6E8A-4147-A177-3AD203B41FA5}">
                      <a16:colId xmlns:a16="http://schemas.microsoft.com/office/drawing/2014/main" val="1725590659"/>
                    </a:ext>
                  </a:extLst>
                </a:gridCol>
              </a:tblGrid>
              <a:tr h="28733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4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rPr>
                        <a:t>E</a:t>
                      </a:r>
                    </a:p>
                  </a:txBody>
                  <a:tcPr marL="0" marR="0" marT="0" marB="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24751566"/>
                  </a:ext>
                </a:extLst>
              </a:tr>
              <a:tr h="303212">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4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03852584"/>
                  </a:ext>
                </a:extLst>
              </a:tr>
              <a:tr h="306387">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4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04610564"/>
                  </a:ext>
                </a:extLst>
              </a:tr>
              <a:tr h="306387">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4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78748212"/>
                  </a:ext>
                </a:extLst>
              </a:tr>
            </a:tbl>
          </a:graphicData>
        </a:graphic>
      </p:graphicFrame>
      <p:graphicFrame>
        <p:nvGraphicFramePr>
          <p:cNvPr id="110685" name="Group 93">
            <a:extLst>
              <a:ext uri="{FF2B5EF4-FFF2-40B4-BE49-F238E27FC236}">
                <a16:creationId xmlns:a16="http://schemas.microsoft.com/office/drawing/2014/main" id="{D923BFB0-1EF9-4C31-AB93-1E2265D7D0C9}"/>
              </a:ext>
            </a:extLst>
          </p:cNvPr>
          <p:cNvGraphicFramePr>
            <a:graphicFrameLocks noGrp="1"/>
          </p:cNvGraphicFramePr>
          <p:nvPr/>
        </p:nvGraphicFramePr>
        <p:xfrm>
          <a:off x="1143000" y="3124200"/>
          <a:ext cx="990600" cy="1219201"/>
        </p:xfrm>
        <a:graphic>
          <a:graphicData uri="http://schemas.openxmlformats.org/drawingml/2006/table">
            <a:tbl>
              <a:tblPr/>
              <a:tblGrid>
                <a:gridCol w="990600">
                  <a:extLst>
                    <a:ext uri="{9D8B030D-6E8A-4147-A177-3AD203B41FA5}">
                      <a16:colId xmlns:a16="http://schemas.microsoft.com/office/drawing/2014/main" val="3935789376"/>
                    </a:ext>
                  </a:extLst>
                </a:gridCol>
              </a:tblGrid>
              <a:tr h="3048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4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rPr>
                        <a:t>D</a:t>
                      </a:r>
                    </a:p>
                  </a:txBody>
                  <a:tcPr marL="0" marR="0" marT="0" marB="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55730101"/>
                  </a:ext>
                </a:extLst>
              </a:tr>
              <a:tr h="303213">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4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47789124"/>
                  </a:ext>
                </a:extLst>
              </a:tr>
              <a:tr h="30638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4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645705"/>
                  </a:ext>
                </a:extLst>
              </a:tr>
              <a:tr h="3048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400" b="1" i="0" u="none" strike="noStrike" cap="none" normalizeH="0" baseline="0" dirty="0">
                        <a:ln>
                          <a:noFill/>
                        </a:ln>
                        <a:solidFill>
                          <a:srgbClr val="0000FF"/>
                        </a:solidFill>
                        <a:effectLst/>
                        <a:latin typeface="华文中宋" panose="02010600040101010101" pitchFamily="2" charset="-122"/>
                        <a:ea typeface="华文中宋" panose="02010600040101010101" pitchFamily="2" charset="-122"/>
                      </a:endParaRPr>
                    </a:p>
                  </a:txBody>
                  <a:tcPr marL="0" marR="0" marT="0" marB="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43901521"/>
                  </a:ext>
                </a:extLst>
              </a:tr>
            </a:tbl>
          </a:graphicData>
        </a:graphic>
      </p:graphicFrame>
      <p:sp>
        <p:nvSpPr>
          <p:cNvPr id="42064" name="Line 109">
            <a:extLst>
              <a:ext uri="{FF2B5EF4-FFF2-40B4-BE49-F238E27FC236}">
                <a16:creationId xmlns:a16="http://schemas.microsoft.com/office/drawing/2014/main" id="{6038840C-9EFB-4295-AB78-3A8AAA4B6F1E}"/>
              </a:ext>
            </a:extLst>
          </p:cNvPr>
          <p:cNvSpPr>
            <a:spLocks noChangeShapeType="1"/>
          </p:cNvSpPr>
          <p:nvPr/>
        </p:nvSpPr>
        <p:spPr bwMode="auto">
          <a:xfrm flipH="1" flipV="1">
            <a:off x="5029200" y="1524000"/>
            <a:ext cx="13716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65" name="Line 110">
            <a:extLst>
              <a:ext uri="{FF2B5EF4-FFF2-40B4-BE49-F238E27FC236}">
                <a16:creationId xmlns:a16="http://schemas.microsoft.com/office/drawing/2014/main" id="{35CABC86-241B-43D0-98FB-7CA6DE269B0D}"/>
              </a:ext>
            </a:extLst>
          </p:cNvPr>
          <p:cNvSpPr>
            <a:spLocks noChangeShapeType="1"/>
          </p:cNvSpPr>
          <p:nvPr/>
        </p:nvSpPr>
        <p:spPr bwMode="auto">
          <a:xfrm flipV="1">
            <a:off x="2667000" y="1447800"/>
            <a:ext cx="12192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66" name="Line 111">
            <a:extLst>
              <a:ext uri="{FF2B5EF4-FFF2-40B4-BE49-F238E27FC236}">
                <a16:creationId xmlns:a16="http://schemas.microsoft.com/office/drawing/2014/main" id="{65227109-123E-49B8-AFF9-1669D211CB60}"/>
              </a:ext>
            </a:extLst>
          </p:cNvPr>
          <p:cNvSpPr>
            <a:spLocks noChangeShapeType="1"/>
          </p:cNvSpPr>
          <p:nvPr/>
        </p:nvSpPr>
        <p:spPr bwMode="auto">
          <a:xfrm flipH="1" flipV="1">
            <a:off x="6553200" y="2895600"/>
            <a:ext cx="9906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67" name="Line 112">
            <a:extLst>
              <a:ext uri="{FF2B5EF4-FFF2-40B4-BE49-F238E27FC236}">
                <a16:creationId xmlns:a16="http://schemas.microsoft.com/office/drawing/2014/main" id="{523A08B1-66FA-4CC8-8298-776980A1086C}"/>
              </a:ext>
            </a:extLst>
          </p:cNvPr>
          <p:cNvSpPr>
            <a:spLocks noChangeShapeType="1"/>
          </p:cNvSpPr>
          <p:nvPr/>
        </p:nvSpPr>
        <p:spPr bwMode="auto">
          <a:xfrm flipV="1">
            <a:off x="5562600" y="2895600"/>
            <a:ext cx="6858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68" name="Line 113">
            <a:extLst>
              <a:ext uri="{FF2B5EF4-FFF2-40B4-BE49-F238E27FC236}">
                <a16:creationId xmlns:a16="http://schemas.microsoft.com/office/drawing/2014/main" id="{7FF221C8-4DFC-49D0-95BC-39C8C55CE4DF}"/>
              </a:ext>
            </a:extLst>
          </p:cNvPr>
          <p:cNvSpPr>
            <a:spLocks noChangeShapeType="1"/>
          </p:cNvSpPr>
          <p:nvPr/>
        </p:nvSpPr>
        <p:spPr bwMode="auto">
          <a:xfrm flipH="1" flipV="1">
            <a:off x="2895600" y="2895600"/>
            <a:ext cx="10668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69" name="Line 114">
            <a:extLst>
              <a:ext uri="{FF2B5EF4-FFF2-40B4-BE49-F238E27FC236}">
                <a16:creationId xmlns:a16="http://schemas.microsoft.com/office/drawing/2014/main" id="{A60DA118-ACCA-4D14-AA47-E1FEEFC14A27}"/>
              </a:ext>
            </a:extLst>
          </p:cNvPr>
          <p:cNvSpPr>
            <a:spLocks noChangeShapeType="1"/>
          </p:cNvSpPr>
          <p:nvPr/>
        </p:nvSpPr>
        <p:spPr bwMode="auto">
          <a:xfrm flipV="1">
            <a:off x="1676400" y="2895600"/>
            <a:ext cx="7620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70" name="Line 115">
            <a:extLst>
              <a:ext uri="{FF2B5EF4-FFF2-40B4-BE49-F238E27FC236}">
                <a16:creationId xmlns:a16="http://schemas.microsoft.com/office/drawing/2014/main" id="{361E9A0E-D151-4B66-894A-D3F0AE165A60}"/>
              </a:ext>
            </a:extLst>
          </p:cNvPr>
          <p:cNvSpPr>
            <a:spLocks noChangeShapeType="1"/>
          </p:cNvSpPr>
          <p:nvPr/>
        </p:nvSpPr>
        <p:spPr bwMode="auto">
          <a:xfrm flipV="1">
            <a:off x="6934200" y="4343400"/>
            <a:ext cx="5334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71" name="Line 116">
            <a:extLst>
              <a:ext uri="{FF2B5EF4-FFF2-40B4-BE49-F238E27FC236}">
                <a16:creationId xmlns:a16="http://schemas.microsoft.com/office/drawing/2014/main" id="{ED6B2533-0328-48D5-81C7-E7928548F938}"/>
              </a:ext>
            </a:extLst>
          </p:cNvPr>
          <p:cNvSpPr>
            <a:spLocks noChangeShapeType="1"/>
          </p:cNvSpPr>
          <p:nvPr/>
        </p:nvSpPr>
        <p:spPr bwMode="auto">
          <a:xfrm flipH="1" flipV="1">
            <a:off x="7772400" y="4343400"/>
            <a:ext cx="5334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72" name="Line 117">
            <a:extLst>
              <a:ext uri="{FF2B5EF4-FFF2-40B4-BE49-F238E27FC236}">
                <a16:creationId xmlns:a16="http://schemas.microsoft.com/office/drawing/2014/main" id="{FC690F6B-B296-49E6-8743-E2F224889A02}"/>
              </a:ext>
            </a:extLst>
          </p:cNvPr>
          <p:cNvSpPr>
            <a:spLocks noChangeShapeType="1"/>
          </p:cNvSpPr>
          <p:nvPr/>
        </p:nvSpPr>
        <p:spPr bwMode="auto">
          <a:xfrm flipH="1" flipV="1">
            <a:off x="5791200" y="4343400"/>
            <a:ext cx="5334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73" name="Line 118">
            <a:extLst>
              <a:ext uri="{FF2B5EF4-FFF2-40B4-BE49-F238E27FC236}">
                <a16:creationId xmlns:a16="http://schemas.microsoft.com/office/drawing/2014/main" id="{42499540-C9D9-492E-A3F1-3FA43A31B1B8}"/>
              </a:ext>
            </a:extLst>
          </p:cNvPr>
          <p:cNvSpPr>
            <a:spLocks noChangeShapeType="1"/>
          </p:cNvSpPr>
          <p:nvPr/>
        </p:nvSpPr>
        <p:spPr bwMode="auto">
          <a:xfrm flipV="1">
            <a:off x="4953000" y="4343400"/>
            <a:ext cx="4572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74" name="Line 119">
            <a:extLst>
              <a:ext uri="{FF2B5EF4-FFF2-40B4-BE49-F238E27FC236}">
                <a16:creationId xmlns:a16="http://schemas.microsoft.com/office/drawing/2014/main" id="{DB394D70-4E15-4EEC-92A9-CEF40F76BE69}"/>
              </a:ext>
            </a:extLst>
          </p:cNvPr>
          <p:cNvSpPr>
            <a:spLocks noChangeShapeType="1"/>
          </p:cNvSpPr>
          <p:nvPr/>
        </p:nvSpPr>
        <p:spPr bwMode="auto">
          <a:xfrm flipH="1" flipV="1">
            <a:off x="4038600" y="4419600"/>
            <a:ext cx="4572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75" name="Line 120">
            <a:extLst>
              <a:ext uri="{FF2B5EF4-FFF2-40B4-BE49-F238E27FC236}">
                <a16:creationId xmlns:a16="http://schemas.microsoft.com/office/drawing/2014/main" id="{7F1A5917-8601-45C5-96E8-AE18AA310AF2}"/>
              </a:ext>
            </a:extLst>
          </p:cNvPr>
          <p:cNvSpPr>
            <a:spLocks noChangeShapeType="1"/>
          </p:cNvSpPr>
          <p:nvPr/>
        </p:nvSpPr>
        <p:spPr bwMode="auto">
          <a:xfrm flipV="1">
            <a:off x="3429000" y="4419600"/>
            <a:ext cx="4572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76" name="Line 121">
            <a:extLst>
              <a:ext uri="{FF2B5EF4-FFF2-40B4-BE49-F238E27FC236}">
                <a16:creationId xmlns:a16="http://schemas.microsoft.com/office/drawing/2014/main" id="{3D16F6CB-E15B-4B51-8A4C-3DC16446B3CB}"/>
              </a:ext>
            </a:extLst>
          </p:cNvPr>
          <p:cNvSpPr>
            <a:spLocks noChangeShapeType="1"/>
          </p:cNvSpPr>
          <p:nvPr/>
        </p:nvSpPr>
        <p:spPr bwMode="auto">
          <a:xfrm flipH="1" flipV="1">
            <a:off x="1752600" y="4495800"/>
            <a:ext cx="3048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77" name="Line 122">
            <a:extLst>
              <a:ext uri="{FF2B5EF4-FFF2-40B4-BE49-F238E27FC236}">
                <a16:creationId xmlns:a16="http://schemas.microsoft.com/office/drawing/2014/main" id="{00CBBBE3-A2EB-4DE8-94E7-65A823F146DD}"/>
              </a:ext>
            </a:extLst>
          </p:cNvPr>
          <p:cNvSpPr>
            <a:spLocks noChangeShapeType="1"/>
          </p:cNvSpPr>
          <p:nvPr/>
        </p:nvSpPr>
        <p:spPr bwMode="auto">
          <a:xfrm flipV="1">
            <a:off x="1066800" y="4495800"/>
            <a:ext cx="3810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0715" name="Rectangle 123">
            <a:extLst>
              <a:ext uri="{FF2B5EF4-FFF2-40B4-BE49-F238E27FC236}">
                <a16:creationId xmlns:a16="http://schemas.microsoft.com/office/drawing/2014/main" id="{5C0B6FC8-DA0F-4A23-86F9-D7588EE755FB}"/>
              </a:ext>
            </a:extLst>
          </p:cNvPr>
          <p:cNvSpPr>
            <a:spLocks noChangeArrowheads="1"/>
          </p:cNvSpPr>
          <p:nvPr/>
        </p:nvSpPr>
        <p:spPr bwMode="auto">
          <a:xfrm>
            <a:off x="609600" y="5334000"/>
            <a:ext cx="4267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600" b="1">
                <a:solidFill>
                  <a:srgbClr val="FF0000"/>
                </a:solidFill>
                <a:ea typeface="华文中宋" panose="02010600040101010101" pitchFamily="2" charset="-122"/>
              </a:rPr>
              <a:t>队列</a:t>
            </a:r>
            <a:r>
              <a:rPr lang="en-US" altLang="zh-CN" sz="3600" b="1">
                <a:solidFill>
                  <a:srgbClr val="FF0000"/>
                </a:solidFill>
                <a:ea typeface="华文中宋" panose="02010600040101010101" pitchFamily="2" charset="-122"/>
              </a:rPr>
              <a:t>Q</a:t>
            </a:r>
            <a:r>
              <a:rPr lang="zh-CN" altLang="en-US" sz="3600" b="1">
                <a:solidFill>
                  <a:srgbClr val="FF0000"/>
                </a:solidFill>
                <a:ea typeface="华文中宋" panose="02010600040101010101" pitchFamily="2" charset="-122"/>
              </a:rPr>
              <a:t>：如何构造？</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0715"/>
                                        </p:tgtEl>
                                        <p:attrNameLst>
                                          <p:attrName>style.visibility</p:attrName>
                                        </p:attrNameLst>
                                      </p:cBhvr>
                                      <p:to>
                                        <p:strVal val="visible"/>
                                      </p:to>
                                    </p:set>
                                    <p:anim calcmode="lin" valueType="num">
                                      <p:cBhvr additive="base">
                                        <p:cTn id="7" dur="500" fill="hold"/>
                                        <p:tgtEl>
                                          <p:spTgt spid="110715"/>
                                        </p:tgtEl>
                                        <p:attrNameLst>
                                          <p:attrName>ppt_x</p:attrName>
                                        </p:attrNameLst>
                                      </p:cBhvr>
                                      <p:tavLst>
                                        <p:tav tm="0">
                                          <p:val>
                                            <p:strVal val="0-#ppt_w/2"/>
                                          </p:val>
                                        </p:tav>
                                        <p:tav tm="100000">
                                          <p:val>
                                            <p:strVal val="#ppt_x"/>
                                          </p:val>
                                        </p:tav>
                                      </p:tavLst>
                                    </p:anim>
                                    <p:anim calcmode="lin" valueType="num">
                                      <p:cBhvr additive="base">
                                        <p:cTn id="8" dur="500" fill="hold"/>
                                        <p:tgtEl>
                                          <p:spTgt spid="1107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715"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06AAB981-408A-4134-ADF7-5D7169E645BE}"/>
              </a:ext>
            </a:extLst>
          </p:cNvPr>
          <p:cNvSpPr>
            <a:spLocks noGrp="1" noChangeArrowheads="1"/>
          </p:cNvSpPr>
          <p:nvPr>
            <p:ph type="title"/>
          </p:nvPr>
        </p:nvSpPr>
        <p:spPr bwMode="auto">
          <a:xfrm>
            <a:off x="685800" y="228600"/>
            <a:ext cx="77724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pPr>
            <a:r>
              <a:rPr kumimoji="0" lang="zh-CN" altLang="en-US">
                <a:solidFill>
                  <a:schemeClr val="accent2"/>
                </a:solidFill>
              </a:rPr>
              <a:t>最优解构造</a:t>
            </a:r>
          </a:p>
        </p:txBody>
      </p:sp>
      <p:sp>
        <p:nvSpPr>
          <p:cNvPr id="43011" name="Rectangle 3">
            <a:extLst>
              <a:ext uri="{FF2B5EF4-FFF2-40B4-BE49-F238E27FC236}">
                <a16:creationId xmlns:a16="http://schemas.microsoft.com/office/drawing/2014/main" id="{E4700C7B-41EB-4D36-97B0-E50608493C86}"/>
              </a:ext>
            </a:extLst>
          </p:cNvPr>
          <p:cNvSpPr>
            <a:spLocks noGrp="1" noChangeArrowheads="1"/>
          </p:cNvSpPr>
          <p:nvPr>
            <p:ph type="body" idx="1"/>
          </p:nvPr>
        </p:nvSpPr>
        <p:spPr bwMode="auto">
          <a:xfrm>
            <a:off x="609600" y="1143000"/>
            <a:ext cx="7772400" cy="1219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pPr>
            <a:r>
              <a:rPr kumimoji="0" lang="zh-CN" altLang="en-US" sz="2800" b="1">
                <a:latin typeface="华文中宋" panose="02010600040101010101" pitchFamily="2" charset="-122"/>
              </a:rPr>
              <a:t>算法：修改求最优值的算法</a:t>
            </a:r>
            <a:r>
              <a:rPr kumimoji="0" lang="en-US" altLang="zh-CN" sz="2800" b="1">
                <a:latin typeface="华文中宋" panose="02010600040101010101" pitchFamily="2" charset="-122"/>
              </a:rPr>
              <a:t>MaxLoading</a:t>
            </a:r>
            <a:r>
              <a:rPr kumimoji="0" lang="zh-CN" altLang="en-US" sz="2800" b="1">
                <a:latin typeface="华文中宋" panose="02010600040101010101" pitchFamily="2" charset="-122"/>
              </a:rPr>
              <a:t>，添加构造队列内容</a:t>
            </a:r>
          </a:p>
        </p:txBody>
      </p:sp>
      <p:sp>
        <p:nvSpPr>
          <p:cNvPr id="43012" name="Rectangle 4">
            <a:extLst>
              <a:ext uri="{FF2B5EF4-FFF2-40B4-BE49-F238E27FC236}">
                <a16:creationId xmlns:a16="http://schemas.microsoft.com/office/drawing/2014/main" id="{148C6F69-C0CB-43D1-B70F-3C92EDB465B2}"/>
              </a:ext>
            </a:extLst>
          </p:cNvPr>
          <p:cNvSpPr>
            <a:spLocks noChangeArrowheads="1"/>
          </p:cNvSpPr>
          <p:nvPr/>
        </p:nvSpPr>
        <p:spPr bwMode="auto">
          <a:xfrm>
            <a:off x="609600" y="2209800"/>
            <a:ext cx="77724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kumimoji="0" lang="zh-CN" altLang="en-US" sz="2800" b="1">
                <a:latin typeface="华文中宋" panose="02010600040101010101" pitchFamily="2" charset="-122"/>
                <a:ea typeface="华文中宋" panose="02010600040101010101" pitchFamily="2" charset="-122"/>
              </a:rPr>
              <a:t>找到最优值后，可以根据</a:t>
            </a:r>
            <a:r>
              <a:rPr kumimoji="0" lang="en-US" altLang="zh-CN" sz="2800" b="1">
                <a:latin typeface="华文中宋" panose="02010600040101010101" pitchFamily="2" charset="-122"/>
                <a:ea typeface="华文中宋" panose="02010600040101010101" pitchFamily="2" charset="-122"/>
              </a:rPr>
              <a:t>parent</a:t>
            </a:r>
            <a:r>
              <a:rPr kumimoji="0" lang="zh-CN" altLang="en-US" sz="2800" b="1">
                <a:latin typeface="华文中宋" panose="02010600040101010101" pitchFamily="2" charset="-122"/>
                <a:ea typeface="华文中宋" panose="02010600040101010101" pitchFamily="2" charset="-122"/>
              </a:rPr>
              <a:t>回溯到根节点，找到最优解。</a:t>
            </a:r>
          </a:p>
          <a:p>
            <a:pPr algn="just" eaLnBrk="1" hangingPunct="1">
              <a:spcBef>
                <a:spcPct val="50000"/>
              </a:spcBef>
            </a:pPr>
            <a:r>
              <a:rPr kumimoji="0" lang="en-US" altLang="zh-CN" b="1">
                <a:solidFill>
                  <a:srgbClr val="0000FF"/>
                </a:solidFill>
                <a:ea typeface="华文中宋" panose="02010600040101010101" pitchFamily="2" charset="-122"/>
                <a:cs typeface="Times New Roman" panose="02020603050405020304" pitchFamily="18" charset="0"/>
              </a:rPr>
              <a:t>     for (int j = n; j &gt; 0; j--) {</a:t>
            </a:r>
            <a:r>
              <a:rPr kumimoji="0" lang="en-US" altLang="zh-CN" b="1">
                <a:ea typeface="华文中宋" panose="02010600040101010101" pitchFamily="2" charset="-122"/>
                <a:cs typeface="Times New Roman" panose="02020603050405020304" pitchFamily="18" charset="0"/>
              </a:rPr>
              <a:t>// </a:t>
            </a:r>
            <a:r>
              <a:rPr kumimoji="0" lang="zh-CN" altLang="en-US" b="1">
                <a:latin typeface="华文中宋" panose="02010600040101010101" pitchFamily="2" charset="-122"/>
                <a:ea typeface="华文中宋" panose="02010600040101010101" pitchFamily="2" charset="-122"/>
              </a:rPr>
              <a:t>构造当前最优解</a:t>
            </a:r>
            <a:endParaRPr kumimoji="0" lang="zh-CN" altLang="en-US" b="1">
              <a:ea typeface="华文中宋" panose="02010600040101010101" pitchFamily="2" charset="-122"/>
            </a:endParaRPr>
          </a:p>
          <a:p>
            <a:pPr algn="just" eaLnBrk="1" hangingPunct="1">
              <a:spcBef>
                <a:spcPct val="50000"/>
              </a:spcBef>
            </a:pPr>
            <a:r>
              <a:rPr kumimoji="0" lang="zh-CN" altLang="en-US" b="1">
                <a:solidFill>
                  <a:srgbClr val="0000FF"/>
                </a:solidFill>
                <a:ea typeface="华文中宋" panose="02010600040101010101" pitchFamily="2" charset="-122"/>
              </a:rPr>
              <a:t>        </a:t>
            </a:r>
            <a:r>
              <a:rPr kumimoji="0" lang="en-US" altLang="zh-CN" b="1">
                <a:solidFill>
                  <a:srgbClr val="0000FF"/>
                </a:solidFill>
                <a:ea typeface="华文中宋" panose="02010600040101010101" pitchFamily="2" charset="-122"/>
              </a:rPr>
              <a:t>bestx[j] = (bestE.LChild) ? 1 : 0;</a:t>
            </a:r>
            <a:endParaRPr kumimoji="0" lang="en-US" altLang="zh-CN" b="1">
              <a:solidFill>
                <a:schemeClr val="accent2"/>
              </a:solidFill>
              <a:ea typeface="华文中宋" panose="02010600040101010101" pitchFamily="2" charset="-122"/>
            </a:endParaRPr>
          </a:p>
          <a:p>
            <a:pPr algn="just" eaLnBrk="1" hangingPunct="1">
              <a:spcBef>
                <a:spcPct val="50000"/>
              </a:spcBef>
            </a:pPr>
            <a:r>
              <a:rPr kumimoji="0" lang="en-US" altLang="zh-CN" b="1">
                <a:solidFill>
                  <a:srgbClr val="0000FF"/>
                </a:solidFill>
                <a:ea typeface="华文中宋" panose="02010600040101010101" pitchFamily="2" charset="-122"/>
              </a:rPr>
              <a:t>         bestE = bestE.parent;</a:t>
            </a:r>
            <a:endParaRPr kumimoji="0" lang="en-US" altLang="zh-CN" b="1">
              <a:solidFill>
                <a:schemeClr val="accent2"/>
              </a:solidFill>
              <a:ea typeface="华文中宋" panose="02010600040101010101" pitchFamily="2" charset="-122"/>
            </a:endParaRPr>
          </a:p>
          <a:p>
            <a:pPr algn="just" eaLnBrk="1" hangingPunct="1">
              <a:spcBef>
                <a:spcPct val="50000"/>
              </a:spcBef>
            </a:pPr>
            <a:r>
              <a:rPr kumimoji="0" lang="en-US" altLang="zh-CN" b="1">
                <a:solidFill>
                  <a:srgbClr val="0000FF"/>
                </a:solidFill>
                <a:ea typeface="华文中宋" panose="02010600040101010101" pitchFamily="2" charset="-122"/>
              </a:rPr>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995F36F6-4107-485E-A8A4-BD5F6E30ACC4}"/>
              </a:ext>
            </a:extLst>
          </p:cNvPr>
          <p:cNvSpPr>
            <a:spLocks noGrp="1" noChangeArrowheads="1"/>
          </p:cNvSpPr>
          <p:nvPr>
            <p:ph type="title"/>
          </p:nvPr>
        </p:nvSpPr>
        <p:spPr bwMode="auto">
          <a:xfrm>
            <a:off x="685800" y="1524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3600" b="1">
                <a:solidFill>
                  <a:schemeClr val="accent2"/>
                </a:solidFill>
              </a:rPr>
              <a:t>5. </a:t>
            </a:r>
            <a:r>
              <a:rPr kumimoji="0" lang="zh-CN" altLang="en-US" sz="3600" b="1">
                <a:solidFill>
                  <a:schemeClr val="accent2"/>
                </a:solidFill>
              </a:rPr>
              <a:t>优先队列式分支限界法</a:t>
            </a:r>
            <a:endParaRPr kumimoji="0" lang="zh-CN" altLang="en-US" sz="3600" b="1">
              <a:solidFill>
                <a:schemeClr val="accent2"/>
              </a:solidFill>
              <a:latin typeface="Arial" panose="020B0604020202020204" pitchFamily="34" charset="0"/>
              <a:ea typeface="华文行楷" panose="02010800040101010101" pitchFamily="2" charset="-122"/>
            </a:endParaRPr>
          </a:p>
        </p:txBody>
      </p:sp>
      <p:sp>
        <p:nvSpPr>
          <p:cNvPr id="112643" name="Rectangle 3">
            <a:extLst>
              <a:ext uri="{FF2B5EF4-FFF2-40B4-BE49-F238E27FC236}">
                <a16:creationId xmlns:a16="http://schemas.microsoft.com/office/drawing/2014/main" id="{72883F1D-9E18-49BB-8F03-C524FE812E1C}"/>
              </a:ext>
            </a:extLst>
          </p:cNvPr>
          <p:cNvSpPr>
            <a:spLocks noGrp="1" noChangeArrowheads="1"/>
          </p:cNvSpPr>
          <p:nvPr>
            <p:ph type="body" idx="1"/>
          </p:nvPr>
        </p:nvSpPr>
        <p:spPr bwMode="auto">
          <a:xfrm>
            <a:off x="381000" y="914400"/>
            <a:ext cx="8153400" cy="17287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609600" indent="-609600" eaLnBrk="1" hangingPunct="1">
              <a:lnSpc>
                <a:spcPct val="80000"/>
              </a:lnSpc>
              <a:spcBef>
                <a:spcPct val="50000"/>
              </a:spcBef>
              <a:buFont typeface="Times New Roman" panose="02020603050405020304" pitchFamily="18" charset="0"/>
              <a:buAutoNum type="arabicPeriod"/>
            </a:pPr>
            <a:r>
              <a:rPr kumimoji="0" lang="zh-CN" altLang="en-US" sz="2800" b="1">
                <a:latin typeface="华文中宋" panose="02010600040101010101" pitchFamily="2" charset="-122"/>
              </a:rPr>
              <a:t>活结点</a:t>
            </a:r>
            <a:r>
              <a:rPr kumimoji="0" lang="en-US" altLang="zh-CN" sz="2800" b="1">
                <a:latin typeface="华文中宋" panose="02010600040101010101" pitchFamily="2" charset="-122"/>
              </a:rPr>
              <a:t>x</a:t>
            </a:r>
            <a:r>
              <a:rPr kumimoji="0" lang="zh-CN" altLang="en-US" sz="2800" b="1">
                <a:latin typeface="华文中宋" panose="02010600040101010101" pitchFamily="2" charset="-122"/>
              </a:rPr>
              <a:t>优先级定义：</a:t>
            </a:r>
            <a:r>
              <a:rPr kumimoji="0" lang="en-US" altLang="zh-CN" sz="2800" b="1">
                <a:solidFill>
                  <a:srgbClr val="FF0000"/>
                </a:solidFill>
                <a:latin typeface="华文中宋" panose="02010600040101010101" pitchFamily="2" charset="-122"/>
              </a:rPr>
              <a:t>x.uweight</a:t>
            </a:r>
            <a:endParaRPr kumimoji="0" lang="zh-CN" altLang="en-US" sz="2800" b="1">
              <a:solidFill>
                <a:srgbClr val="FF0000"/>
              </a:solidFill>
              <a:latin typeface="华文中宋" panose="02010600040101010101" pitchFamily="2" charset="-122"/>
            </a:endParaRPr>
          </a:p>
          <a:p>
            <a:pPr marL="609600" indent="-609600" eaLnBrk="1" hangingPunct="1">
              <a:lnSpc>
                <a:spcPct val="80000"/>
              </a:lnSpc>
              <a:spcBef>
                <a:spcPct val="50000"/>
              </a:spcBef>
            </a:pPr>
            <a:r>
              <a:rPr kumimoji="0" lang="zh-CN" altLang="en-US" sz="2800" b="1">
                <a:solidFill>
                  <a:srgbClr val="FF0000"/>
                </a:solidFill>
                <a:latin typeface="华文中宋" panose="02010600040101010101" pitchFamily="2" charset="-122"/>
              </a:rPr>
              <a:t>含义：</a:t>
            </a:r>
            <a:r>
              <a:rPr kumimoji="0" lang="zh-CN" altLang="en-US" sz="2800" b="1">
                <a:latin typeface="华文中宋" panose="02010600040101010101" pitchFamily="2" charset="-122"/>
              </a:rPr>
              <a:t>从根结点到结点</a:t>
            </a:r>
            <a:r>
              <a:rPr kumimoji="0" lang="en-US" altLang="zh-CN" sz="2800" b="1">
                <a:latin typeface="华文中宋" panose="02010600040101010101" pitchFamily="2" charset="-122"/>
              </a:rPr>
              <a:t>x</a:t>
            </a:r>
            <a:r>
              <a:rPr kumimoji="0" lang="zh-CN" altLang="en-US" sz="2800" b="1">
                <a:latin typeface="华文中宋" panose="02010600040101010101" pitchFamily="2" charset="-122"/>
              </a:rPr>
              <a:t>的路径所相应的载重量再加上剩余集装箱的重量之和。    </a:t>
            </a:r>
            <a:r>
              <a:rPr kumimoji="0" lang="en-US" altLang="zh-CN" sz="2800" b="1">
                <a:latin typeface="华文中宋" panose="02010600040101010101" pitchFamily="2" charset="-122"/>
              </a:rPr>
              <a:t>x.uweight= Ew + r</a:t>
            </a:r>
          </a:p>
          <a:p>
            <a:pPr marL="609600" indent="-609600" eaLnBrk="1" hangingPunct="1">
              <a:lnSpc>
                <a:spcPct val="80000"/>
              </a:lnSpc>
              <a:spcBef>
                <a:spcPct val="50000"/>
              </a:spcBef>
            </a:pPr>
            <a:r>
              <a:rPr kumimoji="0" lang="zh-CN" altLang="en-US" sz="2800" b="1">
                <a:latin typeface="华文中宋" panose="02010600040101010101" pitchFamily="2" charset="-122"/>
              </a:rPr>
              <a:t>将活结点表存储于最大优先队列</a:t>
            </a:r>
            <a:r>
              <a:rPr kumimoji="0" lang="en-US" altLang="zh-CN" sz="2800" b="1">
                <a:latin typeface="华文中宋" panose="02010600040101010101" pitchFamily="2" charset="-122"/>
              </a:rPr>
              <a:t>Q</a:t>
            </a:r>
            <a:r>
              <a:rPr kumimoji="0" lang="zh-CN" altLang="en-US" sz="2800" b="1">
                <a:latin typeface="华文中宋" panose="02010600040101010101" pitchFamily="2" charset="-122"/>
              </a:rPr>
              <a:t>中，优先级最大者优先。</a:t>
            </a:r>
          </a:p>
        </p:txBody>
      </p:sp>
      <p:sp>
        <p:nvSpPr>
          <p:cNvPr id="112645" name="Rectangle 5">
            <a:extLst>
              <a:ext uri="{FF2B5EF4-FFF2-40B4-BE49-F238E27FC236}">
                <a16:creationId xmlns:a16="http://schemas.microsoft.com/office/drawing/2014/main" id="{82737AB4-0A89-4603-9F70-EB9B5A2FD68F}"/>
              </a:ext>
            </a:extLst>
          </p:cNvPr>
          <p:cNvSpPr>
            <a:spLocks noChangeArrowheads="1"/>
          </p:cNvSpPr>
          <p:nvPr/>
        </p:nvSpPr>
        <p:spPr bwMode="auto">
          <a:xfrm>
            <a:off x="357188" y="3500438"/>
            <a:ext cx="7772400"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Times New Roman" panose="02020603050405020304" pitchFamily="18" charset="0"/>
              <a:buAutoNum type="arabicPeriod" startAt="2"/>
            </a:pPr>
            <a:r>
              <a:rPr kumimoji="0" lang="zh-CN" altLang="en-US" sz="2800" b="1">
                <a:latin typeface="华文中宋" panose="02010600040101010101" pitchFamily="2" charset="-122"/>
                <a:ea typeface="华文中宋" panose="02010600040101010101" pitchFamily="2" charset="-122"/>
              </a:rPr>
              <a:t>优先级最大的活结点成为下一个扩展结点</a:t>
            </a:r>
            <a:endParaRPr kumimoji="0" lang="en-US" altLang="zh-CN" sz="2800" b="1">
              <a:latin typeface="华文中宋" panose="02010600040101010101" pitchFamily="2" charset="-122"/>
              <a:ea typeface="华文中宋" panose="02010600040101010101" pitchFamily="2" charset="-122"/>
            </a:endParaRPr>
          </a:p>
          <a:p>
            <a:pPr eaLnBrk="1" hangingPunct="1">
              <a:spcBef>
                <a:spcPct val="50000"/>
              </a:spcBef>
              <a:buFont typeface="Times New Roman" panose="02020603050405020304" pitchFamily="18" charset="0"/>
              <a:buAutoNum type="arabicPeriod" startAt="2"/>
            </a:pPr>
            <a:r>
              <a:rPr kumimoji="0" lang="zh-CN" altLang="en-US" sz="2800" b="1">
                <a:latin typeface="华文中宋" panose="02010600040101010101" pitchFamily="2" charset="-122"/>
                <a:ea typeface="华文中宋" panose="02010600040101010101" pitchFamily="2" charset="-122"/>
              </a:rPr>
              <a:t>子集树中叶结点所相应的载重量与其优先级相同。</a:t>
            </a:r>
          </a:p>
          <a:p>
            <a:pPr eaLnBrk="1" hangingPunct="1">
              <a:spcBef>
                <a:spcPct val="50000"/>
              </a:spcBef>
              <a:buFont typeface="Times New Roman" panose="02020603050405020304" pitchFamily="18" charset="0"/>
              <a:buAutoNum type="arabicPeriod" startAt="2"/>
            </a:pPr>
            <a:endParaRPr kumimoji="0" lang="zh-CN" altLang="en-US" sz="2800" b="1">
              <a:latin typeface="华文中宋" panose="02010600040101010101" pitchFamily="2" charset="-122"/>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643">
                                            <p:txEl>
                                              <p:pRg st="0" end="0"/>
                                            </p:txEl>
                                          </p:spTgt>
                                        </p:tgtEl>
                                        <p:attrNameLst>
                                          <p:attrName>style.visibility</p:attrName>
                                        </p:attrNameLst>
                                      </p:cBhvr>
                                      <p:to>
                                        <p:strVal val="visible"/>
                                      </p:to>
                                    </p:set>
                                    <p:anim calcmode="lin" valueType="num">
                                      <p:cBhvr additive="base">
                                        <p:cTn id="7" dur="500" fill="hold"/>
                                        <p:tgtEl>
                                          <p:spTgt spid="1126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26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2643">
                                            <p:txEl>
                                              <p:pRg st="1" end="1"/>
                                            </p:txEl>
                                          </p:spTgt>
                                        </p:tgtEl>
                                        <p:attrNameLst>
                                          <p:attrName>style.visibility</p:attrName>
                                        </p:attrNameLst>
                                      </p:cBhvr>
                                      <p:to>
                                        <p:strVal val="visible"/>
                                      </p:to>
                                    </p:set>
                                    <p:anim calcmode="lin" valueType="num">
                                      <p:cBhvr additive="base">
                                        <p:cTn id="13" dur="500" fill="hold"/>
                                        <p:tgtEl>
                                          <p:spTgt spid="1126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26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2643">
                                            <p:txEl>
                                              <p:pRg st="2" end="2"/>
                                            </p:txEl>
                                          </p:spTgt>
                                        </p:tgtEl>
                                        <p:attrNameLst>
                                          <p:attrName>style.visibility</p:attrName>
                                        </p:attrNameLst>
                                      </p:cBhvr>
                                      <p:to>
                                        <p:strVal val="visible"/>
                                      </p:to>
                                    </p:set>
                                    <p:anim calcmode="lin" valueType="num">
                                      <p:cBhvr additive="base">
                                        <p:cTn id="19" dur="500" fill="hold"/>
                                        <p:tgtEl>
                                          <p:spTgt spid="1126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26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2645"/>
                                        </p:tgtEl>
                                        <p:attrNameLst>
                                          <p:attrName>style.visibility</p:attrName>
                                        </p:attrNameLst>
                                      </p:cBhvr>
                                      <p:to>
                                        <p:strVal val="visible"/>
                                      </p:to>
                                    </p:set>
                                    <p:anim calcmode="lin" valueType="num">
                                      <p:cBhvr additive="base">
                                        <p:cTn id="25" dur="500" fill="hold"/>
                                        <p:tgtEl>
                                          <p:spTgt spid="112645"/>
                                        </p:tgtEl>
                                        <p:attrNameLst>
                                          <p:attrName>ppt_x</p:attrName>
                                        </p:attrNameLst>
                                      </p:cBhvr>
                                      <p:tavLst>
                                        <p:tav tm="0">
                                          <p:val>
                                            <p:strVal val="0-#ppt_w/2"/>
                                          </p:val>
                                        </p:tav>
                                        <p:tav tm="100000">
                                          <p:val>
                                            <p:strVal val="#ppt_x"/>
                                          </p:val>
                                        </p:tav>
                                      </p:tavLst>
                                    </p:anim>
                                    <p:anim calcmode="lin" valueType="num">
                                      <p:cBhvr additive="base">
                                        <p:cTn id="26" dur="500" fill="hold"/>
                                        <p:tgtEl>
                                          <p:spTgt spid="1126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build="p" autoUpdateAnimBg="0"/>
      <p:bldP spid="112645"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502EB458-2B84-4242-A393-E6FBBD0B8C0B}"/>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pPr>
            <a:r>
              <a:rPr kumimoji="0" lang="zh-CN" altLang="en-US" sz="3600" b="1">
                <a:solidFill>
                  <a:schemeClr val="accent2"/>
                </a:solidFill>
              </a:rPr>
              <a:t>优先队列式分支限界法求解策略</a:t>
            </a:r>
          </a:p>
        </p:txBody>
      </p:sp>
      <p:sp>
        <p:nvSpPr>
          <p:cNvPr id="45059" name="Rectangle 3">
            <a:extLst>
              <a:ext uri="{FF2B5EF4-FFF2-40B4-BE49-F238E27FC236}">
                <a16:creationId xmlns:a16="http://schemas.microsoft.com/office/drawing/2014/main" id="{555EA16C-6FC3-48A1-9284-7FD46BC22C9C}"/>
              </a:ext>
            </a:extLst>
          </p:cNvPr>
          <p:cNvSpPr>
            <a:spLocks noGrp="1" noChangeArrowheads="1"/>
          </p:cNvSpPr>
          <p:nvPr>
            <p:ph type="body" idx="1"/>
          </p:nvPr>
        </p:nvSpPr>
        <p:spPr bwMode="auto">
          <a:xfrm>
            <a:off x="685800" y="1371600"/>
            <a:ext cx="7924800" cy="2286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0"/>
              </a:spcBef>
            </a:pPr>
            <a:r>
              <a:rPr lang="zh-CN" altLang="en-US" sz="2800" b="1"/>
              <a:t>搜索时保存当前已构造出的部分解空间树，到达最优值的</a:t>
            </a:r>
            <a:r>
              <a:rPr lang="zh-CN" altLang="en-US" sz="2800" b="1">
                <a:solidFill>
                  <a:srgbClr val="FF0000"/>
                </a:solidFill>
              </a:rPr>
              <a:t>叶结点</a:t>
            </a:r>
            <a:r>
              <a:rPr lang="zh-CN" altLang="en-US" sz="2800" b="1"/>
              <a:t>，然后在解空间树中从该叶结点开始向根结点回溯，构造最优解。</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FBF15681-85FB-4384-83A6-39C06A46EC6E}"/>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a:latin typeface="华文中宋" panose="02010600040101010101" pitchFamily="2" charset="-122"/>
              </a:rPr>
              <a:t>两种结点类型</a:t>
            </a:r>
          </a:p>
        </p:txBody>
      </p:sp>
      <p:sp>
        <p:nvSpPr>
          <p:cNvPr id="114691" name="Rectangle 3">
            <a:extLst>
              <a:ext uri="{FF2B5EF4-FFF2-40B4-BE49-F238E27FC236}">
                <a16:creationId xmlns:a16="http://schemas.microsoft.com/office/drawing/2014/main" id="{AAD2219A-D0BE-4495-90FB-A87F77C238CD}"/>
              </a:ext>
            </a:extLst>
          </p:cNvPr>
          <p:cNvSpPr>
            <a:spLocks noGrp="1" noChangeArrowheads="1"/>
          </p:cNvSpPr>
          <p:nvPr>
            <p:ph type="body" idx="1"/>
          </p:nvPr>
        </p:nvSpPr>
        <p:spPr bwMode="auto">
          <a:xfrm>
            <a:off x="685800" y="1524000"/>
            <a:ext cx="77724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800" b="1">
                <a:latin typeface="华文中宋" panose="02010600040101010101" pitchFamily="2" charset="-122"/>
              </a:rPr>
              <a:t>子集树结点类型</a:t>
            </a:r>
            <a:r>
              <a:rPr lang="en-US" altLang="zh-CN" sz="2800" b="1">
                <a:latin typeface="华文中宋" panose="02010600040101010101" pitchFamily="2" charset="-122"/>
              </a:rPr>
              <a:t>bbnode</a:t>
            </a:r>
          </a:p>
        </p:txBody>
      </p:sp>
      <p:sp>
        <p:nvSpPr>
          <p:cNvPr id="114692" name="Rectangle 4">
            <a:extLst>
              <a:ext uri="{FF2B5EF4-FFF2-40B4-BE49-F238E27FC236}">
                <a16:creationId xmlns:a16="http://schemas.microsoft.com/office/drawing/2014/main" id="{2D4CF44B-516F-4284-B864-17E60C44BAE9}"/>
              </a:ext>
            </a:extLst>
          </p:cNvPr>
          <p:cNvSpPr>
            <a:spLocks noChangeArrowheads="1"/>
          </p:cNvSpPr>
          <p:nvPr/>
        </p:nvSpPr>
        <p:spPr bwMode="auto">
          <a:xfrm>
            <a:off x="609600" y="3200400"/>
            <a:ext cx="7772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zh-CN" altLang="en-US" sz="2800" b="1" dirty="0">
                <a:latin typeface="华文中宋" panose="02010600040101010101" pitchFamily="2" charset="-122"/>
                <a:ea typeface="华文中宋" panose="02010600040101010101" pitchFamily="2" charset="-122"/>
              </a:rPr>
              <a:t>堆</a:t>
            </a:r>
            <a:r>
              <a:rPr lang="zh-CN" altLang="en-US" sz="2800" b="1" dirty="0">
                <a:solidFill>
                  <a:schemeClr val="tx2"/>
                </a:solidFill>
                <a:latin typeface="华文中宋" panose="02010600040101010101" pitchFamily="2" charset="-122"/>
                <a:ea typeface="华文中宋" panose="02010600040101010101" pitchFamily="2" charset="-122"/>
              </a:rPr>
              <a:t>结点类型</a:t>
            </a:r>
            <a:r>
              <a:rPr lang="en-US" altLang="zh-CN" sz="2800" b="1" dirty="0" err="1">
                <a:solidFill>
                  <a:schemeClr val="tx2"/>
                </a:solidFill>
                <a:latin typeface="华文中宋" panose="02010600040101010101" pitchFamily="2" charset="-122"/>
                <a:ea typeface="华文中宋" panose="02010600040101010101" pitchFamily="2" charset="-122"/>
              </a:rPr>
              <a:t>Heap</a:t>
            </a:r>
            <a:r>
              <a:rPr lang="en-US" altLang="zh-CN" sz="2800" b="1" dirty="0" err="1">
                <a:latin typeface="华文中宋" panose="02010600040101010101" pitchFamily="2" charset="-122"/>
                <a:ea typeface="华文中宋" panose="02010600040101010101" pitchFamily="2" charset="-122"/>
              </a:rPr>
              <a:t>node</a:t>
            </a:r>
            <a:r>
              <a:rPr lang="en-US" altLang="zh-CN" sz="2800" b="1" dirty="0">
                <a:latin typeface="华文中宋" panose="02010600040101010101" pitchFamily="2" charset="-122"/>
                <a:ea typeface="华文中宋" panose="02010600040101010101" pitchFamily="2" charset="-122"/>
              </a:rPr>
              <a:t>:</a:t>
            </a:r>
            <a:r>
              <a:rPr lang="zh-CN" altLang="en-US" sz="2800" b="1" dirty="0">
                <a:latin typeface="华文中宋" panose="02010600040101010101" pitchFamily="2" charset="-122"/>
                <a:ea typeface="华文中宋" panose="02010600040101010101" pitchFamily="2" charset="-122"/>
              </a:rPr>
              <a:t>最大堆</a:t>
            </a:r>
            <a:r>
              <a:rPr lang="en-US" altLang="zh-CN" sz="2800" b="1" dirty="0">
                <a:latin typeface="华文中宋" panose="02010600040101010101" pitchFamily="2" charset="-122"/>
                <a:ea typeface="华文中宋" panose="02010600040101010101" pitchFamily="2" charset="-122"/>
              </a:rPr>
              <a:t>H</a:t>
            </a:r>
          </a:p>
        </p:txBody>
      </p:sp>
      <p:graphicFrame>
        <p:nvGraphicFramePr>
          <p:cNvPr id="114702" name="Group 14">
            <a:extLst>
              <a:ext uri="{FF2B5EF4-FFF2-40B4-BE49-F238E27FC236}">
                <a16:creationId xmlns:a16="http://schemas.microsoft.com/office/drawing/2014/main" id="{EEFD0B26-F8BB-4625-BC9A-3DD0ABA364B8}"/>
              </a:ext>
            </a:extLst>
          </p:cNvPr>
          <p:cNvGraphicFramePr>
            <a:graphicFrameLocks noGrp="1"/>
          </p:cNvGraphicFramePr>
          <p:nvPr/>
        </p:nvGraphicFramePr>
        <p:xfrm>
          <a:off x="3124200" y="2133600"/>
          <a:ext cx="1447800" cy="1092200"/>
        </p:xfrm>
        <a:graphic>
          <a:graphicData uri="http://schemas.openxmlformats.org/drawingml/2006/table">
            <a:tbl>
              <a:tblPr/>
              <a:tblGrid>
                <a:gridCol w="1447800">
                  <a:extLst>
                    <a:ext uri="{9D8B030D-6E8A-4147-A177-3AD203B41FA5}">
                      <a16:colId xmlns:a16="http://schemas.microsoft.com/office/drawing/2014/main" val="20000"/>
                    </a:ext>
                  </a:extLst>
                </a:gridCol>
              </a:tblGrid>
              <a:tr h="533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dirty="0">
                          <a:ln>
                            <a:noFill/>
                          </a:ln>
                          <a:solidFill>
                            <a:schemeClr val="tx1"/>
                          </a:solidFill>
                          <a:effectLst/>
                          <a:latin typeface="Times New Roman" charset="0"/>
                          <a:ea typeface="华文中宋" panose="02010600040101010101" pitchFamily="2" charset="-122"/>
                        </a:rPr>
                        <a:t>parent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8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dirty="0" err="1">
                          <a:ln>
                            <a:noFill/>
                          </a:ln>
                          <a:solidFill>
                            <a:schemeClr val="tx1"/>
                          </a:solidFill>
                          <a:effectLst/>
                          <a:latin typeface="Times New Roman" charset="0"/>
                          <a:ea typeface="华文中宋" panose="02010600040101010101" pitchFamily="2" charset="-122"/>
                        </a:rPr>
                        <a:t>Lchild</a:t>
                      </a:r>
                      <a:endParaRPr kumimoji="1" lang="en-US" altLang="zh-CN" sz="2800" b="0" i="0" u="none" strike="noStrike" cap="none" normalizeH="0" baseline="0" dirty="0">
                        <a:ln>
                          <a:noFill/>
                        </a:ln>
                        <a:solidFill>
                          <a:schemeClr val="tx1"/>
                        </a:solidFill>
                        <a:effectLst/>
                        <a:latin typeface="Times New Roman" charset="0"/>
                        <a:ea typeface="华文中宋" panose="0201060004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14735" name="Group 47">
            <a:extLst>
              <a:ext uri="{FF2B5EF4-FFF2-40B4-BE49-F238E27FC236}">
                <a16:creationId xmlns:a16="http://schemas.microsoft.com/office/drawing/2014/main" id="{CDA2604E-A516-4770-9FB9-5912924993C6}"/>
              </a:ext>
            </a:extLst>
          </p:cNvPr>
          <p:cNvGraphicFramePr>
            <a:graphicFrameLocks noGrp="1"/>
          </p:cNvGraphicFramePr>
          <p:nvPr/>
        </p:nvGraphicFramePr>
        <p:xfrm>
          <a:off x="4191000" y="4013200"/>
          <a:ext cx="1447800" cy="1930400"/>
        </p:xfrm>
        <a:graphic>
          <a:graphicData uri="http://schemas.openxmlformats.org/drawingml/2006/table">
            <a:tbl>
              <a:tblPr/>
              <a:tblGrid>
                <a:gridCol w="1447800">
                  <a:extLst>
                    <a:ext uri="{9D8B030D-6E8A-4147-A177-3AD203B41FA5}">
                      <a16:colId xmlns:a16="http://schemas.microsoft.com/office/drawing/2014/main" val="20000"/>
                    </a:ext>
                  </a:extLst>
                </a:gridCol>
              </a:tblGrid>
              <a:tr h="863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dirty="0" err="1">
                          <a:ln>
                            <a:noFill/>
                          </a:ln>
                          <a:solidFill>
                            <a:schemeClr val="tx1"/>
                          </a:solidFill>
                          <a:effectLst/>
                          <a:latin typeface="Times New Roman" charset="0"/>
                          <a:ea typeface="华文中宋" panose="02010600040101010101" pitchFamily="2" charset="-122"/>
                        </a:rPr>
                        <a:t>ptr</a:t>
                      </a:r>
                      <a:endParaRPr kumimoji="1" lang="en-US" altLang="zh-CN" sz="2800" b="0" i="0" u="none" strike="noStrike" cap="none" normalizeH="0" baseline="0" dirty="0">
                        <a:ln>
                          <a:noFill/>
                        </a:ln>
                        <a:solidFill>
                          <a:schemeClr val="tx1"/>
                        </a:solidFill>
                        <a:effectLst/>
                        <a:latin typeface="Times New Roman" charset="0"/>
                        <a:ea typeface="华文中宋" panose="02010600040101010101" pitchFamily="2" charset="-122"/>
                      </a:endParaRP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3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err="1">
                          <a:ln>
                            <a:noFill/>
                          </a:ln>
                          <a:solidFill>
                            <a:srgbClr val="FF0000"/>
                          </a:solidFill>
                          <a:effectLst/>
                          <a:latin typeface="Times New Roman" charset="0"/>
                          <a:ea typeface="华文中宋" panose="02010600040101010101" pitchFamily="2" charset="-122"/>
                        </a:rPr>
                        <a:t>uweight</a:t>
                      </a:r>
                      <a:endParaRPr kumimoji="1" lang="en-US" altLang="zh-CN" sz="2800" b="1" i="0" u="none" strike="noStrike" cap="none" normalizeH="0" baseline="0" dirty="0">
                        <a:ln>
                          <a:noFill/>
                        </a:ln>
                        <a:solidFill>
                          <a:srgbClr val="FF0000"/>
                        </a:solidFill>
                        <a:effectLst/>
                        <a:latin typeface="Times New Roman" charset="0"/>
                        <a:ea typeface="华文中宋" panose="0201060004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3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dirty="0">
                          <a:ln>
                            <a:noFill/>
                          </a:ln>
                          <a:solidFill>
                            <a:schemeClr val="tx1"/>
                          </a:solidFill>
                          <a:effectLst/>
                          <a:latin typeface="Times New Roman" charset="0"/>
                          <a:ea typeface="华文中宋" panose="02010600040101010101" pitchFamily="2" charset="-122"/>
                        </a:rPr>
                        <a:t>level</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14727" name="Line 39">
            <a:extLst>
              <a:ext uri="{FF2B5EF4-FFF2-40B4-BE49-F238E27FC236}">
                <a16:creationId xmlns:a16="http://schemas.microsoft.com/office/drawing/2014/main" id="{7109427A-8E6A-4208-AEC5-8DD0F65844F8}"/>
              </a:ext>
            </a:extLst>
          </p:cNvPr>
          <p:cNvSpPr>
            <a:spLocks noChangeShapeType="1"/>
          </p:cNvSpPr>
          <p:nvPr/>
        </p:nvSpPr>
        <p:spPr bwMode="auto">
          <a:xfrm>
            <a:off x="4191000" y="4419600"/>
            <a:ext cx="1447800" cy="0"/>
          </a:xfrm>
          <a:prstGeom prst="line">
            <a:avLst/>
          </a:prstGeom>
          <a:noFill/>
          <a:ln w="22225">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 name="Group 44">
            <a:extLst>
              <a:ext uri="{FF2B5EF4-FFF2-40B4-BE49-F238E27FC236}">
                <a16:creationId xmlns:a16="http://schemas.microsoft.com/office/drawing/2014/main" id="{E7E3CFC7-731A-4F04-8640-359718C01F87}"/>
              </a:ext>
            </a:extLst>
          </p:cNvPr>
          <p:cNvGrpSpPr>
            <a:grpSpLocks/>
          </p:cNvGrpSpPr>
          <p:nvPr/>
        </p:nvGrpSpPr>
        <p:grpSpPr bwMode="auto">
          <a:xfrm>
            <a:off x="2627313" y="4190997"/>
            <a:ext cx="1411288" cy="609600"/>
            <a:chOff x="1655" y="2640"/>
            <a:chExt cx="889" cy="384"/>
          </a:xfrm>
        </p:grpSpPr>
        <p:sp>
          <p:nvSpPr>
            <p:cNvPr id="46107" name="Text Box 42">
              <a:extLst>
                <a:ext uri="{FF2B5EF4-FFF2-40B4-BE49-F238E27FC236}">
                  <a16:creationId xmlns:a16="http://schemas.microsoft.com/office/drawing/2014/main" id="{A7C60E92-0A3B-4819-A090-6AA11D2CBED5}"/>
                </a:ext>
              </a:extLst>
            </p:cNvPr>
            <p:cNvSpPr txBox="1">
              <a:spLocks noChangeArrowheads="1"/>
            </p:cNvSpPr>
            <p:nvPr/>
          </p:nvSpPr>
          <p:spPr bwMode="auto">
            <a:xfrm>
              <a:off x="1655" y="2640"/>
              <a:ext cx="88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dirty="0" err="1">
                  <a:latin typeface="华文中宋" panose="02010600040101010101" pitchFamily="2" charset="-122"/>
                  <a:ea typeface="华文中宋" panose="02010600040101010101" pitchFamily="2" charset="-122"/>
                </a:rPr>
                <a:t>bbnode</a:t>
              </a:r>
              <a:endParaRPr lang="en-US" altLang="zh-CN" b="1" dirty="0">
                <a:latin typeface="华文中宋" panose="02010600040101010101" pitchFamily="2" charset="-122"/>
                <a:ea typeface="华文中宋" panose="02010600040101010101" pitchFamily="2" charset="-122"/>
              </a:endParaRPr>
            </a:p>
          </p:txBody>
        </p:sp>
        <p:sp>
          <p:nvSpPr>
            <p:cNvPr id="46108" name="AutoShape 43">
              <a:extLst>
                <a:ext uri="{FF2B5EF4-FFF2-40B4-BE49-F238E27FC236}">
                  <a16:creationId xmlns:a16="http://schemas.microsoft.com/office/drawing/2014/main" id="{2DB3100F-5EF8-4534-A420-5414163C2411}"/>
                </a:ext>
              </a:extLst>
            </p:cNvPr>
            <p:cNvSpPr>
              <a:spLocks/>
            </p:cNvSpPr>
            <p:nvPr/>
          </p:nvSpPr>
          <p:spPr bwMode="auto">
            <a:xfrm>
              <a:off x="2496" y="2640"/>
              <a:ext cx="48" cy="384"/>
            </a:xfrm>
            <a:prstGeom prst="leftBrace">
              <a:avLst>
                <a:gd name="adj1" fmla="val 66667"/>
                <a:gd name="adj2" fmla="val 50000"/>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中宋" panose="02010600040101010101" pitchFamily="2" charset="-122"/>
              </a:endParaRPr>
            </a:p>
          </p:txBody>
        </p:sp>
      </p:grpSp>
      <p:sp>
        <p:nvSpPr>
          <p:cNvPr id="114733" name="AutoShape 45">
            <a:extLst>
              <a:ext uri="{FF2B5EF4-FFF2-40B4-BE49-F238E27FC236}">
                <a16:creationId xmlns:a16="http://schemas.microsoft.com/office/drawing/2014/main" id="{291391A6-05C1-48A1-A0F6-3F6A662FD1A8}"/>
              </a:ext>
            </a:extLst>
          </p:cNvPr>
          <p:cNvSpPr>
            <a:spLocks noChangeArrowheads="1"/>
          </p:cNvSpPr>
          <p:nvPr/>
        </p:nvSpPr>
        <p:spPr bwMode="auto">
          <a:xfrm>
            <a:off x="6934200" y="5181600"/>
            <a:ext cx="1905000" cy="533400"/>
          </a:xfrm>
          <a:prstGeom prst="wedgeRoundRectCallout">
            <a:avLst>
              <a:gd name="adj1" fmla="val -116417"/>
              <a:gd name="adj2" fmla="val -325894"/>
              <a:gd name="adj3" fmla="val 16667"/>
            </a:avLst>
          </a:prstGeom>
          <a:solidFill>
            <a:schemeClr val="bg1"/>
          </a:solidFill>
          <a:ln w="9525">
            <a:solidFill>
              <a:schemeClr val="tx1"/>
            </a:solidFill>
            <a:miter lim="800000"/>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solidFill>
                  <a:srgbClr val="FF0000"/>
                </a:solidFill>
                <a:latin typeface="华文中宋" panose="02010600040101010101" pitchFamily="2" charset="-122"/>
                <a:ea typeface="华文中宋" panose="02010600040101010101" pitchFamily="2" charset="-122"/>
              </a:rPr>
              <a:t>结点优先队列</a:t>
            </a:r>
          </a:p>
        </p:txBody>
      </p:sp>
      <p:sp>
        <p:nvSpPr>
          <p:cNvPr id="114734" name="AutoShape 46">
            <a:extLst>
              <a:ext uri="{FF2B5EF4-FFF2-40B4-BE49-F238E27FC236}">
                <a16:creationId xmlns:a16="http://schemas.microsoft.com/office/drawing/2014/main" id="{7265D58A-175A-43B1-9F93-7A5E50D1B0DF}"/>
              </a:ext>
            </a:extLst>
          </p:cNvPr>
          <p:cNvSpPr>
            <a:spLocks noChangeArrowheads="1"/>
          </p:cNvSpPr>
          <p:nvPr/>
        </p:nvSpPr>
        <p:spPr bwMode="auto">
          <a:xfrm>
            <a:off x="1524000" y="5486400"/>
            <a:ext cx="1219200" cy="533400"/>
          </a:xfrm>
          <a:prstGeom prst="wedgeRoundRectCallout">
            <a:avLst>
              <a:gd name="adj1" fmla="val 179037"/>
              <a:gd name="adj2" fmla="val -135417"/>
              <a:gd name="adj3" fmla="val 16667"/>
            </a:avLst>
          </a:prstGeom>
          <a:solidFill>
            <a:srgbClr val="FFFF00"/>
          </a:solidFill>
          <a:ln w="9525">
            <a:solidFill>
              <a:schemeClr val="tx1"/>
            </a:solidFill>
            <a:miter lim="800000"/>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ea typeface="华文中宋" panose="02010600040101010101" pitchFamily="2" charset="-122"/>
              </a:rPr>
              <a:t>Ew+r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4691">
                                            <p:txEl>
                                              <p:pRg st="0" end="0"/>
                                            </p:txEl>
                                          </p:spTgt>
                                        </p:tgtEl>
                                        <p:attrNameLst>
                                          <p:attrName>style.visibility</p:attrName>
                                        </p:attrNameLst>
                                      </p:cBhvr>
                                      <p:to>
                                        <p:strVal val="visible"/>
                                      </p:to>
                                    </p:set>
                                    <p:anim calcmode="lin" valueType="num">
                                      <p:cBhvr additive="base">
                                        <p:cTn id="7" dur="500" fill="hold"/>
                                        <p:tgtEl>
                                          <p:spTgt spid="1146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46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14702"/>
                                        </p:tgtEl>
                                        <p:attrNameLst>
                                          <p:attrName>style.visibility</p:attrName>
                                        </p:attrNameLst>
                                      </p:cBhvr>
                                      <p:to>
                                        <p:strVal val="visible"/>
                                      </p:to>
                                    </p:set>
                                    <p:anim calcmode="lin" valueType="num">
                                      <p:cBhvr additive="base">
                                        <p:cTn id="13" dur="500" fill="hold"/>
                                        <p:tgtEl>
                                          <p:spTgt spid="114702"/>
                                        </p:tgtEl>
                                        <p:attrNameLst>
                                          <p:attrName>ppt_x</p:attrName>
                                        </p:attrNameLst>
                                      </p:cBhvr>
                                      <p:tavLst>
                                        <p:tav tm="0">
                                          <p:val>
                                            <p:strVal val="0-#ppt_w/2"/>
                                          </p:val>
                                        </p:tav>
                                        <p:tav tm="100000">
                                          <p:val>
                                            <p:strVal val="#ppt_x"/>
                                          </p:val>
                                        </p:tav>
                                      </p:tavLst>
                                    </p:anim>
                                    <p:anim calcmode="lin" valueType="num">
                                      <p:cBhvr additive="base">
                                        <p:cTn id="14" dur="500" fill="hold"/>
                                        <p:tgtEl>
                                          <p:spTgt spid="11470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4692"/>
                                        </p:tgtEl>
                                        <p:attrNameLst>
                                          <p:attrName>style.visibility</p:attrName>
                                        </p:attrNameLst>
                                      </p:cBhvr>
                                      <p:to>
                                        <p:strVal val="visible"/>
                                      </p:to>
                                    </p:set>
                                    <p:anim calcmode="lin" valueType="num">
                                      <p:cBhvr additive="base">
                                        <p:cTn id="19" dur="500" fill="hold"/>
                                        <p:tgtEl>
                                          <p:spTgt spid="114692"/>
                                        </p:tgtEl>
                                        <p:attrNameLst>
                                          <p:attrName>ppt_x</p:attrName>
                                        </p:attrNameLst>
                                      </p:cBhvr>
                                      <p:tavLst>
                                        <p:tav tm="0">
                                          <p:val>
                                            <p:strVal val="0-#ppt_w/2"/>
                                          </p:val>
                                        </p:tav>
                                        <p:tav tm="100000">
                                          <p:val>
                                            <p:strVal val="#ppt_x"/>
                                          </p:val>
                                        </p:tav>
                                      </p:tavLst>
                                    </p:anim>
                                    <p:anim calcmode="lin" valueType="num">
                                      <p:cBhvr additive="base">
                                        <p:cTn id="20" dur="500" fill="hold"/>
                                        <p:tgtEl>
                                          <p:spTgt spid="11469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14735"/>
                                        </p:tgtEl>
                                        <p:attrNameLst>
                                          <p:attrName>style.visibility</p:attrName>
                                        </p:attrNameLst>
                                      </p:cBhvr>
                                      <p:to>
                                        <p:strVal val="visible"/>
                                      </p:to>
                                    </p:set>
                                    <p:anim calcmode="lin" valueType="num">
                                      <p:cBhvr additive="base">
                                        <p:cTn id="25" dur="500" fill="hold"/>
                                        <p:tgtEl>
                                          <p:spTgt spid="114735"/>
                                        </p:tgtEl>
                                        <p:attrNameLst>
                                          <p:attrName>ppt_x</p:attrName>
                                        </p:attrNameLst>
                                      </p:cBhvr>
                                      <p:tavLst>
                                        <p:tav tm="0">
                                          <p:val>
                                            <p:strVal val="0-#ppt_w/2"/>
                                          </p:val>
                                        </p:tav>
                                        <p:tav tm="100000">
                                          <p:val>
                                            <p:strVal val="#ppt_x"/>
                                          </p:val>
                                        </p:tav>
                                      </p:tavLst>
                                    </p:anim>
                                    <p:anim calcmode="lin" valueType="num">
                                      <p:cBhvr additive="base">
                                        <p:cTn id="26" dur="500" fill="hold"/>
                                        <p:tgtEl>
                                          <p:spTgt spid="114735"/>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500"/>
                            </p:stCondLst>
                            <p:childTnLst>
                              <p:par>
                                <p:cTn id="28" presetID="2" presetClass="entr" presetSubtype="8" fill="hold" nodeType="afterEffect">
                                  <p:stCondLst>
                                    <p:cond delay="0"/>
                                  </p:stCondLst>
                                  <p:childTnLst>
                                    <p:set>
                                      <p:cBhvr>
                                        <p:cTn id="29" dur="1" fill="hold">
                                          <p:stCondLst>
                                            <p:cond delay="0"/>
                                          </p:stCondLst>
                                        </p:cTn>
                                        <p:tgtEl>
                                          <p:spTgt spid="114727"/>
                                        </p:tgtEl>
                                        <p:attrNameLst>
                                          <p:attrName>style.visibility</p:attrName>
                                        </p:attrNameLst>
                                      </p:cBhvr>
                                      <p:to>
                                        <p:strVal val="visible"/>
                                      </p:to>
                                    </p:set>
                                    <p:anim calcmode="lin" valueType="num">
                                      <p:cBhvr additive="base">
                                        <p:cTn id="30" dur="500" fill="hold"/>
                                        <p:tgtEl>
                                          <p:spTgt spid="114727"/>
                                        </p:tgtEl>
                                        <p:attrNameLst>
                                          <p:attrName>ppt_x</p:attrName>
                                        </p:attrNameLst>
                                      </p:cBhvr>
                                      <p:tavLst>
                                        <p:tav tm="0">
                                          <p:val>
                                            <p:strVal val="0-#ppt_w/2"/>
                                          </p:val>
                                        </p:tav>
                                        <p:tav tm="100000">
                                          <p:val>
                                            <p:strVal val="#ppt_x"/>
                                          </p:val>
                                        </p:tav>
                                      </p:tavLst>
                                    </p:anim>
                                    <p:anim calcmode="lin" valueType="num">
                                      <p:cBhvr additive="base">
                                        <p:cTn id="31" dur="500" fill="hold"/>
                                        <p:tgtEl>
                                          <p:spTgt spid="114727"/>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8"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additive="base">
                                        <p:cTn id="36" dur="500" fill="hold"/>
                                        <p:tgtEl>
                                          <p:spTgt spid="2"/>
                                        </p:tgtEl>
                                        <p:attrNameLst>
                                          <p:attrName>ppt_x</p:attrName>
                                        </p:attrNameLst>
                                      </p:cBhvr>
                                      <p:tavLst>
                                        <p:tav tm="0">
                                          <p:val>
                                            <p:strVal val="0-#ppt_w/2"/>
                                          </p:val>
                                        </p:tav>
                                        <p:tav tm="100000">
                                          <p:val>
                                            <p:strVal val="#ppt_x"/>
                                          </p:val>
                                        </p:tav>
                                      </p:tavLst>
                                    </p:anim>
                                    <p:anim calcmode="lin" valueType="num">
                                      <p:cBhvr additive="base">
                                        <p:cTn id="37"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114733"/>
                                        </p:tgtEl>
                                        <p:attrNameLst>
                                          <p:attrName>style.visibility</p:attrName>
                                        </p:attrNameLst>
                                      </p:cBhvr>
                                      <p:to>
                                        <p:strVal val="visible"/>
                                      </p:to>
                                    </p:set>
                                    <p:anim calcmode="lin" valueType="num">
                                      <p:cBhvr additive="base">
                                        <p:cTn id="42" dur="500" fill="hold"/>
                                        <p:tgtEl>
                                          <p:spTgt spid="114733"/>
                                        </p:tgtEl>
                                        <p:attrNameLst>
                                          <p:attrName>ppt_x</p:attrName>
                                        </p:attrNameLst>
                                      </p:cBhvr>
                                      <p:tavLst>
                                        <p:tav tm="0">
                                          <p:val>
                                            <p:strVal val="0-#ppt_w/2"/>
                                          </p:val>
                                        </p:tav>
                                        <p:tav tm="100000">
                                          <p:val>
                                            <p:strVal val="#ppt_x"/>
                                          </p:val>
                                        </p:tav>
                                      </p:tavLst>
                                    </p:anim>
                                    <p:anim calcmode="lin" valueType="num">
                                      <p:cBhvr additive="base">
                                        <p:cTn id="43" dur="500" fill="hold"/>
                                        <p:tgtEl>
                                          <p:spTgt spid="114733"/>
                                        </p:tgtEl>
                                        <p:attrNameLst>
                                          <p:attrName>ppt_y</p:attrName>
                                        </p:attrNameLst>
                                      </p:cBhvr>
                                      <p:tavLst>
                                        <p:tav tm="0">
                                          <p:val>
                                            <p:strVal val="#ppt_y"/>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8" fill="hold" grpId="0" nodeType="clickEffect">
                                  <p:stCondLst>
                                    <p:cond delay="0"/>
                                  </p:stCondLst>
                                  <p:childTnLst>
                                    <p:set>
                                      <p:cBhvr>
                                        <p:cTn id="47" dur="1" fill="hold">
                                          <p:stCondLst>
                                            <p:cond delay="0"/>
                                          </p:stCondLst>
                                        </p:cTn>
                                        <p:tgtEl>
                                          <p:spTgt spid="114734"/>
                                        </p:tgtEl>
                                        <p:attrNameLst>
                                          <p:attrName>style.visibility</p:attrName>
                                        </p:attrNameLst>
                                      </p:cBhvr>
                                      <p:to>
                                        <p:strVal val="visible"/>
                                      </p:to>
                                    </p:set>
                                    <p:anim calcmode="lin" valueType="num">
                                      <p:cBhvr additive="base">
                                        <p:cTn id="48" dur="500" fill="hold"/>
                                        <p:tgtEl>
                                          <p:spTgt spid="114734"/>
                                        </p:tgtEl>
                                        <p:attrNameLst>
                                          <p:attrName>ppt_x</p:attrName>
                                        </p:attrNameLst>
                                      </p:cBhvr>
                                      <p:tavLst>
                                        <p:tav tm="0">
                                          <p:val>
                                            <p:strVal val="0-#ppt_w/2"/>
                                          </p:val>
                                        </p:tav>
                                        <p:tav tm="100000">
                                          <p:val>
                                            <p:strVal val="#ppt_x"/>
                                          </p:val>
                                        </p:tav>
                                      </p:tavLst>
                                    </p:anim>
                                    <p:anim calcmode="lin" valueType="num">
                                      <p:cBhvr additive="base">
                                        <p:cTn id="49" dur="500" fill="hold"/>
                                        <p:tgtEl>
                                          <p:spTgt spid="1147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autoUpdateAnimBg="0"/>
      <p:bldP spid="114692" grpId="0" autoUpdateAnimBg="0"/>
      <p:bldP spid="114733" grpId="0" animBg="1" autoUpdateAnimBg="0"/>
      <p:bldP spid="114734" grpId="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1BB05D5D-E695-4BED-8A6F-52F1AFA2E0B3}"/>
              </a:ext>
            </a:extLst>
          </p:cNvPr>
          <p:cNvSpPr>
            <a:spLocks noGrp="1" noChangeArrowheads="1"/>
          </p:cNvSpPr>
          <p:nvPr>
            <p:ph type="title"/>
          </p:nvPr>
        </p:nvSpPr>
        <p:spPr bwMode="auto">
          <a:xfrm>
            <a:off x="685800" y="4572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a:solidFill>
                  <a:srgbClr val="FF0000"/>
                </a:solidFill>
                <a:latin typeface="华文中宋" panose="02010600040101010101" pitchFamily="2" charset="-122"/>
              </a:rPr>
              <a:t>函数</a:t>
            </a:r>
          </a:p>
        </p:txBody>
      </p:sp>
      <p:sp>
        <p:nvSpPr>
          <p:cNvPr id="115715" name="Rectangle 3">
            <a:extLst>
              <a:ext uri="{FF2B5EF4-FFF2-40B4-BE49-F238E27FC236}">
                <a16:creationId xmlns:a16="http://schemas.microsoft.com/office/drawing/2014/main" id="{4C0CE5F5-E888-4C0D-850F-B7D2B50BD56C}"/>
              </a:ext>
            </a:extLst>
          </p:cNvPr>
          <p:cNvSpPr>
            <a:spLocks noGrp="1" noChangeArrowheads="1"/>
          </p:cNvSpPr>
          <p:nvPr>
            <p:ph type="body" idx="1"/>
          </p:nvPr>
        </p:nvSpPr>
        <p:spPr bwMode="auto">
          <a:xfrm>
            <a:off x="685800" y="1295400"/>
            <a:ext cx="8153400" cy="3657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10000"/>
              </a:lnSpc>
            </a:pPr>
            <a:r>
              <a:rPr lang="zh-CN" altLang="en-US" sz="2800" b="1"/>
              <a:t>函数</a:t>
            </a:r>
            <a:r>
              <a:rPr lang="en-US" altLang="zh-CN" sz="2800" b="1"/>
              <a:t>AddLiveNode</a:t>
            </a:r>
            <a:r>
              <a:rPr lang="zh-CN" altLang="en-US" sz="2800" b="1"/>
              <a:t>：</a:t>
            </a:r>
            <a:r>
              <a:rPr lang="zh-CN" altLang="en-US" sz="2800" b="1">
                <a:latin typeface="华文中宋" panose="02010600040101010101" pitchFamily="2" charset="-122"/>
              </a:rPr>
              <a:t>将活结点加入到子集树中，并产生一个堆</a:t>
            </a:r>
            <a:r>
              <a:rPr lang="zh-CN" altLang="en-US" sz="2800" b="1">
                <a:solidFill>
                  <a:schemeClr val="tx2"/>
                </a:solidFill>
                <a:latin typeface="华文中宋" panose="02010600040101010101" pitchFamily="2" charset="-122"/>
              </a:rPr>
              <a:t>类型</a:t>
            </a:r>
            <a:r>
              <a:rPr lang="en-US" altLang="zh-CN" sz="2800" b="1">
                <a:solidFill>
                  <a:schemeClr val="tx2"/>
                </a:solidFill>
                <a:latin typeface="华文中宋" panose="02010600040101010101" pitchFamily="2" charset="-122"/>
              </a:rPr>
              <a:t>Heap</a:t>
            </a:r>
            <a:r>
              <a:rPr lang="en-US" altLang="zh-CN" sz="2800" b="1">
                <a:latin typeface="华文中宋" panose="02010600040101010101" pitchFamily="2" charset="-122"/>
              </a:rPr>
              <a:t>node</a:t>
            </a:r>
            <a:r>
              <a:rPr lang="zh-CN" altLang="en-US" sz="2800" b="1">
                <a:solidFill>
                  <a:schemeClr val="tx2"/>
                </a:solidFill>
                <a:latin typeface="华文中宋" panose="02010600040101010101" pitchFamily="2" charset="-122"/>
              </a:rPr>
              <a:t>结点加入到</a:t>
            </a:r>
            <a:r>
              <a:rPr lang="zh-CN" altLang="en-US" sz="2800" b="1">
                <a:latin typeface="华文中宋" panose="02010600040101010101" pitchFamily="2" charset="-122"/>
              </a:rPr>
              <a:t>表示活结点优先队列的最大堆</a:t>
            </a:r>
            <a:r>
              <a:rPr lang="en-US" altLang="zh-CN" sz="2800" b="1"/>
              <a:t>H</a:t>
            </a:r>
            <a:r>
              <a:rPr lang="zh-CN" altLang="en-US" sz="2800" b="1">
                <a:latin typeface="华文中宋" panose="02010600040101010101" pitchFamily="2" charset="-122"/>
              </a:rPr>
              <a:t>中，</a:t>
            </a:r>
          </a:p>
          <a:p>
            <a:pPr eaLnBrk="1" hangingPunct="1">
              <a:lnSpc>
                <a:spcPct val="110000"/>
              </a:lnSpc>
            </a:pPr>
            <a:r>
              <a:rPr lang="zh-CN" altLang="en-US" sz="2800" b="1">
                <a:latin typeface="华文中宋" panose="02010600040101010101" pitchFamily="2" charset="-122"/>
              </a:rPr>
              <a:t>涉及的有关数据：</a:t>
            </a:r>
          </a:p>
          <a:p>
            <a:pPr lvl="1" eaLnBrk="1" hangingPunct="1">
              <a:lnSpc>
                <a:spcPct val="110000"/>
              </a:lnSpc>
            </a:pPr>
            <a:r>
              <a:rPr lang="zh-CN" altLang="en-US" b="1">
                <a:latin typeface="华文中宋" panose="02010600040101010101" pitchFamily="2" charset="-122"/>
              </a:rPr>
              <a:t>优先级（上界）</a:t>
            </a:r>
            <a:r>
              <a:rPr lang="en-US" altLang="zh-CN" b="1">
                <a:latin typeface="华文中宋" panose="02010600040101010101" pitchFamily="2" charset="-122"/>
              </a:rPr>
              <a:t>wt,</a:t>
            </a:r>
            <a:r>
              <a:rPr lang="zh-CN" altLang="en-US" b="1">
                <a:latin typeface="华文中宋" panose="02010600040101010101" pitchFamily="2" charset="-122"/>
              </a:rPr>
              <a:t>子集树当前结点的父结点</a:t>
            </a:r>
            <a:r>
              <a:rPr lang="en-US" altLang="zh-CN" b="1">
                <a:latin typeface="华文中宋" panose="02010600040101010101" pitchFamily="2" charset="-122"/>
              </a:rPr>
              <a:t>E</a:t>
            </a:r>
            <a:r>
              <a:rPr lang="zh-CN" altLang="en-US" b="1">
                <a:latin typeface="华文中宋" panose="02010600040101010101" pitchFamily="2" charset="-122"/>
              </a:rPr>
              <a:t>，是否左儿子标志</a:t>
            </a:r>
            <a:r>
              <a:rPr lang="en-US" altLang="zh-CN" b="1">
                <a:latin typeface="华文中宋" panose="02010600040101010101" pitchFamily="2" charset="-122"/>
              </a:rPr>
              <a:t>ch,</a:t>
            </a:r>
            <a:r>
              <a:rPr lang="zh-CN" altLang="en-US" b="1">
                <a:latin typeface="华文中宋" panose="02010600040101010101" pitchFamily="2" charset="-122"/>
              </a:rPr>
              <a:t>层次</a:t>
            </a:r>
            <a:r>
              <a:rPr lang="en-US" altLang="zh-CN" b="1">
                <a:latin typeface="华文中宋" panose="02010600040101010101" pitchFamily="2" charset="-122"/>
              </a:rPr>
              <a:t>lev</a:t>
            </a:r>
            <a:r>
              <a:rPr lang="zh-CN" altLang="en-US" b="1">
                <a:latin typeface="华文中宋" panose="02010600040101010101" pitchFamily="2" charset="-122"/>
              </a:rPr>
              <a:t>，</a:t>
            </a:r>
          </a:p>
          <a:p>
            <a:pPr lvl="1" eaLnBrk="1" hangingPunct="1">
              <a:lnSpc>
                <a:spcPct val="110000"/>
              </a:lnSpc>
            </a:pPr>
            <a:r>
              <a:rPr lang="zh-CN" altLang="en-US" b="1">
                <a:latin typeface="华文中宋" panose="02010600040101010101" pitchFamily="2" charset="-122"/>
              </a:rPr>
              <a:t>更新堆</a:t>
            </a:r>
            <a:r>
              <a:rPr lang="en-US" altLang="zh-CN" b="1">
                <a:latin typeface="华文中宋" panose="02010600040101010101" pitchFamily="2" charset="-122"/>
              </a:rPr>
              <a:t>H</a:t>
            </a:r>
          </a:p>
        </p:txBody>
      </p:sp>
      <p:sp>
        <p:nvSpPr>
          <p:cNvPr id="115716" name="Rectangle 4">
            <a:extLst>
              <a:ext uri="{FF2B5EF4-FFF2-40B4-BE49-F238E27FC236}">
                <a16:creationId xmlns:a16="http://schemas.microsoft.com/office/drawing/2014/main" id="{21725248-3E00-4393-89DB-4A31B3522477}"/>
              </a:ext>
            </a:extLst>
          </p:cNvPr>
          <p:cNvSpPr>
            <a:spLocks noChangeArrowheads="1"/>
          </p:cNvSpPr>
          <p:nvPr/>
        </p:nvSpPr>
        <p:spPr bwMode="auto">
          <a:xfrm>
            <a:off x="609600" y="4953000"/>
            <a:ext cx="81534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zh-CN" altLang="en-US" sz="2800" b="1">
                <a:latin typeface="华文中宋" panose="02010600040101010101" pitchFamily="2" charset="-122"/>
                <a:ea typeface="华文中宋" panose="02010600040101010101" pitchFamily="2" charset="-122"/>
              </a:rPr>
              <a:t>函数</a:t>
            </a:r>
            <a:r>
              <a:rPr lang="en-US" altLang="zh-CN" sz="2800" b="1">
                <a:latin typeface="华文中宋" panose="02010600040101010101" pitchFamily="2" charset="-122"/>
                <a:ea typeface="华文中宋" panose="02010600040101010101" pitchFamily="2" charset="-122"/>
              </a:rPr>
              <a:t>MaxLoading</a:t>
            </a:r>
            <a:r>
              <a:rPr lang="zh-CN" altLang="en-US" sz="2800" b="1">
                <a:latin typeface="华文中宋" panose="02010600040101010101" pitchFamily="2" charset="-122"/>
                <a:ea typeface="华文中宋" panose="02010600040101010101" pitchFamily="2" charset="-122"/>
              </a:rPr>
              <a:t>：具体实施对解空间的优先队列式分支限界搜索。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5715">
                                            <p:txEl>
                                              <p:pRg st="0" end="0"/>
                                            </p:txEl>
                                          </p:spTgt>
                                        </p:tgtEl>
                                        <p:attrNameLst>
                                          <p:attrName>style.visibility</p:attrName>
                                        </p:attrNameLst>
                                      </p:cBhvr>
                                      <p:to>
                                        <p:strVal val="visible"/>
                                      </p:to>
                                    </p:set>
                                    <p:anim calcmode="lin" valueType="num">
                                      <p:cBhvr additive="base">
                                        <p:cTn id="7" dur="500" fill="hold"/>
                                        <p:tgtEl>
                                          <p:spTgt spid="1157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57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5715">
                                            <p:txEl>
                                              <p:pRg st="1" end="1"/>
                                            </p:txEl>
                                          </p:spTgt>
                                        </p:tgtEl>
                                        <p:attrNameLst>
                                          <p:attrName>style.visibility</p:attrName>
                                        </p:attrNameLst>
                                      </p:cBhvr>
                                      <p:to>
                                        <p:strVal val="visible"/>
                                      </p:to>
                                    </p:set>
                                    <p:anim calcmode="lin" valueType="num">
                                      <p:cBhvr additive="base">
                                        <p:cTn id="13" dur="500" fill="hold"/>
                                        <p:tgtEl>
                                          <p:spTgt spid="11571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5715">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115715">
                                            <p:txEl>
                                              <p:pRg st="2" end="2"/>
                                            </p:txEl>
                                          </p:spTgt>
                                        </p:tgtEl>
                                        <p:attrNameLst>
                                          <p:attrName>style.visibility</p:attrName>
                                        </p:attrNameLst>
                                      </p:cBhvr>
                                      <p:to>
                                        <p:strVal val="visible"/>
                                      </p:to>
                                    </p:set>
                                    <p:anim calcmode="lin" valueType="num">
                                      <p:cBhvr additive="base">
                                        <p:cTn id="17" dur="500" fill="hold"/>
                                        <p:tgtEl>
                                          <p:spTgt spid="115715">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15715">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15715">
                                            <p:txEl>
                                              <p:pRg st="3" end="3"/>
                                            </p:txEl>
                                          </p:spTgt>
                                        </p:tgtEl>
                                        <p:attrNameLst>
                                          <p:attrName>style.visibility</p:attrName>
                                        </p:attrNameLst>
                                      </p:cBhvr>
                                      <p:to>
                                        <p:strVal val="visible"/>
                                      </p:to>
                                    </p:set>
                                    <p:anim calcmode="lin" valueType="num">
                                      <p:cBhvr additive="base">
                                        <p:cTn id="21" dur="500" fill="hold"/>
                                        <p:tgtEl>
                                          <p:spTgt spid="115715">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11571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115716"/>
                                        </p:tgtEl>
                                        <p:attrNameLst>
                                          <p:attrName>style.visibility</p:attrName>
                                        </p:attrNameLst>
                                      </p:cBhvr>
                                      <p:to>
                                        <p:strVal val="visible"/>
                                      </p:to>
                                    </p:set>
                                    <p:anim calcmode="lin" valueType="num">
                                      <p:cBhvr additive="base">
                                        <p:cTn id="27" dur="500" fill="hold"/>
                                        <p:tgtEl>
                                          <p:spTgt spid="115716"/>
                                        </p:tgtEl>
                                        <p:attrNameLst>
                                          <p:attrName>ppt_x</p:attrName>
                                        </p:attrNameLst>
                                      </p:cBhvr>
                                      <p:tavLst>
                                        <p:tav tm="0">
                                          <p:val>
                                            <p:strVal val="0-#ppt_w/2"/>
                                          </p:val>
                                        </p:tav>
                                        <p:tav tm="100000">
                                          <p:val>
                                            <p:strVal val="#ppt_x"/>
                                          </p:val>
                                        </p:tav>
                                      </p:tavLst>
                                    </p:anim>
                                    <p:anim calcmode="lin" valueType="num">
                                      <p:cBhvr additive="base">
                                        <p:cTn id="28" dur="500" fill="hold"/>
                                        <p:tgtEl>
                                          <p:spTgt spid="1157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autoUpdateAnimBg="0"/>
      <p:bldP spid="115716"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AC51CF7B-1981-43C5-ACF2-EEC1AB809890}"/>
              </a:ext>
            </a:extLst>
          </p:cNvPr>
          <p:cNvSpPr>
            <a:spLocks noGrp="1" noChangeArrowheads="1"/>
          </p:cNvSpPr>
          <p:nvPr>
            <p:ph type="title"/>
          </p:nvPr>
        </p:nvSpPr>
        <p:spPr bwMode="auto">
          <a:xfrm>
            <a:off x="685800" y="20574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4800" b="1" dirty="0">
                <a:solidFill>
                  <a:srgbClr val="AC2F36"/>
                </a:solidFill>
              </a:rPr>
              <a:t>6.4 </a:t>
            </a:r>
            <a:r>
              <a:rPr lang="zh-CN" altLang="en-US" sz="4800" b="1" dirty="0">
                <a:solidFill>
                  <a:srgbClr val="AC2F36"/>
                </a:solidFill>
              </a:rPr>
              <a:t>布线问题</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1E5FDDB0-D613-4E13-9B46-586B88EC9EDC}"/>
              </a:ext>
            </a:extLst>
          </p:cNvPr>
          <p:cNvSpPr>
            <a:spLocks noGrp="1" noChangeArrowheads="1"/>
          </p:cNvSpPr>
          <p:nvPr>
            <p:ph type="title"/>
          </p:nvPr>
        </p:nvSpPr>
        <p:spPr bwMode="auto">
          <a:xfrm>
            <a:off x="685800" y="457200"/>
            <a:ext cx="77724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800" b="1"/>
              <a:t>布线问题描述</a:t>
            </a:r>
          </a:p>
        </p:txBody>
      </p:sp>
      <p:sp>
        <p:nvSpPr>
          <p:cNvPr id="50179" name="Rectangle 3">
            <a:extLst>
              <a:ext uri="{FF2B5EF4-FFF2-40B4-BE49-F238E27FC236}">
                <a16:creationId xmlns:a16="http://schemas.microsoft.com/office/drawing/2014/main" id="{9CA55555-08C7-4150-A7E1-5E4D05AE1616}"/>
              </a:ext>
            </a:extLst>
          </p:cNvPr>
          <p:cNvSpPr>
            <a:spLocks noGrp="1" noChangeArrowheads="1"/>
          </p:cNvSpPr>
          <p:nvPr>
            <p:ph type="body" idx="1"/>
          </p:nvPr>
        </p:nvSpPr>
        <p:spPr bwMode="auto">
          <a:xfrm>
            <a:off x="685800" y="1600200"/>
            <a:ext cx="7924800" cy="1600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800" b="1">
                <a:latin typeface="华文中宋" panose="02010600040101010101" pitchFamily="2" charset="-122"/>
              </a:rPr>
              <a:t>印刷电路板：布线区域划分成</a:t>
            </a:r>
            <a:r>
              <a:rPr lang="en-US" altLang="zh-CN" sz="2800" b="1"/>
              <a:t>n</a:t>
            </a:r>
            <a:r>
              <a:rPr lang="en-US" altLang="zh-CN" sz="2800" b="1">
                <a:cs typeface="Times New Roman" panose="02020603050405020304" pitchFamily="18" charset="0"/>
              </a:rPr>
              <a:t>×</a:t>
            </a:r>
            <a:r>
              <a:rPr lang="en-US" altLang="zh-CN" sz="2800" b="1"/>
              <a:t>m</a:t>
            </a:r>
            <a:r>
              <a:rPr lang="zh-CN" altLang="en-US" sz="2800" b="1">
                <a:latin typeface="华文中宋" panose="02010600040101010101" pitchFamily="2" charset="-122"/>
              </a:rPr>
              <a:t>方格阵列</a:t>
            </a:r>
          </a:p>
          <a:p>
            <a:pPr eaLnBrk="1" hangingPunct="1"/>
            <a:r>
              <a:rPr lang="zh-CN" altLang="en-US" sz="2800" b="1">
                <a:latin typeface="华文中宋" panose="02010600040101010101" pitchFamily="2" charset="-122"/>
              </a:rPr>
              <a:t>内有</a:t>
            </a:r>
            <a:r>
              <a:rPr lang="en-US" altLang="zh-CN" sz="2800" b="1">
                <a:latin typeface="华文中宋" panose="02010600040101010101" pitchFamily="2" charset="-122"/>
              </a:rPr>
              <a:t>2</a:t>
            </a:r>
            <a:r>
              <a:rPr lang="zh-CN" altLang="en-US" sz="2800" b="1">
                <a:latin typeface="华文中宋" panose="02010600040101010101" pitchFamily="2" charset="-122"/>
              </a:rPr>
              <a:t>个方格</a:t>
            </a:r>
            <a:r>
              <a:rPr lang="en-US" altLang="zh-CN" sz="2800" b="1">
                <a:latin typeface="华文中宋" panose="02010600040101010101" pitchFamily="2" charset="-122"/>
              </a:rPr>
              <a:t>a,b</a:t>
            </a:r>
            <a:r>
              <a:rPr lang="zh-CN" altLang="en-US" sz="2800" b="1">
                <a:latin typeface="华文中宋" panose="02010600040101010101" pitchFamily="2" charset="-122"/>
              </a:rPr>
              <a:t>。现须确定方格</a:t>
            </a:r>
            <a:r>
              <a:rPr lang="en-US" altLang="zh-CN" sz="2800" b="1"/>
              <a:t>a</a:t>
            </a:r>
            <a:r>
              <a:rPr lang="zh-CN" altLang="en-US" sz="2800" b="1">
                <a:latin typeface="华文中宋" panose="02010600040101010101" pitchFamily="2" charset="-122"/>
              </a:rPr>
              <a:t>的中点到方格</a:t>
            </a:r>
            <a:r>
              <a:rPr lang="en-US" altLang="zh-CN" sz="2800" b="1"/>
              <a:t>b</a:t>
            </a:r>
            <a:r>
              <a:rPr lang="zh-CN" altLang="en-US" sz="2800" b="1">
                <a:latin typeface="华文中宋" panose="02010600040101010101" pitchFamily="2" charset="-122"/>
              </a:rPr>
              <a:t>的中点的最短布线方案</a:t>
            </a:r>
            <a:r>
              <a:rPr lang="zh-CN" altLang="en-US" sz="2800" b="1"/>
              <a:t> </a:t>
            </a:r>
          </a:p>
        </p:txBody>
      </p:sp>
      <p:graphicFrame>
        <p:nvGraphicFramePr>
          <p:cNvPr id="118995" name="Group 211">
            <a:extLst>
              <a:ext uri="{FF2B5EF4-FFF2-40B4-BE49-F238E27FC236}">
                <a16:creationId xmlns:a16="http://schemas.microsoft.com/office/drawing/2014/main" id="{924E7905-165C-409A-A699-D6EC668247E8}"/>
              </a:ext>
            </a:extLst>
          </p:cNvPr>
          <p:cNvGraphicFramePr>
            <a:graphicFrameLocks noGrp="1"/>
          </p:cNvGraphicFramePr>
          <p:nvPr/>
        </p:nvGraphicFramePr>
        <p:xfrm>
          <a:off x="5410200" y="3048000"/>
          <a:ext cx="2895600" cy="3086100"/>
        </p:xfrm>
        <a:graphic>
          <a:graphicData uri="http://schemas.openxmlformats.org/drawingml/2006/table">
            <a:tbl>
              <a:tblPr/>
              <a:tblGrid>
                <a:gridCol w="381000">
                  <a:extLst>
                    <a:ext uri="{9D8B030D-6E8A-4147-A177-3AD203B41FA5}">
                      <a16:colId xmlns:a16="http://schemas.microsoft.com/office/drawing/2014/main" val="449245349"/>
                    </a:ext>
                  </a:extLst>
                </a:gridCol>
                <a:gridCol w="342900">
                  <a:extLst>
                    <a:ext uri="{9D8B030D-6E8A-4147-A177-3AD203B41FA5}">
                      <a16:colId xmlns:a16="http://schemas.microsoft.com/office/drawing/2014/main" val="603610123"/>
                    </a:ext>
                  </a:extLst>
                </a:gridCol>
                <a:gridCol w="361950">
                  <a:extLst>
                    <a:ext uri="{9D8B030D-6E8A-4147-A177-3AD203B41FA5}">
                      <a16:colId xmlns:a16="http://schemas.microsoft.com/office/drawing/2014/main" val="3929226642"/>
                    </a:ext>
                  </a:extLst>
                </a:gridCol>
                <a:gridCol w="361950">
                  <a:extLst>
                    <a:ext uri="{9D8B030D-6E8A-4147-A177-3AD203B41FA5}">
                      <a16:colId xmlns:a16="http://schemas.microsoft.com/office/drawing/2014/main" val="3962485483"/>
                    </a:ext>
                  </a:extLst>
                </a:gridCol>
                <a:gridCol w="361950">
                  <a:extLst>
                    <a:ext uri="{9D8B030D-6E8A-4147-A177-3AD203B41FA5}">
                      <a16:colId xmlns:a16="http://schemas.microsoft.com/office/drawing/2014/main" val="4228731640"/>
                    </a:ext>
                  </a:extLst>
                </a:gridCol>
                <a:gridCol w="361950">
                  <a:extLst>
                    <a:ext uri="{9D8B030D-6E8A-4147-A177-3AD203B41FA5}">
                      <a16:colId xmlns:a16="http://schemas.microsoft.com/office/drawing/2014/main" val="714666304"/>
                    </a:ext>
                  </a:extLst>
                </a:gridCol>
                <a:gridCol w="361950">
                  <a:extLst>
                    <a:ext uri="{9D8B030D-6E8A-4147-A177-3AD203B41FA5}">
                      <a16:colId xmlns:a16="http://schemas.microsoft.com/office/drawing/2014/main" val="1404977907"/>
                    </a:ext>
                  </a:extLst>
                </a:gridCol>
                <a:gridCol w="361950">
                  <a:extLst>
                    <a:ext uri="{9D8B030D-6E8A-4147-A177-3AD203B41FA5}">
                      <a16:colId xmlns:a16="http://schemas.microsoft.com/office/drawing/2014/main" val="2265575808"/>
                    </a:ext>
                  </a:extLst>
                </a:gridCol>
              </a:tblGrid>
              <a:tr h="2921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81429898"/>
                  </a:ext>
                </a:extLst>
              </a:tr>
              <a:tr h="2921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17796526"/>
                  </a:ext>
                </a:extLst>
              </a:tr>
              <a:tr h="2921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a</a:t>
                      </a: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24180943"/>
                  </a:ext>
                </a:extLst>
              </a:tr>
              <a:tr h="2921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86055207"/>
                  </a:ext>
                </a:extLst>
              </a:tr>
              <a:tr h="2921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91180095"/>
                  </a:ext>
                </a:extLst>
              </a:tr>
              <a:tr h="2921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b</a:t>
                      </a: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60761411"/>
                  </a:ext>
                </a:extLst>
              </a:tr>
              <a:tr h="2921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45238654"/>
                  </a:ext>
                </a:extLst>
              </a:tr>
              <a:tr h="2921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45350705"/>
                  </a:ext>
                </a:extLst>
              </a:tr>
              <a:tr h="29210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L="19050" marR="19050" marT="19050" marB="1905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93734250"/>
                  </a:ext>
                </a:extLst>
              </a:tr>
            </a:tbl>
          </a:graphicData>
        </a:graphic>
      </p:graphicFrame>
      <p:sp>
        <p:nvSpPr>
          <p:cNvPr id="50272" name="Rectangle 200">
            <a:extLst>
              <a:ext uri="{FF2B5EF4-FFF2-40B4-BE49-F238E27FC236}">
                <a16:creationId xmlns:a16="http://schemas.microsoft.com/office/drawing/2014/main" id="{0F6F94DF-CFED-4EC0-AA22-8B370759D54F}"/>
              </a:ext>
            </a:extLst>
          </p:cNvPr>
          <p:cNvSpPr>
            <a:spLocks noChangeArrowheads="1"/>
          </p:cNvSpPr>
          <p:nvPr/>
        </p:nvSpPr>
        <p:spPr bwMode="auto">
          <a:xfrm>
            <a:off x="685800" y="3200400"/>
            <a:ext cx="45720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zh-CN" altLang="en-US" sz="2800" b="1">
                <a:latin typeface="华文中宋" panose="02010600040101010101" pitchFamily="2" charset="-122"/>
                <a:ea typeface="华文中宋" panose="02010600040101010101" pitchFamily="2" charset="-122"/>
              </a:rPr>
              <a:t>布线要求：</a:t>
            </a:r>
          </a:p>
          <a:p>
            <a:pPr lvl="1" eaLnBrk="1" hangingPunct="1">
              <a:spcBef>
                <a:spcPct val="20000"/>
              </a:spcBef>
              <a:buFontTx/>
              <a:buAutoNum type="arabicPeriod"/>
            </a:pPr>
            <a:r>
              <a:rPr lang="zh-CN" altLang="en-US" sz="2800" b="1">
                <a:latin typeface="华文中宋" panose="02010600040101010101" pitchFamily="2" charset="-122"/>
                <a:ea typeface="华文中宋" panose="02010600040101010101" pitchFamily="2" charset="-122"/>
              </a:rPr>
              <a:t>沿直线或直角进行</a:t>
            </a:r>
          </a:p>
          <a:p>
            <a:pPr lvl="1" eaLnBrk="1" hangingPunct="1">
              <a:spcBef>
                <a:spcPct val="20000"/>
              </a:spcBef>
              <a:buFontTx/>
              <a:buAutoNum type="arabicPeriod"/>
            </a:pPr>
            <a:r>
              <a:rPr lang="zh-CN" altLang="en-US" sz="2800" b="1">
                <a:ea typeface="华文中宋" panose="02010600040101010101" pitchFamily="2" charset="-122"/>
              </a:rPr>
              <a:t>已布线的方格做封锁标记</a:t>
            </a:r>
          </a:p>
          <a:p>
            <a:pPr lvl="1" eaLnBrk="1" hangingPunct="1">
              <a:spcBef>
                <a:spcPct val="20000"/>
              </a:spcBef>
              <a:buFontTx/>
              <a:buAutoNum type="arabicPeriod"/>
            </a:pPr>
            <a:r>
              <a:rPr lang="zh-CN" altLang="en-US" sz="2800" b="1">
                <a:ea typeface="华文中宋" panose="02010600040101010101" pitchFamily="2" charset="-122"/>
              </a:rPr>
              <a:t>其他线路不允许穿过被封锁的方格</a:t>
            </a:r>
            <a:endParaRPr lang="zh-CN" altLang="en-US" sz="2800" b="1">
              <a:latin typeface="华文中宋" panose="02010600040101010101" pitchFamily="2" charset="-122"/>
              <a:ea typeface="华文中宋" panose="02010600040101010101" pitchFamily="2" charset="-122"/>
            </a:endParaRPr>
          </a:p>
        </p:txBody>
      </p:sp>
      <p:sp>
        <p:nvSpPr>
          <p:cNvPr id="118986" name="Line 202">
            <a:extLst>
              <a:ext uri="{FF2B5EF4-FFF2-40B4-BE49-F238E27FC236}">
                <a16:creationId xmlns:a16="http://schemas.microsoft.com/office/drawing/2014/main" id="{7128AB52-B586-4248-A4C1-E5333DA50894}"/>
              </a:ext>
            </a:extLst>
          </p:cNvPr>
          <p:cNvSpPr>
            <a:spLocks noChangeShapeType="1"/>
          </p:cNvSpPr>
          <p:nvPr/>
        </p:nvSpPr>
        <p:spPr bwMode="auto">
          <a:xfrm>
            <a:off x="6019800" y="3886200"/>
            <a:ext cx="381000"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987" name="Line 203">
            <a:extLst>
              <a:ext uri="{FF2B5EF4-FFF2-40B4-BE49-F238E27FC236}">
                <a16:creationId xmlns:a16="http://schemas.microsoft.com/office/drawing/2014/main" id="{217DEEA6-A60D-432D-8CB4-73F4CFC25653}"/>
              </a:ext>
            </a:extLst>
          </p:cNvPr>
          <p:cNvSpPr>
            <a:spLocks noChangeShapeType="1"/>
          </p:cNvSpPr>
          <p:nvPr/>
        </p:nvSpPr>
        <p:spPr bwMode="auto">
          <a:xfrm flipV="1">
            <a:off x="6400800" y="3505200"/>
            <a:ext cx="0" cy="3810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988" name="Line 204">
            <a:extLst>
              <a:ext uri="{FF2B5EF4-FFF2-40B4-BE49-F238E27FC236}">
                <a16:creationId xmlns:a16="http://schemas.microsoft.com/office/drawing/2014/main" id="{F3950764-67F4-4B27-A7C8-4A099781183A}"/>
              </a:ext>
            </a:extLst>
          </p:cNvPr>
          <p:cNvSpPr>
            <a:spLocks noChangeShapeType="1"/>
          </p:cNvSpPr>
          <p:nvPr/>
        </p:nvSpPr>
        <p:spPr bwMode="auto">
          <a:xfrm>
            <a:off x="6400800" y="3505200"/>
            <a:ext cx="228600"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989" name="Line 205">
            <a:extLst>
              <a:ext uri="{FF2B5EF4-FFF2-40B4-BE49-F238E27FC236}">
                <a16:creationId xmlns:a16="http://schemas.microsoft.com/office/drawing/2014/main" id="{145D6F11-8F9D-433E-8805-333CFF89EFDE}"/>
              </a:ext>
            </a:extLst>
          </p:cNvPr>
          <p:cNvSpPr>
            <a:spLocks noChangeShapeType="1"/>
          </p:cNvSpPr>
          <p:nvPr/>
        </p:nvSpPr>
        <p:spPr bwMode="auto">
          <a:xfrm>
            <a:off x="6629400" y="3505200"/>
            <a:ext cx="381000"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990" name="Line 206">
            <a:extLst>
              <a:ext uri="{FF2B5EF4-FFF2-40B4-BE49-F238E27FC236}">
                <a16:creationId xmlns:a16="http://schemas.microsoft.com/office/drawing/2014/main" id="{23B39E62-0DC8-4858-9A86-EDB8F597855C}"/>
              </a:ext>
            </a:extLst>
          </p:cNvPr>
          <p:cNvSpPr>
            <a:spLocks noChangeShapeType="1"/>
          </p:cNvSpPr>
          <p:nvPr/>
        </p:nvSpPr>
        <p:spPr bwMode="auto">
          <a:xfrm>
            <a:off x="7010400" y="3505200"/>
            <a:ext cx="0" cy="3810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991" name="Line 207">
            <a:extLst>
              <a:ext uri="{FF2B5EF4-FFF2-40B4-BE49-F238E27FC236}">
                <a16:creationId xmlns:a16="http://schemas.microsoft.com/office/drawing/2014/main" id="{EAE12466-FA9B-4050-9B15-F649C7D4702F}"/>
              </a:ext>
            </a:extLst>
          </p:cNvPr>
          <p:cNvSpPr>
            <a:spLocks noChangeShapeType="1"/>
          </p:cNvSpPr>
          <p:nvPr/>
        </p:nvSpPr>
        <p:spPr bwMode="auto">
          <a:xfrm>
            <a:off x="7010400" y="3886200"/>
            <a:ext cx="0" cy="3810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992" name="Line 208">
            <a:extLst>
              <a:ext uri="{FF2B5EF4-FFF2-40B4-BE49-F238E27FC236}">
                <a16:creationId xmlns:a16="http://schemas.microsoft.com/office/drawing/2014/main" id="{F85755E4-15F8-4DD9-95B8-2EDE9AB8C95E}"/>
              </a:ext>
            </a:extLst>
          </p:cNvPr>
          <p:cNvSpPr>
            <a:spLocks noChangeShapeType="1"/>
          </p:cNvSpPr>
          <p:nvPr/>
        </p:nvSpPr>
        <p:spPr bwMode="auto">
          <a:xfrm>
            <a:off x="7010400" y="4267200"/>
            <a:ext cx="457200"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993" name="Line 209">
            <a:extLst>
              <a:ext uri="{FF2B5EF4-FFF2-40B4-BE49-F238E27FC236}">
                <a16:creationId xmlns:a16="http://schemas.microsoft.com/office/drawing/2014/main" id="{8FCBCC86-B815-44C6-BEC3-476C0A7723FE}"/>
              </a:ext>
            </a:extLst>
          </p:cNvPr>
          <p:cNvSpPr>
            <a:spLocks noChangeShapeType="1"/>
          </p:cNvSpPr>
          <p:nvPr/>
        </p:nvSpPr>
        <p:spPr bwMode="auto">
          <a:xfrm>
            <a:off x="7467600" y="4267200"/>
            <a:ext cx="0" cy="3810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994" name="Line 210">
            <a:extLst>
              <a:ext uri="{FF2B5EF4-FFF2-40B4-BE49-F238E27FC236}">
                <a16:creationId xmlns:a16="http://schemas.microsoft.com/office/drawing/2014/main" id="{7C74FBCE-BB17-403C-A6FB-C61FF9FD5FE9}"/>
              </a:ext>
            </a:extLst>
          </p:cNvPr>
          <p:cNvSpPr>
            <a:spLocks noChangeShapeType="1"/>
          </p:cNvSpPr>
          <p:nvPr/>
        </p:nvSpPr>
        <p:spPr bwMode="auto">
          <a:xfrm>
            <a:off x="7467600" y="4648200"/>
            <a:ext cx="0" cy="3048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18986"/>
                                        </p:tgtEl>
                                        <p:attrNameLst>
                                          <p:attrName>style.visibility</p:attrName>
                                        </p:attrNameLst>
                                      </p:cBhvr>
                                      <p:to>
                                        <p:strVal val="visible"/>
                                      </p:to>
                                    </p:set>
                                    <p:anim calcmode="lin" valueType="num">
                                      <p:cBhvr additive="base">
                                        <p:cTn id="7" dur="500" fill="hold"/>
                                        <p:tgtEl>
                                          <p:spTgt spid="118986"/>
                                        </p:tgtEl>
                                        <p:attrNameLst>
                                          <p:attrName>ppt_x</p:attrName>
                                        </p:attrNameLst>
                                      </p:cBhvr>
                                      <p:tavLst>
                                        <p:tav tm="0">
                                          <p:val>
                                            <p:strVal val="0-#ppt_w/2"/>
                                          </p:val>
                                        </p:tav>
                                        <p:tav tm="100000">
                                          <p:val>
                                            <p:strVal val="#ppt_x"/>
                                          </p:val>
                                        </p:tav>
                                      </p:tavLst>
                                    </p:anim>
                                    <p:anim calcmode="lin" valueType="num">
                                      <p:cBhvr additive="base">
                                        <p:cTn id="8" dur="500" fill="hold"/>
                                        <p:tgtEl>
                                          <p:spTgt spid="11898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nodeType="afterEffect">
                                  <p:stCondLst>
                                    <p:cond delay="1000"/>
                                  </p:stCondLst>
                                  <p:childTnLst>
                                    <p:set>
                                      <p:cBhvr>
                                        <p:cTn id="11" dur="1" fill="hold">
                                          <p:stCondLst>
                                            <p:cond delay="0"/>
                                          </p:stCondLst>
                                        </p:cTn>
                                        <p:tgtEl>
                                          <p:spTgt spid="118987"/>
                                        </p:tgtEl>
                                        <p:attrNameLst>
                                          <p:attrName>style.visibility</p:attrName>
                                        </p:attrNameLst>
                                      </p:cBhvr>
                                      <p:to>
                                        <p:strVal val="visible"/>
                                      </p:to>
                                    </p:set>
                                    <p:anim calcmode="lin" valueType="num">
                                      <p:cBhvr additive="base">
                                        <p:cTn id="12" dur="500" fill="hold"/>
                                        <p:tgtEl>
                                          <p:spTgt spid="118987"/>
                                        </p:tgtEl>
                                        <p:attrNameLst>
                                          <p:attrName>ppt_x</p:attrName>
                                        </p:attrNameLst>
                                      </p:cBhvr>
                                      <p:tavLst>
                                        <p:tav tm="0">
                                          <p:val>
                                            <p:strVal val="0-#ppt_w/2"/>
                                          </p:val>
                                        </p:tav>
                                        <p:tav tm="100000">
                                          <p:val>
                                            <p:strVal val="#ppt_x"/>
                                          </p:val>
                                        </p:tav>
                                      </p:tavLst>
                                    </p:anim>
                                    <p:anim calcmode="lin" valueType="num">
                                      <p:cBhvr additive="base">
                                        <p:cTn id="13" dur="500" fill="hold"/>
                                        <p:tgtEl>
                                          <p:spTgt spid="118987"/>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2000"/>
                            </p:stCondLst>
                            <p:childTnLst>
                              <p:par>
                                <p:cTn id="15" presetID="2" presetClass="entr" presetSubtype="8" fill="hold" nodeType="afterEffect">
                                  <p:stCondLst>
                                    <p:cond delay="1000"/>
                                  </p:stCondLst>
                                  <p:childTnLst>
                                    <p:set>
                                      <p:cBhvr>
                                        <p:cTn id="16" dur="1" fill="hold">
                                          <p:stCondLst>
                                            <p:cond delay="0"/>
                                          </p:stCondLst>
                                        </p:cTn>
                                        <p:tgtEl>
                                          <p:spTgt spid="118988"/>
                                        </p:tgtEl>
                                        <p:attrNameLst>
                                          <p:attrName>style.visibility</p:attrName>
                                        </p:attrNameLst>
                                      </p:cBhvr>
                                      <p:to>
                                        <p:strVal val="visible"/>
                                      </p:to>
                                    </p:set>
                                    <p:anim calcmode="lin" valueType="num">
                                      <p:cBhvr additive="base">
                                        <p:cTn id="17" dur="500" fill="hold"/>
                                        <p:tgtEl>
                                          <p:spTgt spid="118988"/>
                                        </p:tgtEl>
                                        <p:attrNameLst>
                                          <p:attrName>ppt_x</p:attrName>
                                        </p:attrNameLst>
                                      </p:cBhvr>
                                      <p:tavLst>
                                        <p:tav tm="0">
                                          <p:val>
                                            <p:strVal val="0-#ppt_w/2"/>
                                          </p:val>
                                        </p:tav>
                                        <p:tav tm="100000">
                                          <p:val>
                                            <p:strVal val="#ppt_x"/>
                                          </p:val>
                                        </p:tav>
                                      </p:tavLst>
                                    </p:anim>
                                    <p:anim calcmode="lin" valueType="num">
                                      <p:cBhvr additive="base">
                                        <p:cTn id="18" dur="500" fill="hold"/>
                                        <p:tgtEl>
                                          <p:spTgt spid="118988"/>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3500"/>
                            </p:stCondLst>
                            <p:childTnLst>
                              <p:par>
                                <p:cTn id="20" presetID="2" presetClass="entr" presetSubtype="8" fill="hold" nodeType="afterEffect">
                                  <p:stCondLst>
                                    <p:cond delay="1000"/>
                                  </p:stCondLst>
                                  <p:childTnLst>
                                    <p:set>
                                      <p:cBhvr>
                                        <p:cTn id="21" dur="1" fill="hold">
                                          <p:stCondLst>
                                            <p:cond delay="0"/>
                                          </p:stCondLst>
                                        </p:cTn>
                                        <p:tgtEl>
                                          <p:spTgt spid="118989"/>
                                        </p:tgtEl>
                                        <p:attrNameLst>
                                          <p:attrName>style.visibility</p:attrName>
                                        </p:attrNameLst>
                                      </p:cBhvr>
                                      <p:to>
                                        <p:strVal val="visible"/>
                                      </p:to>
                                    </p:set>
                                    <p:anim calcmode="lin" valueType="num">
                                      <p:cBhvr additive="base">
                                        <p:cTn id="22" dur="500" fill="hold"/>
                                        <p:tgtEl>
                                          <p:spTgt spid="118989"/>
                                        </p:tgtEl>
                                        <p:attrNameLst>
                                          <p:attrName>ppt_x</p:attrName>
                                        </p:attrNameLst>
                                      </p:cBhvr>
                                      <p:tavLst>
                                        <p:tav tm="0">
                                          <p:val>
                                            <p:strVal val="0-#ppt_w/2"/>
                                          </p:val>
                                        </p:tav>
                                        <p:tav tm="100000">
                                          <p:val>
                                            <p:strVal val="#ppt_x"/>
                                          </p:val>
                                        </p:tav>
                                      </p:tavLst>
                                    </p:anim>
                                    <p:anim calcmode="lin" valueType="num">
                                      <p:cBhvr additive="base">
                                        <p:cTn id="23" dur="500" fill="hold"/>
                                        <p:tgtEl>
                                          <p:spTgt spid="118989"/>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5000"/>
                            </p:stCondLst>
                            <p:childTnLst>
                              <p:par>
                                <p:cTn id="25" presetID="2" presetClass="entr" presetSubtype="8" fill="hold" nodeType="afterEffect">
                                  <p:stCondLst>
                                    <p:cond delay="1000"/>
                                  </p:stCondLst>
                                  <p:childTnLst>
                                    <p:set>
                                      <p:cBhvr>
                                        <p:cTn id="26" dur="1" fill="hold">
                                          <p:stCondLst>
                                            <p:cond delay="0"/>
                                          </p:stCondLst>
                                        </p:cTn>
                                        <p:tgtEl>
                                          <p:spTgt spid="118990"/>
                                        </p:tgtEl>
                                        <p:attrNameLst>
                                          <p:attrName>style.visibility</p:attrName>
                                        </p:attrNameLst>
                                      </p:cBhvr>
                                      <p:to>
                                        <p:strVal val="visible"/>
                                      </p:to>
                                    </p:set>
                                    <p:anim calcmode="lin" valueType="num">
                                      <p:cBhvr additive="base">
                                        <p:cTn id="27" dur="500" fill="hold"/>
                                        <p:tgtEl>
                                          <p:spTgt spid="118990"/>
                                        </p:tgtEl>
                                        <p:attrNameLst>
                                          <p:attrName>ppt_x</p:attrName>
                                        </p:attrNameLst>
                                      </p:cBhvr>
                                      <p:tavLst>
                                        <p:tav tm="0">
                                          <p:val>
                                            <p:strVal val="0-#ppt_w/2"/>
                                          </p:val>
                                        </p:tav>
                                        <p:tav tm="100000">
                                          <p:val>
                                            <p:strVal val="#ppt_x"/>
                                          </p:val>
                                        </p:tav>
                                      </p:tavLst>
                                    </p:anim>
                                    <p:anim calcmode="lin" valueType="num">
                                      <p:cBhvr additive="base">
                                        <p:cTn id="28" dur="500" fill="hold"/>
                                        <p:tgtEl>
                                          <p:spTgt spid="118990"/>
                                        </p:tgtEl>
                                        <p:attrNameLst>
                                          <p:attrName>ppt_y</p:attrName>
                                        </p:attrNameLst>
                                      </p:cBhvr>
                                      <p:tavLst>
                                        <p:tav tm="0">
                                          <p:val>
                                            <p:strVal val="#ppt_y"/>
                                          </p:val>
                                        </p:tav>
                                        <p:tav tm="100000">
                                          <p:val>
                                            <p:strVal val="#ppt_y"/>
                                          </p:val>
                                        </p:tav>
                                      </p:tavLst>
                                    </p:anim>
                                  </p:childTnLst>
                                </p:cTn>
                              </p:par>
                            </p:childTnLst>
                          </p:cTn>
                        </p:par>
                        <p:par>
                          <p:cTn id="29" fill="hold" nodeType="afterGroup">
                            <p:stCondLst>
                              <p:cond delay="6500"/>
                            </p:stCondLst>
                            <p:childTnLst>
                              <p:par>
                                <p:cTn id="30" presetID="2" presetClass="entr" presetSubtype="8" fill="hold" nodeType="afterEffect">
                                  <p:stCondLst>
                                    <p:cond delay="1000"/>
                                  </p:stCondLst>
                                  <p:childTnLst>
                                    <p:set>
                                      <p:cBhvr>
                                        <p:cTn id="31" dur="1" fill="hold">
                                          <p:stCondLst>
                                            <p:cond delay="0"/>
                                          </p:stCondLst>
                                        </p:cTn>
                                        <p:tgtEl>
                                          <p:spTgt spid="118991"/>
                                        </p:tgtEl>
                                        <p:attrNameLst>
                                          <p:attrName>style.visibility</p:attrName>
                                        </p:attrNameLst>
                                      </p:cBhvr>
                                      <p:to>
                                        <p:strVal val="visible"/>
                                      </p:to>
                                    </p:set>
                                    <p:anim calcmode="lin" valueType="num">
                                      <p:cBhvr additive="base">
                                        <p:cTn id="32" dur="500" fill="hold"/>
                                        <p:tgtEl>
                                          <p:spTgt spid="118991"/>
                                        </p:tgtEl>
                                        <p:attrNameLst>
                                          <p:attrName>ppt_x</p:attrName>
                                        </p:attrNameLst>
                                      </p:cBhvr>
                                      <p:tavLst>
                                        <p:tav tm="0">
                                          <p:val>
                                            <p:strVal val="0-#ppt_w/2"/>
                                          </p:val>
                                        </p:tav>
                                        <p:tav tm="100000">
                                          <p:val>
                                            <p:strVal val="#ppt_x"/>
                                          </p:val>
                                        </p:tav>
                                      </p:tavLst>
                                    </p:anim>
                                    <p:anim calcmode="lin" valueType="num">
                                      <p:cBhvr additive="base">
                                        <p:cTn id="33" dur="500" fill="hold"/>
                                        <p:tgtEl>
                                          <p:spTgt spid="118991"/>
                                        </p:tgtEl>
                                        <p:attrNameLst>
                                          <p:attrName>ppt_y</p:attrName>
                                        </p:attrNameLst>
                                      </p:cBhvr>
                                      <p:tavLst>
                                        <p:tav tm="0">
                                          <p:val>
                                            <p:strVal val="#ppt_y"/>
                                          </p:val>
                                        </p:tav>
                                        <p:tav tm="100000">
                                          <p:val>
                                            <p:strVal val="#ppt_y"/>
                                          </p:val>
                                        </p:tav>
                                      </p:tavLst>
                                    </p:anim>
                                  </p:childTnLst>
                                </p:cTn>
                              </p:par>
                            </p:childTnLst>
                          </p:cTn>
                        </p:par>
                        <p:par>
                          <p:cTn id="34" fill="hold" nodeType="afterGroup">
                            <p:stCondLst>
                              <p:cond delay="8000"/>
                            </p:stCondLst>
                            <p:childTnLst>
                              <p:par>
                                <p:cTn id="35" presetID="2" presetClass="entr" presetSubtype="8" fill="hold" nodeType="afterEffect">
                                  <p:stCondLst>
                                    <p:cond delay="1000"/>
                                  </p:stCondLst>
                                  <p:childTnLst>
                                    <p:set>
                                      <p:cBhvr>
                                        <p:cTn id="36" dur="1" fill="hold">
                                          <p:stCondLst>
                                            <p:cond delay="0"/>
                                          </p:stCondLst>
                                        </p:cTn>
                                        <p:tgtEl>
                                          <p:spTgt spid="118992"/>
                                        </p:tgtEl>
                                        <p:attrNameLst>
                                          <p:attrName>style.visibility</p:attrName>
                                        </p:attrNameLst>
                                      </p:cBhvr>
                                      <p:to>
                                        <p:strVal val="visible"/>
                                      </p:to>
                                    </p:set>
                                    <p:anim calcmode="lin" valueType="num">
                                      <p:cBhvr additive="base">
                                        <p:cTn id="37" dur="500" fill="hold"/>
                                        <p:tgtEl>
                                          <p:spTgt spid="118992"/>
                                        </p:tgtEl>
                                        <p:attrNameLst>
                                          <p:attrName>ppt_x</p:attrName>
                                        </p:attrNameLst>
                                      </p:cBhvr>
                                      <p:tavLst>
                                        <p:tav tm="0">
                                          <p:val>
                                            <p:strVal val="0-#ppt_w/2"/>
                                          </p:val>
                                        </p:tav>
                                        <p:tav tm="100000">
                                          <p:val>
                                            <p:strVal val="#ppt_x"/>
                                          </p:val>
                                        </p:tav>
                                      </p:tavLst>
                                    </p:anim>
                                    <p:anim calcmode="lin" valueType="num">
                                      <p:cBhvr additive="base">
                                        <p:cTn id="38" dur="500" fill="hold"/>
                                        <p:tgtEl>
                                          <p:spTgt spid="118992"/>
                                        </p:tgtEl>
                                        <p:attrNameLst>
                                          <p:attrName>ppt_y</p:attrName>
                                        </p:attrNameLst>
                                      </p:cBhvr>
                                      <p:tavLst>
                                        <p:tav tm="0">
                                          <p:val>
                                            <p:strVal val="#ppt_y"/>
                                          </p:val>
                                        </p:tav>
                                        <p:tav tm="100000">
                                          <p:val>
                                            <p:strVal val="#ppt_y"/>
                                          </p:val>
                                        </p:tav>
                                      </p:tavLst>
                                    </p:anim>
                                  </p:childTnLst>
                                </p:cTn>
                              </p:par>
                            </p:childTnLst>
                          </p:cTn>
                        </p:par>
                        <p:par>
                          <p:cTn id="39" fill="hold" nodeType="afterGroup">
                            <p:stCondLst>
                              <p:cond delay="9500"/>
                            </p:stCondLst>
                            <p:childTnLst>
                              <p:par>
                                <p:cTn id="40" presetID="2" presetClass="entr" presetSubtype="8" fill="hold" nodeType="afterEffect">
                                  <p:stCondLst>
                                    <p:cond delay="1000"/>
                                  </p:stCondLst>
                                  <p:childTnLst>
                                    <p:set>
                                      <p:cBhvr>
                                        <p:cTn id="41" dur="1" fill="hold">
                                          <p:stCondLst>
                                            <p:cond delay="0"/>
                                          </p:stCondLst>
                                        </p:cTn>
                                        <p:tgtEl>
                                          <p:spTgt spid="118993"/>
                                        </p:tgtEl>
                                        <p:attrNameLst>
                                          <p:attrName>style.visibility</p:attrName>
                                        </p:attrNameLst>
                                      </p:cBhvr>
                                      <p:to>
                                        <p:strVal val="visible"/>
                                      </p:to>
                                    </p:set>
                                    <p:anim calcmode="lin" valueType="num">
                                      <p:cBhvr additive="base">
                                        <p:cTn id="42" dur="500" fill="hold"/>
                                        <p:tgtEl>
                                          <p:spTgt spid="118993"/>
                                        </p:tgtEl>
                                        <p:attrNameLst>
                                          <p:attrName>ppt_x</p:attrName>
                                        </p:attrNameLst>
                                      </p:cBhvr>
                                      <p:tavLst>
                                        <p:tav tm="0">
                                          <p:val>
                                            <p:strVal val="0-#ppt_w/2"/>
                                          </p:val>
                                        </p:tav>
                                        <p:tav tm="100000">
                                          <p:val>
                                            <p:strVal val="#ppt_x"/>
                                          </p:val>
                                        </p:tav>
                                      </p:tavLst>
                                    </p:anim>
                                    <p:anim calcmode="lin" valueType="num">
                                      <p:cBhvr additive="base">
                                        <p:cTn id="43" dur="500" fill="hold"/>
                                        <p:tgtEl>
                                          <p:spTgt spid="118993"/>
                                        </p:tgtEl>
                                        <p:attrNameLst>
                                          <p:attrName>ppt_y</p:attrName>
                                        </p:attrNameLst>
                                      </p:cBhvr>
                                      <p:tavLst>
                                        <p:tav tm="0">
                                          <p:val>
                                            <p:strVal val="#ppt_y"/>
                                          </p:val>
                                        </p:tav>
                                        <p:tav tm="100000">
                                          <p:val>
                                            <p:strVal val="#ppt_y"/>
                                          </p:val>
                                        </p:tav>
                                      </p:tavLst>
                                    </p:anim>
                                  </p:childTnLst>
                                </p:cTn>
                              </p:par>
                            </p:childTnLst>
                          </p:cTn>
                        </p:par>
                        <p:par>
                          <p:cTn id="44" fill="hold" nodeType="afterGroup">
                            <p:stCondLst>
                              <p:cond delay="11000"/>
                            </p:stCondLst>
                            <p:childTnLst>
                              <p:par>
                                <p:cTn id="45" presetID="2" presetClass="entr" presetSubtype="8" fill="hold" nodeType="afterEffect">
                                  <p:stCondLst>
                                    <p:cond delay="1000"/>
                                  </p:stCondLst>
                                  <p:childTnLst>
                                    <p:set>
                                      <p:cBhvr>
                                        <p:cTn id="46" dur="1" fill="hold">
                                          <p:stCondLst>
                                            <p:cond delay="0"/>
                                          </p:stCondLst>
                                        </p:cTn>
                                        <p:tgtEl>
                                          <p:spTgt spid="118994"/>
                                        </p:tgtEl>
                                        <p:attrNameLst>
                                          <p:attrName>style.visibility</p:attrName>
                                        </p:attrNameLst>
                                      </p:cBhvr>
                                      <p:to>
                                        <p:strVal val="visible"/>
                                      </p:to>
                                    </p:set>
                                    <p:anim calcmode="lin" valueType="num">
                                      <p:cBhvr additive="base">
                                        <p:cTn id="47" dur="500" fill="hold"/>
                                        <p:tgtEl>
                                          <p:spTgt spid="118994"/>
                                        </p:tgtEl>
                                        <p:attrNameLst>
                                          <p:attrName>ppt_x</p:attrName>
                                        </p:attrNameLst>
                                      </p:cBhvr>
                                      <p:tavLst>
                                        <p:tav tm="0">
                                          <p:val>
                                            <p:strVal val="0-#ppt_w/2"/>
                                          </p:val>
                                        </p:tav>
                                        <p:tav tm="100000">
                                          <p:val>
                                            <p:strVal val="#ppt_x"/>
                                          </p:val>
                                        </p:tav>
                                      </p:tavLst>
                                    </p:anim>
                                    <p:anim calcmode="lin" valueType="num">
                                      <p:cBhvr additive="base">
                                        <p:cTn id="48" dur="500" fill="hold"/>
                                        <p:tgtEl>
                                          <p:spTgt spid="1189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49863392-52FA-45D6-A5A5-1F9EEAE0E264}"/>
              </a:ext>
            </a:extLst>
          </p:cNvPr>
          <p:cNvSpPr>
            <a:spLocks noGrp="1" noChangeArrowheads="1"/>
          </p:cNvSpPr>
          <p:nvPr>
            <p:ph type="title"/>
          </p:nvPr>
        </p:nvSpPr>
        <p:spPr bwMode="auto">
          <a:xfrm>
            <a:off x="685800" y="609600"/>
            <a:ext cx="777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a:latin typeface="华文中宋" panose="02010600040101010101" pitchFamily="2" charset="-122"/>
              </a:rPr>
              <a:t>布线问题</a:t>
            </a:r>
            <a:r>
              <a:rPr lang="zh-CN" altLang="en-US" sz="4000" b="1"/>
              <a:t>求解方法</a:t>
            </a:r>
          </a:p>
        </p:txBody>
      </p:sp>
      <p:sp>
        <p:nvSpPr>
          <p:cNvPr id="119811" name="Rectangle 3">
            <a:extLst>
              <a:ext uri="{FF2B5EF4-FFF2-40B4-BE49-F238E27FC236}">
                <a16:creationId xmlns:a16="http://schemas.microsoft.com/office/drawing/2014/main" id="{B6946BE9-AEA4-4F01-9D98-328348BE30C2}"/>
              </a:ext>
            </a:extLst>
          </p:cNvPr>
          <p:cNvSpPr>
            <a:spLocks noGrp="1" noChangeArrowheads="1"/>
          </p:cNvSpPr>
          <p:nvPr>
            <p:ph type="body" idx="1"/>
          </p:nvPr>
        </p:nvSpPr>
        <p:spPr bwMode="auto">
          <a:xfrm>
            <a:off x="609600" y="16002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609600" indent="-609600" eaLnBrk="1" hangingPunct="1">
              <a:buFontTx/>
              <a:buAutoNum type="arabicPeriod"/>
            </a:pPr>
            <a:r>
              <a:rPr lang="zh-CN" altLang="en-US" sz="2800" b="1" dirty="0">
                <a:latin typeface="华文中宋" panose="02010600040101010101" pitchFamily="2" charset="-122"/>
              </a:rPr>
              <a:t>队列式分支限界法来解</a:t>
            </a:r>
          </a:p>
          <a:p>
            <a:pPr marL="609600" indent="-609600" eaLnBrk="1" hangingPunct="1">
              <a:buFontTx/>
              <a:buAutoNum type="arabicPeriod"/>
            </a:pPr>
            <a:r>
              <a:rPr lang="zh-CN" altLang="en-US" sz="2800" b="1" dirty="0">
                <a:latin typeface="华文中宋" panose="02010600040101010101" pitchFamily="2" charset="-122"/>
              </a:rPr>
              <a:t>解空间是一个图</a:t>
            </a:r>
          </a:p>
        </p:txBody>
      </p:sp>
      <p:sp>
        <p:nvSpPr>
          <p:cNvPr id="119812" name="Rectangle 4">
            <a:extLst>
              <a:ext uri="{FF2B5EF4-FFF2-40B4-BE49-F238E27FC236}">
                <a16:creationId xmlns:a16="http://schemas.microsoft.com/office/drawing/2014/main" id="{8369FCF1-3D63-44B5-9DEE-557CB6486734}"/>
              </a:ext>
            </a:extLst>
          </p:cNvPr>
          <p:cNvSpPr>
            <a:spLocks noChangeArrowheads="1"/>
          </p:cNvSpPr>
          <p:nvPr/>
        </p:nvSpPr>
        <p:spPr bwMode="auto">
          <a:xfrm>
            <a:off x="609600" y="2743200"/>
            <a:ext cx="78486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kumimoji="1" sz="2400">
                <a:solidFill>
                  <a:schemeClr val="tx1"/>
                </a:solidFill>
                <a:latin typeface="Times New Roman" panose="02020603050405020304" pitchFamily="18" charset="0"/>
                <a:ea typeface="宋体" panose="02010600030101010101" pitchFamily="2" charset="-122"/>
              </a:defRPr>
            </a:lvl1pPr>
            <a:lvl2pPr marL="990600" indent="-53340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AutoNum type="arabicPeriod" startAt="3"/>
            </a:pPr>
            <a:r>
              <a:rPr lang="zh-CN" altLang="en-US" sz="2800" b="1" dirty="0">
                <a:solidFill>
                  <a:schemeClr val="tx2"/>
                </a:solidFill>
                <a:ea typeface="华文中宋" panose="02010600040101010101" pitchFamily="2" charset="-122"/>
              </a:rPr>
              <a:t>求解方法</a:t>
            </a:r>
          </a:p>
          <a:p>
            <a:pPr lvl="1" eaLnBrk="1" hangingPunct="1">
              <a:spcBef>
                <a:spcPct val="20000"/>
              </a:spcBef>
              <a:buFontTx/>
              <a:buAutoNum type="arabicParenR"/>
            </a:pPr>
            <a:r>
              <a:rPr lang="zh-CN" altLang="en-US" sz="2800" b="1" dirty="0">
                <a:solidFill>
                  <a:srgbClr val="0000CC"/>
                </a:solidFill>
                <a:latin typeface="华文中宋" panose="02010600040101010101" pitchFamily="2" charset="-122"/>
                <a:ea typeface="华文中宋" panose="02010600040101010101" pitchFamily="2" charset="-122"/>
              </a:rPr>
              <a:t>起始位置</a:t>
            </a:r>
            <a:r>
              <a:rPr lang="en-US" altLang="zh-CN" sz="2800" b="1" dirty="0">
                <a:solidFill>
                  <a:srgbClr val="0000CC"/>
                </a:solidFill>
                <a:latin typeface="华文中宋" panose="02010600040101010101" pitchFamily="2" charset="-122"/>
                <a:ea typeface="华文中宋" panose="02010600040101010101" pitchFamily="2" charset="-122"/>
              </a:rPr>
              <a:t>a</a:t>
            </a:r>
            <a:r>
              <a:rPr lang="zh-CN" altLang="en-US" sz="2800" b="1" dirty="0">
                <a:solidFill>
                  <a:srgbClr val="0000CC"/>
                </a:solidFill>
                <a:latin typeface="华文中宋" panose="02010600040101010101" pitchFamily="2" charset="-122"/>
                <a:ea typeface="华文中宋" panose="02010600040101010101" pitchFamily="2" charset="-122"/>
              </a:rPr>
              <a:t>第一个扩展</a:t>
            </a:r>
          </a:p>
          <a:p>
            <a:pPr lvl="1" eaLnBrk="1" hangingPunct="1">
              <a:spcBef>
                <a:spcPct val="20000"/>
              </a:spcBef>
              <a:buFontTx/>
              <a:buAutoNum type="arabicParenR"/>
            </a:pPr>
            <a:r>
              <a:rPr lang="zh-CN" altLang="en-US" sz="2800" b="1" dirty="0">
                <a:solidFill>
                  <a:srgbClr val="0000CC"/>
                </a:solidFill>
                <a:latin typeface="华文中宋" panose="02010600040101010101" pitchFamily="2" charset="-122"/>
                <a:ea typeface="华文中宋" panose="02010600040101010101" pitchFamily="2" charset="-122"/>
              </a:rPr>
              <a:t>依次考虑距</a:t>
            </a:r>
            <a:r>
              <a:rPr lang="en-US" altLang="zh-CN" sz="2800" b="1" dirty="0">
                <a:solidFill>
                  <a:srgbClr val="0000CC"/>
                </a:solidFill>
                <a:latin typeface="华文中宋" panose="02010600040101010101" pitchFamily="2" charset="-122"/>
                <a:ea typeface="华文中宋" panose="02010600040101010101" pitchFamily="2" charset="-122"/>
              </a:rPr>
              <a:t>a</a:t>
            </a:r>
            <a:r>
              <a:rPr lang="zh-CN" altLang="en-US" sz="2800" b="1" dirty="0">
                <a:solidFill>
                  <a:srgbClr val="0000CC"/>
                </a:solidFill>
                <a:latin typeface="华文中宋" panose="02010600040101010101" pitchFamily="2" charset="-122"/>
                <a:ea typeface="华文中宋" panose="02010600040101010101" pitchFamily="2" charset="-122"/>
              </a:rPr>
              <a:t>距离为</a:t>
            </a:r>
            <a:r>
              <a:rPr lang="en-US" altLang="zh-CN" sz="2800" b="1" dirty="0">
                <a:solidFill>
                  <a:srgbClr val="0000CC"/>
                </a:solidFill>
                <a:latin typeface="华文中宋" panose="02010600040101010101" pitchFamily="2" charset="-122"/>
                <a:ea typeface="华文中宋" panose="02010600040101010101" pitchFamily="2" charset="-122"/>
              </a:rPr>
              <a:t>1</a:t>
            </a:r>
            <a:r>
              <a:rPr lang="zh-CN" altLang="en-US" sz="2800" b="1" dirty="0">
                <a:solidFill>
                  <a:srgbClr val="0000CC"/>
                </a:solidFill>
                <a:latin typeface="华文中宋" panose="02010600040101010101" pitchFamily="2" charset="-122"/>
                <a:ea typeface="华文中宋" panose="02010600040101010101" pitchFamily="2" charset="-122"/>
              </a:rPr>
              <a:t>、</a:t>
            </a:r>
            <a:r>
              <a:rPr lang="en-US" altLang="zh-CN" sz="2800" b="1" dirty="0">
                <a:solidFill>
                  <a:srgbClr val="0000CC"/>
                </a:solidFill>
                <a:latin typeface="华文中宋" panose="02010600040101010101" pitchFamily="2" charset="-122"/>
                <a:ea typeface="华文中宋" panose="02010600040101010101" pitchFamily="2" charset="-122"/>
              </a:rPr>
              <a:t>2</a:t>
            </a:r>
            <a:r>
              <a:rPr lang="zh-CN" altLang="en-US" sz="2800" b="1" dirty="0">
                <a:solidFill>
                  <a:srgbClr val="0000CC"/>
                </a:solidFill>
                <a:latin typeface="华文中宋" panose="02010600040101010101" pitchFamily="2" charset="-122"/>
                <a:ea typeface="华文中宋" panose="02010600040101010101" pitchFamily="2" charset="-122"/>
              </a:rPr>
              <a:t>、</a:t>
            </a:r>
            <a:r>
              <a:rPr lang="en-US" altLang="zh-CN" sz="2800" b="1" dirty="0">
                <a:solidFill>
                  <a:srgbClr val="0000CC"/>
                </a:solidFill>
                <a:latin typeface="华文中宋" panose="02010600040101010101" pitchFamily="2" charset="-122"/>
                <a:ea typeface="华文中宋" panose="02010600040101010101" pitchFamily="2" charset="-122"/>
              </a:rPr>
              <a:t>3</a:t>
            </a:r>
            <a:r>
              <a:rPr lang="zh-CN" altLang="en-US" sz="2800" b="1" dirty="0">
                <a:solidFill>
                  <a:srgbClr val="0000CC"/>
                </a:solidFill>
                <a:latin typeface="华文中宋" panose="02010600040101010101" pitchFamily="2" charset="-122"/>
                <a:ea typeface="华文中宋" panose="02010600040101010101" pitchFamily="2" charset="-122"/>
              </a:rPr>
              <a:t>、</a:t>
            </a:r>
            <a:r>
              <a:rPr lang="en-US" altLang="zh-CN" sz="2800" b="1" dirty="0">
                <a:solidFill>
                  <a:srgbClr val="0000CC"/>
                </a:solidFill>
                <a:ea typeface="华文中宋" panose="02010600040101010101" pitchFamily="2" charset="-122"/>
              </a:rPr>
              <a:t>…</a:t>
            </a:r>
            <a:r>
              <a:rPr lang="zh-CN" altLang="en-US" sz="2800" b="1" dirty="0">
                <a:solidFill>
                  <a:srgbClr val="0000CC"/>
                </a:solidFill>
                <a:latin typeface="华文中宋" panose="02010600040101010101" pitchFamily="2" charset="-122"/>
                <a:ea typeface="华文中宋" panose="02010600040101010101" pitchFamily="2" charset="-122"/>
              </a:rPr>
              <a:t>、的方格，并作标记，</a:t>
            </a:r>
            <a:r>
              <a:rPr kumimoji="0" lang="zh-CN" altLang="en-US" sz="2800" b="1" dirty="0">
                <a:solidFill>
                  <a:srgbClr val="0000CC"/>
                </a:solidFill>
                <a:latin typeface="华文中宋" panose="02010600040101010101" pitchFamily="2" charset="-122"/>
                <a:ea typeface="华文中宋" panose="02010600040101010101" pitchFamily="2" charset="-122"/>
              </a:rPr>
              <a:t>并存入活结点队列</a:t>
            </a:r>
          </a:p>
          <a:p>
            <a:pPr lvl="1" eaLnBrk="1" hangingPunct="1">
              <a:spcBef>
                <a:spcPct val="20000"/>
              </a:spcBef>
              <a:buFontTx/>
              <a:buAutoNum type="arabicParenR"/>
            </a:pPr>
            <a:r>
              <a:rPr kumimoji="0" lang="zh-CN" altLang="en-US" sz="2800" b="1" dirty="0">
                <a:solidFill>
                  <a:srgbClr val="0000CC"/>
                </a:solidFill>
                <a:latin typeface="华文中宋" panose="02010600040101010101" pitchFamily="2" charset="-122"/>
                <a:ea typeface="华文中宋" panose="02010600040101010101" pitchFamily="2" charset="-122"/>
              </a:rPr>
              <a:t>从活结点队列取结点扩展</a:t>
            </a:r>
          </a:p>
          <a:p>
            <a:pPr lvl="1" eaLnBrk="1" hangingPunct="1">
              <a:spcBef>
                <a:spcPct val="20000"/>
              </a:spcBef>
              <a:buFontTx/>
              <a:buAutoNum type="arabicParenR"/>
            </a:pPr>
            <a:r>
              <a:rPr kumimoji="0" lang="zh-CN" altLang="en-US" sz="2800" b="1" dirty="0">
                <a:solidFill>
                  <a:srgbClr val="0000CC"/>
                </a:solidFill>
                <a:latin typeface="华文中宋" panose="02010600040101010101" pitchFamily="2" charset="-122"/>
                <a:ea typeface="华文中宋" panose="02010600040101010101" pitchFamily="2" charset="-122"/>
              </a:rPr>
              <a:t>一直搜索到目标方格</a:t>
            </a:r>
            <a:r>
              <a:rPr kumimoji="0" lang="en-US" altLang="zh-CN" sz="2800" b="1" dirty="0">
                <a:solidFill>
                  <a:srgbClr val="0000CC"/>
                </a:solidFill>
                <a:latin typeface="华文中宋" panose="02010600040101010101" pitchFamily="2" charset="-122"/>
                <a:ea typeface="华文中宋" panose="02010600040101010101" pitchFamily="2" charset="-122"/>
              </a:rPr>
              <a:t>b</a:t>
            </a:r>
            <a:r>
              <a:rPr kumimoji="0" lang="zh-CN" altLang="en-US" sz="2800" b="1" dirty="0">
                <a:solidFill>
                  <a:srgbClr val="0000CC"/>
                </a:solidFill>
                <a:latin typeface="华文中宋" panose="02010600040101010101" pitchFamily="2" charset="-122"/>
                <a:ea typeface="华文中宋" panose="02010600040101010101" pitchFamily="2" charset="-122"/>
              </a:rPr>
              <a:t>或活结点队列为空时为止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9811">
                                            <p:txEl>
                                              <p:pRg st="0" end="0"/>
                                            </p:txEl>
                                          </p:spTgt>
                                        </p:tgtEl>
                                        <p:attrNameLst>
                                          <p:attrName>style.visibility</p:attrName>
                                        </p:attrNameLst>
                                      </p:cBhvr>
                                      <p:to>
                                        <p:strVal val="visible"/>
                                      </p:to>
                                    </p:set>
                                    <p:anim calcmode="lin" valueType="num">
                                      <p:cBhvr additive="base">
                                        <p:cTn id="7" dur="500" fill="hold"/>
                                        <p:tgtEl>
                                          <p:spTgt spid="1198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98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9811">
                                            <p:txEl>
                                              <p:pRg st="1" end="1"/>
                                            </p:txEl>
                                          </p:spTgt>
                                        </p:tgtEl>
                                        <p:attrNameLst>
                                          <p:attrName>style.visibility</p:attrName>
                                        </p:attrNameLst>
                                      </p:cBhvr>
                                      <p:to>
                                        <p:strVal val="visible"/>
                                      </p:to>
                                    </p:set>
                                    <p:anim calcmode="lin" valueType="num">
                                      <p:cBhvr additive="base">
                                        <p:cTn id="13" dur="500" fill="hold"/>
                                        <p:tgtEl>
                                          <p:spTgt spid="11981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98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9812"/>
                                        </p:tgtEl>
                                        <p:attrNameLst>
                                          <p:attrName>style.visibility</p:attrName>
                                        </p:attrNameLst>
                                      </p:cBhvr>
                                      <p:to>
                                        <p:strVal val="visible"/>
                                      </p:to>
                                    </p:set>
                                    <p:anim calcmode="lin" valueType="num">
                                      <p:cBhvr additive="base">
                                        <p:cTn id="19" dur="500" fill="hold"/>
                                        <p:tgtEl>
                                          <p:spTgt spid="119812"/>
                                        </p:tgtEl>
                                        <p:attrNameLst>
                                          <p:attrName>ppt_x</p:attrName>
                                        </p:attrNameLst>
                                      </p:cBhvr>
                                      <p:tavLst>
                                        <p:tav tm="0">
                                          <p:val>
                                            <p:strVal val="0-#ppt_w/2"/>
                                          </p:val>
                                        </p:tav>
                                        <p:tav tm="100000">
                                          <p:val>
                                            <p:strVal val="#ppt_x"/>
                                          </p:val>
                                        </p:tav>
                                      </p:tavLst>
                                    </p:anim>
                                    <p:anim calcmode="lin" valueType="num">
                                      <p:cBhvr additive="base">
                                        <p:cTn id="20" dur="500" fill="hold"/>
                                        <p:tgtEl>
                                          <p:spTgt spid="1198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1" grpId="0" build="p" autoUpdateAnimBg="0"/>
      <p:bldP spid="119812"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C69A3A20-4A6B-4D27-B0C2-A66D04204419}"/>
              </a:ext>
            </a:extLst>
          </p:cNvPr>
          <p:cNvSpPr>
            <a:spLocks noGrp="1" noChangeArrowheads="1"/>
          </p:cNvSpPr>
          <p:nvPr>
            <p:ph type="title"/>
          </p:nvPr>
        </p:nvSpPr>
        <p:spPr bwMode="auto">
          <a:xfrm>
            <a:off x="685800" y="304800"/>
            <a:ext cx="777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zh-CN" altLang="en-US" sz="4000" b="1">
                <a:latin typeface="华文中宋" panose="02010600040101010101" pitchFamily="2" charset="-122"/>
              </a:rPr>
              <a:t>设定</a:t>
            </a:r>
          </a:p>
        </p:txBody>
      </p:sp>
      <p:sp>
        <p:nvSpPr>
          <p:cNvPr id="120835" name="Rectangle 3">
            <a:extLst>
              <a:ext uri="{FF2B5EF4-FFF2-40B4-BE49-F238E27FC236}">
                <a16:creationId xmlns:a16="http://schemas.microsoft.com/office/drawing/2014/main" id="{A4D41BF1-121F-4340-AFC8-AA0A6648C5A2}"/>
              </a:ext>
            </a:extLst>
          </p:cNvPr>
          <p:cNvSpPr>
            <a:spLocks noGrp="1" noChangeArrowheads="1"/>
          </p:cNvSpPr>
          <p:nvPr>
            <p:ph type="body" idx="1"/>
          </p:nvPr>
        </p:nvSpPr>
        <p:spPr bwMode="auto">
          <a:xfrm>
            <a:off x="609600" y="1219200"/>
            <a:ext cx="8077200" cy="2438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800" b="1"/>
              <a:t>二</a:t>
            </a:r>
            <a:r>
              <a:rPr lang="zh-CN" altLang="en-US" sz="2800" b="1">
                <a:latin typeface="华文中宋" panose="02010600040101010101" pitchFamily="2" charset="-122"/>
              </a:rPr>
              <a:t>维数组</a:t>
            </a:r>
            <a:r>
              <a:rPr lang="en-US" altLang="zh-CN" sz="2800" b="1">
                <a:latin typeface="华文中宋" panose="02010600040101010101" pitchFamily="2" charset="-122"/>
              </a:rPr>
              <a:t>grid[i][j]:</a:t>
            </a:r>
            <a:r>
              <a:rPr lang="zh-CN" altLang="en-US" sz="2800" b="1">
                <a:latin typeface="华文中宋" panose="02010600040101010101" pitchFamily="2" charset="-122"/>
              </a:rPr>
              <a:t>表示方格阵列</a:t>
            </a:r>
          </a:p>
          <a:p>
            <a:pPr eaLnBrk="1" hangingPunct="1"/>
            <a:r>
              <a:rPr lang="zh-CN" altLang="en-US" sz="2800" b="1">
                <a:latin typeface="华文中宋" panose="02010600040101010101" pitchFamily="2" charset="-122"/>
              </a:rPr>
              <a:t>初始时，</a:t>
            </a:r>
          </a:p>
          <a:p>
            <a:pPr lvl="1" eaLnBrk="1" hangingPunct="1"/>
            <a:r>
              <a:rPr lang="en-US" altLang="zh-CN" b="1">
                <a:solidFill>
                  <a:srgbClr val="0000CC"/>
                </a:solidFill>
                <a:latin typeface="华文中宋" panose="02010600040101010101" pitchFamily="2" charset="-122"/>
              </a:rPr>
              <a:t>grid[i][j]=</a:t>
            </a:r>
            <a:r>
              <a:rPr lang="en-US" altLang="zh-CN" b="1">
                <a:solidFill>
                  <a:srgbClr val="0000CC"/>
                </a:solidFill>
              </a:rPr>
              <a:t> 0</a:t>
            </a:r>
            <a:r>
              <a:rPr lang="zh-CN" altLang="en-US" b="1">
                <a:solidFill>
                  <a:srgbClr val="0000CC"/>
                </a:solidFill>
              </a:rPr>
              <a:t>：</a:t>
            </a:r>
            <a:r>
              <a:rPr lang="zh-CN" altLang="en-US" b="1">
                <a:solidFill>
                  <a:srgbClr val="0000CC"/>
                </a:solidFill>
                <a:latin typeface="华文中宋" panose="02010600040101010101" pitchFamily="2" charset="-122"/>
              </a:rPr>
              <a:t>该方格允许布线</a:t>
            </a:r>
          </a:p>
          <a:p>
            <a:pPr lvl="1" eaLnBrk="1" hangingPunct="1"/>
            <a:r>
              <a:rPr lang="en-US" altLang="zh-CN" b="1">
                <a:solidFill>
                  <a:srgbClr val="0000CC"/>
                </a:solidFill>
                <a:latin typeface="华文中宋" panose="02010600040101010101" pitchFamily="2" charset="-122"/>
              </a:rPr>
              <a:t>grid[i][j]=</a:t>
            </a:r>
            <a:r>
              <a:rPr lang="en-US" altLang="zh-CN" b="1">
                <a:solidFill>
                  <a:srgbClr val="0000CC"/>
                </a:solidFill>
              </a:rPr>
              <a:t> 1</a:t>
            </a:r>
            <a:r>
              <a:rPr lang="zh-CN" altLang="en-US" b="1">
                <a:solidFill>
                  <a:srgbClr val="0000CC"/>
                </a:solidFill>
              </a:rPr>
              <a:t>：</a:t>
            </a:r>
            <a:r>
              <a:rPr lang="zh-CN" altLang="en-US" b="1">
                <a:solidFill>
                  <a:srgbClr val="0000CC"/>
                </a:solidFill>
                <a:latin typeface="华文中宋" panose="02010600040101010101" pitchFamily="2" charset="-122"/>
              </a:rPr>
              <a:t>该方格被封锁，不允许布线</a:t>
            </a:r>
            <a:r>
              <a:rPr lang="zh-CN" altLang="en-US" b="1">
                <a:solidFill>
                  <a:srgbClr val="0000CC"/>
                </a:solidFill>
              </a:rPr>
              <a:t> </a:t>
            </a:r>
          </a:p>
        </p:txBody>
      </p:sp>
      <p:sp>
        <p:nvSpPr>
          <p:cNvPr id="120836" name="Rectangle 4">
            <a:extLst>
              <a:ext uri="{FF2B5EF4-FFF2-40B4-BE49-F238E27FC236}">
                <a16:creationId xmlns:a16="http://schemas.microsoft.com/office/drawing/2014/main" id="{94422DFD-8758-4EC7-9CCC-DC4D8D8E87B3}"/>
              </a:ext>
            </a:extLst>
          </p:cNvPr>
          <p:cNvSpPr>
            <a:spLocks noChangeArrowheads="1"/>
          </p:cNvSpPr>
          <p:nvPr/>
        </p:nvSpPr>
        <p:spPr bwMode="auto">
          <a:xfrm>
            <a:off x="609600" y="3505200"/>
            <a:ext cx="8077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zh-CN" altLang="en-US" sz="2800" b="1">
                <a:ea typeface="华文中宋" panose="02010600040101010101" pitchFamily="2" charset="-122"/>
              </a:rPr>
              <a:t>边界处理：四周用方格阵列围起来</a:t>
            </a:r>
          </a:p>
        </p:txBody>
      </p:sp>
      <p:sp>
        <p:nvSpPr>
          <p:cNvPr id="120837" name="Rectangle 5">
            <a:extLst>
              <a:ext uri="{FF2B5EF4-FFF2-40B4-BE49-F238E27FC236}">
                <a16:creationId xmlns:a16="http://schemas.microsoft.com/office/drawing/2014/main" id="{3A11191F-046E-48E5-BD29-F2038C07857E}"/>
              </a:ext>
            </a:extLst>
          </p:cNvPr>
          <p:cNvSpPr>
            <a:spLocks noChangeArrowheads="1"/>
          </p:cNvSpPr>
          <p:nvPr/>
        </p:nvSpPr>
        <p:spPr bwMode="auto">
          <a:xfrm>
            <a:off x="609600" y="4267200"/>
            <a:ext cx="8153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zh-CN" altLang="en-US" sz="2800" b="1">
                <a:ea typeface="华文中宋" panose="02010600040101010101" pitchFamily="2" charset="-122"/>
              </a:rPr>
              <a:t>方格的方位</a:t>
            </a:r>
            <a:r>
              <a:rPr lang="en-US" altLang="zh-CN" sz="2800" b="1">
                <a:ea typeface="华文中宋" panose="02010600040101010101" pitchFamily="2" charset="-122"/>
              </a:rPr>
              <a:t>offset:</a:t>
            </a:r>
          </a:p>
          <a:p>
            <a:pPr eaLnBrk="1" hangingPunct="1">
              <a:spcBef>
                <a:spcPct val="20000"/>
              </a:spcBef>
            </a:pPr>
            <a:r>
              <a:rPr lang="en-US" altLang="zh-CN" sz="2800" b="1">
                <a:ea typeface="华文中宋" panose="02010600040101010101" pitchFamily="2" charset="-122"/>
              </a:rPr>
              <a:t>         </a:t>
            </a:r>
            <a:r>
              <a:rPr lang="zh-CN" altLang="en-US" sz="2800" b="1">
                <a:ea typeface="华文中宋" panose="02010600040101010101" pitchFamily="2" charset="-122"/>
              </a:rPr>
              <a:t>（</a:t>
            </a:r>
            <a:r>
              <a:rPr lang="en-US" altLang="zh-CN" sz="2800" b="1">
                <a:ea typeface="华文中宋" panose="02010600040101010101" pitchFamily="2" charset="-122"/>
              </a:rPr>
              <a:t>1</a:t>
            </a:r>
            <a:r>
              <a:rPr lang="zh-CN" altLang="en-US" sz="2800" b="1">
                <a:ea typeface="华文中宋" panose="02010600040101010101" pitchFamily="2" charset="-122"/>
              </a:rPr>
              <a:t>，</a:t>
            </a:r>
            <a:r>
              <a:rPr lang="en-US" altLang="zh-CN" sz="2800" b="1">
                <a:ea typeface="华文中宋" panose="02010600040101010101" pitchFamily="2" charset="-122"/>
              </a:rPr>
              <a:t>0</a:t>
            </a:r>
            <a:r>
              <a:rPr lang="zh-CN" altLang="en-US" sz="2800" b="1">
                <a:ea typeface="华文中宋" panose="02010600040101010101" pitchFamily="2" charset="-122"/>
              </a:rPr>
              <a:t>）（</a:t>
            </a:r>
            <a:r>
              <a:rPr lang="en-US" altLang="zh-CN" sz="2800" b="1">
                <a:ea typeface="华文中宋" panose="02010600040101010101" pitchFamily="2" charset="-122"/>
              </a:rPr>
              <a:t>-1</a:t>
            </a:r>
            <a:r>
              <a:rPr lang="zh-CN" altLang="en-US" sz="2800" b="1">
                <a:ea typeface="华文中宋" panose="02010600040101010101" pitchFamily="2" charset="-122"/>
              </a:rPr>
              <a:t>，</a:t>
            </a:r>
            <a:r>
              <a:rPr lang="en-US" altLang="zh-CN" sz="2800" b="1">
                <a:ea typeface="华文中宋" panose="02010600040101010101" pitchFamily="2" charset="-122"/>
              </a:rPr>
              <a:t>0</a:t>
            </a:r>
            <a:r>
              <a:rPr lang="zh-CN" altLang="en-US" sz="2800" b="1">
                <a:ea typeface="华文中宋" panose="02010600040101010101" pitchFamily="2" charset="-122"/>
              </a:rPr>
              <a:t>）（</a:t>
            </a:r>
            <a:r>
              <a:rPr lang="en-US" altLang="zh-CN" sz="2800" b="1">
                <a:ea typeface="华文中宋" panose="02010600040101010101" pitchFamily="2" charset="-122"/>
              </a:rPr>
              <a:t>0</a:t>
            </a:r>
            <a:r>
              <a:rPr lang="zh-CN" altLang="en-US" sz="2800" b="1">
                <a:ea typeface="华文中宋" panose="02010600040101010101" pitchFamily="2" charset="-122"/>
              </a:rPr>
              <a:t>，</a:t>
            </a:r>
            <a:r>
              <a:rPr lang="en-US" altLang="zh-CN" sz="2800" b="1">
                <a:ea typeface="华文中宋" panose="02010600040101010101" pitchFamily="2" charset="-122"/>
              </a:rPr>
              <a:t>1</a:t>
            </a:r>
            <a:r>
              <a:rPr lang="zh-CN" altLang="en-US" sz="2800" b="1">
                <a:ea typeface="华文中宋" panose="02010600040101010101" pitchFamily="2" charset="-122"/>
              </a:rPr>
              <a:t>）（</a:t>
            </a:r>
            <a:r>
              <a:rPr lang="en-US" altLang="zh-CN" sz="2800" b="1">
                <a:ea typeface="华文中宋" panose="02010600040101010101" pitchFamily="2" charset="-122"/>
              </a:rPr>
              <a:t>0</a:t>
            </a:r>
            <a:r>
              <a:rPr lang="zh-CN" altLang="en-US" sz="2800" b="1">
                <a:ea typeface="华文中宋" panose="02010600040101010101" pitchFamily="2" charset="-122"/>
              </a:rPr>
              <a:t>，</a:t>
            </a:r>
            <a:r>
              <a:rPr lang="en-US" altLang="zh-CN" sz="2800" b="1">
                <a:ea typeface="华文中宋" panose="02010600040101010101" pitchFamily="2" charset="-122"/>
              </a:rPr>
              <a:t>-1</a:t>
            </a:r>
            <a:r>
              <a:rPr lang="zh-CN" altLang="en-US" sz="2800" b="1">
                <a:ea typeface="华文中宋" panose="02010600040101010101" pitchFamily="2" charset="-122"/>
              </a:rPr>
              <a:t>）</a:t>
            </a:r>
          </a:p>
        </p:txBody>
      </p:sp>
      <p:sp>
        <p:nvSpPr>
          <p:cNvPr id="120838" name="Rectangle 6">
            <a:extLst>
              <a:ext uri="{FF2B5EF4-FFF2-40B4-BE49-F238E27FC236}">
                <a16:creationId xmlns:a16="http://schemas.microsoft.com/office/drawing/2014/main" id="{8357EC5B-84F4-4FEA-BB04-25745A32D998}"/>
              </a:ext>
            </a:extLst>
          </p:cNvPr>
          <p:cNvSpPr>
            <a:spLocks noChangeArrowheads="1"/>
          </p:cNvSpPr>
          <p:nvPr/>
        </p:nvSpPr>
        <p:spPr bwMode="auto">
          <a:xfrm>
            <a:off x="609600" y="5486400"/>
            <a:ext cx="8153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zh-CN" altLang="en-US" sz="2800" b="1">
                <a:ea typeface="华文中宋" panose="02010600040101010101" pitchFamily="2" charset="-122"/>
              </a:rPr>
              <a:t>位置</a:t>
            </a:r>
            <a:r>
              <a:rPr lang="en-US" altLang="zh-CN" sz="2800" b="1">
                <a:ea typeface="华文中宋" panose="02010600040101010101" pitchFamily="2" charset="-122"/>
              </a:rPr>
              <a:t>position: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0835">
                                            <p:txEl>
                                              <p:pRg st="0" end="0"/>
                                            </p:txEl>
                                          </p:spTgt>
                                        </p:tgtEl>
                                        <p:attrNameLst>
                                          <p:attrName>style.visibility</p:attrName>
                                        </p:attrNameLst>
                                      </p:cBhvr>
                                      <p:to>
                                        <p:strVal val="visible"/>
                                      </p:to>
                                    </p:set>
                                    <p:anim calcmode="lin" valueType="num">
                                      <p:cBhvr additive="base">
                                        <p:cTn id="7" dur="500" fill="hold"/>
                                        <p:tgtEl>
                                          <p:spTgt spid="1208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08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0835">
                                            <p:txEl>
                                              <p:pRg st="1" end="1"/>
                                            </p:txEl>
                                          </p:spTgt>
                                        </p:tgtEl>
                                        <p:attrNameLst>
                                          <p:attrName>style.visibility</p:attrName>
                                        </p:attrNameLst>
                                      </p:cBhvr>
                                      <p:to>
                                        <p:strVal val="visible"/>
                                      </p:to>
                                    </p:set>
                                    <p:anim calcmode="lin" valueType="num">
                                      <p:cBhvr additive="base">
                                        <p:cTn id="13" dur="500" fill="hold"/>
                                        <p:tgtEl>
                                          <p:spTgt spid="12083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0835">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120835">
                                            <p:txEl>
                                              <p:pRg st="2" end="2"/>
                                            </p:txEl>
                                          </p:spTgt>
                                        </p:tgtEl>
                                        <p:attrNameLst>
                                          <p:attrName>style.visibility</p:attrName>
                                        </p:attrNameLst>
                                      </p:cBhvr>
                                      <p:to>
                                        <p:strVal val="visible"/>
                                      </p:to>
                                    </p:set>
                                    <p:anim calcmode="lin" valueType="num">
                                      <p:cBhvr additive="base">
                                        <p:cTn id="17" dur="500" fill="hold"/>
                                        <p:tgtEl>
                                          <p:spTgt spid="120835">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20835">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20835">
                                            <p:txEl>
                                              <p:pRg st="3" end="3"/>
                                            </p:txEl>
                                          </p:spTgt>
                                        </p:tgtEl>
                                        <p:attrNameLst>
                                          <p:attrName>style.visibility</p:attrName>
                                        </p:attrNameLst>
                                      </p:cBhvr>
                                      <p:to>
                                        <p:strVal val="visible"/>
                                      </p:to>
                                    </p:set>
                                    <p:anim calcmode="lin" valueType="num">
                                      <p:cBhvr additive="base">
                                        <p:cTn id="21" dur="500" fill="hold"/>
                                        <p:tgtEl>
                                          <p:spTgt spid="120835">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1208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120836"/>
                                        </p:tgtEl>
                                        <p:attrNameLst>
                                          <p:attrName>style.visibility</p:attrName>
                                        </p:attrNameLst>
                                      </p:cBhvr>
                                      <p:to>
                                        <p:strVal val="visible"/>
                                      </p:to>
                                    </p:set>
                                    <p:anim calcmode="lin" valueType="num">
                                      <p:cBhvr additive="base">
                                        <p:cTn id="27" dur="500" fill="hold"/>
                                        <p:tgtEl>
                                          <p:spTgt spid="120836"/>
                                        </p:tgtEl>
                                        <p:attrNameLst>
                                          <p:attrName>ppt_x</p:attrName>
                                        </p:attrNameLst>
                                      </p:cBhvr>
                                      <p:tavLst>
                                        <p:tav tm="0">
                                          <p:val>
                                            <p:strVal val="0-#ppt_w/2"/>
                                          </p:val>
                                        </p:tav>
                                        <p:tav tm="100000">
                                          <p:val>
                                            <p:strVal val="#ppt_x"/>
                                          </p:val>
                                        </p:tav>
                                      </p:tavLst>
                                    </p:anim>
                                    <p:anim calcmode="lin" valueType="num">
                                      <p:cBhvr additive="base">
                                        <p:cTn id="28" dur="500" fill="hold"/>
                                        <p:tgtEl>
                                          <p:spTgt spid="120836"/>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120837"/>
                                        </p:tgtEl>
                                        <p:attrNameLst>
                                          <p:attrName>style.visibility</p:attrName>
                                        </p:attrNameLst>
                                      </p:cBhvr>
                                      <p:to>
                                        <p:strVal val="visible"/>
                                      </p:to>
                                    </p:set>
                                    <p:anim calcmode="lin" valueType="num">
                                      <p:cBhvr additive="base">
                                        <p:cTn id="33" dur="500" fill="hold"/>
                                        <p:tgtEl>
                                          <p:spTgt spid="120837"/>
                                        </p:tgtEl>
                                        <p:attrNameLst>
                                          <p:attrName>ppt_x</p:attrName>
                                        </p:attrNameLst>
                                      </p:cBhvr>
                                      <p:tavLst>
                                        <p:tav tm="0">
                                          <p:val>
                                            <p:strVal val="0-#ppt_w/2"/>
                                          </p:val>
                                        </p:tav>
                                        <p:tav tm="100000">
                                          <p:val>
                                            <p:strVal val="#ppt_x"/>
                                          </p:val>
                                        </p:tav>
                                      </p:tavLst>
                                    </p:anim>
                                    <p:anim calcmode="lin" valueType="num">
                                      <p:cBhvr additive="base">
                                        <p:cTn id="34" dur="500" fill="hold"/>
                                        <p:tgtEl>
                                          <p:spTgt spid="120837"/>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120838"/>
                                        </p:tgtEl>
                                        <p:attrNameLst>
                                          <p:attrName>style.visibility</p:attrName>
                                        </p:attrNameLst>
                                      </p:cBhvr>
                                      <p:to>
                                        <p:strVal val="visible"/>
                                      </p:to>
                                    </p:set>
                                    <p:anim calcmode="lin" valueType="num">
                                      <p:cBhvr additive="base">
                                        <p:cTn id="39" dur="500" fill="hold"/>
                                        <p:tgtEl>
                                          <p:spTgt spid="120838"/>
                                        </p:tgtEl>
                                        <p:attrNameLst>
                                          <p:attrName>ppt_x</p:attrName>
                                        </p:attrNameLst>
                                      </p:cBhvr>
                                      <p:tavLst>
                                        <p:tav tm="0">
                                          <p:val>
                                            <p:strVal val="0-#ppt_w/2"/>
                                          </p:val>
                                        </p:tav>
                                        <p:tav tm="100000">
                                          <p:val>
                                            <p:strVal val="#ppt_x"/>
                                          </p:val>
                                        </p:tav>
                                      </p:tavLst>
                                    </p:anim>
                                    <p:anim calcmode="lin" valueType="num">
                                      <p:cBhvr additive="base">
                                        <p:cTn id="40" dur="500" fill="hold"/>
                                        <p:tgtEl>
                                          <p:spTgt spid="1208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build="p" autoUpdateAnimBg="0"/>
      <p:bldP spid="120836" grpId="0" autoUpdateAnimBg="0"/>
      <p:bldP spid="120837" grpId="0" autoUpdateAnimBg="0"/>
      <p:bldP spid="120838"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21862" name="AutoShape 6">
            <a:extLst>
              <a:ext uri="{FF2B5EF4-FFF2-40B4-BE49-F238E27FC236}">
                <a16:creationId xmlns:a16="http://schemas.microsoft.com/office/drawing/2014/main" id="{AABCE537-0590-4BA2-8801-353A638AF1C1}"/>
              </a:ext>
            </a:extLst>
          </p:cNvPr>
          <p:cNvSpPr>
            <a:spLocks noChangeArrowheads="1"/>
          </p:cNvSpPr>
          <p:nvPr/>
        </p:nvSpPr>
        <p:spPr bwMode="auto">
          <a:xfrm>
            <a:off x="6553200" y="3962400"/>
            <a:ext cx="2209800" cy="914400"/>
          </a:xfrm>
          <a:prstGeom prst="wedgeRoundRectCallout">
            <a:avLst>
              <a:gd name="adj1" fmla="val -111065"/>
              <a:gd name="adj2" fmla="val 51042"/>
              <a:gd name="adj3" fmla="val 16667"/>
            </a:avLst>
          </a:prstGeom>
          <a:solidFill>
            <a:schemeClr val="hlink"/>
          </a:solidFill>
          <a:ln w="6350">
            <a:solidFill>
              <a:schemeClr val="hlink"/>
            </a:solidFill>
            <a:miter lim="800000"/>
            <a:headEnd/>
            <a:tailEnd/>
          </a:ln>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zh-CN" altLang="en-US" sz="2000" b="1">
                <a:solidFill>
                  <a:schemeClr val="accent2"/>
                </a:solidFill>
                <a:latin typeface="华文中宋" panose="02010600040101010101" pitchFamily="2" charset="-122"/>
                <a:ea typeface="华文中宋" panose="02010600040101010101" pitchFamily="2" charset="-122"/>
              </a:rPr>
              <a:t>设置边界的围墙</a:t>
            </a:r>
          </a:p>
        </p:txBody>
      </p:sp>
      <p:sp>
        <p:nvSpPr>
          <p:cNvPr id="53251" name="Rectangle 2">
            <a:extLst>
              <a:ext uri="{FF2B5EF4-FFF2-40B4-BE49-F238E27FC236}">
                <a16:creationId xmlns:a16="http://schemas.microsoft.com/office/drawing/2014/main" id="{D2103705-2664-4629-A4A5-314089926D21}"/>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0000CC"/>
                </a:solidFill>
              </a:rPr>
              <a:t>方向和边界</a:t>
            </a:r>
          </a:p>
        </p:txBody>
      </p:sp>
      <p:sp>
        <p:nvSpPr>
          <p:cNvPr id="121859" name="Rectangle 3">
            <a:extLst>
              <a:ext uri="{FF2B5EF4-FFF2-40B4-BE49-F238E27FC236}">
                <a16:creationId xmlns:a16="http://schemas.microsoft.com/office/drawing/2014/main" id="{82431D05-C483-42EA-8F1F-20C8FA04AF91}"/>
              </a:ext>
            </a:extLst>
          </p:cNvPr>
          <p:cNvSpPr>
            <a:spLocks noGrp="1" noChangeArrowheads="1"/>
          </p:cNvSpPr>
          <p:nvPr>
            <p:ph type="body" idx="1"/>
          </p:nvPr>
        </p:nvSpPr>
        <p:spPr bwMode="auto">
          <a:xfrm>
            <a:off x="685800" y="1524000"/>
            <a:ext cx="4953000" cy="2590800"/>
          </a:xfrm>
          <a:noFill/>
          <a:ln>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just" eaLnBrk="1" hangingPunct="1">
              <a:spcBef>
                <a:spcPct val="50000"/>
              </a:spcBef>
              <a:buFontTx/>
              <a:buNone/>
            </a:pPr>
            <a:r>
              <a:rPr kumimoji="0" lang="en-US" altLang="zh-CN" sz="2200" b="1">
                <a:solidFill>
                  <a:schemeClr val="accent2"/>
                </a:solidFill>
                <a:cs typeface="Times New Roman" panose="02020603050405020304" pitchFamily="18" charset="0"/>
              </a:rPr>
              <a:t>Position [] offset = new Position [4];</a:t>
            </a:r>
          </a:p>
          <a:p>
            <a:pPr algn="just" eaLnBrk="1" hangingPunct="1">
              <a:spcBef>
                <a:spcPct val="50000"/>
              </a:spcBef>
              <a:buFontTx/>
              <a:buNone/>
            </a:pPr>
            <a:r>
              <a:rPr kumimoji="0" lang="en-US" altLang="zh-CN" sz="2200" b="1">
                <a:solidFill>
                  <a:schemeClr val="accent2"/>
                </a:solidFill>
                <a:cs typeface="Times New Roman" panose="02020603050405020304" pitchFamily="18" charset="0"/>
              </a:rPr>
              <a:t>offset[0] = new Position(0, 1);      </a:t>
            </a:r>
            <a:r>
              <a:rPr kumimoji="0" lang="en-US" altLang="zh-CN" sz="2200" b="1">
                <a:cs typeface="Times New Roman" panose="02020603050405020304" pitchFamily="18" charset="0"/>
              </a:rPr>
              <a:t>// </a:t>
            </a:r>
            <a:r>
              <a:rPr kumimoji="0" lang="zh-CN" altLang="en-US" sz="2200" b="1">
                <a:latin typeface="华文中宋" panose="02010600040101010101" pitchFamily="2" charset="-122"/>
                <a:cs typeface="Times New Roman" panose="02020603050405020304" pitchFamily="18" charset="0"/>
              </a:rPr>
              <a:t>右</a:t>
            </a:r>
            <a:endParaRPr kumimoji="0" lang="zh-CN" altLang="en-US" sz="2200" b="1">
              <a:cs typeface="Times New Roman" panose="02020603050405020304" pitchFamily="18" charset="0"/>
            </a:endParaRPr>
          </a:p>
          <a:p>
            <a:pPr algn="just" eaLnBrk="1" hangingPunct="1">
              <a:spcBef>
                <a:spcPct val="50000"/>
              </a:spcBef>
              <a:buFontTx/>
              <a:buNone/>
            </a:pPr>
            <a:r>
              <a:rPr kumimoji="0" lang="en-US" altLang="zh-CN" sz="2200" b="1">
                <a:solidFill>
                  <a:schemeClr val="accent2"/>
                </a:solidFill>
                <a:cs typeface="Times New Roman" panose="02020603050405020304" pitchFamily="18" charset="0"/>
              </a:rPr>
              <a:t>offset[1] = new Position(1, 0);      </a:t>
            </a:r>
            <a:r>
              <a:rPr kumimoji="0" lang="en-US" altLang="zh-CN" sz="2200" b="1">
                <a:cs typeface="Times New Roman" panose="02020603050405020304" pitchFamily="18" charset="0"/>
              </a:rPr>
              <a:t>// </a:t>
            </a:r>
            <a:r>
              <a:rPr kumimoji="0" lang="zh-CN" altLang="en-US" sz="2200" b="1">
                <a:latin typeface="华文中宋" panose="02010600040101010101" pitchFamily="2" charset="-122"/>
              </a:rPr>
              <a:t>下</a:t>
            </a:r>
            <a:endParaRPr kumimoji="0" lang="zh-CN" altLang="en-US" sz="2200" b="1"/>
          </a:p>
          <a:p>
            <a:pPr algn="just" eaLnBrk="1" hangingPunct="1">
              <a:spcBef>
                <a:spcPct val="50000"/>
              </a:spcBef>
              <a:buFontTx/>
              <a:buNone/>
            </a:pPr>
            <a:r>
              <a:rPr kumimoji="0" lang="en-US" altLang="zh-CN" sz="2200" b="1">
                <a:solidFill>
                  <a:schemeClr val="accent2"/>
                </a:solidFill>
              </a:rPr>
              <a:t>offset[2] = new Position(0, -1);     </a:t>
            </a:r>
            <a:r>
              <a:rPr kumimoji="0" lang="en-US" altLang="zh-CN" sz="2200" b="1"/>
              <a:t>// </a:t>
            </a:r>
            <a:r>
              <a:rPr kumimoji="0" lang="zh-CN" altLang="en-US" sz="2200" b="1">
                <a:latin typeface="华文中宋" panose="02010600040101010101" pitchFamily="2" charset="-122"/>
              </a:rPr>
              <a:t>左</a:t>
            </a:r>
            <a:endParaRPr kumimoji="0" lang="zh-CN" altLang="en-US" sz="2200" b="1"/>
          </a:p>
          <a:p>
            <a:pPr eaLnBrk="1" hangingPunct="1">
              <a:spcBef>
                <a:spcPct val="50000"/>
              </a:spcBef>
              <a:buFontTx/>
              <a:buNone/>
            </a:pPr>
            <a:r>
              <a:rPr kumimoji="0" lang="en-US" altLang="zh-CN" sz="2200" b="1">
                <a:solidFill>
                  <a:schemeClr val="accent2"/>
                </a:solidFill>
              </a:rPr>
              <a:t>offset[3] = new Position(-1, 0);     </a:t>
            </a:r>
            <a:r>
              <a:rPr kumimoji="0" lang="en-US" altLang="zh-CN" sz="2200" b="1"/>
              <a:t>// </a:t>
            </a:r>
            <a:r>
              <a:rPr kumimoji="0" lang="zh-CN" altLang="en-US" sz="2200" b="1">
                <a:latin typeface="华文中宋" panose="02010600040101010101" pitchFamily="2" charset="-122"/>
              </a:rPr>
              <a:t>上</a:t>
            </a:r>
          </a:p>
        </p:txBody>
      </p:sp>
      <p:sp>
        <p:nvSpPr>
          <p:cNvPr id="121860" name="AutoShape 4">
            <a:extLst>
              <a:ext uri="{FF2B5EF4-FFF2-40B4-BE49-F238E27FC236}">
                <a16:creationId xmlns:a16="http://schemas.microsoft.com/office/drawing/2014/main" id="{BA12B179-F0A4-4315-B627-8B94CA872C99}"/>
              </a:ext>
            </a:extLst>
          </p:cNvPr>
          <p:cNvSpPr>
            <a:spLocks noChangeArrowheads="1"/>
          </p:cNvSpPr>
          <p:nvPr/>
        </p:nvSpPr>
        <p:spPr bwMode="auto">
          <a:xfrm>
            <a:off x="5867400" y="1752600"/>
            <a:ext cx="2286000" cy="914400"/>
          </a:xfrm>
          <a:prstGeom prst="wedgeRoundRectCallout">
            <a:avLst>
              <a:gd name="adj1" fmla="val -95486"/>
              <a:gd name="adj2" fmla="val 30731"/>
              <a:gd name="adj3" fmla="val 16667"/>
            </a:avLst>
          </a:prstGeom>
          <a:solidFill>
            <a:schemeClr val="hlink"/>
          </a:solidFill>
          <a:ln w="6350">
            <a:solidFill>
              <a:schemeClr val="hlink"/>
            </a:solidFill>
            <a:miter lim="800000"/>
            <a:headEnd/>
            <a:tailEnd/>
          </a:ln>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zh-CN" altLang="en-US" sz="2000" b="1">
                <a:solidFill>
                  <a:schemeClr val="accent2"/>
                </a:solidFill>
                <a:latin typeface="华文中宋" panose="02010600040101010101" pitchFamily="2" charset="-122"/>
                <a:ea typeface="华文中宋" panose="02010600040101010101" pitchFamily="2" charset="-122"/>
              </a:rPr>
              <a:t>定义移动方向的相对位移</a:t>
            </a:r>
          </a:p>
        </p:txBody>
      </p:sp>
      <p:sp>
        <p:nvSpPr>
          <p:cNvPr id="121861" name="Text Box 5">
            <a:extLst>
              <a:ext uri="{FF2B5EF4-FFF2-40B4-BE49-F238E27FC236}">
                <a16:creationId xmlns:a16="http://schemas.microsoft.com/office/drawing/2014/main" id="{14606AF9-3E49-4D82-BDA7-0961C7C25E9F}"/>
              </a:ext>
            </a:extLst>
          </p:cNvPr>
          <p:cNvSpPr txBox="1">
            <a:spLocks noChangeArrowheads="1"/>
          </p:cNvSpPr>
          <p:nvPr/>
        </p:nvSpPr>
        <p:spPr bwMode="auto">
          <a:xfrm>
            <a:off x="685800" y="4343400"/>
            <a:ext cx="6553200" cy="1943100"/>
          </a:xfrm>
          <a:prstGeom prst="rect">
            <a:avLst/>
          </a:prstGeom>
          <a:noFill/>
          <a:ln w="6350">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kumimoji="0" lang="en-US" altLang="zh-CN" sz="2200" b="1">
                <a:solidFill>
                  <a:schemeClr val="accent2"/>
                </a:solidFill>
                <a:ea typeface="华文中宋" panose="02010600040101010101" pitchFamily="2" charset="-122"/>
                <a:cs typeface="Times New Roman" panose="02020603050405020304" pitchFamily="18" charset="0"/>
              </a:rPr>
              <a:t> for (int i = 0; i &lt;= size + 1; i++) {</a:t>
            </a:r>
          </a:p>
          <a:p>
            <a:pPr algn="just" eaLnBrk="1" hangingPunct="1">
              <a:spcBef>
                <a:spcPct val="50000"/>
              </a:spcBef>
            </a:pPr>
            <a:r>
              <a:rPr kumimoji="0" lang="en-US" altLang="zh-CN" sz="2200" b="1">
                <a:solidFill>
                  <a:schemeClr val="accent2"/>
                </a:solidFill>
                <a:ea typeface="华文中宋" panose="02010600040101010101" pitchFamily="2" charset="-122"/>
                <a:cs typeface="Times New Roman" panose="02020603050405020304" pitchFamily="18" charset="0"/>
              </a:rPr>
              <a:t>       grid[0][i] = grid[size + 1][i] = 1; </a:t>
            </a:r>
            <a:r>
              <a:rPr kumimoji="0" lang="en-US" altLang="zh-CN" sz="2200" b="1">
                <a:ea typeface="华文中宋" panose="02010600040101010101" pitchFamily="2" charset="-122"/>
                <a:cs typeface="Times New Roman" panose="02020603050405020304" pitchFamily="18" charset="0"/>
              </a:rPr>
              <a:t>// </a:t>
            </a:r>
            <a:r>
              <a:rPr kumimoji="0" lang="zh-CN" altLang="en-US" sz="2200" b="1">
                <a:latin typeface="华文中宋" panose="02010600040101010101" pitchFamily="2" charset="-122"/>
                <a:ea typeface="华文中宋" panose="02010600040101010101" pitchFamily="2" charset="-122"/>
                <a:cs typeface="Times New Roman" panose="02020603050405020304" pitchFamily="18" charset="0"/>
              </a:rPr>
              <a:t>顶部和底部</a:t>
            </a:r>
            <a:endParaRPr kumimoji="0" lang="zh-CN" altLang="en-US" sz="2200" b="1">
              <a:ea typeface="华文中宋" panose="02010600040101010101" pitchFamily="2" charset="-122"/>
              <a:cs typeface="Times New Roman" panose="02020603050405020304" pitchFamily="18" charset="0"/>
            </a:endParaRPr>
          </a:p>
          <a:p>
            <a:pPr algn="just" eaLnBrk="1" hangingPunct="1">
              <a:spcBef>
                <a:spcPct val="50000"/>
              </a:spcBef>
            </a:pPr>
            <a:r>
              <a:rPr kumimoji="0" lang="zh-CN" altLang="en-US" sz="2200" b="1">
                <a:solidFill>
                  <a:schemeClr val="accent2"/>
                </a:solidFill>
                <a:ea typeface="华文中宋" panose="02010600040101010101" pitchFamily="2" charset="-122"/>
                <a:cs typeface="Times New Roman" panose="02020603050405020304" pitchFamily="18" charset="0"/>
              </a:rPr>
              <a:t>       </a:t>
            </a:r>
            <a:r>
              <a:rPr kumimoji="0" lang="en-US" altLang="zh-CN" sz="2200" b="1">
                <a:solidFill>
                  <a:schemeClr val="accent2"/>
                </a:solidFill>
                <a:ea typeface="华文中宋" panose="02010600040101010101" pitchFamily="2" charset="-122"/>
                <a:cs typeface="Times New Roman" panose="02020603050405020304" pitchFamily="18" charset="0"/>
              </a:rPr>
              <a:t>grid[i][0] = grid[i][size + 1] = 1; </a:t>
            </a:r>
            <a:r>
              <a:rPr kumimoji="0" lang="en-US" altLang="zh-CN" sz="2200" b="1">
                <a:ea typeface="华文中宋" panose="02010600040101010101" pitchFamily="2" charset="-122"/>
                <a:cs typeface="Times New Roman" panose="02020603050405020304" pitchFamily="18" charset="0"/>
              </a:rPr>
              <a:t>// </a:t>
            </a:r>
            <a:r>
              <a:rPr kumimoji="0" lang="zh-CN" altLang="en-US" sz="2200" b="1">
                <a:latin typeface="华文中宋" panose="02010600040101010101" pitchFamily="2" charset="-122"/>
                <a:ea typeface="华文中宋" panose="02010600040101010101" pitchFamily="2" charset="-122"/>
              </a:rPr>
              <a:t>左翼和右翼</a:t>
            </a:r>
            <a:endParaRPr kumimoji="0" lang="zh-CN" altLang="en-US" sz="2200" b="1">
              <a:ea typeface="华文中宋" panose="02010600040101010101" pitchFamily="2" charset="-122"/>
            </a:endParaRPr>
          </a:p>
          <a:p>
            <a:pPr algn="just" eaLnBrk="1" hangingPunct="1">
              <a:spcBef>
                <a:spcPct val="50000"/>
              </a:spcBef>
            </a:pPr>
            <a:r>
              <a:rPr kumimoji="0" lang="zh-CN" altLang="en-US" sz="2200" b="1">
                <a:solidFill>
                  <a:schemeClr val="accent2"/>
                </a:solidFill>
                <a:ea typeface="华文中宋" panose="02010600040101010101" pitchFamily="2" charset="-122"/>
              </a:rPr>
              <a:t> </a:t>
            </a:r>
            <a:r>
              <a:rPr kumimoji="0" lang="en-US" altLang="zh-CN" sz="2200" b="1">
                <a:solidFill>
                  <a:schemeClr val="accent2"/>
                </a:solidFill>
                <a:ea typeface="华文中宋" panose="02010600040101010101" pitchFamily="2" charset="-122"/>
              </a:rPr>
              <a:t>}</a:t>
            </a:r>
            <a:endParaRPr kumimoji="0" lang="en-US" altLang="zh-CN" sz="2200" b="1">
              <a:solidFill>
                <a:schemeClr val="accent2"/>
              </a:solidFill>
              <a:latin typeface="Arial" panose="020B0604020202020204" pitchFamily="34"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1859"/>
                                        </p:tgtEl>
                                        <p:attrNameLst>
                                          <p:attrName>style.visibility</p:attrName>
                                        </p:attrNameLst>
                                      </p:cBhvr>
                                      <p:to>
                                        <p:strVal val="visible"/>
                                      </p:to>
                                    </p:set>
                                    <p:anim calcmode="lin" valueType="num">
                                      <p:cBhvr additive="base">
                                        <p:cTn id="7" dur="500" fill="hold"/>
                                        <p:tgtEl>
                                          <p:spTgt spid="121859"/>
                                        </p:tgtEl>
                                        <p:attrNameLst>
                                          <p:attrName>ppt_x</p:attrName>
                                        </p:attrNameLst>
                                      </p:cBhvr>
                                      <p:tavLst>
                                        <p:tav tm="0">
                                          <p:val>
                                            <p:strVal val="0-#ppt_w/2"/>
                                          </p:val>
                                        </p:tav>
                                        <p:tav tm="100000">
                                          <p:val>
                                            <p:strVal val="#ppt_x"/>
                                          </p:val>
                                        </p:tav>
                                      </p:tavLst>
                                    </p:anim>
                                    <p:anim calcmode="lin" valueType="num">
                                      <p:cBhvr additive="base">
                                        <p:cTn id="8" dur="500" fill="hold"/>
                                        <p:tgtEl>
                                          <p:spTgt spid="12185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1860"/>
                                        </p:tgtEl>
                                        <p:attrNameLst>
                                          <p:attrName>style.visibility</p:attrName>
                                        </p:attrNameLst>
                                      </p:cBhvr>
                                      <p:to>
                                        <p:strVal val="visible"/>
                                      </p:to>
                                    </p:set>
                                    <p:anim calcmode="lin" valueType="num">
                                      <p:cBhvr additive="base">
                                        <p:cTn id="13" dur="500" fill="hold"/>
                                        <p:tgtEl>
                                          <p:spTgt spid="121860"/>
                                        </p:tgtEl>
                                        <p:attrNameLst>
                                          <p:attrName>ppt_x</p:attrName>
                                        </p:attrNameLst>
                                      </p:cBhvr>
                                      <p:tavLst>
                                        <p:tav tm="0">
                                          <p:val>
                                            <p:strVal val="0-#ppt_w/2"/>
                                          </p:val>
                                        </p:tav>
                                        <p:tav tm="100000">
                                          <p:val>
                                            <p:strVal val="#ppt_x"/>
                                          </p:val>
                                        </p:tav>
                                      </p:tavLst>
                                    </p:anim>
                                    <p:anim calcmode="lin" valueType="num">
                                      <p:cBhvr additive="base">
                                        <p:cTn id="14" dur="500" fill="hold"/>
                                        <p:tgtEl>
                                          <p:spTgt spid="12186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21861"/>
                                        </p:tgtEl>
                                        <p:attrNameLst>
                                          <p:attrName>style.visibility</p:attrName>
                                        </p:attrNameLst>
                                      </p:cBhvr>
                                      <p:to>
                                        <p:strVal val="visible"/>
                                      </p:to>
                                    </p:set>
                                    <p:anim calcmode="lin" valueType="num">
                                      <p:cBhvr additive="base">
                                        <p:cTn id="19" dur="500" fill="hold"/>
                                        <p:tgtEl>
                                          <p:spTgt spid="121861"/>
                                        </p:tgtEl>
                                        <p:attrNameLst>
                                          <p:attrName>ppt_x</p:attrName>
                                        </p:attrNameLst>
                                      </p:cBhvr>
                                      <p:tavLst>
                                        <p:tav tm="0">
                                          <p:val>
                                            <p:strVal val="0-#ppt_w/2"/>
                                          </p:val>
                                        </p:tav>
                                        <p:tav tm="100000">
                                          <p:val>
                                            <p:strVal val="#ppt_x"/>
                                          </p:val>
                                        </p:tav>
                                      </p:tavLst>
                                    </p:anim>
                                    <p:anim calcmode="lin" valueType="num">
                                      <p:cBhvr additive="base">
                                        <p:cTn id="20" dur="500" fill="hold"/>
                                        <p:tgtEl>
                                          <p:spTgt spid="12186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21862"/>
                                        </p:tgtEl>
                                        <p:attrNameLst>
                                          <p:attrName>style.visibility</p:attrName>
                                        </p:attrNameLst>
                                      </p:cBhvr>
                                      <p:to>
                                        <p:strVal val="visible"/>
                                      </p:to>
                                    </p:set>
                                    <p:anim calcmode="lin" valueType="num">
                                      <p:cBhvr additive="base">
                                        <p:cTn id="25" dur="500" fill="hold"/>
                                        <p:tgtEl>
                                          <p:spTgt spid="121862"/>
                                        </p:tgtEl>
                                        <p:attrNameLst>
                                          <p:attrName>ppt_x</p:attrName>
                                        </p:attrNameLst>
                                      </p:cBhvr>
                                      <p:tavLst>
                                        <p:tav tm="0">
                                          <p:val>
                                            <p:strVal val="0-#ppt_w/2"/>
                                          </p:val>
                                        </p:tav>
                                        <p:tav tm="100000">
                                          <p:val>
                                            <p:strVal val="#ppt_x"/>
                                          </p:val>
                                        </p:tav>
                                      </p:tavLst>
                                    </p:anim>
                                    <p:anim calcmode="lin" valueType="num">
                                      <p:cBhvr additive="base">
                                        <p:cTn id="26" dur="500" fill="hold"/>
                                        <p:tgtEl>
                                          <p:spTgt spid="1218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62" grpId="0" animBg="1" autoUpdateAnimBg="0"/>
      <p:bldP spid="121859" grpId="0" animBg="1" autoUpdateAnimBg="0"/>
      <p:bldP spid="121860" grpId="0" animBg="1" autoUpdateAnimBg="0"/>
      <p:bldP spid="121861" grpId="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BAF008F3-86C9-46D1-A832-75A6F9D376A3}"/>
              </a:ext>
            </a:extLst>
          </p:cNvPr>
          <p:cNvSpPr>
            <a:spLocks noGrp="1" noChangeArrowheads="1"/>
          </p:cNvSpPr>
          <p:nvPr>
            <p:ph type="title"/>
          </p:nvPr>
        </p:nvSpPr>
        <p:spPr bwMode="auto">
          <a:xfrm>
            <a:off x="685800" y="228600"/>
            <a:ext cx="77724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pPr>
            <a:r>
              <a:rPr lang="en-US" altLang="zh-CN" sz="3600" b="1"/>
              <a:t>BFS</a:t>
            </a:r>
            <a:r>
              <a:rPr lang="zh-CN" altLang="en-US" sz="3600" b="1"/>
              <a:t>算法</a:t>
            </a:r>
          </a:p>
        </p:txBody>
      </p:sp>
      <p:sp>
        <p:nvSpPr>
          <p:cNvPr id="54275" name="Rectangle 3">
            <a:extLst>
              <a:ext uri="{FF2B5EF4-FFF2-40B4-BE49-F238E27FC236}">
                <a16:creationId xmlns:a16="http://schemas.microsoft.com/office/drawing/2014/main" id="{C74A9952-1ED9-4180-B36B-84B2F2DC3CC2}"/>
              </a:ext>
            </a:extLst>
          </p:cNvPr>
          <p:cNvSpPr>
            <a:spLocks noGrp="1" noChangeArrowheads="1"/>
          </p:cNvSpPr>
          <p:nvPr>
            <p:ph type="body" idx="1"/>
          </p:nvPr>
        </p:nvSpPr>
        <p:spPr bwMode="auto">
          <a:xfrm>
            <a:off x="304800" y="990600"/>
            <a:ext cx="8686800" cy="5638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80000"/>
              </a:lnSpc>
              <a:spcBef>
                <a:spcPct val="50000"/>
              </a:spcBef>
              <a:buFontTx/>
              <a:buNone/>
            </a:pPr>
            <a:r>
              <a:rPr kumimoji="0" lang="en-US" altLang="zh-CN" sz="2200" b="1" dirty="0">
                <a:solidFill>
                  <a:schemeClr val="accent2"/>
                </a:solidFill>
              </a:rPr>
              <a:t>here. row = </a:t>
            </a:r>
            <a:r>
              <a:rPr kumimoji="0" lang="en-US" altLang="zh-CN" sz="2200" b="1" dirty="0" err="1">
                <a:solidFill>
                  <a:schemeClr val="accent2"/>
                </a:solidFill>
              </a:rPr>
              <a:t>start.row</a:t>
            </a:r>
            <a:r>
              <a:rPr kumimoji="0" lang="en-US" altLang="zh-CN" sz="2200" b="1" dirty="0">
                <a:solidFill>
                  <a:schemeClr val="accent2"/>
                </a:solidFill>
              </a:rPr>
              <a:t>; </a:t>
            </a:r>
            <a:r>
              <a:rPr kumimoji="0" lang="en-US" altLang="zh-CN" sz="2200" b="1" dirty="0" err="1">
                <a:solidFill>
                  <a:schemeClr val="accent2"/>
                </a:solidFill>
              </a:rPr>
              <a:t>here.col</a:t>
            </a:r>
            <a:r>
              <a:rPr kumimoji="0" lang="en-US" altLang="zh-CN" sz="2200" b="1" dirty="0">
                <a:solidFill>
                  <a:schemeClr val="accent2"/>
                </a:solidFill>
              </a:rPr>
              <a:t> = start. col;  </a:t>
            </a:r>
          </a:p>
          <a:p>
            <a:pPr algn="just" eaLnBrk="1" hangingPunct="1">
              <a:lnSpc>
                <a:spcPct val="80000"/>
              </a:lnSpc>
              <a:spcBef>
                <a:spcPct val="50000"/>
              </a:spcBef>
              <a:buFontTx/>
              <a:buNone/>
            </a:pPr>
            <a:r>
              <a:rPr kumimoji="0" lang="en-US" altLang="zh-CN" sz="2200" b="1" dirty="0">
                <a:solidFill>
                  <a:schemeClr val="accent2"/>
                </a:solidFill>
              </a:rPr>
              <a:t>grid[</a:t>
            </a:r>
            <a:r>
              <a:rPr kumimoji="0" lang="en-US" altLang="zh-CN" sz="2200" b="1" dirty="0" err="1">
                <a:solidFill>
                  <a:schemeClr val="accent2"/>
                </a:solidFill>
              </a:rPr>
              <a:t>start.row</a:t>
            </a:r>
            <a:r>
              <a:rPr kumimoji="0" lang="en-US" altLang="zh-CN" sz="2200" b="1" dirty="0">
                <a:solidFill>
                  <a:schemeClr val="accent2"/>
                </a:solidFill>
              </a:rPr>
              <a:t>][</a:t>
            </a:r>
            <a:r>
              <a:rPr kumimoji="0" lang="en-US" altLang="zh-CN" sz="2200" b="1" dirty="0" err="1">
                <a:solidFill>
                  <a:schemeClr val="accent2"/>
                </a:solidFill>
              </a:rPr>
              <a:t>start.col</a:t>
            </a:r>
            <a:r>
              <a:rPr kumimoji="0" lang="en-US" altLang="zh-CN" sz="2200" b="1" dirty="0">
                <a:solidFill>
                  <a:schemeClr val="accent2"/>
                </a:solidFill>
              </a:rPr>
              <a:t>] = 2;</a:t>
            </a:r>
            <a:r>
              <a:rPr kumimoji="0" lang="en-US" altLang="zh-CN" sz="2200" b="1" dirty="0">
                <a:solidFill>
                  <a:schemeClr val="accent2"/>
                </a:solidFill>
                <a:cs typeface="Times New Roman" panose="02020603050405020304" pitchFamily="18" charset="0"/>
              </a:rPr>
              <a:t>    </a:t>
            </a:r>
            <a:r>
              <a:rPr kumimoji="0" lang="en-US" altLang="zh-CN" sz="2200" b="1" dirty="0">
                <a:solidFill>
                  <a:schemeClr val="accent2"/>
                </a:solidFill>
              </a:rPr>
              <a:t>/*</a:t>
            </a:r>
            <a:r>
              <a:rPr kumimoji="0" lang="zh-CN" altLang="en-US" sz="2200" b="1" dirty="0">
                <a:solidFill>
                  <a:schemeClr val="accent2"/>
                </a:solidFill>
              </a:rPr>
              <a:t>循环*</a:t>
            </a:r>
            <a:r>
              <a:rPr kumimoji="0" lang="en-US" altLang="zh-CN" sz="2200" b="1" dirty="0">
                <a:solidFill>
                  <a:schemeClr val="accent2"/>
                </a:solidFill>
              </a:rPr>
              <a:t>/ </a:t>
            </a:r>
          </a:p>
          <a:p>
            <a:pPr algn="just" eaLnBrk="1" hangingPunct="1">
              <a:lnSpc>
                <a:spcPct val="80000"/>
              </a:lnSpc>
              <a:spcBef>
                <a:spcPct val="50000"/>
              </a:spcBef>
              <a:buFontTx/>
              <a:buNone/>
            </a:pPr>
            <a:r>
              <a:rPr kumimoji="0" lang="en-US" altLang="zh-CN" sz="2200" b="1" dirty="0">
                <a:solidFill>
                  <a:schemeClr val="accent2"/>
                </a:solidFill>
              </a:rPr>
              <a:t>while</a:t>
            </a:r>
            <a:r>
              <a:rPr kumimoji="0" lang="zh-CN" altLang="en-US" sz="2200" b="1" dirty="0">
                <a:solidFill>
                  <a:schemeClr val="accent2"/>
                </a:solidFill>
              </a:rPr>
              <a:t>（队列</a:t>
            </a:r>
            <a:r>
              <a:rPr kumimoji="0" lang="en-US" altLang="zh-CN" sz="2200" b="1" dirty="0">
                <a:solidFill>
                  <a:schemeClr val="accent2"/>
                </a:solidFill>
              </a:rPr>
              <a:t>Q</a:t>
            </a:r>
            <a:r>
              <a:rPr kumimoji="0" lang="zh-CN" altLang="en-US" sz="2200" b="1" dirty="0">
                <a:solidFill>
                  <a:schemeClr val="accent2"/>
                </a:solidFill>
              </a:rPr>
              <a:t>不空）从</a:t>
            </a:r>
            <a:r>
              <a:rPr kumimoji="0" lang="en-US" altLang="zh-CN" sz="2200" b="1" dirty="0">
                <a:solidFill>
                  <a:schemeClr val="accent2"/>
                </a:solidFill>
              </a:rPr>
              <a:t>Q</a:t>
            </a:r>
            <a:r>
              <a:rPr kumimoji="0" lang="zh-CN" altLang="en-US" sz="2200" b="1" dirty="0">
                <a:solidFill>
                  <a:schemeClr val="accent2"/>
                </a:solidFill>
              </a:rPr>
              <a:t>中取一节点，做下面工作</a:t>
            </a:r>
          </a:p>
          <a:p>
            <a:pPr algn="just" eaLnBrk="1" hangingPunct="1">
              <a:lnSpc>
                <a:spcPct val="80000"/>
              </a:lnSpc>
              <a:spcBef>
                <a:spcPct val="50000"/>
              </a:spcBef>
              <a:buFontTx/>
              <a:buNone/>
            </a:pPr>
            <a:r>
              <a:rPr kumimoji="0" lang="en-US" altLang="zh-CN" sz="2200" b="1" dirty="0">
                <a:solidFill>
                  <a:schemeClr val="accent2"/>
                </a:solidFill>
              </a:rPr>
              <a:t>for (int </a:t>
            </a:r>
            <a:r>
              <a:rPr kumimoji="0" lang="en-US" altLang="zh-CN" sz="2200" b="1" dirty="0" err="1">
                <a:solidFill>
                  <a:schemeClr val="accent2"/>
                </a:solidFill>
              </a:rPr>
              <a:t>i</a:t>
            </a:r>
            <a:r>
              <a:rPr kumimoji="0" lang="en-US" altLang="zh-CN" sz="2200" b="1" dirty="0">
                <a:solidFill>
                  <a:schemeClr val="accent2"/>
                </a:solidFill>
              </a:rPr>
              <a:t> = 0; </a:t>
            </a:r>
            <a:r>
              <a:rPr kumimoji="0" lang="en-US" altLang="zh-CN" sz="2200" b="1" dirty="0" err="1">
                <a:solidFill>
                  <a:schemeClr val="accent2"/>
                </a:solidFill>
              </a:rPr>
              <a:t>i</a:t>
            </a:r>
            <a:r>
              <a:rPr kumimoji="0" lang="en-US" altLang="zh-CN" sz="2200" b="1" dirty="0">
                <a:solidFill>
                  <a:schemeClr val="accent2"/>
                </a:solidFill>
              </a:rPr>
              <a:t> &lt; </a:t>
            </a:r>
            <a:r>
              <a:rPr kumimoji="0" lang="en-US" altLang="zh-CN" sz="2200" b="1" dirty="0" err="1">
                <a:solidFill>
                  <a:schemeClr val="accent2"/>
                </a:solidFill>
              </a:rPr>
              <a:t>numOfNbrs</a:t>
            </a:r>
            <a:r>
              <a:rPr kumimoji="0" lang="en-US" altLang="zh-CN" sz="2200" b="1" dirty="0">
                <a:solidFill>
                  <a:schemeClr val="accent2"/>
                </a:solidFill>
              </a:rPr>
              <a:t>; </a:t>
            </a:r>
            <a:r>
              <a:rPr kumimoji="0" lang="en-US" altLang="zh-CN" sz="2200" b="1" dirty="0" err="1">
                <a:solidFill>
                  <a:schemeClr val="accent2"/>
                </a:solidFill>
              </a:rPr>
              <a:t>i</a:t>
            </a:r>
            <a:r>
              <a:rPr kumimoji="0" lang="en-US" altLang="zh-CN" sz="2200" b="1" dirty="0">
                <a:solidFill>
                  <a:schemeClr val="accent2"/>
                </a:solidFill>
              </a:rPr>
              <a:t>++)</a:t>
            </a:r>
          </a:p>
          <a:p>
            <a:pPr algn="just" eaLnBrk="1" hangingPunct="1">
              <a:lnSpc>
                <a:spcPct val="80000"/>
              </a:lnSpc>
              <a:spcBef>
                <a:spcPct val="50000"/>
              </a:spcBef>
              <a:buFontTx/>
              <a:buNone/>
            </a:pPr>
            <a:r>
              <a:rPr kumimoji="0" lang="en-US" altLang="zh-CN" sz="2200" b="1" dirty="0">
                <a:solidFill>
                  <a:schemeClr val="accent2"/>
                </a:solidFill>
              </a:rPr>
              <a:t>{       </a:t>
            </a:r>
            <a:r>
              <a:rPr kumimoji="0" lang="en-US" altLang="zh-CN" sz="2200" b="1" dirty="0" err="1">
                <a:solidFill>
                  <a:schemeClr val="accent2"/>
                </a:solidFill>
              </a:rPr>
              <a:t>nbr.row</a:t>
            </a:r>
            <a:r>
              <a:rPr kumimoji="0" lang="en-US" altLang="zh-CN" sz="2200" b="1" dirty="0">
                <a:solidFill>
                  <a:schemeClr val="accent2"/>
                </a:solidFill>
              </a:rPr>
              <a:t> = </a:t>
            </a:r>
            <a:r>
              <a:rPr kumimoji="0" lang="en-US" altLang="zh-CN" sz="2200" b="1" dirty="0" err="1">
                <a:solidFill>
                  <a:schemeClr val="accent2"/>
                </a:solidFill>
              </a:rPr>
              <a:t>here.row</a:t>
            </a:r>
            <a:r>
              <a:rPr kumimoji="0" lang="en-US" altLang="zh-CN" sz="2200" b="1" dirty="0">
                <a:solidFill>
                  <a:schemeClr val="accent2"/>
                </a:solidFill>
              </a:rPr>
              <a:t> + offset[</a:t>
            </a:r>
            <a:r>
              <a:rPr kumimoji="0" lang="en-US" altLang="zh-CN" sz="2200" b="1" dirty="0" err="1">
                <a:solidFill>
                  <a:schemeClr val="accent2"/>
                </a:solidFill>
              </a:rPr>
              <a:t>i</a:t>
            </a:r>
            <a:r>
              <a:rPr kumimoji="0" lang="en-US" altLang="zh-CN" sz="2200" b="1" dirty="0">
                <a:solidFill>
                  <a:schemeClr val="accent2"/>
                </a:solidFill>
              </a:rPr>
              <a:t>].row;</a:t>
            </a:r>
          </a:p>
          <a:p>
            <a:pPr algn="just" eaLnBrk="1" hangingPunct="1">
              <a:lnSpc>
                <a:spcPct val="80000"/>
              </a:lnSpc>
              <a:spcBef>
                <a:spcPct val="50000"/>
              </a:spcBef>
              <a:buFontTx/>
              <a:buNone/>
            </a:pPr>
            <a:r>
              <a:rPr kumimoji="0" lang="en-US" altLang="zh-CN" sz="2200" b="1" dirty="0">
                <a:solidFill>
                  <a:schemeClr val="accent2"/>
                </a:solidFill>
              </a:rPr>
              <a:t>         </a:t>
            </a:r>
            <a:r>
              <a:rPr kumimoji="0" lang="en-US" altLang="zh-CN" sz="2200" b="1" dirty="0" err="1">
                <a:solidFill>
                  <a:schemeClr val="accent2"/>
                </a:solidFill>
              </a:rPr>
              <a:t>nbr.col</a:t>
            </a:r>
            <a:r>
              <a:rPr kumimoji="0" lang="en-US" altLang="zh-CN" sz="2200" b="1" dirty="0">
                <a:solidFill>
                  <a:schemeClr val="accent2"/>
                </a:solidFill>
              </a:rPr>
              <a:t> = </a:t>
            </a:r>
            <a:r>
              <a:rPr kumimoji="0" lang="en-US" altLang="zh-CN" sz="2200" b="1" dirty="0" err="1">
                <a:solidFill>
                  <a:schemeClr val="accent2"/>
                </a:solidFill>
              </a:rPr>
              <a:t>here.col</a:t>
            </a:r>
            <a:r>
              <a:rPr kumimoji="0" lang="en-US" altLang="zh-CN" sz="2200" b="1" dirty="0">
                <a:solidFill>
                  <a:schemeClr val="accent2"/>
                </a:solidFill>
              </a:rPr>
              <a:t> + offset[</a:t>
            </a:r>
            <a:r>
              <a:rPr kumimoji="0" lang="en-US" altLang="zh-CN" sz="2200" b="1" dirty="0" err="1">
                <a:solidFill>
                  <a:schemeClr val="accent2"/>
                </a:solidFill>
              </a:rPr>
              <a:t>i</a:t>
            </a:r>
            <a:r>
              <a:rPr kumimoji="0" lang="en-US" altLang="zh-CN" sz="2200" b="1" dirty="0">
                <a:solidFill>
                  <a:schemeClr val="accent2"/>
                </a:solidFill>
              </a:rPr>
              <a:t>].col;</a:t>
            </a:r>
          </a:p>
          <a:p>
            <a:pPr algn="just" eaLnBrk="1" hangingPunct="1">
              <a:lnSpc>
                <a:spcPct val="80000"/>
              </a:lnSpc>
              <a:spcBef>
                <a:spcPct val="50000"/>
              </a:spcBef>
              <a:buFontTx/>
              <a:buNone/>
            </a:pPr>
            <a:r>
              <a:rPr kumimoji="0" lang="en-US" altLang="zh-CN" sz="2200" b="1" dirty="0">
                <a:solidFill>
                  <a:schemeClr val="accent2"/>
                </a:solidFill>
              </a:rPr>
              <a:t>         if (grid[</a:t>
            </a:r>
            <a:r>
              <a:rPr kumimoji="0" lang="en-US" altLang="zh-CN" sz="2200" b="1" dirty="0" err="1">
                <a:solidFill>
                  <a:schemeClr val="accent2"/>
                </a:solidFill>
              </a:rPr>
              <a:t>nbr.row</a:t>
            </a:r>
            <a:r>
              <a:rPr kumimoji="0" lang="en-US" altLang="zh-CN" sz="2200" b="1" dirty="0">
                <a:solidFill>
                  <a:schemeClr val="accent2"/>
                </a:solidFill>
              </a:rPr>
              <a:t>][</a:t>
            </a:r>
            <a:r>
              <a:rPr kumimoji="0" lang="en-US" altLang="zh-CN" sz="2200" b="1" dirty="0" err="1">
                <a:solidFill>
                  <a:schemeClr val="accent2"/>
                </a:solidFill>
              </a:rPr>
              <a:t>nbr.col</a:t>
            </a:r>
            <a:r>
              <a:rPr kumimoji="0" lang="en-US" altLang="zh-CN" sz="2200" b="1" dirty="0">
                <a:solidFill>
                  <a:schemeClr val="accent2"/>
                </a:solidFill>
              </a:rPr>
              <a:t>] == 0)</a:t>
            </a:r>
          </a:p>
          <a:p>
            <a:pPr algn="just" eaLnBrk="1" hangingPunct="1">
              <a:lnSpc>
                <a:spcPct val="80000"/>
              </a:lnSpc>
              <a:spcBef>
                <a:spcPct val="50000"/>
              </a:spcBef>
              <a:buFontTx/>
              <a:buNone/>
            </a:pPr>
            <a:r>
              <a:rPr kumimoji="0" lang="en-US" altLang="zh-CN" sz="2200" b="1" dirty="0">
                <a:solidFill>
                  <a:schemeClr val="accent2"/>
                </a:solidFill>
              </a:rPr>
              <a:t>         {  </a:t>
            </a:r>
            <a:r>
              <a:rPr kumimoji="0" lang="en-US" altLang="zh-CN" sz="2200" b="1" dirty="0"/>
              <a:t>// </a:t>
            </a:r>
            <a:r>
              <a:rPr kumimoji="0" lang="zh-CN" altLang="en-US" sz="2200" b="1" dirty="0">
                <a:latin typeface="华文中宋" panose="02010600040101010101" pitchFamily="2" charset="-122"/>
              </a:rPr>
              <a:t>该方格未标记，尝试布线</a:t>
            </a:r>
            <a:endParaRPr kumimoji="0" lang="zh-CN" altLang="en-US" sz="2200" b="1" dirty="0"/>
          </a:p>
          <a:p>
            <a:pPr algn="just" eaLnBrk="1" hangingPunct="1">
              <a:lnSpc>
                <a:spcPct val="80000"/>
              </a:lnSpc>
              <a:spcBef>
                <a:spcPct val="50000"/>
              </a:spcBef>
              <a:buFontTx/>
              <a:buNone/>
            </a:pPr>
            <a:r>
              <a:rPr kumimoji="0" lang="zh-CN" altLang="en-US" sz="2200" b="1" dirty="0">
                <a:solidFill>
                  <a:schemeClr val="accent2"/>
                </a:solidFill>
              </a:rPr>
              <a:t>                </a:t>
            </a:r>
            <a:r>
              <a:rPr kumimoji="0" lang="en-US" altLang="zh-CN" sz="2200" b="1" dirty="0">
                <a:solidFill>
                  <a:schemeClr val="accent2"/>
                </a:solidFill>
              </a:rPr>
              <a:t>grid[</a:t>
            </a:r>
            <a:r>
              <a:rPr kumimoji="0" lang="en-US" altLang="zh-CN" sz="2200" b="1" dirty="0" err="1">
                <a:solidFill>
                  <a:schemeClr val="accent2"/>
                </a:solidFill>
              </a:rPr>
              <a:t>nbr.row</a:t>
            </a:r>
            <a:r>
              <a:rPr kumimoji="0" lang="en-US" altLang="zh-CN" sz="2200" b="1" dirty="0">
                <a:solidFill>
                  <a:schemeClr val="accent2"/>
                </a:solidFill>
              </a:rPr>
              <a:t>][</a:t>
            </a:r>
            <a:r>
              <a:rPr kumimoji="0" lang="en-US" altLang="zh-CN" sz="2200" b="1" dirty="0" err="1">
                <a:solidFill>
                  <a:schemeClr val="accent2"/>
                </a:solidFill>
              </a:rPr>
              <a:t>nbr.col</a:t>
            </a:r>
            <a:r>
              <a:rPr kumimoji="0" lang="en-US" altLang="zh-CN" sz="2200" b="1" dirty="0">
                <a:solidFill>
                  <a:schemeClr val="accent2"/>
                </a:solidFill>
              </a:rPr>
              <a:t>] = grid[</a:t>
            </a:r>
            <a:r>
              <a:rPr kumimoji="0" lang="en-US" altLang="zh-CN" sz="2200" b="1" dirty="0" err="1">
                <a:solidFill>
                  <a:schemeClr val="accent2"/>
                </a:solidFill>
              </a:rPr>
              <a:t>here.row</a:t>
            </a:r>
            <a:r>
              <a:rPr kumimoji="0" lang="en-US" altLang="zh-CN" sz="2200" b="1" dirty="0">
                <a:solidFill>
                  <a:schemeClr val="accent2"/>
                </a:solidFill>
              </a:rPr>
              <a:t>][</a:t>
            </a:r>
            <a:r>
              <a:rPr kumimoji="0" lang="en-US" altLang="zh-CN" sz="2200" b="1" dirty="0" err="1">
                <a:solidFill>
                  <a:schemeClr val="accent2"/>
                </a:solidFill>
              </a:rPr>
              <a:t>here.col</a:t>
            </a:r>
            <a:r>
              <a:rPr kumimoji="0" lang="en-US" altLang="zh-CN" sz="2200" b="1" dirty="0">
                <a:solidFill>
                  <a:schemeClr val="accent2"/>
                </a:solidFill>
              </a:rPr>
              <a:t>] + 1;</a:t>
            </a:r>
          </a:p>
          <a:p>
            <a:pPr algn="just" eaLnBrk="1" hangingPunct="1">
              <a:lnSpc>
                <a:spcPct val="80000"/>
              </a:lnSpc>
              <a:spcBef>
                <a:spcPct val="50000"/>
              </a:spcBef>
              <a:buFontTx/>
              <a:buNone/>
            </a:pPr>
            <a:r>
              <a:rPr kumimoji="0" lang="en-US" altLang="zh-CN" sz="2200" b="1" dirty="0">
                <a:solidFill>
                  <a:schemeClr val="accent2"/>
                </a:solidFill>
              </a:rPr>
              <a:t>                if ((</a:t>
            </a:r>
            <a:r>
              <a:rPr kumimoji="0" lang="en-US" altLang="zh-CN" sz="2200" b="1" dirty="0" err="1">
                <a:solidFill>
                  <a:schemeClr val="accent2"/>
                </a:solidFill>
              </a:rPr>
              <a:t>nbr.row</a:t>
            </a:r>
            <a:r>
              <a:rPr kumimoji="0" lang="en-US" altLang="zh-CN" sz="2200" b="1" dirty="0">
                <a:solidFill>
                  <a:schemeClr val="accent2"/>
                </a:solidFill>
              </a:rPr>
              <a:t> == </a:t>
            </a:r>
            <a:r>
              <a:rPr kumimoji="0" lang="en-US" altLang="zh-CN" sz="2200" b="1" dirty="0" err="1">
                <a:solidFill>
                  <a:schemeClr val="accent2"/>
                </a:solidFill>
              </a:rPr>
              <a:t>finish.row</a:t>
            </a:r>
            <a:r>
              <a:rPr kumimoji="0" lang="en-US" altLang="zh-CN" sz="2200" b="1" dirty="0">
                <a:solidFill>
                  <a:schemeClr val="accent2"/>
                </a:solidFill>
              </a:rPr>
              <a:t>) &amp;&amp; (</a:t>
            </a:r>
            <a:r>
              <a:rPr kumimoji="0" lang="en-US" altLang="zh-CN" sz="2200" b="1" dirty="0" err="1">
                <a:solidFill>
                  <a:schemeClr val="accent2"/>
                </a:solidFill>
              </a:rPr>
              <a:t>nbr.col</a:t>
            </a:r>
            <a:r>
              <a:rPr kumimoji="0" lang="en-US" altLang="zh-CN" sz="2200" b="1" dirty="0">
                <a:solidFill>
                  <a:schemeClr val="accent2"/>
                </a:solidFill>
              </a:rPr>
              <a:t> == </a:t>
            </a:r>
            <a:r>
              <a:rPr kumimoji="0" lang="en-US" altLang="zh-CN" sz="2200" b="1" dirty="0" err="1">
                <a:solidFill>
                  <a:schemeClr val="accent2"/>
                </a:solidFill>
              </a:rPr>
              <a:t>finish.col</a:t>
            </a:r>
            <a:r>
              <a:rPr kumimoji="0" lang="en-US" altLang="zh-CN" sz="2200" b="1" dirty="0">
                <a:solidFill>
                  <a:schemeClr val="accent2"/>
                </a:solidFill>
              </a:rPr>
              <a:t>)) break; </a:t>
            </a:r>
          </a:p>
          <a:p>
            <a:pPr algn="just" eaLnBrk="1" hangingPunct="1">
              <a:lnSpc>
                <a:spcPct val="80000"/>
              </a:lnSpc>
              <a:spcBef>
                <a:spcPct val="50000"/>
              </a:spcBef>
              <a:buFontTx/>
              <a:buNone/>
            </a:pPr>
            <a:r>
              <a:rPr kumimoji="0" lang="en-US" altLang="zh-CN" sz="2200" b="1" dirty="0">
                <a:solidFill>
                  <a:schemeClr val="accent2"/>
                </a:solidFill>
              </a:rPr>
              <a:t>                </a:t>
            </a:r>
            <a:r>
              <a:rPr kumimoji="0" lang="en-US" altLang="zh-CN" sz="2200" b="1" dirty="0" err="1">
                <a:solidFill>
                  <a:schemeClr val="accent2"/>
                </a:solidFill>
              </a:rPr>
              <a:t>Q.Add</a:t>
            </a:r>
            <a:r>
              <a:rPr kumimoji="0" lang="en-US" altLang="zh-CN" sz="2200" b="1" dirty="0">
                <a:solidFill>
                  <a:schemeClr val="accent2"/>
                </a:solidFill>
              </a:rPr>
              <a:t>(</a:t>
            </a:r>
            <a:r>
              <a:rPr kumimoji="0" lang="en-US" altLang="zh-CN" sz="2200" b="1" dirty="0" err="1">
                <a:solidFill>
                  <a:schemeClr val="accent2"/>
                </a:solidFill>
              </a:rPr>
              <a:t>nbr</a:t>
            </a:r>
            <a:r>
              <a:rPr kumimoji="0" lang="en-US" altLang="zh-CN" sz="2200" b="1" dirty="0">
                <a:solidFill>
                  <a:schemeClr val="accent2"/>
                </a:solidFill>
              </a:rPr>
              <a:t>);</a:t>
            </a:r>
          </a:p>
          <a:p>
            <a:pPr algn="just" eaLnBrk="1" hangingPunct="1">
              <a:lnSpc>
                <a:spcPct val="80000"/>
              </a:lnSpc>
              <a:spcBef>
                <a:spcPct val="50000"/>
              </a:spcBef>
              <a:buFontTx/>
              <a:buNone/>
            </a:pPr>
            <a:r>
              <a:rPr kumimoji="0" lang="en-US" altLang="zh-CN" sz="2200" b="1" dirty="0">
                <a:solidFill>
                  <a:schemeClr val="accent2"/>
                </a:solidFill>
              </a:rPr>
              <a:t>         }</a:t>
            </a:r>
          </a:p>
          <a:p>
            <a:pPr algn="just" eaLnBrk="1" hangingPunct="1">
              <a:lnSpc>
                <a:spcPct val="80000"/>
              </a:lnSpc>
              <a:spcBef>
                <a:spcPct val="50000"/>
              </a:spcBef>
              <a:buFontTx/>
              <a:buNone/>
            </a:pPr>
            <a:r>
              <a:rPr kumimoji="0" lang="en-US" altLang="zh-CN" sz="2200" b="1" dirty="0">
                <a:solidFill>
                  <a:schemeClr val="accent2"/>
                </a:solidFill>
              </a:rPr>
              <a:t> }</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FD97E46A-27FC-4995-9691-AA01CB24A2C3}"/>
                  </a:ext>
                </a:extLst>
              </p14:cNvPr>
              <p14:cNvContentPartPr/>
              <p14:nvPr/>
            </p14:nvContentPartPr>
            <p14:xfrm>
              <a:off x="1051560" y="1686960"/>
              <a:ext cx="8033760" cy="3647160"/>
            </p14:xfrm>
          </p:contentPart>
        </mc:Choice>
        <mc:Fallback xmlns="">
          <p:pic>
            <p:nvPicPr>
              <p:cNvPr id="2" name="墨迹 1">
                <a:extLst>
                  <a:ext uri="{FF2B5EF4-FFF2-40B4-BE49-F238E27FC236}">
                    <a16:creationId xmlns:a16="http://schemas.microsoft.com/office/drawing/2014/main" id="{FD97E46A-27FC-4995-9691-AA01CB24A2C3}"/>
                  </a:ext>
                </a:extLst>
              </p:cNvPr>
              <p:cNvPicPr/>
              <p:nvPr/>
            </p:nvPicPr>
            <p:blipFill>
              <a:blip r:embed="rId3"/>
              <a:stretch>
                <a:fillRect/>
              </a:stretch>
            </p:blipFill>
            <p:spPr>
              <a:xfrm>
                <a:off x="1042200" y="1677600"/>
                <a:ext cx="8052480" cy="3665880"/>
              </a:xfrm>
              <a:prstGeom prst="rect">
                <a:avLst/>
              </a:prstGeom>
            </p:spPr>
          </p:pic>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1781D730-54CE-47C7-8848-FB46C076F6EC}"/>
              </a:ext>
            </a:extLst>
          </p:cNvPr>
          <p:cNvSpPr>
            <a:spLocks noGrp="1" noChangeArrowheads="1"/>
          </p:cNvSpPr>
          <p:nvPr>
            <p:ph type="title"/>
          </p:nvPr>
        </p:nvSpPr>
        <p:spPr bwMode="auto">
          <a:xfrm>
            <a:off x="685800" y="609600"/>
            <a:ext cx="777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pPr>
            <a:r>
              <a:rPr kumimoji="0" lang="zh-CN" altLang="en-US" sz="4000" b="1" dirty="0">
                <a:solidFill>
                  <a:schemeClr val="accent2"/>
                </a:solidFill>
                <a:latin typeface="华文中宋" panose="02010600040101010101" pitchFamily="2" charset="-122"/>
              </a:rPr>
              <a:t>路径查找</a:t>
            </a:r>
          </a:p>
        </p:txBody>
      </p:sp>
      <p:sp>
        <p:nvSpPr>
          <p:cNvPr id="123908" name="Text Box 4">
            <a:extLst>
              <a:ext uri="{FF2B5EF4-FFF2-40B4-BE49-F238E27FC236}">
                <a16:creationId xmlns:a16="http://schemas.microsoft.com/office/drawing/2014/main" id="{5DA41712-CB00-42CD-B405-1D3B0D9D21E5}"/>
              </a:ext>
            </a:extLst>
          </p:cNvPr>
          <p:cNvSpPr txBox="1">
            <a:spLocks noGrp="1" noChangeArrowheads="1"/>
          </p:cNvSpPr>
          <p:nvPr>
            <p:ph type="body" idx="1"/>
          </p:nvPr>
        </p:nvSpPr>
        <p:spPr bwMode="auto">
          <a:xfrm>
            <a:off x="609600" y="1524000"/>
            <a:ext cx="8153400" cy="1066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457200" indent="-457200" eaLnBrk="1" hangingPunct="1">
              <a:spcBef>
                <a:spcPct val="50000"/>
              </a:spcBef>
              <a:buFontTx/>
              <a:buNone/>
            </a:pPr>
            <a:r>
              <a:rPr kumimoji="0" lang="en-US" altLang="zh-CN" sz="2800" b="1">
                <a:latin typeface="华文中宋" panose="02010600040101010101" pitchFamily="2" charset="-122"/>
              </a:rPr>
              <a:t>  </a:t>
            </a:r>
            <a:r>
              <a:rPr kumimoji="0" lang="zh-CN" altLang="en-US" sz="2800" b="1">
                <a:latin typeface="华文中宋" panose="02010600040101010101" pitchFamily="2" charset="-122"/>
              </a:rPr>
              <a:t>找到目标位置后，可以通过回溯方法找到这条最短路径。</a:t>
            </a:r>
          </a:p>
        </p:txBody>
      </p:sp>
      <p:sp>
        <p:nvSpPr>
          <p:cNvPr id="123909" name="Text Box 5">
            <a:extLst>
              <a:ext uri="{FF2B5EF4-FFF2-40B4-BE49-F238E27FC236}">
                <a16:creationId xmlns:a16="http://schemas.microsoft.com/office/drawing/2014/main" id="{F995D009-7934-4214-BD72-4B90D828C708}"/>
              </a:ext>
            </a:extLst>
          </p:cNvPr>
          <p:cNvSpPr txBox="1">
            <a:spLocks noChangeArrowheads="1"/>
          </p:cNvSpPr>
          <p:nvPr/>
        </p:nvSpPr>
        <p:spPr bwMode="auto">
          <a:xfrm>
            <a:off x="609600" y="2743200"/>
            <a:ext cx="80772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sz="2800" b="1" dirty="0">
                <a:latin typeface="华文中宋" panose="02010600040101010101" pitchFamily="2" charset="-122"/>
                <a:ea typeface="华文中宋" panose="02010600040101010101" pitchFamily="2" charset="-122"/>
              </a:rPr>
              <a:t>构造最短路径：</a:t>
            </a:r>
          </a:p>
          <a:p>
            <a:pPr eaLnBrk="1" hangingPunct="1">
              <a:spcBef>
                <a:spcPct val="50000"/>
              </a:spcBef>
              <a:buFontTx/>
              <a:buAutoNum type="arabicPeriod"/>
            </a:pPr>
            <a:r>
              <a:rPr kumimoji="0" lang="zh-CN" altLang="en-US" sz="2800" b="1" dirty="0">
                <a:latin typeface="Arial" panose="020B0604020202020204" pitchFamily="34" charset="0"/>
                <a:ea typeface="华文中宋" panose="02010600040101010101" pitchFamily="2" charset="-122"/>
              </a:rPr>
              <a:t>从终点</a:t>
            </a:r>
            <a:r>
              <a:rPr kumimoji="0" lang="en-US" altLang="zh-CN" sz="2800" b="1" dirty="0">
                <a:latin typeface="Arial" panose="020B0604020202020204" pitchFamily="34" charset="0"/>
                <a:ea typeface="华文中宋" panose="02010600040101010101" pitchFamily="2" charset="-122"/>
              </a:rPr>
              <a:t>finish</a:t>
            </a:r>
            <a:r>
              <a:rPr kumimoji="0" lang="zh-CN" altLang="en-US" sz="2800" b="1" dirty="0">
                <a:latin typeface="Arial" panose="020B0604020202020204" pitchFamily="34" charset="0"/>
                <a:ea typeface="华文中宋" panose="02010600040101010101" pitchFamily="2" charset="-122"/>
              </a:rPr>
              <a:t>出发，</a:t>
            </a:r>
            <a:r>
              <a:rPr kumimoji="0" lang="zh-CN" altLang="en-US" sz="2800" b="1" dirty="0">
                <a:latin typeface="华文中宋" panose="02010600040101010101" pitchFamily="2" charset="-122"/>
                <a:ea typeface="华文中宋" panose="02010600040101010101" pitchFamily="2" charset="-122"/>
              </a:rPr>
              <a:t>开始向起始方格方向回溯。先</a:t>
            </a:r>
            <a:r>
              <a:rPr kumimoji="0" lang="zh-CN" altLang="en-US" sz="2800" b="1" dirty="0">
                <a:latin typeface="Arial" panose="020B0604020202020204" pitchFamily="34" charset="0"/>
                <a:ea typeface="华文中宋" panose="02010600040101010101" pitchFamily="2" charset="-122"/>
              </a:rPr>
              <a:t>把它作为当前结点</a:t>
            </a:r>
            <a:r>
              <a:rPr kumimoji="0" lang="zh-CN" altLang="en-US" sz="2800" b="1" dirty="0">
                <a:latin typeface="华文中宋" panose="02010600040101010101" pitchFamily="2" charset="-122"/>
                <a:ea typeface="华文中宋" panose="02010600040101010101" pitchFamily="2" charset="-122"/>
              </a:rPr>
              <a:t>。</a:t>
            </a:r>
          </a:p>
          <a:p>
            <a:pPr eaLnBrk="1" hangingPunct="1">
              <a:spcBef>
                <a:spcPct val="50000"/>
              </a:spcBef>
              <a:buFontTx/>
              <a:buAutoNum type="arabicPeriod"/>
            </a:pPr>
            <a:r>
              <a:rPr kumimoji="0" lang="zh-CN" altLang="en-US" sz="2800" b="1" dirty="0">
                <a:latin typeface="华文中宋" panose="02010600040101010101" pitchFamily="2" charset="-122"/>
                <a:ea typeface="华文中宋" panose="02010600040101010101" pitchFamily="2" charset="-122"/>
              </a:rPr>
              <a:t>每次向标记距离比当前方格标记距离少</a:t>
            </a:r>
            <a:r>
              <a:rPr kumimoji="0" lang="en-US" altLang="zh-CN" sz="2800" b="1" dirty="0">
                <a:latin typeface="华文中宋" panose="02010600040101010101" pitchFamily="2" charset="-122"/>
                <a:ea typeface="华文中宋" panose="02010600040101010101" pitchFamily="2" charset="-122"/>
              </a:rPr>
              <a:t>1</a:t>
            </a:r>
            <a:r>
              <a:rPr kumimoji="0" lang="zh-CN" altLang="en-US" sz="2800" b="1" dirty="0">
                <a:latin typeface="华文中宋" panose="02010600040101010101" pitchFamily="2" charset="-122"/>
                <a:ea typeface="华文中宋" panose="02010600040101010101" pitchFamily="2" charset="-122"/>
              </a:rPr>
              <a:t>的相邻方格移动，直至到达起始方格时为止。搜索时，比较相邻</a:t>
            </a:r>
            <a:r>
              <a:rPr kumimoji="0" lang="en-US" altLang="zh-CN" sz="2800" b="1" dirty="0">
                <a:latin typeface="华文中宋" panose="02010600040101010101" pitchFamily="2" charset="-122"/>
                <a:ea typeface="华文中宋" panose="02010600040101010101" pitchFamily="2" charset="-122"/>
              </a:rPr>
              <a:t>4</a:t>
            </a:r>
            <a:r>
              <a:rPr kumimoji="0" lang="zh-CN" altLang="en-US" sz="2800" b="1" dirty="0">
                <a:latin typeface="华文中宋" panose="02010600040101010101" pitchFamily="2" charset="-122"/>
                <a:ea typeface="华文中宋" panose="02010600040101010101" pitchFamily="2" charset="-122"/>
              </a:rPr>
              <a:t>个方格的标号。</a:t>
            </a:r>
            <a:endParaRPr kumimoji="0" lang="zh-CN" altLang="en-US" sz="2800" b="1" dirty="0">
              <a:latin typeface="Arial" panose="020B0604020202020204" pitchFamily="34"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3908"/>
                                        </p:tgtEl>
                                        <p:attrNameLst>
                                          <p:attrName>style.visibility</p:attrName>
                                        </p:attrNameLst>
                                      </p:cBhvr>
                                      <p:to>
                                        <p:strVal val="visible"/>
                                      </p:to>
                                    </p:set>
                                    <p:anim calcmode="lin" valueType="num">
                                      <p:cBhvr additive="base">
                                        <p:cTn id="7" dur="500" fill="hold"/>
                                        <p:tgtEl>
                                          <p:spTgt spid="123908"/>
                                        </p:tgtEl>
                                        <p:attrNameLst>
                                          <p:attrName>ppt_x</p:attrName>
                                        </p:attrNameLst>
                                      </p:cBhvr>
                                      <p:tavLst>
                                        <p:tav tm="0">
                                          <p:val>
                                            <p:strVal val="#ppt_x"/>
                                          </p:val>
                                        </p:tav>
                                        <p:tav tm="100000">
                                          <p:val>
                                            <p:strVal val="#ppt_x"/>
                                          </p:val>
                                        </p:tav>
                                      </p:tavLst>
                                    </p:anim>
                                    <p:anim calcmode="lin" valueType="num">
                                      <p:cBhvr additive="base">
                                        <p:cTn id="8" dur="500" fill="hold"/>
                                        <p:tgtEl>
                                          <p:spTgt spid="12390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3909"/>
                                        </p:tgtEl>
                                        <p:attrNameLst>
                                          <p:attrName>style.visibility</p:attrName>
                                        </p:attrNameLst>
                                      </p:cBhvr>
                                      <p:to>
                                        <p:strVal val="visible"/>
                                      </p:to>
                                    </p:set>
                                    <p:anim calcmode="lin" valueType="num">
                                      <p:cBhvr additive="base">
                                        <p:cTn id="13" dur="500" fill="hold"/>
                                        <p:tgtEl>
                                          <p:spTgt spid="123909"/>
                                        </p:tgtEl>
                                        <p:attrNameLst>
                                          <p:attrName>ppt_x</p:attrName>
                                        </p:attrNameLst>
                                      </p:cBhvr>
                                      <p:tavLst>
                                        <p:tav tm="0">
                                          <p:val>
                                            <p:strVal val="#ppt_x"/>
                                          </p:val>
                                        </p:tav>
                                        <p:tav tm="100000">
                                          <p:val>
                                            <p:strVal val="#ppt_x"/>
                                          </p:val>
                                        </p:tav>
                                      </p:tavLst>
                                    </p:anim>
                                    <p:anim calcmode="lin" valueType="num">
                                      <p:cBhvr additive="base">
                                        <p:cTn id="14" dur="500" fill="hold"/>
                                        <p:tgtEl>
                                          <p:spTgt spid="1239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8" grpId="0" autoUpdateAnimBg="0"/>
      <p:bldP spid="123909"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8CE66283-BBCC-42CA-8001-0CDD9DC90169}"/>
              </a:ext>
            </a:extLst>
          </p:cNvPr>
          <p:cNvSpPr>
            <a:spLocks noGrp="1" noChangeArrowheads="1"/>
          </p:cNvSpPr>
          <p:nvPr>
            <p:ph type="title"/>
          </p:nvPr>
        </p:nvSpPr>
        <p:spPr bwMode="auto">
          <a:xfrm>
            <a:off x="457200" y="152400"/>
            <a:ext cx="8153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pPr>
            <a:r>
              <a:rPr kumimoji="0" lang="zh-CN" altLang="en-US" sz="4000" b="1" dirty="0">
                <a:solidFill>
                  <a:srgbClr val="FF0000"/>
                </a:solidFill>
                <a:latin typeface="Arial" panose="020B0604020202020204" pitchFamily="34" charset="0"/>
              </a:rPr>
              <a:t>深度优先搜索</a:t>
            </a:r>
            <a:r>
              <a:rPr kumimoji="0" lang="en-US" altLang="zh-CN" sz="4000" b="1" dirty="0">
                <a:solidFill>
                  <a:srgbClr val="FF0000"/>
                </a:solidFill>
                <a:latin typeface="Arial" panose="020B0604020202020204" pitchFamily="34" charset="0"/>
              </a:rPr>
              <a:t>DFS</a:t>
            </a:r>
            <a:r>
              <a:rPr kumimoji="0" lang="zh-CN" altLang="en-US" sz="4000" b="1" dirty="0">
                <a:solidFill>
                  <a:srgbClr val="FF0000"/>
                </a:solidFill>
                <a:latin typeface="Arial" panose="020B0604020202020204" pitchFamily="34" charset="0"/>
              </a:rPr>
              <a:t>解布线问题</a:t>
            </a:r>
            <a:r>
              <a:rPr kumimoji="0" lang="en-US" altLang="zh-CN" sz="4000" b="1" dirty="0">
                <a:solidFill>
                  <a:srgbClr val="FF0000"/>
                </a:solidFill>
                <a:latin typeface="Arial" panose="020B0604020202020204" pitchFamily="34" charset="0"/>
              </a:rPr>
              <a:t>-</a:t>
            </a:r>
            <a:r>
              <a:rPr kumimoji="0" lang="zh-CN" altLang="en-US" sz="4000" b="1" dirty="0">
                <a:solidFill>
                  <a:srgbClr val="FF0000"/>
                </a:solidFill>
                <a:latin typeface="Arial" panose="020B0604020202020204" pitchFamily="34" charset="0"/>
              </a:rPr>
              <a:t>补充</a:t>
            </a:r>
          </a:p>
        </p:txBody>
      </p:sp>
      <p:sp>
        <p:nvSpPr>
          <p:cNvPr id="56323" name="Rectangle 3">
            <a:extLst>
              <a:ext uri="{FF2B5EF4-FFF2-40B4-BE49-F238E27FC236}">
                <a16:creationId xmlns:a16="http://schemas.microsoft.com/office/drawing/2014/main" id="{EB0A70B2-FAD4-453A-9A59-83AEDA90C6EE}"/>
              </a:ext>
            </a:extLst>
          </p:cNvPr>
          <p:cNvSpPr>
            <a:spLocks noGrp="1" noChangeArrowheads="1"/>
          </p:cNvSpPr>
          <p:nvPr>
            <p:ph type="body" idx="1"/>
          </p:nvPr>
        </p:nvSpPr>
        <p:spPr bwMode="auto">
          <a:xfrm>
            <a:off x="685800" y="838200"/>
            <a:ext cx="7772400" cy="144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pPr>
            <a:r>
              <a:rPr lang="zh-CN" altLang="en-US" sz="2800" b="1" dirty="0"/>
              <a:t>二</a:t>
            </a:r>
            <a:r>
              <a:rPr lang="zh-CN" altLang="en-US" sz="2800" b="1" dirty="0">
                <a:latin typeface="华文中宋" panose="02010600040101010101" pitchFamily="2" charset="-122"/>
              </a:rPr>
              <a:t>维数组</a:t>
            </a:r>
            <a:r>
              <a:rPr lang="en-US" altLang="zh-CN" sz="2800" b="1" dirty="0">
                <a:latin typeface="华文中宋" panose="02010600040101010101" pitchFamily="2" charset="-122"/>
              </a:rPr>
              <a:t>grid[</a:t>
            </a:r>
            <a:r>
              <a:rPr lang="en-US" altLang="zh-CN" sz="2800" b="1" dirty="0" err="1">
                <a:latin typeface="华文中宋" panose="02010600040101010101" pitchFamily="2" charset="-122"/>
              </a:rPr>
              <a:t>i</a:t>
            </a:r>
            <a:r>
              <a:rPr lang="en-US" altLang="zh-CN" sz="2800" b="1" dirty="0">
                <a:latin typeface="华文中宋" panose="02010600040101010101" pitchFamily="2" charset="-122"/>
              </a:rPr>
              <a:t>][j]:</a:t>
            </a:r>
            <a:r>
              <a:rPr lang="zh-CN" altLang="en-US" sz="2800" b="1" dirty="0">
                <a:latin typeface="华文中宋" panose="02010600040101010101" pitchFamily="2" charset="-122"/>
              </a:rPr>
              <a:t>表示方格阵列</a:t>
            </a:r>
          </a:p>
          <a:p>
            <a:pPr eaLnBrk="1" hangingPunct="1">
              <a:lnSpc>
                <a:spcPct val="90000"/>
              </a:lnSpc>
            </a:pPr>
            <a:r>
              <a:rPr lang="zh-CN" altLang="en-US" sz="2800" b="1" dirty="0">
                <a:latin typeface="华文中宋" panose="02010600040101010101" pitchFamily="2" charset="-122"/>
              </a:rPr>
              <a:t>函数</a:t>
            </a:r>
            <a:r>
              <a:rPr lang="en-US" altLang="zh-CN" sz="2800" b="1" dirty="0">
                <a:latin typeface="华文中宋" panose="02010600040101010101" pitchFamily="2" charset="-122"/>
              </a:rPr>
              <a:t>search(</a:t>
            </a:r>
            <a:r>
              <a:rPr lang="en-US" altLang="zh-CN" sz="2800" b="1" dirty="0" err="1">
                <a:latin typeface="华文中宋" panose="02010600040101010101" pitchFamily="2" charset="-122"/>
              </a:rPr>
              <a:t>pos,count</a:t>
            </a:r>
            <a:r>
              <a:rPr lang="en-US" altLang="zh-CN" sz="2800" b="1" dirty="0">
                <a:latin typeface="华文中宋" panose="02010600040101010101" pitchFamily="2" charset="-122"/>
              </a:rPr>
              <a:t>)</a:t>
            </a:r>
            <a:r>
              <a:rPr lang="zh-CN" altLang="en-US" sz="2800" b="1" dirty="0">
                <a:latin typeface="华文中宋" panose="02010600040101010101" pitchFamily="2" charset="-122"/>
              </a:rPr>
              <a:t>：判断是否出界；该次移动次数是否大于前次搜索的移动次数</a:t>
            </a:r>
          </a:p>
        </p:txBody>
      </p:sp>
      <p:sp>
        <p:nvSpPr>
          <p:cNvPr id="56324" name="Rectangle 4">
            <a:extLst>
              <a:ext uri="{FF2B5EF4-FFF2-40B4-BE49-F238E27FC236}">
                <a16:creationId xmlns:a16="http://schemas.microsoft.com/office/drawing/2014/main" id="{1AFE87F1-9888-4CE6-833F-E0F7CE7D5794}"/>
              </a:ext>
            </a:extLst>
          </p:cNvPr>
          <p:cNvSpPr>
            <a:spLocks noChangeArrowheads="1"/>
          </p:cNvSpPr>
          <p:nvPr/>
        </p:nvSpPr>
        <p:spPr bwMode="auto">
          <a:xfrm>
            <a:off x="609600" y="2286000"/>
            <a:ext cx="8229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en-US" altLang="zh-CN" sz="2200" b="1">
                <a:ea typeface="华文中宋" panose="02010600040101010101" pitchFamily="2" charset="-122"/>
              </a:rPr>
              <a:t>void search(position pos,int count) { </a:t>
            </a:r>
          </a:p>
          <a:p>
            <a:pPr eaLnBrk="1" hangingPunct="1">
              <a:spcBef>
                <a:spcPct val="20000"/>
              </a:spcBef>
            </a:pPr>
            <a:r>
              <a:rPr lang="en-US" altLang="zh-CN" sz="2200" b="1">
                <a:ea typeface="华文中宋" panose="02010600040101010101" pitchFamily="2" charset="-122"/>
              </a:rPr>
              <a:t>  if </a:t>
            </a:r>
            <a:r>
              <a:rPr lang="zh-CN" altLang="en-US" sz="2200" b="1">
                <a:ea typeface="华文中宋" panose="02010600040101010101" pitchFamily="2" charset="-122"/>
              </a:rPr>
              <a:t>（</a:t>
            </a:r>
            <a:r>
              <a:rPr lang="en-US" altLang="zh-CN" sz="2200" b="1">
                <a:ea typeface="华文中宋" panose="02010600040101010101" pitchFamily="2" charset="-122"/>
              </a:rPr>
              <a:t>(pos.x&lt;1)||(pos.y&lt;1)||(pos.x&gt;m)||(pos.y&gt;n)</a:t>
            </a:r>
            <a:r>
              <a:rPr lang="zh-CN" altLang="en-US" sz="2200" b="1">
                <a:ea typeface="华文中宋" panose="02010600040101010101" pitchFamily="2" charset="-122"/>
              </a:rPr>
              <a:t>） </a:t>
            </a:r>
            <a:r>
              <a:rPr lang="en-US" altLang="zh-CN" sz="2200" b="1">
                <a:ea typeface="华文中宋" panose="02010600040101010101" pitchFamily="2" charset="-122"/>
              </a:rPr>
              <a:t>return;</a:t>
            </a:r>
          </a:p>
          <a:p>
            <a:pPr eaLnBrk="1" hangingPunct="1">
              <a:spcBef>
                <a:spcPct val="20000"/>
              </a:spcBef>
            </a:pPr>
            <a:r>
              <a:rPr lang="en-US" altLang="zh-CN" sz="2200" b="1">
                <a:ea typeface="华文中宋" panose="02010600040101010101" pitchFamily="2" charset="-122"/>
              </a:rPr>
              <a:t>   else if (grid[pos.x][pos.y]&lt;=count)return;</a:t>
            </a:r>
          </a:p>
          <a:p>
            <a:pPr eaLnBrk="1" hangingPunct="1">
              <a:spcBef>
                <a:spcPct val="20000"/>
              </a:spcBef>
            </a:pPr>
            <a:r>
              <a:rPr lang="en-US" altLang="zh-CN" sz="2200" b="1">
                <a:ea typeface="华文中宋" panose="02010600040101010101" pitchFamily="2" charset="-122"/>
              </a:rPr>
              <a:t>   else if ((pos.x==b.x)&amp;&amp;(pos.y==b.y))</a:t>
            </a:r>
            <a:r>
              <a:rPr lang="zh-CN" altLang="en-US" sz="2200" b="1">
                <a:ea typeface="华文中宋" panose="02010600040101010101" pitchFamily="2" charset="-122"/>
              </a:rPr>
              <a:t>输出解；</a:t>
            </a:r>
          </a:p>
          <a:p>
            <a:pPr eaLnBrk="1" hangingPunct="1">
              <a:spcBef>
                <a:spcPct val="20000"/>
              </a:spcBef>
            </a:pPr>
            <a:r>
              <a:rPr lang="zh-CN" altLang="en-US" sz="2200" b="1">
                <a:ea typeface="华文中宋" panose="02010600040101010101" pitchFamily="2" charset="-122"/>
              </a:rPr>
              <a:t>   </a:t>
            </a:r>
            <a:r>
              <a:rPr lang="en-US" altLang="zh-CN" sz="2200" b="1">
                <a:ea typeface="华文中宋" panose="02010600040101010101" pitchFamily="2" charset="-122"/>
              </a:rPr>
              <a:t>else{</a:t>
            </a:r>
          </a:p>
          <a:p>
            <a:pPr eaLnBrk="1" hangingPunct="1">
              <a:spcBef>
                <a:spcPct val="20000"/>
              </a:spcBef>
            </a:pPr>
            <a:r>
              <a:rPr lang="en-US" altLang="zh-CN" sz="2200" b="1">
                <a:ea typeface="华文中宋" panose="02010600040101010101" pitchFamily="2" charset="-122"/>
              </a:rPr>
              <a:t>   	 grid[pos.x,pos.y]=count;</a:t>
            </a:r>
          </a:p>
          <a:p>
            <a:pPr eaLnBrk="1" hangingPunct="1">
              <a:spcBef>
                <a:spcPct val="20000"/>
              </a:spcBef>
            </a:pPr>
            <a:r>
              <a:rPr lang="en-US" altLang="zh-CN" sz="2200" b="1">
                <a:ea typeface="华文中宋" panose="02010600040101010101" pitchFamily="2" charset="-122"/>
              </a:rPr>
              <a:t>  	 search(pos.x,pos.y+1,count+1); search(pos.x+1,pos.y,count+1);</a:t>
            </a:r>
          </a:p>
          <a:p>
            <a:pPr eaLnBrk="1" hangingPunct="1">
              <a:spcBef>
                <a:spcPct val="20000"/>
              </a:spcBef>
            </a:pPr>
            <a:r>
              <a:rPr lang="en-US" altLang="zh-CN" sz="2200" b="1">
                <a:ea typeface="华文中宋" panose="02010600040101010101" pitchFamily="2" charset="-122"/>
              </a:rPr>
              <a:t>   	search(pos.x,pos.y-1,count+1); search(pos.x-1,pos.y-1,count+1);}</a:t>
            </a:r>
          </a:p>
          <a:p>
            <a:pPr eaLnBrk="1" hangingPunct="1">
              <a:spcBef>
                <a:spcPct val="20000"/>
              </a:spcBef>
            </a:pPr>
            <a:r>
              <a:rPr lang="en-US" altLang="zh-CN" sz="2200" b="1">
                <a:ea typeface="华文中宋" panose="02010600040101010101" pitchFamily="2" charset="-122"/>
              </a:rPr>
              <a:t>}</a:t>
            </a:r>
          </a:p>
        </p:txBody>
      </p:sp>
      <p:sp>
        <p:nvSpPr>
          <p:cNvPr id="56325" name="AutoShape 5">
            <a:extLst>
              <a:ext uri="{FF2B5EF4-FFF2-40B4-BE49-F238E27FC236}">
                <a16:creationId xmlns:a16="http://schemas.microsoft.com/office/drawing/2014/main" id="{D49A96DE-DEC2-4B23-B46F-75FB3755456E}"/>
              </a:ext>
            </a:extLst>
          </p:cNvPr>
          <p:cNvSpPr>
            <a:spLocks noChangeArrowheads="1"/>
          </p:cNvSpPr>
          <p:nvPr/>
        </p:nvSpPr>
        <p:spPr bwMode="auto">
          <a:xfrm>
            <a:off x="6477000" y="3886200"/>
            <a:ext cx="1143000" cy="762000"/>
          </a:xfrm>
          <a:prstGeom prst="wedgeRoundRectCallout">
            <a:avLst>
              <a:gd name="adj1" fmla="val -156111"/>
              <a:gd name="adj2" fmla="val 78750"/>
              <a:gd name="adj3" fmla="val 16667"/>
            </a:avLst>
          </a:prstGeom>
          <a:solidFill>
            <a:schemeClr val="bg1"/>
          </a:solidFill>
          <a:ln w="9525">
            <a:solidFill>
              <a:schemeClr val="tx1"/>
            </a:solidFill>
            <a:miter lim="800000"/>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a:ea typeface="华文中宋" panose="02010600040101010101" pitchFamily="2" charset="-122"/>
              </a:rPr>
              <a:t>右旋</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B9761FC5-BC63-4DAD-9BD3-174933E9C980}"/>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a:latin typeface="华文中宋" panose="02010600040101010101" pitchFamily="2" charset="-122"/>
              </a:rPr>
              <a:t>主程序</a:t>
            </a:r>
          </a:p>
        </p:txBody>
      </p:sp>
      <p:sp>
        <p:nvSpPr>
          <p:cNvPr id="57347" name="Rectangle 3">
            <a:extLst>
              <a:ext uri="{FF2B5EF4-FFF2-40B4-BE49-F238E27FC236}">
                <a16:creationId xmlns:a16="http://schemas.microsoft.com/office/drawing/2014/main" id="{E4F7C936-4AE0-40C3-B9FC-6A95E146762B}"/>
              </a:ext>
            </a:extLst>
          </p:cNvPr>
          <p:cNvSpPr>
            <a:spLocks noGrp="1" noChangeArrowheads="1"/>
          </p:cNvSpPr>
          <p:nvPr>
            <p:ph type="body" idx="1"/>
          </p:nvPr>
        </p:nvSpPr>
        <p:spPr bwMode="auto">
          <a:xfrm>
            <a:off x="609600" y="1524000"/>
            <a:ext cx="7772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pPr>
            <a:r>
              <a:rPr lang="en-US" altLang="zh-CN" sz="2800" b="1"/>
              <a:t>main(){</a:t>
            </a:r>
          </a:p>
          <a:p>
            <a:pPr eaLnBrk="1" hangingPunct="1">
              <a:buFontTx/>
              <a:buNone/>
            </a:pPr>
            <a:r>
              <a:rPr lang="en-US" altLang="zh-CN" sz="2800" b="1"/>
              <a:t>   for(int i=1;i&lt;=m;i++) </a:t>
            </a:r>
          </a:p>
          <a:p>
            <a:pPr eaLnBrk="1" hangingPunct="1">
              <a:buFontTx/>
              <a:buNone/>
            </a:pPr>
            <a:r>
              <a:rPr lang="en-US" altLang="zh-CN" sz="2800" b="1"/>
              <a:t>      for(int j=1;j&lt;=n;j++) </a:t>
            </a:r>
          </a:p>
          <a:p>
            <a:pPr eaLnBrk="1" hangingPunct="1">
              <a:buFontTx/>
              <a:buNone/>
            </a:pPr>
            <a:r>
              <a:rPr lang="en-US" altLang="zh-CN" sz="2800" b="1"/>
              <a:t>         grid[i][j]=30000;</a:t>
            </a:r>
          </a:p>
          <a:p>
            <a:pPr eaLnBrk="1" hangingPunct="1">
              <a:buFontTx/>
              <a:buNone/>
            </a:pPr>
            <a:r>
              <a:rPr lang="en-US" altLang="zh-CN" sz="2800" b="1"/>
              <a:t>      cin&gt;&gt;x1&gt;&gt;y1&gt;&gt;x2&gt;&gt;y2;  </a:t>
            </a:r>
            <a:r>
              <a:rPr lang="en-US" altLang="zh-CN" sz="2800" b="1">
                <a:solidFill>
                  <a:srgbClr val="FF0000"/>
                </a:solidFill>
              </a:rPr>
              <a:t>//</a:t>
            </a:r>
            <a:r>
              <a:rPr lang="zh-CN" altLang="en-US" sz="2800" b="1">
                <a:solidFill>
                  <a:srgbClr val="FF0000"/>
                </a:solidFill>
              </a:rPr>
              <a:t>取起点和终点坐标</a:t>
            </a:r>
          </a:p>
          <a:p>
            <a:pPr eaLnBrk="1" hangingPunct="1">
              <a:buFontTx/>
              <a:buNone/>
            </a:pPr>
            <a:r>
              <a:rPr lang="zh-CN" altLang="en-US" sz="2800" b="1"/>
              <a:t>      </a:t>
            </a:r>
            <a:r>
              <a:rPr lang="en-US" altLang="zh-CN" sz="2800" b="1"/>
              <a:t>search(x1,y1,0)</a:t>
            </a:r>
          </a:p>
          <a:p>
            <a:pPr eaLnBrk="1" hangingPunct="1">
              <a:buFontTx/>
              <a:buNone/>
            </a:pPr>
            <a:r>
              <a:rPr lang="en-US" altLang="zh-CN" sz="2800" b="1"/>
              <a:t>      …//</a:t>
            </a:r>
            <a:r>
              <a:rPr lang="zh-CN" altLang="en-US" sz="2800" b="1"/>
              <a:t>输出路径长度等</a:t>
            </a:r>
          </a:p>
          <a:p>
            <a:pPr eaLnBrk="1" hangingPunct="1">
              <a:buFontTx/>
              <a:buNone/>
            </a:pPr>
            <a:r>
              <a:rPr lang="en-US" altLang="zh-CN" sz="2800" b="1"/>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2E234EB7-2FEE-428A-8925-75FBA532007F}"/>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t>思考题</a:t>
            </a:r>
          </a:p>
        </p:txBody>
      </p:sp>
      <p:sp>
        <p:nvSpPr>
          <p:cNvPr id="58371" name="Rectangle 3">
            <a:extLst>
              <a:ext uri="{FF2B5EF4-FFF2-40B4-BE49-F238E27FC236}">
                <a16:creationId xmlns:a16="http://schemas.microsoft.com/office/drawing/2014/main" id="{605D1B73-79D0-44D4-B291-22F99D67ECCC}"/>
              </a:ext>
            </a:extLst>
          </p:cNvPr>
          <p:cNvSpPr>
            <a:spLocks noGrp="1" noChangeArrowheads="1"/>
          </p:cNvSpPr>
          <p:nvPr>
            <p:ph type="body" idx="1"/>
          </p:nvPr>
        </p:nvSpPr>
        <p:spPr bwMode="auto">
          <a:xfrm>
            <a:off x="685800" y="1600200"/>
            <a:ext cx="7772400" cy="449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dirty="0"/>
              <a:t>象棋棋盘上位置</a:t>
            </a:r>
            <a:r>
              <a:rPr lang="en-US" altLang="zh-CN" b="1" dirty="0"/>
              <a:t>a(x1,y1)</a:t>
            </a:r>
            <a:r>
              <a:rPr lang="zh-CN" altLang="en-US" b="1" dirty="0"/>
              <a:t>处有一只马，现要跳到位置</a:t>
            </a:r>
            <a:r>
              <a:rPr lang="en-US" altLang="zh-CN" b="1" dirty="0"/>
              <a:t>b(x2,y2)</a:t>
            </a:r>
            <a:r>
              <a:rPr lang="zh-CN" altLang="en-US" b="1" dirty="0"/>
              <a:t>。求最少的步数和路径。</a:t>
            </a:r>
          </a:p>
          <a:p>
            <a:pPr eaLnBrk="1" hangingPunct="1"/>
            <a:r>
              <a:rPr lang="zh-CN" altLang="en-US" b="1" dirty="0">
                <a:solidFill>
                  <a:srgbClr val="FF0000"/>
                </a:solidFill>
              </a:rPr>
              <a:t>上机实验题</a:t>
            </a:r>
            <a:r>
              <a:rPr lang="en-US" altLang="zh-CN" b="1" dirty="0">
                <a:solidFill>
                  <a:srgbClr val="FF0000"/>
                </a:solidFill>
              </a:rPr>
              <a:t>6</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B17C502A-9363-4AA0-B926-D6D86340337B}"/>
              </a:ext>
            </a:extLst>
          </p:cNvPr>
          <p:cNvSpPr>
            <a:spLocks noGrp="1" noChangeArrowheads="1"/>
          </p:cNvSpPr>
          <p:nvPr>
            <p:ph type="title"/>
          </p:nvPr>
        </p:nvSpPr>
        <p:spPr bwMode="auto">
          <a:xfrm>
            <a:off x="685800" y="1772816"/>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4800" b="1" dirty="0">
                <a:solidFill>
                  <a:srgbClr val="AC2F36"/>
                </a:solidFill>
              </a:rPr>
              <a:t>6.6 </a:t>
            </a:r>
            <a:r>
              <a:rPr lang="zh-CN" altLang="en-US" sz="4800" b="1" dirty="0">
                <a:solidFill>
                  <a:srgbClr val="AC2F36"/>
                </a:solidFill>
              </a:rPr>
              <a:t>最大团问题</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A624B226-6E37-419D-93CC-D269292C6C27}"/>
              </a:ext>
            </a:extLst>
          </p:cNvPr>
          <p:cNvSpPr>
            <a:spLocks noGrp="1" noChangeArrowheads="1"/>
          </p:cNvSpPr>
          <p:nvPr>
            <p:ph type="title"/>
          </p:nvPr>
        </p:nvSpPr>
        <p:spPr bwMode="auto">
          <a:xfrm>
            <a:off x="685800" y="152400"/>
            <a:ext cx="7772400"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a:solidFill>
                  <a:schemeClr val="accent2"/>
                </a:solidFill>
              </a:rPr>
              <a:t>1</a:t>
            </a:r>
            <a:r>
              <a:rPr lang="zh-CN" altLang="en-US">
                <a:solidFill>
                  <a:schemeClr val="accent2"/>
                </a:solidFill>
              </a:rPr>
              <a:t>、问题描述</a:t>
            </a:r>
          </a:p>
        </p:txBody>
      </p:sp>
      <p:sp>
        <p:nvSpPr>
          <p:cNvPr id="129027" name="Rectangle 3">
            <a:extLst>
              <a:ext uri="{FF2B5EF4-FFF2-40B4-BE49-F238E27FC236}">
                <a16:creationId xmlns:a16="http://schemas.microsoft.com/office/drawing/2014/main" id="{ABD7C8AA-91BD-484B-B84D-F6208C36F3A5}"/>
              </a:ext>
            </a:extLst>
          </p:cNvPr>
          <p:cNvSpPr>
            <a:spLocks noGrp="1" noChangeArrowheads="1"/>
          </p:cNvSpPr>
          <p:nvPr>
            <p:ph type="body" idx="1"/>
          </p:nvPr>
        </p:nvSpPr>
        <p:spPr bwMode="auto">
          <a:xfrm>
            <a:off x="685800" y="990600"/>
            <a:ext cx="7772400" cy="2971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609600" indent="-609600" eaLnBrk="1" hangingPunct="1">
              <a:lnSpc>
                <a:spcPct val="80000"/>
              </a:lnSpc>
              <a:spcBef>
                <a:spcPct val="50000"/>
              </a:spcBef>
            </a:pPr>
            <a:r>
              <a:rPr kumimoji="0" lang="zh-CN" altLang="en-US" sz="2800" b="1">
                <a:latin typeface="华文中宋" panose="02010600040101010101" pitchFamily="2" charset="-122"/>
              </a:rPr>
              <a:t>概念回顾：给定无向图</a:t>
            </a:r>
            <a:r>
              <a:rPr kumimoji="0" lang="en-US" altLang="zh-CN" sz="2800" b="1">
                <a:latin typeface="华文中宋" panose="02010600040101010101" pitchFamily="2" charset="-122"/>
              </a:rPr>
              <a:t>G=(V</a:t>
            </a:r>
            <a:r>
              <a:rPr kumimoji="0" lang="zh-CN" altLang="en-US" sz="2800" b="1">
                <a:latin typeface="华文中宋" panose="02010600040101010101" pitchFamily="2" charset="-122"/>
              </a:rPr>
              <a:t>，</a:t>
            </a:r>
            <a:r>
              <a:rPr kumimoji="0" lang="en-US" altLang="zh-CN" sz="2800" b="1">
                <a:latin typeface="华文中宋" panose="02010600040101010101" pitchFamily="2" charset="-122"/>
              </a:rPr>
              <a:t>E)</a:t>
            </a:r>
            <a:r>
              <a:rPr kumimoji="0" lang="zh-CN" altLang="en-US" sz="2800" b="1">
                <a:latin typeface="华文中宋" panose="02010600040101010101" pitchFamily="2" charset="-122"/>
              </a:rPr>
              <a:t>。</a:t>
            </a:r>
          </a:p>
          <a:p>
            <a:pPr marL="609600" indent="-609600" eaLnBrk="1" hangingPunct="1">
              <a:lnSpc>
                <a:spcPct val="80000"/>
              </a:lnSpc>
              <a:spcBef>
                <a:spcPct val="50000"/>
              </a:spcBef>
              <a:buFontTx/>
              <a:buAutoNum type="arabicPeriod"/>
            </a:pPr>
            <a:r>
              <a:rPr kumimoji="0" lang="zh-CN" altLang="en-US" sz="2800" b="1">
                <a:latin typeface="华文中宋" panose="02010600040101010101" pitchFamily="2" charset="-122"/>
              </a:rPr>
              <a:t>如果</a:t>
            </a:r>
            <a:r>
              <a:rPr kumimoji="0" lang="en-US" altLang="zh-CN" sz="2800" b="1">
                <a:latin typeface="华文中宋" panose="02010600040101010101" pitchFamily="2" charset="-122"/>
              </a:rPr>
              <a:t>U</a:t>
            </a:r>
            <a:r>
              <a:rPr kumimoji="0" lang="en-US" altLang="zh-CN" sz="2800" b="1">
                <a:latin typeface="华文中宋" panose="02010600040101010101" pitchFamily="2" charset="-122"/>
                <a:sym typeface="Symbol" panose="05050102010706020507" pitchFamily="18" charset="2"/>
              </a:rPr>
              <a:t></a:t>
            </a:r>
            <a:r>
              <a:rPr kumimoji="0" lang="en-US" altLang="zh-CN" sz="2800" b="1">
                <a:latin typeface="华文中宋" panose="02010600040101010101" pitchFamily="2" charset="-122"/>
              </a:rPr>
              <a:t>V</a:t>
            </a:r>
            <a:r>
              <a:rPr kumimoji="0" lang="zh-CN" altLang="en-US" sz="2800" b="1">
                <a:latin typeface="华文中宋" panose="02010600040101010101" pitchFamily="2" charset="-122"/>
              </a:rPr>
              <a:t>，且对任意</a:t>
            </a:r>
            <a:r>
              <a:rPr kumimoji="0" lang="en-US" altLang="zh-CN" sz="2800" b="1">
                <a:latin typeface="华文中宋" panose="02010600040101010101" pitchFamily="2" charset="-122"/>
              </a:rPr>
              <a:t>u</a:t>
            </a:r>
            <a:r>
              <a:rPr kumimoji="0" lang="zh-CN" altLang="en-US" sz="2800" b="1">
                <a:latin typeface="华文中宋" panose="02010600040101010101" pitchFamily="2" charset="-122"/>
              </a:rPr>
              <a:t>，</a:t>
            </a:r>
            <a:r>
              <a:rPr kumimoji="0" lang="en-US" altLang="zh-CN" sz="2800" b="1">
                <a:latin typeface="华文中宋" panose="02010600040101010101" pitchFamily="2" charset="-122"/>
              </a:rPr>
              <a:t>v</a:t>
            </a:r>
            <a:r>
              <a:rPr kumimoji="0" lang="en-US" altLang="zh-CN" sz="2800" b="1">
                <a:latin typeface="华文中宋" panose="02010600040101010101" pitchFamily="2" charset="-122"/>
                <a:sym typeface="Symbol" panose="05050102010706020507" pitchFamily="18" charset="2"/>
              </a:rPr>
              <a:t></a:t>
            </a:r>
            <a:r>
              <a:rPr kumimoji="0" lang="en-US" altLang="zh-CN" sz="2800" b="1">
                <a:latin typeface="华文中宋" panose="02010600040101010101" pitchFamily="2" charset="-122"/>
              </a:rPr>
              <a:t>U</a:t>
            </a:r>
            <a:r>
              <a:rPr kumimoji="0" lang="zh-CN" altLang="en-US" sz="2800" b="1">
                <a:latin typeface="华文中宋" panose="02010600040101010101" pitchFamily="2" charset="-122"/>
              </a:rPr>
              <a:t>有</a:t>
            </a:r>
            <a:r>
              <a:rPr kumimoji="0" lang="en-US" altLang="zh-CN" sz="2800" b="1">
                <a:latin typeface="华文中宋" panose="02010600040101010101" pitchFamily="2" charset="-122"/>
              </a:rPr>
              <a:t>(u</a:t>
            </a:r>
            <a:r>
              <a:rPr kumimoji="0" lang="zh-CN" altLang="en-US" sz="2800" b="1">
                <a:latin typeface="华文中宋" panose="02010600040101010101" pitchFamily="2" charset="-122"/>
              </a:rPr>
              <a:t>，</a:t>
            </a:r>
            <a:r>
              <a:rPr kumimoji="0" lang="en-US" altLang="zh-CN" sz="2800" b="1">
                <a:latin typeface="华文中宋" panose="02010600040101010101" pitchFamily="2" charset="-122"/>
              </a:rPr>
              <a:t>v)</a:t>
            </a:r>
            <a:r>
              <a:rPr kumimoji="0" lang="en-US" altLang="zh-CN" sz="2800" b="1">
                <a:latin typeface="华文中宋" panose="02010600040101010101" pitchFamily="2" charset="-122"/>
                <a:sym typeface="Symbol" panose="05050102010706020507" pitchFamily="18" charset="2"/>
              </a:rPr>
              <a:t></a:t>
            </a:r>
            <a:r>
              <a:rPr kumimoji="0" lang="en-US" altLang="zh-CN" sz="2800" b="1">
                <a:latin typeface="华文中宋" panose="02010600040101010101" pitchFamily="2" charset="-122"/>
              </a:rPr>
              <a:t>E</a:t>
            </a:r>
            <a:r>
              <a:rPr kumimoji="0" lang="zh-CN" altLang="en-US" sz="2800" b="1">
                <a:latin typeface="华文中宋" panose="02010600040101010101" pitchFamily="2" charset="-122"/>
              </a:rPr>
              <a:t>，则称</a:t>
            </a:r>
            <a:r>
              <a:rPr kumimoji="0" lang="en-US" altLang="zh-CN" sz="2800" b="1">
                <a:latin typeface="华文中宋" panose="02010600040101010101" pitchFamily="2" charset="-122"/>
              </a:rPr>
              <a:t>U</a:t>
            </a:r>
            <a:r>
              <a:rPr kumimoji="0" lang="zh-CN" altLang="en-US" sz="2800" b="1">
                <a:latin typeface="华文中宋" panose="02010600040101010101" pitchFamily="2" charset="-122"/>
              </a:rPr>
              <a:t>是</a:t>
            </a:r>
            <a:r>
              <a:rPr kumimoji="0" lang="en-US" altLang="zh-CN" sz="2800" b="1">
                <a:latin typeface="华文中宋" panose="02010600040101010101" pitchFamily="2" charset="-122"/>
              </a:rPr>
              <a:t>G</a:t>
            </a:r>
            <a:r>
              <a:rPr kumimoji="0" lang="zh-CN" altLang="en-US" sz="2800" b="1">
                <a:latin typeface="华文中宋" panose="02010600040101010101" pitchFamily="2" charset="-122"/>
              </a:rPr>
              <a:t>的完全子图。</a:t>
            </a:r>
          </a:p>
          <a:p>
            <a:pPr marL="609600" indent="-609600" eaLnBrk="1" hangingPunct="1">
              <a:lnSpc>
                <a:spcPct val="80000"/>
              </a:lnSpc>
              <a:spcBef>
                <a:spcPct val="50000"/>
              </a:spcBef>
              <a:buFontTx/>
              <a:buAutoNum type="arabicPeriod"/>
            </a:pPr>
            <a:r>
              <a:rPr kumimoji="0" lang="en-US" altLang="zh-CN" sz="2800" b="1">
                <a:latin typeface="华文中宋" panose="02010600040101010101" pitchFamily="2" charset="-122"/>
              </a:rPr>
              <a:t>G</a:t>
            </a:r>
            <a:r>
              <a:rPr kumimoji="0" lang="zh-CN" altLang="en-US" sz="2800" b="1">
                <a:latin typeface="华文中宋" panose="02010600040101010101" pitchFamily="2" charset="-122"/>
              </a:rPr>
              <a:t>的完全子图</a:t>
            </a:r>
            <a:r>
              <a:rPr kumimoji="0" lang="en-US" altLang="zh-CN" sz="2800" b="1">
                <a:latin typeface="华文中宋" panose="02010600040101010101" pitchFamily="2" charset="-122"/>
              </a:rPr>
              <a:t>U</a:t>
            </a:r>
            <a:r>
              <a:rPr kumimoji="0" lang="zh-CN" altLang="en-US" sz="2800" b="1">
                <a:latin typeface="华文中宋" panose="02010600040101010101" pitchFamily="2" charset="-122"/>
              </a:rPr>
              <a:t>是</a:t>
            </a:r>
            <a:r>
              <a:rPr kumimoji="0" lang="en-US" altLang="zh-CN" sz="2800" b="1">
                <a:latin typeface="华文中宋" panose="02010600040101010101" pitchFamily="2" charset="-122"/>
              </a:rPr>
              <a:t>G</a:t>
            </a:r>
            <a:r>
              <a:rPr kumimoji="0" lang="zh-CN" altLang="en-US" sz="2800" b="1">
                <a:latin typeface="华文中宋" panose="02010600040101010101" pitchFamily="2" charset="-122"/>
              </a:rPr>
              <a:t>的团，当且仅当，</a:t>
            </a:r>
            <a:r>
              <a:rPr kumimoji="0" lang="en-US" altLang="zh-CN" sz="2800" b="1">
                <a:latin typeface="华文中宋" panose="02010600040101010101" pitchFamily="2" charset="-122"/>
              </a:rPr>
              <a:t>U</a:t>
            </a:r>
            <a:r>
              <a:rPr kumimoji="0" lang="zh-CN" altLang="en-US" sz="2800" b="1">
                <a:latin typeface="华文中宋" panose="02010600040101010101" pitchFamily="2" charset="-122"/>
              </a:rPr>
              <a:t>不包含在</a:t>
            </a:r>
            <a:r>
              <a:rPr kumimoji="0" lang="en-US" altLang="zh-CN" sz="2800" b="1">
                <a:latin typeface="华文中宋" panose="02010600040101010101" pitchFamily="2" charset="-122"/>
              </a:rPr>
              <a:t>G</a:t>
            </a:r>
            <a:r>
              <a:rPr kumimoji="0" lang="zh-CN" altLang="en-US" sz="2800" b="1">
                <a:latin typeface="华文中宋" panose="02010600040101010101" pitchFamily="2" charset="-122"/>
              </a:rPr>
              <a:t>的更大的完全子图中。</a:t>
            </a:r>
          </a:p>
          <a:p>
            <a:pPr marL="609600" indent="-609600" eaLnBrk="1" hangingPunct="1">
              <a:lnSpc>
                <a:spcPct val="80000"/>
              </a:lnSpc>
              <a:spcBef>
                <a:spcPct val="50000"/>
              </a:spcBef>
              <a:buFontTx/>
              <a:buAutoNum type="arabicPeriod"/>
            </a:pPr>
            <a:r>
              <a:rPr kumimoji="0" lang="en-US" altLang="zh-CN" sz="2800" b="1">
                <a:latin typeface="华文中宋" panose="02010600040101010101" pitchFamily="2" charset="-122"/>
              </a:rPr>
              <a:t>G</a:t>
            </a:r>
            <a:r>
              <a:rPr kumimoji="0" lang="zh-CN" altLang="en-US" sz="2800" b="1">
                <a:latin typeface="华文中宋" panose="02010600040101010101" pitchFamily="2" charset="-122"/>
              </a:rPr>
              <a:t>的最大团是指</a:t>
            </a:r>
            <a:r>
              <a:rPr kumimoji="0" lang="en-US" altLang="zh-CN" sz="2800" b="1">
                <a:latin typeface="华文中宋" panose="02010600040101010101" pitchFamily="2" charset="-122"/>
              </a:rPr>
              <a:t>G</a:t>
            </a:r>
            <a:r>
              <a:rPr kumimoji="0" lang="zh-CN" altLang="en-US" sz="2800" b="1">
                <a:latin typeface="华文中宋" panose="02010600040101010101" pitchFamily="2" charset="-122"/>
              </a:rPr>
              <a:t>中所含顶点数最多的团。</a:t>
            </a:r>
          </a:p>
        </p:txBody>
      </p:sp>
      <p:sp>
        <p:nvSpPr>
          <p:cNvPr id="129028" name="Rectangle 4">
            <a:extLst>
              <a:ext uri="{FF2B5EF4-FFF2-40B4-BE49-F238E27FC236}">
                <a16:creationId xmlns:a16="http://schemas.microsoft.com/office/drawing/2014/main" id="{B76525DD-E1E8-4A84-B7DD-B4766E107E1B}"/>
              </a:ext>
            </a:extLst>
          </p:cNvPr>
          <p:cNvSpPr>
            <a:spLocks noChangeArrowheads="1"/>
          </p:cNvSpPr>
          <p:nvPr/>
        </p:nvSpPr>
        <p:spPr bwMode="auto">
          <a:xfrm>
            <a:off x="228600" y="3962400"/>
            <a:ext cx="57912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kumimoji="0" lang="zh-CN" altLang="en-US" sz="2800" b="1">
                <a:latin typeface="华文中宋" panose="02010600040101010101" pitchFamily="2" charset="-122"/>
                <a:ea typeface="华文中宋" panose="02010600040101010101" pitchFamily="2" charset="-122"/>
              </a:rPr>
              <a:t>例：图</a:t>
            </a:r>
            <a:r>
              <a:rPr kumimoji="0" lang="en-US" altLang="zh-CN" sz="2800" b="1">
                <a:latin typeface="华文中宋" panose="02010600040101010101" pitchFamily="2" charset="-122"/>
                <a:ea typeface="华文中宋" panose="02010600040101010101" pitchFamily="2" charset="-122"/>
              </a:rPr>
              <a:t>G</a:t>
            </a:r>
            <a:r>
              <a:rPr kumimoji="0" lang="zh-CN" altLang="en-US" sz="2800" b="1">
                <a:latin typeface="华文中宋" panose="02010600040101010101" pitchFamily="2" charset="-122"/>
                <a:ea typeface="华文中宋" panose="02010600040101010101" pitchFamily="2" charset="-122"/>
              </a:rPr>
              <a:t>中，子集</a:t>
            </a:r>
            <a:r>
              <a:rPr kumimoji="0" lang="en-US" altLang="zh-CN" sz="2800" b="1">
                <a:latin typeface="华文中宋" panose="02010600040101010101" pitchFamily="2" charset="-122"/>
                <a:ea typeface="华文中宋" panose="02010600040101010101" pitchFamily="2" charset="-122"/>
              </a:rPr>
              <a:t>{1</a:t>
            </a:r>
            <a:r>
              <a:rPr kumimoji="0" lang="zh-CN" altLang="en-US" sz="2800" b="1">
                <a:latin typeface="华文中宋" panose="02010600040101010101" pitchFamily="2" charset="-122"/>
                <a:ea typeface="华文中宋" panose="02010600040101010101" pitchFamily="2" charset="-122"/>
              </a:rPr>
              <a:t>，</a:t>
            </a:r>
            <a:r>
              <a:rPr kumimoji="0" lang="en-US" altLang="zh-CN" sz="2800" b="1">
                <a:latin typeface="华文中宋" panose="02010600040101010101" pitchFamily="2" charset="-122"/>
                <a:ea typeface="华文中宋" panose="02010600040101010101" pitchFamily="2" charset="-122"/>
              </a:rPr>
              <a:t>2}</a:t>
            </a:r>
            <a:r>
              <a:rPr kumimoji="0" lang="zh-CN" altLang="en-US" sz="2800" b="1">
                <a:latin typeface="华文中宋" panose="02010600040101010101" pitchFamily="2" charset="-122"/>
                <a:ea typeface="华文中宋" panose="02010600040101010101" pitchFamily="2" charset="-122"/>
              </a:rPr>
              <a:t>是</a:t>
            </a:r>
            <a:r>
              <a:rPr kumimoji="0" lang="en-US" altLang="zh-CN" sz="2800" b="1">
                <a:latin typeface="华文中宋" panose="02010600040101010101" pitchFamily="2" charset="-122"/>
                <a:ea typeface="华文中宋" panose="02010600040101010101" pitchFamily="2" charset="-122"/>
              </a:rPr>
              <a:t>G</a:t>
            </a:r>
            <a:r>
              <a:rPr kumimoji="0" lang="zh-CN" altLang="en-US" sz="2800" b="1">
                <a:latin typeface="华文中宋" panose="02010600040101010101" pitchFamily="2" charset="-122"/>
                <a:ea typeface="华文中宋" panose="02010600040101010101" pitchFamily="2" charset="-122"/>
              </a:rPr>
              <a:t>的大小为</a:t>
            </a:r>
            <a:r>
              <a:rPr kumimoji="0" lang="en-US" altLang="zh-CN" sz="2800" b="1">
                <a:latin typeface="华文中宋" panose="02010600040101010101" pitchFamily="2" charset="-122"/>
                <a:ea typeface="华文中宋" panose="02010600040101010101" pitchFamily="2" charset="-122"/>
              </a:rPr>
              <a:t>2</a:t>
            </a:r>
            <a:r>
              <a:rPr kumimoji="0" lang="zh-CN" altLang="en-US" sz="2800" b="1">
                <a:latin typeface="华文中宋" panose="02010600040101010101" pitchFamily="2" charset="-122"/>
                <a:ea typeface="华文中宋" panose="02010600040101010101" pitchFamily="2" charset="-122"/>
              </a:rPr>
              <a:t>的完全子图。这个完全子图不是团，</a:t>
            </a:r>
            <a:r>
              <a:rPr kumimoji="0" lang="en-US" altLang="zh-CN" sz="2800" b="1">
                <a:latin typeface="华文中宋" panose="02010600040101010101" pitchFamily="2" charset="-122"/>
                <a:ea typeface="华文中宋" panose="02010600040101010101" pitchFamily="2" charset="-122"/>
              </a:rPr>
              <a:t>{1</a:t>
            </a:r>
            <a:r>
              <a:rPr kumimoji="0" lang="zh-CN" altLang="en-US" sz="2800" b="1">
                <a:latin typeface="华文中宋" panose="02010600040101010101" pitchFamily="2" charset="-122"/>
                <a:ea typeface="华文中宋" panose="02010600040101010101" pitchFamily="2" charset="-122"/>
              </a:rPr>
              <a:t>，</a:t>
            </a:r>
            <a:r>
              <a:rPr kumimoji="0" lang="en-US" altLang="zh-CN" sz="2800" b="1">
                <a:latin typeface="华文中宋" panose="02010600040101010101" pitchFamily="2" charset="-122"/>
                <a:ea typeface="华文中宋" panose="02010600040101010101" pitchFamily="2" charset="-122"/>
              </a:rPr>
              <a:t>2</a:t>
            </a:r>
            <a:r>
              <a:rPr kumimoji="0" lang="zh-CN" altLang="en-US" sz="2800" b="1">
                <a:latin typeface="华文中宋" panose="02010600040101010101" pitchFamily="2" charset="-122"/>
                <a:ea typeface="华文中宋" panose="02010600040101010101" pitchFamily="2" charset="-122"/>
              </a:rPr>
              <a:t>，</a:t>
            </a:r>
            <a:r>
              <a:rPr kumimoji="0" lang="en-US" altLang="zh-CN" sz="2800" b="1">
                <a:latin typeface="华文中宋" panose="02010600040101010101" pitchFamily="2" charset="-122"/>
                <a:ea typeface="华文中宋" panose="02010600040101010101" pitchFamily="2" charset="-122"/>
              </a:rPr>
              <a:t>5}</a:t>
            </a:r>
            <a:r>
              <a:rPr kumimoji="0" lang="zh-CN" altLang="en-US" sz="2800" b="1">
                <a:latin typeface="华文中宋" panose="02010600040101010101" pitchFamily="2" charset="-122"/>
                <a:ea typeface="华文中宋" panose="02010600040101010101" pitchFamily="2" charset="-122"/>
              </a:rPr>
              <a:t>是</a:t>
            </a:r>
            <a:r>
              <a:rPr kumimoji="0" lang="en-US" altLang="zh-CN" sz="2800" b="1">
                <a:latin typeface="华文中宋" panose="02010600040101010101" pitchFamily="2" charset="-122"/>
                <a:ea typeface="华文中宋" panose="02010600040101010101" pitchFamily="2" charset="-122"/>
              </a:rPr>
              <a:t>G</a:t>
            </a:r>
            <a:r>
              <a:rPr kumimoji="0" lang="zh-CN" altLang="en-US" sz="2800" b="1">
                <a:latin typeface="华文中宋" panose="02010600040101010101" pitchFamily="2" charset="-122"/>
                <a:ea typeface="华文中宋" panose="02010600040101010101" pitchFamily="2" charset="-122"/>
              </a:rPr>
              <a:t>的最大团。</a:t>
            </a:r>
            <a:r>
              <a:rPr kumimoji="0" lang="en-US" altLang="zh-CN" sz="2800" b="1">
                <a:latin typeface="华文中宋" panose="02010600040101010101" pitchFamily="2" charset="-122"/>
                <a:ea typeface="华文中宋" panose="02010600040101010101" pitchFamily="2" charset="-122"/>
              </a:rPr>
              <a:t>{1</a:t>
            </a:r>
            <a:r>
              <a:rPr kumimoji="0" lang="zh-CN" altLang="en-US" sz="2800" b="1">
                <a:latin typeface="华文中宋" panose="02010600040101010101" pitchFamily="2" charset="-122"/>
                <a:ea typeface="华文中宋" panose="02010600040101010101" pitchFamily="2" charset="-122"/>
              </a:rPr>
              <a:t>，</a:t>
            </a:r>
            <a:r>
              <a:rPr kumimoji="0" lang="en-US" altLang="zh-CN" sz="2800" b="1">
                <a:latin typeface="华文中宋" panose="02010600040101010101" pitchFamily="2" charset="-122"/>
                <a:ea typeface="华文中宋" panose="02010600040101010101" pitchFamily="2" charset="-122"/>
              </a:rPr>
              <a:t>4</a:t>
            </a:r>
            <a:r>
              <a:rPr kumimoji="0" lang="zh-CN" altLang="en-US" sz="2800" b="1">
                <a:latin typeface="华文中宋" panose="02010600040101010101" pitchFamily="2" charset="-122"/>
                <a:ea typeface="华文中宋" panose="02010600040101010101" pitchFamily="2" charset="-122"/>
              </a:rPr>
              <a:t>，</a:t>
            </a:r>
            <a:r>
              <a:rPr kumimoji="0" lang="en-US" altLang="zh-CN" sz="2800" b="1">
                <a:latin typeface="华文中宋" panose="02010600040101010101" pitchFamily="2" charset="-122"/>
                <a:ea typeface="华文中宋" panose="02010600040101010101" pitchFamily="2" charset="-122"/>
              </a:rPr>
              <a:t>5}</a:t>
            </a:r>
            <a:r>
              <a:rPr kumimoji="0" lang="zh-CN" altLang="en-US" sz="2800" b="1">
                <a:latin typeface="华文中宋" panose="02010600040101010101" pitchFamily="2" charset="-122"/>
                <a:ea typeface="华文中宋" panose="02010600040101010101" pitchFamily="2" charset="-122"/>
              </a:rPr>
              <a:t>和</a:t>
            </a:r>
            <a:r>
              <a:rPr kumimoji="0" lang="en-US" altLang="zh-CN" sz="2800" b="1">
                <a:latin typeface="华文中宋" panose="02010600040101010101" pitchFamily="2" charset="-122"/>
                <a:ea typeface="华文中宋" panose="02010600040101010101" pitchFamily="2" charset="-122"/>
              </a:rPr>
              <a:t>{2</a:t>
            </a:r>
            <a:r>
              <a:rPr kumimoji="0" lang="zh-CN" altLang="en-US" sz="2800" b="1">
                <a:latin typeface="华文中宋" panose="02010600040101010101" pitchFamily="2" charset="-122"/>
                <a:ea typeface="华文中宋" panose="02010600040101010101" pitchFamily="2" charset="-122"/>
              </a:rPr>
              <a:t>，</a:t>
            </a:r>
            <a:r>
              <a:rPr kumimoji="0" lang="en-US" altLang="zh-CN" sz="2800" b="1">
                <a:latin typeface="华文中宋" panose="02010600040101010101" pitchFamily="2" charset="-122"/>
                <a:ea typeface="华文中宋" panose="02010600040101010101" pitchFamily="2" charset="-122"/>
              </a:rPr>
              <a:t>3</a:t>
            </a:r>
            <a:r>
              <a:rPr kumimoji="0" lang="zh-CN" altLang="en-US" sz="2800" b="1">
                <a:latin typeface="华文中宋" panose="02010600040101010101" pitchFamily="2" charset="-122"/>
                <a:ea typeface="华文中宋" panose="02010600040101010101" pitchFamily="2" charset="-122"/>
              </a:rPr>
              <a:t>，</a:t>
            </a:r>
            <a:r>
              <a:rPr kumimoji="0" lang="en-US" altLang="zh-CN" sz="2800" b="1">
                <a:latin typeface="华文中宋" panose="02010600040101010101" pitchFamily="2" charset="-122"/>
                <a:ea typeface="华文中宋" panose="02010600040101010101" pitchFamily="2" charset="-122"/>
              </a:rPr>
              <a:t>5}</a:t>
            </a:r>
            <a:r>
              <a:rPr kumimoji="0" lang="zh-CN" altLang="en-US" sz="2800" b="1">
                <a:latin typeface="华文中宋" panose="02010600040101010101" pitchFamily="2" charset="-122"/>
                <a:ea typeface="华文中宋" panose="02010600040101010101" pitchFamily="2" charset="-122"/>
              </a:rPr>
              <a:t>也是</a:t>
            </a:r>
            <a:r>
              <a:rPr kumimoji="0" lang="en-US" altLang="zh-CN" sz="2800" b="1">
                <a:latin typeface="华文中宋" panose="02010600040101010101" pitchFamily="2" charset="-122"/>
                <a:ea typeface="华文中宋" panose="02010600040101010101" pitchFamily="2" charset="-122"/>
              </a:rPr>
              <a:t>G</a:t>
            </a:r>
            <a:r>
              <a:rPr kumimoji="0" lang="zh-CN" altLang="en-US" sz="2800" b="1">
                <a:latin typeface="华文中宋" panose="02010600040101010101" pitchFamily="2" charset="-122"/>
                <a:ea typeface="华文中宋" panose="02010600040101010101" pitchFamily="2" charset="-122"/>
              </a:rPr>
              <a:t>的最大团。</a:t>
            </a:r>
          </a:p>
        </p:txBody>
      </p:sp>
      <p:pic>
        <p:nvPicPr>
          <p:cNvPr id="129029" name="Picture 5" descr="未命名2">
            <a:extLst>
              <a:ext uri="{FF2B5EF4-FFF2-40B4-BE49-F238E27FC236}">
                <a16:creationId xmlns:a16="http://schemas.microsoft.com/office/drawing/2014/main" id="{DB51D963-C299-48C1-8F8C-67D299CF7F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4191000"/>
            <a:ext cx="2819400" cy="133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9027">
                                            <p:txEl>
                                              <p:pRg st="0" end="0"/>
                                            </p:txEl>
                                          </p:spTgt>
                                        </p:tgtEl>
                                        <p:attrNameLst>
                                          <p:attrName>style.visibility</p:attrName>
                                        </p:attrNameLst>
                                      </p:cBhvr>
                                      <p:to>
                                        <p:strVal val="visible"/>
                                      </p:to>
                                    </p:set>
                                    <p:anim calcmode="lin" valueType="num">
                                      <p:cBhvr additive="base">
                                        <p:cTn id="7" dur="500" fill="hold"/>
                                        <p:tgtEl>
                                          <p:spTgt spid="1290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90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9027">
                                            <p:txEl>
                                              <p:pRg st="1" end="1"/>
                                            </p:txEl>
                                          </p:spTgt>
                                        </p:tgtEl>
                                        <p:attrNameLst>
                                          <p:attrName>style.visibility</p:attrName>
                                        </p:attrNameLst>
                                      </p:cBhvr>
                                      <p:to>
                                        <p:strVal val="visible"/>
                                      </p:to>
                                    </p:set>
                                    <p:anim calcmode="lin" valueType="num">
                                      <p:cBhvr additive="base">
                                        <p:cTn id="13" dur="500" fill="hold"/>
                                        <p:tgtEl>
                                          <p:spTgt spid="12902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90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29027">
                                            <p:txEl>
                                              <p:pRg st="2" end="2"/>
                                            </p:txEl>
                                          </p:spTgt>
                                        </p:tgtEl>
                                        <p:attrNameLst>
                                          <p:attrName>style.visibility</p:attrName>
                                        </p:attrNameLst>
                                      </p:cBhvr>
                                      <p:to>
                                        <p:strVal val="visible"/>
                                      </p:to>
                                    </p:set>
                                    <p:anim calcmode="lin" valueType="num">
                                      <p:cBhvr additive="base">
                                        <p:cTn id="19" dur="500" fill="hold"/>
                                        <p:tgtEl>
                                          <p:spTgt spid="12902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902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29027">
                                            <p:txEl>
                                              <p:pRg st="3" end="3"/>
                                            </p:txEl>
                                          </p:spTgt>
                                        </p:tgtEl>
                                        <p:attrNameLst>
                                          <p:attrName>style.visibility</p:attrName>
                                        </p:attrNameLst>
                                      </p:cBhvr>
                                      <p:to>
                                        <p:strVal val="visible"/>
                                      </p:to>
                                    </p:set>
                                    <p:anim calcmode="lin" valueType="num">
                                      <p:cBhvr additive="base">
                                        <p:cTn id="25" dur="500" fill="hold"/>
                                        <p:tgtEl>
                                          <p:spTgt spid="12902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2902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29028"/>
                                        </p:tgtEl>
                                        <p:attrNameLst>
                                          <p:attrName>style.visibility</p:attrName>
                                        </p:attrNameLst>
                                      </p:cBhvr>
                                      <p:to>
                                        <p:strVal val="visible"/>
                                      </p:to>
                                    </p:set>
                                    <p:anim calcmode="lin" valueType="num">
                                      <p:cBhvr additive="base">
                                        <p:cTn id="31" dur="500" fill="hold"/>
                                        <p:tgtEl>
                                          <p:spTgt spid="129028"/>
                                        </p:tgtEl>
                                        <p:attrNameLst>
                                          <p:attrName>ppt_x</p:attrName>
                                        </p:attrNameLst>
                                      </p:cBhvr>
                                      <p:tavLst>
                                        <p:tav tm="0">
                                          <p:val>
                                            <p:strVal val="0-#ppt_w/2"/>
                                          </p:val>
                                        </p:tav>
                                        <p:tav tm="100000">
                                          <p:val>
                                            <p:strVal val="#ppt_x"/>
                                          </p:val>
                                        </p:tav>
                                      </p:tavLst>
                                    </p:anim>
                                    <p:anim calcmode="lin" valueType="num">
                                      <p:cBhvr additive="base">
                                        <p:cTn id="32" dur="500" fill="hold"/>
                                        <p:tgtEl>
                                          <p:spTgt spid="129028"/>
                                        </p:tgtEl>
                                        <p:attrNameLst>
                                          <p:attrName>ppt_y</p:attrName>
                                        </p:attrNameLst>
                                      </p:cBhvr>
                                      <p:tavLst>
                                        <p:tav tm="0">
                                          <p:val>
                                            <p:strVal val="#ppt_y"/>
                                          </p:val>
                                        </p:tav>
                                        <p:tav tm="100000">
                                          <p:val>
                                            <p:strVal val="#ppt_y"/>
                                          </p:val>
                                        </p:tav>
                                      </p:tavLst>
                                    </p:anim>
                                  </p:childTnLst>
                                </p:cTn>
                              </p:par>
                            </p:childTnLst>
                          </p:cTn>
                        </p:par>
                        <p:par>
                          <p:cTn id="33" fill="hold" nodeType="afterGroup">
                            <p:stCondLst>
                              <p:cond delay="500"/>
                            </p:stCondLst>
                            <p:childTnLst>
                              <p:par>
                                <p:cTn id="34" presetID="2" presetClass="entr" presetSubtype="8" fill="hold" nodeType="afterEffect">
                                  <p:stCondLst>
                                    <p:cond delay="0"/>
                                  </p:stCondLst>
                                  <p:childTnLst>
                                    <p:set>
                                      <p:cBhvr>
                                        <p:cTn id="35" dur="1" fill="hold">
                                          <p:stCondLst>
                                            <p:cond delay="0"/>
                                          </p:stCondLst>
                                        </p:cTn>
                                        <p:tgtEl>
                                          <p:spTgt spid="129029"/>
                                        </p:tgtEl>
                                        <p:attrNameLst>
                                          <p:attrName>style.visibility</p:attrName>
                                        </p:attrNameLst>
                                      </p:cBhvr>
                                      <p:to>
                                        <p:strVal val="visible"/>
                                      </p:to>
                                    </p:set>
                                    <p:anim calcmode="lin" valueType="num">
                                      <p:cBhvr additive="base">
                                        <p:cTn id="36" dur="500" fill="hold"/>
                                        <p:tgtEl>
                                          <p:spTgt spid="129029"/>
                                        </p:tgtEl>
                                        <p:attrNameLst>
                                          <p:attrName>ppt_x</p:attrName>
                                        </p:attrNameLst>
                                      </p:cBhvr>
                                      <p:tavLst>
                                        <p:tav tm="0">
                                          <p:val>
                                            <p:strVal val="0-#ppt_w/2"/>
                                          </p:val>
                                        </p:tav>
                                        <p:tav tm="100000">
                                          <p:val>
                                            <p:strVal val="#ppt_x"/>
                                          </p:val>
                                        </p:tav>
                                      </p:tavLst>
                                    </p:anim>
                                    <p:anim calcmode="lin" valueType="num">
                                      <p:cBhvr additive="base">
                                        <p:cTn id="37" dur="500" fill="hold"/>
                                        <p:tgtEl>
                                          <p:spTgt spid="1290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7" grpId="0" build="p" autoUpdateAnimBg="0"/>
      <p:bldP spid="129028"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B472F97A-809A-4B9B-B558-C4C5F37DAEBF}"/>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pPr>
            <a:r>
              <a:rPr lang="en-US" altLang="zh-CN">
                <a:solidFill>
                  <a:schemeClr val="accent2"/>
                </a:solidFill>
              </a:rPr>
              <a:t>2. </a:t>
            </a:r>
            <a:r>
              <a:rPr lang="zh-CN" altLang="en-US">
                <a:solidFill>
                  <a:schemeClr val="accent2"/>
                </a:solidFill>
              </a:rPr>
              <a:t>上界函数</a:t>
            </a:r>
            <a:r>
              <a:rPr lang="en-US" altLang="zh-CN">
                <a:solidFill>
                  <a:schemeClr val="accent2"/>
                </a:solidFill>
              </a:rPr>
              <a:t>-</a:t>
            </a:r>
            <a:r>
              <a:rPr lang="zh-CN" altLang="en-US">
                <a:solidFill>
                  <a:schemeClr val="accent2"/>
                </a:solidFill>
              </a:rPr>
              <a:t>限界</a:t>
            </a:r>
            <a:endParaRPr kumimoji="0" lang="zh-CN" altLang="en-US" sz="3600" b="1">
              <a:latin typeface="华文中宋" panose="02010600040101010101" pitchFamily="2" charset="-122"/>
            </a:endParaRPr>
          </a:p>
        </p:txBody>
      </p:sp>
      <p:sp>
        <p:nvSpPr>
          <p:cNvPr id="61443" name="Rectangle 3">
            <a:extLst>
              <a:ext uri="{FF2B5EF4-FFF2-40B4-BE49-F238E27FC236}">
                <a16:creationId xmlns:a16="http://schemas.microsoft.com/office/drawing/2014/main" id="{B47696D1-1DFF-4712-8EB4-C2786AF5AA3C}"/>
              </a:ext>
            </a:extLst>
          </p:cNvPr>
          <p:cNvSpPr>
            <a:spLocks noGrp="1" noChangeArrowheads="1"/>
          </p:cNvSpPr>
          <p:nvPr>
            <p:ph type="body" idx="1"/>
          </p:nvPr>
        </p:nvSpPr>
        <p:spPr bwMode="auto">
          <a:xfrm>
            <a:off x="457200" y="1447800"/>
            <a:ext cx="83820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spcBef>
                <a:spcPct val="50000"/>
              </a:spcBef>
              <a:buFontTx/>
              <a:buNone/>
            </a:pPr>
            <a:r>
              <a:rPr kumimoji="0" lang="zh-CN" altLang="en-US" sz="2800" b="1">
                <a:latin typeface="华文中宋" panose="02010600040101010101" pitchFamily="2" charset="-122"/>
              </a:rPr>
              <a:t>求解方法：</a:t>
            </a:r>
            <a:r>
              <a:rPr kumimoji="0" lang="zh-CN" altLang="en-US" sz="2800" b="1">
                <a:solidFill>
                  <a:srgbClr val="FF0000"/>
                </a:solidFill>
                <a:latin typeface="华文中宋" panose="02010600040101010101" pitchFamily="2" charset="-122"/>
              </a:rPr>
              <a:t>优先队列式分支限界法</a:t>
            </a:r>
          </a:p>
          <a:p>
            <a:pPr eaLnBrk="1" hangingPunct="1">
              <a:lnSpc>
                <a:spcPct val="90000"/>
              </a:lnSpc>
              <a:spcBef>
                <a:spcPct val="50000"/>
              </a:spcBef>
              <a:buFontTx/>
              <a:buNone/>
            </a:pPr>
            <a:r>
              <a:rPr kumimoji="0" lang="zh-CN" altLang="en-US" sz="2800" b="1">
                <a:latin typeface="华文中宋" panose="02010600040101010101" pitchFamily="2" charset="-122"/>
              </a:rPr>
              <a:t>优先级：以团可能的顶点数上界 </a:t>
            </a:r>
            <a:r>
              <a:rPr kumimoji="0" lang="en-US" altLang="zh-CN" sz="2800" b="1">
                <a:solidFill>
                  <a:srgbClr val="FF0000"/>
                </a:solidFill>
                <a:latin typeface="华文中宋" panose="02010600040101010101" pitchFamily="2" charset="-122"/>
              </a:rPr>
              <a:t>cn+ n-i</a:t>
            </a:r>
            <a:r>
              <a:rPr kumimoji="0" lang="zh-CN" altLang="en-US" sz="2800" b="1">
                <a:latin typeface="华文中宋" panose="02010600040101010101" pitchFamily="2" charset="-122"/>
              </a:rPr>
              <a:t>作为优先队列的优先级，最大者优先。</a:t>
            </a:r>
          </a:p>
          <a:p>
            <a:pPr eaLnBrk="1" hangingPunct="1">
              <a:lnSpc>
                <a:spcPct val="90000"/>
              </a:lnSpc>
              <a:spcBef>
                <a:spcPct val="50000"/>
              </a:spcBef>
              <a:buFontTx/>
              <a:buNone/>
            </a:pPr>
            <a:r>
              <a:rPr kumimoji="0" lang="en-US" altLang="zh-CN" sz="2800" b="1">
                <a:latin typeface="华文中宋" panose="02010600040101010101" pitchFamily="2" charset="-122"/>
              </a:rPr>
              <a:t>cn</a:t>
            </a:r>
            <a:r>
              <a:rPr kumimoji="0" lang="zh-CN" altLang="en-US" sz="2800" b="1">
                <a:latin typeface="华文中宋" panose="02010600040101010101" pitchFamily="2" charset="-122"/>
              </a:rPr>
              <a:t>：表示与该结点相应的团的顶点数</a:t>
            </a:r>
            <a:endParaRPr kumimoji="0" lang="en-US" altLang="zh-CN" sz="2800" b="1">
              <a:latin typeface="华文中宋" panose="02010600040101010101" pitchFamily="2" charset="-122"/>
            </a:endParaRPr>
          </a:p>
          <a:p>
            <a:pPr eaLnBrk="1" hangingPunct="1">
              <a:lnSpc>
                <a:spcPct val="90000"/>
              </a:lnSpc>
              <a:spcBef>
                <a:spcPct val="50000"/>
              </a:spcBef>
              <a:buFontTx/>
              <a:buNone/>
            </a:pPr>
            <a:r>
              <a:rPr kumimoji="0" lang="en-US" altLang="zh-CN" sz="2800" b="1">
                <a:latin typeface="华文中宋" panose="02010600040101010101" pitchFamily="2" charset="-122"/>
              </a:rPr>
              <a:t>n-i</a:t>
            </a:r>
            <a:r>
              <a:rPr kumimoji="0" lang="zh-CN" altLang="en-US" sz="2800" b="1">
                <a:latin typeface="华文中宋" panose="02010600040101010101" pitchFamily="2" charset="-122"/>
              </a:rPr>
              <a:t>：表示当前节点后未处理过的节点总数</a:t>
            </a:r>
          </a:p>
          <a:p>
            <a:pPr eaLnBrk="1" hangingPunct="1">
              <a:lnSpc>
                <a:spcPct val="90000"/>
              </a:lnSpc>
              <a:spcBef>
                <a:spcPct val="50000"/>
              </a:spcBef>
              <a:buFontTx/>
              <a:buNone/>
            </a:pPr>
            <a:r>
              <a:rPr kumimoji="0" lang="en-US" altLang="zh-CN" sz="2800" b="1">
                <a:latin typeface="华文中宋" panose="02010600040101010101" pitchFamily="2" charset="-122"/>
              </a:rPr>
              <a:t>level</a:t>
            </a:r>
            <a:r>
              <a:rPr kumimoji="0" lang="zh-CN" altLang="en-US" sz="2800" b="1">
                <a:latin typeface="华文中宋" panose="02010600040101010101" pitchFamily="2" charset="-122"/>
              </a:rPr>
              <a:t>：表示结点在子集空间树中所处的层次，</a:t>
            </a:r>
          </a:p>
          <a:p>
            <a:pPr eaLnBrk="1" hangingPunct="1">
              <a:lnSpc>
                <a:spcPct val="90000"/>
              </a:lnSpc>
              <a:spcBef>
                <a:spcPct val="50000"/>
              </a:spcBef>
              <a:buFontTx/>
              <a:buNone/>
            </a:pPr>
            <a:r>
              <a:rPr kumimoji="0" lang="zh-CN" altLang="en-US" sz="2800" b="1">
                <a:latin typeface="华文中宋" panose="02010600040101010101" pitchFamily="2" charset="-122"/>
              </a:rPr>
              <a:t> </a:t>
            </a:r>
            <a:r>
              <a:rPr kumimoji="0" lang="en-US" altLang="zh-CN" sz="2800" b="1">
                <a:latin typeface="华文中宋" panose="02010600040101010101" pitchFamily="2" charset="-122"/>
              </a:rPr>
              <a:t>level=1</a:t>
            </a:r>
            <a:r>
              <a:rPr kumimoji="0" lang="zh-CN" altLang="en-US" sz="2800" b="1">
                <a:latin typeface="华文中宋" panose="02010600040101010101" pitchFamily="2" charset="-122"/>
              </a:rPr>
              <a:t>、</a:t>
            </a:r>
            <a:r>
              <a:rPr kumimoji="0" lang="en-US" altLang="zh-CN" sz="2800" b="1">
                <a:latin typeface="华文中宋" panose="02010600040101010101" pitchFamily="2" charset="-122"/>
              </a:rPr>
              <a:t>2</a:t>
            </a:r>
            <a:r>
              <a:rPr kumimoji="0" lang="zh-CN" altLang="en-US" sz="2800" b="1">
                <a:latin typeface="华文中宋" panose="02010600040101010101" pitchFamily="2" charset="-122"/>
              </a:rPr>
              <a:t>、</a:t>
            </a:r>
            <a:r>
              <a:rPr kumimoji="0" lang="en-US" altLang="zh-CN" sz="2800" b="1"/>
              <a:t>…</a:t>
            </a:r>
            <a:r>
              <a:rPr kumimoji="0" lang="zh-CN" altLang="en-US" sz="2800" b="1">
                <a:latin typeface="华文中宋" panose="02010600040101010101" pitchFamily="2" charset="-122"/>
              </a:rPr>
              <a:t>、</a:t>
            </a:r>
            <a:r>
              <a:rPr kumimoji="0" lang="en-US" altLang="zh-CN" sz="2800" b="1">
                <a:latin typeface="华文中宋" panose="02010600040101010101" pitchFamily="2" charset="-122"/>
              </a:rPr>
              <a:t>n, </a:t>
            </a:r>
            <a:r>
              <a:rPr kumimoji="0" lang="zh-CN" altLang="en-US" sz="2800" b="1">
                <a:latin typeface="华文中宋" panose="02010600040101010101" pitchFamily="2" charset="-122"/>
              </a:rPr>
              <a:t>记 </a:t>
            </a:r>
            <a:r>
              <a:rPr kumimoji="0" lang="en-US" altLang="zh-CN" sz="2800" b="1">
                <a:latin typeface="华文中宋" panose="02010600040101010101" pitchFamily="2" charset="-122"/>
              </a:rPr>
              <a:t>i=level-1</a:t>
            </a:r>
          </a:p>
          <a:p>
            <a:pPr eaLnBrk="1" hangingPunct="1">
              <a:lnSpc>
                <a:spcPct val="90000"/>
              </a:lnSpc>
              <a:spcBef>
                <a:spcPct val="50000"/>
              </a:spcBef>
              <a:buFontTx/>
              <a:buNone/>
            </a:pPr>
            <a:r>
              <a:rPr kumimoji="0" lang="en-US" altLang="zh-CN" sz="2800" b="1">
                <a:latin typeface="华文中宋" panose="02010600040101010101" pitchFamily="2" charset="-122"/>
              </a:rPr>
              <a:t>un</a:t>
            </a:r>
            <a:r>
              <a:rPr kumimoji="0" lang="zh-CN" altLang="en-US" sz="2800" b="1">
                <a:latin typeface="华文中宋" panose="02010600040101010101" pitchFamily="2" charset="-122"/>
              </a:rPr>
              <a:t>：当前团最大顶点数的上界，即</a:t>
            </a:r>
          </a:p>
          <a:p>
            <a:pPr eaLnBrk="1" hangingPunct="1">
              <a:lnSpc>
                <a:spcPct val="90000"/>
              </a:lnSpc>
              <a:spcBef>
                <a:spcPct val="50000"/>
              </a:spcBef>
              <a:buFontTx/>
              <a:buNone/>
            </a:pPr>
            <a:r>
              <a:rPr kumimoji="0" lang="zh-CN" altLang="en-US" sz="2800" b="1">
                <a:latin typeface="华文中宋" panose="02010600040101010101" pitchFamily="2" charset="-122"/>
              </a:rPr>
              <a:t>    </a:t>
            </a:r>
            <a:r>
              <a:rPr kumimoji="0" lang="en-US" altLang="zh-CN" sz="2800" b="1">
                <a:latin typeface="华文中宋" panose="02010600040101010101" pitchFamily="2" charset="-122"/>
              </a:rPr>
              <a:t>un=cn+</a:t>
            </a:r>
            <a:r>
              <a:rPr kumimoji="0" lang="zh-CN" altLang="en-US" sz="2800" b="1">
                <a:latin typeface="华文中宋" panose="02010600040101010101" pitchFamily="2" charset="-122"/>
              </a:rPr>
              <a:t>（</a:t>
            </a:r>
            <a:r>
              <a:rPr kumimoji="0" lang="en-US" altLang="zh-CN" sz="2800" b="1">
                <a:latin typeface="华文中宋" panose="02010600040101010101" pitchFamily="2" charset="-122"/>
              </a:rPr>
              <a:t>n-i)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4602C7F0-EA11-42E1-A4AF-A2EB7E9C6F96}"/>
              </a:ext>
            </a:extLst>
          </p:cNvPr>
          <p:cNvSpPr>
            <a:spLocks noGrp="1" noChangeArrowheads="1"/>
          </p:cNvSpPr>
          <p:nvPr>
            <p:ph type="title"/>
          </p:nvPr>
        </p:nvSpPr>
        <p:spPr bwMode="auto">
          <a:xfrm>
            <a:off x="685800" y="1524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pPr>
            <a:r>
              <a:rPr lang="en-US" altLang="zh-CN" sz="4800">
                <a:solidFill>
                  <a:schemeClr val="accent2"/>
                </a:solidFill>
              </a:rPr>
              <a:t>3. </a:t>
            </a:r>
            <a:r>
              <a:rPr lang="zh-CN" altLang="en-US" sz="4800">
                <a:solidFill>
                  <a:schemeClr val="accent2"/>
                </a:solidFill>
              </a:rPr>
              <a:t>算法思想</a:t>
            </a:r>
          </a:p>
        </p:txBody>
      </p:sp>
      <p:sp>
        <p:nvSpPr>
          <p:cNvPr id="131075" name="Rectangle 3">
            <a:extLst>
              <a:ext uri="{FF2B5EF4-FFF2-40B4-BE49-F238E27FC236}">
                <a16:creationId xmlns:a16="http://schemas.microsoft.com/office/drawing/2014/main" id="{F5AAD8B9-1FB9-45BD-9605-494C77ED718F}"/>
              </a:ext>
            </a:extLst>
          </p:cNvPr>
          <p:cNvSpPr>
            <a:spLocks noGrp="1" noChangeArrowheads="1"/>
          </p:cNvSpPr>
          <p:nvPr>
            <p:ph type="body" idx="1"/>
          </p:nvPr>
        </p:nvSpPr>
        <p:spPr bwMode="auto">
          <a:xfrm>
            <a:off x="228600" y="1066800"/>
            <a:ext cx="8382000" cy="4876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33400" indent="-533400" eaLnBrk="1" hangingPunct="1">
              <a:spcBef>
                <a:spcPct val="50000"/>
              </a:spcBef>
            </a:pPr>
            <a:r>
              <a:rPr kumimoji="0" lang="zh-CN" altLang="en-US" sz="2800" b="1">
                <a:latin typeface="华文中宋" panose="02010600040101010101" pitchFamily="2" charset="-122"/>
              </a:rPr>
              <a:t>总是从优先队列</a:t>
            </a:r>
            <a:r>
              <a:rPr kumimoji="0" lang="en-US" altLang="zh-CN" sz="2800" b="1">
                <a:latin typeface="华文中宋" panose="02010600040101010101" pitchFamily="2" charset="-122"/>
              </a:rPr>
              <a:t>Q</a:t>
            </a:r>
            <a:r>
              <a:rPr kumimoji="0" lang="zh-CN" altLang="en-US" sz="2800" b="1">
                <a:latin typeface="华文中宋" panose="02010600040101010101" pitchFamily="2" charset="-122"/>
              </a:rPr>
              <a:t>中取具有最大</a:t>
            </a:r>
            <a:r>
              <a:rPr kumimoji="0" lang="en-US" altLang="zh-CN" sz="2800" b="1">
                <a:latin typeface="华文中宋" panose="02010600040101010101" pitchFamily="2" charset="-122"/>
              </a:rPr>
              <a:t>un</a:t>
            </a:r>
            <a:r>
              <a:rPr kumimoji="0" lang="zh-CN" altLang="en-US" sz="2800" b="1">
                <a:latin typeface="华文中宋" panose="02010600040101010101" pitchFamily="2" charset="-122"/>
              </a:rPr>
              <a:t>值的元素作为下一个扩展结点。</a:t>
            </a:r>
          </a:p>
          <a:p>
            <a:pPr marL="533400" indent="-533400" eaLnBrk="1" hangingPunct="1">
              <a:lnSpc>
                <a:spcPct val="90000"/>
              </a:lnSpc>
              <a:spcBef>
                <a:spcPct val="50000"/>
              </a:spcBef>
            </a:pPr>
            <a:r>
              <a:rPr kumimoji="0" lang="zh-CN" altLang="en-US" sz="2800" b="1">
                <a:latin typeface="华文中宋" panose="02010600040101010101" pitchFamily="2" charset="-122"/>
              </a:rPr>
              <a:t>子集树的根结点是初始扩展结点，其</a:t>
            </a:r>
            <a:r>
              <a:rPr kumimoji="0" lang="en-US" altLang="zh-CN" sz="2800" b="1">
                <a:latin typeface="华文中宋" panose="02010600040101010101" pitchFamily="2" charset="-122"/>
              </a:rPr>
              <a:t>cn</a:t>
            </a:r>
            <a:r>
              <a:rPr kumimoji="0" lang="zh-CN" altLang="en-US" sz="2800" b="1">
                <a:latin typeface="华文中宋" panose="02010600040101010101" pitchFamily="2" charset="-122"/>
              </a:rPr>
              <a:t>的值为</a:t>
            </a:r>
            <a:r>
              <a:rPr kumimoji="0" lang="en-US" altLang="zh-CN" sz="2800" b="1">
                <a:latin typeface="华文中宋" panose="02010600040101010101" pitchFamily="2" charset="-122"/>
              </a:rPr>
              <a:t>0</a:t>
            </a:r>
            <a:r>
              <a:rPr kumimoji="0" lang="zh-CN" altLang="en-US" sz="2800" b="1">
                <a:latin typeface="华文中宋" panose="02010600040101010101" pitchFamily="2" charset="-122"/>
              </a:rPr>
              <a:t>。 </a:t>
            </a:r>
          </a:p>
        </p:txBody>
      </p:sp>
      <p:sp>
        <p:nvSpPr>
          <p:cNvPr id="131076" name="Rectangle 4">
            <a:extLst>
              <a:ext uri="{FF2B5EF4-FFF2-40B4-BE49-F238E27FC236}">
                <a16:creationId xmlns:a16="http://schemas.microsoft.com/office/drawing/2014/main" id="{55728303-FA48-4D64-B1B9-21106FB74C8A}"/>
              </a:ext>
            </a:extLst>
          </p:cNvPr>
          <p:cNvSpPr>
            <a:spLocks noChangeArrowheads="1"/>
          </p:cNvSpPr>
          <p:nvPr/>
        </p:nvSpPr>
        <p:spPr bwMode="auto">
          <a:xfrm>
            <a:off x="152400" y="2743200"/>
            <a:ext cx="88392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40000"/>
              </a:spcBef>
            </a:pPr>
            <a:r>
              <a:rPr kumimoji="0" lang="zh-CN" altLang="en-US" sz="2800" b="1">
                <a:latin typeface="华文中宋" panose="02010600040101010101" pitchFamily="2" charset="-122"/>
                <a:ea typeface="华文中宋" panose="02010600040101010101" pitchFamily="2" charset="-122"/>
              </a:rPr>
              <a:t>在扩展内部结点时，考察其左、右儿子结点</a:t>
            </a:r>
            <a:r>
              <a:rPr kumimoji="0" lang="en-US" altLang="zh-CN" sz="2800" b="1">
                <a:latin typeface="华文中宋" panose="02010600040101010101" pitchFamily="2" charset="-122"/>
                <a:ea typeface="华文中宋" panose="02010600040101010101" pitchFamily="2" charset="-122"/>
              </a:rPr>
              <a:t>i</a:t>
            </a:r>
          </a:p>
          <a:p>
            <a:pPr algn="just" eaLnBrk="1" hangingPunct="1">
              <a:lnSpc>
                <a:spcPct val="90000"/>
              </a:lnSpc>
              <a:spcBef>
                <a:spcPct val="40000"/>
              </a:spcBef>
              <a:buFontTx/>
              <a:buAutoNum type="arabicPeriod"/>
            </a:pPr>
            <a:r>
              <a:rPr kumimoji="0" lang="zh-CN" altLang="en-US" sz="2800" b="1">
                <a:latin typeface="华文中宋" panose="02010600040101010101" pitchFamily="2" charset="-122"/>
                <a:ea typeface="华文中宋" panose="02010600040101010101" pitchFamily="2" charset="-122"/>
              </a:rPr>
              <a:t>左儿子结点</a:t>
            </a:r>
            <a:r>
              <a:rPr kumimoji="0" lang="en-US" altLang="zh-CN" sz="2800" b="1">
                <a:latin typeface="华文中宋" panose="02010600040101010101" pitchFamily="2" charset="-122"/>
                <a:ea typeface="华文中宋" panose="02010600040101010101" pitchFamily="2" charset="-122"/>
              </a:rPr>
              <a:t>i</a:t>
            </a:r>
            <a:r>
              <a:rPr kumimoji="0" lang="zh-CN" altLang="en-US" sz="2800" b="1">
                <a:latin typeface="华文中宋" panose="02010600040101010101" pitchFamily="2" charset="-122"/>
                <a:ea typeface="华文中宋" panose="02010600040101010101" pitchFamily="2" charset="-122"/>
              </a:rPr>
              <a:t>：尝试将顶点</a:t>
            </a:r>
            <a:r>
              <a:rPr kumimoji="0" lang="en-US" altLang="zh-CN" sz="2800" b="1">
                <a:latin typeface="华文中宋" panose="02010600040101010101" pitchFamily="2" charset="-122"/>
                <a:ea typeface="华文中宋" panose="02010600040101010101" pitchFamily="2" charset="-122"/>
              </a:rPr>
              <a:t>i</a:t>
            </a:r>
            <a:r>
              <a:rPr kumimoji="0" lang="zh-CN" altLang="en-US" sz="2800" b="1">
                <a:latin typeface="华文中宋" panose="02010600040101010101" pitchFamily="2" charset="-122"/>
                <a:ea typeface="华文中宋" panose="02010600040101010101" pitchFamily="2" charset="-122"/>
              </a:rPr>
              <a:t>加入到当前团中。当</a:t>
            </a:r>
            <a:r>
              <a:rPr kumimoji="0" lang="en-US" altLang="zh-CN" sz="2800" b="1">
                <a:latin typeface="华文中宋" panose="02010600040101010101" pitchFamily="2" charset="-122"/>
                <a:ea typeface="华文中宋" panose="02010600040101010101" pitchFamily="2" charset="-122"/>
              </a:rPr>
              <a:t>i</a:t>
            </a:r>
            <a:r>
              <a:rPr kumimoji="0" lang="zh-CN" altLang="en-US" sz="2800" b="1">
                <a:latin typeface="华文中宋" panose="02010600040101010101" pitchFamily="2" charset="-122"/>
                <a:ea typeface="华文中宋" panose="02010600040101010101" pitchFamily="2" charset="-122"/>
              </a:rPr>
              <a:t>与当前团中所有顶点都有边相连，则</a:t>
            </a:r>
            <a:r>
              <a:rPr kumimoji="0" lang="en-US" altLang="zh-CN" sz="2800" b="1">
                <a:latin typeface="华文中宋" panose="02010600040101010101" pitchFamily="2" charset="-122"/>
                <a:ea typeface="华文中宋" panose="02010600040101010101" pitchFamily="2" charset="-122"/>
              </a:rPr>
              <a:t>i</a:t>
            </a:r>
            <a:r>
              <a:rPr kumimoji="0" lang="zh-CN" altLang="en-US" sz="2800" b="1">
                <a:latin typeface="华文中宋" panose="02010600040101010101" pitchFamily="2" charset="-122"/>
                <a:ea typeface="华文中宋" panose="02010600040101010101" pitchFamily="2" charset="-122"/>
              </a:rPr>
              <a:t>是可行结点，将它加入到子集树中并插入</a:t>
            </a:r>
            <a:r>
              <a:rPr kumimoji="0" lang="en-US" altLang="zh-CN" sz="2800" b="1">
                <a:latin typeface="华文中宋" panose="02010600040101010101" pitchFamily="2" charset="-122"/>
                <a:ea typeface="华文中宋" panose="02010600040101010101" pitchFamily="2" charset="-122"/>
              </a:rPr>
              <a:t>Q</a:t>
            </a:r>
            <a:r>
              <a:rPr kumimoji="0" lang="zh-CN" altLang="en-US" sz="2800" b="1">
                <a:latin typeface="华文中宋" panose="02010600040101010101" pitchFamily="2" charset="-122"/>
                <a:ea typeface="华文中宋" panose="02010600040101010101" pitchFamily="2" charset="-122"/>
              </a:rPr>
              <a:t>，否则就不是可行结点。</a:t>
            </a:r>
          </a:p>
          <a:p>
            <a:pPr algn="just" eaLnBrk="1" hangingPunct="1">
              <a:lnSpc>
                <a:spcPct val="90000"/>
              </a:lnSpc>
              <a:spcBef>
                <a:spcPct val="40000"/>
              </a:spcBef>
              <a:buFontTx/>
              <a:buAutoNum type="arabicPeriod"/>
            </a:pPr>
            <a:r>
              <a:rPr kumimoji="0" lang="zh-CN" altLang="en-US" sz="2800" b="1">
                <a:latin typeface="华文中宋" panose="02010600040101010101" pitchFamily="2" charset="-122"/>
                <a:ea typeface="华文中宋" panose="02010600040101010101" pitchFamily="2" charset="-122"/>
              </a:rPr>
              <a:t>右儿子结点：当</a:t>
            </a:r>
            <a:r>
              <a:rPr kumimoji="0" lang="en-US" altLang="zh-CN" sz="2800" b="1">
                <a:solidFill>
                  <a:srgbClr val="FF0000"/>
                </a:solidFill>
                <a:latin typeface="华文中宋" panose="02010600040101010101" pitchFamily="2" charset="-122"/>
                <a:ea typeface="华文中宋" panose="02010600040101010101" pitchFamily="2" charset="-122"/>
              </a:rPr>
              <a:t>un&gt;bestn</a:t>
            </a:r>
            <a:r>
              <a:rPr kumimoji="0" lang="zh-CN" altLang="en-US" sz="2800" b="1">
                <a:latin typeface="华文中宋" panose="02010600040101010101" pitchFamily="2" charset="-122"/>
                <a:ea typeface="华文中宋" panose="02010600040101010101" pitchFamily="2" charset="-122"/>
              </a:rPr>
              <a:t>时，右子树中可能含有最优解，此时将右儿子结点加入到子集树中并插入到活结点优先队列中。</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1075">
                                            <p:txEl>
                                              <p:pRg st="0" end="0"/>
                                            </p:txEl>
                                          </p:spTgt>
                                        </p:tgtEl>
                                        <p:attrNameLst>
                                          <p:attrName>style.visibility</p:attrName>
                                        </p:attrNameLst>
                                      </p:cBhvr>
                                      <p:to>
                                        <p:strVal val="visible"/>
                                      </p:to>
                                    </p:set>
                                    <p:anim calcmode="lin" valueType="num">
                                      <p:cBhvr additive="base">
                                        <p:cTn id="7" dur="500" fill="hold"/>
                                        <p:tgtEl>
                                          <p:spTgt spid="1310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10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1075">
                                            <p:txEl>
                                              <p:pRg st="1" end="1"/>
                                            </p:txEl>
                                          </p:spTgt>
                                        </p:tgtEl>
                                        <p:attrNameLst>
                                          <p:attrName>style.visibility</p:attrName>
                                        </p:attrNameLst>
                                      </p:cBhvr>
                                      <p:to>
                                        <p:strVal val="visible"/>
                                      </p:to>
                                    </p:set>
                                    <p:anim calcmode="lin" valueType="num">
                                      <p:cBhvr additive="base">
                                        <p:cTn id="13" dur="500" fill="hold"/>
                                        <p:tgtEl>
                                          <p:spTgt spid="13107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10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1076"/>
                                        </p:tgtEl>
                                        <p:attrNameLst>
                                          <p:attrName>style.visibility</p:attrName>
                                        </p:attrNameLst>
                                      </p:cBhvr>
                                      <p:to>
                                        <p:strVal val="visible"/>
                                      </p:to>
                                    </p:set>
                                    <p:anim calcmode="lin" valueType="num">
                                      <p:cBhvr additive="base">
                                        <p:cTn id="19" dur="500" fill="hold"/>
                                        <p:tgtEl>
                                          <p:spTgt spid="131076"/>
                                        </p:tgtEl>
                                        <p:attrNameLst>
                                          <p:attrName>ppt_x</p:attrName>
                                        </p:attrNameLst>
                                      </p:cBhvr>
                                      <p:tavLst>
                                        <p:tav tm="0">
                                          <p:val>
                                            <p:strVal val="0-#ppt_w/2"/>
                                          </p:val>
                                        </p:tav>
                                        <p:tav tm="100000">
                                          <p:val>
                                            <p:strVal val="#ppt_x"/>
                                          </p:val>
                                        </p:tav>
                                      </p:tavLst>
                                    </p:anim>
                                    <p:anim calcmode="lin" valueType="num">
                                      <p:cBhvr additive="base">
                                        <p:cTn id="20" dur="500" fill="hold"/>
                                        <p:tgtEl>
                                          <p:spTgt spid="13107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5" grpId="0" build="p" autoUpdateAnimBg="0"/>
      <p:bldP spid="131076"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33F457F9-3C24-4514-A0DC-0F3517E156A0}"/>
              </a:ext>
            </a:extLst>
          </p:cNvPr>
          <p:cNvSpPr>
            <a:spLocks noGrp="1" noChangeArrowheads="1"/>
          </p:cNvSpPr>
          <p:nvPr>
            <p:ph type="title"/>
          </p:nvPr>
        </p:nvSpPr>
        <p:spPr bwMode="auto">
          <a:xfrm>
            <a:off x="685800" y="609600"/>
            <a:ext cx="77724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pPr>
            <a:r>
              <a:rPr kumimoji="0" lang="zh-CN" altLang="en-US" sz="3600" b="1">
                <a:latin typeface="华文中宋" panose="02010600040101010101" pitchFamily="2" charset="-122"/>
              </a:rPr>
              <a:t>搜索的终止条件</a:t>
            </a:r>
          </a:p>
        </p:txBody>
      </p:sp>
      <p:sp>
        <p:nvSpPr>
          <p:cNvPr id="63491" name="Rectangle 3">
            <a:extLst>
              <a:ext uri="{FF2B5EF4-FFF2-40B4-BE49-F238E27FC236}">
                <a16:creationId xmlns:a16="http://schemas.microsoft.com/office/drawing/2014/main" id="{E423E317-6A09-49BA-A04C-3963511BC439}"/>
              </a:ext>
            </a:extLst>
          </p:cNvPr>
          <p:cNvSpPr>
            <a:spLocks noGrp="1" noChangeArrowheads="1"/>
          </p:cNvSpPr>
          <p:nvPr>
            <p:ph type="body" idx="1"/>
          </p:nvPr>
        </p:nvSpPr>
        <p:spPr bwMode="auto">
          <a:xfrm>
            <a:off x="533400" y="1524000"/>
            <a:ext cx="8153400" cy="457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609600" indent="-609600" eaLnBrk="1" hangingPunct="1">
              <a:spcBef>
                <a:spcPct val="50000"/>
              </a:spcBef>
              <a:buFontTx/>
              <a:buAutoNum type="arabicPeriod"/>
            </a:pPr>
            <a:r>
              <a:rPr kumimoji="0" lang="zh-CN" altLang="en-US" sz="2800" b="1">
                <a:latin typeface="华文中宋" panose="02010600040101010101" pitchFamily="2" charset="-122"/>
              </a:rPr>
              <a:t>算法的</a:t>
            </a:r>
            <a:r>
              <a:rPr kumimoji="0" lang="en-US" altLang="zh-CN" sz="2800" b="1">
                <a:latin typeface="华文中宋" panose="02010600040101010101" pitchFamily="2" charset="-122"/>
              </a:rPr>
              <a:t>while</a:t>
            </a:r>
            <a:r>
              <a:rPr kumimoji="0" lang="zh-CN" altLang="en-US" sz="2800" b="1">
                <a:latin typeface="华文中宋" panose="02010600040101010101" pitchFamily="2" charset="-122"/>
              </a:rPr>
              <a:t>循环的终止条件是遇到子集树中的一个叶结点</a:t>
            </a:r>
            <a:r>
              <a:rPr kumimoji="0" lang="en-US" altLang="zh-CN" sz="2800" b="1">
                <a:latin typeface="华文中宋" panose="02010600040101010101" pitchFamily="2" charset="-122"/>
              </a:rPr>
              <a:t>(</a:t>
            </a:r>
            <a:r>
              <a:rPr kumimoji="0" lang="zh-CN" altLang="en-US" sz="2800" b="1">
                <a:latin typeface="华文中宋" panose="02010600040101010101" pitchFamily="2" charset="-122"/>
              </a:rPr>
              <a:t>即</a:t>
            </a:r>
            <a:r>
              <a:rPr kumimoji="0" lang="en-US" altLang="zh-CN" sz="2800" b="1">
                <a:latin typeface="华文中宋" panose="02010600040101010101" pitchFamily="2" charset="-122"/>
              </a:rPr>
              <a:t>n+1</a:t>
            </a:r>
            <a:r>
              <a:rPr kumimoji="0" lang="zh-CN" altLang="en-US" sz="2800" b="1">
                <a:latin typeface="华文中宋" panose="02010600040101010101" pitchFamily="2" charset="-122"/>
              </a:rPr>
              <a:t>层结点</a:t>
            </a:r>
            <a:r>
              <a:rPr kumimoji="0" lang="en-US" altLang="zh-CN" sz="2800" b="1">
                <a:latin typeface="华文中宋" panose="02010600040101010101" pitchFamily="2" charset="-122"/>
              </a:rPr>
              <a:t>)</a:t>
            </a:r>
            <a:r>
              <a:rPr kumimoji="0" lang="zh-CN" altLang="en-US" sz="2800" b="1">
                <a:latin typeface="华文中宋" panose="02010600040101010101" pitchFamily="2" charset="-122"/>
              </a:rPr>
              <a:t>成为当前扩展结点。</a:t>
            </a:r>
          </a:p>
          <a:p>
            <a:pPr marL="609600" indent="-609600" eaLnBrk="1" hangingPunct="1">
              <a:spcBef>
                <a:spcPct val="50000"/>
              </a:spcBef>
              <a:buFontTx/>
              <a:buAutoNum type="arabicPeriod"/>
            </a:pPr>
            <a:r>
              <a:rPr kumimoji="0" lang="zh-CN" altLang="en-US" sz="2800" b="1">
                <a:latin typeface="华文中宋" panose="02010600040101010101" pitchFamily="2" charset="-122"/>
              </a:rPr>
              <a:t>对于子集树中的叶结点，有</a:t>
            </a:r>
            <a:r>
              <a:rPr kumimoji="0" lang="en-US" altLang="zh-CN" sz="2800" b="1">
                <a:latin typeface="华文中宋" panose="02010600040101010101" pitchFamily="2" charset="-122"/>
              </a:rPr>
              <a:t>un</a:t>
            </a:r>
            <a:r>
              <a:rPr kumimoji="0" lang="zh-CN" altLang="en-US" sz="2800" b="1">
                <a:latin typeface="华文中宋" panose="02010600040101010101" pitchFamily="2" charset="-122"/>
              </a:rPr>
              <a:t>＝</a:t>
            </a:r>
            <a:r>
              <a:rPr kumimoji="0" lang="en-US" altLang="zh-CN" sz="2800" b="1">
                <a:latin typeface="华文中宋" panose="02010600040101010101" pitchFamily="2" charset="-122"/>
              </a:rPr>
              <a:t>cn</a:t>
            </a:r>
            <a:r>
              <a:rPr kumimoji="0" lang="zh-CN" altLang="en-US" sz="2800" b="1">
                <a:latin typeface="华文中宋" panose="02010600040101010101" pitchFamily="2" charset="-122"/>
              </a:rPr>
              <a:t>。此时活结点优先队列中剩余结点的</a:t>
            </a:r>
            <a:r>
              <a:rPr kumimoji="0" lang="en-US" altLang="zh-CN" sz="2800" b="1">
                <a:latin typeface="华文中宋" panose="02010600040101010101" pitchFamily="2" charset="-122"/>
              </a:rPr>
              <a:t>un</a:t>
            </a:r>
            <a:r>
              <a:rPr kumimoji="0" lang="zh-CN" altLang="en-US" sz="2800" b="1">
                <a:latin typeface="华文中宋" panose="02010600040101010101" pitchFamily="2" charset="-122"/>
              </a:rPr>
              <a:t>值均不超过当前扩展结点的</a:t>
            </a:r>
            <a:r>
              <a:rPr kumimoji="0" lang="en-US" altLang="zh-CN" sz="2800" b="1">
                <a:latin typeface="华文中宋" panose="02010600040101010101" pitchFamily="2" charset="-122"/>
              </a:rPr>
              <a:t>un</a:t>
            </a:r>
            <a:r>
              <a:rPr kumimoji="0" lang="zh-CN" altLang="en-US" sz="2800" b="1">
                <a:latin typeface="华文中宋" panose="02010600040101010101" pitchFamily="2" charset="-122"/>
              </a:rPr>
              <a:t>值，进一步搜索不可能得到更大的团，此时算法已找到一个最优解。</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D7CF996D-AB4E-4444-A361-FE640F551AB5}"/>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pPr>
            <a:r>
              <a:rPr kumimoji="0" lang="zh-CN" altLang="en-US" sz="3200" b="1">
                <a:solidFill>
                  <a:srgbClr val="0000FF"/>
                </a:solidFill>
                <a:latin typeface="华文中宋" panose="02010600040101010101" pitchFamily="2" charset="-122"/>
              </a:rPr>
              <a:t>实例与操作过程</a:t>
            </a:r>
          </a:p>
        </p:txBody>
      </p:sp>
      <p:sp>
        <p:nvSpPr>
          <p:cNvPr id="64515" name="Rectangle 3">
            <a:extLst>
              <a:ext uri="{FF2B5EF4-FFF2-40B4-BE49-F238E27FC236}">
                <a16:creationId xmlns:a16="http://schemas.microsoft.com/office/drawing/2014/main" id="{E9C094DE-63FE-4CAD-9B25-B5231C2EE4EE}"/>
              </a:ext>
            </a:extLst>
          </p:cNvPr>
          <p:cNvSpPr>
            <a:spLocks noGrp="1" noChangeArrowheads="1"/>
          </p:cNvSpPr>
          <p:nvPr>
            <p:ph type="body" idx="1"/>
          </p:nvPr>
        </p:nvSpPr>
        <p:spPr bwMode="auto">
          <a:xfrm>
            <a:off x="457200" y="14478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a:t>对下列无向图求最大团</a:t>
            </a:r>
          </a:p>
        </p:txBody>
      </p:sp>
      <p:grpSp>
        <p:nvGrpSpPr>
          <p:cNvPr id="64516" name="Group 20">
            <a:extLst>
              <a:ext uri="{FF2B5EF4-FFF2-40B4-BE49-F238E27FC236}">
                <a16:creationId xmlns:a16="http://schemas.microsoft.com/office/drawing/2014/main" id="{7202EB63-5E24-48B1-8E03-F87D08235910}"/>
              </a:ext>
            </a:extLst>
          </p:cNvPr>
          <p:cNvGrpSpPr>
            <a:grpSpLocks/>
          </p:cNvGrpSpPr>
          <p:nvPr/>
        </p:nvGrpSpPr>
        <p:grpSpPr bwMode="auto">
          <a:xfrm>
            <a:off x="3871913" y="2095500"/>
            <a:ext cx="3914775" cy="2216150"/>
            <a:chOff x="3304" y="1418"/>
            <a:chExt cx="2224" cy="792"/>
          </a:xfrm>
        </p:grpSpPr>
        <p:sp>
          <p:nvSpPr>
            <p:cNvPr id="64530" name="Oval 5">
              <a:extLst>
                <a:ext uri="{FF2B5EF4-FFF2-40B4-BE49-F238E27FC236}">
                  <a16:creationId xmlns:a16="http://schemas.microsoft.com/office/drawing/2014/main" id="{A9D54A27-B98F-47B2-912A-04A31DF0CDF5}"/>
                </a:ext>
              </a:extLst>
            </p:cNvPr>
            <p:cNvSpPr>
              <a:spLocks noChangeArrowheads="1"/>
            </p:cNvSpPr>
            <p:nvPr/>
          </p:nvSpPr>
          <p:spPr bwMode="auto">
            <a:xfrm>
              <a:off x="3849" y="1418"/>
              <a:ext cx="215" cy="139"/>
            </a:xfrm>
            <a:prstGeom prst="ellipse">
              <a:avLst/>
            </a:prstGeom>
            <a:solidFill>
              <a:srgbClr val="99CC00"/>
            </a:solidFill>
            <a:ln w="12700" algn="ctr">
              <a:solidFill>
                <a:schemeClr val="tx1"/>
              </a:solidFill>
              <a:round/>
              <a:headEnd/>
              <a:tailEnd/>
            </a:ln>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200" b="1">
                  <a:latin typeface="Arial" panose="020B0604020202020204" pitchFamily="34" charset="0"/>
                  <a:ea typeface="华文中宋" panose="02010600040101010101" pitchFamily="2" charset="-122"/>
                </a:rPr>
                <a:t>2</a:t>
              </a:r>
            </a:p>
          </p:txBody>
        </p:sp>
        <p:sp>
          <p:nvSpPr>
            <p:cNvPr id="64531" name="Oval 6">
              <a:extLst>
                <a:ext uri="{FF2B5EF4-FFF2-40B4-BE49-F238E27FC236}">
                  <a16:creationId xmlns:a16="http://schemas.microsoft.com/office/drawing/2014/main" id="{E04772C6-0A46-4E38-8C8D-7783EFCE96A3}"/>
                </a:ext>
              </a:extLst>
            </p:cNvPr>
            <p:cNvSpPr>
              <a:spLocks noChangeArrowheads="1"/>
            </p:cNvSpPr>
            <p:nvPr/>
          </p:nvSpPr>
          <p:spPr bwMode="auto">
            <a:xfrm>
              <a:off x="4661" y="1419"/>
              <a:ext cx="215" cy="139"/>
            </a:xfrm>
            <a:prstGeom prst="ellipse">
              <a:avLst/>
            </a:prstGeom>
            <a:solidFill>
              <a:srgbClr val="99CC00"/>
            </a:solidFill>
            <a:ln w="12700" algn="ctr">
              <a:solidFill>
                <a:schemeClr val="tx1"/>
              </a:solidFill>
              <a:round/>
              <a:headEnd/>
              <a:tailEnd/>
            </a:ln>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200" b="1">
                  <a:latin typeface="Arial" panose="020B0604020202020204" pitchFamily="34" charset="0"/>
                  <a:ea typeface="华文中宋" panose="02010600040101010101" pitchFamily="2" charset="-122"/>
                </a:rPr>
                <a:t>3</a:t>
              </a:r>
            </a:p>
          </p:txBody>
        </p:sp>
        <p:sp>
          <p:nvSpPr>
            <p:cNvPr id="64532" name="Oval 7">
              <a:extLst>
                <a:ext uri="{FF2B5EF4-FFF2-40B4-BE49-F238E27FC236}">
                  <a16:creationId xmlns:a16="http://schemas.microsoft.com/office/drawing/2014/main" id="{6EBEB1F7-3AC0-4EDE-B61F-C0F119D26D64}"/>
                </a:ext>
              </a:extLst>
            </p:cNvPr>
            <p:cNvSpPr>
              <a:spLocks noChangeArrowheads="1"/>
            </p:cNvSpPr>
            <p:nvPr/>
          </p:nvSpPr>
          <p:spPr bwMode="auto">
            <a:xfrm>
              <a:off x="3832" y="2071"/>
              <a:ext cx="215" cy="139"/>
            </a:xfrm>
            <a:prstGeom prst="ellipse">
              <a:avLst/>
            </a:prstGeom>
            <a:solidFill>
              <a:srgbClr val="FFCC00"/>
            </a:solidFill>
            <a:ln w="12700" algn="ctr">
              <a:solidFill>
                <a:schemeClr val="tx1"/>
              </a:solidFill>
              <a:round/>
              <a:headEnd/>
              <a:tailEnd/>
            </a:ln>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200" b="1">
                  <a:latin typeface="Arial" panose="020B0604020202020204" pitchFamily="34" charset="0"/>
                  <a:ea typeface="华文中宋" panose="02010600040101010101" pitchFamily="2" charset="-122"/>
                </a:rPr>
                <a:t>5</a:t>
              </a:r>
            </a:p>
          </p:txBody>
        </p:sp>
        <p:sp>
          <p:nvSpPr>
            <p:cNvPr id="64533" name="Oval 8">
              <a:extLst>
                <a:ext uri="{FF2B5EF4-FFF2-40B4-BE49-F238E27FC236}">
                  <a16:creationId xmlns:a16="http://schemas.microsoft.com/office/drawing/2014/main" id="{072DF157-DEE6-4758-828A-240104BB387D}"/>
                </a:ext>
              </a:extLst>
            </p:cNvPr>
            <p:cNvSpPr>
              <a:spLocks noChangeArrowheads="1"/>
            </p:cNvSpPr>
            <p:nvPr/>
          </p:nvSpPr>
          <p:spPr bwMode="auto">
            <a:xfrm>
              <a:off x="4661" y="2071"/>
              <a:ext cx="215" cy="139"/>
            </a:xfrm>
            <a:prstGeom prst="ellipse">
              <a:avLst/>
            </a:prstGeom>
            <a:solidFill>
              <a:srgbClr val="99CC00"/>
            </a:solidFill>
            <a:ln w="12700" algn="ctr">
              <a:solidFill>
                <a:schemeClr val="tx1"/>
              </a:solidFill>
              <a:round/>
              <a:headEnd/>
              <a:tailEnd/>
            </a:ln>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200" b="1">
                  <a:latin typeface="Arial" panose="020B0604020202020204" pitchFamily="34" charset="0"/>
                  <a:ea typeface="华文中宋" panose="02010600040101010101" pitchFamily="2" charset="-122"/>
                </a:rPr>
                <a:t>6</a:t>
              </a:r>
            </a:p>
          </p:txBody>
        </p:sp>
        <p:sp>
          <p:nvSpPr>
            <p:cNvPr id="64534" name="Oval 9">
              <a:extLst>
                <a:ext uri="{FF2B5EF4-FFF2-40B4-BE49-F238E27FC236}">
                  <a16:creationId xmlns:a16="http://schemas.microsoft.com/office/drawing/2014/main" id="{A29C0648-663A-4D5C-AB64-D09705F6A6C2}"/>
                </a:ext>
              </a:extLst>
            </p:cNvPr>
            <p:cNvSpPr>
              <a:spLocks noChangeArrowheads="1"/>
            </p:cNvSpPr>
            <p:nvPr/>
          </p:nvSpPr>
          <p:spPr bwMode="auto">
            <a:xfrm>
              <a:off x="5313" y="1716"/>
              <a:ext cx="215" cy="139"/>
            </a:xfrm>
            <a:prstGeom prst="ellipse">
              <a:avLst/>
            </a:prstGeom>
            <a:solidFill>
              <a:srgbClr val="FFCC00"/>
            </a:solidFill>
            <a:ln w="12700" algn="ctr">
              <a:solidFill>
                <a:schemeClr val="tx1"/>
              </a:solidFill>
              <a:round/>
              <a:headEnd/>
              <a:tailEnd/>
            </a:ln>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200" b="1">
                  <a:latin typeface="Arial" panose="020B0604020202020204" pitchFamily="34" charset="0"/>
                  <a:ea typeface="华文中宋" panose="02010600040101010101" pitchFamily="2" charset="-122"/>
                </a:rPr>
                <a:t>4</a:t>
              </a:r>
            </a:p>
          </p:txBody>
        </p:sp>
        <p:cxnSp>
          <p:nvCxnSpPr>
            <p:cNvPr id="64535" name="AutoShape 10">
              <a:extLst>
                <a:ext uri="{FF2B5EF4-FFF2-40B4-BE49-F238E27FC236}">
                  <a16:creationId xmlns:a16="http://schemas.microsoft.com/office/drawing/2014/main" id="{F5563F54-F17B-4271-9E13-66297DF4958E}"/>
                </a:ext>
              </a:extLst>
            </p:cNvPr>
            <p:cNvCxnSpPr>
              <a:cxnSpLocks noChangeShapeType="1"/>
              <a:stCxn id="64530" idx="6"/>
              <a:endCxn id="64531" idx="2"/>
            </p:cNvCxnSpPr>
            <p:nvPr/>
          </p:nvCxnSpPr>
          <p:spPr bwMode="auto">
            <a:xfrm>
              <a:off x="4064" y="1488"/>
              <a:ext cx="597" cy="1"/>
            </a:xfrm>
            <a:prstGeom prst="straightConnector1">
              <a:avLst/>
            </a:prstGeom>
            <a:noFill/>
            <a:ln w="50800">
              <a:solidFill>
                <a:srgbClr val="FF6600"/>
              </a:solidFill>
              <a:round/>
              <a:headEnd/>
              <a:tailEnd/>
            </a:ln>
            <a:extLst>
              <a:ext uri="{909E8E84-426E-40DD-AFC4-6F175D3DCCD1}">
                <a14:hiddenFill xmlns:a14="http://schemas.microsoft.com/office/drawing/2010/main">
                  <a:noFill/>
                </a14:hiddenFill>
              </a:ext>
            </a:extLst>
          </p:spPr>
        </p:cxnSp>
        <p:cxnSp>
          <p:nvCxnSpPr>
            <p:cNvPr id="64536" name="AutoShape 11">
              <a:extLst>
                <a:ext uri="{FF2B5EF4-FFF2-40B4-BE49-F238E27FC236}">
                  <a16:creationId xmlns:a16="http://schemas.microsoft.com/office/drawing/2014/main" id="{0367CD68-A673-4B91-83D1-9EB2E52EA424}"/>
                </a:ext>
              </a:extLst>
            </p:cNvPr>
            <p:cNvCxnSpPr>
              <a:cxnSpLocks noChangeShapeType="1"/>
              <a:stCxn id="64530" idx="4"/>
              <a:endCxn id="64532" idx="0"/>
            </p:cNvCxnSpPr>
            <p:nvPr/>
          </p:nvCxnSpPr>
          <p:spPr bwMode="auto">
            <a:xfrm flipH="1">
              <a:off x="3940" y="1557"/>
              <a:ext cx="17" cy="514"/>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64537" name="AutoShape 12">
              <a:extLst>
                <a:ext uri="{FF2B5EF4-FFF2-40B4-BE49-F238E27FC236}">
                  <a16:creationId xmlns:a16="http://schemas.microsoft.com/office/drawing/2014/main" id="{A4D02066-3DDA-4BFA-B6E5-28C6D70EFEC6}"/>
                </a:ext>
              </a:extLst>
            </p:cNvPr>
            <p:cNvCxnSpPr>
              <a:cxnSpLocks noChangeShapeType="1"/>
              <a:stCxn id="64532" idx="6"/>
              <a:endCxn id="64533" idx="2"/>
            </p:cNvCxnSpPr>
            <p:nvPr/>
          </p:nvCxnSpPr>
          <p:spPr bwMode="auto">
            <a:xfrm>
              <a:off x="4047" y="2141"/>
              <a:ext cx="614"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64538" name="AutoShape 13">
              <a:extLst>
                <a:ext uri="{FF2B5EF4-FFF2-40B4-BE49-F238E27FC236}">
                  <a16:creationId xmlns:a16="http://schemas.microsoft.com/office/drawing/2014/main" id="{B4491256-C95F-4DFF-BC87-3C7F65E3B7CF}"/>
                </a:ext>
              </a:extLst>
            </p:cNvPr>
            <p:cNvCxnSpPr>
              <a:cxnSpLocks noChangeShapeType="1"/>
              <a:stCxn id="64533" idx="0"/>
              <a:endCxn id="64531" idx="4"/>
            </p:cNvCxnSpPr>
            <p:nvPr/>
          </p:nvCxnSpPr>
          <p:spPr bwMode="auto">
            <a:xfrm flipV="1">
              <a:off x="4769" y="1558"/>
              <a:ext cx="0" cy="513"/>
            </a:xfrm>
            <a:prstGeom prst="straightConnector1">
              <a:avLst/>
            </a:prstGeom>
            <a:noFill/>
            <a:ln w="50800">
              <a:solidFill>
                <a:srgbClr val="FF6600"/>
              </a:solidFill>
              <a:round/>
              <a:headEnd/>
              <a:tailEnd/>
            </a:ln>
            <a:extLst>
              <a:ext uri="{909E8E84-426E-40DD-AFC4-6F175D3DCCD1}">
                <a14:hiddenFill xmlns:a14="http://schemas.microsoft.com/office/drawing/2010/main">
                  <a:noFill/>
                </a14:hiddenFill>
              </a:ext>
            </a:extLst>
          </p:spPr>
        </p:cxnSp>
        <p:cxnSp>
          <p:nvCxnSpPr>
            <p:cNvPr id="64539" name="AutoShape 14">
              <a:extLst>
                <a:ext uri="{FF2B5EF4-FFF2-40B4-BE49-F238E27FC236}">
                  <a16:creationId xmlns:a16="http://schemas.microsoft.com/office/drawing/2014/main" id="{A7FC9431-D9FC-4854-B6B8-A63DB9B7FE55}"/>
                </a:ext>
              </a:extLst>
            </p:cNvPr>
            <p:cNvCxnSpPr>
              <a:cxnSpLocks noChangeShapeType="1"/>
              <a:stCxn id="64530" idx="5"/>
              <a:endCxn id="64533" idx="1"/>
            </p:cNvCxnSpPr>
            <p:nvPr/>
          </p:nvCxnSpPr>
          <p:spPr bwMode="auto">
            <a:xfrm>
              <a:off x="4033" y="1537"/>
              <a:ext cx="660" cy="555"/>
            </a:xfrm>
            <a:prstGeom prst="straightConnector1">
              <a:avLst/>
            </a:prstGeom>
            <a:noFill/>
            <a:ln w="50800">
              <a:solidFill>
                <a:srgbClr val="FF6600"/>
              </a:solidFill>
              <a:round/>
              <a:headEnd/>
              <a:tailEnd/>
            </a:ln>
            <a:extLst>
              <a:ext uri="{909E8E84-426E-40DD-AFC4-6F175D3DCCD1}">
                <a14:hiddenFill xmlns:a14="http://schemas.microsoft.com/office/drawing/2010/main">
                  <a:noFill/>
                </a14:hiddenFill>
              </a:ext>
            </a:extLst>
          </p:spPr>
        </p:cxnSp>
        <p:cxnSp>
          <p:nvCxnSpPr>
            <p:cNvPr id="64540" name="AutoShape 15">
              <a:extLst>
                <a:ext uri="{FF2B5EF4-FFF2-40B4-BE49-F238E27FC236}">
                  <a16:creationId xmlns:a16="http://schemas.microsoft.com/office/drawing/2014/main" id="{37206B87-209B-4986-AC07-030F9BB1B7DB}"/>
                </a:ext>
              </a:extLst>
            </p:cNvPr>
            <p:cNvCxnSpPr>
              <a:cxnSpLocks noChangeShapeType="1"/>
              <a:stCxn id="64534" idx="1"/>
              <a:endCxn id="64531" idx="6"/>
            </p:cNvCxnSpPr>
            <p:nvPr/>
          </p:nvCxnSpPr>
          <p:spPr bwMode="auto">
            <a:xfrm flipH="1" flipV="1">
              <a:off x="4876" y="1489"/>
              <a:ext cx="468" cy="24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64541" name="AutoShape 16">
              <a:extLst>
                <a:ext uri="{FF2B5EF4-FFF2-40B4-BE49-F238E27FC236}">
                  <a16:creationId xmlns:a16="http://schemas.microsoft.com/office/drawing/2014/main" id="{5CD4EE98-6FDB-4A55-97FF-9D7DD9DB4A93}"/>
                </a:ext>
              </a:extLst>
            </p:cNvPr>
            <p:cNvCxnSpPr>
              <a:cxnSpLocks noChangeShapeType="1"/>
              <a:stCxn id="64533" idx="6"/>
              <a:endCxn id="64534" idx="3"/>
            </p:cNvCxnSpPr>
            <p:nvPr/>
          </p:nvCxnSpPr>
          <p:spPr bwMode="auto">
            <a:xfrm flipV="1">
              <a:off x="4876" y="1835"/>
              <a:ext cx="468" cy="306"/>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64542" name="Oval 18">
              <a:extLst>
                <a:ext uri="{FF2B5EF4-FFF2-40B4-BE49-F238E27FC236}">
                  <a16:creationId xmlns:a16="http://schemas.microsoft.com/office/drawing/2014/main" id="{0677A74F-0FF1-475D-8D17-69DC7FB3AED4}"/>
                </a:ext>
              </a:extLst>
            </p:cNvPr>
            <p:cNvSpPr>
              <a:spLocks noChangeArrowheads="1"/>
            </p:cNvSpPr>
            <p:nvPr/>
          </p:nvSpPr>
          <p:spPr bwMode="auto">
            <a:xfrm>
              <a:off x="3304" y="1784"/>
              <a:ext cx="215" cy="139"/>
            </a:xfrm>
            <a:prstGeom prst="ellipse">
              <a:avLst/>
            </a:prstGeom>
            <a:solidFill>
              <a:srgbClr val="3366FF"/>
            </a:solidFill>
            <a:ln w="12700" algn="ctr">
              <a:solidFill>
                <a:schemeClr val="tx1"/>
              </a:solidFill>
              <a:round/>
              <a:headEnd/>
              <a:tailEnd/>
            </a:ln>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200" b="1">
                  <a:solidFill>
                    <a:srgbClr val="0000CC"/>
                  </a:solidFill>
                  <a:latin typeface="Arial" panose="020B0604020202020204" pitchFamily="34" charset="0"/>
                  <a:ea typeface="华文中宋" panose="02010600040101010101" pitchFamily="2" charset="-122"/>
                </a:rPr>
                <a:t>1</a:t>
              </a:r>
            </a:p>
          </p:txBody>
        </p:sp>
        <p:sp>
          <p:nvSpPr>
            <p:cNvPr id="64543" name="Line 19">
              <a:extLst>
                <a:ext uri="{FF2B5EF4-FFF2-40B4-BE49-F238E27FC236}">
                  <a16:creationId xmlns:a16="http://schemas.microsoft.com/office/drawing/2014/main" id="{802126AC-A869-4052-8227-7D41FCCEA6D0}"/>
                </a:ext>
              </a:extLst>
            </p:cNvPr>
            <p:cNvSpPr>
              <a:spLocks noChangeShapeType="1"/>
            </p:cNvSpPr>
            <p:nvPr/>
          </p:nvSpPr>
          <p:spPr bwMode="auto">
            <a:xfrm flipV="1">
              <a:off x="3504" y="1536"/>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133156" name="Group 36">
            <a:extLst>
              <a:ext uri="{FF2B5EF4-FFF2-40B4-BE49-F238E27FC236}">
                <a16:creationId xmlns:a16="http://schemas.microsoft.com/office/drawing/2014/main" id="{02C5781F-D552-4375-9FE8-34CA1EB78590}"/>
              </a:ext>
            </a:extLst>
          </p:cNvPr>
          <p:cNvGraphicFramePr>
            <a:graphicFrameLocks noGrp="1"/>
          </p:cNvGraphicFramePr>
          <p:nvPr/>
        </p:nvGraphicFramePr>
        <p:xfrm>
          <a:off x="1219200" y="3968750"/>
          <a:ext cx="1143000" cy="1828800"/>
        </p:xfrm>
        <a:graphic>
          <a:graphicData uri="http://schemas.openxmlformats.org/drawingml/2006/table">
            <a:tbl>
              <a:tblPr/>
              <a:tblGrid>
                <a:gridCol w="1143000">
                  <a:extLst>
                    <a:ext uri="{9D8B030D-6E8A-4147-A177-3AD203B41FA5}">
                      <a16:colId xmlns:a16="http://schemas.microsoft.com/office/drawing/2014/main" val="20000"/>
                    </a:ext>
                  </a:extLst>
                </a:gridCol>
              </a:tblGrid>
              <a:tr h="4413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dirty="0" err="1">
                          <a:ln>
                            <a:noFill/>
                          </a:ln>
                          <a:solidFill>
                            <a:schemeClr val="tx1"/>
                          </a:solidFill>
                          <a:effectLst/>
                          <a:latin typeface="Times New Roman" charset="0"/>
                          <a:ea typeface="华文中宋" panose="02010600040101010101" pitchFamily="2" charset="-122"/>
                        </a:rPr>
                        <a:t>cn</a:t>
                      </a:r>
                      <a:endParaRPr kumimoji="1" lang="en-US" altLang="zh-CN" sz="2400" b="0" i="0" u="none" strike="noStrike" cap="none" normalizeH="0" baseline="0" dirty="0">
                        <a:ln>
                          <a:noFill/>
                        </a:ln>
                        <a:solidFill>
                          <a:schemeClr val="tx1"/>
                        </a:solidFill>
                        <a:effectLst/>
                        <a:latin typeface="Times New Roman" charset="0"/>
                        <a:ea typeface="华文中宋" panose="0201060004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13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charset="0"/>
                          <a:ea typeface="华文中宋" panose="02010600040101010101" pitchFamily="2" charset="-122"/>
                        </a:rPr>
                        <a:t>un</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13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charset="0"/>
                          <a:ea typeface="华文中宋" panose="02010600040101010101" pitchFamily="2" charset="-122"/>
                        </a:rPr>
                        <a:t>level</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13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dirty="0" err="1">
                          <a:ln>
                            <a:noFill/>
                          </a:ln>
                          <a:solidFill>
                            <a:schemeClr val="tx1"/>
                          </a:solidFill>
                          <a:effectLst/>
                          <a:latin typeface="Times New Roman" charset="0"/>
                          <a:ea typeface="华文中宋" panose="02010600040101010101" pitchFamily="2" charset="-122"/>
                        </a:rPr>
                        <a:t>ptr</a:t>
                      </a:r>
                      <a:endParaRPr kumimoji="1" lang="en-US" altLang="zh-CN" sz="2400" b="0" i="0" u="none" strike="noStrike" cap="none" normalizeH="0" baseline="0" dirty="0">
                        <a:ln>
                          <a:noFill/>
                        </a:ln>
                        <a:solidFill>
                          <a:schemeClr val="tx1"/>
                        </a:solidFill>
                        <a:effectLst/>
                        <a:latin typeface="Times New Roman" charset="0"/>
                        <a:ea typeface="华文中宋" panose="0201060004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4529" name="Rectangle 37">
            <a:extLst>
              <a:ext uri="{FF2B5EF4-FFF2-40B4-BE49-F238E27FC236}">
                <a16:creationId xmlns:a16="http://schemas.microsoft.com/office/drawing/2014/main" id="{296CE0B6-9538-495B-A909-6E03409AD2F6}"/>
              </a:ext>
            </a:extLst>
          </p:cNvPr>
          <p:cNvSpPr>
            <a:spLocks noChangeArrowheads="1"/>
          </p:cNvSpPr>
          <p:nvPr/>
        </p:nvSpPr>
        <p:spPr bwMode="auto">
          <a:xfrm>
            <a:off x="457200" y="3124200"/>
            <a:ext cx="2286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zh-CN" altLang="en-US" sz="3200">
                <a:ea typeface="华文中宋" panose="02010600040101010101" pitchFamily="2" charset="-122"/>
              </a:rPr>
              <a:t>结点类型</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5F600BB5-A605-41C4-AA12-C1F5F6F5984C}"/>
              </a:ext>
            </a:extLst>
          </p:cNvPr>
          <p:cNvSpPr>
            <a:spLocks noGrp="1" noChangeArrowheads="1"/>
          </p:cNvSpPr>
          <p:nvPr>
            <p:ph type="title"/>
          </p:nvPr>
        </p:nvSpPr>
        <p:spPr bwMode="auto">
          <a:xfrm>
            <a:off x="685800" y="22860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4800" b="1" dirty="0">
                <a:solidFill>
                  <a:srgbClr val="AC2F36"/>
                </a:solidFill>
              </a:rPr>
              <a:t>6.7 </a:t>
            </a:r>
            <a:r>
              <a:rPr lang="zh-CN" altLang="en-US" sz="4800" b="1" dirty="0">
                <a:solidFill>
                  <a:srgbClr val="AC2F36"/>
                </a:solidFill>
              </a:rPr>
              <a:t>旅行售货员问题</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96CF29F6-FCF9-42BC-B694-EE14C438914C}"/>
              </a:ext>
            </a:extLst>
          </p:cNvPr>
          <p:cNvSpPr>
            <a:spLocks noGrp="1" noChangeArrowheads="1"/>
          </p:cNvSpPr>
          <p:nvPr>
            <p:ph type="title"/>
          </p:nvPr>
        </p:nvSpPr>
        <p:spPr bwMode="auto">
          <a:xfrm>
            <a:off x="685800" y="609600"/>
            <a:ext cx="7772400"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4800" b="1" dirty="0">
                <a:solidFill>
                  <a:schemeClr val="accent2"/>
                </a:solidFill>
              </a:rPr>
              <a:t>1. </a:t>
            </a:r>
            <a:r>
              <a:rPr lang="zh-CN" altLang="en-US" sz="4800" b="1" dirty="0">
                <a:solidFill>
                  <a:schemeClr val="accent2"/>
                </a:solidFill>
              </a:rPr>
              <a:t>问题描述</a:t>
            </a:r>
          </a:p>
        </p:txBody>
      </p:sp>
      <p:sp>
        <p:nvSpPr>
          <p:cNvPr id="66563" name="Rectangle 3">
            <a:extLst>
              <a:ext uri="{FF2B5EF4-FFF2-40B4-BE49-F238E27FC236}">
                <a16:creationId xmlns:a16="http://schemas.microsoft.com/office/drawing/2014/main" id="{A169FF13-40B5-49C7-822A-7685F305F7D4}"/>
              </a:ext>
            </a:extLst>
          </p:cNvPr>
          <p:cNvSpPr>
            <a:spLocks noGrp="1" noChangeArrowheads="1"/>
          </p:cNvSpPr>
          <p:nvPr>
            <p:ph type="body" idx="1"/>
          </p:nvPr>
        </p:nvSpPr>
        <p:spPr bwMode="auto">
          <a:xfrm>
            <a:off x="685800" y="1524000"/>
            <a:ext cx="7772400" cy="449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pPr>
            <a:r>
              <a:rPr kumimoji="0" lang="zh-CN" altLang="en-US" sz="2800" b="1" dirty="0">
                <a:latin typeface="华文中宋" panose="02010600040101010101" pitchFamily="2" charset="-122"/>
              </a:rPr>
              <a:t>某售货员要到若干城市去推销商品，已知各城市之间的路程</a:t>
            </a:r>
            <a:r>
              <a:rPr kumimoji="0" lang="en-US" altLang="zh-CN" sz="2800" b="1" dirty="0">
                <a:latin typeface="华文中宋" panose="02010600040101010101" pitchFamily="2" charset="-122"/>
              </a:rPr>
              <a:t>(</a:t>
            </a:r>
            <a:r>
              <a:rPr kumimoji="0" lang="zh-CN" altLang="en-US" sz="2800" b="1" dirty="0">
                <a:latin typeface="华文中宋" panose="02010600040101010101" pitchFamily="2" charset="-122"/>
              </a:rPr>
              <a:t>或旅费</a:t>
            </a:r>
            <a:r>
              <a:rPr kumimoji="0" lang="en-US" altLang="zh-CN" sz="2800" b="1" dirty="0">
                <a:latin typeface="华文中宋" panose="02010600040101010101" pitchFamily="2" charset="-122"/>
              </a:rPr>
              <a:t>)</a:t>
            </a:r>
            <a:r>
              <a:rPr kumimoji="0" lang="zh-CN" altLang="en-US" sz="2800" b="1" dirty="0">
                <a:latin typeface="华文中宋" panose="02010600040101010101" pitchFamily="2" charset="-122"/>
              </a:rPr>
              <a:t>。他要选定一条从驻地出发，经过每个城市一次，最后回到驻地的路线，使总的路程</a:t>
            </a:r>
            <a:r>
              <a:rPr kumimoji="0" lang="en-US" altLang="zh-CN" sz="2800" b="1" dirty="0">
                <a:latin typeface="华文中宋" panose="02010600040101010101" pitchFamily="2" charset="-122"/>
              </a:rPr>
              <a:t>(</a:t>
            </a:r>
            <a:r>
              <a:rPr kumimoji="0" lang="zh-CN" altLang="en-US" sz="2800" b="1" dirty="0">
                <a:latin typeface="华文中宋" panose="02010600040101010101" pitchFamily="2" charset="-122"/>
              </a:rPr>
              <a:t>或总旅费</a:t>
            </a:r>
            <a:r>
              <a:rPr kumimoji="0" lang="en-US" altLang="zh-CN" sz="2800" b="1" dirty="0">
                <a:latin typeface="华文中宋" panose="02010600040101010101" pitchFamily="2" charset="-122"/>
              </a:rPr>
              <a:t>)</a:t>
            </a:r>
            <a:r>
              <a:rPr kumimoji="0" lang="zh-CN" altLang="en-US" sz="2800" b="1" dirty="0">
                <a:latin typeface="华文中宋" panose="02010600040101010101" pitchFamily="2" charset="-122"/>
              </a:rPr>
              <a:t>最小。</a:t>
            </a:r>
          </a:p>
          <a:p>
            <a:pPr eaLnBrk="1" hangingPunct="1">
              <a:spcBef>
                <a:spcPct val="50000"/>
              </a:spcBef>
            </a:pPr>
            <a:r>
              <a:rPr kumimoji="0" lang="zh-CN" altLang="en-US" sz="2800" b="1" dirty="0">
                <a:latin typeface="华文中宋" panose="02010600040101010101" pitchFamily="2" charset="-122"/>
              </a:rPr>
              <a:t>周游路线是包括图中的每个顶点的一条回路。费用是这条路线上所有边的费用之和。</a:t>
            </a:r>
          </a:p>
          <a:p>
            <a:pPr eaLnBrk="1" hangingPunct="1">
              <a:spcBef>
                <a:spcPct val="50000"/>
              </a:spcBef>
            </a:pPr>
            <a:r>
              <a:rPr kumimoji="0" lang="zh-CN" altLang="en-US" sz="2800" b="1" dirty="0">
                <a:latin typeface="华文中宋" panose="02010600040101010101" pitchFamily="2" charset="-122"/>
              </a:rPr>
              <a:t>旅行售货员问题：在图</a:t>
            </a:r>
            <a:r>
              <a:rPr kumimoji="0" lang="en-US" altLang="zh-CN" sz="2800" b="1" dirty="0">
                <a:latin typeface="华文中宋" panose="02010600040101010101" pitchFamily="2" charset="-122"/>
              </a:rPr>
              <a:t>G</a:t>
            </a:r>
            <a:r>
              <a:rPr kumimoji="0" lang="zh-CN" altLang="en-US" sz="2800" b="1" dirty="0">
                <a:latin typeface="华文中宋" panose="02010600040101010101" pitchFamily="2" charset="-122"/>
              </a:rPr>
              <a:t>中找出费用最小的周游路线。</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124215B4-81F5-4DBB-B5B8-33461905B1B0}"/>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pPr>
            <a:r>
              <a:rPr lang="en-US" altLang="zh-CN">
                <a:solidFill>
                  <a:schemeClr val="accent2"/>
                </a:solidFill>
              </a:rPr>
              <a:t>2. </a:t>
            </a:r>
            <a:r>
              <a:rPr lang="zh-CN" altLang="en-US">
                <a:solidFill>
                  <a:schemeClr val="accent2"/>
                </a:solidFill>
              </a:rPr>
              <a:t>算法</a:t>
            </a:r>
          </a:p>
        </p:txBody>
      </p:sp>
      <p:sp>
        <p:nvSpPr>
          <p:cNvPr id="67587" name="Rectangle 4">
            <a:extLst>
              <a:ext uri="{FF2B5EF4-FFF2-40B4-BE49-F238E27FC236}">
                <a16:creationId xmlns:a16="http://schemas.microsoft.com/office/drawing/2014/main" id="{6BB38EE8-E0F4-4BFF-8B3E-7915380EF923}"/>
              </a:ext>
            </a:extLst>
          </p:cNvPr>
          <p:cNvSpPr>
            <a:spLocks noGrp="1" noChangeArrowheads="1"/>
          </p:cNvSpPr>
          <p:nvPr>
            <p:ph type="body" idx="1"/>
          </p:nvPr>
        </p:nvSpPr>
        <p:spPr bwMode="auto">
          <a:xfrm>
            <a:off x="685800" y="1600200"/>
            <a:ext cx="7924800" cy="1371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buFontTx/>
              <a:buNone/>
            </a:pPr>
            <a:r>
              <a:rPr kumimoji="0" lang="zh-CN" altLang="en-US" sz="2800" b="1">
                <a:latin typeface="华文中宋" panose="02010600040101010101" pitchFamily="2" charset="-122"/>
              </a:rPr>
              <a:t>解空间：可组织成一棵树，从树的根结点到任一叶结点的路径定义了图的一条周游路线。</a:t>
            </a:r>
          </a:p>
        </p:txBody>
      </p:sp>
      <p:pic>
        <p:nvPicPr>
          <p:cNvPr id="67588" name="Picture 5" descr="t53">
            <a:extLst>
              <a:ext uri="{FF2B5EF4-FFF2-40B4-BE49-F238E27FC236}">
                <a16:creationId xmlns:a16="http://schemas.microsoft.com/office/drawing/2014/main" id="{B6A1A3B1-E7AF-4E98-8125-B11DF65EA3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2895600"/>
            <a:ext cx="40386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7589" name="Group 6">
            <a:extLst>
              <a:ext uri="{FF2B5EF4-FFF2-40B4-BE49-F238E27FC236}">
                <a16:creationId xmlns:a16="http://schemas.microsoft.com/office/drawing/2014/main" id="{CD82DEB3-4AD2-48E5-931C-C3F07BE7A2CB}"/>
              </a:ext>
            </a:extLst>
          </p:cNvPr>
          <p:cNvGrpSpPr>
            <a:grpSpLocks/>
          </p:cNvGrpSpPr>
          <p:nvPr/>
        </p:nvGrpSpPr>
        <p:grpSpPr bwMode="auto">
          <a:xfrm>
            <a:off x="1600200" y="3429000"/>
            <a:ext cx="2514600" cy="2133600"/>
            <a:chOff x="3696" y="1344"/>
            <a:chExt cx="1584" cy="1344"/>
          </a:xfrm>
        </p:grpSpPr>
        <p:sp>
          <p:nvSpPr>
            <p:cNvPr id="67590" name="Oval 7">
              <a:extLst>
                <a:ext uri="{FF2B5EF4-FFF2-40B4-BE49-F238E27FC236}">
                  <a16:creationId xmlns:a16="http://schemas.microsoft.com/office/drawing/2014/main" id="{D47F66C7-A10D-422C-8A68-C0DFCA163452}"/>
                </a:ext>
              </a:extLst>
            </p:cNvPr>
            <p:cNvSpPr>
              <a:spLocks noChangeArrowheads="1"/>
            </p:cNvSpPr>
            <p:nvPr/>
          </p:nvSpPr>
          <p:spPr bwMode="auto">
            <a:xfrm>
              <a:off x="3744" y="1440"/>
              <a:ext cx="240" cy="240"/>
            </a:xfrm>
            <a:prstGeom prst="ellipse">
              <a:avLst/>
            </a:prstGeom>
            <a:solidFill>
              <a:schemeClr val="bg1"/>
            </a:solidFill>
            <a:ln w="2857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a:ea typeface="华文中宋" panose="02010600040101010101" pitchFamily="2" charset="-122"/>
                </a:rPr>
                <a:t>1</a:t>
              </a:r>
            </a:p>
          </p:txBody>
        </p:sp>
        <p:sp>
          <p:nvSpPr>
            <p:cNvPr id="67591" name="Oval 8">
              <a:extLst>
                <a:ext uri="{FF2B5EF4-FFF2-40B4-BE49-F238E27FC236}">
                  <a16:creationId xmlns:a16="http://schemas.microsoft.com/office/drawing/2014/main" id="{4C44BB8F-BDD0-4BAA-B073-DF002331BFF5}"/>
                </a:ext>
              </a:extLst>
            </p:cNvPr>
            <p:cNvSpPr>
              <a:spLocks noChangeArrowheads="1"/>
            </p:cNvSpPr>
            <p:nvPr/>
          </p:nvSpPr>
          <p:spPr bwMode="auto">
            <a:xfrm>
              <a:off x="4800" y="1440"/>
              <a:ext cx="240" cy="240"/>
            </a:xfrm>
            <a:prstGeom prst="ellipse">
              <a:avLst/>
            </a:prstGeom>
            <a:solidFill>
              <a:schemeClr val="bg1"/>
            </a:solidFill>
            <a:ln w="2857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a:ea typeface="华文中宋" panose="02010600040101010101" pitchFamily="2" charset="-122"/>
                </a:rPr>
                <a:t>2</a:t>
              </a:r>
            </a:p>
          </p:txBody>
        </p:sp>
        <p:sp>
          <p:nvSpPr>
            <p:cNvPr id="67592" name="Oval 9">
              <a:extLst>
                <a:ext uri="{FF2B5EF4-FFF2-40B4-BE49-F238E27FC236}">
                  <a16:creationId xmlns:a16="http://schemas.microsoft.com/office/drawing/2014/main" id="{C5C131D6-734E-4816-9F30-AABF5BD25DAF}"/>
                </a:ext>
              </a:extLst>
            </p:cNvPr>
            <p:cNvSpPr>
              <a:spLocks noChangeArrowheads="1"/>
            </p:cNvSpPr>
            <p:nvPr/>
          </p:nvSpPr>
          <p:spPr bwMode="auto">
            <a:xfrm>
              <a:off x="3744" y="2304"/>
              <a:ext cx="240" cy="240"/>
            </a:xfrm>
            <a:prstGeom prst="ellipse">
              <a:avLst/>
            </a:prstGeom>
            <a:solidFill>
              <a:schemeClr val="bg1"/>
            </a:solidFill>
            <a:ln w="2857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a:ea typeface="华文中宋" panose="02010600040101010101" pitchFamily="2" charset="-122"/>
                </a:rPr>
                <a:t>3</a:t>
              </a:r>
            </a:p>
          </p:txBody>
        </p:sp>
        <p:sp>
          <p:nvSpPr>
            <p:cNvPr id="67593" name="Oval 10">
              <a:extLst>
                <a:ext uri="{FF2B5EF4-FFF2-40B4-BE49-F238E27FC236}">
                  <a16:creationId xmlns:a16="http://schemas.microsoft.com/office/drawing/2014/main" id="{B36B426D-30B0-4D06-BB51-DAFA1FD011ED}"/>
                </a:ext>
              </a:extLst>
            </p:cNvPr>
            <p:cNvSpPr>
              <a:spLocks noChangeArrowheads="1"/>
            </p:cNvSpPr>
            <p:nvPr/>
          </p:nvSpPr>
          <p:spPr bwMode="auto">
            <a:xfrm>
              <a:off x="4800" y="2304"/>
              <a:ext cx="240" cy="240"/>
            </a:xfrm>
            <a:prstGeom prst="ellipse">
              <a:avLst/>
            </a:prstGeom>
            <a:solidFill>
              <a:schemeClr val="bg1"/>
            </a:solidFill>
            <a:ln w="2857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a:ea typeface="华文中宋" panose="02010600040101010101" pitchFamily="2" charset="-122"/>
                </a:rPr>
                <a:t>4</a:t>
              </a:r>
            </a:p>
          </p:txBody>
        </p:sp>
        <p:sp>
          <p:nvSpPr>
            <p:cNvPr id="67594" name="Line 11">
              <a:extLst>
                <a:ext uri="{FF2B5EF4-FFF2-40B4-BE49-F238E27FC236}">
                  <a16:creationId xmlns:a16="http://schemas.microsoft.com/office/drawing/2014/main" id="{DC4580C3-BE94-420B-957B-336561166E91}"/>
                </a:ext>
              </a:extLst>
            </p:cNvPr>
            <p:cNvSpPr>
              <a:spLocks noChangeShapeType="1"/>
            </p:cNvSpPr>
            <p:nvPr/>
          </p:nvSpPr>
          <p:spPr bwMode="auto">
            <a:xfrm>
              <a:off x="3984" y="1584"/>
              <a:ext cx="8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5" name="Line 12">
              <a:extLst>
                <a:ext uri="{FF2B5EF4-FFF2-40B4-BE49-F238E27FC236}">
                  <a16:creationId xmlns:a16="http://schemas.microsoft.com/office/drawing/2014/main" id="{74C65114-8A17-4239-A7EB-08A86BD09C16}"/>
                </a:ext>
              </a:extLst>
            </p:cNvPr>
            <p:cNvSpPr>
              <a:spLocks noChangeShapeType="1"/>
            </p:cNvSpPr>
            <p:nvPr/>
          </p:nvSpPr>
          <p:spPr bwMode="auto">
            <a:xfrm>
              <a:off x="3984" y="2448"/>
              <a:ext cx="8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6" name="Line 13">
              <a:extLst>
                <a:ext uri="{FF2B5EF4-FFF2-40B4-BE49-F238E27FC236}">
                  <a16:creationId xmlns:a16="http://schemas.microsoft.com/office/drawing/2014/main" id="{09F4EC53-DAB4-4CC9-A247-240A8191A2DD}"/>
                </a:ext>
              </a:extLst>
            </p:cNvPr>
            <p:cNvSpPr>
              <a:spLocks noChangeShapeType="1"/>
            </p:cNvSpPr>
            <p:nvPr/>
          </p:nvSpPr>
          <p:spPr bwMode="auto">
            <a:xfrm>
              <a:off x="3888" y="1680"/>
              <a:ext cx="0"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7" name="Line 14">
              <a:extLst>
                <a:ext uri="{FF2B5EF4-FFF2-40B4-BE49-F238E27FC236}">
                  <a16:creationId xmlns:a16="http://schemas.microsoft.com/office/drawing/2014/main" id="{92C7657F-831E-421D-BF69-CF9D8BBF8699}"/>
                </a:ext>
              </a:extLst>
            </p:cNvPr>
            <p:cNvSpPr>
              <a:spLocks noChangeShapeType="1"/>
            </p:cNvSpPr>
            <p:nvPr/>
          </p:nvSpPr>
          <p:spPr bwMode="auto">
            <a:xfrm>
              <a:off x="4944" y="1680"/>
              <a:ext cx="0"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8" name="Text Box 15">
              <a:extLst>
                <a:ext uri="{FF2B5EF4-FFF2-40B4-BE49-F238E27FC236}">
                  <a16:creationId xmlns:a16="http://schemas.microsoft.com/office/drawing/2014/main" id="{06133B9D-BFD1-4000-8D87-56BE2FF49C3E}"/>
                </a:ext>
              </a:extLst>
            </p:cNvPr>
            <p:cNvSpPr txBox="1">
              <a:spLocks noChangeArrowheads="1"/>
            </p:cNvSpPr>
            <p:nvPr/>
          </p:nvSpPr>
          <p:spPr bwMode="auto">
            <a:xfrm>
              <a:off x="4272" y="134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ea typeface="华文中宋" panose="02010600040101010101" pitchFamily="2" charset="-122"/>
                </a:rPr>
                <a:t>30</a:t>
              </a:r>
            </a:p>
          </p:txBody>
        </p:sp>
        <p:sp>
          <p:nvSpPr>
            <p:cNvPr id="67599" name="Text Box 16">
              <a:extLst>
                <a:ext uri="{FF2B5EF4-FFF2-40B4-BE49-F238E27FC236}">
                  <a16:creationId xmlns:a16="http://schemas.microsoft.com/office/drawing/2014/main" id="{B9DE1908-D5E6-4838-96CA-A3961CD5AFD1}"/>
                </a:ext>
              </a:extLst>
            </p:cNvPr>
            <p:cNvSpPr txBox="1">
              <a:spLocks noChangeArrowheads="1"/>
            </p:cNvSpPr>
            <p:nvPr/>
          </p:nvSpPr>
          <p:spPr bwMode="auto">
            <a:xfrm>
              <a:off x="4896" y="182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ea typeface="华文中宋" panose="02010600040101010101" pitchFamily="2" charset="-122"/>
                </a:rPr>
                <a:t>10</a:t>
              </a:r>
            </a:p>
          </p:txBody>
        </p:sp>
        <p:sp>
          <p:nvSpPr>
            <p:cNvPr id="67600" name="Text Box 17">
              <a:extLst>
                <a:ext uri="{FF2B5EF4-FFF2-40B4-BE49-F238E27FC236}">
                  <a16:creationId xmlns:a16="http://schemas.microsoft.com/office/drawing/2014/main" id="{FDE4583A-C985-4160-A1F3-1157A20FBAB1}"/>
                </a:ext>
              </a:extLst>
            </p:cNvPr>
            <p:cNvSpPr txBox="1">
              <a:spLocks noChangeArrowheads="1"/>
            </p:cNvSpPr>
            <p:nvPr/>
          </p:nvSpPr>
          <p:spPr bwMode="auto">
            <a:xfrm>
              <a:off x="4272" y="240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ea typeface="华文中宋" panose="02010600040101010101" pitchFamily="2" charset="-122"/>
                </a:rPr>
                <a:t>20</a:t>
              </a:r>
            </a:p>
          </p:txBody>
        </p:sp>
        <p:sp>
          <p:nvSpPr>
            <p:cNvPr id="67601" name="Text Box 18">
              <a:extLst>
                <a:ext uri="{FF2B5EF4-FFF2-40B4-BE49-F238E27FC236}">
                  <a16:creationId xmlns:a16="http://schemas.microsoft.com/office/drawing/2014/main" id="{0B744D35-765F-49A5-8554-2F80CF5E89DD}"/>
                </a:ext>
              </a:extLst>
            </p:cNvPr>
            <p:cNvSpPr txBox="1">
              <a:spLocks noChangeArrowheads="1"/>
            </p:cNvSpPr>
            <p:nvPr/>
          </p:nvSpPr>
          <p:spPr bwMode="auto">
            <a:xfrm>
              <a:off x="3696" y="1872"/>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ea typeface="华文中宋" panose="02010600040101010101" pitchFamily="2" charset="-122"/>
                </a:rPr>
                <a:t>6</a:t>
              </a:r>
            </a:p>
          </p:txBody>
        </p:sp>
        <p:sp>
          <p:nvSpPr>
            <p:cNvPr id="67602" name="Text Box 19">
              <a:extLst>
                <a:ext uri="{FF2B5EF4-FFF2-40B4-BE49-F238E27FC236}">
                  <a16:creationId xmlns:a16="http://schemas.microsoft.com/office/drawing/2014/main" id="{6E85EE24-24FB-417F-BDBC-C4C12CB406D8}"/>
                </a:ext>
              </a:extLst>
            </p:cNvPr>
            <p:cNvSpPr txBox="1">
              <a:spLocks noChangeArrowheads="1"/>
            </p:cNvSpPr>
            <p:nvPr/>
          </p:nvSpPr>
          <p:spPr bwMode="auto">
            <a:xfrm>
              <a:off x="4368" y="168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ea typeface="华文中宋" panose="02010600040101010101" pitchFamily="2" charset="-122"/>
                </a:rPr>
                <a:t>5</a:t>
              </a:r>
            </a:p>
          </p:txBody>
        </p:sp>
        <p:sp>
          <p:nvSpPr>
            <p:cNvPr id="67603" name="Text Box 20">
              <a:extLst>
                <a:ext uri="{FF2B5EF4-FFF2-40B4-BE49-F238E27FC236}">
                  <a16:creationId xmlns:a16="http://schemas.microsoft.com/office/drawing/2014/main" id="{B97FDABA-AE35-4E55-9254-CDB19B53EA1C}"/>
                </a:ext>
              </a:extLst>
            </p:cNvPr>
            <p:cNvSpPr txBox="1">
              <a:spLocks noChangeArrowheads="1"/>
            </p:cNvSpPr>
            <p:nvPr/>
          </p:nvSpPr>
          <p:spPr bwMode="auto">
            <a:xfrm>
              <a:off x="4272" y="206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ea typeface="华文中宋" panose="02010600040101010101" pitchFamily="2" charset="-122"/>
                </a:rPr>
                <a:t>4</a:t>
              </a:r>
            </a:p>
          </p:txBody>
        </p:sp>
        <p:sp>
          <p:nvSpPr>
            <p:cNvPr id="67604" name="Line 21">
              <a:extLst>
                <a:ext uri="{FF2B5EF4-FFF2-40B4-BE49-F238E27FC236}">
                  <a16:creationId xmlns:a16="http://schemas.microsoft.com/office/drawing/2014/main" id="{27FD75E1-5B21-4E14-B731-A8E1F6EBE695}"/>
                </a:ext>
              </a:extLst>
            </p:cNvPr>
            <p:cNvSpPr>
              <a:spLocks noChangeShapeType="1"/>
            </p:cNvSpPr>
            <p:nvPr/>
          </p:nvSpPr>
          <p:spPr bwMode="auto">
            <a:xfrm flipV="1">
              <a:off x="3984" y="1680"/>
              <a:ext cx="864"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05" name="Line 22">
              <a:extLst>
                <a:ext uri="{FF2B5EF4-FFF2-40B4-BE49-F238E27FC236}">
                  <a16:creationId xmlns:a16="http://schemas.microsoft.com/office/drawing/2014/main" id="{F0CAAF99-FE91-4B46-9E29-ED56516CB595}"/>
                </a:ext>
              </a:extLst>
            </p:cNvPr>
            <p:cNvSpPr>
              <a:spLocks noChangeShapeType="1"/>
            </p:cNvSpPr>
            <p:nvPr/>
          </p:nvSpPr>
          <p:spPr bwMode="auto">
            <a:xfrm>
              <a:off x="3936" y="1680"/>
              <a:ext cx="864"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108AAF89-FC1D-4004-BB75-71E4C9E7AAD3}"/>
              </a:ext>
            </a:extLst>
          </p:cNvPr>
          <p:cNvSpPr>
            <a:spLocks noGrp="1" noChangeArrowheads="1"/>
          </p:cNvSpPr>
          <p:nvPr>
            <p:ph type="title"/>
          </p:nvPr>
        </p:nvSpPr>
        <p:spPr bwMode="auto">
          <a:xfrm>
            <a:off x="685800" y="228600"/>
            <a:ext cx="77724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pPr>
            <a:r>
              <a:rPr lang="zh-CN" altLang="en-US">
                <a:solidFill>
                  <a:schemeClr val="accent2"/>
                </a:solidFill>
              </a:rPr>
              <a:t>算法描述</a:t>
            </a:r>
            <a:endParaRPr kumimoji="0" lang="zh-CN" altLang="en-US" sz="2800">
              <a:solidFill>
                <a:schemeClr val="accent2"/>
              </a:solidFill>
              <a:latin typeface="Arial" panose="020B0604020202020204" pitchFamily="34" charset="0"/>
              <a:ea typeface="华文行楷" panose="02010800040101010101" pitchFamily="2" charset="-122"/>
            </a:endParaRPr>
          </a:p>
        </p:txBody>
      </p:sp>
      <p:sp>
        <p:nvSpPr>
          <p:cNvPr id="137219" name="Rectangle 3">
            <a:extLst>
              <a:ext uri="{FF2B5EF4-FFF2-40B4-BE49-F238E27FC236}">
                <a16:creationId xmlns:a16="http://schemas.microsoft.com/office/drawing/2014/main" id="{5EAC5DCF-DDD1-4ED8-9229-CB3BAEC2CAE9}"/>
              </a:ext>
            </a:extLst>
          </p:cNvPr>
          <p:cNvSpPr>
            <a:spLocks noGrp="1" noChangeArrowheads="1"/>
          </p:cNvSpPr>
          <p:nvPr>
            <p:ph type="body" idx="1"/>
          </p:nvPr>
        </p:nvSpPr>
        <p:spPr bwMode="auto">
          <a:xfrm>
            <a:off x="457200" y="1066800"/>
            <a:ext cx="8458200" cy="1828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800" b="1"/>
              <a:t>采用优先队列分支限界法</a:t>
            </a:r>
          </a:p>
          <a:p>
            <a:pPr eaLnBrk="1" hangingPunct="1"/>
            <a:r>
              <a:rPr lang="zh-CN" altLang="en-US" sz="2800" b="1"/>
              <a:t>用一个最小堆表示活结点优先队列。</a:t>
            </a:r>
          </a:p>
          <a:p>
            <a:pPr eaLnBrk="1" hangingPunct="1"/>
            <a:r>
              <a:rPr lang="zh-CN" altLang="en-US" sz="2800" b="1"/>
              <a:t>优先级：堆中每个结点的子树费用的下界</a:t>
            </a:r>
            <a:r>
              <a:rPr lang="en-US" altLang="zh-CN" sz="2800" b="1">
                <a:solidFill>
                  <a:srgbClr val="FF0000"/>
                </a:solidFill>
              </a:rPr>
              <a:t>lcost</a:t>
            </a:r>
            <a:r>
              <a:rPr lang="zh-CN" altLang="en-US" sz="2800" b="1"/>
              <a:t>值</a:t>
            </a:r>
          </a:p>
        </p:txBody>
      </p:sp>
      <p:sp>
        <p:nvSpPr>
          <p:cNvPr id="137220" name="Rectangle 4">
            <a:extLst>
              <a:ext uri="{FF2B5EF4-FFF2-40B4-BE49-F238E27FC236}">
                <a16:creationId xmlns:a16="http://schemas.microsoft.com/office/drawing/2014/main" id="{472F7A9E-BEAC-4975-AB14-FFCEB17704EF}"/>
              </a:ext>
            </a:extLst>
          </p:cNvPr>
          <p:cNvSpPr>
            <a:spLocks noChangeArrowheads="1"/>
          </p:cNvSpPr>
          <p:nvPr/>
        </p:nvSpPr>
        <p:spPr bwMode="auto">
          <a:xfrm>
            <a:off x="457200" y="2819400"/>
            <a:ext cx="81534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zh-CN" altLang="en-US" sz="2800" b="1">
                <a:ea typeface="华文中宋" panose="02010600040101010101" pitchFamily="2" charset="-122"/>
              </a:rPr>
              <a:t>算法计算出图中每个顶点的最小出边费用并用</a:t>
            </a:r>
            <a:r>
              <a:rPr lang="en-US" altLang="zh-CN" sz="2800" b="1">
                <a:ea typeface="华文中宋" panose="02010600040101010101" pitchFamily="2" charset="-122"/>
              </a:rPr>
              <a:t>minout</a:t>
            </a:r>
            <a:r>
              <a:rPr lang="zh-CN" altLang="en-US" sz="2800" b="1">
                <a:ea typeface="华文中宋" panose="02010600040101010101" pitchFamily="2" charset="-122"/>
              </a:rPr>
              <a:t>记录：</a:t>
            </a:r>
          </a:p>
          <a:p>
            <a:pPr eaLnBrk="1" hangingPunct="1">
              <a:spcBef>
                <a:spcPct val="20000"/>
              </a:spcBef>
              <a:buFontTx/>
              <a:buAutoNum type="arabicPeriod"/>
            </a:pPr>
            <a:r>
              <a:rPr lang="zh-CN" altLang="en-US" sz="2800" b="1">
                <a:ea typeface="华文中宋" panose="02010600040101010101" pitchFamily="2" charset="-122"/>
              </a:rPr>
              <a:t>如果所给的有向图中某个顶点没有出边，则该图不可能有回路，算法即告结束</a:t>
            </a:r>
          </a:p>
          <a:p>
            <a:pPr eaLnBrk="1" hangingPunct="1">
              <a:spcBef>
                <a:spcPct val="20000"/>
              </a:spcBef>
              <a:buFontTx/>
              <a:buAutoNum type="arabicPeriod"/>
            </a:pPr>
            <a:r>
              <a:rPr lang="zh-CN" altLang="en-US" sz="2800" b="1">
                <a:ea typeface="华文中宋" panose="02010600040101010101" pitchFamily="2" charset="-122"/>
              </a:rPr>
              <a:t>如果每个顶点都有出边，则根据计算出的</a:t>
            </a:r>
            <a:r>
              <a:rPr lang="en-US" altLang="zh-CN" sz="2800" b="1">
                <a:ea typeface="华文中宋" panose="02010600040101010101" pitchFamily="2" charset="-122"/>
              </a:rPr>
              <a:t>minout</a:t>
            </a:r>
            <a:r>
              <a:rPr lang="zh-CN" altLang="en-US" sz="2800" b="1">
                <a:ea typeface="华文中宋" panose="02010600040101010101" pitchFamily="2" charset="-122"/>
              </a:rPr>
              <a:t>作算法初始化</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7219">
                                            <p:txEl>
                                              <p:pRg st="0" end="0"/>
                                            </p:txEl>
                                          </p:spTgt>
                                        </p:tgtEl>
                                        <p:attrNameLst>
                                          <p:attrName>style.visibility</p:attrName>
                                        </p:attrNameLst>
                                      </p:cBhvr>
                                      <p:to>
                                        <p:strVal val="visible"/>
                                      </p:to>
                                    </p:set>
                                    <p:anim calcmode="lin" valueType="num">
                                      <p:cBhvr additive="base">
                                        <p:cTn id="7" dur="500" fill="hold"/>
                                        <p:tgtEl>
                                          <p:spTgt spid="13721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72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7219">
                                            <p:txEl>
                                              <p:pRg st="1" end="1"/>
                                            </p:txEl>
                                          </p:spTgt>
                                        </p:tgtEl>
                                        <p:attrNameLst>
                                          <p:attrName>style.visibility</p:attrName>
                                        </p:attrNameLst>
                                      </p:cBhvr>
                                      <p:to>
                                        <p:strVal val="visible"/>
                                      </p:to>
                                    </p:set>
                                    <p:anim calcmode="lin" valueType="num">
                                      <p:cBhvr additive="base">
                                        <p:cTn id="13" dur="500" fill="hold"/>
                                        <p:tgtEl>
                                          <p:spTgt spid="13721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72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7219">
                                            <p:txEl>
                                              <p:pRg st="2" end="2"/>
                                            </p:txEl>
                                          </p:spTgt>
                                        </p:tgtEl>
                                        <p:attrNameLst>
                                          <p:attrName>style.visibility</p:attrName>
                                        </p:attrNameLst>
                                      </p:cBhvr>
                                      <p:to>
                                        <p:strVal val="visible"/>
                                      </p:to>
                                    </p:set>
                                    <p:anim calcmode="lin" valueType="num">
                                      <p:cBhvr additive="base">
                                        <p:cTn id="19" dur="500" fill="hold"/>
                                        <p:tgtEl>
                                          <p:spTgt spid="13721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721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37220"/>
                                        </p:tgtEl>
                                        <p:attrNameLst>
                                          <p:attrName>style.visibility</p:attrName>
                                        </p:attrNameLst>
                                      </p:cBhvr>
                                      <p:to>
                                        <p:strVal val="visible"/>
                                      </p:to>
                                    </p:set>
                                    <p:anim calcmode="lin" valueType="num">
                                      <p:cBhvr additive="base">
                                        <p:cTn id="25" dur="500" fill="hold"/>
                                        <p:tgtEl>
                                          <p:spTgt spid="137220"/>
                                        </p:tgtEl>
                                        <p:attrNameLst>
                                          <p:attrName>ppt_x</p:attrName>
                                        </p:attrNameLst>
                                      </p:cBhvr>
                                      <p:tavLst>
                                        <p:tav tm="0">
                                          <p:val>
                                            <p:strVal val="0-#ppt_w/2"/>
                                          </p:val>
                                        </p:tav>
                                        <p:tav tm="100000">
                                          <p:val>
                                            <p:strVal val="#ppt_x"/>
                                          </p:val>
                                        </p:tav>
                                      </p:tavLst>
                                    </p:anim>
                                    <p:anim calcmode="lin" valueType="num">
                                      <p:cBhvr additive="base">
                                        <p:cTn id="26" dur="500" fill="hold"/>
                                        <p:tgtEl>
                                          <p:spTgt spid="1372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9" grpId="0" build="p" autoUpdateAnimBg="0"/>
      <p:bldP spid="137220"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54AE484C-F778-4EA0-81F4-6CCD5867C408}"/>
              </a:ext>
            </a:extLst>
          </p:cNvPr>
          <p:cNvSpPr>
            <a:spLocks noGrp="1" noChangeArrowheads="1"/>
          </p:cNvSpPr>
          <p:nvPr>
            <p:ph type="title"/>
          </p:nvPr>
        </p:nvSpPr>
        <p:spPr bwMode="auto">
          <a:xfrm>
            <a:off x="685800" y="457200"/>
            <a:ext cx="777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pPr>
            <a:r>
              <a:rPr lang="zh-CN" altLang="en-US" sz="4000" b="1">
                <a:latin typeface="华文中宋" panose="02010600040101010101" pitchFamily="2" charset="-122"/>
              </a:rPr>
              <a:t>一些约定</a:t>
            </a:r>
          </a:p>
        </p:txBody>
      </p:sp>
      <p:sp>
        <p:nvSpPr>
          <p:cNvPr id="138243" name="Rectangle 3">
            <a:extLst>
              <a:ext uri="{FF2B5EF4-FFF2-40B4-BE49-F238E27FC236}">
                <a16:creationId xmlns:a16="http://schemas.microsoft.com/office/drawing/2014/main" id="{CE910867-D2D4-4965-AAC1-8D559ADA1F4E}"/>
              </a:ext>
            </a:extLst>
          </p:cNvPr>
          <p:cNvSpPr>
            <a:spLocks noGrp="1" noChangeArrowheads="1"/>
          </p:cNvSpPr>
          <p:nvPr>
            <p:ph type="body" idx="1"/>
          </p:nvPr>
        </p:nvSpPr>
        <p:spPr bwMode="auto">
          <a:xfrm>
            <a:off x="685800" y="1371600"/>
            <a:ext cx="8077200" cy="472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pPr>
            <a:r>
              <a:rPr lang="en-US" altLang="zh-CN" sz="2800" b="1"/>
              <a:t>n</a:t>
            </a:r>
            <a:r>
              <a:rPr lang="zh-CN" altLang="en-US" sz="2800" b="1"/>
              <a:t>：图</a:t>
            </a:r>
            <a:r>
              <a:rPr lang="en-US" altLang="zh-CN" sz="2800" b="1"/>
              <a:t>G</a:t>
            </a:r>
            <a:r>
              <a:rPr lang="zh-CN" altLang="en-US" sz="2800" b="1"/>
              <a:t>的顶点数</a:t>
            </a:r>
          </a:p>
          <a:p>
            <a:pPr eaLnBrk="1" hangingPunct="1">
              <a:buFontTx/>
              <a:buNone/>
            </a:pPr>
            <a:r>
              <a:rPr lang="en-US" altLang="zh-CN" sz="2800" b="1"/>
              <a:t>a</a:t>
            </a:r>
            <a:r>
              <a:rPr lang="zh-CN" altLang="en-US" sz="2800" b="1"/>
              <a:t>：图</a:t>
            </a:r>
            <a:r>
              <a:rPr lang="en-US" altLang="zh-CN" sz="2800" b="1"/>
              <a:t>G</a:t>
            </a:r>
            <a:r>
              <a:rPr lang="zh-CN" altLang="en-US" sz="2800" b="1"/>
              <a:t>的邻接矩阵</a:t>
            </a:r>
          </a:p>
          <a:p>
            <a:pPr eaLnBrk="1" hangingPunct="1">
              <a:buFontTx/>
              <a:buNone/>
            </a:pPr>
            <a:r>
              <a:rPr lang="en-US" altLang="zh-CN" sz="2800" b="1"/>
              <a:t>NoEdge</a:t>
            </a:r>
            <a:r>
              <a:rPr lang="zh-CN" altLang="en-US" sz="2800" b="1"/>
              <a:t>：图的无边输出，一般取最大数，如</a:t>
            </a:r>
            <a:r>
              <a:rPr lang="en-US" altLang="zh-CN" sz="2800" b="1"/>
              <a:t>65537</a:t>
            </a:r>
          </a:p>
          <a:p>
            <a:pPr eaLnBrk="1" hangingPunct="1">
              <a:buFontTx/>
              <a:buNone/>
            </a:pPr>
            <a:r>
              <a:rPr lang="en-US" altLang="zh-CN" sz="2800" b="1"/>
              <a:t>cc</a:t>
            </a:r>
            <a:r>
              <a:rPr lang="zh-CN" altLang="en-US" sz="2800" b="1"/>
              <a:t>：当前费用</a:t>
            </a:r>
          </a:p>
          <a:p>
            <a:pPr eaLnBrk="1" hangingPunct="1">
              <a:buFontTx/>
              <a:buNone/>
            </a:pPr>
            <a:r>
              <a:rPr lang="en-US" altLang="zh-CN" sz="2800" b="1"/>
              <a:t>bestc</a:t>
            </a:r>
            <a:r>
              <a:rPr lang="zh-CN" altLang="en-US" sz="2800" b="1"/>
              <a:t>：当前最小费用</a:t>
            </a:r>
          </a:p>
          <a:p>
            <a:pPr eaLnBrk="1" hangingPunct="1">
              <a:buFontTx/>
              <a:buNone/>
            </a:pPr>
            <a:r>
              <a:rPr lang="en-US" altLang="zh-CN" sz="2800" b="1"/>
              <a:t>lcost</a:t>
            </a:r>
            <a:r>
              <a:rPr lang="zh-CN" altLang="en-US" sz="2800" b="1"/>
              <a:t>：子树费用的下界</a:t>
            </a:r>
          </a:p>
          <a:p>
            <a:pPr eaLnBrk="1" hangingPunct="1">
              <a:buFontTx/>
              <a:buNone/>
            </a:pPr>
            <a:r>
              <a:rPr lang="en-US" altLang="zh-CN" sz="2800" b="1"/>
              <a:t>rcost</a:t>
            </a:r>
            <a:r>
              <a:rPr lang="zh-CN" altLang="en-US" sz="2800" b="1"/>
              <a:t>：顶点最小出边费用和</a:t>
            </a:r>
          </a:p>
          <a:p>
            <a:pPr eaLnBrk="1" hangingPunct="1">
              <a:buFontTx/>
              <a:buNone/>
            </a:pPr>
            <a:r>
              <a:rPr lang="en-US" altLang="zh-CN" sz="2800" b="1"/>
              <a:t>s</a:t>
            </a:r>
            <a:r>
              <a:rPr lang="zh-CN" altLang="en-US" sz="2800" b="1"/>
              <a:t>：根结点到当前结点的路径为</a:t>
            </a:r>
            <a:r>
              <a:rPr lang="en-US" altLang="zh-CN" sz="2800" b="1"/>
              <a:t>x[0:s]</a:t>
            </a:r>
          </a:p>
          <a:p>
            <a:pPr eaLnBrk="1" hangingPunct="1">
              <a:buFontTx/>
              <a:buNone/>
            </a:pPr>
            <a:r>
              <a:rPr lang="en-US" altLang="zh-CN" sz="2800" b="1"/>
              <a:t>x</a:t>
            </a:r>
            <a:r>
              <a:rPr lang="zh-CN" altLang="en-US" sz="2800" b="1"/>
              <a:t>：需搜索的顶点</a:t>
            </a:r>
            <a:r>
              <a:rPr lang="en-US" altLang="zh-CN" sz="2800" b="1"/>
              <a:t>x[s+1:n-1]</a:t>
            </a:r>
          </a:p>
        </p:txBody>
      </p:sp>
      <p:graphicFrame>
        <p:nvGraphicFramePr>
          <p:cNvPr id="138261" name="Group 21">
            <a:extLst>
              <a:ext uri="{FF2B5EF4-FFF2-40B4-BE49-F238E27FC236}">
                <a16:creationId xmlns:a16="http://schemas.microsoft.com/office/drawing/2014/main" id="{DCE81676-2516-4C47-9253-5849C3EF4C51}"/>
              </a:ext>
            </a:extLst>
          </p:cNvPr>
          <p:cNvGraphicFramePr>
            <a:graphicFrameLocks noGrp="1"/>
          </p:cNvGraphicFramePr>
          <p:nvPr/>
        </p:nvGraphicFramePr>
        <p:xfrm>
          <a:off x="6934200" y="3360738"/>
          <a:ext cx="1066800" cy="2286000"/>
        </p:xfrm>
        <a:graphic>
          <a:graphicData uri="http://schemas.openxmlformats.org/drawingml/2006/table">
            <a:tbl>
              <a:tblPr/>
              <a:tblGrid>
                <a:gridCol w="1066800">
                  <a:extLst>
                    <a:ext uri="{9D8B030D-6E8A-4147-A177-3AD203B41FA5}">
                      <a16:colId xmlns:a16="http://schemas.microsoft.com/office/drawing/2014/main" val="1371284742"/>
                    </a:ext>
                  </a:extLst>
                </a:gridCol>
              </a:tblGrid>
              <a:tr h="43338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dirty="0" err="1">
                          <a:ln>
                            <a:noFill/>
                          </a:ln>
                          <a:solidFill>
                            <a:schemeClr val="tx1"/>
                          </a:solidFill>
                          <a:effectLst/>
                          <a:latin typeface="Times New Roman" panose="02020603050405020304" pitchFamily="18" charset="0"/>
                          <a:ea typeface="华文中宋" panose="02010600040101010101" pitchFamily="2" charset="-122"/>
                        </a:rPr>
                        <a:t>lcost</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18709196"/>
                  </a:ext>
                </a:extLst>
              </a:tr>
              <a:tr h="4349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cc</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23608776"/>
                  </a:ext>
                </a:extLst>
              </a:tr>
              <a:tr h="43338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dirty="0" err="1">
                          <a:ln>
                            <a:noFill/>
                          </a:ln>
                          <a:solidFill>
                            <a:schemeClr val="tx1"/>
                          </a:solidFill>
                          <a:effectLst/>
                          <a:latin typeface="Times New Roman" panose="02020603050405020304" pitchFamily="18" charset="0"/>
                          <a:ea typeface="华文中宋" panose="02010600040101010101" pitchFamily="2" charset="-122"/>
                        </a:rPr>
                        <a:t>rcost</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05928188"/>
                  </a:ext>
                </a:extLst>
              </a:tr>
              <a:tr h="4349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s</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45293676"/>
                  </a:ext>
                </a:extLst>
              </a:tr>
              <a:tr h="4476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x</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8655816"/>
                  </a:ext>
                </a:extLst>
              </a:tr>
            </a:tbl>
          </a:graphicData>
        </a:graphic>
      </p:graphicFrame>
      <p:sp>
        <p:nvSpPr>
          <p:cNvPr id="138262" name="Text Box 22">
            <a:extLst>
              <a:ext uri="{FF2B5EF4-FFF2-40B4-BE49-F238E27FC236}">
                <a16:creationId xmlns:a16="http://schemas.microsoft.com/office/drawing/2014/main" id="{5318A9D8-0557-46D9-9132-CB7DB04E8C84}"/>
              </a:ext>
            </a:extLst>
          </p:cNvPr>
          <p:cNvSpPr txBox="1">
            <a:spLocks noChangeArrowheads="1"/>
          </p:cNvSpPr>
          <p:nvPr/>
        </p:nvSpPr>
        <p:spPr bwMode="auto">
          <a:xfrm>
            <a:off x="6934200" y="2879725"/>
            <a:ext cx="1371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a:solidFill>
                  <a:srgbClr val="FF0000"/>
                </a:solidFill>
                <a:ea typeface="华文中宋" panose="02010600040101010101" pitchFamily="2" charset="-122"/>
              </a:rPr>
              <a:t>结点结构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8243">
                                            <p:txEl>
                                              <p:pRg st="0" end="0"/>
                                            </p:txEl>
                                          </p:spTgt>
                                        </p:tgtEl>
                                        <p:attrNameLst>
                                          <p:attrName>style.visibility</p:attrName>
                                        </p:attrNameLst>
                                      </p:cBhvr>
                                      <p:to>
                                        <p:strVal val="visible"/>
                                      </p:to>
                                    </p:set>
                                    <p:anim calcmode="lin" valueType="num">
                                      <p:cBhvr additive="base">
                                        <p:cTn id="7" dur="500" fill="hold"/>
                                        <p:tgtEl>
                                          <p:spTgt spid="138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8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8243">
                                            <p:txEl>
                                              <p:pRg st="1" end="1"/>
                                            </p:txEl>
                                          </p:spTgt>
                                        </p:tgtEl>
                                        <p:attrNameLst>
                                          <p:attrName>style.visibility</p:attrName>
                                        </p:attrNameLst>
                                      </p:cBhvr>
                                      <p:to>
                                        <p:strVal val="visible"/>
                                      </p:to>
                                    </p:set>
                                    <p:anim calcmode="lin" valueType="num">
                                      <p:cBhvr additive="base">
                                        <p:cTn id="13" dur="500" fill="hold"/>
                                        <p:tgtEl>
                                          <p:spTgt spid="138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8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8243">
                                            <p:txEl>
                                              <p:pRg st="2" end="2"/>
                                            </p:txEl>
                                          </p:spTgt>
                                        </p:tgtEl>
                                        <p:attrNameLst>
                                          <p:attrName>style.visibility</p:attrName>
                                        </p:attrNameLst>
                                      </p:cBhvr>
                                      <p:to>
                                        <p:strVal val="visible"/>
                                      </p:to>
                                    </p:set>
                                    <p:anim calcmode="lin" valueType="num">
                                      <p:cBhvr additive="base">
                                        <p:cTn id="19" dur="500" fill="hold"/>
                                        <p:tgtEl>
                                          <p:spTgt spid="138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8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38243">
                                            <p:txEl>
                                              <p:pRg st="3" end="3"/>
                                            </p:txEl>
                                          </p:spTgt>
                                        </p:tgtEl>
                                        <p:attrNameLst>
                                          <p:attrName>style.visibility</p:attrName>
                                        </p:attrNameLst>
                                      </p:cBhvr>
                                      <p:to>
                                        <p:strVal val="visible"/>
                                      </p:to>
                                    </p:set>
                                    <p:anim calcmode="lin" valueType="num">
                                      <p:cBhvr additive="base">
                                        <p:cTn id="25" dur="500" fill="hold"/>
                                        <p:tgtEl>
                                          <p:spTgt spid="138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38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38243">
                                            <p:txEl>
                                              <p:pRg st="4" end="4"/>
                                            </p:txEl>
                                          </p:spTgt>
                                        </p:tgtEl>
                                        <p:attrNameLst>
                                          <p:attrName>style.visibility</p:attrName>
                                        </p:attrNameLst>
                                      </p:cBhvr>
                                      <p:to>
                                        <p:strVal val="visible"/>
                                      </p:to>
                                    </p:set>
                                    <p:anim calcmode="lin" valueType="num">
                                      <p:cBhvr additive="base">
                                        <p:cTn id="31" dur="500" fill="hold"/>
                                        <p:tgtEl>
                                          <p:spTgt spid="138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382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38243">
                                            <p:txEl>
                                              <p:pRg st="5" end="5"/>
                                            </p:txEl>
                                          </p:spTgt>
                                        </p:tgtEl>
                                        <p:attrNameLst>
                                          <p:attrName>style.visibility</p:attrName>
                                        </p:attrNameLst>
                                      </p:cBhvr>
                                      <p:to>
                                        <p:strVal val="visible"/>
                                      </p:to>
                                    </p:set>
                                    <p:anim calcmode="lin" valueType="num">
                                      <p:cBhvr additive="base">
                                        <p:cTn id="37" dur="500" fill="hold"/>
                                        <p:tgtEl>
                                          <p:spTgt spid="13824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3824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38243">
                                            <p:txEl>
                                              <p:pRg st="6" end="6"/>
                                            </p:txEl>
                                          </p:spTgt>
                                        </p:tgtEl>
                                        <p:attrNameLst>
                                          <p:attrName>style.visibility</p:attrName>
                                        </p:attrNameLst>
                                      </p:cBhvr>
                                      <p:to>
                                        <p:strVal val="visible"/>
                                      </p:to>
                                    </p:set>
                                    <p:anim calcmode="lin" valueType="num">
                                      <p:cBhvr additive="base">
                                        <p:cTn id="43" dur="500" fill="hold"/>
                                        <p:tgtEl>
                                          <p:spTgt spid="13824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3824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38243">
                                            <p:txEl>
                                              <p:pRg st="7" end="7"/>
                                            </p:txEl>
                                          </p:spTgt>
                                        </p:tgtEl>
                                        <p:attrNameLst>
                                          <p:attrName>style.visibility</p:attrName>
                                        </p:attrNameLst>
                                      </p:cBhvr>
                                      <p:to>
                                        <p:strVal val="visible"/>
                                      </p:to>
                                    </p:set>
                                    <p:anim calcmode="lin" valueType="num">
                                      <p:cBhvr additive="base">
                                        <p:cTn id="49" dur="500" fill="hold"/>
                                        <p:tgtEl>
                                          <p:spTgt spid="138243">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3824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38243">
                                            <p:txEl>
                                              <p:pRg st="8" end="8"/>
                                            </p:txEl>
                                          </p:spTgt>
                                        </p:tgtEl>
                                        <p:attrNameLst>
                                          <p:attrName>style.visibility</p:attrName>
                                        </p:attrNameLst>
                                      </p:cBhvr>
                                      <p:to>
                                        <p:strVal val="visible"/>
                                      </p:to>
                                    </p:set>
                                    <p:anim calcmode="lin" valueType="num">
                                      <p:cBhvr additive="base">
                                        <p:cTn id="55" dur="500" fill="hold"/>
                                        <p:tgtEl>
                                          <p:spTgt spid="138243">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38243">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38262"/>
                                        </p:tgtEl>
                                        <p:attrNameLst>
                                          <p:attrName>style.visibility</p:attrName>
                                        </p:attrNameLst>
                                      </p:cBhvr>
                                      <p:to>
                                        <p:strVal val="visible"/>
                                      </p:to>
                                    </p:set>
                                    <p:anim calcmode="lin" valueType="num">
                                      <p:cBhvr additive="base">
                                        <p:cTn id="61" dur="500" fill="hold"/>
                                        <p:tgtEl>
                                          <p:spTgt spid="138262"/>
                                        </p:tgtEl>
                                        <p:attrNameLst>
                                          <p:attrName>ppt_x</p:attrName>
                                        </p:attrNameLst>
                                      </p:cBhvr>
                                      <p:tavLst>
                                        <p:tav tm="0">
                                          <p:val>
                                            <p:strVal val="0-#ppt_w/2"/>
                                          </p:val>
                                        </p:tav>
                                        <p:tav tm="100000">
                                          <p:val>
                                            <p:strVal val="#ppt_x"/>
                                          </p:val>
                                        </p:tav>
                                      </p:tavLst>
                                    </p:anim>
                                    <p:anim calcmode="lin" valueType="num">
                                      <p:cBhvr additive="base">
                                        <p:cTn id="62" dur="500" fill="hold"/>
                                        <p:tgtEl>
                                          <p:spTgt spid="138262"/>
                                        </p:tgtEl>
                                        <p:attrNameLst>
                                          <p:attrName>ppt_y</p:attrName>
                                        </p:attrNameLst>
                                      </p:cBhvr>
                                      <p:tavLst>
                                        <p:tav tm="0">
                                          <p:val>
                                            <p:strVal val="#ppt_y"/>
                                          </p:val>
                                        </p:tav>
                                        <p:tav tm="100000">
                                          <p:val>
                                            <p:strVal val="#ppt_y"/>
                                          </p:val>
                                        </p:tav>
                                      </p:tavLst>
                                    </p:anim>
                                  </p:childTnLst>
                                </p:cTn>
                              </p:par>
                            </p:childTnLst>
                          </p:cTn>
                        </p:par>
                        <p:par>
                          <p:cTn id="63" fill="hold" nodeType="afterGroup">
                            <p:stCondLst>
                              <p:cond delay="500"/>
                            </p:stCondLst>
                            <p:childTnLst>
                              <p:par>
                                <p:cTn id="64" presetID="2" presetClass="entr" presetSubtype="8" fill="hold" nodeType="afterEffect">
                                  <p:stCondLst>
                                    <p:cond delay="0"/>
                                  </p:stCondLst>
                                  <p:childTnLst>
                                    <p:set>
                                      <p:cBhvr>
                                        <p:cTn id="65" dur="1" fill="hold">
                                          <p:stCondLst>
                                            <p:cond delay="0"/>
                                          </p:stCondLst>
                                        </p:cTn>
                                        <p:tgtEl>
                                          <p:spTgt spid="138261"/>
                                        </p:tgtEl>
                                        <p:attrNameLst>
                                          <p:attrName>style.visibility</p:attrName>
                                        </p:attrNameLst>
                                      </p:cBhvr>
                                      <p:to>
                                        <p:strVal val="visible"/>
                                      </p:to>
                                    </p:set>
                                    <p:anim calcmode="lin" valueType="num">
                                      <p:cBhvr additive="base">
                                        <p:cTn id="66" dur="500" fill="hold"/>
                                        <p:tgtEl>
                                          <p:spTgt spid="138261"/>
                                        </p:tgtEl>
                                        <p:attrNameLst>
                                          <p:attrName>ppt_x</p:attrName>
                                        </p:attrNameLst>
                                      </p:cBhvr>
                                      <p:tavLst>
                                        <p:tav tm="0">
                                          <p:val>
                                            <p:strVal val="0-#ppt_w/2"/>
                                          </p:val>
                                        </p:tav>
                                        <p:tav tm="100000">
                                          <p:val>
                                            <p:strVal val="#ppt_x"/>
                                          </p:val>
                                        </p:tav>
                                      </p:tavLst>
                                    </p:anim>
                                    <p:anim calcmode="lin" valueType="num">
                                      <p:cBhvr additive="base">
                                        <p:cTn id="67" dur="500" fill="hold"/>
                                        <p:tgtEl>
                                          <p:spTgt spid="1382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build="p" autoUpdateAnimBg="0"/>
      <p:bldP spid="138262"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824C6238-A760-4EB3-8CCB-88D615B6FCC2}"/>
              </a:ext>
            </a:extLst>
          </p:cNvPr>
          <p:cNvSpPr>
            <a:spLocks noGrp="1" noChangeArrowheads="1"/>
          </p:cNvSpPr>
          <p:nvPr>
            <p:ph type="title"/>
          </p:nvPr>
        </p:nvSpPr>
        <p:spPr bwMode="auto">
          <a:xfrm>
            <a:off x="685800" y="228600"/>
            <a:ext cx="777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a:t>3</a:t>
            </a:r>
            <a:r>
              <a:rPr lang="zh-CN" altLang="en-US"/>
              <a:t>、程序描述</a:t>
            </a:r>
          </a:p>
        </p:txBody>
      </p:sp>
      <p:sp>
        <p:nvSpPr>
          <p:cNvPr id="139267" name="Rectangle 3">
            <a:extLst>
              <a:ext uri="{FF2B5EF4-FFF2-40B4-BE49-F238E27FC236}">
                <a16:creationId xmlns:a16="http://schemas.microsoft.com/office/drawing/2014/main" id="{9C3ED07E-5F29-4546-B908-426E119923FC}"/>
              </a:ext>
            </a:extLst>
          </p:cNvPr>
          <p:cNvSpPr>
            <a:spLocks noGrp="1" noChangeArrowheads="1"/>
          </p:cNvSpPr>
          <p:nvPr>
            <p:ph type="body" idx="1"/>
          </p:nvPr>
        </p:nvSpPr>
        <p:spPr bwMode="auto">
          <a:xfrm>
            <a:off x="685800" y="1143000"/>
            <a:ext cx="7924800" cy="495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10000"/>
              </a:lnSpc>
              <a:spcBef>
                <a:spcPct val="0"/>
              </a:spcBef>
            </a:pPr>
            <a:r>
              <a:rPr lang="zh-CN" altLang="en-US" sz="2800" b="1">
                <a:latin typeface="华文中宋" panose="02010600040101010101" pitchFamily="2" charset="-122"/>
              </a:rPr>
              <a:t>最小堆</a:t>
            </a:r>
            <a:r>
              <a:rPr lang="en-US" altLang="zh-CN" sz="2800" b="1">
                <a:latin typeface="华文中宋" panose="02010600040101010101" pitchFamily="2" charset="-122"/>
              </a:rPr>
              <a:t>H</a:t>
            </a:r>
            <a:r>
              <a:rPr lang="zh-CN" altLang="en-US" sz="2800" b="1">
                <a:latin typeface="华文中宋" panose="02010600040101010101" pitchFamily="2" charset="-122"/>
              </a:rPr>
              <a:t>：容量为</a:t>
            </a:r>
            <a:r>
              <a:rPr lang="en-US" altLang="zh-CN" sz="2800" b="1">
                <a:latin typeface="华文中宋" panose="02010600040101010101" pitchFamily="2" charset="-122"/>
              </a:rPr>
              <a:t>1000</a:t>
            </a:r>
          </a:p>
          <a:p>
            <a:pPr eaLnBrk="1" hangingPunct="1">
              <a:lnSpc>
                <a:spcPct val="110000"/>
              </a:lnSpc>
              <a:spcBef>
                <a:spcPct val="0"/>
              </a:spcBef>
            </a:pPr>
            <a:r>
              <a:rPr kumimoji="0" lang="en-US" altLang="zh-CN" sz="2800" b="1">
                <a:latin typeface="华文中宋" panose="02010600040101010101" pitchFamily="2" charset="-122"/>
              </a:rPr>
              <a:t>minout[i]</a:t>
            </a:r>
            <a:r>
              <a:rPr kumimoji="0" lang="zh-CN" altLang="en-US" sz="2800" b="1">
                <a:latin typeface="华文中宋" panose="02010600040101010101" pitchFamily="2" charset="-122"/>
              </a:rPr>
              <a:t>：计算图中每个顶点的最小出边费用</a:t>
            </a:r>
          </a:p>
          <a:p>
            <a:pPr eaLnBrk="1" hangingPunct="1">
              <a:lnSpc>
                <a:spcPct val="110000"/>
              </a:lnSpc>
              <a:spcBef>
                <a:spcPct val="0"/>
              </a:spcBef>
            </a:pPr>
            <a:r>
              <a:rPr kumimoji="0" lang="en-US" altLang="zh-CN" sz="2800" b="1">
                <a:latin typeface="华文中宋" panose="02010600040101010101" pitchFamily="2" charset="-122"/>
              </a:rPr>
              <a:t>MinSum</a:t>
            </a:r>
            <a:r>
              <a:rPr kumimoji="0" lang="zh-CN" altLang="en-US" sz="2800" b="1">
                <a:latin typeface="华文中宋" panose="02010600040101010101" pitchFamily="2" charset="-122"/>
              </a:rPr>
              <a:t>：计算所有顶点的最小出边费用和</a:t>
            </a:r>
          </a:p>
          <a:p>
            <a:pPr eaLnBrk="1" hangingPunct="1">
              <a:lnSpc>
                <a:spcPct val="110000"/>
              </a:lnSpc>
              <a:spcBef>
                <a:spcPct val="0"/>
              </a:spcBef>
            </a:pPr>
            <a:r>
              <a:rPr kumimoji="0" lang="zh-CN" altLang="en-US" sz="2800" b="1">
                <a:latin typeface="华文中宋" panose="02010600040101010101" pitchFamily="2" charset="-122"/>
              </a:rPr>
              <a:t>初始化：</a:t>
            </a:r>
            <a:r>
              <a:rPr kumimoji="0" lang="en-US" altLang="zh-CN" sz="2800" b="1">
                <a:latin typeface="华文中宋" panose="02010600040101010101" pitchFamily="2" charset="-122"/>
              </a:rPr>
              <a:t>s=0; x[0:n-1]={1,2,</a:t>
            </a:r>
            <a:r>
              <a:rPr kumimoji="0" lang="en-US" altLang="zh-CN" sz="2800" b="1"/>
              <a:t>…</a:t>
            </a:r>
            <a:r>
              <a:rPr kumimoji="0" lang="en-US" altLang="zh-CN" sz="2800" b="1">
                <a:latin typeface="华文中宋" panose="02010600040101010101" pitchFamily="2" charset="-122"/>
              </a:rPr>
              <a:t>,n}</a:t>
            </a:r>
          </a:p>
          <a:p>
            <a:pPr eaLnBrk="1" hangingPunct="1">
              <a:lnSpc>
                <a:spcPct val="110000"/>
              </a:lnSpc>
              <a:spcBef>
                <a:spcPct val="0"/>
              </a:spcBef>
              <a:buFontTx/>
              <a:buNone/>
            </a:pPr>
            <a:r>
              <a:rPr kumimoji="0" lang="en-US" altLang="zh-CN" sz="2800" b="1">
                <a:latin typeface="华文中宋" panose="02010600040101010101" pitchFamily="2" charset="-122"/>
              </a:rPr>
              <a:t>       rcost=MinSum, cc=0,bestc=inf</a:t>
            </a:r>
          </a:p>
          <a:p>
            <a:pPr eaLnBrk="1" hangingPunct="1">
              <a:lnSpc>
                <a:spcPct val="110000"/>
              </a:lnSpc>
              <a:spcBef>
                <a:spcPct val="0"/>
              </a:spcBef>
            </a:pPr>
            <a:r>
              <a:rPr kumimoji="0" lang="zh-CN" altLang="en-US" sz="2800" b="1">
                <a:latin typeface="华文中宋" panose="02010600040101010101" pitchFamily="2" charset="-122"/>
              </a:rPr>
              <a:t>搜索排列树：扩展第一个结点</a:t>
            </a:r>
            <a:r>
              <a:rPr kumimoji="0" lang="en-US" altLang="zh-CN" sz="2800" b="1">
                <a:latin typeface="华文中宋" panose="02010600040101010101" pitchFamily="2" charset="-122"/>
              </a:rPr>
              <a:t>B</a:t>
            </a:r>
          </a:p>
          <a:p>
            <a:pPr eaLnBrk="1" hangingPunct="1">
              <a:lnSpc>
                <a:spcPct val="110000"/>
              </a:lnSpc>
              <a:spcBef>
                <a:spcPct val="0"/>
              </a:spcBef>
            </a:pPr>
            <a:r>
              <a:rPr kumimoji="0" lang="zh-CN" altLang="en-US" sz="2800" b="1">
                <a:latin typeface="华文中宋" panose="02010600040101010101" pitchFamily="2" charset="-122"/>
              </a:rPr>
              <a:t>循环进行：删除</a:t>
            </a:r>
            <a:r>
              <a:rPr kumimoji="0" lang="en-US" altLang="zh-CN" sz="2800" b="1">
                <a:latin typeface="华文中宋" panose="02010600040101010101" pitchFamily="2" charset="-122"/>
              </a:rPr>
              <a:t>B</a:t>
            </a:r>
            <a:r>
              <a:rPr kumimoji="0" lang="zh-CN" altLang="en-US" sz="2800" b="1">
                <a:latin typeface="华文中宋" panose="02010600040101010101" pitchFamily="2" charset="-122"/>
              </a:rPr>
              <a:t>，取下一个扩展结点，直到堆空。</a:t>
            </a:r>
          </a:p>
          <a:p>
            <a:pPr eaLnBrk="1" hangingPunct="1">
              <a:lnSpc>
                <a:spcPct val="110000"/>
              </a:lnSpc>
              <a:spcBef>
                <a:spcPct val="0"/>
              </a:spcBef>
            </a:pPr>
            <a:r>
              <a:rPr kumimoji="0" lang="zh-CN" altLang="en-US" sz="2800" b="1">
                <a:latin typeface="华文中宋" panose="02010600040101010101" pitchFamily="2" charset="-122"/>
              </a:rPr>
              <a:t>判别是否有回路：如无，返回；如有，记下路径，最优解由数组</a:t>
            </a:r>
            <a:r>
              <a:rPr kumimoji="0" lang="en-US" altLang="zh-CN" sz="2800" b="1">
                <a:latin typeface="华文中宋" panose="02010600040101010101" pitchFamily="2" charset="-122"/>
              </a:rPr>
              <a:t>v</a:t>
            </a:r>
            <a:r>
              <a:rPr kumimoji="0" lang="zh-CN" altLang="en-US" sz="2800" b="1">
                <a:latin typeface="华文中宋" panose="02010600040101010101" pitchFamily="2" charset="-122"/>
              </a:rPr>
              <a:t>给出</a:t>
            </a:r>
          </a:p>
        </p:txBody>
      </p:sp>
      <p:pic>
        <p:nvPicPr>
          <p:cNvPr id="139269" name="Picture 5" descr="PE03560_">
            <a:hlinkClick r:id="rId2" action="ppaction://hlinksldjump"/>
            <a:extLst>
              <a:ext uri="{FF2B5EF4-FFF2-40B4-BE49-F238E27FC236}">
                <a16:creationId xmlns:a16="http://schemas.microsoft.com/office/drawing/2014/main" id="{7C555EA9-5285-42C3-97BB-8D12DAC0E9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5791200"/>
            <a:ext cx="12493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270" name="Oval 6">
            <a:extLst>
              <a:ext uri="{FF2B5EF4-FFF2-40B4-BE49-F238E27FC236}">
                <a16:creationId xmlns:a16="http://schemas.microsoft.com/office/drawing/2014/main" id="{16280F67-4069-4555-B0C3-AB0201D1AE57}"/>
              </a:ext>
            </a:extLst>
          </p:cNvPr>
          <p:cNvSpPr>
            <a:spLocks noChangeArrowheads="1"/>
          </p:cNvSpPr>
          <p:nvPr/>
        </p:nvSpPr>
        <p:spPr bwMode="auto">
          <a:xfrm>
            <a:off x="7086600" y="3429000"/>
            <a:ext cx="1676400" cy="457200"/>
          </a:xfrm>
          <a:prstGeom prst="ellipse">
            <a:avLst/>
          </a:prstGeom>
          <a:solidFill>
            <a:schemeClr val="accent1"/>
          </a:solidFill>
          <a:ln w="952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ea typeface="华文中宋" panose="02010600040101010101" pitchFamily="2" charset="-122"/>
              </a:rPr>
              <a:t>关键代码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9267">
                                            <p:txEl>
                                              <p:pRg st="0" end="0"/>
                                            </p:txEl>
                                          </p:spTgt>
                                        </p:tgtEl>
                                        <p:attrNameLst>
                                          <p:attrName>style.visibility</p:attrName>
                                        </p:attrNameLst>
                                      </p:cBhvr>
                                      <p:to>
                                        <p:strVal val="visible"/>
                                      </p:to>
                                    </p:set>
                                    <p:anim calcmode="lin" valueType="num">
                                      <p:cBhvr additive="base">
                                        <p:cTn id="7" dur="500" fill="hold"/>
                                        <p:tgtEl>
                                          <p:spTgt spid="1392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92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9267">
                                            <p:txEl>
                                              <p:pRg st="1" end="1"/>
                                            </p:txEl>
                                          </p:spTgt>
                                        </p:tgtEl>
                                        <p:attrNameLst>
                                          <p:attrName>style.visibility</p:attrName>
                                        </p:attrNameLst>
                                      </p:cBhvr>
                                      <p:to>
                                        <p:strVal val="visible"/>
                                      </p:to>
                                    </p:set>
                                    <p:anim calcmode="lin" valueType="num">
                                      <p:cBhvr additive="base">
                                        <p:cTn id="13" dur="500" fill="hold"/>
                                        <p:tgtEl>
                                          <p:spTgt spid="13926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92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9267">
                                            <p:txEl>
                                              <p:pRg st="2" end="2"/>
                                            </p:txEl>
                                          </p:spTgt>
                                        </p:tgtEl>
                                        <p:attrNameLst>
                                          <p:attrName>style.visibility</p:attrName>
                                        </p:attrNameLst>
                                      </p:cBhvr>
                                      <p:to>
                                        <p:strVal val="visible"/>
                                      </p:to>
                                    </p:set>
                                    <p:anim calcmode="lin" valueType="num">
                                      <p:cBhvr additive="base">
                                        <p:cTn id="19" dur="500" fill="hold"/>
                                        <p:tgtEl>
                                          <p:spTgt spid="13926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92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39267">
                                            <p:txEl>
                                              <p:pRg st="3" end="3"/>
                                            </p:txEl>
                                          </p:spTgt>
                                        </p:tgtEl>
                                        <p:attrNameLst>
                                          <p:attrName>style.visibility</p:attrName>
                                        </p:attrNameLst>
                                      </p:cBhvr>
                                      <p:to>
                                        <p:strVal val="visible"/>
                                      </p:to>
                                    </p:set>
                                    <p:anim calcmode="lin" valueType="num">
                                      <p:cBhvr additive="base">
                                        <p:cTn id="25" dur="500" fill="hold"/>
                                        <p:tgtEl>
                                          <p:spTgt spid="13926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3926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39267">
                                            <p:txEl>
                                              <p:pRg st="4" end="4"/>
                                            </p:txEl>
                                          </p:spTgt>
                                        </p:tgtEl>
                                        <p:attrNameLst>
                                          <p:attrName>style.visibility</p:attrName>
                                        </p:attrNameLst>
                                      </p:cBhvr>
                                      <p:to>
                                        <p:strVal val="visible"/>
                                      </p:to>
                                    </p:set>
                                    <p:anim calcmode="lin" valueType="num">
                                      <p:cBhvr additive="base">
                                        <p:cTn id="31" dur="500" fill="hold"/>
                                        <p:tgtEl>
                                          <p:spTgt spid="13926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3926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39267">
                                            <p:txEl>
                                              <p:pRg st="5" end="5"/>
                                            </p:txEl>
                                          </p:spTgt>
                                        </p:tgtEl>
                                        <p:attrNameLst>
                                          <p:attrName>style.visibility</p:attrName>
                                        </p:attrNameLst>
                                      </p:cBhvr>
                                      <p:to>
                                        <p:strVal val="visible"/>
                                      </p:to>
                                    </p:set>
                                    <p:anim calcmode="lin" valueType="num">
                                      <p:cBhvr additive="base">
                                        <p:cTn id="37" dur="500" fill="hold"/>
                                        <p:tgtEl>
                                          <p:spTgt spid="13926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3926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39267">
                                            <p:txEl>
                                              <p:pRg st="6" end="6"/>
                                            </p:txEl>
                                          </p:spTgt>
                                        </p:tgtEl>
                                        <p:attrNameLst>
                                          <p:attrName>style.visibility</p:attrName>
                                        </p:attrNameLst>
                                      </p:cBhvr>
                                      <p:to>
                                        <p:strVal val="visible"/>
                                      </p:to>
                                    </p:set>
                                    <p:anim calcmode="lin" valueType="num">
                                      <p:cBhvr additive="base">
                                        <p:cTn id="43" dur="500" fill="hold"/>
                                        <p:tgtEl>
                                          <p:spTgt spid="13926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3926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39267">
                                            <p:txEl>
                                              <p:pRg st="7" end="7"/>
                                            </p:txEl>
                                          </p:spTgt>
                                        </p:tgtEl>
                                        <p:attrNameLst>
                                          <p:attrName>style.visibility</p:attrName>
                                        </p:attrNameLst>
                                      </p:cBhvr>
                                      <p:to>
                                        <p:strVal val="visible"/>
                                      </p:to>
                                    </p:set>
                                    <p:anim calcmode="lin" valueType="num">
                                      <p:cBhvr additive="base">
                                        <p:cTn id="49" dur="500" fill="hold"/>
                                        <p:tgtEl>
                                          <p:spTgt spid="139267">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39267">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39270"/>
                                        </p:tgtEl>
                                        <p:attrNameLst>
                                          <p:attrName>style.visibility</p:attrName>
                                        </p:attrNameLst>
                                      </p:cBhvr>
                                      <p:to>
                                        <p:strVal val="visible"/>
                                      </p:to>
                                    </p:set>
                                    <p:anim calcmode="lin" valueType="num">
                                      <p:cBhvr additive="base">
                                        <p:cTn id="55" dur="500" fill="hold"/>
                                        <p:tgtEl>
                                          <p:spTgt spid="139270"/>
                                        </p:tgtEl>
                                        <p:attrNameLst>
                                          <p:attrName>ppt_x</p:attrName>
                                        </p:attrNameLst>
                                      </p:cBhvr>
                                      <p:tavLst>
                                        <p:tav tm="0">
                                          <p:val>
                                            <p:strVal val="0-#ppt_w/2"/>
                                          </p:val>
                                        </p:tav>
                                        <p:tav tm="100000">
                                          <p:val>
                                            <p:strVal val="#ppt_x"/>
                                          </p:val>
                                        </p:tav>
                                      </p:tavLst>
                                    </p:anim>
                                    <p:anim calcmode="lin" valueType="num">
                                      <p:cBhvr additive="base">
                                        <p:cTn id="56" dur="500" fill="hold"/>
                                        <p:tgtEl>
                                          <p:spTgt spid="139270"/>
                                        </p:tgtEl>
                                        <p:attrNameLst>
                                          <p:attrName>ppt_y</p:attrName>
                                        </p:attrNameLst>
                                      </p:cBhvr>
                                      <p:tavLst>
                                        <p:tav tm="0">
                                          <p:val>
                                            <p:strVal val="#ppt_y"/>
                                          </p:val>
                                        </p:tav>
                                        <p:tav tm="100000">
                                          <p:val>
                                            <p:strVal val="#ppt_y"/>
                                          </p:val>
                                        </p:tav>
                                      </p:tavLst>
                                    </p:anim>
                                  </p:childTnLst>
                                </p:cTn>
                              </p:par>
                            </p:childTnLst>
                          </p:cTn>
                        </p:par>
                        <p:par>
                          <p:cTn id="57" fill="hold" nodeType="afterGroup">
                            <p:stCondLst>
                              <p:cond delay="500"/>
                            </p:stCondLst>
                            <p:childTnLst>
                              <p:par>
                                <p:cTn id="58" presetID="2" presetClass="entr" presetSubtype="8" fill="hold" nodeType="afterEffect">
                                  <p:stCondLst>
                                    <p:cond delay="0"/>
                                  </p:stCondLst>
                                  <p:childTnLst>
                                    <p:set>
                                      <p:cBhvr>
                                        <p:cTn id="59" dur="1" fill="hold">
                                          <p:stCondLst>
                                            <p:cond delay="0"/>
                                          </p:stCondLst>
                                        </p:cTn>
                                        <p:tgtEl>
                                          <p:spTgt spid="139269"/>
                                        </p:tgtEl>
                                        <p:attrNameLst>
                                          <p:attrName>style.visibility</p:attrName>
                                        </p:attrNameLst>
                                      </p:cBhvr>
                                      <p:to>
                                        <p:strVal val="visible"/>
                                      </p:to>
                                    </p:set>
                                    <p:anim calcmode="lin" valueType="num">
                                      <p:cBhvr additive="base">
                                        <p:cTn id="60" dur="500" fill="hold"/>
                                        <p:tgtEl>
                                          <p:spTgt spid="139269"/>
                                        </p:tgtEl>
                                        <p:attrNameLst>
                                          <p:attrName>ppt_x</p:attrName>
                                        </p:attrNameLst>
                                      </p:cBhvr>
                                      <p:tavLst>
                                        <p:tav tm="0">
                                          <p:val>
                                            <p:strVal val="0-#ppt_w/2"/>
                                          </p:val>
                                        </p:tav>
                                        <p:tav tm="100000">
                                          <p:val>
                                            <p:strVal val="#ppt_x"/>
                                          </p:val>
                                        </p:tav>
                                      </p:tavLst>
                                    </p:anim>
                                    <p:anim calcmode="lin" valueType="num">
                                      <p:cBhvr additive="base">
                                        <p:cTn id="61" dur="500" fill="hold"/>
                                        <p:tgtEl>
                                          <p:spTgt spid="1392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build="p" autoUpdateAnimBg="0"/>
      <p:bldP spid="139270" grpId="0" animBg="1"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599F4FC7-73CD-4B62-B7A8-63ACE32506BC}"/>
              </a:ext>
            </a:extLst>
          </p:cNvPr>
          <p:cNvSpPr>
            <a:spLocks noGrp="1" noChangeArrowheads="1"/>
          </p:cNvSpPr>
          <p:nvPr>
            <p:ph type="title"/>
          </p:nvPr>
        </p:nvSpPr>
        <p:spPr bwMode="auto">
          <a:xfrm>
            <a:off x="685800" y="762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en-US" altLang="zh-CN" sz="3600" b="1">
                <a:latin typeface="华文中宋" panose="02010600040101010101" pitchFamily="2" charset="-122"/>
              </a:rPr>
              <a:t>4</a:t>
            </a:r>
            <a:r>
              <a:rPr kumimoji="0" lang="zh-CN" altLang="en-US" sz="3600" b="1">
                <a:latin typeface="华文中宋" panose="02010600040101010101" pitchFamily="2" charset="-122"/>
              </a:rPr>
              <a:t>、关键代码</a:t>
            </a:r>
            <a:r>
              <a:rPr kumimoji="0" lang="en-US" altLang="zh-CN" sz="3600" b="1">
                <a:latin typeface="华文中宋" panose="02010600040101010101" pitchFamily="2" charset="-122"/>
              </a:rPr>
              <a:t>-</a:t>
            </a:r>
            <a:r>
              <a:rPr kumimoji="0" lang="zh-CN" altLang="en-US" sz="3600" b="1">
                <a:latin typeface="华文中宋" panose="02010600040101010101" pitchFamily="2" charset="-122"/>
              </a:rPr>
              <a:t>看书</a:t>
            </a:r>
          </a:p>
        </p:txBody>
      </p:sp>
      <p:sp>
        <p:nvSpPr>
          <p:cNvPr id="71683" name="Rectangle 3">
            <a:extLst>
              <a:ext uri="{FF2B5EF4-FFF2-40B4-BE49-F238E27FC236}">
                <a16:creationId xmlns:a16="http://schemas.microsoft.com/office/drawing/2014/main" id="{4C3FF728-7CC5-4283-8366-716391BC144F}"/>
              </a:ext>
            </a:extLst>
          </p:cNvPr>
          <p:cNvSpPr>
            <a:spLocks noGrp="1" noChangeArrowheads="1"/>
          </p:cNvSpPr>
          <p:nvPr>
            <p:ph type="body" idx="1"/>
          </p:nvPr>
        </p:nvSpPr>
        <p:spPr bwMode="auto">
          <a:xfrm>
            <a:off x="228600" y="762000"/>
            <a:ext cx="4267200" cy="5791200"/>
          </a:xfrm>
          <a:noFill/>
          <a:ln w="25400">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eaLnBrk="1" hangingPunct="1">
              <a:buFontTx/>
              <a:buNone/>
            </a:pPr>
            <a:r>
              <a:rPr lang="en-US" altLang="zh-CN" sz="2000" b="1"/>
              <a:t>While(E.s&lt;n-1){</a:t>
            </a:r>
          </a:p>
          <a:p>
            <a:pPr eaLnBrk="1" hangingPunct="1">
              <a:buFontTx/>
              <a:buNone/>
            </a:pPr>
            <a:r>
              <a:rPr lang="en-US" altLang="zh-CN" sz="2000" b="1"/>
              <a:t>  if (E.s==n-2){</a:t>
            </a:r>
          </a:p>
          <a:p>
            <a:pPr eaLnBrk="1" hangingPunct="1">
              <a:buFontTx/>
              <a:buNone/>
            </a:pPr>
            <a:r>
              <a:rPr lang="en-US" altLang="zh-CN" sz="2000" b="1"/>
              <a:t>    if (a[E.x[n-2]][E.x[n-1]]!= NoEdge &amp;&amp;</a:t>
            </a:r>
          </a:p>
          <a:p>
            <a:pPr eaLnBrk="1" hangingPunct="1">
              <a:buFontTx/>
              <a:buNone/>
            </a:pPr>
            <a:r>
              <a:rPr lang="en-US" altLang="zh-CN" sz="2000" b="1"/>
              <a:t>     a[E.x[n-1]][1]]!=NoEdge &amp;&amp; (E.cc+a[E.x[n-2]][E.x[n-1]]+ a[E.x[n-1]][1]&lt;bestc ||bestc=NoEdge)){</a:t>
            </a:r>
          </a:p>
          <a:p>
            <a:pPr eaLnBrk="1" hangingPunct="1">
              <a:buFontTx/>
              <a:buNone/>
            </a:pPr>
            <a:r>
              <a:rPr lang="en-US" altLang="zh-CN" sz="2000" b="1"/>
              <a:t>      bestc= a[E.x[n-2]][E.x[n-1]]+ a[E.x[n-1]][1] + E.cc; </a:t>
            </a:r>
          </a:p>
          <a:p>
            <a:pPr eaLnBrk="1" hangingPunct="1">
              <a:buFontTx/>
              <a:buNone/>
            </a:pPr>
            <a:r>
              <a:rPr lang="en-US" altLang="zh-CN" sz="2000" b="1"/>
              <a:t>     E.cc=bestc; E.s++; H.Insert(E);}</a:t>
            </a:r>
          </a:p>
          <a:p>
            <a:pPr eaLnBrk="1" hangingPunct="1">
              <a:buFontTx/>
              <a:buNone/>
            </a:pPr>
            <a:r>
              <a:rPr lang="en-US" altLang="zh-CN" sz="2000" b="1"/>
              <a:t>   else delete[] E.x;}</a:t>
            </a:r>
          </a:p>
          <a:p>
            <a:pPr eaLnBrk="1" hangingPunct="1">
              <a:buFontTx/>
              <a:buNone/>
            </a:pPr>
            <a:r>
              <a:rPr lang="en-US" altLang="zh-CN" sz="2000" b="1"/>
              <a:t>  else{</a:t>
            </a:r>
          </a:p>
          <a:p>
            <a:pPr eaLnBrk="1" hangingPunct="1">
              <a:buFontTx/>
              <a:buNone/>
            </a:pPr>
            <a:r>
              <a:rPr lang="en-US" altLang="zh-CN" sz="2000" b="1"/>
              <a:t>  for (int i=E.s+1;i&lt;n;i++)</a:t>
            </a:r>
          </a:p>
          <a:p>
            <a:pPr eaLnBrk="1" hangingPunct="1">
              <a:buFontTx/>
              <a:buNone/>
            </a:pPr>
            <a:r>
              <a:rPr lang="en-US" altLang="zh-CN" sz="2000" b="1"/>
              <a:t>     if (a[E.x[E.s]][E.x[i]]!=NoEdge){</a:t>
            </a:r>
          </a:p>
        </p:txBody>
      </p:sp>
      <p:sp>
        <p:nvSpPr>
          <p:cNvPr id="71684" name="Rectangle 6">
            <a:extLst>
              <a:ext uri="{FF2B5EF4-FFF2-40B4-BE49-F238E27FC236}">
                <a16:creationId xmlns:a16="http://schemas.microsoft.com/office/drawing/2014/main" id="{5526C51C-570B-4118-BF63-B8A8371822EB}"/>
              </a:ext>
            </a:extLst>
          </p:cNvPr>
          <p:cNvSpPr>
            <a:spLocks noChangeArrowheads="1"/>
          </p:cNvSpPr>
          <p:nvPr/>
        </p:nvSpPr>
        <p:spPr bwMode="auto">
          <a:xfrm>
            <a:off x="4572000" y="762000"/>
            <a:ext cx="4267200" cy="5791200"/>
          </a:xfrm>
          <a:prstGeom prst="rect">
            <a:avLst/>
          </a:prstGeom>
          <a:noFill/>
          <a:ln w="25400">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en-US" altLang="zh-CN" sz="2000" b="1">
                <a:ea typeface="华文中宋" panose="02010600040101010101" pitchFamily="2" charset="-122"/>
              </a:rPr>
              <a:t>Type cc=E.cc+a[E.x[E.s]][E.x[i]]</a:t>
            </a:r>
          </a:p>
          <a:p>
            <a:pPr eaLnBrk="1" hangingPunct="1">
              <a:spcBef>
                <a:spcPct val="20000"/>
              </a:spcBef>
            </a:pPr>
            <a:r>
              <a:rPr lang="en-US" altLang="zh-CN" sz="2000" b="1">
                <a:ea typeface="华文中宋" panose="02010600040101010101" pitchFamily="2" charset="-122"/>
              </a:rPr>
              <a:t>Type rcost=E.rcost-MinOut[E.x[E.s]];</a:t>
            </a:r>
          </a:p>
          <a:p>
            <a:pPr eaLnBrk="1" hangingPunct="1">
              <a:spcBef>
                <a:spcPct val="20000"/>
              </a:spcBef>
            </a:pPr>
            <a:r>
              <a:rPr lang="en-US" altLang="zh-CN" sz="2000" b="1">
                <a:ea typeface="华文中宋" panose="02010600040101010101" pitchFamily="2" charset="-122"/>
              </a:rPr>
              <a:t>Type b=cc+rcost;</a:t>
            </a:r>
          </a:p>
          <a:p>
            <a:pPr eaLnBrk="1" hangingPunct="1">
              <a:spcBef>
                <a:spcPct val="20000"/>
              </a:spcBef>
            </a:pPr>
            <a:r>
              <a:rPr lang="en-US" altLang="zh-CN" sz="2000" b="1">
                <a:ea typeface="华文中宋" panose="02010600040101010101" pitchFamily="2" charset="-122"/>
              </a:rPr>
              <a:t>if (b&lt;bestc||bestc=NoEdge}{</a:t>
            </a:r>
          </a:p>
          <a:p>
            <a:pPr eaLnBrk="1" hangingPunct="1">
              <a:spcBef>
                <a:spcPct val="20000"/>
              </a:spcBef>
            </a:pPr>
            <a:r>
              <a:rPr lang="en-US" altLang="zh-CN" sz="2000" b="1">
                <a:ea typeface="华文中宋" panose="02010600040101010101" pitchFamily="2" charset="-122"/>
              </a:rPr>
              <a:t>   MinHeapNode&lt;Type&gt; N;</a:t>
            </a:r>
          </a:p>
          <a:p>
            <a:pPr eaLnBrk="1" hangingPunct="1">
              <a:spcBef>
                <a:spcPct val="20000"/>
              </a:spcBef>
            </a:pPr>
            <a:r>
              <a:rPr lang="en-US" altLang="zh-CN" sz="2000" b="1">
                <a:ea typeface="华文中宋" panose="02010600040101010101" pitchFamily="2" charset="-122"/>
              </a:rPr>
              <a:t>   N.x=new int [n];</a:t>
            </a:r>
          </a:p>
          <a:p>
            <a:pPr eaLnBrk="1" hangingPunct="1">
              <a:spcBef>
                <a:spcPct val="20000"/>
              </a:spcBef>
            </a:pPr>
            <a:r>
              <a:rPr lang="en-US" altLang="zh-CN" sz="2000" b="1">
                <a:ea typeface="华文中宋" panose="02010600040101010101" pitchFamily="2" charset="-122"/>
              </a:rPr>
              <a:t>   for(int j=0;j&lt;n;j++)</a:t>
            </a:r>
          </a:p>
          <a:p>
            <a:pPr eaLnBrk="1" hangingPunct="1">
              <a:spcBef>
                <a:spcPct val="20000"/>
              </a:spcBef>
            </a:pPr>
            <a:r>
              <a:rPr lang="en-US" altLang="zh-CN" sz="2000" b="1">
                <a:ea typeface="华文中宋" panose="02010600040101010101" pitchFamily="2" charset="-122"/>
              </a:rPr>
              <a:t>      N.x[j]=E.x[j];</a:t>
            </a:r>
          </a:p>
          <a:p>
            <a:pPr eaLnBrk="1" hangingPunct="1">
              <a:spcBef>
                <a:spcPct val="20000"/>
              </a:spcBef>
            </a:pPr>
            <a:r>
              <a:rPr lang="en-US" altLang="zh-CN" sz="2000" b="1">
                <a:ea typeface="华文中宋" panose="02010600040101010101" pitchFamily="2" charset="-122"/>
              </a:rPr>
              <a:t>      N.x[E.s+1]=E.x[i];</a:t>
            </a:r>
          </a:p>
          <a:p>
            <a:pPr eaLnBrk="1" hangingPunct="1">
              <a:spcBef>
                <a:spcPct val="20000"/>
              </a:spcBef>
            </a:pPr>
            <a:r>
              <a:rPr lang="en-US" altLang="zh-CN" sz="2000" b="1">
                <a:ea typeface="华文中宋" panose="02010600040101010101" pitchFamily="2" charset="-122"/>
              </a:rPr>
              <a:t>      N.x[i]=E.x[E.s+1];</a:t>
            </a:r>
          </a:p>
          <a:p>
            <a:pPr eaLnBrk="1" hangingPunct="1">
              <a:spcBef>
                <a:spcPct val="20000"/>
              </a:spcBef>
            </a:pPr>
            <a:r>
              <a:rPr lang="en-US" altLang="zh-CN" sz="2000" b="1">
                <a:ea typeface="华文中宋" panose="02010600040101010101" pitchFamily="2" charset="-122"/>
              </a:rPr>
              <a:t>      N.cc=cc;</a:t>
            </a:r>
          </a:p>
          <a:p>
            <a:pPr eaLnBrk="1" hangingPunct="1">
              <a:spcBef>
                <a:spcPct val="20000"/>
              </a:spcBef>
            </a:pPr>
            <a:r>
              <a:rPr lang="en-US" altLang="zh-CN" sz="2000" b="1">
                <a:ea typeface="华文中宋" panose="02010600040101010101" pitchFamily="2" charset="-122"/>
              </a:rPr>
              <a:t>      N.s=E.s+1;</a:t>
            </a:r>
          </a:p>
          <a:p>
            <a:pPr eaLnBrk="1" hangingPunct="1">
              <a:spcBef>
                <a:spcPct val="20000"/>
              </a:spcBef>
            </a:pPr>
            <a:r>
              <a:rPr lang="en-US" altLang="zh-CN" sz="2000" b="1">
                <a:ea typeface="华文中宋" panose="02010600040101010101" pitchFamily="2" charset="-122"/>
              </a:rPr>
              <a:t>      N.lcost=b; N.rcost=rcost;</a:t>
            </a:r>
          </a:p>
          <a:p>
            <a:pPr eaLnBrk="1" hangingPunct="1">
              <a:spcBef>
                <a:spcPct val="20000"/>
              </a:spcBef>
            </a:pPr>
            <a:r>
              <a:rPr lang="en-US" altLang="zh-CN" sz="2000" b="1">
                <a:ea typeface="华文中宋" panose="02010600040101010101" pitchFamily="2" charset="-122"/>
              </a:rPr>
              <a:t>      N.Insert(N);}</a:t>
            </a:r>
          </a:p>
          <a:p>
            <a:pPr eaLnBrk="1" hangingPunct="1">
              <a:spcBef>
                <a:spcPct val="20000"/>
              </a:spcBef>
            </a:pPr>
            <a:r>
              <a:rPr lang="en-US" altLang="zh-CN" sz="2000" b="1">
                <a:ea typeface="华文中宋" panose="02010600040101010101" pitchFamily="2" charset="-122"/>
              </a:rPr>
              <a: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6C07D7E8-28B5-4038-A28A-1F9B2B22C638}"/>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a:t>约束函数和限界函数</a:t>
            </a:r>
          </a:p>
        </p:txBody>
      </p:sp>
      <p:sp>
        <p:nvSpPr>
          <p:cNvPr id="72707" name="Rectangle 3">
            <a:extLst>
              <a:ext uri="{FF2B5EF4-FFF2-40B4-BE49-F238E27FC236}">
                <a16:creationId xmlns:a16="http://schemas.microsoft.com/office/drawing/2014/main" id="{026BF419-93A7-4DA9-B055-F730EAD6B7B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a:t>约束函数</a:t>
            </a:r>
          </a:p>
          <a:p>
            <a:pPr eaLnBrk="1" hangingPunct="1">
              <a:buFontTx/>
              <a:buNone/>
            </a:pPr>
            <a:r>
              <a:rPr lang="zh-CN" altLang="en-US"/>
              <a:t>       </a:t>
            </a:r>
            <a:r>
              <a:rPr lang="en-US" altLang="zh-CN"/>
              <a:t>a[i][j]!=NoEdge</a:t>
            </a:r>
          </a:p>
          <a:p>
            <a:pPr eaLnBrk="1" hangingPunct="1"/>
            <a:r>
              <a:rPr lang="zh-CN" altLang="en-US"/>
              <a:t>限界函数</a:t>
            </a:r>
          </a:p>
          <a:p>
            <a:pPr eaLnBrk="1" hangingPunct="1">
              <a:buFontTx/>
              <a:buNone/>
            </a:pPr>
            <a:r>
              <a:rPr kumimoji="0" lang="zh-CN" altLang="en-US" b="1">
                <a:latin typeface="华文中宋" panose="02010600040101010101" pitchFamily="2" charset="-122"/>
              </a:rPr>
              <a:t>   </a:t>
            </a:r>
            <a:r>
              <a:rPr kumimoji="0" lang="en-US" altLang="zh-CN" b="1">
                <a:latin typeface="华文中宋" panose="02010600040101010101" pitchFamily="2" charset="-122"/>
              </a:rPr>
              <a:t>cc+rcost&gt;bestc</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5644B090-43B8-4081-AF11-EFDE7FFEC981}"/>
              </a:ext>
            </a:extLst>
          </p:cNvPr>
          <p:cNvSpPr>
            <a:spLocks noGrp="1" noChangeArrowheads="1"/>
          </p:cNvSpPr>
          <p:nvPr>
            <p:ph type="title"/>
          </p:nvPr>
        </p:nvSpPr>
        <p:spPr bwMode="auto">
          <a:xfrm>
            <a:off x="685800" y="609600"/>
            <a:ext cx="777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en-US" altLang="zh-CN" sz="3200" b="1">
                <a:solidFill>
                  <a:srgbClr val="0000FF"/>
                </a:solidFill>
                <a:latin typeface="华文中宋" panose="02010600040101010101" pitchFamily="2" charset="-122"/>
              </a:rPr>
              <a:t>5</a:t>
            </a:r>
            <a:r>
              <a:rPr kumimoji="0" lang="zh-CN" altLang="en-US" sz="3200" b="1">
                <a:solidFill>
                  <a:srgbClr val="0000FF"/>
                </a:solidFill>
                <a:latin typeface="华文中宋" panose="02010600040101010101" pitchFamily="2" charset="-122"/>
              </a:rPr>
              <a:t>、实例与操作过程</a:t>
            </a:r>
          </a:p>
        </p:txBody>
      </p:sp>
      <p:pic>
        <p:nvPicPr>
          <p:cNvPr id="141316" name="Picture 4" descr="t53">
            <a:extLst>
              <a:ext uri="{FF2B5EF4-FFF2-40B4-BE49-F238E27FC236}">
                <a16:creationId xmlns:a16="http://schemas.microsoft.com/office/drawing/2014/main" id="{86E1F90B-8681-42C9-BE00-D8724F069A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1524000"/>
            <a:ext cx="47244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5">
            <a:extLst>
              <a:ext uri="{FF2B5EF4-FFF2-40B4-BE49-F238E27FC236}">
                <a16:creationId xmlns:a16="http://schemas.microsoft.com/office/drawing/2014/main" id="{3E124FCF-2E54-4C78-BACC-E8320D1BEAC7}"/>
              </a:ext>
            </a:extLst>
          </p:cNvPr>
          <p:cNvGrpSpPr>
            <a:grpSpLocks/>
          </p:cNvGrpSpPr>
          <p:nvPr/>
        </p:nvGrpSpPr>
        <p:grpSpPr bwMode="auto">
          <a:xfrm>
            <a:off x="1447800" y="1981200"/>
            <a:ext cx="2514600" cy="2133600"/>
            <a:chOff x="3696" y="1344"/>
            <a:chExt cx="1584" cy="1344"/>
          </a:xfrm>
        </p:grpSpPr>
        <p:sp>
          <p:nvSpPr>
            <p:cNvPr id="73734" name="Oval 6">
              <a:extLst>
                <a:ext uri="{FF2B5EF4-FFF2-40B4-BE49-F238E27FC236}">
                  <a16:creationId xmlns:a16="http://schemas.microsoft.com/office/drawing/2014/main" id="{F238812E-4EF1-49A3-A20D-9990F36A9A3D}"/>
                </a:ext>
              </a:extLst>
            </p:cNvPr>
            <p:cNvSpPr>
              <a:spLocks noChangeArrowheads="1"/>
            </p:cNvSpPr>
            <p:nvPr/>
          </p:nvSpPr>
          <p:spPr bwMode="auto">
            <a:xfrm>
              <a:off x="3744" y="1440"/>
              <a:ext cx="240" cy="240"/>
            </a:xfrm>
            <a:prstGeom prst="ellipse">
              <a:avLst/>
            </a:prstGeom>
            <a:solidFill>
              <a:schemeClr val="bg1"/>
            </a:solidFill>
            <a:ln w="2857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a:ea typeface="华文中宋" panose="02010600040101010101" pitchFamily="2" charset="-122"/>
                </a:rPr>
                <a:t>1</a:t>
              </a:r>
            </a:p>
          </p:txBody>
        </p:sp>
        <p:sp>
          <p:nvSpPr>
            <p:cNvPr id="73735" name="Oval 7">
              <a:extLst>
                <a:ext uri="{FF2B5EF4-FFF2-40B4-BE49-F238E27FC236}">
                  <a16:creationId xmlns:a16="http://schemas.microsoft.com/office/drawing/2014/main" id="{D1949DF4-5E8A-489D-AB15-D600B3770D27}"/>
                </a:ext>
              </a:extLst>
            </p:cNvPr>
            <p:cNvSpPr>
              <a:spLocks noChangeArrowheads="1"/>
            </p:cNvSpPr>
            <p:nvPr/>
          </p:nvSpPr>
          <p:spPr bwMode="auto">
            <a:xfrm>
              <a:off x="4800" y="1440"/>
              <a:ext cx="240" cy="240"/>
            </a:xfrm>
            <a:prstGeom prst="ellipse">
              <a:avLst/>
            </a:prstGeom>
            <a:solidFill>
              <a:schemeClr val="bg1"/>
            </a:solidFill>
            <a:ln w="2857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a:ea typeface="华文中宋" panose="02010600040101010101" pitchFamily="2" charset="-122"/>
                </a:rPr>
                <a:t>2</a:t>
              </a:r>
            </a:p>
          </p:txBody>
        </p:sp>
        <p:sp>
          <p:nvSpPr>
            <p:cNvPr id="73736" name="Oval 8">
              <a:extLst>
                <a:ext uri="{FF2B5EF4-FFF2-40B4-BE49-F238E27FC236}">
                  <a16:creationId xmlns:a16="http://schemas.microsoft.com/office/drawing/2014/main" id="{9D37557C-C5EA-4A3D-A209-253D655626FA}"/>
                </a:ext>
              </a:extLst>
            </p:cNvPr>
            <p:cNvSpPr>
              <a:spLocks noChangeArrowheads="1"/>
            </p:cNvSpPr>
            <p:nvPr/>
          </p:nvSpPr>
          <p:spPr bwMode="auto">
            <a:xfrm>
              <a:off x="3744" y="2304"/>
              <a:ext cx="240" cy="240"/>
            </a:xfrm>
            <a:prstGeom prst="ellipse">
              <a:avLst/>
            </a:prstGeom>
            <a:solidFill>
              <a:schemeClr val="bg1"/>
            </a:solidFill>
            <a:ln w="2857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a:ea typeface="华文中宋" panose="02010600040101010101" pitchFamily="2" charset="-122"/>
                </a:rPr>
                <a:t>3</a:t>
              </a:r>
            </a:p>
          </p:txBody>
        </p:sp>
        <p:sp>
          <p:nvSpPr>
            <p:cNvPr id="73737" name="Oval 9">
              <a:extLst>
                <a:ext uri="{FF2B5EF4-FFF2-40B4-BE49-F238E27FC236}">
                  <a16:creationId xmlns:a16="http://schemas.microsoft.com/office/drawing/2014/main" id="{A58DFB0C-2A1B-43BE-980B-F916FDA76A02}"/>
                </a:ext>
              </a:extLst>
            </p:cNvPr>
            <p:cNvSpPr>
              <a:spLocks noChangeArrowheads="1"/>
            </p:cNvSpPr>
            <p:nvPr/>
          </p:nvSpPr>
          <p:spPr bwMode="auto">
            <a:xfrm>
              <a:off x="4800" y="2304"/>
              <a:ext cx="240" cy="240"/>
            </a:xfrm>
            <a:prstGeom prst="ellipse">
              <a:avLst/>
            </a:prstGeom>
            <a:solidFill>
              <a:schemeClr val="bg1"/>
            </a:solidFill>
            <a:ln w="2857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a:ea typeface="华文中宋" panose="02010600040101010101" pitchFamily="2" charset="-122"/>
                </a:rPr>
                <a:t>4</a:t>
              </a:r>
            </a:p>
          </p:txBody>
        </p:sp>
        <p:sp>
          <p:nvSpPr>
            <p:cNvPr id="73738" name="Line 10">
              <a:extLst>
                <a:ext uri="{FF2B5EF4-FFF2-40B4-BE49-F238E27FC236}">
                  <a16:creationId xmlns:a16="http://schemas.microsoft.com/office/drawing/2014/main" id="{04FB7ED0-1AC8-4C04-ADAA-D8BCC003D101}"/>
                </a:ext>
              </a:extLst>
            </p:cNvPr>
            <p:cNvSpPr>
              <a:spLocks noChangeShapeType="1"/>
            </p:cNvSpPr>
            <p:nvPr/>
          </p:nvSpPr>
          <p:spPr bwMode="auto">
            <a:xfrm>
              <a:off x="3984" y="1584"/>
              <a:ext cx="8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39" name="Line 11">
              <a:extLst>
                <a:ext uri="{FF2B5EF4-FFF2-40B4-BE49-F238E27FC236}">
                  <a16:creationId xmlns:a16="http://schemas.microsoft.com/office/drawing/2014/main" id="{586F0BC4-CDE7-4832-A8F8-8157CB1062ED}"/>
                </a:ext>
              </a:extLst>
            </p:cNvPr>
            <p:cNvSpPr>
              <a:spLocks noChangeShapeType="1"/>
            </p:cNvSpPr>
            <p:nvPr/>
          </p:nvSpPr>
          <p:spPr bwMode="auto">
            <a:xfrm>
              <a:off x="3984" y="2448"/>
              <a:ext cx="8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0" name="Line 12">
              <a:extLst>
                <a:ext uri="{FF2B5EF4-FFF2-40B4-BE49-F238E27FC236}">
                  <a16:creationId xmlns:a16="http://schemas.microsoft.com/office/drawing/2014/main" id="{20ADEF01-53AD-421F-B5DB-FF5171537F69}"/>
                </a:ext>
              </a:extLst>
            </p:cNvPr>
            <p:cNvSpPr>
              <a:spLocks noChangeShapeType="1"/>
            </p:cNvSpPr>
            <p:nvPr/>
          </p:nvSpPr>
          <p:spPr bwMode="auto">
            <a:xfrm>
              <a:off x="3888" y="1680"/>
              <a:ext cx="0"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1" name="Line 13">
              <a:extLst>
                <a:ext uri="{FF2B5EF4-FFF2-40B4-BE49-F238E27FC236}">
                  <a16:creationId xmlns:a16="http://schemas.microsoft.com/office/drawing/2014/main" id="{C3441090-5B56-486D-A0C0-DC0BA33534EB}"/>
                </a:ext>
              </a:extLst>
            </p:cNvPr>
            <p:cNvSpPr>
              <a:spLocks noChangeShapeType="1"/>
            </p:cNvSpPr>
            <p:nvPr/>
          </p:nvSpPr>
          <p:spPr bwMode="auto">
            <a:xfrm>
              <a:off x="4944" y="1680"/>
              <a:ext cx="0"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2" name="Text Box 14">
              <a:extLst>
                <a:ext uri="{FF2B5EF4-FFF2-40B4-BE49-F238E27FC236}">
                  <a16:creationId xmlns:a16="http://schemas.microsoft.com/office/drawing/2014/main" id="{4BA333E0-863C-4F67-A9AD-23F5E3162C17}"/>
                </a:ext>
              </a:extLst>
            </p:cNvPr>
            <p:cNvSpPr txBox="1">
              <a:spLocks noChangeArrowheads="1"/>
            </p:cNvSpPr>
            <p:nvPr/>
          </p:nvSpPr>
          <p:spPr bwMode="auto">
            <a:xfrm>
              <a:off x="4272" y="134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ea typeface="华文中宋" panose="02010600040101010101" pitchFamily="2" charset="-122"/>
                </a:rPr>
                <a:t>30</a:t>
              </a:r>
            </a:p>
          </p:txBody>
        </p:sp>
        <p:sp>
          <p:nvSpPr>
            <p:cNvPr id="73743" name="Text Box 15">
              <a:extLst>
                <a:ext uri="{FF2B5EF4-FFF2-40B4-BE49-F238E27FC236}">
                  <a16:creationId xmlns:a16="http://schemas.microsoft.com/office/drawing/2014/main" id="{11E2A3CE-25C9-4CD5-9575-6760BB0B6B0B}"/>
                </a:ext>
              </a:extLst>
            </p:cNvPr>
            <p:cNvSpPr txBox="1">
              <a:spLocks noChangeArrowheads="1"/>
            </p:cNvSpPr>
            <p:nvPr/>
          </p:nvSpPr>
          <p:spPr bwMode="auto">
            <a:xfrm>
              <a:off x="4896" y="182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ea typeface="华文中宋" panose="02010600040101010101" pitchFamily="2" charset="-122"/>
                </a:rPr>
                <a:t>10</a:t>
              </a:r>
            </a:p>
          </p:txBody>
        </p:sp>
        <p:sp>
          <p:nvSpPr>
            <p:cNvPr id="73744" name="Text Box 16">
              <a:extLst>
                <a:ext uri="{FF2B5EF4-FFF2-40B4-BE49-F238E27FC236}">
                  <a16:creationId xmlns:a16="http://schemas.microsoft.com/office/drawing/2014/main" id="{491820D4-F449-4CD2-95F1-9B050C336A86}"/>
                </a:ext>
              </a:extLst>
            </p:cNvPr>
            <p:cNvSpPr txBox="1">
              <a:spLocks noChangeArrowheads="1"/>
            </p:cNvSpPr>
            <p:nvPr/>
          </p:nvSpPr>
          <p:spPr bwMode="auto">
            <a:xfrm>
              <a:off x="4272" y="240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ea typeface="华文中宋" panose="02010600040101010101" pitchFamily="2" charset="-122"/>
                </a:rPr>
                <a:t>20</a:t>
              </a:r>
            </a:p>
          </p:txBody>
        </p:sp>
        <p:sp>
          <p:nvSpPr>
            <p:cNvPr id="73745" name="Text Box 17">
              <a:extLst>
                <a:ext uri="{FF2B5EF4-FFF2-40B4-BE49-F238E27FC236}">
                  <a16:creationId xmlns:a16="http://schemas.microsoft.com/office/drawing/2014/main" id="{9F076450-7D4C-4589-9173-9A298DAD451E}"/>
                </a:ext>
              </a:extLst>
            </p:cNvPr>
            <p:cNvSpPr txBox="1">
              <a:spLocks noChangeArrowheads="1"/>
            </p:cNvSpPr>
            <p:nvPr/>
          </p:nvSpPr>
          <p:spPr bwMode="auto">
            <a:xfrm>
              <a:off x="3696" y="1872"/>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ea typeface="华文中宋" panose="02010600040101010101" pitchFamily="2" charset="-122"/>
                </a:rPr>
                <a:t>6</a:t>
              </a:r>
            </a:p>
          </p:txBody>
        </p:sp>
        <p:sp>
          <p:nvSpPr>
            <p:cNvPr id="73746" name="Text Box 18">
              <a:extLst>
                <a:ext uri="{FF2B5EF4-FFF2-40B4-BE49-F238E27FC236}">
                  <a16:creationId xmlns:a16="http://schemas.microsoft.com/office/drawing/2014/main" id="{225A882F-ACDD-473F-8F40-6B2ADC35E903}"/>
                </a:ext>
              </a:extLst>
            </p:cNvPr>
            <p:cNvSpPr txBox="1">
              <a:spLocks noChangeArrowheads="1"/>
            </p:cNvSpPr>
            <p:nvPr/>
          </p:nvSpPr>
          <p:spPr bwMode="auto">
            <a:xfrm>
              <a:off x="4368" y="168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ea typeface="华文中宋" panose="02010600040101010101" pitchFamily="2" charset="-122"/>
                </a:rPr>
                <a:t>5</a:t>
              </a:r>
            </a:p>
          </p:txBody>
        </p:sp>
        <p:sp>
          <p:nvSpPr>
            <p:cNvPr id="73747" name="Text Box 19">
              <a:extLst>
                <a:ext uri="{FF2B5EF4-FFF2-40B4-BE49-F238E27FC236}">
                  <a16:creationId xmlns:a16="http://schemas.microsoft.com/office/drawing/2014/main" id="{FAE47300-9385-40A3-956D-F4013677C949}"/>
                </a:ext>
              </a:extLst>
            </p:cNvPr>
            <p:cNvSpPr txBox="1">
              <a:spLocks noChangeArrowheads="1"/>
            </p:cNvSpPr>
            <p:nvPr/>
          </p:nvSpPr>
          <p:spPr bwMode="auto">
            <a:xfrm>
              <a:off x="4272" y="206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ea typeface="华文中宋" panose="02010600040101010101" pitchFamily="2" charset="-122"/>
                </a:rPr>
                <a:t>4</a:t>
              </a:r>
            </a:p>
          </p:txBody>
        </p:sp>
        <p:sp>
          <p:nvSpPr>
            <p:cNvPr id="73748" name="Line 20">
              <a:extLst>
                <a:ext uri="{FF2B5EF4-FFF2-40B4-BE49-F238E27FC236}">
                  <a16:creationId xmlns:a16="http://schemas.microsoft.com/office/drawing/2014/main" id="{C83E2537-4F1F-4FB9-9F6D-B2D3777DADFC}"/>
                </a:ext>
              </a:extLst>
            </p:cNvPr>
            <p:cNvSpPr>
              <a:spLocks noChangeShapeType="1"/>
            </p:cNvSpPr>
            <p:nvPr/>
          </p:nvSpPr>
          <p:spPr bwMode="auto">
            <a:xfrm flipV="1">
              <a:off x="3984" y="1680"/>
              <a:ext cx="864"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9" name="Line 21">
              <a:extLst>
                <a:ext uri="{FF2B5EF4-FFF2-40B4-BE49-F238E27FC236}">
                  <a16:creationId xmlns:a16="http://schemas.microsoft.com/office/drawing/2014/main" id="{D29CD977-D9A0-41BC-B157-D647239859EB}"/>
                </a:ext>
              </a:extLst>
            </p:cNvPr>
            <p:cNvSpPr>
              <a:spLocks noChangeShapeType="1"/>
            </p:cNvSpPr>
            <p:nvPr/>
          </p:nvSpPr>
          <p:spPr bwMode="auto">
            <a:xfrm>
              <a:off x="3936" y="1680"/>
              <a:ext cx="864"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41316"/>
                                        </p:tgtEl>
                                        <p:attrNameLst>
                                          <p:attrName>style.visibility</p:attrName>
                                        </p:attrNameLst>
                                      </p:cBhvr>
                                      <p:to>
                                        <p:strVal val="visible"/>
                                      </p:to>
                                    </p:set>
                                    <p:anim calcmode="lin" valueType="num">
                                      <p:cBhvr additive="base">
                                        <p:cTn id="13" dur="500" fill="hold"/>
                                        <p:tgtEl>
                                          <p:spTgt spid="141316"/>
                                        </p:tgtEl>
                                        <p:attrNameLst>
                                          <p:attrName>ppt_x</p:attrName>
                                        </p:attrNameLst>
                                      </p:cBhvr>
                                      <p:tavLst>
                                        <p:tav tm="0">
                                          <p:val>
                                            <p:strVal val="0-#ppt_w/2"/>
                                          </p:val>
                                        </p:tav>
                                        <p:tav tm="100000">
                                          <p:val>
                                            <p:strVal val="#ppt_x"/>
                                          </p:val>
                                        </p:tav>
                                      </p:tavLst>
                                    </p:anim>
                                    <p:anim calcmode="lin" valueType="num">
                                      <p:cBhvr additive="base">
                                        <p:cTn id="14" dur="500" fill="hold"/>
                                        <p:tgtEl>
                                          <p:spTgt spid="1413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loudbkgd">
  <a:themeElements>
    <a:clrScheme name="自定义 2">
      <a:dk1>
        <a:srgbClr val="000000"/>
      </a:dk1>
      <a:lt1>
        <a:srgbClr val="FFFFFF"/>
      </a:lt1>
      <a:dk2>
        <a:srgbClr val="000000"/>
      </a:dk2>
      <a:lt2>
        <a:srgbClr val="808080"/>
      </a:lt2>
      <a:accent1>
        <a:srgbClr val="00CC99"/>
      </a:accent1>
      <a:accent2>
        <a:srgbClr val="3333CC"/>
      </a:accent2>
      <a:accent3>
        <a:srgbClr val="AC2F36"/>
      </a:accent3>
      <a:accent4>
        <a:srgbClr val="000000"/>
      </a:accent4>
      <a:accent5>
        <a:srgbClr val="AAE2CA"/>
      </a:accent5>
      <a:accent6>
        <a:srgbClr val="2D2DB9"/>
      </a:accent6>
      <a:hlink>
        <a:srgbClr val="CCCCFF"/>
      </a:hlink>
      <a:folHlink>
        <a:srgbClr val="B2B2B2"/>
      </a:folHlink>
    </a:clrScheme>
    <a:fontScheme name="cloudbkgd">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charset="0"/>
            <a:ea typeface="宋体" pitchFamily="2" charset="-122"/>
          </a:defRPr>
        </a:defPPr>
      </a:lstStyle>
    </a:lnDef>
  </a:objectDefaults>
  <a:extraClrSchemeLst>
    <a:extraClrScheme>
      <a:clrScheme name="cloudbkgd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loudbkg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oudbkgd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oudbkgd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oudbkg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oudbkg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loudbkg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3798</TotalTime>
  <Words>5245</Words>
  <Application>Microsoft Office PowerPoint</Application>
  <PresentationFormat>全屏显示(4:3)</PresentationFormat>
  <Paragraphs>569</Paragraphs>
  <Slides>58</Slides>
  <Notes>1</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58</vt:i4>
      </vt:variant>
    </vt:vector>
  </HeadingPairs>
  <TitlesOfParts>
    <vt:vector size="66" baseType="lpstr">
      <vt:lpstr>等线</vt:lpstr>
      <vt:lpstr>华文中宋</vt:lpstr>
      <vt:lpstr>Arial</vt:lpstr>
      <vt:lpstr>Palatino Linotype</vt:lpstr>
      <vt:lpstr>Symbol</vt:lpstr>
      <vt:lpstr>Times New Roman</vt:lpstr>
      <vt:lpstr>cloudbkgd</vt:lpstr>
      <vt:lpstr>Microsoft 公式 3.0</vt:lpstr>
      <vt:lpstr>PowerPoint 演示文稿</vt:lpstr>
      <vt:lpstr>本章主要知识点</vt:lpstr>
      <vt:lpstr>学习要点</vt:lpstr>
      <vt:lpstr>分支限界法与回溯法</vt:lpstr>
      <vt:lpstr>6.1 分支限界法的基本思想</vt:lpstr>
      <vt:lpstr>分支限界法的基本思想</vt:lpstr>
      <vt:lpstr>常见的两种分支限界法</vt:lpstr>
      <vt:lpstr>分支限界法问题的解空间</vt:lpstr>
      <vt:lpstr>分支限界法问题的解空间（续1）</vt:lpstr>
      <vt:lpstr>0-1背包问题</vt:lpstr>
      <vt:lpstr>例：四城市的TSP问题</vt:lpstr>
      <vt:lpstr>子集树与排列树算法框架</vt:lpstr>
      <vt:lpstr>6.2 单源最短路径问题-自学</vt:lpstr>
      <vt:lpstr>1. 问题描述</vt:lpstr>
      <vt:lpstr>算法分析</vt:lpstr>
      <vt:lpstr>算法思想</vt:lpstr>
      <vt:lpstr>剪枝策略</vt:lpstr>
      <vt:lpstr>关键部分算法</vt:lpstr>
      <vt:lpstr>6.3 装载问题</vt:lpstr>
      <vt:lpstr>1. 问题描述</vt:lpstr>
      <vt:lpstr>2. 队列式分支限界法</vt:lpstr>
      <vt:lpstr>MaxLoading实现对解空间的限界操作</vt:lpstr>
      <vt:lpstr>3. 算法的改进-剪右支</vt:lpstr>
      <vt:lpstr>算法的改进-部分算法</vt:lpstr>
      <vt:lpstr> MaxLoading:队列式分支限界法-完整算法</vt:lpstr>
      <vt:lpstr>实例与操作过程</vt:lpstr>
      <vt:lpstr>4. 构造最优解</vt:lpstr>
      <vt:lpstr>结构与队列</vt:lpstr>
      <vt:lpstr>最优解构造</vt:lpstr>
      <vt:lpstr>5. 优先队列式分支限界法</vt:lpstr>
      <vt:lpstr>优先队列式分支限界法求解策略</vt:lpstr>
      <vt:lpstr>两种结点类型</vt:lpstr>
      <vt:lpstr>函数</vt:lpstr>
      <vt:lpstr>6.4 布线问题</vt:lpstr>
      <vt:lpstr>布线问题描述</vt:lpstr>
      <vt:lpstr>布线问题求解方法</vt:lpstr>
      <vt:lpstr>设定</vt:lpstr>
      <vt:lpstr>方向和边界</vt:lpstr>
      <vt:lpstr>BFS算法</vt:lpstr>
      <vt:lpstr>路径查找</vt:lpstr>
      <vt:lpstr>深度优先搜索DFS解布线问题-补充</vt:lpstr>
      <vt:lpstr>主程序</vt:lpstr>
      <vt:lpstr>思考题</vt:lpstr>
      <vt:lpstr>6.6 最大团问题</vt:lpstr>
      <vt:lpstr>1、问题描述</vt:lpstr>
      <vt:lpstr>2. 上界函数-限界</vt:lpstr>
      <vt:lpstr>3. 算法思想</vt:lpstr>
      <vt:lpstr>搜索的终止条件</vt:lpstr>
      <vt:lpstr>实例与操作过程</vt:lpstr>
      <vt:lpstr>6.7 旅行售货员问题</vt:lpstr>
      <vt:lpstr>1. 问题描述</vt:lpstr>
      <vt:lpstr>2. 算法</vt:lpstr>
      <vt:lpstr>算法描述</vt:lpstr>
      <vt:lpstr>一些约定</vt:lpstr>
      <vt:lpstr>3、程序描述</vt:lpstr>
      <vt:lpstr>4、关键代码-看书</vt:lpstr>
      <vt:lpstr>约束函数和限界函数</vt:lpstr>
      <vt:lpstr>5、实例与操作过程</vt:lpstr>
    </vt:vector>
  </TitlesOfParts>
  <Company>shu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csshu</dc:creator>
  <cp:lastModifiedBy>江豪 汪</cp:lastModifiedBy>
  <cp:revision>274</cp:revision>
  <dcterms:created xsi:type="dcterms:W3CDTF">2003-09-20T00:20:09Z</dcterms:created>
  <dcterms:modified xsi:type="dcterms:W3CDTF">2024-10-30T06:03:45Z</dcterms:modified>
</cp:coreProperties>
</file>