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69" r:id="rId3"/>
    <p:sldId id="257" r:id="rId4"/>
    <p:sldId id="296" r:id="rId5"/>
    <p:sldId id="287" r:id="rId6"/>
    <p:sldId id="262" r:id="rId7"/>
    <p:sldId id="263" r:id="rId8"/>
    <p:sldId id="265" r:id="rId9"/>
    <p:sldId id="270" r:id="rId10"/>
    <p:sldId id="264" r:id="rId11"/>
    <p:sldId id="267" r:id="rId12"/>
    <p:sldId id="271" r:id="rId13"/>
    <p:sldId id="272" r:id="rId14"/>
    <p:sldId id="273" r:id="rId15"/>
    <p:sldId id="288" r:id="rId16"/>
    <p:sldId id="268" r:id="rId17"/>
    <p:sldId id="274" r:id="rId18"/>
    <p:sldId id="290" r:id="rId19"/>
    <p:sldId id="291" r:id="rId20"/>
    <p:sldId id="292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93" r:id="rId33"/>
    <p:sldId id="294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2F36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7" autoAdjust="0"/>
    <p:restoredTop sz="90775" autoAdjust="0"/>
  </p:normalViewPr>
  <p:slideViewPr>
    <p:cSldViewPr>
      <p:cViewPr varScale="1">
        <p:scale>
          <a:sx n="81" d="100"/>
          <a:sy n="81" d="100"/>
        </p:scale>
        <p:origin x="7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02" y="645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207226-4CAA-4A47-B8F0-61B65DE738F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zh-CN" altLang="en-US"/>
        </a:p>
      </dgm:t>
    </dgm:pt>
    <dgm:pt modelId="{75081F63-3295-42D6-89AA-3125962EA47D}" type="pres">
      <dgm:prSet presAssocID="{C5207226-4CAA-4A47-B8F0-61B65DE738F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6B924FFB-0D21-4614-8E4D-5D933FC97DA7}" type="presOf" srcId="{C5207226-4CAA-4A47-B8F0-61B65DE738F3}" destId="{75081F63-3295-42D6-89AA-3125962EA47D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CA2BA42-9531-419E-8CAF-C39AFDE035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A52E49-7A69-49CE-B9EC-F2CC81BEEE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8FD9D97-E851-4D95-A4C0-AA3BC8D7299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0C6CBDA-86DD-4C12-A8F6-8C2CEADD814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F91433A-EEBF-43CF-92C0-6E359AB45A5C}" type="slidenum"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pPr>
                <a:defRPr/>
              </a:pPr>
              <a:t>‹#›</a:t>
            </a:fld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B7A85-6B7B-4160-8016-103FF71DA526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9CBA9-CA56-4797-A12C-55549DC1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22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9CBA9-CA56-4797-A12C-55549DC15B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81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9CBA9-CA56-4797-A12C-55549DC15BD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51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16D710-00EB-44CA-9026-CF7C09659D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57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68ED76-6592-4EAE-92BB-5D99591BAC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53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531E51-42C0-45B0-9779-911A3D375E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16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51542-DED9-4D89-B28B-248282EF6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04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1589D1-1CD9-4BE6-AB75-345BFE9E40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78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5D31E2-ED97-4781-9E28-402E5FF45E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47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468D1B5-19C0-4CE5-8E29-088E1864F4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674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413B5-2243-41E5-B804-DE36BF6EE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56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2205E-474F-49BE-8844-62D1291C2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997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6C49C9-8DB9-4D1D-83B9-675B7C722E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61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943D89-8253-4987-A1EE-CF4BFF48E8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88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cdbkgnd">
            <a:extLst>
              <a:ext uri="{FF2B5EF4-FFF2-40B4-BE49-F238E27FC236}">
                <a16:creationId xmlns:a16="http://schemas.microsoft.com/office/drawing/2014/main" id="{316EF527-488E-48FA-AD9E-788412136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749C1B8D-BB0D-4474-AAEB-B80E0C5D87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A6C5B-0D0E-4958-A237-9E7B71D2B7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565400"/>
            <a:ext cx="77724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800" b="1" dirty="0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算法设计与分析</a:t>
            </a:r>
            <a:br>
              <a:rPr lang="zh-CN" altLang="en-US" sz="4800" b="1" dirty="0">
                <a:solidFill>
                  <a:schemeClr val="bg2"/>
                </a:solidFill>
                <a:ea typeface="华文中宋" panose="02010600040101010101" pitchFamily="2" charset="-122"/>
              </a:rPr>
            </a:br>
            <a:r>
              <a:rPr lang="zh-CN" altLang="en-US" b="1" dirty="0">
                <a:solidFill>
                  <a:schemeClr val="bg2"/>
                </a:solidFill>
              </a:rPr>
              <a:t>    </a:t>
            </a:r>
            <a:endParaRPr lang="zh-CN" altLang="en-US" sz="3200" b="1" dirty="0">
              <a:solidFill>
                <a:schemeClr val="bg2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69AF438-913A-4BCB-959D-90BB58282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44900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4000" b="1" kern="0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算法概述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DD7723B-4613-443D-BE6F-57149103A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2938" y="357188"/>
            <a:ext cx="7772400" cy="928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4000" b="1" dirty="0">
                <a:solidFill>
                  <a:srgbClr val="AC2F36"/>
                </a:solidFill>
              </a:rPr>
              <a:t>1.0 </a:t>
            </a:r>
            <a:r>
              <a:rPr lang="zh-CN" altLang="en-US" sz="4000" b="1" dirty="0">
                <a:solidFill>
                  <a:srgbClr val="AC2F36"/>
                </a:solidFill>
              </a:rPr>
              <a:t>学习要点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CC2AD74-342E-4936-A4F8-F39EB3C11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85875"/>
            <a:ext cx="7772400" cy="4810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hangingPunct="1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·"/>
            </a:pPr>
            <a:r>
              <a:rPr lang="zh-CN" altLang="en-US" sz="2800" b="1" dirty="0"/>
              <a:t>理解算法的概念。</a:t>
            </a:r>
          </a:p>
          <a:p>
            <a:pPr hangingPunct="1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·"/>
            </a:pPr>
            <a:r>
              <a:rPr lang="zh-CN" altLang="en-US" sz="2800" b="1" dirty="0"/>
              <a:t>理解什么是程序，程序与算法的区别和内在联系。</a:t>
            </a:r>
          </a:p>
          <a:p>
            <a:pPr hangingPunct="1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·"/>
            </a:pPr>
            <a:r>
              <a:rPr lang="zh-CN" altLang="en-US" sz="2800" b="1" dirty="0"/>
              <a:t>掌握算法的计算复杂性概念。</a:t>
            </a:r>
          </a:p>
          <a:p>
            <a:pPr hangingPunct="1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·"/>
            </a:pPr>
            <a:r>
              <a:rPr lang="zh-CN" altLang="en-US" sz="2800" b="1" dirty="0"/>
              <a:t>掌握算法渐近复杂性的数学表述。</a:t>
            </a:r>
            <a:endParaRPr lang="en-US" altLang="zh-CN" sz="2800" b="1" dirty="0"/>
          </a:p>
          <a:p>
            <a:pPr hangingPunct="1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·"/>
            </a:pPr>
            <a:r>
              <a:rPr lang="zh-CN" altLang="en-US" sz="2800" b="1" dirty="0"/>
              <a:t>掌握复杂性的阶及表示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Text Box 5">
            <a:extLst>
              <a:ext uri="{FF2B5EF4-FFF2-40B4-BE49-F238E27FC236}">
                <a16:creationId xmlns:a16="http://schemas.microsoft.com/office/drawing/2014/main" id="{370DE021-0031-4B3B-84FD-E9CD538FE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534400" cy="300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在定义算法之前，首先定义什么是问题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问题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是一个从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输入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到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正确输出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二元关系</a:t>
            </a:r>
            <a:endParaRPr lang="en-US" altLang="zh-CN" sz="2800" b="1" dirty="0">
              <a:solidFill>
                <a:schemeClr val="accent2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通常我们不会给出所有输入的正确输出（数量太多）</a:t>
            </a:r>
            <a:endParaRPr lang="en-US" altLang="zh-CN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提供一个所有正确输出都必须满足的</a:t>
            </a:r>
            <a:r>
              <a:rPr lang="zh-CN" altLang="en-US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谓词（</a:t>
            </a:r>
            <a:r>
              <a:rPr lang="en-US" altLang="zh-CN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predict</a:t>
            </a:r>
            <a:r>
              <a:rPr lang="zh-CN" altLang="en-US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）</a:t>
            </a:r>
            <a:endParaRPr lang="en-US" altLang="zh-CN" b="1" dirty="0">
              <a:solidFill>
                <a:srgbClr val="AC2F36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输入类型：受限 </a:t>
            </a:r>
            <a:r>
              <a:rPr lang="en-US" altLang="zh-CN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v.s</a:t>
            </a:r>
            <a:r>
              <a:rPr lang="en-US" altLang="zh-CN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. </a:t>
            </a: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非受限</a:t>
            </a:r>
          </a:p>
        </p:txBody>
      </p:sp>
      <p:sp>
        <p:nvSpPr>
          <p:cNvPr id="17411" name="Rectangle 9">
            <a:extLst>
              <a:ext uri="{FF2B5EF4-FFF2-40B4-BE49-F238E27FC236}">
                <a16:creationId xmlns:a16="http://schemas.microsoft.com/office/drawing/2014/main" id="{2D282E51-B21F-48F9-8707-5F93C280F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200" b="1" dirty="0">
                <a:solidFill>
                  <a:srgbClr val="AC2F36"/>
                </a:solidFill>
              </a:rPr>
              <a:t>1.1 </a:t>
            </a:r>
            <a:r>
              <a:rPr lang="zh-CN" altLang="en-US" sz="3200" b="1" dirty="0">
                <a:solidFill>
                  <a:srgbClr val="AC2F36"/>
                </a:solidFill>
              </a:rPr>
              <a:t>算法的定义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Text Box 5">
            <a:extLst>
              <a:ext uri="{FF2B5EF4-FFF2-40B4-BE49-F238E27FC236}">
                <a16:creationId xmlns:a16="http://schemas.microsoft.com/office/drawing/2014/main" id="{370DE021-0031-4B3B-84FD-E9CD538FE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534400" cy="4770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算法定义：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    是一个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有穷规则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的集合。这些规则规定了解决某一问题的一个运算序列。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marL="927100" lvl="1" indent="-457200" eaLnBrk="1" hangingPunct="1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这一序列将每个输入映射到唯一的一个输出</a:t>
            </a:r>
            <a:r>
              <a:rPr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（确定性算法）</a:t>
            </a:r>
            <a:endParaRPr lang="en-US" altLang="zh-CN" sz="20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marL="927100" lvl="1" indent="-457200" eaLnBrk="1" hangingPunct="1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如果算法能够将所有的输入映射到某一问题的正确输出，我们称该算法解决了这一问题。</a:t>
            </a:r>
            <a:endParaRPr lang="en-US" altLang="zh-CN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marL="273050" lvl="1" indent="-27305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算法应该具有五个特性：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有限性、确定性、输入、输出</a:t>
            </a: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、可行性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17411" name="Rectangle 9">
            <a:extLst>
              <a:ext uri="{FF2B5EF4-FFF2-40B4-BE49-F238E27FC236}">
                <a16:creationId xmlns:a16="http://schemas.microsoft.com/office/drawing/2014/main" id="{2D282E51-B21F-48F9-8707-5F93C280F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200" b="1" dirty="0">
                <a:solidFill>
                  <a:srgbClr val="AC2F36"/>
                </a:solidFill>
              </a:rPr>
              <a:t>1.1  </a:t>
            </a:r>
            <a:r>
              <a:rPr lang="zh-CN" altLang="en-US" sz="3200" b="1" dirty="0">
                <a:solidFill>
                  <a:srgbClr val="AC2F36"/>
                </a:solidFill>
              </a:rPr>
              <a:t>算法的定义</a:t>
            </a:r>
          </a:p>
        </p:txBody>
      </p:sp>
    </p:spTree>
    <p:extLst>
      <p:ext uri="{BB962C8B-B14F-4D97-AF65-F5344CB8AC3E}">
        <p14:creationId xmlns:p14="http://schemas.microsoft.com/office/powerpoint/2010/main" val="148424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04250934-87A6-4930-9E33-81BDFDFA5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</a:rPr>
              <a:t>算法的五个特性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8289D19B-7E9D-4183-9D83-F6937E8B0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/>
              <a:t>输入： 算法开始执行执行之前指定初始值（有零个或多个输入</a:t>
            </a:r>
          </a:p>
          <a:p>
            <a:pPr eaLnBrk="1" hangingPunct="1"/>
            <a:r>
              <a:rPr lang="zh-CN" altLang="en-US" sz="2800" b="1" dirty="0"/>
              <a:t>输出</a:t>
            </a:r>
            <a:r>
              <a:rPr lang="zh-CN" altLang="en-US" sz="2800" b="1" dirty="0">
                <a:sym typeface="Symbol" panose="05050102010706020507" pitchFamily="18" charset="2"/>
              </a:rPr>
              <a:t>：产生与输入相关的量</a:t>
            </a:r>
            <a:r>
              <a:rPr lang="zh-CN" altLang="en-US" sz="2800" b="1" dirty="0"/>
              <a:t>（至少有一个</a:t>
            </a:r>
            <a:r>
              <a:rPr lang="zh-CN" altLang="en-US" sz="2800" b="1" dirty="0">
                <a:sym typeface="Symbol" panose="05050102010706020507" pitchFamily="18" charset="2"/>
              </a:rPr>
              <a:t>）。</a:t>
            </a:r>
          </a:p>
          <a:p>
            <a:pPr eaLnBrk="1" hangingPunct="1"/>
            <a:r>
              <a:rPr lang="zh-CN" altLang="en-US" sz="2800" b="1" dirty="0"/>
              <a:t>确定性：每一条规则都是明确、无二义的。</a:t>
            </a:r>
          </a:p>
          <a:p>
            <a:pPr eaLnBrk="1" hangingPunct="1"/>
            <a:r>
              <a:rPr lang="zh-CN" altLang="en-US" sz="2800" b="1" dirty="0"/>
              <a:t>有限性：求解问题的运算序列，必须在有限的计算步后停止。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可行性：每一计算步都是基本的、可实现的。</a:t>
            </a:r>
            <a:r>
              <a:rPr lang="zh-CN" altLang="en-US" sz="2800" b="1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>
            <a:extLst>
              <a:ext uri="{FF2B5EF4-FFF2-40B4-BE49-F238E27FC236}">
                <a16:creationId xmlns:a16="http://schemas.microsoft.com/office/drawing/2014/main" id="{5606DF3C-F690-4CD4-A7A5-A05535EAB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6520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1. 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计算序列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9A2DE3CC-CD35-4EB3-906A-42265D0CF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411288"/>
            <a:ext cx="8893175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7325" indent="-187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若对于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的每一个输入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x,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由状态函数</a:t>
            </a:r>
            <a:r>
              <a:rPr lang="en-US" altLang="zh-CN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定义一个计算序列： 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0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,  y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, y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……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其中：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= x;   y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k+1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     (k    0)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。            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DDB19CB8-8EAC-4F69-85B7-DAE8D5485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357563"/>
            <a:ext cx="867727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0988" indent="-2809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若一个计算序列在第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步终止，且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是使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 baseline="-25000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处于接受状态的最小整数，则称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是由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产生的输出。</a:t>
            </a: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6A940ADD-48A0-4C3F-9CC4-4881BD0AC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37063"/>
            <a:ext cx="8820150" cy="134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算法的另一种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描述：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    一个算法是对于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中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所有输入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x,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都能在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有穷步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内</a:t>
            </a:r>
            <a:r>
              <a:rPr lang="zh-CN" altLang="en-US" sz="28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终止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的一个计算序列。</a:t>
            </a:r>
          </a:p>
        </p:txBody>
      </p:sp>
      <p:sp>
        <p:nvSpPr>
          <p:cNvPr id="19462" name="Text Box 9">
            <a:extLst>
              <a:ext uri="{FF2B5EF4-FFF2-40B4-BE49-F238E27FC236}">
                <a16:creationId xmlns:a16="http://schemas.microsoft.com/office/drawing/2014/main" id="{65AB89DD-4184-40B3-A6CE-4600891DB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28600"/>
            <a:ext cx="3657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计算序列与算法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69" grpId="0" autoUpdateAnimBg="0"/>
      <p:bldP spid="11270" grpId="0" autoUpdateAnimBg="0"/>
      <p:bldP spid="112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Oval 4">
            <a:extLst>
              <a:ext uri="{FF2B5EF4-FFF2-40B4-BE49-F238E27FC236}">
                <a16:creationId xmlns:a16="http://schemas.microsoft.com/office/drawing/2014/main" id="{8268439E-9759-4C0B-9364-D133B16B2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5600"/>
            <a:ext cx="8915400" cy="640715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endParaRPr lang="en-US" altLang="zh-CN" sz="32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ctr"/>
            <a:r>
              <a:rPr lang="en-US" altLang="zh-CN" sz="40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Q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F1E8978-F14B-401E-91FE-62434E2374D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771652"/>
            <a:ext cx="1295400" cy="1463676"/>
            <a:chOff x="768" y="1116"/>
            <a:chExt cx="816" cy="922"/>
          </a:xfrm>
        </p:grpSpPr>
        <p:sp>
          <p:nvSpPr>
            <p:cNvPr id="20498" name="Freeform 6">
              <a:extLst>
                <a:ext uri="{FF2B5EF4-FFF2-40B4-BE49-F238E27FC236}">
                  <a16:creationId xmlns:a16="http://schemas.microsoft.com/office/drawing/2014/main" id="{C25889EF-F1DD-4B70-93C2-3F53DCFB5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1460"/>
              <a:ext cx="360" cy="233"/>
            </a:xfrm>
            <a:custGeom>
              <a:avLst/>
              <a:gdLst>
                <a:gd name="T0" fmla="*/ 167 w 360"/>
                <a:gd name="T1" fmla="*/ 1036 h 1036"/>
                <a:gd name="T2" fmla="*/ 85 w 360"/>
                <a:gd name="T3" fmla="*/ 912 h 1036"/>
                <a:gd name="T4" fmla="*/ 34 w 360"/>
                <a:gd name="T5" fmla="*/ 785 h 1036"/>
                <a:gd name="T6" fmla="*/ 0 w 360"/>
                <a:gd name="T7" fmla="*/ 641 h 1036"/>
                <a:gd name="T8" fmla="*/ 5 w 360"/>
                <a:gd name="T9" fmla="*/ 496 h 1036"/>
                <a:gd name="T10" fmla="*/ 43 w 360"/>
                <a:gd name="T11" fmla="*/ 327 h 1036"/>
                <a:gd name="T12" fmla="*/ 144 w 360"/>
                <a:gd name="T13" fmla="*/ 200 h 1036"/>
                <a:gd name="T14" fmla="*/ 240 w 360"/>
                <a:gd name="T15" fmla="*/ 121 h 1036"/>
                <a:gd name="T16" fmla="*/ 360 w 360"/>
                <a:gd name="T17" fmla="*/ 0 h 10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0"/>
                <a:gd name="T28" fmla="*/ 0 h 1036"/>
                <a:gd name="T29" fmla="*/ 360 w 360"/>
                <a:gd name="T30" fmla="*/ 1036 h 10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0" h="1036">
                  <a:moveTo>
                    <a:pt x="167" y="1036"/>
                  </a:moveTo>
                  <a:lnTo>
                    <a:pt x="85" y="912"/>
                  </a:lnTo>
                  <a:lnTo>
                    <a:pt x="34" y="785"/>
                  </a:lnTo>
                  <a:lnTo>
                    <a:pt x="0" y="641"/>
                  </a:lnTo>
                  <a:lnTo>
                    <a:pt x="5" y="496"/>
                  </a:lnTo>
                  <a:lnTo>
                    <a:pt x="43" y="327"/>
                  </a:lnTo>
                  <a:lnTo>
                    <a:pt x="144" y="200"/>
                  </a:lnTo>
                  <a:lnTo>
                    <a:pt x="240" y="121"/>
                  </a:lnTo>
                  <a:lnTo>
                    <a:pt x="36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9" name="Text Box 7">
              <a:extLst>
                <a:ext uri="{FF2B5EF4-FFF2-40B4-BE49-F238E27FC236}">
                  <a16:creationId xmlns:a16="http://schemas.microsoft.com/office/drawing/2014/main" id="{3BAE198F-223C-434A-8D77-2F5CD77CB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48"/>
              <a:ext cx="1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</a:t>
              </a:r>
              <a:endPara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500" name="Text Box 8">
              <a:extLst>
                <a:ext uri="{FF2B5EF4-FFF2-40B4-BE49-F238E27FC236}">
                  <a16:creationId xmlns:a16="http://schemas.microsoft.com/office/drawing/2014/main" id="{1D93F576-C0A2-4352-B45B-D9EE57C39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728"/>
              <a:ext cx="28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32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20501" name="Text Box 9">
              <a:extLst>
                <a:ext uri="{FF2B5EF4-FFF2-40B4-BE49-F238E27FC236}">
                  <a16:creationId xmlns:a16="http://schemas.microsoft.com/office/drawing/2014/main" id="{BF9990E9-FDCF-45FF-B9F2-22256EC50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116"/>
              <a:ext cx="28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y</a:t>
              </a:r>
              <a:r>
                <a:rPr lang="en-US" altLang="zh-CN" sz="32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4AC0EB97-5C60-4EED-BD42-C1FB833D8B8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143001"/>
            <a:ext cx="2590800" cy="896938"/>
            <a:chOff x="1488" y="720"/>
            <a:chExt cx="1632" cy="565"/>
          </a:xfrm>
        </p:grpSpPr>
        <p:sp>
          <p:nvSpPr>
            <p:cNvPr id="20494" name="Text Box 11">
              <a:extLst>
                <a:ext uri="{FF2B5EF4-FFF2-40B4-BE49-F238E27FC236}">
                  <a16:creationId xmlns:a16="http://schemas.microsoft.com/office/drawing/2014/main" id="{C0303644-DAAF-4282-947C-B06BFE0FB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12"/>
              <a:ext cx="1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</a:t>
              </a:r>
              <a:endPara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5" name="Freeform 12">
              <a:extLst>
                <a:ext uri="{FF2B5EF4-FFF2-40B4-BE49-F238E27FC236}">
                  <a16:creationId xmlns:a16="http://schemas.microsoft.com/office/drawing/2014/main" id="{690986A0-54FC-4359-ACFD-08FFF53B3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052"/>
              <a:ext cx="1384" cy="233"/>
            </a:xfrm>
            <a:custGeom>
              <a:avLst/>
              <a:gdLst>
                <a:gd name="T0" fmla="*/ 0 w 1384"/>
                <a:gd name="T1" fmla="*/ 340 h 340"/>
                <a:gd name="T2" fmla="*/ 86 w 1384"/>
                <a:gd name="T3" fmla="*/ 267 h 340"/>
                <a:gd name="T4" fmla="*/ 180 w 1384"/>
                <a:gd name="T5" fmla="*/ 207 h 340"/>
                <a:gd name="T6" fmla="*/ 267 w 1384"/>
                <a:gd name="T7" fmla="*/ 154 h 340"/>
                <a:gd name="T8" fmla="*/ 347 w 1384"/>
                <a:gd name="T9" fmla="*/ 120 h 340"/>
                <a:gd name="T10" fmla="*/ 468 w 1384"/>
                <a:gd name="T11" fmla="*/ 80 h 340"/>
                <a:gd name="T12" fmla="*/ 588 w 1384"/>
                <a:gd name="T13" fmla="*/ 46 h 340"/>
                <a:gd name="T14" fmla="*/ 689 w 1384"/>
                <a:gd name="T15" fmla="*/ 20 h 340"/>
                <a:gd name="T16" fmla="*/ 776 w 1384"/>
                <a:gd name="T17" fmla="*/ 6 h 340"/>
                <a:gd name="T18" fmla="*/ 883 w 1384"/>
                <a:gd name="T19" fmla="*/ 0 h 340"/>
                <a:gd name="T20" fmla="*/ 1017 w 1384"/>
                <a:gd name="T21" fmla="*/ 0 h 340"/>
                <a:gd name="T22" fmla="*/ 1189 w 1384"/>
                <a:gd name="T23" fmla="*/ 15 h 340"/>
                <a:gd name="T24" fmla="*/ 1384 w 1384"/>
                <a:gd name="T25" fmla="*/ 24 h 3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4"/>
                <a:gd name="T40" fmla="*/ 0 h 340"/>
                <a:gd name="T41" fmla="*/ 1384 w 1384"/>
                <a:gd name="T42" fmla="*/ 340 h 3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4" h="340">
                  <a:moveTo>
                    <a:pt x="0" y="340"/>
                  </a:moveTo>
                  <a:lnTo>
                    <a:pt x="86" y="267"/>
                  </a:lnTo>
                  <a:lnTo>
                    <a:pt x="180" y="207"/>
                  </a:lnTo>
                  <a:lnTo>
                    <a:pt x="267" y="154"/>
                  </a:lnTo>
                  <a:lnTo>
                    <a:pt x="347" y="120"/>
                  </a:lnTo>
                  <a:lnTo>
                    <a:pt x="468" y="80"/>
                  </a:lnTo>
                  <a:lnTo>
                    <a:pt x="588" y="46"/>
                  </a:lnTo>
                  <a:lnTo>
                    <a:pt x="689" y="20"/>
                  </a:lnTo>
                  <a:lnTo>
                    <a:pt x="776" y="6"/>
                  </a:lnTo>
                  <a:lnTo>
                    <a:pt x="883" y="0"/>
                  </a:lnTo>
                  <a:lnTo>
                    <a:pt x="1017" y="0"/>
                  </a:lnTo>
                  <a:lnTo>
                    <a:pt x="1189" y="15"/>
                  </a:lnTo>
                  <a:lnTo>
                    <a:pt x="1384" y="2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6" name="Text Box 13">
              <a:extLst>
                <a:ext uri="{FF2B5EF4-FFF2-40B4-BE49-F238E27FC236}">
                  <a16:creationId xmlns:a16="http://schemas.microsoft.com/office/drawing/2014/main" id="{0F835E34-394A-4E7C-A2D1-D251BCF04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740"/>
              <a:ext cx="28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32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20497" name="Text Box 14">
              <a:extLst>
                <a:ext uri="{FF2B5EF4-FFF2-40B4-BE49-F238E27FC236}">
                  <a16:creationId xmlns:a16="http://schemas.microsoft.com/office/drawing/2014/main" id="{45349773-8D6E-49C3-BD05-1B361EF2B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720"/>
              <a:ext cx="28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y</a:t>
              </a:r>
              <a:r>
                <a:rPr lang="en-US" altLang="zh-CN" sz="32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7C2BA4B0-3D2A-4AEC-84D7-6EAC8D5B34B1}"/>
              </a:ext>
            </a:extLst>
          </p:cNvPr>
          <p:cNvGrpSpPr>
            <a:grpSpLocks/>
          </p:cNvGrpSpPr>
          <p:nvPr/>
        </p:nvGrpSpPr>
        <p:grpSpPr bwMode="auto">
          <a:xfrm>
            <a:off x="4764088" y="1722439"/>
            <a:ext cx="1789112" cy="750888"/>
            <a:chOff x="3001" y="1085"/>
            <a:chExt cx="1127" cy="473"/>
          </a:xfrm>
        </p:grpSpPr>
        <p:sp>
          <p:nvSpPr>
            <p:cNvPr id="20492" name="Text Box 16">
              <a:extLst>
                <a:ext uri="{FF2B5EF4-FFF2-40B4-BE49-F238E27FC236}">
                  <a16:creationId xmlns:a16="http://schemas.microsoft.com/office/drawing/2014/main" id="{6B0993C8-71F4-4130-B58A-5A521655B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1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</a:t>
              </a:r>
              <a:endPara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3" name="Freeform 17">
              <a:extLst>
                <a:ext uri="{FF2B5EF4-FFF2-40B4-BE49-F238E27FC236}">
                  <a16:creationId xmlns:a16="http://schemas.microsoft.com/office/drawing/2014/main" id="{7B72A582-7BD3-4E9C-A176-62296DE85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085"/>
              <a:ext cx="935" cy="233"/>
            </a:xfrm>
            <a:custGeom>
              <a:avLst/>
              <a:gdLst>
                <a:gd name="T0" fmla="*/ 0 w 935"/>
                <a:gd name="T1" fmla="*/ 0 h 307"/>
                <a:gd name="T2" fmla="*/ 234 w 935"/>
                <a:gd name="T3" fmla="*/ 40 h 307"/>
                <a:gd name="T4" fmla="*/ 422 w 935"/>
                <a:gd name="T5" fmla="*/ 80 h 307"/>
                <a:gd name="T6" fmla="*/ 689 w 935"/>
                <a:gd name="T7" fmla="*/ 174 h 307"/>
                <a:gd name="T8" fmla="*/ 935 w 935"/>
                <a:gd name="T9" fmla="*/ 307 h 3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5"/>
                <a:gd name="T16" fmla="*/ 0 h 307"/>
                <a:gd name="T17" fmla="*/ 935 w 935"/>
                <a:gd name="T18" fmla="*/ 307 h 3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5" h="307">
                  <a:moveTo>
                    <a:pt x="0" y="0"/>
                  </a:moveTo>
                  <a:lnTo>
                    <a:pt x="234" y="40"/>
                  </a:lnTo>
                  <a:lnTo>
                    <a:pt x="422" y="80"/>
                  </a:lnTo>
                  <a:lnTo>
                    <a:pt x="689" y="174"/>
                  </a:lnTo>
                  <a:lnTo>
                    <a:pt x="935" y="307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2306" name="Oval 18">
            <a:extLst>
              <a:ext uri="{FF2B5EF4-FFF2-40B4-BE49-F238E27FC236}">
                <a16:creationId xmlns:a16="http://schemas.microsoft.com/office/drawing/2014/main" id="{E6341178-68EE-4AE1-AE9A-C79C920C4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3333750"/>
            <a:ext cx="3124200" cy="20970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</a:t>
            </a:r>
          </a:p>
          <a:p>
            <a:pPr algn="ctr">
              <a:buFont typeface="Symbol" panose="05050102010706020507" pitchFamily="18" charset="2"/>
              <a:buChar char="·"/>
            </a:pP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        </a:t>
            </a:r>
          </a:p>
          <a:p>
            <a:pPr algn="ctr">
              <a:buFont typeface="Symbol" panose="05050102010706020507" pitchFamily="18" charset="2"/>
              <a:buChar char="·"/>
            </a:pP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   </a:t>
            </a:r>
            <a:r>
              <a: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</a:t>
            </a:r>
          </a:p>
        </p:txBody>
      </p:sp>
      <p:sp>
        <p:nvSpPr>
          <p:cNvPr id="12307" name="Oval 19">
            <a:extLst>
              <a:ext uri="{FF2B5EF4-FFF2-40B4-BE49-F238E27FC236}">
                <a16:creationId xmlns:a16="http://schemas.microsoft.com/office/drawing/2014/main" id="{C6CCAD9E-046C-48C0-A840-9B9D46452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429000"/>
            <a:ext cx="3200400" cy="20970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Symbol" panose="05050102010706020507" pitchFamily="18" charset="2"/>
              <a:buChar char="·"/>
            </a:pP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x       </a:t>
            </a:r>
          </a:p>
          <a:p>
            <a:pPr algn="ctr">
              <a:buFont typeface="Symbol" panose="05050102010706020507" pitchFamily="18" charset="2"/>
              <a:buChar char="·"/>
            </a:pP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      </a:t>
            </a:r>
          </a:p>
          <a:p>
            <a:pPr algn="ctr">
              <a:buFont typeface="Symbol" panose="05050102010706020507" pitchFamily="18" charset="2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I</a:t>
            </a:r>
            <a:endParaRPr lang="en-US" altLang="zh-CN" sz="3200" b="1" dirty="0">
              <a:solidFill>
                <a:schemeClr val="tx2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5" name="Group 20">
            <a:extLst>
              <a:ext uri="{FF2B5EF4-FFF2-40B4-BE49-F238E27FC236}">
                <a16:creationId xmlns:a16="http://schemas.microsoft.com/office/drawing/2014/main" id="{C636831D-2E4C-4C18-AA6E-08A9036733F9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286001"/>
            <a:ext cx="1143000" cy="1787526"/>
            <a:chOff x="4032" y="1440"/>
            <a:chExt cx="720" cy="1126"/>
          </a:xfrm>
        </p:grpSpPr>
        <p:sp>
          <p:nvSpPr>
            <p:cNvPr id="20489" name="Text Box 21">
              <a:extLst>
                <a:ext uri="{FF2B5EF4-FFF2-40B4-BE49-F238E27FC236}">
                  <a16:creationId xmlns:a16="http://schemas.microsoft.com/office/drawing/2014/main" id="{71345790-FA3C-44F3-B588-5EBB63FFB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56"/>
              <a:ext cx="28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 err="1">
                  <a:latin typeface="Palatino Linotype" panose="02040502050505030304" pitchFamily="18" charset="0"/>
                  <a:ea typeface="华文中宋" panose="02010600040101010101" pitchFamily="2" charset="-122"/>
                </a:rPr>
                <a:t>y</a:t>
              </a:r>
              <a:r>
                <a:rPr lang="en-US" altLang="zh-CN" sz="3200" b="1" baseline="-25000" dirty="0" err="1">
                  <a:latin typeface="Palatino Linotype" panose="02040502050505030304" pitchFamily="18" charset="0"/>
                  <a:ea typeface="华文中宋" panose="02010600040101010101" pitchFamily="2" charset="-122"/>
                </a:rPr>
                <a:t>k</a:t>
              </a:r>
              <a:endParaRPr lang="en-US" altLang="zh-CN" sz="32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0" name="Freeform 22">
              <a:extLst>
                <a:ext uri="{FF2B5EF4-FFF2-40B4-BE49-F238E27FC236}">
                  <a16:creationId xmlns:a16="http://schemas.microsoft.com/office/drawing/2014/main" id="{8B78AD79-6504-4EE1-AC45-80CFC17F3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440"/>
              <a:ext cx="144" cy="233"/>
            </a:xfrm>
            <a:custGeom>
              <a:avLst/>
              <a:gdLst>
                <a:gd name="T0" fmla="*/ 0 w 144"/>
                <a:gd name="T1" fmla="*/ 0 h 960"/>
                <a:gd name="T2" fmla="*/ 67 w 144"/>
                <a:gd name="T3" fmla="*/ 121 h 960"/>
                <a:gd name="T4" fmla="*/ 110 w 144"/>
                <a:gd name="T5" fmla="*/ 263 h 960"/>
                <a:gd name="T6" fmla="*/ 136 w 144"/>
                <a:gd name="T7" fmla="*/ 474 h 960"/>
                <a:gd name="T8" fmla="*/ 144 w 144"/>
                <a:gd name="T9" fmla="*/ 703 h 960"/>
                <a:gd name="T10" fmla="*/ 144 w 144"/>
                <a:gd name="T11" fmla="*/ 960 h 9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4"/>
                <a:gd name="T19" fmla="*/ 0 h 960"/>
                <a:gd name="T20" fmla="*/ 144 w 144"/>
                <a:gd name="T21" fmla="*/ 960 h 9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4" h="960">
                  <a:moveTo>
                    <a:pt x="0" y="0"/>
                  </a:moveTo>
                  <a:lnTo>
                    <a:pt x="67" y="121"/>
                  </a:lnTo>
                  <a:lnTo>
                    <a:pt x="110" y="263"/>
                  </a:lnTo>
                  <a:lnTo>
                    <a:pt x="136" y="474"/>
                  </a:lnTo>
                  <a:lnTo>
                    <a:pt x="144" y="703"/>
                  </a:lnTo>
                  <a:lnTo>
                    <a:pt x="144" y="96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0491" name="Text Box 23">
              <a:extLst>
                <a:ext uri="{FF2B5EF4-FFF2-40B4-BE49-F238E27FC236}">
                  <a16:creationId xmlns:a16="http://schemas.microsoft.com/office/drawing/2014/main" id="{EB94FAA0-9E64-4F14-9C9A-DEAD722EC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632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f</a:t>
              </a:r>
              <a:r>
                <a:rPr lang="en-US" altLang="zh-CN" sz="32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k-1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 autoUpdateAnimBg="0"/>
      <p:bldP spid="12306" grpId="0" animBg="1" autoUpdateAnimBg="0"/>
      <p:bldP spid="1230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78EDEFD-D36E-4625-B59B-5D5E76A1D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/>
              <a:t>程序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DB0A1A9-190B-445E-8692-0BA197520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14500"/>
            <a:ext cx="7772400" cy="714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/>
              <a:t>程序是算法用某种程序设计语言的具体体现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14A793DF-CE53-4E9A-9C9F-E2335C41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2428875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程序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=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+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数据结构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C959423E-10E9-4D56-ADC1-90E3E2B29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76600"/>
            <a:ext cx="7620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程序可以不满足算法的性质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(4)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有限性。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例如：操作系统，是一个在无限循环中执行的程序，因而不是一个算法。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  <p:bldP spid="17412" grpId="0" autoUpdateAnimBg="0"/>
      <p:bldP spid="1741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2">
            <a:extLst>
              <a:ext uri="{FF2B5EF4-FFF2-40B4-BE49-F238E27FC236}">
                <a16:creationId xmlns:a16="http://schemas.microsoft.com/office/drawing/2014/main" id="{EC183B73-5C4D-44BF-AFF5-0EAEC3432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</a:rPr>
              <a:t>问题求解过程</a:t>
            </a:r>
          </a:p>
        </p:txBody>
      </p:sp>
      <p:grpSp>
        <p:nvGrpSpPr>
          <p:cNvPr id="2" name="Organization Chart 14">
            <a:extLst>
              <a:ext uri="{FF2B5EF4-FFF2-40B4-BE49-F238E27FC236}">
                <a16:creationId xmlns:a16="http://schemas.microsoft.com/office/drawing/2014/main" id="{4AFA6AE0-76BE-48F2-900A-05E6396FEF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19200" y="1143000"/>
            <a:ext cx="7732713" cy="5265738"/>
            <a:chOff x="768" y="720"/>
            <a:chExt cx="4871" cy="3317"/>
          </a:xfrm>
        </p:grpSpPr>
        <p:graphicFrame>
          <p:nvGraphicFramePr>
            <p:cNvPr id="13" name="图示 12">
              <a:extLst>
                <a:ext uri="{FF2B5EF4-FFF2-40B4-BE49-F238E27FC236}">
                  <a16:creationId xmlns:a16="http://schemas.microsoft.com/office/drawing/2014/main" id="{45225F1B-4117-4C7E-88AA-8CDB66358C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45822242"/>
                </p:ext>
              </p:extLst>
            </p:nvPr>
          </p:nvGraphicFramePr>
          <p:xfrm>
            <a:off x="768" y="720"/>
            <a:ext cx="4871" cy="331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" name="Rectangle 16">
              <a:extLst>
                <a:ext uri="{FF2B5EF4-FFF2-40B4-BE49-F238E27FC236}">
                  <a16:creationId xmlns:a16="http://schemas.microsoft.com/office/drawing/2014/main" id="{B40D5BA2-88F7-4775-A446-95F57EF8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822"/>
              <a:ext cx="1134" cy="2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rgbClr val="3907F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证明正确性</a:t>
              </a:r>
            </a:p>
          </p:txBody>
        </p:sp>
        <p:sp>
          <p:nvSpPr>
            <p:cNvPr id="4" name="Rectangle 17">
              <a:extLst>
                <a:ext uri="{FF2B5EF4-FFF2-40B4-BE49-F238E27FC236}">
                  <a16:creationId xmlns:a16="http://schemas.microsoft.com/office/drawing/2014/main" id="{DBC53C73-49D4-40EC-AC88-FB7C57ADE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3289"/>
              <a:ext cx="1134" cy="2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rgbClr val="3907F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分析算法</a:t>
              </a:r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5619DBD1-5D37-4A71-8AB6-34EEB5DEE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3756"/>
              <a:ext cx="1134" cy="2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rgbClr val="3907F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设计程序</a:t>
              </a:r>
            </a:p>
          </p:txBody>
        </p:sp>
        <p:sp>
          <p:nvSpPr>
            <p:cNvPr id="6" name="Line 25">
              <a:extLst>
                <a:ext uri="{FF2B5EF4-FFF2-40B4-BE49-F238E27FC236}">
                  <a16:creationId xmlns:a16="http://schemas.microsoft.com/office/drawing/2014/main" id="{D5D840C5-4A17-431D-92BD-1CDCCB026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11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32">
              <a:extLst>
                <a:ext uri="{FF2B5EF4-FFF2-40B4-BE49-F238E27FC236}">
                  <a16:creationId xmlns:a16="http://schemas.microsoft.com/office/drawing/2014/main" id="{50D5C517-31B7-49A5-84CB-6DBEC43D4D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3" y="2614"/>
              <a:ext cx="4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7C4DB182-44D0-4261-A074-445ED9A59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566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Text Box 39">
              <a:extLst>
                <a:ext uri="{FF2B5EF4-FFF2-40B4-BE49-F238E27FC236}">
                  <a16:creationId xmlns:a16="http://schemas.microsoft.com/office/drawing/2014/main" id="{E1117795-3648-4526-8345-36C4E66D1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550"/>
              <a:ext cx="22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优</a:t>
              </a:r>
            </a:p>
          </p:txBody>
        </p: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D4A7BED6-6F17-47B1-AB5B-BE990A3DB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12"/>
              <a:ext cx="227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不正确</a:t>
              </a:r>
            </a:p>
          </p:txBody>
        </p:sp>
        <p:sp>
          <p:nvSpPr>
            <p:cNvPr id="11" name="Text Box 42">
              <a:extLst>
                <a:ext uri="{FF2B5EF4-FFF2-40B4-BE49-F238E27FC236}">
                  <a16:creationId xmlns:a16="http://schemas.microsoft.com/office/drawing/2014/main" id="{39EA7736-B72F-4772-828E-90B35EEC2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3078"/>
              <a:ext cx="4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正确</a:t>
              </a:r>
            </a:p>
          </p:txBody>
        </p:sp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E3BE8D60-88F8-4AFC-BFE1-675E62180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2019"/>
              <a:ext cx="22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修改</a:t>
              </a:r>
            </a:p>
          </p:txBody>
        </p:sp>
      </p:grpSp>
      <p:sp>
        <p:nvSpPr>
          <p:cNvPr id="1039" name="Oval 19">
            <a:extLst>
              <a:ext uri="{FF2B5EF4-FFF2-40B4-BE49-F238E27FC236}">
                <a16:creationId xmlns:a16="http://schemas.microsoft.com/office/drawing/2014/main" id="{5A931C03-0AAE-40B8-950E-7A910B0F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676400"/>
            <a:ext cx="2016125" cy="431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3907F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理解问题</a:t>
            </a:r>
          </a:p>
        </p:txBody>
      </p:sp>
      <p:sp>
        <p:nvSpPr>
          <p:cNvPr id="1040" name="Oval 20">
            <a:extLst>
              <a:ext uri="{FF2B5EF4-FFF2-40B4-BE49-F238E27FC236}">
                <a16:creationId xmlns:a16="http://schemas.microsoft.com/office/drawing/2014/main" id="{B28FD1B4-0981-488F-8369-BC0402DC8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349500"/>
            <a:ext cx="3095625" cy="1223963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3907F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精确解或近似解</a:t>
            </a:r>
          </a:p>
          <a:p>
            <a:pPr algn="ctr" eaLnBrk="1" hangingPunct="1"/>
            <a:r>
              <a:rPr lang="zh-CN" altLang="en-US" sz="2000" b="1" dirty="0">
                <a:solidFill>
                  <a:srgbClr val="3907F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选择数据结构</a:t>
            </a:r>
          </a:p>
          <a:p>
            <a:pPr algn="ctr" eaLnBrk="1" hangingPunct="1"/>
            <a:r>
              <a:rPr lang="zh-CN" altLang="en-US" sz="2000" b="1" dirty="0">
                <a:solidFill>
                  <a:srgbClr val="3907F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算法设计策略</a:t>
            </a:r>
            <a:endParaRPr lang="zh-CN" altLang="en-US" sz="2000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41" name="Rectangle 21">
            <a:extLst>
              <a:ext uri="{FF2B5EF4-FFF2-40B4-BE49-F238E27FC236}">
                <a16:creationId xmlns:a16="http://schemas.microsoft.com/office/drawing/2014/main" id="{6083AADB-8CB0-4270-A925-556537D68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860800"/>
            <a:ext cx="1800225" cy="433388"/>
          </a:xfrm>
          <a:prstGeom prst="rect">
            <a:avLst/>
          </a:prstGeom>
          <a:solidFill>
            <a:schemeClr val="bg1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3907F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设计算法</a:t>
            </a:r>
          </a:p>
        </p:txBody>
      </p:sp>
      <p:sp>
        <p:nvSpPr>
          <p:cNvPr id="1042" name="Line 22">
            <a:extLst>
              <a:ext uri="{FF2B5EF4-FFF2-40B4-BE49-F238E27FC236}">
                <a16:creationId xmlns:a16="http://schemas.microsoft.com/office/drawing/2014/main" id="{47A747D0-FF8E-470D-8D5C-F75F49940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21336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3" name="Line 23">
            <a:extLst>
              <a:ext uri="{FF2B5EF4-FFF2-40B4-BE49-F238E27FC236}">
                <a16:creationId xmlns:a16="http://schemas.microsoft.com/office/drawing/2014/main" id="{9EE5CEF6-B006-4232-AAEF-38429DF1B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4292600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4" name="Line 24">
            <a:extLst>
              <a:ext uri="{FF2B5EF4-FFF2-40B4-BE49-F238E27FC236}">
                <a16:creationId xmlns:a16="http://schemas.microsoft.com/office/drawing/2014/main" id="{2B16B45D-2194-4C6A-AC3A-463DFEB92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573463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5" name="Line 27">
            <a:extLst>
              <a:ext uri="{FF2B5EF4-FFF2-40B4-BE49-F238E27FC236}">
                <a16:creationId xmlns:a16="http://schemas.microsoft.com/office/drawing/2014/main" id="{00446FA6-0E58-463E-A541-CE4F4A293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7313" y="2997200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6" name="Line 29">
            <a:extLst>
              <a:ext uri="{FF2B5EF4-FFF2-40B4-BE49-F238E27FC236}">
                <a16:creationId xmlns:a16="http://schemas.microsoft.com/office/drawing/2014/main" id="{537DDD1A-F476-477A-A268-150B6A1E3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2997200"/>
            <a:ext cx="0" cy="1008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7" name="Line 30">
            <a:extLst>
              <a:ext uri="{FF2B5EF4-FFF2-40B4-BE49-F238E27FC236}">
                <a16:creationId xmlns:a16="http://schemas.microsoft.com/office/drawing/2014/main" id="{606FCA73-6E95-4E6E-BF37-6635664FC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4005263"/>
            <a:ext cx="12239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8" name="Line 33">
            <a:extLst>
              <a:ext uri="{FF2B5EF4-FFF2-40B4-BE49-F238E27FC236}">
                <a16:creationId xmlns:a16="http://schemas.microsoft.com/office/drawing/2014/main" id="{71DCEF27-1983-4B8A-B402-9E9C6A331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5516563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49" name="Line 34">
            <a:extLst>
              <a:ext uri="{FF2B5EF4-FFF2-40B4-BE49-F238E27FC236}">
                <a16:creationId xmlns:a16="http://schemas.microsoft.com/office/drawing/2014/main" id="{A01902DE-C98A-4901-B94C-08CE798C96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4005263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50" name="Line 35">
            <a:extLst>
              <a:ext uri="{FF2B5EF4-FFF2-40B4-BE49-F238E27FC236}">
                <a16:creationId xmlns:a16="http://schemas.microsoft.com/office/drawing/2014/main" id="{5EA582F6-C0AF-4916-ADAD-788D1DBC5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149725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51" name="Line 36">
            <a:extLst>
              <a:ext uri="{FF2B5EF4-FFF2-40B4-BE49-F238E27FC236}">
                <a16:creationId xmlns:a16="http://schemas.microsoft.com/office/drawing/2014/main" id="{9BEEA798-840E-403E-A677-013777ED7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719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52" name="Line 37">
            <a:extLst>
              <a:ext uri="{FF2B5EF4-FFF2-40B4-BE49-F238E27FC236}">
                <a16:creationId xmlns:a16="http://schemas.microsoft.com/office/drawing/2014/main" id="{F26E5681-E5C7-454A-8A2D-B8BC70370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4005263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53" name="Text Box 38">
            <a:extLst>
              <a:ext uri="{FF2B5EF4-FFF2-40B4-BE49-F238E27FC236}">
                <a16:creationId xmlns:a16="http://schemas.microsoft.com/office/drawing/2014/main" id="{495158DA-EC94-4D60-81FE-9B7D74F05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5157788"/>
            <a:ext cx="36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54" name="Text Box 40">
            <a:extLst>
              <a:ext uri="{FF2B5EF4-FFF2-40B4-BE49-F238E27FC236}">
                <a16:creationId xmlns:a16="http://schemas.microsoft.com/office/drawing/2014/main" id="{17557EA3-86D9-4ED8-A2DA-7E63746DE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4572000"/>
            <a:ext cx="3603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不佳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BC198AD-7EBD-4930-AAA7-3C0F06DAE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200" b="1" dirty="0">
                <a:solidFill>
                  <a:srgbClr val="AC2F36"/>
                </a:solidFill>
              </a:rPr>
              <a:t>1.2  </a:t>
            </a:r>
            <a:r>
              <a:rPr lang="zh-CN" altLang="en-US" sz="3200" b="1" dirty="0">
                <a:solidFill>
                  <a:srgbClr val="AC2F36"/>
                </a:solidFill>
              </a:rPr>
              <a:t>算法复杂性分析（</a:t>
            </a:r>
            <a:r>
              <a:rPr lang="en-US" altLang="zh-CN" sz="3200" b="1" dirty="0">
                <a:solidFill>
                  <a:srgbClr val="AC2F36"/>
                </a:solidFill>
              </a:rPr>
              <a:t>1</a:t>
            </a:r>
            <a:r>
              <a:rPr lang="zh-CN" altLang="en-US" sz="3200" b="1" dirty="0">
                <a:solidFill>
                  <a:srgbClr val="AC2F36"/>
                </a:solidFill>
              </a:rPr>
              <a:t>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4EA3E67-3C39-4170-BC4E-D166D35C0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363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计算机资源：时间、空间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复杂性：所需资源多少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算法复杂性：算法运行时所需资源的量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算法复杂性分析目的：</a:t>
            </a:r>
            <a:r>
              <a:rPr lang="zh-CN" altLang="en-US" sz="2800" b="1" dirty="0">
                <a:solidFill>
                  <a:srgbClr val="FF0000"/>
                </a:solidFill>
              </a:rPr>
              <a:t>分析问题复杂性、算法是否可行，选择最好算法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时间复杂性：所需时间资源的量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空间复杂性：所需空间资源的量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8AA075B0-FC3B-4D14-A03D-76F37D212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29225"/>
            <a:ext cx="7516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其中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是问题的规模（输入大小）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  <p:bldP spid="133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F95DAE3-D2D1-4BC6-BE26-2497D48E0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rgbClr val="AC2F36"/>
                </a:solidFill>
              </a:rPr>
              <a:t>算法复杂性分析（</a:t>
            </a:r>
            <a:r>
              <a:rPr lang="en-US" altLang="zh-CN" sz="3200" b="1" dirty="0">
                <a:solidFill>
                  <a:srgbClr val="AC2F36"/>
                </a:solidFill>
              </a:rPr>
              <a:t>2</a:t>
            </a:r>
            <a:r>
              <a:rPr lang="zh-CN" altLang="en-US" sz="3200" b="1" dirty="0">
                <a:solidFill>
                  <a:srgbClr val="AC2F36"/>
                </a:solidFill>
              </a:rPr>
              <a:t>）</a:t>
            </a:r>
            <a:endParaRPr lang="zh-CN" altLang="en-US" dirty="0">
              <a:solidFill>
                <a:srgbClr val="AC2F36"/>
              </a:solidFill>
            </a:endParaRPr>
          </a:p>
        </p:txBody>
      </p:sp>
      <p:sp>
        <p:nvSpPr>
          <p:cNvPr id="23555" name="Rectangle 9">
            <a:extLst>
              <a:ext uri="{FF2B5EF4-FFF2-40B4-BE49-F238E27FC236}">
                <a16:creationId xmlns:a16="http://schemas.microsoft.com/office/drawing/2014/main" id="{399D611E-A4A3-44C9-A6C3-62FCF0DF9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时间复杂性细化</a:t>
            </a:r>
            <a:r>
              <a:rPr lang="en-US" altLang="zh-CN" b="1" dirty="0"/>
              <a:t>--3</a:t>
            </a:r>
            <a:r>
              <a:rPr lang="zh-CN" altLang="en-US" b="1" dirty="0"/>
              <a:t>种典型的复杂性：</a:t>
            </a:r>
          </a:p>
          <a:p>
            <a:pPr lvl="1" eaLnBrk="1" hangingPunct="1">
              <a:buFontTx/>
              <a:buNone/>
            </a:pPr>
            <a:r>
              <a:rPr lang="zh-CN" altLang="en-US" sz="3200" b="1" dirty="0"/>
              <a:t>最坏、最好、平均复杂性</a:t>
            </a:r>
          </a:p>
          <a:p>
            <a:pPr eaLnBrk="1" hangingPunct="1"/>
            <a:r>
              <a:rPr lang="zh-CN" altLang="en-US" b="1" dirty="0"/>
              <a:t>记</a:t>
            </a:r>
            <a:r>
              <a:rPr lang="en-US" altLang="zh-CN" b="1" dirty="0"/>
              <a:t>T(I)</a:t>
            </a:r>
            <a:r>
              <a:rPr lang="zh-CN" altLang="en-US" b="1" dirty="0"/>
              <a:t>为输入</a:t>
            </a:r>
            <a:r>
              <a:rPr lang="en-US" altLang="zh-CN" b="1" dirty="0"/>
              <a:t>I</a:t>
            </a:r>
            <a:r>
              <a:rPr lang="zh-CN" altLang="en-US" b="1" dirty="0"/>
              <a:t>时的问题的算法复杂性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A723541-7C03-45A7-8CFD-720D08564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</a:rPr>
              <a:t>算法的时间复杂性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9A62545-7A6E-491A-B58C-798DBB7A0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813435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3907F1"/>
                </a:solidFill>
              </a:rPr>
              <a:t>最坏情况</a:t>
            </a:r>
            <a:r>
              <a:rPr lang="zh-CN" altLang="en-US" sz="2400" b="1" dirty="0"/>
              <a:t>下的时间复杂性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i="1" dirty="0"/>
              <a:t>  </a:t>
            </a:r>
            <a:r>
              <a:rPr lang="en-US" altLang="zh-CN" sz="2400" b="1" i="1" dirty="0" err="1"/>
              <a:t>T</a:t>
            </a:r>
            <a:r>
              <a:rPr lang="en-US" altLang="zh-CN" sz="2400" b="1" baseline="-25000" dirty="0" err="1"/>
              <a:t>max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 = max{ 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(I) | size(I)=</a:t>
            </a:r>
            <a:r>
              <a:rPr lang="en-US" altLang="zh-CN" sz="2400" b="1" i="1" dirty="0"/>
              <a:t>n </a:t>
            </a:r>
            <a:r>
              <a:rPr lang="en-US" altLang="zh-CN" sz="2400" b="1" dirty="0"/>
              <a:t>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3907F1"/>
                </a:solidFill>
              </a:rPr>
              <a:t>最好情况</a:t>
            </a:r>
            <a:r>
              <a:rPr lang="zh-CN" altLang="en-US" sz="2400" b="1" dirty="0"/>
              <a:t>下的时间复杂性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i="1" dirty="0"/>
              <a:t>  </a:t>
            </a:r>
            <a:r>
              <a:rPr lang="en-US" altLang="zh-CN" sz="2400" b="1" i="1" dirty="0" err="1"/>
              <a:t>T</a:t>
            </a:r>
            <a:r>
              <a:rPr lang="en-US" altLang="zh-CN" sz="2400" b="1" baseline="-25000" dirty="0" err="1"/>
              <a:t>min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 = min{ 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(I) | size(I)=</a:t>
            </a:r>
            <a:r>
              <a:rPr lang="en-US" altLang="zh-CN" sz="2400" b="1" i="1" dirty="0"/>
              <a:t>n </a:t>
            </a:r>
            <a:r>
              <a:rPr lang="en-US" altLang="zh-CN" sz="2400" b="1" dirty="0"/>
              <a:t>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3907F1"/>
                </a:solidFill>
              </a:rPr>
              <a:t>平均情况</a:t>
            </a:r>
            <a:r>
              <a:rPr lang="zh-CN" altLang="en-US" sz="2400" b="1" dirty="0"/>
              <a:t>下的时间复杂性</a:t>
            </a:r>
          </a:p>
          <a:p>
            <a:pPr eaLnBrk="1" hangingPunct="1">
              <a:lnSpc>
                <a:spcPct val="200000"/>
              </a:lnSpc>
              <a:buFontTx/>
              <a:buNone/>
            </a:pPr>
            <a:r>
              <a:rPr lang="zh-CN" altLang="en-US" sz="2400" b="1" i="1" dirty="0"/>
              <a:t>  </a:t>
            </a:r>
            <a:r>
              <a:rPr lang="en-US" altLang="zh-CN" sz="2400" b="1" i="1" dirty="0" err="1"/>
              <a:t>T</a:t>
            </a:r>
            <a:r>
              <a:rPr lang="en-US" altLang="zh-CN" sz="2400" b="1" baseline="-25000" dirty="0" err="1"/>
              <a:t>avg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 =</a:t>
            </a:r>
          </a:p>
          <a:p>
            <a:pPr eaLnBrk="1" hangingPunct="1">
              <a:lnSpc>
                <a:spcPct val="200000"/>
              </a:lnSpc>
              <a:buFontTx/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其中</a:t>
            </a:r>
            <a:r>
              <a:rPr lang="en-US" altLang="zh-CN" sz="2400" b="1" dirty="0"/>
              <a:t>I</a:t>
            </a:r>
            <a:r>
              <a:rPr lang="zh-CN" altLang="en-US" sz="2400" b="1" dirty="0"/>
              <a:t>是问题的规模为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的实例，</a:t>
            </a:r>
            <a:r>
              <a:rPr lang="en-US" altLang="zh-CN" sz="2400" b="1" i="1" dirty="0"/>
              <a:t>p</a:t>
            </a:r>
            <a:r>
              <a:rPr lang="en-US" altLang="zh-CN" sz="2400" b="1" dirty="0"/>
              <a:t>(I)</a:t>
            </a:r>
            <a:r>
              <a:rPr lang="zh-CN" altLang="en-US" sz="2400" b="1" dirty="0"/>
              <a:t>是实例</a:t>
            </a:r>
            <a:r>
              <a:rPr lang="en-US" altLang="zh-CN" sz="2400" b="1" dirty="0"/>
              <a:t>I</a:t>
            </a:r>
            <a:r>
              <a:rPr lang="zh-CN" altLang="en-US" sz="2400" b="1" dirty="0"/>
              <a:t>出现的概率。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98C8DB0C-02AE-452E-AD87-6DA23C51E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868863"/>
          <a:ext cx="15843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88614" imgH="355446" progId="Equation.3">
                  <p:embed/>
                </p:oleObj>
              </mc:Choice>
              <mc:Fallback>
                <p:oleObj name="公式" r:id="rId2" imgW="888614" imgH="3554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68863"/>
                        <a:ext cx="158432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3098C12-2A6D-4D94-AFB5-A9BAEAFEF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47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</a:rPr>
              <a:t>算法渐近复杂性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8FF18D4-0041-4832-AE05-D265065A1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/>
              <a:t>假定当 </a:t>
            </a:r>
            <a:r>
              <a:rPr lang="en-US" altLang="zh-CN" sz="2800" b="1" i="1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</a:t>
            </a:r>
            <a:r>
              <a:rPr lang="zh-CN" altLang="en-US" sz="2800" b="1">
                <a:sym typeface="Symbol" panose="05050102010706020507" pitchFamily="18" charset="2"/>
              </a:rPr>
              <a:t>时</a:t>
            </a:r>
            <a:r>
              <a:rPr lang="en-US" altLang="zh-CN" sz="2800" b="1"/>
              <a:t>, 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</a:t>
            </a:r>
            <a:r>
              <a:rPr lang="en-US" altLang="zh-CN" sz="2800" b="1"/>
              <a:t>;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b="1"/>
              <a:t>取</a:t>
            </a: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en-US" altLang="zh-CN" sz="2800" b="1"/>
              <a:t> </a:t>
            </a:r>
            <a:r>
              <a:rPr lang="zh-CN" altLang="en-US" sz="2800" b="1"/>
              <a:t>，使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- </a:t>
            </a: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en-US" altLang="zh-CN" sz="2800" b="1"/>
              <a:t> )/ 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0</a:t>
            </a:r>
            <a:r>
              <a:rPr lang="en-US" altLang="zh-CN" sz="2800" b="1"/>
              <a:t> </a:t>
            </a:r>
            <a:r>
              <a:rPr lang="zh-CN" altLang="en-US" sz="2800" b="1"/>
              <a:t>，当 </a:t>
            </a:r>
            <a:r>
              <a:rPr lang="en-US" altLang="zh-CN" sz="2800" b="1" i="1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;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/>
              <a:t>是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的渐近性态，为算法的渐近复杂性。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b="1"/>
              <a:t>在数学上， </a:t>
            </a: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/>
              <a:t>是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的渐近表达式，是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略去低阶项留下的主项。它比</a:t>
            </a:r>
            <a:r>
              <a:rPr lang="en-US" altLang="zh-CN" sz="2800" b="1" i="1"/>
              <a:t>T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zh-CN" altLang="en-US" sz="2800" b="1"/>
              <a:t>简单。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FD9166-2F6C-4A08-B62D-24598C271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4000" b="1" dirty="0">
                <a:solidFill>
                  <a:schemeClr val="tx1"/>
                </a:solidFill>
              </a:rPr>
              <a:t>几个复杂性参照函数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9348086-18C1-48E5-8393-C34AF0646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2275" y="1628775"/>
            <a:ext cx="583247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/>
              <a:t>log </a:t>
            </a:r>
            <a:r>
              <a:rPr lang="en-US" altLang="zh-CN" sz="2800" dirty="0"/>
              <a:t>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log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n log 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n</a:t>
            </a:r>
            <a:r>
              <a:rPr lang="en-US" altLang="zh-CN" sz="2800" baseline="30000" dirty="0"/>
              <a:t>2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n</a:t>
            </a:r>
            <a:r>
              <a:rPr lang="en-US" altLang="zh-CN" sz="2800" baseline="30000" dirty="0"/>
              <a:t>3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307F848-B070-473E-98A0-371B90DC1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增长的阶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77CE624-77B4-4154-A3CC-48FAAA956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96975"/>
            <a:ext cx="8229600" cy="266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/>
              <a:t>不同的计算过程在消耗计算资源的速率上可能存在着巨大差异，描述这种差异的一种方法是用</a:t>
            </a:r>
            <a:r>
              <a:rPr lang="zh-CN" altLang="en-US" sz="2800" b="1" dirty="0">
                <a:latin typeface="华文中宋" panose="02010600040101010101" pitchFamily="2" charset="-122"/>
              </a:rPr>
              <a:t>增长的阶</a:t>
            </a:r>
            <a:r>
              <a:rPr lang="zh-CN" altLang="en-US" sz="2800" dirty="0"/>
              <a:t>的记法，以便我们理解在输入变大时，某一计算过程所需资源的粗略度量情况。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9E1D9D9E-6836-4319-893F-9603D3A5E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286125"/>
            <a:ext cx="82296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令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是一个参数，它能作为问题规模的一种度量，令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f(n)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是一个计算过程在处理规模为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的问题时所需要的资源量。对某函数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g(n)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，称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f(n)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具有复杂性阶</a:t>
            </a:r>
            <a:r>
              <a:rPr lang="el-GR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Times New Roman" pitchFamily="18" charset="0"/>
              </a:rPr>
              <a:t>Δ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(g(n))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，记为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f(n)= </a:t>
            </a:r>
            <a:r>
              <a:rPr lang="el-GR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Times New Roman" pitchFamily="18" charset="0"/>
              </a:rPr>
              <a:t>Δ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(g(n))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，其中</a:t>
            </a:r>
            <a:r>
              <a:rPr lang="el-GR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Times New Roman" pitchFamily="18" charset="0"/>
              </a:rPr>
              <a:t>Δ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Times New Roman" pitchFamily="18" charset="0"/>
              </a:rPr>
              <a:t>是</a:t>
            </a:r>
            <a:r>
              <a:rPr kumimoji="0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O</a:t>
            </a:r>
            <a:r>
              <a:rPr kumimoji="0" lang="zh-CN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、</a:t>
            </a:r>
            <a:r>
              <a:rPr lang="en-US" altLang="zh-CN" sz="2800" b="1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o</a:t>
            </a:r>
            <a:r>
              <a:rPr lang="zh-CN" altLang="en-US" sz="2800" b="1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等。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  <a:sym typeface="Symbol" pitchFamily="18" charset="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含义见下面的几页。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2EBC269-052B-44F6-BA6F-77E4D7740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153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若干符号及其意义：</a:t>
            </a:r>
            <a:r>
              <a:rPr lang="en-US" altLang="zh-CN" sz="3200" b="1">
                <a:solidFill>
                  <a:srgbClr val="FF0000"/>
                </a:solidFill>
              </a:rPr>
              <a:t>O(f)</a:t>
            </a:r>
            <a:r>
              <a:rPr lang="zh-CN" altLang="en-US" sz="3200" b="1">
                <a:solidFill>
                  <a:srgbClr val="FF0000"/>
                </a:solidFill>
              </a:rPr>
              <a:t>，</a:t>
            </a:r>
            <a:r>
              <a:rPr lang="zh-CN" altLang="en-US" sz="3200" b="1">
                <a:solidFill>
                  <a:srgbClr val="FF0000"/>
                </a:solidFill>
                <a:sym typeface="Symbol" panose="05050102010706020507" pitchFamily="18" charset="2"/>
              </a:rPr>
              <a:t></a:t>
            </a:r>
            <a:r>
              <a:rPr lang="en-US" altLang="zh-CN" sz="3200" b="1">
                <a:solidFill>
                  <a:srgbClr val="FF0000"/>
                </a:solidFill>
                <a:sym typeface="Symbol" panose="05050102010706020507" pitchFamily="18" charset="2"/>
              </a:rPr>
              <a:t>(f)</a:t>
            </a:r>
            <a:r>
              <a:rPr lang="zh-CN" altLang="en-US" sz="3200" b="1">
                <a:solidFill>
                  <a:srgbClr val="FF0000"/>
                </a:solidFill>
                <a:sym typeface="Symbol" panose="05050102010706020507" pitchFamily="18" charset="2"/>
              </a:rPr>
              <a:t>，</a:t>
            </a:r>
            <a:r>
              <a:rPr lang="en-US" altLang="zh-CN" sz="3200" b="1">
                <a:solidFill>
                  <a:srgbClr val="FF0000"/>
                </a:solidFill>
                <a:sym typeface="Symbol" panose="05050102010706020507" pitchFamily="18" charset="2"/>
              </a:rPr>
              <a:t>(f)</a:t>
            </a:r>
            <a:r>
              <a:rPr lang="zh-CN" altLang="en-US" sz="3200" b="1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3200" b="1">
                <a:solidFill>
                  <a:srgbClr val="FF0000"/>
                </a:solidFill>
                <a:sym typeface="Symbol" panose="05050102010706020507" pitchFamily="18" charset="2"/>
              </a:rPr>
              <a:t>o(f)</a:t>
            </a:r>
            <a:br>
              <a:rPr lang="en-US" altLang="zh-CN" sz="3200" b="1">
                <a:solidFill>
                  <a:srgbClr val="FF0000"/>
                </a:solidFill>
              </a:rPr>
            </a:b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DAE4944D-7DBF-48E2-8BFE-F6B6BC03F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/>
              <a:t>在下面的讨论中，对所有</a:t>
            </a:r>
            <a:r>
              <a:rPr lang="en-US" altLang="zh-CN" sz="2800" b="1" i="1"/>
              <a:t>n</a:t>
            </a:r>
            <a:r>
              <a:rPr lang="zh-CN" altLang="en-US" sz="2800" b="1"/>
              <a:t>，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/>
              <a:t> 0</a:t>
            </a:r>
            <a:r>
              <a:rPr lang="zh-CN" altLang="en-US" sz="2800" b="1"/>
              <a:t>，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</a:t>
            </a:r>
            <a:r>
              <a:rPr lang="en-US" altLang="zh-CN" sz="2800" b="1"/>
              <a:t> 0</a:t>
            </a:r>
            <a:r>
              <a:rPr lang="zh-CN" altLang="en-US" sz="2800" b="1"/>
              <a:t>。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DF0FA191-AF2C-4C86-9FBA-501E65573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916113"/>
            <a:ext cx="79819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1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）</a:t>
            </a:r>
            <a:r>
              <a:rPr kumimoji="0" lang="zh-CN" altLang="en-US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渐近上界记号</a:t>
            </a:r>
            <a:r>
              <a:rPr kumimoji="0" lang="en-US" altLang="zh-CN" b="1" i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O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  O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)) = {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| 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存在正常数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和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使得对所有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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}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343FF261-44EB-4F23-9795-1EC35D3B8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60800"/>
            <a:ext cx="8208962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2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）</a:t>
            </a:r>
            <a:r>
              <a:rPr kumimoji="0" lang="zh-CN" altLang="en-US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渐近下界记号</a:t>
            </a:r>
            <a:r>
              <a:rPr kumimoji="0" lang="zh-CN" altLang="en-US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  <a:sym typeface="Symbol" pitchFamily="18" charset="2"/>
              </a:rPr>
              <a:t>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   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)) = {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| 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存在正常数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和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使得对所有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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build="p" autoUpdateAnimBg="0"/>
      <p:bldP spid="20488" grpId="0" autoUpdateAnimBg="0"/>
      <p:bldP spid="2048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D768FBE2-5615-40B9-8596-D9796600C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661988"/>
            <a:ext cx="7772400" cy="3352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3907F1"/>
                </a:solidFill>
              </a:rPr>
              <a:t>高阶记号</a:t>
            </a:r>
            <a:r>
              <a:rPr lang="en-US" altLang="zh-CN" sz="2800" b="1" i="1">
                <a:solidFill>
                  <a:srgbClr val="3907F1"/>
                </a:solidFill>
              </a:rPr>
              <a:t>o</a:t>
            </a:r>
            <a:r>
              <a:rPr lang="en-US" altLang="zh-CN" sz="2800" b="1" i="1"/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800" b="1" i="1"/>
              <a:t>  o</a:t>
            </a:r>
            <a:r>
              <a:rPr lang="en-US" altLang="zh-CN" sz="2800" b="1"/>
              <a:t>(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)) = {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| </a:t>
            </a:r>
            <a:r>
              <a:rPr lang="zh-CN" altLang="en-US" sz="2800" b="1"/>
              <a:t>对于任何正常数</a:t>
            </a:r>
            <a:r>
              <a:rPr lang="en-US" altLang="zh-CN" sz="2800" b="1" i="1"/>
              <a:t>c</a:t>
            </a:r>
            <a:r>
              <a:rPr lang="en-US" altLang="zh-CN" sz="2800" b="1"/>
              <a:t>&gt;0</a:t>
            </a:r>
            <a:r>
              <a:rPr lang="zh-CN" altLang="en-US" sz="2800" b="1" i="1"/>
              <a:t>，</a:t>
            </a:r>
            <a:r>
              <a:rPr lang="zh-CN" altLang="en-US" sz="2800" b="1"/>
              <a:t>存在正数和</a:t>
            </a:r>
            <a:r>
              <a:rPr lang="en-US" altLang="zh-CN" sz="2800" b="1" i="1"/>
              <a:t>n</a:t>
            </a:r>
            <a:r>
              <a:rPr lang="en-US" altLang="zh-CN" sz="2800" b="1" baseline="-25000"/>
              <a:t>0 </a:t>
            </a:r>
            <a:r>
              <a:rPr lang="en-US" altLang="zh-CN" sz="2800" b="1"/>
              <a:t>&gt;0</a:t>
            </a:r>
            <a:r>
              <a:rPr lang="zh-CN" altLang="en-US" sz="2800" b="1"/>
              <a:t>使得对所有</a:t>
            </a:r>
            <a:r>
              <a:rPr lang="en-US" altLang="zh-CN" sz="2800" b="1" i="1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 </a:t>
            </a:r>
            <a:r>
              <a:rPr lang="en-US" altLang="zh-CN" sz="2800" b="1" i="1"/>
              <a:t>n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有：</a:t>
            </a:r>
            <a:r>
              <a:rPr lang="en-US" altLang="zh-CN" sz="2800" b="1"/>
              <a:t>0 </a:t>
            </a:r>
            <a:r>
              <a:rPr lang="en-US" altLang="zh-CN" sz="2800" b="1">
                <a:sym typeface="Symbol" panose="05050102010706020507" pitchFamily="18" charset="2"/>
              </a:rPr>
              <a:t>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)&lt;</a:t>
            </a:r>
            <a:r>
              <a:rPr lang="en-US" altLang="zh-CN" sz="2800" b="1" i="1"/>
              <a:t>cg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}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等价于</a:t>
            </a:r>
            <a:r>
              <a:rPr lang="zh-CN" altLang="en-US" sz="2800" b="1" i="1"/>
              <a:t>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/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0</a:t>
            </a:r>
            <a:r>
              <a:rPr lang="en-US" altLang="zh-CN" sz="2800" b="1"/>
              <a:t> </a:t>
            </a:r>
            <a:r>
              <a:rPr lang="zh-CN" altLang="en-US" sz="2800" b="1"/>
              <a:t>，</a:t>
            </a:r>
            <a:r>
              <a:rPr lang="en-US" altLang="zh-CN" sz="2800" b="1"/>
              <a:t>as  </a:t>
            </a:r>
            <a:r>
              <a:rPr lang="en-US" altLang="zh-CN" sz="2800" b="1" i="1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</a:t>
            </a:r>
            <a:r>
              <a:rPr lang="zh-CN" altLang="en-US" sz="2800" b="1">
                <a:sym typeface="Symbol" panose="05050102010706020507" pitchFamily="18" charset="2"/>
              </a:rPr>
              <a:t>。</a:t>
            </a:r>
            <a:endParaRPr lang="zh-CN" altLang="en-US" sz="2800" b="1"/>
          </a:p>
          <a:p>
            <a:pPr eaLnBrk="1" hangingPunct="1"/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zh-CN" altLang="en-US" sz="2800" b="1"/>
              <a:t>的阶比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的阶低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D00161AF-E053-4A2E-A50D-23ADC13D3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38600"/>
            <a:ext cx="76200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4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）</a:t>
            </a:r>
            <a:r>
              <a:rPr kumimoji="0" lang="zh-CN" altLang="en-US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同阶记号</a:t>
            </a:r>
            <a:r>
              <a:rPr lang="zh-CN" altLang="en-US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</a:t>
            </a:r>
            <a:r>
              <a:rPr kumimoji="0" lang="zh-CN" altLang="en-US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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)) = {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| 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存在正常数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,c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和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使得对所有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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0</a:t>
            </a:r>
            <a:r>
              <a: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f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g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kumimoji="0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)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EAB7458-C811-4495-B3B9-958046EF2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复杂性阶符号的理解举例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0B53BA3-B7BE-4C1E-98DA-20B602404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96975"/>
            <a:ext cx="8229600" cy="2405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/>
              <a:t>称</a:t>
            </a:r>
            <a:r>
              <a:rPr lang="en-US" altLang="zh-CN" sz="2800" b="1"/>
              <a:t>f(n)</a:t>
            </a:r>
            <a:r>
              <a:rPr lang="zh-CN" altLang="en-US" sz="2800" b="1"/>
              <a:t>具有</a:t>
            </a:r>
            <a:r>
              <a:rPr lang="zh-CN" altLang="en-US" sz="2800" b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(g(n))</a:t>
            </a:r>
            <a:r>
              <a:rPr lang="zh-CN" altLang="en-US" sz="2800" b="1">
                <a:sym typeface="Symbol" panose="05050102010706020507" pitchFamily="18" charset="2"/>
              </a:rPr>
              <a:t>，记为 </a:t>
            </a:r>
            <a:r>
              <a:rPr lang="en-US" altLang="zh-CN" sz="2800" b="1"/>
              <a:t>f(n)= </a:t>
            </a:r>
            <a:r>
              <a:rPr lang="en-US" altLang="zh-CN" sz="2800" b="1">
                <a:sym typeface="Symbol" panose="05050102010706020507" pitchFamily="18" charset="2"/>
              </a:rPr>
              <a:t>(g(n))</a:t>
            </a:r>
            <a:r>
              <a:rPr lang="zh-CN" altLang="en-US" sz="2800" b="1">
                <a:sym typeface="Symbol" panose="05050102010706020507" pitchFamily="18" charset="2"/>
              </a:rPr>
              <a:t>，如果存在与</a:t>
            </a:r>
            <a:r>
              <a:rPr lang="en-US" altLang="zh-CN" sz="2800" b="1">
                <a:sym typeface="Symbol" panose="05050102010706020507" pitchFamily="18" charset="2"/>
              </a:rPr>
              <a:t>n</a:t>
            </a:r>
            <a:r>
              <a:rPr lang="zh-CN" altLang="en-US" sz="2800" b="1">
                <a:sym typeface="Symbol" panose="05050102010706020507" pitchFamily="18" charset="2"/>
              </a:rPr>
              <a:t>无关的整数</a:t>
            </a:r>
            <a:r>
              <a:rPr lang="en-US" altLang="zh-CN" sz="2800" b="1">
                <a:sym typeface="Symbol" panose="05050102010706020507" pitchFamily="18" charset="2"/>
              </a:rPr>
              <a:t>c</a:t>
            </a:r>
            <a:r>
              <a:rPr lang="en-US" altLang="zh-CN" sz="2800" b="1" baseline="-25000">
                <a:sym typeface="Symbol" panose="05050102010706020507" pitchFamily="18" charset="2"/>
              </a:rPr>
              <a:t>1</a:t>
            </a:r>
            <a:r>
              <a:rPr lang="zh-CN" altLang="en-US" sz="2800" b="1">
                <a:sym typeface="Symbol" panose="05050102010706020507" pitchFamily="18" charset="2"/>
              </a:rPr>
              <a:t>和</a:t>
            </a:r>
            <a:r>
              <a:rPr lang="en-US" altLang="zh-CN" sz="2800" b="1">
                <a:sym typeface="Symbol" panose="05050102010706020507" pitchFamily="18" charset="2"/>
              </a:rPr>
              <a:t>c</a:t>
            </a:r>
            <a:r>
              <a:rPr lang="en-US" altLang="zh-CN" sz="2800" b="1" baseline="-25000">
                <a:sym typeface="Symbol" panose="05050102010706020507" pitchFamily="18" charset="2"/>
              </a:rPr>
              <a:t>2</a:t>
            </a:r>
            <a:r>
              <a:rPr lang="zh-CN" altLang="en-US" sz="2800" b="1">
                <a:sym typeface="Symbol" panose="05050102010706020507" pitchFamily="18" charset="2"/>
              </a:rPr>
              <a:t>，使得：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               </a:t>
            </a:r>
            <a:r>
              <a:rPr lang="en-US" altLang="zh-CN" sz="2800" b="1">
                <a:sym typeface="Symbol" panose="05050102010706020507" pitchFamily="18" charset="2"/>
              </a:rPr>
              <a:t>c</a:t>
            </a:r>
            <a:r>
              <a:rPr lang="en-US" altLang="zh-CN" sz="2800" b="1" baseline="-25000">
                <a:sym typeface="Symbol" panose="05050102010706020507" pitchFamily="18" charset="2"/>
              </a:rPr>
              <a:t>1</a:t>
            </a:r>
            <a:r>
              <a:rPr lang="en-US" altLang="zh-CN" sz="2800" b="1">
                <a:sym typeface="Symbol" panose="05050102010706020507" pitchFamily="18" charset="2"/>
              </a:rPr>
              <a:t>g(n)  f(n)  c</a:t>
            </a:r>
            <a:r>
              <a:rPr lang="en-US" altLang="zh-CN" sz="2800" b="1" baseline="-25000">
                <a:sym typeface="Symbol" panose="05050102010706020507" pitchFamily="18" charset="2"/>
              </a:rPr>
              <a:t>2</a:t>
            </a:r>
            <a:r>
              <a:rPr lang="en-US" altLang="zh-CN" sz="2800" b="1">
                <a:sym typeface="Symbol" panose="05050102010706020507" pitchFamily="18" charset="2"/>
              </a:rPr>
              <a:t>g(n)</a:t>
            </a:r>
          </a:p>
          <a:p>
            <a:pPr eaLnBrk="1" hangingPunct="1"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    </a:t>
            </a:r>
            <a:r>
              <a:rPr lang="zh-CN" altLang="en-US" sz="2800" b="1">
                <a:sym typeface="Symbol" panose="05050102010706020507" pitchFamily="18" charset="2"/>
              </a:rPr>
              <a:t>对于任何足够大的</a:t>
            </a:r>
            <a:r>
              <a:rPr lang="en-US" altLang="zh-CN" sz="2800" b="1">
                <a:sym typeface="Symbol" panose="05050102010706020507" pitchFamily="18" charset="2"/>
              </a:rPr>
              <a:t>n</a:t>
            </a:r>
            <a:r>
              <a:rPr lang="zh-CN" altLang="en-US" sz="2800" b="1">
                <a:sym typeface="Symbol" panose="05050102010706020507" pitchFamily="18" charset="2"/>
              </a:rPr>
              <a:t>都成立。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3B3699E-D170-4DFF-9C7C-04BBFDEDA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举例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C8D5599-BFC0-4BDD-A38A-296218D8B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25538"/>
            <a:ext cx="8229600" cy="3167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kumimoji="0" lang="zh-CN" altLang="en-US" sz="2800" b="1" dirty="0"/>
              <a:t>求</a:t>
            </a:r>
            <a:r>
              <a:rPr kumimoji="0" lang="en-US" altLang="zh-CN" sz="2800" b="1" dirty="0"/>
              <a:t>n</a:t>
            </a:r>
            <a:r>
              <a:rPr kumimoji="0" lang="zh-CN" altLang="en-US" sz="2800" b="1" dirty="0"/>
              <a:t>！递归算法</a:t>
            </a:r>
            <a:r>
              <a:rPr kumimoji="0" lang="en-US" altLang="zh-CN" sz="2800" b="1" dirty="0"/>
              <a:t>f(n)</a:t>
            </a:r>
          </a:p>
          <a:p>
            <a:pPr eaLnBrk="1" hangingPunct="1">
              <a:buFontTx/>
              <a:buNone/>
            </a:pPr>
            <a:r>
              <a:rPr kumimoji="0" lang="en-US" altLang="zh-CN" sz="2800" b="1" dirty="0"/>
              <a:t>  f(n)=1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1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2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6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24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…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 err="1"/>
              <a:t>nf</a:t>
            </a:r>
            <a:r>
              <a:rPr kumimoji="0" lang="en-US" altLang="zh-CN" sz="2800" b="1" dirty="0"/>
              <a:t>(n-1)</a:t>
            </a:r>
            <a:r>
              <a:rPr kumimoji="0" lang="zh-CN" altLang="en-US" sz="2800" b="1" dirty="0"/>
              <a:t>，</a:t>
            </a:r>
            <a:r>
              <a:rPr kumimoji="0" lang="en-US" altLang="zh-CN" sz="2800" b="1" dirty="0"/>
              <a:t>…</a:t>
            </a:r>
          </a:p>
          <a:p>
            <a:pPr eaLnBrk="1" hangingPunct="1">
              <a:buFontTx/>
              <a:buNone/>
            </a:pPr>
            <a:r>
              <a:rPr kumimoji="0" lang="en-US" altLang="zh-CN" sz="2800" b="1" dirty="0"/>
              <a:t>  f(n){</a:t>
            </a:r>
          </a:p>
          <a:p>
            <a:pPr eaLnBrk="1" hangingPunct="1">
              <a:buFontTx/>
              <a:buNone/>
            </a:pPr>
            <a:r>
              <a:rPr kumimoji="0" lang="en-US" altLang="zh-CN" sz="2800" b="1" dirty="0"/>
              <a:t>      if(n==0 || n==1) return 1;</a:t>
            </a:r>
          </a:p>
          <a:p>
            <a:pPr eaLnBrk="1" hangingPunct="1">
              <a:buFontTx/>
              <a:buNone/>
            </a:pPr>
            <a:r>
              <a:rPr kumimoji="0" lang="en-US" altLang="zh-CN" sz="2800" b="1" dirty="0"/>
              <a:t>      return n*f(n-1);</a:t>
            </a:r>
          </a:p>
          <a:p>
            <a:pPr eaLnBrk="1" hangingPunct="1">
              <a:buFontTx/>
              <a:buNone/>
            </a:pPr>
            <a:r>
              <a:rPr kumimoji="0" lang="en-US" altLang="zh-CN" sz="2800" b="1" dirty="0"/>
              <a:t>  }</a:t>
            </a:r>
          </a:p>
          <a:p>
            <a:pPr eaLnBrk="1" hangingPunct="1">
              <a:buFontTx/>
              <a:buNone/>
            </a:pPr>
            <a:endParaRPr lang="en-US" altLang="zh-CN" sz="2800" dirty="0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C327C002-A618-40F6-B71F-9AF8AD746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37063"/>
            <a:ext cx="82804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求阶乘的递归算法时间和空间需求增长都是</a:t>
            </a: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(n)</a:t>
            </a:r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/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但对于迭代的算法，时间增长为</a:t>
            </a:r>
            <a:r>
              <a:rPr kumimoji="0"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(n)</a:t>
            </a:r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，空间增长为</a:t>
            </a:r>
            <a:r>
              <a:rPr lang="zh-CN" altLang="en-US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(1)</a:t>
            </a:r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（常数）。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35AF72C-DC4E-46A7-AAE9-05A27E1E0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增长的阶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3FF01DF-AB4D-44AC-BFD2-1C4DC422A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/>
              <a:t>对于线性的过程，问题规模扩大一倍，资源增长一倍；</a:t>
            </a:r>
          </a:p>
          <a:p>
            <a:pPr eaLnBrk="1" hangingPunct="1"/>
            <a:r>
              <a:rPr lang="zh-CN" altLang="en-US" sz="2800" b="1" dirty="0"/>
              <a:t>对于指数增长的过程，问题规模加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，资源就增大一个常数倍；</a:t>
            </a:r>
          </a:p>
          <a:p>
            <a:pPr eaLnBrk="1" hangingPunct="1"/>
            <a:r>
              <a:rPr lang="zh-CN" altLang="en-US" sz="2800" b="1" dirty="0"/>
              <a:t>对于对数增长的过程，问题规模增大一倍，所需资源增长一个常数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0FBB4F0-2CED-4FCA-BCEE-B48B18AC2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</a:rPr>
              <a:t>各记号在等式和不等式中的意义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4D0D712-FB4F-4D7F-B40B-66B003E69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)=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g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>
                <a:solidFill>
                  <a:srgbClr val="FF0000"/>
                </a:solidFill>
              </a:rPr>
              <a:t>))</a:t>
            </a:r>
            <a:r>
              <a:rPr lang="zh-CN" altLang="en-US" sz="2800" b="1"/>
              <a:t>的确切意义是：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(g(n))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一般情况下，等式和不等式中的渐近记号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(g(n))</a:t>
            </a:r>
            <a:r>
              <a:rPr lang="zh-CN" altLang="en-US" sz="2800" b="1"/>
              <a:t>表示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(g(n))</a:t>
            </a:r>
            <a:r>
              <a:rPr lang="zh-CN" altLang="en-US" sz="2800" b="1"/>
              <a:t>中的某个函数。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例如：</a:t>
            </a:r>
            <a:r>
              <a:rPr lang="en-US" altLang="zh-CN" sz="2800" b="1"/>
              <a:t>2</a:t>
            </a:r>
            <a:r>
              <a:rPr lang="en-US" altLang="zh-CN" sz="2800" b="1" i="1"/>
              <a:t>n</a:t>
            </a:r>
            <a:r>
              <a:rPr lang="en-US" altLang="zh-CN" sz="2800" b="1" baseline="30000"/>
              <a:t>2 </a:t>
            </a:r>
            <a:r>
              <a:rPr lang="en-US" altLang="zh-CN" sz="2800" b="1"/>
              <a:t>+ 3</a:t>
            </a:r>
            <a:r>
              <a:rPr lang="en-US" altLang="zh-CN" sz="2800" b="1" i="1"/>
              <a:t>n </a:t>
            </a:r>
            <a:r>
              <a:rPr lang="en-US" altLang="zh-CN" sz="2800" b="1"/>
              <a:t>+ 1 = 2</a:t>
            </a:r>
            <a:r>
              <a:rPr lang="en-US" altLang="zh-CN" sz="2800" b="1" i="1"/>
              <a:t>n</a:t>
            </a:r>
            <a:r>
              <a:rPr lang="en-US" altLang="zh-CN" sz="2800" b="1" baseline="30000"/>
              <a:t>2 </a:t>
            </a:r>
            <a:r>
              <a:rPr lang="en-US" altLang="zh-CN" sz="2800" b="1"/>
              <a:t>+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(n)</a:t>
            </a:r>
            <a:r>
              <a:rPr lang="en-US" altLang="zh-CN" sz="2800" b="1"/>
              <a:t> </a:t>
            </a:r>
            <a:r>
              <a:rPr lang="zh-CN" altLang="en-US" sz="2800" b="1"/>
              <a:t>表示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</a:t>
            </a:r>
            <a:r>
              <a:rPr lang="en-US" altLang="zh-CN" sz="2800" b="1"/>
              <a:t>2</a:t>
            </a:r>
            <a:r>
              <a:rPr lang="en-US" altLang="zh-CN" sz="2800" b="1" i="1"/>
              <a:t>n</a:t>
            </a:r>
            <a:r>
              <a:rPr lang="en-US" altLang="zh-CN" sz="2800" b="1" baseline="30000"/>
              <a:t>2 </a:t>
            </a:r>
            <a:r>
              <a:rPr lang="en-US" altLang="zh-CN" sz="2800" b="1"/>
              <a:t>+3</a:t>
            </a:r>
            <a:r>
              <a:rPr lang="en-US" altLang="zh-CN" sz="2800" b="1" i="1"/>
              <a:t>n </a:t>
            </a:r>
            <a:r>
              <a:rPr lang="en-US" altLang="zh-CN" sz="2800" b="1"/>
              <a:t>+1=2</a:t>
            </a:r>
            <a:r>
              <a:rPr lang="en-US" altLang="zh-CN" sz="2800" b="1" i="1"/>
              <a:t>n</a:t>
            </a:r>
            <a:r>
              <a:rPr lang="en-US" altLang="zh-CN" sz="2800" b="1" baseline="30000"/>
              <a:t>2 </a:t>
            </a:r>
            <a:r>
              <a:rPr lang="en-US" altLang="zh-CN" sz="2800" b="1"/>
              <a:t>+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，其中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 </a:t>
            </a:r>
            <a:r>
              <a:rPr lang="zh-CN" altLang="en-US" sz="2800" b="1"/>
              <a:t>是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olidFill>
                  <a:srgbClr val="FF0000"/>
                </a:solidFill>
              </a:rPr>
              <a:t>(n)</a:t>
            </a:r>
            <a:r>
              <a:rPr lang="zh-CN" altLang="en-US" sz="2800" b="1"/>
              <a:t>中某个函数。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等式和不等式中渐近记号</a:t>
            </a:r>
            <a:r>
              <a:rPr lang="en-US" altLang="zh-CN" sz="2800" b="1" i="1"/>
              <a:t>O</a:t>
            </a:r>
            <a:r>
              <a:rPr lang="en-US" altLang="zh-CN" sz="2800" b="1"/>
              <a:t>,</a:t>
            </a:r>
            <a:r>
              <a:rPr lang="en-US" altLang="zh-CN" sz="2800" b="1" i="1"/>
              <a:t>o</a:t>
            </a:r>
            <a:r>
              <a:rPr lang="zh-CN" altLang="en-US" sz="2800" b="1">
                <a:sym typeface="Symbol" panose="05050102010706020507" pitchFamily="18" charset="2"/>
              </a:rPr>
              <a:t>和的意义是类似的。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86367CB-2EBE-47BE-A10B-95DAF8DE0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各记号的记忆性比较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5A9BFE5-735B-42AE-9263-BE11B8E94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3429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)= </a:t>
            </a:r>
            <a:r>
              <a:rPr lang="en-US" altLang="zh-CN" sz="2800" b="1" i="1">
                <a:sym typeface="Symbol" panose="05050102010706020507" pitchFamily="18" charset="2"/>
              </a:rPr>
              <a:t>O</a:t>
            </a:r>
            <a:r>
              <a:rPr lang="en-US" altLang="zh-CN" sz="2800" b="1"/>
              <a:t>(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))          </a:t>
            </a:r>
            <a:r>
              <a:rPr lang="en-US" altLang="zh-CN" sz="2800" b="1">
                <a:sym typeface="Symbol" panose="05050102010706020507" pitchFamily="18" charset="2"/>
              </a:rPr>
              <a:t>   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阶不超过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)= </a:t>
            </a:r>
            <a:r>
              <a:rPr lang="en-US" altLang="zh-CN" sz="2800" b="1">
                <a:sym typeface="Symbol" panose="05050102010706020507" pitchFamily="18" charset="2"/>
              </a:rPr>
              <a:t></a:t>
            </a:r>
            <a:r>
              <a:rPr lang="en-US" altLang="zh-CN" sz="2800" b="1"/>
              <a:t>(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))          </a:t>
            </a:r>
            <a:r>
              <a:rPr lang="en-US" altLang="zh-CN" sz="2800" b="1">
                <a:sym typeface="Symbol" panose="05050102010706020507" pitchFamily="18" charset="2"/>
              </a:rPr>
              <a:t>  </a:t>
            </a:r>
            <a:r>
              <a:rPr lang="en-US" altLang="zh-CN" sz="2800" b="1"/>
              <a:t>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阶以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阶为下界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)= </a:t>
            </a:r>
            <a:r>
              <a:rPr lang="en-US" altLang="zh-CN" sz="2800" b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(g(n))           </a:t>
            </a:r>
            <a:r>
              <a:rPr lang="en-US" altLang="zh-CN" sz="2800" b="1">
                <a:sym typeface="Symbol" panose="05050102010706020507" pitchFamily="18" charset="2"/>
              </a:rPr>
              <a:t>   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与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等同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)= </a:t>
            </a:r>
            <a:r>
              <a:rPr lang="en-US" altLang="zh-CN" sz="2800" b="1" i="1"/>
              <a:t>o</a:t>
            </a:r>
            <a:r>
              <a:rPr lang="en-US" altLang="zh-CN" sz="2800" b="1"/>
              <a:t>(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))           </a:t>
            </a:r>
            <a:r>
              <a:rPr lang="en-US" altLang="zh-CN" sz="2800" b="1">
                <a:sym typeface="Symbol" panose="05050102010706020507" pitchFamily="18" charset="2"/>
              </a:rPr>
              <a:t>   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阶小于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阶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E28E8AD-A8E0-4005-9AC1-CE5B3A76F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</a:rPr>
              <a:t>渐近分析记号的若干性质</a:t>
            </a:r>
            <a:r>
              <a:rPr lang="en-US" altLang="zh-CN" sz="3200" b="1" dirty="0">
                <a:solidFill>
                  <a:schemeClr val="tx1"/>
                </a:solidFill>
              </a:rPr>
              <a:t>--</a:t>
            </a:r>
            <a:r>
              <a:rPr lang="zh-CN" altLang="en-US" sz="3200" b="1" dirty="0">
                <a:solidFill>
                  <a:srgbClr val="FF0000"/>
                </a:solidFill>
              </a:rPr>
              <a:t>传递性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0248B21-E103-4C46-906B-73614CBA77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478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（</a:t>
            </a:r>
            <a:r>
              <a:rPr lang="en-US" altLang="zh-CN" sz="2400" b="1">
                <a:solidFill>
                  <a:srgbClr val="0000FF"/>
                </a:solidFill>
              </a:rPr>
              <a:t>1</a:t>
            </a:r>
            <a:r>
              <a:rPr lang="zh-CN" altLang="en-US" sz="2400" b="1">
                <a:solidFill>
                  <a:srgbClr val="0000FF"/>
                </a:solidFill>
              </a:rPr>
              <a:t>）传递性：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>
                <a:sym typeface="Symbol" panose="05050102010706020507" pitchFamily="18" charset="2"/>
              </a:rPr>
              <a:t></a:t>
            </a:r>
            <a:r>
              <a:rPr lang="en-US" altLang="zh-CN" sz="2400" b="1"/>
              <a:t>(g(n))</a:t>
            </a:r>
            <a:r>
              <a:rPr lang="zh-CN" altLang="en-US" sz="2400" b="1"/>
              <a:t>， </a:t>
            </a:r>
            <a:r>
              <a:rPr lang="en-US" altLang="zh-CN" sz="2400" b="1"/>
              <a:t>g(n)= </a:t>
            </a:r>
            <a:r>
              <a:rPr lang="en-US" altLang="zh-CN" sz="2400" b="1">
                <a:sym typeface="Symbol" panose="05050102010706020507" pitchFamily="18" charset="2"/>
              </a:rPr>
              <a:t></a:t>
            </a:r>
            <a:r>
              <a:rPr lang="en-US" altLang="zh-CN" sz="2400" b="1"/>
              <a:t>(h(n))  </a:t>
            </a:r>
            <a:r>
              <a:rPr lang="en-US" altLang="zh-CN" sz="2400" b="1">
                <a:sym typeface="Symbol" panose="05050102010706020507" pitchFamily="18" charset="2"/>
              </a:rPr>
              <a:t></a:t>
            </a:r>
            <a:r>
              <a:rPr lang="en-US" altLang="zh-CN" sz="2400" b="1"/>
              <a:t>  f(n)= </a:t>
            </a:r>
            <a:r>
              <a:rPr lang="en-US" altLang="zh-CN" sz="2400" b="1">
                <a:sym typeface="Symbol" panose="05050102010706020507" pitchFamily="18" charset="2"/>
              </a:rPr>
              <a:t></a:t>
            </a:r>
            <a:r>
              <a:rPr lang="en-US" altLang="zh-CN" sz="2400" b="1"/>
              <a:t>(h(n))</a:t>
            </a:r>
            <a:r>
              <a:rPr lang="zh-CN" altLang="en-US" sz="2400" b="1"/>
              <a:t>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>
                <a:sym typeface="Symbol" panose="05050102010706020507" pitchFamily="18" charset="2"/>
              </a:rPr>
              <a:t>O</a:t>
            </a:r>
            <a:r>
              <a:rPr lang="en-US" altLang="zh-CN" sz="2400" b="1"/>
              <a:t>(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，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>
                <a:sym typeface="Symbol" panose="05050102010706020507" pitchFamily="18" charset="2"/>
              </a:rPr>
              <a:t>O</a:t>
            </a:r>
            <a:r>
              <a:rPr lang="en-US" altLang="zh-CN" sz="2400" b="1">
                <a:sym typeface="Symbol" panose="05050102010706020507" pitchFamily="18" charset="2"/>
              </a:rPr>
              <a:t>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 </a:t>
            </a:r>
            <a:r>
              <a:rPr lang="en-US" altLang="zh-CN" sz="2400" b="1">
                <a:sym typeface="Symbol" panose="05050102010706020507" pitchFamily="18" charset="2"/>
              </a:rPr>
              <a:t></a:t>
            </a:r>
            <a:r>
              <a:rPr lang="en-US" altLang="zh-CN" sz="2400" b="1"/>
              <a:t>  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>
                <a:sym typeface="Symbol" panose="05050102010706020507" pitchFamily="18" charset="2"/>
              </a:rPr>
              <a:t>O</a:t>
            </a:r>
            <a:r>
              <a:rPr lang="en-US" altLang="zh-CN" sz="2400" b="1">
                <a:sym typeface="Symbol" panose="05050102010706020507" pitchFamily="18" charset="2"/>
              </a:rPr>
              <a:t>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>
                <a:sym typeface="Symbol" panose="05050102010706020507" pitchFamily="18" charset="2"/>
              </a:rPr>
              <a:t></a:t>
            </a:r>
            <a:r>
              <a:rPr lang="en-US" altLang="zh-CN" sz="2400" b="1"/>
              <a:t>(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，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>
                <a:sym typeface="Symbol" panose="05050102010706020507" pitchFamily="18" charset="2"/>
              </a:rPr>
              <a:t> 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 </a:t>
            </a:r>
            <a:r>
              <a:rPr lang="en-US" altLang="zh-CN" sz="2400" b="1">
                <a:sym typeface="Symbol" panose="05050102010706020507" pitchFamily="18" charset="2"/>
              </a:rPr>
              <a:t></a:t>
            </a:r>
            <a:r>
              <a:rPr lang="en-US" altLang="zh-CN" sz="2400" b="1"/>
              <a:t>  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>
                <a:sym typeface="Symbol" panose="05050102010706020507" pitchFamily="18" charset="2"/>
              </a:rPr>
              <a:t>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/>
              <a:t>o</a:t>
            </a:r>
            <a:r>
              <a:rPr lang="en-US" altLang="zh-CN" sz="2400" b="1"/>
              <a:t>(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，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/>
              <a:t>o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   </a:t>
            </a:r>
            <a:r>
              <a:rPr lang="en-US" altLang="zh-CN" sz="2400" b="1">
                <a:sym typeface="Symbol" panose="05050102010706020507" pitchFamily="18" charset="2"/>
              </a:rPr>
              <a:t></a:t>
            </a:r>
            <a:r>
              <a:rPr lang="en-US" altLang="zh-CN" sz="2400" b="1"/>
              <a:t>  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)= </a:t>
            </a:r>
            <a:r>
              <a:rPr lang="en-US" altLang="zh-CN" sz="2400" b="1" i="1"/>
              <a:t>o</a:t>
            </a:r>
            <a:r>
              <a:rPr lang="en-US" altLang="zh-CN" sz="2400" b="1"/>
              <a:t>(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n</a:t>
            </a:r>
            <a:r>
              <a:rPr lang="en-US" altLang="zh-CN" sz="2400" b="1"/>
              <a:t>))</a:t>
            </a:r>
            <a:r>
              <a:rPr lang="zh-CN" altLang="en-US" sz="2400" b="1"/>
              <a:t>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6AA75E7-88C9-4E6F-96EE-8579F292E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8001000" cy="9144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</a:rPr>
              <a:t>渐近分析记号的若干性质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en-US" altLang="zh-CN" sz="3200" b="1" dirty="0">
                <a:solidFill>
                  <a:schemeClr val="tx1"/>
                </a:solidFill>
              </a:rPr>
              <a:t>--</a:t>
            </a:r>
            <a:r>
              <a:rPr lang="zh-CN" altLang="en-US" sz="3200" b="1" dirty="0">
                <a:solidFill>
                  <a:srgbClr val="FF0000"/>
                </a:solidFill>
              </a:rPr>
              <a:t>反身性、对称性、</a:t>
            </a:r>
            <a:r>
              <a:rPr kumimoji="0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互对称性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3F71F5B-458C-4BB6-A62A-D92E8BCD4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34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）反身性：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i="1" dirty="0"/>
              <a:t>  </a:t>
            </a:r>
            <a:r>
              <a:rPr lang="en-US" altLang="zh-CN" sz="2400" i="1" kern="1200" dirty="0"/>
              <a:t>f(n)= </a:t>
            </a:r>
            <a:r>
              <a:rPr lang="en-US" altLang="zh-CN" sz="2400" kern="1200" dirty="0">
                <a:sym typeface="Symbol" panose="05050102010706020507" pitchFamily="18" charset="2"/>
              </a:rPr>
              <a:t></a:t>
            </a:r>
            <a:r>
              <a:rPr lang="en-US" altLang="zh-CN" sz="2400" i="1" kern="1200" dirty="0"/>
              <a:t>(f(n))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i="1" dirty="0"/>
              <a:t> 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dirty="0">
                <a:sym typeface="Symbol" panose="05050102010706020507" pitchFamily="18" charset="2"/>
              </a:rPr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i="1" dirty="0"/>
              <a:t> 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dirty="0">
                <a:sym typeface="Symbol" panose="05050102010706020507" pitchFamily="18" charset="2"/>
              </a:rPr>
              <a:t>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)).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）对称性：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i="1" dirty="0"/>
              <a:t>  </a:t>
            </a:r>
            <a:r>
              <a:rPr lang="en-US" altLang="zh-CN" sz="2400" i="1" dirty="0"/>
              <a:t>f(n)= </a:t>
            </a:r>
            <a:r>
              <a:rPr lang="en-US" altLang="zh-CN" sz="2400" dirty="0">
                <a:sym typeface="Symbol" panose="05050102010706020507" pitchFamily="18" charset="2"/>
              </a:rPr>
              <a:t></a:t>
            </a:r>
            <a:r>
              <a:rPr lang="en-US" altLang="zh-CN" sz="2400" i="1" dirty="0"/>
              <a:t>(g(n)) </a:t>
            </a:r>
            <a:r>
              <a:rPr lang="en-US" altLang="zh-CN" sz="2400" i="1" dirty="0">
                <a:sym typeface="Symbol" panose="05050102010706020507" pitchFamily="18" charset="2"/>
              </a:rPr>
              <a:t></a:t>
            </a:r>
            <a:r>
              <a:rPr lang="en-US" altLang="zh-CN" sz="2400" i="1" dirty="0"/>
              <a:t> g(n)= </a:t>
            </a:r>
            <a:r>
              <a:rPr lang="en-US" altLang="zh-CN" sz="2400" dirty="0">
                <a:sym typeface="Symbol" panose="05050102010706020507" pitchFamily="18" charset="2"/>
              </a:rPr>
              <a:t></a:t>
            </a:r>
            <a:r>
              <a:rPr lang="en-US" altLang="zh-CN" sz="2400" i="1" dirty="0"/>
              <a:t>(f(n)) </a:t>
            </a:r>
            <a:r>
              <a:rPr lang="en-US" altLang="zh-CN" sz="2400" i="1" dirty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9EC20675-FE7A-4D53-9088-8D6C54A2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133600"/>
            <a:ext cx="4572000" cy="131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4</a:t>
            </a:r>
            <a:r>
              <a:rPr kumimoji="0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）互对称性：</a:t>
            </a:r>
            <a:endParaRPr kumimoji="0"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f(n)= </a:t>
            </a:r>
            <a:r>
              <a:rPr lang="en-US" altLang="zh-CN" dirty="0">
                <a:latin typeface="Palatino Linotype" panose="02040502050505030304" pitchFamily="18" charset="0"/>
                <a:ea typeface="华文中宋" panose="02010600040101010101" pitchFamily="2" charset="-122"/>
              </a:rPr>
              <a:t>O</a:t>
            </a:r>
            <a:r>
              <a:rPr lang="en-US" altLang="zh-CN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(g(n)) </a:t>
            </a:r>
            <a:r>
              <a:rPr lang="en-US" altLang="zh-CN" i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</a:t>
            </a:r>
            <a:r>
              <a:rPr lang="en-US" altLang="zh-CN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g(n)= </a:t>
            </a:r>
            <a:r>
              <a:rPr lang="en-US" altLang="zh-CN" dirty="0"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 </a:t>
            </a:r>
            <a:r>
              <a:rPr lang="en-US" altLang="zh-CN" i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(f(n)) </a:t>
            </a:r>
            <a:r>
              <a:rPr kumimoji="0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中宋" panose="0201060004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2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E8A3F1D-AF47-42A0-BC3E-A19962AF5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</a:rPr>
              <a:t>渐近分析记号的若干性质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en-US" altLang="zh-CN" sz="3200" b="1" dirty="0">
                <a:solidFill>
                  <a:schemeClr val="tx1"/>
                </a:solidFill>
              </a:rPr>
              <a:t>--</a:t>
            </a:r>
            <a:r>
              <a:rPr lang="zh-CN" altLang="en-US" sz="3200" b="1" dirty="0">
                <a:solidFill>
                  <a:srgbClr val="FF0000"/>
                </a:solidFill>
              </a:rPr>
              <a:t>算术运算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F944C42-428E-43AA-9E16-C0FFFC882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</a:rPr>
              <a:t>）算术运算：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))+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(max{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(n),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)}) 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))+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(n)+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))*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(n)*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cf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(n)) </a:t>
            </a:r>
            <a:r>
              <a:rPr lang="zh-CN" altLang="en-US" sz="2400" dirty="0"/>
              <a:t>；</a:t>
            </a:r>
            <a:r>
              <a:rPr lang="en-US" altLang="zh-CN" sz="2400" dirty="0"/>
              <a:t>C</a:t>
            </a:r>
            <a:r>
              <a:rPr lang="zh-CN" altLang="en-US" sz="2400" dirty="0"/>
              <a:t>是正常数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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))+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(n)) 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3120196-1DBE-441A-B71C-6A745812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4471" y="404664"/>
            <a:ext cx="858768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规则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O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))+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O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g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)) 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O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(max{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(n),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g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)}) </a:t>
            </a:r>
            <a:r>
              <a:rPr lang="zh-CN" altLang="en-US" sz="3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的证明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69466AA-0F67-4DBB-9266-371490656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077200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Palatino Linotype" panose="02040502050505030304" pitchFamily="18" charset="0"/>
              </a:rPr>
              <a:t>对于任意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O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)) 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，存在正常数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zh-CN" altLang="en-US" sz="2000" b="1" dirty="0">
                <a:latin typeface="Palatino Linotype" panose="02040502050505030304" pitchFamily="18" charset="0"/>
              </a:rPr>
              <a:t>和自然数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，使得对所有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，有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zh-CN" altLang="en-US" sz="2000" b="1" dirty="0">
                <a:latin typeface="Palatino Linotype" panose="02040502050505030304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Palatino Linotype" panose="02040502050505030304" pitchFamily="18" charset="0"/>
              </a:rPr>
              <a:t>类似地，对于任意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O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)) 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，存在正常数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zh-CN" altLang="en-US" sz="2000" b="1" dirty="0">
                <a:latin typeface="Palatino Linotype" panose="02040502050505030304" pitchFamily="18" charset="0"/>
              </a:rPr>
              <a:t>和自然数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，使得对所有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，有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zh-CN" altLang="en-US" sz="2000" b="1" dirty="0">
                <a:latin typeface="Palatino Linotype" panose="02040502050505030304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Palatino Linotype" panose="02040502050505030304" pitchFamily="18" charset="0"/>
              </a:rPr>
              <a:t>令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dirty="0">
                <a:latin typeface="Palatino Linotype" panose="02040502050505030304" pitchFamily="18" charset="0"/>
              </a:rPr>
              <a:t>=max{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,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en-US" altLang="zh-CN" sz="2000" b="1" dirty="0">
                <a:latin typeface="Palatino Linotype" panose="02040502050505030304" pitchFamily="18" charset="0"/>
              </a:rPr>
              <a:t>}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dirty="0">
                <a:latin typeface="Palatino Linotype" panose="02040502050505030304" pitchFamily="18" charset="0"/>
              </a:rPr>
              <a:t> =max{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,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en-US" altLang="zh-CN" sz="2000" b="1" dirty="0">
                <a:latin typeface="Palatino Linotype" panose="02040502050505030304" pitchFamily="18" charset="0"/>
              </a:rPr>
              <a:t>}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h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)= max{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(n),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)} </a:t>
            </a:r>
            <a:r>
              <a:rPr lang="zh-CN" altLang="en-US" sz="2000" b="1" dirty="0">
                <a:latin typeface="Palatino Linotype" panose="02040502050505030304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latin typeface="Palatino Linotype" panose="02040502050505030304" pitchFamily="18" charset="0"/>
              </a:rPr>
              <a:t>则对所有的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zh-CN" altLang="en-US" sz="2000" b="1" dirty="0">
                <a:latin typeface="Palatino Linotype" panose="02040502050505030304" pitchFamily="18" charset="0"/>
              </a:rPr>
              <a:t>，有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+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+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2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   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+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)=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+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   </a:t>
            </a:r>
            <a:r>
              <a:rPr lang="en-US" altLang="zh-CN" sz="2000" b="1" dirty="0">
                <a:latin typeface="Palatino Linotype" panose="02040502050505030304" pitchFamily="18" charset="0"/>
              </a:rPr>
              <a:t>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dirty="0">
                <a:latin typeface="Palatino Linotype" panose="02040502050505030304" pitchFamily="18" charset="0"/>
              </a:rPr>
              <a:t>2 max{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(n),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)}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Palatino Linotype" panose="02040502050505030304" pitchFamily="18" charset="0"/>
              </a:rPr>
              <a:t>    = 2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000" b="1" baseline="-25000" dirty="0">
                <a:latin typeface="Palatino Linotype" panose="02040502050505030304" pitchFamily="18" charset="0"/>
              </a:rPr>
              <a:t>3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h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O</a:t>
            </a:r>
            <a:r>
              <a:rPr lang="en-US" altLang="zh-CN" sz="2000" b="1" dirty="0">
                <a:latin typeface="Palatino Linotype" panose="02040502050505030304" pitchFamily="18" charset="0"/>
              </a:rPr>
              <a:t>(max{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000" b="1" dirty="0">
                <a:latin typeface="Palatino Linotype" panose="02040502050505030304" pitchFamily="18" charset="0"/>
              </a:rPr>
              <a:t>(n),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g</a:t>
            </a:r>
            <a:r>
              <a:rPr lang="en-US" altLang="zh-CN" sz="2000" b="1" dirty="0">
                <a:latin typeface="Palatino Linotype" panose="02040502050505030304" pitchFamily="18" charset="0"/>
              </a:rPr>
              <a:t>(</a:t>
            </a:r>
            <a:r>
              <a:rPr lang="en-US" altLang="zh-CN" sz="20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000" b="1" dirty="0">
                <a:latin typeface="Palatino Linotype" panose="02040502050505030304" pitchFamily="18" charset="0"/>
              </a:rPr>
              <a:t>)}).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BEE32EA-9638-48BA-B53E-49F901BED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算法渐近复杂性分析中常用函数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BAEF2E6-95D4-492E-9DDD-ED85CAB03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72400" cy="190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solidFill>
                  <a:srgbClr val="3907F1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800" b="1">
                <a:solidFill>
                  <a:srgbClr val="3907F1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>
                <a:solidFill>
                  <a:srgbClr val="3907F1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）取整函数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  </a:t>
            </a:r>
            <a:r>
              <a:rPr lang="en-US" altLang="zh-CN" sz="2800" i="1">
                <a:latin typeface="Palatino Linotype" panose="0204050205050503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800">
                <a:latin typeface="Palatino Linotype" panose="02040502050505030304" pitchFamily="18" charset="0"/>
                <a:sym typeface="Symbol" panose="05050102010706020507" pitchFamily="18" charset="2"/>
              </a:rPr>
              <a:t> </a:t>
            </a: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：不大于</a:t>
            </a:r>
            <a:r>
              <a:rPr lang="en-US" altLang="zh-CN" sz="2800" i="1">
                <a:latin typeface="Palatino Linotype" panose="0204050205050503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的最大整数；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 </a:t>
            </a:r>
            <a:r>
              <a:rPr lang="zh-CN" altLang="en-US" sz="2800" i="1">
                <a:latin typeface="Palatino Linotype" panose="0204050205050503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>
                <a:latin typeface="Palatino Linotype" panose="0204050205050503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>
                <a:latin typeface="Palatino Linotype" panose="02040502050505030304" pitchFamily="18" charset="0"/>
                <a:sym typeface="Symbol" panose="05050102010706020507" pitchFamily="18" charset="2"/>
              </a:rPr>
              <a:t>  </a:t>
            </a: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：不小于</a:t>
            </a:r>
            <a:r>
              <a:rPr lang="en-US" altLang="zh-CN" sz="2800" i="1">
                <a:latin typeface="Palatino Linotype" panose="0204050205050503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>
                <a:latin typeface="Palatino Linotype" panose="02040502050505030304" pitchFamily="18" charset="0"/>
                <a:sym typeface="Symbol" panose="05050102010706020507" pitchFamily="18" charset="2"/>
              </a:rPr>
              <a:t>的最小整数。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2946B092-EE2F-4CF0-BE77-A91A178E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2986088"/>
            <a:ext cx="3398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800" b="1" dirty="0">
                <a:solidFill>
                  <a:srgbClr val="3907F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取整函数的若干性质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DF4514BA-D446-4F97-9748-88B6DD5EA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43434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AutoNum type="arabicPeriod"/>
              <a:defRPr/>
            </a:pP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-1 &lt; 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  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  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 &lt;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+1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；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AutoNum type="arabicPeriod"/>
              <a:defRPr/>
            </a:pP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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/2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 +  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/2  =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;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AutoNum type="arabicPeriod"/>
              <a:defRPr/>
            </a:pP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对于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 0</a:t>
            </a:r>
            <a:r>
              <a:rPr kumimoji="0" lang="zh-CN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，</a:t>
            </a:r>
            <a:r>
              <a:rPr kumimoji="0" lang="en-US" altLang="zh-CN" sz="20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a,b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&gt;0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，有：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      </a:t>
            </a:r>
            <a:r>
              <a:rPr kumimoji="0" lang="zh-CN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</a:t>
            </a:r>
            <a:r>
              <a:rPr kumimoji="0" lang="zh-CN" altLang="en-US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 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b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 = 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ab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 ;</a:t>
            </a:r>
            <a:endParaRPr kumimoji="0"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8A1D6E24-E51B-44B5-A234-D7642190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657600"/>
            <a:ext cx="4343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AutoNum type="arabicPeriod" startAt="4"/>
              <a:defRPr/>
            </a:pP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 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b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= 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/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ab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;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AutoNum type="arabicPeriod" startAt="4"/>
              <a:defRPr/>
            </a:pP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f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(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)= 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 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 , 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g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(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)= </a:t>
            </a:r>
            <a:r>
              <a:rPr kumimoji="0"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x</a:t>
            </a:r>
            <a:r>
              <a: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 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为</a:t>
            </a:r>
            <a:r>
              <a: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单调递增函数。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  <p:bldP spid="34820" grpId="0" autoUpdateAnimBg="0"/>
      <p:bldP spid="34821" grpId="0" autoUpdateAnimBg="0"/>
      <p:bldP spid="3482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9971628-052C-4F7A-9CF9-0F7E0087A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b="1">
                <a:solidFill>
                  <a:srgbClr val="3907F1"/>
                </a:solidFill>
                <a:sym typeface="Symbol" panose="05050102010706020507" pitchFamily="18" charset="2"/>
              </a:rPr>
              <a:t>多项式函数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8A3B3A9-82C4-4FCC-BD86-1D4493E3B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dirty="0">
                <a:latin typeface="Palatino Linotype" panose="02040502050505030304" pitchFamily="18" charset="0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p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)=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a</a:t>
            </a:r>
            <a:r>
              <a:rPr lang="en-US" altLang="zh-CN" sz="2800" b="1" baseline="-25000" dirty="0">
                <a:latin typeface="Palatino Linotype" panose="02040502050505030304" pitchFamily="18" charset="0"/>
              </a:rPr>
              <a:t>0</a:t>
            </a:r>
            <a:r>
              <a:rPr lang="en-US" altLang="zh-CN" sz="2800" b="1" dirty="0">
                <a:latin typeface="Palatino Linotype" panose="02040502050505030304" pitchFamily="18" charset="0"/>
              </a:rPr>
              <a:t>+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a</a:t>
            </a:r>
            <a:r>
              <a:rPr lang="en-US" altLang="zh-CN" sz="2800" b="1" baseline="-25000" dirty="0">
                <a:latin typeface="Palatino Linotype" panose="02040502050505030304" pitchFamily="18" charset="0"/>
              </a:rPr>
              <a:t>1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+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a</a:t>
            </a:r>
            <a:r>
              <a:rPr lang="en-US" altLang="zh-CN" sz="2800" b="1" baseline="-25000" dirty="0">
                <a:latin typeface="Palatino Linotype" panose="02040502050505030304" pitchFamily="18" charset="0"/>
              </a:rPr>
              <a:t>2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baseline="30000" dirty="0">
                <a:latin typeface="Palatino Linotype" panose="02040502050505030304" pitchFamily="18" charset="0"/>
              </a:rPr>
              <a:t>2</a:t>
            </a:r>
            <a:r>
              <a:rPr lang="en-US" altLang="zh-CN" sz="2800" b="1" dirty="0">
                <a:latin typeface="Palatino Linotype" panose="02040502050505030304" pitchFamily="18" charset="0"/>
              </a:rPr>
              <a:t>+…+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a</a:t>
            </a:r>
            <a:r>
              <a:rPr lang="en-US" altLang="zh-CN" sz="2800" b="1" baseline="-25000" dirty="0" err="1">
                <a:latin typeface="Palatino Linotype" panose="02040502050505030304" pitchFamily="18" charset="0"/>
              </a:rPr>
              <a:t>d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n</a:t>
            </a:r>
            <a:r>
              <a:rPr lang="en-US" altLang="zh-CN" sz="2800" b="1" baseline="30000" dirty="0" err="1">
                <a:latin typeface="Palatino Linotype" panose="02040502050505030304" pitchFamily="18" charset="0"/>
              </a:rPr>
              <a:t>d</a:t>
            </a:r>
            <a:r>
              <a:rPr lang="zh-CN" altLang="en-US" sz="2800" b="1" dirty="0">
                <a:latin typeface="Palatino Linotype" panose="02040502050505030304" pitchFamily="18" charset="0"/>
              </a:rPr>
              <a:t>；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a</a:t>
            </a:r>
            <a:r>
              <a:rPr lang="en-US" altLang="zh-CN" sz="2800" b="1" baseline="-25000" dirty="0">
                <a:latin typeface="Palatino Linotype" panose="02040502050505030304" pitchFamily="18" charset="0"/>
              </a:rPr>
              <a:t>d </a:t>
            </a:r>
            <a:r>
              <a:rPr lang="en-US" altLang="zh-CN" sz="2800" b="1" dirty="0">
                <a:latin typeface="Palatino Linotype" panose="02040502050505030304" pitchFamily="18" charset="0"/>
              </a:rPr>
              <a:t>&gt;0;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Palatino Linotype" panose="02040502050505030304" pitchFamily="18" charset="0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p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n</a:t>
            </a:r>
            <a:r>
              <a:rPr lang="en-US" altLang="zh-CN" sz="2800" b="1" i="1" baseline="30000" dirty="0" err="1">
                <a:latin typeface="Palatino Linotype" panose="02040502050505030304" pitchFamily="18" charset="0"/>
              </a:rPr>
              <a:t>d</a:t>
            </a:r>
            <a:r>
              <a:rPr lang="en-US" altLang="zh-CN" sz="2800" b="1" dirty="0">
                <a:latin typeface="Palatino Linotype" panose="02040502050505030304" pitchFamily="18" charset="0"/>
              </a:rPr>
              <a:t>);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Palatino Linotype" panose="02040502050505030304" pitchFamily="18" charset="0"/>
              </a:rPr>
              <a:t> f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O</a:t>
            </a:r>
            <a:r>
              <a:rPr lang="en-US" altLang="zh-CN" sz="2800" b="1" dirty="0">
                <a:latin typeface="Palatino Linotype" panose="02040502050505030304" pitchFamily="18" charset="0"/>
              </a:rPr>
              <a:t>(1)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latin typeface="Palatino Linotype" panose="02040502050505030304" pitchFamily="18" charset="0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f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latin typeface="Palatino Linotype" panose="02040502050505030304" pitchFamily="18" charset="0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c</a:t>
            </a:r>
            <a:r>
              <a:rPr lang="en-US" altLang="zh-CN" sz="2800" b="1" dirty="0">
                <a:latin typeface="Palatino Linotype" panose="02040502050505030304" pitchFamily="18" charset="0"/>
              </a:rPr>
              <a:t>;</a:t>
            </a:r>
            <a:endParaRPr lang="en-US" altLang="zh-CN" sz="2800" b="1" dirty="0">
              <a:latin typeface="Palatino Linotype" panose="0204050205050503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 p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n</a:t>
            </a:r>
            <a:r>
              <a:rPr lang="en-US" altLang="zh-CN" sz="2800" b="1" i="1" baseline="30000" dirty="0" err="1">
                <a:latin typeface="Palatino Linotype" panose="02040502050505030304" pitchFamily="18" charset="0"/>
              </a:rPr>
              <a:t>k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 p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n</a:t>
            </a:r>
            <a:r>
              <a:rPr lang="en-US" altLang="zh-CN" sz="2800" b="1" i="1" baseline="30000" dirty="0" err="1">
                <a:latin typeface="Palatino Linotype" panose="02040502050505030304" pitchFamily="18" charset="0"/>
              </a:rPr>
              <a:t>k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k &gt;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latin typeface="Palatino Linotype" panose="0204050205050503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 p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>
                <a:latin typeface="Palatino Linotype" panose="02040502050505030304" pitchFamily="18" charset="0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= </a:t>
            </a:r>
            <a:r>
              <a:rPr lang="en-US" altLang="zh-CN" sz="2800" b="1" i="1" dirty="0">
                <a:latin typeface="Palatino Linotype" panose="0204050205050503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800" b="1" dirty="0">
                <a:latin typeface="Palatino Linotype" panose="02040502050505030304" pitchFamily="18" charset="0"/>
              </a:rPr>
              <a:t>(</a:t>
            </a:r>
            <a:r>
              <a:rPr lang="en-US" altLang="zh-CN" sz="2800" b="1" i="1" dirty="0" err="1">
                <a:latin typeface="Palatino Linotype" panose="02040502050505030304" pitchFamily="18" charset="0"/>
              </a:rPr>
              <a:t>n</a:t>
            </a:r>
            <a:r>
              <a:rPr lang="en-US" altLang="zh-CN" sz="2800" b="1" i="1" baseline="30000" dirty="0" err="1">
                <a:latin typeface="Palatino Linotype" panose="02040502050505030304" pitchFamily="18" charset="0"/>
              </a:rPr>
              <a:t>k</a:t>
            </a:r>
            <a:r>
              <a:rPr lang="en-US" altLang="zh-CN" sz="2800" b="1" dirty="0">
                <a:latin typeface="Palatino Linotype" panose="02040502050505030304" pitchFamily="18" charset="0"/>
              </a:rPr>
              <a:t>) 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62FDCF0-D103-4E06-9A87-51DFFB9BF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4000" b="1" dirty="0">
                <a:solidFill>
                  <a:srgbClr val="3907F1"/>
                </a:solidFill>
                <a:sym typeface="Symbol" panose="05050102010706020507" pitchFamily="18" charset="2"/>
              </a:rPr>
              <a:t>指数函数、</a:t>
            </a:r>
            <a:r>
              <a:rPr lang="zh-CN" altLang="en-US" sz="3600" b="1" dirty="0">
                <a:solidFill>
                  <a:srgbClr val="3907F1"/>
                </a:solidFill>
                <a:sym typeface="Symbol" panose="05050102010706020507" pitchFamily="18" charset="2"/>
              </a:rPr>
              <a:t>对数函数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161F262-B356-4E74-AD71-45FAB240B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i="1" dirty="0"/>
              <a:t>  a</a:t>
            </a:r>
            <a:r>
              <a:rPr lang="en-US" altLang="zh-CN" sz="2800" dirty="0"/>
              <a:t>&gt;1 </a:t>
            </a:r>
            <a:r>
              <a:rPr lang="en-US" altLang="zh-CN" sz="2800" dirty="0">
                <a:sym typeface="Symbol" panose="05050102010706020507" pitchFamily="18" charset="2"/>
              </a:rPr>
              <a:t>                      </a:t>
            </a:r>
            <a:r>
              <a:rPr lang="en-US" altLang="zh-CN" sz="2800" i="1" dirty="0" err="1">
                <a:sym typeface="Symbol" panose="05050102010706020507" pitchFamily="18" charset="2"/>
              </a:rPr>
              <a:t>n</a:t>
            </a:r>
            <a:r>
              <a:rPr lang="en-US" altLang="zh-CN" sz="2800" i="1" baseline="30000" dirty="0" err="1"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 = </a:t>
            </a:r>
            <a:r>
              <a:rPr lang="en-US" altLang="zh-CN" sz="2800" i="1" dirty="0">
                <a:sym typeface="Symbol" panose="05050102010706020507" pitchFamily="18" charset="2"/>
              </a:rPr>
              <a:t>o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a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78322307-9D22-4397-8360-BB8662CB8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301015"/>
              </p:ext>
            </p:extLst>
          </p:nvPr>
        </p:nvGraphicFramePr>
        <p:xfrm>
          <a:off x="2286000" y="1922374"/>
          <a:ext cx="12239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8500" imgH="419100" progId="Equation.3">
                  <p:embed/>
                </p:oleObj>
              </mc:Choice>
              <mc:Fallback>
                <p:oleObj name="公式" r:id="rId2" imgW="698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922374"/>
                        <a:ext cx="1223963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>
            <a:extLst>
              <a:ext uri="{FF2B5EF4-FFF2-40B4-BE49-F238E27FC236}">
                <a16:creationId xmlns:a16="http://schemas.microsoft.com/office/drawing/2014/main" id="{63016CB9-350D-4A79-AA84-9C566201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43200"/>
            <a:ext cx="7467600" cy="587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记号：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log 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= log</a:t>
            </a:r>
            <a:r>
              <a:rPr kumimoji="0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2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;  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lg 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= log</a:t>
            </a:r>
            <a:r>
              <a:rPr kumimoji="0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10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;  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ln </a:t>
            </a:r>
            <a:r>
              <a:rPr kumimoji="0" lang="en-US" altLang="zh-CN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=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log</a:t>
            </a:r>
            <a:r>
              <a:rPr kumimoji="0" lang="en-US" altLang="zh-CN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e</a:t>
            </a:r>
            <a:r>
              <a:rPr kumimoji="0" lang="en-US" altLang="zh-CN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;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B54B7EA1-2856-466D-9FFC-C48420B73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64" y="3723865"/>
            <a:ext cx="12202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zh-CN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|x| 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1 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91" name="Object 7">
                <a:extLst>
                  <a:ext uri="{FF2B5EF4-FFF2-40B4-BE49-F238E27FC236}">
                    <a16:creationId xmlns:a16="http://schemas.microsoft.com/office/drawing/2014/main" id="{0009D41D-C796-4BB6-B82B-4E9645A72707}"/>
                  </a:ext>
                </a:extLst>
              </p:cNvPr>
              <p:cNvSpPr txBox="1"/>
              <p:nvPr/>
            </p:nvSpPr>
            <p:spPr bwMode="auto">
              <a:xfrm>
                <a:off x="2286000" y="3548983"/>
                <a:ext cx="4586064" cy="744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1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−⋯.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41991" name="Object 7">
                <a:extLst>
                  <a:ext uri="{FF2B5EF4-FFF2-40B4-BE49-F238E27FC236}">
                    <a16:creationId xmlns:a16="http://schemas.microsoft.com/office/drawing/2014/main" id="{0009D41D-C796-4BB6-B82B-4E9645A7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3548983"/>
                <a:ext cx="4586064" cy="744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2" name="Rectangle 8">
            <a:extLst>
              <a:ext uri="{FF2B5EF4-FFF2-40B4-BE49-F238E27FC236}">
                <a16:creationId xmlns:a16="http://schemas.microsoft.com/office/drawing/2014/main" id="{25E3FC98-ABA4-402F-9A55-241FCE9D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4419600"/>
            <a:ext cx="12588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for x &gt; -1,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93" name="Object 9">
                <a:extLst>
                  <a:ext uri="{FF2B5EF4-FFF2-40B4-BE49-F238E27FC236}">
                    <a16:creationId xmlns:a16="http://schemas.microsoft.com/office/drawing/2014/main" id="{69885370-EF71-420E-B271-FBDC9B347CD3}"/>
                  </a:ext>
                </a:extLst>
              </p:cNvPr>
              <p:cNvSpPr txBox="1"/>
              <p:nvPr/>
            </p:nvSpPr>
            <p:spPr bwMode="auto">
              <a:xfrm>
                <a:off x="2483768" y="4320732"/>
                <a:ext cx="2853680" cy="719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1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41993" name="Object 9">
                <a:extLst>
                  <a:ext uri="{FF2B5EF4-FFF2-40B4-BE49-F238E27FC236}">
                    <a16:creationId xmlns:a16="http://schemas.microsoft.com/office/drawing/2014/main" id="{69885370-EF71-420E-B271-FBDC9B347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4320732"/>
                <a:ext cx="2853680" cy="7191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4" name="Rectangle 10">
            <a:extLst>
              <a:ext uri="{FF2B5EF4-FFF2-40B4-BE49-F238E27FC236}">
                <a16:creationId xmlns:a16="http://schemas.microsoft.com/office/drawing/2014/main" id="{04F67635-1E88-4CD1-8FDB-0091A43EE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538" y="5257800"/>
            <a:ext cx="68500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对任何 </a:t>
            </a:r>
            <a:r>
              <a:rPr kumimoji="0" lang="en-US" altLang="zh-CN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 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&gt; 0,                                    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log</a:t>
            </a:r>
            <a:r>
              <a:rPr kumimoji="0" lang="en-US" altLang="zh-CN" sz="2000" i="1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b</a:t>
            </a:r>
            <a:r>
              <a:rPr kumimoji="0" lang="en-US" altLang="zh-CN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= </a:t>
            </a:r>
            <a:r>
              <a:rPr kumimoji="0" lang="en-US" altLang="zh-CN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o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(</a:t>
            </a:r>
            <a:r>
              <a:rPr kumimoji="0" lang="en-US" altLang="zh-CN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n</a:t>
            </a:r>
            <a:r>
              <a:rPr kumimoji="0" lang="en-US" altLang="zh-CN" sz="2000" i="1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a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  <a:sym typeface="Symbol" pitchFamily="18" charset="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95" name="Object 11">
                <a:extLst>
                  <a:ext uri="{FF2B5EF4-FFF2-40B4-BE49-F238E27FC236}">
                    <a16:creationId xmlns:a16="http://schemas.microsoft.com/office/drawing/2014/main" id="{4DBFCB2C-3EE4-4AF0-8A4B-1C3738C5579A}"/>
                  </a:ext>
                </a:extLst>
              </p:cNvPr>
              <p:cNvSpPr txBox="1"/>
              <p:nvPr/>
            </p:nvSpPr>
            <p:spPr bwMode="auto">
              <a:xfrm>
                <a:off x="2747169" y="5157192"/>
                <a:ext cx="1824831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p>
                                      <m:r>
                                        <a:rPr lang="zh-CN" alt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8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41995" name="Object 11">
                <a:extLst>
                  <a:ext uri="{FF2B5EF4-FFF2-40B4-BE49-F238E27FC236}">
                    <a16:creationId xmlns:a16="http://schemas.microsoft.com/office/drawing/2014/main" id="{4DBFCB2C-3EE4-4AF0-8A4B-1C3738C5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7169" y="5157192"/>
                <a:ext cx="1824831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7B11564-A7AE-4AA8-848E-1F24F08EF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>
                <a:solidFill>
                  <a:srgbClr val="3907F1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阶乘函数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F363EB6-D93A-43DE-A79A-61670EF6E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624" y="3429000"/>
            <a:ext cx="61722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dirty="0">
                <a:latin typeface="Palatino Linotype" panose="02040502050505030304" pitchFamily="18" charset="0"/>
                <a:sym typeface="Symbol" panose="05050102010706020507" pitchFamily="18" charset="2"/>
              </a:rPr>
              <a:t>Stirling</a:t>
            </a:r>
            <a:r>
              <a:rPr lang="zh-CN" altLang="en-US" sz="2800" dirty="0">
                <a:latin typeface="Palatino Linotype" panose="02040502050505030304" pitchFamily="18" charset="0"/>
                <a:sym typeface="Symbol" panose="05050102010706020507" pitchFamily="18" charset="2"/>
              </a:rPr>
              <a:t>公式</a:t>
            </a:r>
          </a:p>
        </p:txBody>
      </p:sp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BA209961-3509-4B4E-9EC1-2EC056949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241133"/>
              </p:ext>
            </p:extLst>
          </p:nvPr>
        </p:nvGraphicFramePr>
        <p:xfrm>
          <a:off x="3193593" y="1483193"/>
          <a:ext cx="266382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82700" imgH="457200" progId="Equation.3">
                  <p:embed/>
                </p:oleObj>
              </mc:Choice>
              <mc:Fallback>
                <p:oleObj name="公式" r:id="rId2" imgW="12827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593" y="1483193"/>
                        <a:ext cx="266382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C19563FA-06A9-4B7C-85C5-A0D2196CF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524592"/>
              </p:ext>
            </p:extLst>
          </p:nvPr>
        </p:nvGraphicFramePr>
        <p:xfrm>
          <a:off x="3563888" y="2805641"/>
          <a:ext cx="20383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88614" imgH="177723" progId="Equation.3">
                  <p:embed/>
                </p:oleObj>
              </mc:Choice>
              <mc:Fallback>
                <p:oleObj name="公式" r:id="rId4" imgW="888614" imgH="1777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805641"/>
                        <a:ext cx="20383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ACA1701E-BAF4-4C89-825B-E05953C5F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72050"/>
              </p:ext>
            </p:extLst>
          </p:nvPr>
        </p:nvGraphicFramePr>
        <p:xfrm>
          <a:off x="2339752" y="4354247"/>
          <a:ext cx="374491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63700" imgH="482600" progId="Equation.3">
                  <p:embed/>
                </p:oleObj>
              </mc:Choice>
              <mc:Fallback>
                <p:oleObj name="公式" r:id="rId6" imgW="16637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354247"/>
                        <a:ext cx="3744913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7E823F0-541F-47AA-9AE3-481AB14D1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</a:rPr>
              <a:t>算法分析的基本法则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4CC15C8-D028-461D-A7A7-DB63A0F49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b="1">
                <a:solidFill>
                  <a:srgbClr val="3907F1"/>
                </a:solidFill>
              </a:rPr>
              <a:t>非递归算法：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644858D4-1D0C-497A-ACE1-957CB4B0E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09800"/>
            <a:ext cx="6477000" cy="1109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（</a:t>
            </a:r>
            <a:r>
              <a:rPr kumimoji="0" lang="en-US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）</a:t>
            </a:r>
            <a:r>
              <a:rPr kumimoji="0" lang="en-US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for / while </a:t>
            </a: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循环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循环体内计算时间*循环次数；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DD1ABA5B-0E8D-4319-8DAB-BDAB6F7E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36925"/>
            <a:ext cx="5105400" cy="1109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sz="2000" b="1" dirty="0">
                <a:latin typeface="Arial" charset="0"/>
                <a:ea typeface="华文中宋" panose="02010600040101010101" pitchFamily="2" charset="-122"/>
              </a:rPr>
              <a:t>2</a:t>
            </a: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）嵌套循环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循环体内计算时间*所有循环次数；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C3E0D814-C8BD-48DA-BC8C-959BB6B6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0"/>
            <a:ext cx="4572000" cy="1109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（</a:t>
            </a:r>
            <a:r>
              <a:rPr kumimoji="0" lang="en-US" altLang="zh-CN" sz="2000" b="1" dirty="0">
                <a:latin typeface="Arial" charset="0"/>
                <a:ea typeface="华文中宋" panose="02010600040101010101" pitchFamily="2" charset="-122"/>
              </a:rPr>
              <a:t>3</a:t>
            </a: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）顺序语句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各语句计算时间相加；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9DBD9383-EE6C-4E5A-926A-7E6C86988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09800"/>
            <a:ext cx="35814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（</a:t>
            </a:r>
            <a:r>
              <a:rPr kumimoji="0" lang="en-US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）</a:t>
            </a:r>
            <a:r>
              <a:rPr kumimoji="0" lang="en-US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if-else</a:t>
            </a:r>
            <a:r>
              <a:rPr kumimoji="0" lang="zh-CN" altLang="en-US" sz="20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语句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zh-CN" sz="2000" b="1" dirty="0">
                <a:latin typeface="Arial" charset="0"/>
                <a:ea typeface="华文中宋" panose="02010600040101010101" pitchFamily="2" charset="-122"/>
              </a:rPr>
              <a:t>if</a:t>
            </a: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语句计算时间和</a:t>
            </a:r>
            <a:r>
              <a:rPr kumimoji="0" lang="en-US" altLang="zh-CN" sz="2000" b="1" dirty="0">
                <a:latin typeface="Arial" charset="0"/>
                <a:ea typeface="华文中宋" panose="02010600040101010101" pitchFamily="2" charset="-122"/>
              </a:rPr>
              <a:t>else</a:t>
            </a:r>
            <a:r>
              <a:rPr kumimoji="0" lang="zh-CN" altLang="en-US" sz="2000" b="1" dirty="0">
                <a:latin typeface="Arial" charset="0"/>
                <a:ea typeface="华文中宋" panose="02010600040101010101" pitchFamily="2" charset="-122"/>
              </a:rPr>
              <a:t>语句计算时间的较大者。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DCCBA0C-245E-468A-B7CA-CEB4C67D0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求幂</a:t>
            </a:r>
            <a:r>
              <a:rPr lang="en-US" altLang="zh-CN" dirty="0">
                <a:latin typeface="华文中宋" panose="02010600040101010101" pitchFamily="2" charset="-122"/>
              </a:rPr>
              <a:t>--</a:t>
            </a:r>
            <a:r>
              <a:rPr lang="zh-CN" altLang="en-US" b="1" dirty="0">
                <a:latin typeface="华文中宋" panose="02010600040101010101" pitchFamily="2" charset="-122"/>
              </a:rPr>
              <a:t>传统方法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78FD585-E1E6-4C12-8013-7762DABC3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96975"/>
            <a:ext cx="8229600" cy="478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   b</a:t>
            </a:r>
            <a:r>
              <a:rPr lang="en-US" altLang="zh-CN" sz="2800" baseline="30000" dirty="0">
                <a:latin typeface="Input" panose="02000506020000090004" pitchFamily="2" charset="0"/>
              </a:rPr>
              <a:t>n</a:t>
            </a:r>
            <a:r>
              <a:rPr lang="en-US" altLang="zh-CN" sz="2800" dirty="0">
                <a:latin typeface="Input" panose="02000506020000090004" pitchFamily="2" charset="0"/>
              </a:rPr>
              <a:t> = b*b</a:t>
            </a:r>
            <a:r>
              <a:rPr lang="en-US" altLang="zh-CN" sz="2800" baseline="30000" dirty="0">
                <a:latin typeface="Input" panose="02000506020000090004" pitchFamily="2" charset="0"/>
              </a:rPr>
              <a:t>n-1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   b</a:t>
            </a:r>
            <a:r>
              <a:rPr lang="en-US" altLang="zh-CN" sz="2800" baseline="30000" dirty="0">
                <a:latin typeface="Input" panose="02000506020000090004" pitchFamily="2" charset="0"/>
              </a:rPr>
              <a:t>0</a:t>
            </a:r>
            <a:r>
              <a:rPr lang="en-US" altLang="zh-CN" sz="2800" dirty="0">
                <a:latin typeface="Input" panose="02000506020000090004" pitchFamily="2" charset="0"/>
              </a:rPr>
              <a:t> = 1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chemeClr val="accent1"/>
                </a:solidFill>
                <a:latin typeface="Input" panose="02000506020000090004" pitchFamily="2" charset="0"/>
              </a:rPr>
              <a:t>pow</a:t>
            </a:r>
            <a:r>
              <a:rPr lang="en-US" altLang="zh-CN" sz="2800" dirty="0">
                <a:latin typeface="Input" panose="02000506020000090004" pitchFamily="2" charset="0"/>
              </a:rPr>
              <a:t>(</a:t>
            </a:r>
            <a:r>
              <a:rPr lang="en-US" altLang="zh-CN" sz="2800" dirty="0" err="1">
                <a:latin typeface="Input" panose="02000506020000090004" pitchFamily="2" charset="0"/>
              </a:rPr>
              <a:t>b,n</a:t>
            </a:r>
            <a:r>
              <a:rPr lang="en-US" altLang="zh-CN" sz="2800" dirty="0">
                <a:latin typeface="Input" panose="02000506020000090004" pitchFamily="2" charset="0"/>
              </a:rPr>
              <a:t>){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if(n==0) return 1;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return b*pow(b,n-1);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zh-CN" sz="2800" dirty="0">
              <a:latin typeface="Input" panose="02000506020000090004" pitchFamily="2" charset="0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Palatino Linotype" panose="02040502050505030304" pitchFamily="18" charset="0"/>
              </a:rPr>
              <a:t>时间和空间增长</a:t>
            </a:r>
            <a:r>
              <a:rPr lang="zh-CN" altLang="en-US" dirty="0">
                <a:latin typeface="Palatino Linotype" panose="02040502050505030304" pitchFamily="18" charset="0"/>
                <a:sym typeface="Symbol" panose="05050102010706020507" pitchFamily="18" charset="2"/>
              </a:rPr>
              <a:t></a:t>
            </a:r>
            <a:r>
              <a:rPr lang="en-US" altLang="zh-CN" dirty="0">
                <a:latin typeface="Palatino Linotype" panose="02040502050505030304" pitchFamily="18" charset="0"/>
                <a:sym typeface="Symbol" panose="05050102010706020507" pitchFamily="18" charset="2"/>
              </a:rPr>
              <a:t>(n)</a:t>
            </a:r>
            <a:endParaRPr lang="en-US" altLang="zh-CN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CA58E0E-2595-4D4C-88D1-72BD12894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求幂</a:t>
            </a:r>
            <a:r>
              <a:rPr lang="en-US" altLang="zh-CN" dirty="0">
                <a:latin typeface="华文中宋" panose="02010600040101010101" pitchFamily="2" charset="-122"/>
              </a:rPr>
              <a:t>--</a:t>
            </a:r>
            <a:r>
              <a:rPr lang="zh-CN" altLang="en-US" dirty="0">
                <a:latin typeface="华文中宋" panose="02010600040101010101" pitchFamily="2" charset="-122"/>
              </a:rPr>
              <a:t>二分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7BB2353-95CA-43F0-8433-52B81E17B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8680" y="1268760"/>
            <a:ext cx="8795320" cy="5832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Palatino Linotype" panose="02040502050505030304" pitchFamily="18" charset="0"/>
              </a:rPr>
              <a:t>  b</a:t>
            </a:r>
            <a:r>
              <a:rPr lang="en-US" altLang="zh-CN" b="1" baseline="30000" dirty="0">
                <a:latin typeface="Palatino Linotype" panose="02040502050505030304" pitchFamily="18" charset="0"/>
              </a:rPr>
              <a:t>n</a:t>
            </a:r>
            <a:r>
              <a:rPr lang="en-US" altLang="zh-CN" b="1" dirty="0">
                <a:latin typeface="Palatino Linotype" panose="02040502050505030304" pitchFamily="18" charset="0"/>
              </a:rPr>
              <a:t> = (b</a:t>
            </a:r>
            <a:r>
              <a:rPr lang="en-US" altLang="zh-CN" b="1" baseline="30000" dirty="0">
                <a:latin typeface="Palatino Linotype" panose="02040502050505030304" pitchFamily="18" charset="0"/>
              </a:rPr>
              <a:t>n/2</a:t>
            </a:r>
            <a:r>
              <a:rPr lang="en-US" altLang="zh-CN" b="1" dirty="0">
                <a:latin typeface="Palatino Linotype" panose="02040502050505030304" pitchFamily="18" charset="0"/>
              </a:rPr>
              <a:t>)</a:t>
            </a:r>
            <a:r>
              <a:rPr lang="en-US" altLang="zh-CN" b="1" baseline="30000" dirty="0">
                <a:latin typeface="Palatino Linotype" panose="02040502050505030304" pitchFamily="18" charset="0"/>
              </a:rPr>
              <a:t>2</a:t>
            </a:r>
            <a:r>
              <a:rPr lang="en-US" altLang="zh-CN" dirty="0">
                <a:latin typeface="Palatino Linotype" panose="02040502050505030304" pitchFamily="18" charset="0"/>
              </a:rPr>
              <a:t>   n</a:t>
            </a:r>
            <a:r>
              <a:rPr lang="zh-CN" altLang="en-US" dirty="0">
                <a:latin typeface="Palatino Linotype" panose="02040502050505030304" pitchFamily="18" charset="0"/>
              </a:rPr>
              <a:t>是偶数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Palatino Linotype" panose="02040502050505030304" pitchFamily="18" charset="0"/>
              </a:rPr>
              <a:t>  </a:t>
            </a:r>
            <a:r>
              <a:rPr lang="en-US" altLang="zh-CN" b="1" dirty="0">
                <a:latin typeface="Palatino Linotype" panose="02040502050505030304" pitchFamily="18" charset="0"/>
              </a:rPr>
              <a:t>b</a:t>
            </a:r>
            <a:r>
              <a:rPr lang="en-US" altLang="zh-CN" b="1" baseline="30000" dirty="0">
                <a:latin typeface="Palatino Linotype" panose="02040502050505030304" pitchFamily="18" charset="0"/>
              </a:rPr>
              <a:t>n</a:t>
            </a:r>
            <a:r>
              <a:rPr lang="en-US" altLang="zh-CN" b="1" dirty="0">
                <a:latin typeface="Palatino Linotype" panose="02040502050505030304" pitchFamily="18" charset="0"/>
              </a:rPr>
              <a:t> = b*b</a:t>
            </a:r>
            <a:r>
              <a:rPr lang="en-US" altLang="zh-CN" b="1" baseline="30000" dirty="0">
                <a:latin typeface="Palatino Linotype" panose="02040502050505030304" pitchFamily="18" charset="0"/>
              </a:rPr>
              <a:t>n-1</a:t>
            </a:r>
            <a:r>
              <a:rPr lang="en-US" altLang="zh-CN" baseline="30000" dirty="0">
                <a:latin typeface="Palatino Linotype" panose="02040502050505030304" pitchFamily="18" charset="0"/>
              </a:rPr>
              <a:t>     </a:t>
            </a:r>
            <a:r>
              <a:rPr lang="en-US" altLang="zh-CN" dirty="0">
                <a:latin typeface="Palatino Linotype" panose="02040502050505030304" pitchFamily="18" charset="0"/>
              </a:rPr>
              <a:t>n</a:t>
            </a:r>
            <a:r>
              <a:rPr lang="zh-CN" altLang="en-US" dirty="0">
                <a:latin typeface="Palatino Linotype" panose="02040502050505030304" pitchFamily="18" charset="0"/>
              </a:rPr>
              <a:t>是奇数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 err="1">
                <a:latin typeface="Input" panose="02000506020000090004" pitchFamily="2" charset="0"/>
              </a:rPr>
              <a:t>fast_pow</a:t>
            </a:r>
            <a:r>
              <a:rPr lang="en-US" altLang="zh-CN" sz="2800" dirty="0">
                <a:latin typeface="Input" panose="02000506020000090004" pitchFamily="2" charset="0"/>
              </a:rPr>
              <a:t>(</a:t>
            </a:r>
            <a:r>
              <a:rPr lang="en-US" altLang="zh-CN" sz="2800" dirty="0" err="1">
                <a:latin typeface="Input" panose="02000506020000090004" pitchFamily="2" charset="0"/>
              </a:rPr>
              <a:t>b,n</a:t>
            </a:r>
            <a:r>
              <a:rPr lang="en-US" altLang="zh-CN" sz="2800" dirty="0">
                <a:latin typeface="Input" panose="02000506020000090004" pitchFamily="2" charset="0"/>
              </a:rPr>
              <a:t>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  if(n==0) return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  if(n%2==0) square(</a:t>
            </a:r>
            <a:r>
              <a:rPr lang="en-US" altLang="zh-CN" sz="2800" dirty="0" err="1">
                <a:latin typeface="Input" panose="02000506020000090004" pitchFamily="2" charset="0"/>
              </a:rPr>
              <a:t>fast_pow</a:t>
            </a:r>
            <a:r>
              <a:rPr lang="en-US" altLang="zh-CN" sz="2800" dirty="0">
                <a:latin typeface="Input" panose="02000506020000090004" pitchFamily="2" charset="0"/>
              </a:rPr>
              <a:t>(</a:t>
            </a:r>
            <a:r>
              <a:rPr lang="en-US" altLang="zh-CN" sz="2800" dirty="0" err="1">
                <a:latin typeface="Input" panose="02000506020000090004" pitchFamily="2" charset="0"/>
              </a:rPr>
              <a:t>b,n</a:t>
            </a:r>
            <a:r>
              <a:rPr lang="en-US" altLang="zh-CN" sz="2800" dirty="0">
                <a:latin typeface="Input" panose="02000506020000090004" pitchFamily="2" charset="0"/>
              </a:rPr>
              <a:t>/2));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    else b*</a:t>
            </a:r>
            <a:r>
              <a:rPr lang="en-US" altLang="zh-CN" sz="2800" dirty="0" err="1">
                <a:latin typeface="Input" panose="02000506020000090004" pitchFamily="2" charset="0"/>
              </a:rPr>
              <a:t>fast_pow</a:t>
            </a:r>
            <a:r>
              <a:rPr lang="en-US" altLang="zh-CN" sz="2800" dirty="0">
                <a:latin typeface="Input" panose="02000506020000090004" pitchFamily="2" charset="0"/>
              </a:rPr>
              <a:t>(b,n-1);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Input" panose="02000506020000090004" pitchFamily="2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Palatino Linotype" panose="02040502050505030304" pitchFamily="18" charset="0"/>
              </a:rPr>
              <a:t>时空增长的阶为 </a:t>
            </a:r>
            <a:r>
              <a:rPr lang="zh-CN" altLang="en-US" dirty="0">
                <a:latin typeface="Palatino Linotype" panose="02040502050505030304" pitchFamily="18" charset="0"/>
                <a:sym typeface="Symbol" panose="05050102010706020507" pitchFamily="18" charset="2"/>
              </a:rPr>
              <a:t></a:t>
            </a:r>
            <a:r>
              <a:rPr lang="zh-CN" altLang="en-US" b="1" dirty="0">
                <a:latin typeface="Palatino Linotype" panose="02040502050505030304" pitchFamily="18" charset="0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</a:rPr>
              <a:t>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bkgd">
  <a:themeElements>
    <a:clrScheme name="cloudbkg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oudbkgd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loudbkg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oudbkg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Data\Microsoft\Templates\cloudbkgd.pot</Template>
  <TotalTime>1514</TotalTime>
  <Words>2891</Words>
  <Application>Microsoft Office PowerPoint</Application>
  <PresentationFormat>全屏显示(4:3)</PresentationFormat>
  <Paragraphs>249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Cambria Math</vt:lpstr>
      <vt:lpstr>Input</vt:lpstr>
      <vt:lpstr>Palatino Linotype</vt:lpstr>
      <vt:lpstr>Symbol</vt:lpstr>
      <vt:lpstr>Times New Roman</vt:lpstr>
      <vt:lpstr>Wingdings</vt:lpstr>
      <vt:lpstr>等线</vt:lpstr>
      <vt:lpstr>华文中宋</vt:lpstr>
      <vt:lpstr>cloudbkgd</vt:lpstr>
      <vt:lpstr>公式</vt:lpstr>
      <vt:lpstr>算法设计与分析     </vt:lpstr>
      <vt:lpstr>1.0 学习要点</vt:lpstr>
      <vt:lpstr>1.1 算法的定义</vt:lpstr>
      <vt:lpstr>1.1  算法的定义</vt:lpstr>
      <vt:lpstr>算法的五个特性</vt:lpstr>
      <vt:lpstr>PowerPoint 演示文稿</vt:lpstr>
      <vt:lpstr>PowerPoint 演示文稿</vt:lpstr>
      <vt:lpstr>程序</vt:lpstr>
      <vt:lpstr>问题求解过程</vt:lpstr>
      <vt:lpstr>1.2  算法复杂性分析（1）</vt:lpstr>
      <vt:lpstr>算法复杂性分析（2）</vt:lpstr>
      <vt:lpstr>算法的时间复杂性</vt:lpstr>
      <vt:lpstr>算法渐近复杂性</vt:lpstr>
      <vt:lpstr>几个复杂性参照函数</vt:lpstr>
      <vt:lpstr>增长的阶</vt:lpstr>
      <vt:lpstr>若干符号及其意义：O(f)，(f)，(f)，o(f) </vt:lpstr>
      <vt:lpstr>PowerPoint 演示文稿</vt:lpstr>
      <vt:lpstr>复杂性阶符号的理解举例</vt:lpstr>
      <vt:lpstr>举例</vt:lpstr>
      <vt:lpstr>增长的阶</vt:lpstr>
      <vt:lpstr>各记号在等式和不等式中的意义</vt:lpstr>
      <vt:lpstr>各记号的记忆性比较</vt:lpstr>
      <vt:lpstr>渐近分析记号的若干性质--传递性</vt:lpstr>
      <vt:lpstr>渐近分析记号的若干性质 --反身性、对称性、互对称性</vt:lpstr>
      <vt:lpstr>渐近分析记号的若干性质 --算术运算</vt:lpstr>
      <vt:lpstr>规则O(f(n))+O(g(n)) = O(max{f(n),g(n)}) 的证明</vt:lpstr>
      <vt:lpstr>算法渐近复杂性分析中常用函数</vt:lpstr>
      <vt:lpstr>多项式函数</vt:lpstr>
      <vt:lpstr>指数函数、对数函数</vt:lpstr>
      <vt:lpstr>阶乘函数</vt:lpstr>
      <vt:lpstr>算法分析的基本法则</vt:lpstr>
      <vt:lpstr>求幂--传统方法</vt:lpstr>
      <vt:lpstr>求幂--二分</vt:lpstr>
    </vt:vector>
  </TitlesOfParts>
  <Company>shu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csshu</dc:creator>
  <cp:lastModifiedBy>Jiangtao LI</cp:lastModifiedBy>
  <cp:revision>87</cp:revision>
  <dcterms:created xsi:type="dcterms:W3CDTF">2003-09-20T00:20:09Z</dcterms:created>
  <dcterms:modified xsi:type="dcterms:W3CDTF">2023-09-04T09:58:19Z</dcterms:modified>
</cp:coreProperties>
</file>