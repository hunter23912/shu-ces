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83" autoAdjust="0"/>
  </p:normalViewPr>
  <p:slideViewPr>
    <p:cSldViewPr snapToGrid="0" showGuides="1">
      <p:cViewPr varScale="1">
        <p:scale>
          <a:sx n="103" d="100"/>
          <a:sy n="103" d="100"/>
        </p:scale>
        <p:origin x="138" y="35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/>
          </p:nvSpPr>
          <p:spPr>
            <a:xfrm>
              <a:off x="6000750" y="0"/>
              <a:ext cx="6096001" cy="6858000"/>
            </a:xfrm>
            <a:custGeom>
              <a:avLst/>
              <a:gdLst>
                <a:gd name="connsiteX0" fmla="*/ 1768894 w 6096001"/>
                <a:gd name="connsiteY0" fmla="*/ 0 h 6858000"/>
                <a:gd name="connsiteX1" fmla="*/ 6096001 w 6096001"/>
                <a:gd name="connsiteY1" fmla="*/ 0 h 6858000"/>
                <a:gd name="connsiteX2" fmla="*/ 6096001 w 6096001"/>
                <a:gd name="connsiteY2" fmla="*/ 6858000 h 6858000"/>
                <a:gd name="connsiteX3" fmla="*/ 3397091 w 6096001"/>
                <a:gd name="connsiteY3" fmla="*/ 6858000 h 6858000"/>
                <a:gd name="connsiteX4" fmla="*/ 858975 w 6096001"/>
                <a:gd name="connsiteY4" fmla="*/ 4526972 h 6858000"/>
                <a:gd name="connsiteX5" fmla="*/ 1474833 w 6096001"/>
                <a:gd name="connsiteY5" fmla="*/ 24706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6001" h="6858000">
                  <a:moveTo>
                    <a:pt x="1768894" y="0"/>
                  </a:moveTo>
                  <a:lnTo>
                    <a:pt x="6096001" y="0"/>
                  </a:lnTo>
                  <a:lnTo>
                    <a:pt x="6096001" y="6858000"/>
                  </a:lnTo>
                  <a:lnTo>
                    <a:pt x="3397091" y="6858000"/>
                  </a:lnTo>
                  <a:lnTo>
                    <a:pt x="858975" y="4526972"/>
                  </a:lnTo>
                  <a:cubicBezTo>
                    <a:pt x="858975" y="4526972"/>
                    <a:pt x="-1435093" y="2808313"/>
                    <a:pt x="1474833" y="24706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304076" y="0"/>
              <a:ext cx="5887924" cy="6858000"/>
            </a:xfrm>
            <a:custGeom>
              <a:avLst/>
              <a:gdLst>
                <a:gd name="connsiteX0" fmla="*/ 1712417 w 5887924"/>
                <a:gd name="connsiteY0" fmla="*/ 0 h 6858000"/>
                <a:gd name="connsiteX1" fmla="*/ 5887924 w 5887924"/>
                <a:gd name="connsiteY1" fmla="*/ 0 h 6858000"/>
                <a:gd name="connsiteX2" fmla="*/ 5887924 w 5887924"/>
                <a:gd name="connsiteY2" fmla="*/ 6858000 h 6858000"/>
                <a:gd name="connsiteX3" fmla="*/ 3635141 w 5887924"/>
                <a:gd name="connsiteY3" fmla="*/ 6858000 h 6858000"/>
                <a:gd name="connsiteX4" fmla="*/ 829655 w 5887924"/>
                <a:gd name="connsiteY4" fmla="*/ 4316369 h 6858000"/>
                <a:gd name="connsiteX5" fmla="*/ 1424492 w 5887924"/>
                <a:gd name="connsiteY5" fmla="*/ 23863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87924" h="6858000">
                  <a:moveTo>
                    <a:pt x="1712417" y="0"/>
                  </a:moveTo>
                  <a:lnTo>
                    <a:pt x="5887924" y="0"/>
                  </a:lnTo>
                  <a:lnTo>
                    <a:pt x="5887924" y="6858000"/>
                  </a:lnTo>
                  <a:lnTo>
                    <a:pt x="3635141" y="6858000"/>
                  </a:lnTo>
                  <a:lnTo>
                    <a:pt x="829655" y="4316369"/>
                  </a:lnTo>
                  <a:cubicBezTo>
                    <a:pt x="829655" y="4316369"/>
                    <a:pt x="-1386108" y="2678893"/>
                    <a:pt x="1424492" y="238630"/>
                  </a:cubicBezTo>
                  <a:close/>
                </a:path>
              </a:pathLst>
            </a:custGeom>
            <a:blipFill>
              <a:blip r:embed="rId2"/>
              <a:srcRect/>
              <a:stretch>
                <a:fillRect l="-22797" r="-22797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0" y="0"/>
              <a:ext cx="1543241" cy="3904838"/>
            </a:xfrm>
            <a:custGeom>
              <a:avLst/>
              <a:gdLst>
                <a:gd name="connsiteX0" fmla="*/ -406 w 1543348"/>
                <a:gd name="connsiteY0" fmla="*/ 2600 h 3905108"/>
                <a:gd name="connsiteX1" fmla="*/ 592239 w 1543348"/>
                <a:gd name="connsiteY1" fmla="*/ 2600 h 3905108"/>
                <a:gd name="connsiteX2" fmla="*/ 1464348 w 1543348"/>
                <a:gd name="connsiteY2" fmla="*/ 1288475 h 3905108"/>
                <a:gd name="connsiteX3" fmla="*/ 636911 w 1543348"/>
                <a:gd name="connsiteY3" fmla="*/ 3122228 h 3905108"/>
                <a:gd name="connsiteX4" fmla="*/ -406 w 1543348"/>
                <a:gd name="connsiteY4" fmla="*/ 3904992 h 3905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348" h="3905108">
                  <a:moveTo>
                    <a:pt x="-406" y="2600"/>
                  </a:moveTo>
                  <a:lnTo>
                    <a:pt x="592239" y="2600"/>
                  </a:lnTo>
                  <a:cubicBezTo>
                    <a:pt x="592239" y="2600"/>
                    <a:pt x="1866875" y="-120368"/>
                    <a:pt x="1464348" y="1288475"/>
                  </a:cubicBezTo>
                  <a:cubicBezTo>
                    <a:pt x="1095350" y="2177634"/>
                    <a:pt x="636911" y="3122228"/>
                    <a:pt x="636911" y="3122228"/>
                  </a:cubicBezTo>
                  <a:cubicBezTo>
                    <a:pt x="636911" y="3122228"/>
                    <a:pt x="424504" y="3849080"/>
                    <a:pt x="-406" y="39049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10527" y="2827452"/>
              <a:ext cx="755143" cy="656864"/>
            </a:xfrm>
            <a:custGeom>
              <a:avLst/>
              <a:gdLst>
                <a:gd name="connsiteX0" fmla="*/ 117894 w 755143"/>
                <a:gd name="connsiteY0" fmla="*/ -522 h 656864"/>
                <a:gd name="connsiteX1" fmla="*/ 632244 w 755143"/>
                <a:gd name="connsiteY1" fmla="*/ -522 h 656864"/>
                <a:gd name="connsiteX2" fmla="*/ 737019 w 755143"/>
                <a:gd name="connsiteY2" fmla="*/ 208266 h 656864"/>
                <a:gd name="connsiteX3" fmla="*/ 527469 w 755143"/>
                <a:gd name="connsiteY3" fmla="*/ 599553 h 656864"/>
                <a:gd name="connsiteX4" fmla="*/ 301346 w 755143"/>
                <a:gd name="connsiteY4" fmla="*/ 566025 h 656864"/>
                <a:gd name="connsiteX5" fmla="*/ 61602 w 755143"/>
                <a:gd name="connsiteY5" fmla="*/ 255415 h 656864"/>
                <a:gd name="connsiteX6" fmla="*/ 117894 w 755143"/>
                <a:gd name="connsiteY6" fmla="*/ -522 h 65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5143" h="656864">
                  <a:moveTo>
                    <a:pt x="117894" y="-522"/>
                  </a:moveTo>
                  <a:lnTo>
                    <a:pt x="632244" y="-522"/>
                  </a:lnTo>
                  <a:cubicBezTo>
                    <a:pt x="632244" y="-522"/>
                    <a:pt x="811124" y="-522"/>
                    <a:pt x="737019" y="208266"/>
                  </a:cubicBezTo>
                  <a:cubicBezTo>
                    <a:pt x="662915" y="417054"/>
                    <a:pt x="527469" y="599553"/>
                    <a:pt x="527469" y="599553"/>
                  </a:cubicBezTo>
                  <a:cubicBezTo>
                    <a:pt x="527469" y="599553"/>
                    <a:pt x="401930" y="747381"/>
                    <a:pt x="301346" y="566025"/>
                  </a:cubicBezTo>
                  <a:cubicBezTo>
                    <a:pt x="241719" y="488968"/>
                    <a:pt x="61602" y="255415"/>
                    <a:pt x="61602" y="255415"/>
                  </a:cubicBezTo>
                  <a:cubicBezTo>
                    <a:pt x="61602" y="255415"/>
                    <a:pt x="-109467" y="62819"/>
                    <a:pt x="117894" y="-52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922412"/>
            <a:ext cx="5340350" cy="2578963"/>
          </a:xfrm>
          <a:prstGeom prst="rect">
            <a:avLst/>
          </a:prstGeo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577093"/>
            <a:ext cx="5340350" cy="6083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88855" y="5532879"/>
            <a:ext cx="5311895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88855" y="5175719"/>
            <a:ext cx="5311895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3628" y="0"/>
            <a:ext cx="12195628" cy="6858000"/>
            <a:chOff x="-3629" y="-1"/>
            <a:chExt cx="12195628" cy="6858000"/>
          </a:xfrm>
        </p:grpSpPr>
        <p:sp>
          <p:nvSpPr>
            <p:cNvPr id="7" name="矩形: 圆顶角 6"/>
            <p:cNvSpPr>
              <a:spLocks/>
            </p:cNvSpPr>
            <p:nvPr/>
          </p:nvSpPr>
          <p:spPr>
            <a:xfrm>
              <a:off x="10340244" y="1180776"/>
              <a:ext cx="1851755" cy="5677223"/>
            </a:xfrm>
            <a:prstGeom prst="round2SameRect">
              <a:avLst>
                <a:gd name="adj1" fmla="val 50000"/>
                <a:gd name="adj2" fmla="val 0"/>
              </a:avLst>
            </a:prstGeom>
            <a:blipFill>
              <a:blip r:embed="rId2"/>
              <a:srcRect/>
              <a:stretch>
                <a:fillRect l="-141616" r="-14161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矩形: 圆顶角 8"/>
            <p:cNvSpPr>
              <a:spLocks/>
            </p:cNvSpPr>
            <p:nvPr/>
          </p:nvSpPr>
          <p:spPr>
            <a:xfrm>
              <a:off x="-3629" y="0"/>
              <a:ext cx="581558" cy="5346693"/>
            </a:xfrm>
            <a:prstGeom prst="round2SameRect">
              <a:avLst>
                <a:gd name="adj1" fmla="val 0"/>
                <a:gd name="adj2" fmla="val 50000"/>
              </a:avLst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0"/>
            </a:gradFill>
            <a:ln w="2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2000" b="1" dirty="0">
                <a:solidFill>
                  <a:schemeClr val="bg1"/>
                </a:solidFill>
              </a:endParaRPr>
            </a:p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: 圆顶角 7"/>
            <p:cNvSpPr>
              <a:spLocks/>
            </p:cNvSpPr>
            <p:nvPr/>
          </p:nvSpPr>
          <p:spPr>
            <a:xfrm>
              <a:off x="10340244" y="0"/>
              <a:ext cx="925878" cy="5067300"/>
            </a:xfrm>
            <a:prstGeom prst="round2SameRect">
              <a:avLst>
                <a:gd name="adj1" fmla="val 0"/>
                <a:gd name="adj2" fmla="val 50000"/>
              </a:avLst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0"/>
            </a:gradFill>
            <a:ln w="2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lvl="0" algn="ctr" defTabSz="913765"/>
              <a:endParaRPr lang="en-US" altLang="zh-CN" sz="2000" b="1" dirty="0">
                <a:solidFill>
                  <a:schemeClr val="bg1"/>
                </a:solidFill>
              </a:endParaRPr>
            </a:p>
            <a:p>
              <a:pPr lvl="0"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矩形: 圆顶角 10"/>
            <p:cNvSpPr>
              <a:spLocks/>
            </p:cNvSpPr>
            <p:nvPr/>
          </p:nvSpPr>
          <p:spPr>
            <a:xfrm>
              <a:off x="687197" y="-1"/>
              <a:ext cx="297433" cy="1180778"/>
            </a:xfrm>
            <a:prstGeom prst="round2SameRect">
              <a:avLst>
                <a:gd name="adj1" fmla="val 0"/>
                <a:gd name="adj2" fmla="val 50000"/>
              </a:avLst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0"/>
            </a:gradFill>
            <a:ln w="2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lvl="0" algn="ctr" defTabSz="913765"/>
              <a:endParaRPr lang="en-US" altLang="zh-CN" sz="2000" b="1" dirty="0">
                <a:solidFill>
                  <a:schemeClr val="bg1"/>
                </a:solidFill>
              </a:endParaRPr>
            </a:p>
            <a:p>
              <a:pPr lvl="0"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矩形: 圆顶角 11"/>
            <p:cNvSpPr>
              <a:spLocks/>
            </p:cNvSpPr>
            <p:nvPr/>
          </p:nvSpPr>
          <p:spPr>
            <a:xfrm>
              <a:off x="10166507" y="5843588"/>
              <a:ext cx="230730" cy="1014411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400000" scaled="0"/>
            </a:gradFill>
            <a:ln w="2193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lvl="0" algn="ctr" defTabSz="913765"/>
              <a:endParaRPr lang="zh-CN" altLang="en-US" sz="2000" b="1">
                <a:solidFill>
                  <a:schemeClr val="bg1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70378" y="1605286"/>
            <a:ext cx="7253122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>
          <a:gsLst>
            <a:gs pos="100000">
              <a:schemeClr val="accent1">
                <a:lumMod val="20000"/>
                <a:lumOff val="80000"/>
                <a:alpha val="50000"/>
              </a:schemeClr>
            </a:gs>
            <a:gs pos="0">
              <a:schemeClr val="accent1">
                <a:alpha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flipH="1">
            <a:off x="0" y="0"/>
            <a:ext cx="12192001" cy="6858000"/>
            <a:chOff x="0" y="0"/>
            <a:chExt cx="12192001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6704424" y="0"/>
              <a:ext cx="5487577" cy="6858000"/>
              <a:chOff x="6704424" y="0"/>
              <a:chExt cx="5487577" cy="6858000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6704424" y="0"/>
                <a:ext cx="5487577" cy="6858000"/>
              </a:xfrm>
              <a:custGeom>
                <a:avLst/>
                <a:gdLst>
                  <a:gd name="connsiteX0" fmla="*/ 1595983 w 5487577"/>
                  <a:gd name="connsiteY0" fmla="*/ 0 h 6858000"/>
                  <a:gd name="connsiteX1" fmla="*/ 5487577 w 5487577"/>
                  <a:gd name="connsiteY1" fmla="*/ 0 h 6858000"/>
                  <a:gd name="connsiteX2" fmla="*/ 5487577 w 5487577"/>
                  <a:gd name="connsiteY2" fmla="*/ 6858000 h 6858000"/>
                  <a:gd name="connsiteX3" fmla="*/ 3683317 w 5487577"/>
                  <a:gd name="connsiteY3" fmla="*/ 6858000 h 6858000"/>
                  <a:gd name="connsiteX4" fmla="*/ 773243 w 5487577"/>
                  <a:gd name="connsiteY4" fmla="*/ 4142939 h 6858000"/>
                  <a:gd name="connsiteX5" fmla="*/ 1327634 w 5487577"/>
                  <a:gd name="connsiteY5" fmla="*/ 229043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87577" h="6858000">
                    <a:moveTo>
                      <a:pt x="1595983" y="0"/>
                    </a:moveTo>
                    <a:lnTo>
                      <a:pt x="5487577" y="0"/>
                    </a:lnTo>
                    <a:lnTo>
                      <a:pt x="5487577" y="6858000"/>
                    </a:lnTo>
                    <a:lnTo>
                      <a:pt x="3683317" y="6858000"/>
                    </a:lnTo>
                    <a:lnTo>
                      <a:pt x="773243" y="4142939"/>
                    </a:lnTo>
                    <a:cubicBezTo>
                      <a:pt x="773243" y="4142939"/>
                      <a:pt x="-1291860" y="2571256"/>
                      <a:pt x="1327634" y="22904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7036633" y="0"/>
                <a:ext cx="5155367" cy="6857972"/>
              </a:xfrm>
              <a:custGeom>
                <a:avLst/>
                <a:gdLst>
                  <a:gd name="connsiteX0" fmla="*/ 1499365 w 5155367"/>
                  <a:gd name="connsiteY0" fmla="*/ 0 h 6857972"/>
                  <a:gd name="connsiteX1" fmla="*/ 5155367 w 5155367"/>
                  <a:gd name="connsiteY1" fmla="*/ 0 h 6857972"/>
                  <a:gd name="connsiteX2" fmla="*/ 5155367 w 5155367"/>
                  <a:gd name="connsiteY2" fmla="*/ 6857972 h 6857972"/>
                  <a:gd name="connsiteX3" fmla="*/ 3905298 w 5155367"/>
                  <a:gd name="connsiteY3" fmla="*/ 6857972 h 6857972"/>
                  <a:gd name="connsiteX4" fmla="*/ 726432 w 5155367"/>
                  <a:gd name="connsiteY4" fmla="*/ 3892131 h 6857972"/>
                  <a:gd name="connsiteX5" fmla="*/ 1499365 w 5155367"/>
                  <a:gd name="connsiteY5" fmla="*/ 0 h 685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5367" h="6857972">
                    <a:moveTo>
                      <a:pt x="1499365" y="0"/>
                    </a:moveTo>
                    <a:lnTo>
                      <a:pt x="5155367" y="0"/>
                    </a:lnTo>
                    <a:lnTo>
                      <a:pt x="5155367" y="6857972"/>
                    </a:lnTo>
                    <a:lnTo>
                      <a:pt x="3905298" y="6857972"/>
                    </a:lnTo>
                    <a:lnTo>
                      <a:pt x="726432" y="3892131"/>
                    </a:lnTo>
                    <a:cubicBezTo>
                      <a:pt x="726432" y="3892131"/>
                      <a:pt x="-1340838" y="2318799"/>
                      <a:pt x="1499365" y="0"/>
                    </a:cubicBezTo>
                    <a:close/>
                  </a:path>
                </a:pathLst>
              </a:custGeom>
              <a:blipFill>
                <a:blip r:embed="rId2"/>
                <a:srcRect/>
                <a:stretch>
                  <a:fillRect l="-33141" r="-3314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0" y="1476567"/>
              <a:ext cx="1543241" cy="3904838"/>
            </a:xfrm>
            <a:custGeom>
              <a:avLst/>
              <a:gdLst>
                <a:gd name="connsiteX0" fmla="*/ -406 w 1543348"/>
                <a:gd name="connsiteY0" fmla="*/ 2600 h 3905108"/>
                <a:gd name="connsiteX1" fmla="*/ 592239 w 1543348"/>
                <a:gd name="connsiteY1" fmla="*/ 2600 h 3905108"/>
                <a:gd name="connsiteX2" fmla="*/ 1464348 w 1543348"/>
                <a:gd name="connsiteY2" fmla="*/ 1288475 h 3905108"/>
                <a:gd name="connsiteX3" fmla="*/ 636911 w 1543348"/>
                <a:gd name="connsiteY3" fmla="*/ 3122228 h 3905108"/>
                <a:gd name="connsiteX4" fmla="*/ -406 w 1543348"/>
                <a:gd name="connsiteY4" fmla="*/ 3904992 h 3905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348" h="3905108">
                  <a:moveTo>
                    <a:pt x="-406" y="2600"/>
                  </a:moveTo>
                  <a:lnTo>
                    <a:pt x="592239" y="2600"/>
                  </a:lnTo>
                  <a:cubicBezTo>
                    <a:pt x="592239" y="2600"/>
                    <a:pt x="1866875" y="-120368"/>
                    <a:pt x="1464348" y="1288475"/>
                  </a:cubicBezTo>
                  <a:cubicBezTo>
                    <a:pt x="1095350" y="2177634"/>
                    <a:pt x="636911" y="3122228"/>
                    <a:pt x="636911" y="3122228"/>
                  </a:cubicBezTo>
                  <a:cubicBezTo>
                    <a:pt x="636911" y="3122228"/>
                    <a:pt x="424504" y="3849080"/>
                    <a:pt x="-406" y="39049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10527" y="4304019"/>
              <a:ext cx="755143" cy="656864"/>
            </a:xfrm>
            <a:custGeom>
              <a:avLst/>
              <a:gdLst>
                <a:gd name="connsiteX0" fmla="*/ 117894 w 755143"/>
                <a:gd name="connsiteY0" fmla="*/ -522 h 656864"/>
                <a:gd name="connsiteX1" fmla="*/ 632244 w 755143"/>
                <a:gd name="connsiteY1" fmla="*/ -522 h 656864"/>
                <a:gd name="connsiteX2" fmla="*/ 737019 w 755143"/>
                <a:gd name="connsiteY2" fmla="*/ 208266 h 656864"/>
                <a:gd name="connsiteX3" fmla="*/ 527469 w 755143"/>
                <a:gd name="connsiteY3" fmla="*/ 599553 h 656864"/>
                <a:gd name="connsiteX4" fmla="*/ 301346 w 755143"/>
                <a:gd name="connsiteY4" fmla="*/ 566025 h 656864"/>
                <a:gd name="connsiteX5" fmla="*/ 61602 w 755143"/>
                <a:gd name="connsiteY5" fmla="*/ 255415 h 656864"/>
                <a:gd name="connsiteX6" fmla="*/ 117894 w 755143"/>
                <a:gd name="connsiteY6" fmla="*/ -522 h 65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5143" h="656864">
                  <a:moveTo>
                    <a:pt x="117894" y="-522"/>
                  </a:moveTo>
                  <a:lnTo>
                    <a:pt x="632244" y="-522"/>
                  </a:lnTo>
                  <a:cubicBezTo>
                    <a:pt x="632244" y="-522"/>
                    <a:pt x="811124" y="-522"/>
                    <a:pt x="737019" y="208266"/>
                  </a:cubicBezTo>
                  <a:cubicBezTo>
                    <a:pt x="662915" y="417054"/>
                    <a:pt x="527469" y="599553"/>
                    <a:pt x="527469" y="599553"/>
                  </a:cubicBezTo>
                  <a:cubicBezTo>
                    <a:pt x="527469" y="599553"/>
                    <a:pt x="401930" y="747381"/>
                    <a:pt x="301346" y="566025"/>
                  </a:cubicBezTo>
                  <a:cubicBezTo>
                    <a:pt x="241719" y="488968"/>
                    <a:pt x="61602" y="255415"/>
                    <a:pt x="61602" y="255415"/>
                  </a:cubicBezTo>
                  <a:cubicBezTo>
                    <a:pt x="61602" y="255415"/>
                    <a:pt x="-109467" y="62819"/>
                    <a:pt x="117894" y="-52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5487103" y="2278021"/>
            <a:ext cx="5539228" cy="19337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46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5487103" y="4223673"/>
            <a:ext cx="5539228" cy="6204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2024/5/6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/>
          </p:nvSpPr>
          <p:spPr>
            <a:xfrm>
              <a:off x="6000750" y="0"/>
              <a:ext cx="6096001" cy="6858000"/>
            </a:xfrm>
            <a:custGeom>
              <a:avLst/>
              <a:gdLst>
                <a:gd name="connsiteX0" fmla="*/ 1768894 w 6096001"/>
                <a:gd name="connsiteY0" fmla="*/ 0 h 6858000"/>
                <a:gd name="connsiteX1" fmla="*/ 6096001 w 6096001"/>
                <a:gd name="connsiteY1" fmla="*/ 0 h 6858000"/>
                <a:gd name="connsiteX2" fmla="*/ 6096001 w 6096001"/>
                <a:gd name="connsiteY2" fmla="*/ 6858000 h 6858000"/>
                <a:gd name="connsiteX3" fmla="*/ 3397091 w 6096001"/>
                <a:gd name="connsiteY3" fmla="*/ 6858000 h 6858000"/>
                <a:gd name="connsiteX4" fmla="*/ 858975 w 6096001"/>
                <a:gd name="connsiteY4" fmla="*/ 4526972 h 6858000"/>
                <a:gd name="connsiteX5" fmla="*/ 1474833 w 6096001"/>
                <a:gd name="connsiteY5" fmla="*/ 24706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96001" h="6858000">
                  <a:moveTo>
                    <a:pt x="1768894" y="0"/>
                  </a:moveTo>
                  <a:lnTo>
                    <a:pt x="6096001" y="0"/>
                  </a:lnTo>
                  <a:lnTo>
                    <a:pt x="6096001" y="6858000"/>
                  </a:lnTo>
                  <a:lnTo>
                    <a:pt x="3397091" y="6858000"/>
                  </a:lnTo>
                  <a:lnTo>
                    <a:pt x="858975" y="4526972"/>
                  </a:lnTo>
                  <a:cubicBezTo>
                    <a:pt x="858975" y="4526972"/>
                    <a:pt x="-1435093" y="2808313"/>
                    <a:pt x="1474833" y="247067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304076" y="0"/>
              <a:ext cx="5887924" cy="6858000"/>
            </a:xfrm>
            <a:custGeom>
              <a:avLst/>
              <a:gdLst>
                <a:gd name="connsiteX0" fmla="*/ 1712417 w 5887924"/>
                <a:gd name="connsiteY0" fmla="*/ 0 h 6858000"/>
                <a:gd name="connsiteX1" fmla="*/ 5887924 w 5887924"/>
                <a:gd name="connsiteY1" fmla="*/ 0 h 6858000"/>
                <a:gd name="connsiteX2" fmla="*/ 5887924 w 5887924"/>
                <a:gd name="connsiteY2" fmla="*/ 6858000 h 6858000"/>
                <a:gd name="connsiteX3" fmla="*/ 3635141 w 5887924"/>
                <a:gd name="connsiteY3" fmla="*/ 6858000 h 6858000"/>
                <a:gd name="connsiteX4" fmla="*/ 829655 w 5887924"/>
                <a:gd name="connsiteY4" fmla="*/ 4316369 h 6858000"/>
                <a:gd name="connsiteX5" fmla="*/ 1424492 w 5887924"/>
                <a:gd name="connsiteY5" fmla="*/ 23863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87924" h="6858000">
                  <a:moveTo>
                    <a:pt x="1712417" y="0"/>
                  </a:moveTo>
                  <a:lnTo>
                    <a:pt x="5887924" y="0"/>
                  </a:lnTo>
                  <a:lnTo>
                    <a:pt x="5887924" y="6858000"/>
                  </a:lnTo>
                  <a:lnTo>
                    <a:pt x="3635141" y="6858000"/>
                  </a:lnTo>
                  <a:lnTo>
                    <a:pt x="829655" y="4316369"/>
                  </a:lnTo>
                  <a:cubicBezTo>
                    <a:pt x="829655" y="4316369"/>
                    <a:pt x="-1386108" y="2678893"/>
                    <a:pt x="1424492" y="238630"/>
                  </a:cubicBezTo>
                  <a:close/>
                </a:path>
              </a:pathLst>
            </a:custGeom>
            <a:blipFill>
              <a:blip r:embed="rId2"/>
              <a:srcRect/>
              <a:stretch>
                <a:fillRect l="-22797" r="-22797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0" y="0"/>
              <a:ext cx="1543241" cy="3904838"/>
            </a:xfrm>
            <a:custGeom>
              <a:avLst/>
              <a:gdLst>
                <a:gd name="connsiteX0" fmla="*/ -406 w 1543348"/>
                <a:gd name="connsiteY0" fmla="*/ 2600 h 3905108"/>
                <a:gd name="connsiteX1" fmla="*/ 592239 w 1543348"/>
                <a:gd name="connsiteY1" fmla="*/ 2600 h 3905108"/>
                <a:gd name="connsiteX2" fmla="*/ 1464348 w 1543348"/>
                <a:gd name="connsiteY2" fmla="*/ 1288475 h 3905108"/>
                <a:gd name="connsiteX3" fmla="*/ 636911 w 1543348"/>
                <a:gd name="connsiteY3" fmla="*/ 3122228 h 3905108"/>
                <a:gd name="connsiteX4" fmla="*/ -406 w 1543348"/>
                <a:gd name="connsiteY4" fmla="*/ 3904992 h 3905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348" h="3905108">
                  <a:moveTo>
                    <a:pt x="-406" y="2600"/>
                  </a:moveTo>
                  <a:lnTo>
                    <a:pt x="592239" y="2600"/>
                  </a:lnTo>
                  <a:cubicBezTo>
                    <a:pt x="592239" y="2600"/>
                    <a:pt x="1866875" y="-120368"/>
                    <a:pt x="1464348" y="1288475"/>
                  </a:cubicBezTo>
                  <a:cubicBezTo>
                    <a:pt x="1095350" y="2177634"/>
                    <a:pt x="636911" y="3122228"/>
                    <a:pt x="636911" y="3122228"/>
                  </a:cubicBezTo>
                  <a:cubicBezTo>
                    <a:pt x="636911" y="3122228"/>
                    <a:pt x="424504" y="3849080"/>
                    <a:pt x="-406" y="390499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410527" y="2827452"/>
              <a:ext cx="755143" cy="656864"/>
            </a:xfrm>
            <a:custGeom>
              <a:avLst/>
              <a:gdLst>
                <a:gd name="connsiteX0" fmla="*/ 117894 w 755143"/>
                <a:gd name="connsiteY0" fmla="*/ -522 h 656864"/>
                <a:gd name="connsiteX1" fmla="*/ 632244 w 755143"/>
                <a:gd name="connsiteY1" fmla="*/ -522 h 656864"/>
                <a:gd name="connsiteX2" fmla="*/ 737019 w 755143"/>
                <a:gd name="connsiteY2" fmla="*/ 208266 h 656864"/>
                <a:gd name="connsiteX3" fmla="*/ 527469 w 755143"/>
                <a:gd name="connsiteY3" fmla="*/ 599553 h 656864"/>
                <a:gd name="connsiteX4" fmla="*/ 301346 w 755143"/>
                <a:gd name="connsiteY4" fmla="*/ 566025 h 656864"/>
                <a:gd name="connsiteX5" fmla="*/ 61602 w 755143"/>
                <a:gd name="connsiteY5" fmla="*/ 255415 h 656864"/>
                <a:gd name="connsiteX6" fmla="*/ 117894 w 755143"/>
                <a:gd name="connsiteY6" fmla="*/ -522 h 65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5143" h="656864">
                  <a:moveTo>
                    <a:pt x="117894" y="-522"/>
                  </a:moveTo>
                  <a:lnTo>
                    <a:pt x="632244" y="-522"/>
                  </a:lnTo>
                  <a:cubicBezTo>
                    <a:pt x="632244" y="-522"/>
                    <a:pt x="811124" y="-522"/>
                    <a:pt x="737019" y="208266"/>
                  </a:cubicBezTo>
                  <a:cubicBezTo>
                    <a:pt x="662915" y="417054"/>
                    <a:pt x="527469" y="599553"/>
                    <a:pt x="527469" y="599553"/>
                  </a:cubicBezTo>
                  <a:cubicBezTo>
                    <a:pt x="527469" y="599553"/>
                    <a:pt x="401930" y="747381"/>
                    <a:pt x="301346" y="566025"/>
                  </a:cubicBezTo>
                  <a:cubicBezTo>
                    <a:pt x="241719" y="488968"/>
                    <a:pt x="61602" y="255415"/>
                    <a:pt x="61602" y="255415"/>
                  </a:cubicBezTo>
                  <a:cubicBezTo>
                    <a:pt x="61602" y="255415"/>
                    <a:pt x="-109467" y="62819"/>
                    <a:pt x="117894" y="-52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400" y="922412"/>
            <a:ext cx="5340350" cy="2578963"/>
          </a:xfrm>
          <a:prstGeom prst="rect">
            <a:avLst/>
          </a:prstGeo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88855" y="5532879"/>
            <a:ext cx="5311895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88855" y="5175719"/>
            <a:ext cx="5311895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72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5832" y="1"/>
            <a:ext cx="12207832" cy="6858000"/>
            <a:chOff x="-15832" y="1"/>
            <a:chExt cx="12207832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6921500" y="6409690"/>
              <a:ext cx="5270500" cy="448311"/>
              <a:chOff x="5820229" y="5994400"/>
              <a:chExt cx="6371771" cy="863602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5820229" y="6235702"/>
                <a:ext cx="6371771" cy="622300"/>
              </a:xfrm>
              <a:custGeom>
                <a:avLst/>
                <a:gdLst>
                  <a:gd name="connsiteX0" fmla="*/ 1587141 w 4597768"/>
                  <a:gd name="connsiteY0" fmla="*/ 197 h 724749"/>
                  <a:gd name="connsiteX1" fmla="*/ 2500579 w 4597768"/>
                  <a:gd name="connsiteY1" fmla="*/ 150299 h 724749"/>
                  <a:gd name="connsiteX2" fmla="*/ 4480314 w 4597768"/>
                  <a:gd name="connsiteY2" fmla="*/ 282622 h 724749"/>
                  <a:gd name="connsiteX3" fmla="*/ 4597768 w 4597768"/>
                  <a:gd name="connsiteY3" fmla="*/ 241241 h 724749"/>
                  <a:gd name="connsiteX4" fmla="*/ 4597768 w 4597768"/>
                  <a:gd name="connsiteY4" fmla="*/ 724749 h 724749"/>
                  <a:gd name="connsiteX5" fmla="*/ 0 w 4597768"/>
                  <a:gd name="connsiteY5" fmla="*/ 724749 h 724749"/>
                  <a:gd name="connsiteX6" fmla="*/ 2096 w 4597768"/>
                  <a:gd name="connsiteY6" fmla="*/ 721436 h 724749"/>
                  <a:gd name="connsiteX7" fmla="*/ 1587141 w 4597768"/>
                  <a:gd name="connsiteY7" fmla="*/ 197 h 724749"/>
                  <a:gd name="connsiteX0" fmla="*/ 1587141 w 4597768"/>
                  <a:gd name="connsiteY0" fmla="*/ 197 h 724749"/>
                  <a:gd name="connsiteX1" fmla="*/ 2500579 w 4597768"/>
                  <a:gd name="connsiteY1" fmla="*/ 150299 h 724749"/>
                  <a:gd name="connsiteX2" fmla="*/ 4480314 w 4597768"/>
                  <a:gd name="connsiteY2" fmla="*/ 282622 h 724749"/>
                  <a:gd name="connsiteX3" fmla="*/ 4597768 w 4597768"/>
                  <a:gd name="connsiteY3" fmla="*/ 241241 h 724749"/>
                  <a:gd name="connsiteX4" fmla="*/ 4597768 w 4597768"/>
                  <a:gd name="connsiteY4" fmla="*/ 724749 h 724749"/>
                  <a:gd name="connsiteX5" fmla="*/ 0 w 4597768"/>
                  <a:gd name="connsiteY5" fmla="*/ 724749 h 724749"/>
                  <a:gd name="connsiteX6" fmla="*/ 2096 w 4597768"/>
                  <a:gd name="connsiteY6" fmla="*/ 721436 h 724749"/>
                  <a:gd name="connsiteX7" fmla="*/ 1587141 w 4597768"/>
                  <a:gd name="connsiteY7" fmla="*/ 197 h 724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97768" h="724749">
                    <a:moveTo>
                      <a:pt x="1587141" y="197"/>
                    </a:moveTo>
                    <a:cubicBezTo>
                      <a:pt x="1852766" y="3460"/>
                      <a:pt x="2243100" y="47472"/>
                      <a:pt x="2500579" y="150299"/>
                    </a:cubicBezTo>
                    <a:cubicBezTo>
                      <a:pt x="2758058" y="253126"/>
                      <a:pt x="3367780" y="635900"/>
                      <a:pt x="4480314" y="282622"/>
                    </a:cubicBezTo>
                    <a:lnTo>
                      <a:pt x="4597768" y="241241"/>
                    </a:lnTo>
                    <a:lnTo>
                      <a:pt x="4597768" y="724749"/>
                    </a:lnTo>
                    <a:lnTo>
                      <a:pt x="0" y="724749"/>
                    </a:lnTo>
                    <a:lnTo>
                      <a:pt x="2096" y="721436"/>
                    </a:lnTo>
                    <a:cubicBezTo>
                      <a:pt x="66321" y="623464"/>
                      <a:pt x="524645" y="-12852"/>
                      <a:pt x="1587141" y="19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20000"/>
                    </a:schemeClr>
                  </a:gs>
                  <a:gs pos="100000">
                    <a:schemeClr val="accent2"/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8432473" y="5994400"/>
                <a:ext cx="3759527" cy="863600"/>
              </a:xfrm>
              <a:custGeom>
                <a:avLst/>
                <a:gdLst>
                  <a:gd name="connsiteX0" fmla="*/ 2494723 w 3759527"/>
                  <a:gd name="connsiteY0" fmla="*/ 235 h 863600"/>
                  <a:gd name="connsiteX1" fmla="*/ 3536474 w 3759527"/>
                  <a:gd name="connsiteY1" fmla="*/ 99921 h 863600"/>
                  <a:gd name="connsiteX2" fmla="*/ 3759527 w 3759527"/>
                  <a:gd name="connsiteY2" fmla="*/ 144740 h 863600"/>
                  <a:gd name="connsiteX3" fmla="*/ 3759527 w 3759527"/>
                  <a:gd name="connsiteY3" fmla="*/ 863600 h 863600"/>
                  <a:gd name="connsiteX4" fmla="*/ 0 w 3759527"/>
                  <a:gd name="connsiteY4" fmla="*/ 863600 h 863600"/>
                  <a:gd name="connsiteX5" fmla="*/ 3292 w 3759527"/>
                  <a:gd name="connsiteY5" fmla="*/ 859655 h 863600"/>
                  <a:gd name="connsiteX6" fmla="*/ 2494723 w 3759527"/>
                  <a:gd name="connsiteY6" fmla="*/ 235 h 86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59527" h="863600">
                    <a:moveTo>
                      <a:pt x="2494723" y="235"/>
                    </a:moveTo>
                    <a:cubicBezTo>
                      <a:pt x="2807862" y="3151"/>
                      <a:pt x="3154387" y="33270"/>
                      <a:pt x="3536474" y="99921"/>
                    </a:cubicBezTo>
                    <a:lnTo>
                      <a:pt x="3759527" y="144740"/>
                    </a:lnTo>
                    <a:lnTo>
                      <a:pt x="3759527" y="863600"/>
                    </a:lnTo>
                    <a:lnTo>
                      <a:pt x="0" y="863600"/>
                    </a:lnTo>
                    <a:lnTo>
                      <a:pt x="3292" y="859655"/>
                    </a:lnTo>
                    <a:cubicBezTo>
                      <a:pt x="104243" y="742913"/>
                      <a:pt x="824653" y="-15315"/>
                      <a:pt x="2494723" y="23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20000"/>
                    </a:schemeClr>
                  </a:gs>
                  <a:gs pos="85000">
                    <a:schemeClr val="accent1"/>
                  </a:gs>
                </a:gsLst>
                <a:lin ang="0" scaled="1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-15832" y="1"/>
              <a:ext cx="2835232" cy="1701242"/>
              <a:chOff x="-24145" y="0"/>
              <a:chExt cx="5752317" cy="3451600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-24145" y="0"/>
                <a:ext cx="5752317" cy="3451600"/>
              </a:xfrm>
              <a:custGeom>
                <a:avLst/>
                <a:gdLst>
                  <a:gd name="connsiteX0" fmla="*/ -1303 w 5752317"/>
                  <a:gd name="connsiteY0" fmla="*/ 3451055 h 3451600"/>
                  <a:gd name="connsiteX1" fmla="*/ 483413 w 5752317"/>
                  <a:gd name="connsiteY1" fmla="*/ 1749932 h 3451600"/>
                  <a:gd name="connsiteX2" fmla="*/ 2142534 w 5752317"/>
                  <a:gd name="connsiteY2" fmla="*/ 1092374 h 3451600"/>
                  <a:gd name="connsiteX3" fmla="*/ 4763943 w 5752317"/>
                  <a:gd name="connsiteY3" fmla="*/ 615849 h 3451600"/>
                  <a:gd name="connsiteX4" fmla="*/ 5751014 w 5752317"/>
                  <a:gd name="connsiteY4" fmla="*/ -545 h 3451600"/>
                  <a:gd name="connsiteX5" fmla="*/ 38600 w 5752317"/>
                  <a:gd name="connsiteY5" fmla="*/ -545 h 345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752317" h="3451600">
                    <a:moveTo>
                      <a:pt x="-1303" y="3451055"/>
                    </a:moveTo>
                    <a:cubicBezTo>
                      <a:pt x="-1303" y="3451055"/>
                      <a:pt x="523735" y="3278423"/>
                      <a:pt x="483413" y="1749932"/>
                    </a:cubicBezTo>
                    <a:cubicBezTo>
                      <a:pt x="485723" y="1569109"/>
                      <a:pt x="697208" y="821245"/>
                      <a:pt x="2142534" y="1092374"/>
                    </a:cubicBezTo>
                    <a:cubicBezTo>
                      <a:pt x="2940592" y="1273198"/>
                      <a:pt x="3728567" y="1486994"/>
                      <a:pt x="4763943" y="615849"/>
                    </a:cubicBezTo>
                    <a:cubicBezTo>
                      <a:pt x="4910953" y="488371"/>
                      <a:pt x="5751014" y="-545"/>
                      <a:pt x="5751014" y="-545"/>
                    </a:cubicBezTo>
                    <a:lnTo>
                      <a:pt x="38600" y="-545"/>
                    </a:ln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w="209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-1" y="0"/>
                <a:ext cx="4000500" cy="967956"/>
              </a:xfrm>
              <a:custGeom>
                <a:avLst/>
                <a:gdLst>
                  <a:gd name="connsiteX0" fmla="*/ 0 w 5103446"/>
                  <a:gd name="connsiteY0" fmla="*/ 0 h 1234824"/>
                  <a:gd name="connsiteX1" fmla="*/ 5103446 w 5103446"/>
                  <a:gd name="connsiteY1" fmla="*/ 0 h 1234824"/>
                  <a:gd name="connsiteX2" fmla="*/ 5022213 w 5103446"/>
                  <a:gd name="connsiteY2" fmla="*/ 136874 h 1234824"/>
                  <a:gd name="connsiteX3" fmla="*/ 2029636 w 5103446"/>
                  <a:gd name="connsiteY3" fmla="*/ 965577 h 1234824"/>
                  <a:gd name="connsiteX4" fmla="*/ 59488 w 5103446"/>
                  <a:gd name="connsiteY4" fmla="*/ 1203275 h 1234824"/>
                  <a:gd name="connsiteX5" fmla="*/ 0 w 5103446"/>
                  <a:gd name="connsiteY5" fmla="*/ 1234824 h 1234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03446" h="1234824">
                    <a:moveTo>
                      <a:pt x="0" y="0"/>
                    </a:moveTo>
                    <a:lnTo>
                      <a:pt x="5103446" y="0"/>
                    </a:lnTo>
                    <a:lnTo>
                      <a:pt x="5022213" y="136874"/>
                    </a:lnTo>
                    <a:cubicBezTo>
                      <a:pt x="4515804" y="889860"/>
                      <a:pt x="3412365" y="1156937"/>
                      <a:pt x="2029636" y="965577"/>
                    </a:cubicBezTo>
                    <a:cubicBezTo>
                      <a:pt x="1015636" y="825248"/>
                      <a:pt x="366300" y="1049447"/>
                      <a:pt x="59488" y="1203275"/>
                    </a:cubicBezTo>
                    <a:lnTo>
                      <a:pt x="0" y="123482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20000"/>
                    </a:schemeClr>
                  </a:gs>
                  <a:gs pos="85000">
                    <a:schemeClr val="accent1"/>
                  </a:gs>
                </a:gsLst>
                <a:lin ang="0" scaled="1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国产软件概况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197902" y="4731600"/>
            <a:ext cx="3775314" cy="1538571"/>
          </a:xfrm>
        </p:spPr>
        <p:txBody>
          <a:bodyPr>
            <a:noAutofit/>
          </a:bodyPr>
          <a:lstStyle/>
          <a:p>
            <a:r>
              <a:rPr lang="zh-CN" altLang="en-US" sz="1800" dirty="0"/>
              <a:t>研讨人：汪江豪</a:t>
            </a:r>
            <a:endParaRPr lang="en-US" altLang="zh-CN" sz="1800" dirty="0"/>
          </a:p>
          <a:p>
            <a:r>
              <a:rPr lang="zh-CN" altLang="en-US" sz="1800" dirty="0"/>
              <a:t>学号：</a:t>
            </a:r>
            <a:r>
              <a:rPr lang="en-US" altLang="zh-CN" sz="1800" dirty="0"/>
              <a:t>22121630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08668" y="791852"/>
            <a:ext cx="1713593" cy="3610466"/>
          </a:xfrm>
        </p:spPr>
        <p:txBody>
          <a:bodyPr>
            <a:normAutofit/>
          </a:bodyPr>
          <a:lstStyle/>
          <a:p>
            <a:r>
              <a:rPr lang="zh-CN" altLang="en-US" sz="11500" dirty="0"/>
              <a:t>目录</a:t>
            </a:r>
            <a:endParaRPr 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/>
              <a:t>一、引言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600" dirty="0"/>
              <a:t>二、国产软件现状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en-US" sz="3600" dirty="0"/>
              <a:t>三、国产软件发展趋势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096000" y="107236"/>
            <a:ext cx="3001347" cy="1035483"/>
          </a:xfrm>
        </p:spPr>
        <p:txBody>
          <a:bodyPr>
            <a:normAutofit/>
          </a:bodyPr>
          <a:lstStyle/>
          <a:p>
            <a:r>
              <a:rPr lang="zh-CN" altLang="en-US" dirty="0"/>
              <a:t>一、引言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096000" y="2176258"/>
            <a:ext cx="3868437" cy="1952538"/>
          </a:xfrm>
        </p:spPr>
        <p:txBody>
          <a:bodyPr>
            <a:normAutofit/>
          </a:bodyPr>
          <a:lstStyle/>
          <a:p>
            <a:r>
              <a:rPr lang="en-US" altLang="zh-CN" dirty="0"/>
              <a:t>·</a:t>
            </a:r>
            <a:r>
              <a:rPr lang="zh-CN" altLang="en-US" dirty="0"/>
              <a:t>国产软件背景</a:t>
            </a:r>
            <a:endParaRPr lang="en-US" altLang="zh-CN" dirty="0"/>
          </a:p>
          <a:p>
            <a:r>
              <a:rPr lang="en-US" altLang="zh-CN" dirty="0"/>
              <a:t>·</a:t>
            </a:r>
            <a:r>
              <a:rPr lang="zh-CN" altLang="en-US" dirty="0"/>
              <a:t>发展国产软件的必要性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3"/>
            </a:gs>
            <a:gs pos="91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国产软件背景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5E513F-81F9-76CF-9E74-0ABB797AC4B3}"/>
              </a:ext>
            </a:extLst>
          </p:cNvPr>
          <p:cNvSpPr txBox="1"/>
          <p:nvPr/>
        </p:nvSpPr>
        <p:spPr>
          <a:xfrm>
            <a:off x="660399" y="1724046"/>
            <a:ext cx="51805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	对于软件产品，相信大家都不会觉得陌生，我们生活中所使用的电脑，手机，甚至手表等电子设备上都有它的存在。软件相当于电子设备的灵魂，没有它的存在，智能设备或许就失去了智能的含义。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1994</a:t>
            </a:r>
            <a:r>
              <a:rPr lang="zh-CN" altLang="en-US" dirty="0"/>
              <a:t>年，我国正式接入国际互联网，软件产业的发展也因此开创了一个全新的时代。高速发展的互联网给软件产业带来的革命性的意义，给软件发展提供了一个崭新的舞台。当电脑开始普及的时候，软件是建立在电脑平台上的；而互联网出现以后，网络逐渐成为软件产品新的平台，大量基于网络的软件不断涌现，大大繁荣了软件产业的发展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65C6196-7A32-23B0-CC72-59E60C8F7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089" y="2141450"/>
            <a:ext cx="4986512" cy="2858510"/>
          </a:xfrm>
          <a:prstGeom prst="rect">
            <a:avLst/>
          </a:prstGeom>
          <a:effectLst>
            <a:softEdge rad="5842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发展国产软件的必要性</a:t>
            </a:r>
            <a:endParaRPr lang="en-US" dirty="0"/>
          </a:p>
        </p:txBody>
      </p:sp>
      <p:grpSp>
        <p:nvGrpSpPr>
          <p:cNvPr id="20" name="diagram4.pptx">
            <a:extLst>
              <a:ext uri="{FF2B5EF4-FFF2-40B4-BE49-F238E27FC236}">
                <a16:creationId xmlns:a16="http://schemas.microsoft.com/office/drawing/2014/main" id="{415E79B5-64FB-F5BE-6331-F44D563B6480}"/>
              </a:ext>
            </a:extLst>
          </p:cNvPr>
          <p:cNvGrpSpPr/>
          <p:nvPr/>
        </p:nvGrpSpPr>
        <p:grpSpPr>
          <a:xfrm>
            <a:off x="775153" y="821860"/>
            <a:ext cx="10743747" cy="5312240"/>
            <a:chOff x="889907" y="821860"/>
            <a:chExt cx="10743747" cy="5312240"/>
          </a:xfrm>
        </p:grpSpPr>
        <p:sp>
          <p:nvSpPr>
            <p:cNvPr id="11" name="Title">
              <a:extLst>
                <a:ext uri="{FF2B5EF4-FFF2-40B4-BE49-F238E27FC236}">
                  <a16:creationId xmlns:a16="http://schemas.microsoft.com/office/drawing/2014/main" id="{8B3000EE-61E4-4A14-B1F4-EC94CE27A9F8}"/>
                </a:ext>
              </a:extLst>
            </p:cNvPr>
            <p:cNvSpPr/>
            <p:nvPr/>
          </p:nvSpPr>
          <p:spPr>
            <a:xfrm>
              <a:off x="889907" y="821860"/>
              <a:ext cx="10412186" cy="953144"/>
            </a:xfrm>
            <a:prstGeom prst="rect">
              <a:avLst/>
            </a:prstGeom>
          </p:spPr>
          <p:txBody>
            <a:bodyPr wrap="square" anchor="b" anchorCtr="1">
              <a:normAutofit/>
            </a:bodyPr>
            <a:lstStyle/>
            <a:p>
              <a:pPr algn="ctr">
                <a:buSzPct val="25000"/>
              </a:pPr>
              <a:endParaRPr lang="en-US" dirty="0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E458ACA-7898-BE04-844A-FE10F8C990F5}"/>
                </a:ext>
              </a:extLst>
            </p:cNvPr>
            <p:cNvGrpSpPr/>
            <p:nvPr/>
          </p:nvGrpSpPr>
          <p:grpSpPr>
            <a:xfrm>
              <a:off x="1033428" y="2631688"/>
              <a:ext cx="10600226" cy="3502412"/>
              <a:chOff x="1406456" y="2936240"/>
              <a:chExt cx="10600226" cy="3037286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166D396B-FD19-72E6-A75C-E5BF66080867}"/>
                  </a:ext>
                </a:extLst>
              </p:cNvPr>
              <p:cNvGrpSpPr/>
              <p:nvPr/>
            </p:nvGrpSpPr>
            <p:grpSpPr>
              <a:xfrm>
                <a:off x="1406456" y="2936240"/>
                <a:ext cx="10354652" cy="509476"/>
                <a:chOff x="1406456" y="2936240"/>
                <a:chExt cx="10354652" cy="509476"/>
              </a:xfrm>
            </p:grpSpPr>
            <p:sp>
              <p:nvSpPr>
                <p:cNvPr id="3" name="Bullet1">
                  <a:extLst>
                    <a:ext uri="{FF2B5EF4-FFF2-40B4-BE49-F238E27FC236}">
                      <a16:creationId xmlns:a16="http://schemas.microsoft.com/office/drawing/2014/main" id="{6FBFE56D-FAD9-4B2E-ACC0-7D12024174F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55618" y="2982942"/>
                  <a:ext cx="2209768" cy="416072"/>
                </a:xfrm>
                <a:prstGeom prst="homePlat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80000" tIns="0" rIns="180000" bIns="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b="1" dirty="0">
                      <a:solidFill>
                        <a:schemeClr val="bg1"/>
                      </a:solidFill>
                    </a:rPr>
                    <a:t>国家安全</a:t>
                  </a:r>
                  <a:endParaRPr lang="en-US" dirty="0"/>
                </a:p>
              </p:txBody>
            </p:sp>
            <p:sp>
              <p:nvSpPr>
                <p:cNvPr id="34" name="Number1">
                  <a:extLst>
                    <a:ext uri="{FF2B5EF4-FFF2-40B4-BE49-F238E27FC236}">
                      <a16:creationId xmlns:a16="http://schemas.microsoft.com/office/drawing/2014/main" id="{E47567D4-B7F5-4265-8DEF-42FDC3D7D659}"/>
                    </a:ext>
                  </a:extLst>
                </p:cNvPr>
                <p:cNvSpPr/>
                <p:nvPr/>
              </p:nvSpPr>
              <p:spPr>
                <a:xfrm>
                  <a:off x="1406456" y="2992426"/>
                  <a:ext cx="761248" cy="397104"/>
                </a:xfrm>
                <a:prstGeom prst="rect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accent1"/>
                      </a:solidFill>
                    </a:rPr>
                    <a:t>01</a:t>
                  </a:r>
                </a:p>
              </p:txBody>
            </p:sp>
            <p:sp>
              <p:nvSpPr>
                <p:cNvPr id="45" name="Text1">
                  <a:extLst>
                    <a:ext uri="{FF2B5EF4-FFF2-40B4-BE49-F238E27FC236}">
                      <a16:creationId xmlns:a16="http://schemas.microsoft.com/office/drawing/2014/main" id="{CCCD4595-5DD6-4FEE-A305-A6A1B49399A1}"/>
                    </a:ext>
                  </a:extLst>
                </p:cNvPr>
                <p:cNvSpPr/>
                <p:nvPr/>
              </p:nvSpPr>
              <p:spPr>
                <a:xfrm>
                  <a:off x="4829338" y="2936240"/>
                  <a:ext cx="6931770" cy="50947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92500" lnSpcReduction="1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/>
                    <a:t>国产软件的发展有助于减少对国外软件的依赖，提高国家信息系统的安全性和自主可控性，从而保障国家安全。</a:t>
                  </a:r>
                  <a:endParaRPr lang="en-US" sz="2400" dirty="0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BD44852E-2039-2B76-9878-2690A98FF4EF}"/>
                  </a:ext>
                </a:extLst>
              </p:cNvPr>
              <p:cNvGrpSpPr/>
              <p:nvPr/>
            </p:nvGrpSpPr>
            <p:grpSpPr>
              <a:xfrm>
                <a:off x="1406456" y="3568192"/>
                <a:ext cx="10268665" cy="509476"/>
                <a:chOff x="1406456" y="3525137"/>
                <a:chExt cx="10268665" cy="509476"/>
              </a:xfrm>
            </p:grpSpPr>
            <p:sp>
              <p:nvSpPr>
                <p:cNvPr id="6" name="Bullet2">
                  <a:extLst>
                    <a:ext uri="{FF2B5EF4-FFF2-40B4-BE49-F238E27FC236}">
                      <a16:creationId xmlns:a16="http://schemas.microsoft.com/office/drawing/2014/main" id="{0389580D-D694-499A-B76D-F27C3AA2CBA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55618" y="3571839"/>
                  <a:ext cx="2958442" cy="416072"/>
                </a:xfrm>
                <a:prstGeom prst="homePlate">
                  <a:avLst/>
                </a:prstGeom>
                <a:solidFill>
                  <a:schemeClr val="accent2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2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80000" tIns="45720" rIns="18000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b="1" dirty="0">
                      <a:solidFill>
                        <a:schemeClr val="bg1"/>
                      </a:solidFill>
                    </a:rPr>
                    <a:t>经济竞争力</a:t>
                  </a:r>
                  <a:endParaRPr lang="en-US" dirty="0"/>
                </a:p>
              </p:txBody>
            </p:sp>
            <p:sp>
              <p:nvSpPr>
                <p:cNvPr id="35" name="Number2">
                  <a:extLst>
                    <a:ext uri="{FF2B5EF4-FFF2-40B4-BE49-F238E27FC236}">
                      <a16:creationId xmlns:a16="http://schemas.microsoft.com/office/drawing/2014/main" id="{AE583471-73FD-43F7-841F-54CD7D21CA47}"/>
                    </a:ext>
                  </a:extLst>
                </p:cNvPr>
                <p:cNvSpPr/>
                <p:nvPr/>
              </p:nvSpPr>
              <p:spPr>
                <a:xfrm>
                  <a:off x="1406456" y="3581323"/>
                  <a:ext cx="761248" cy="397104"/>
                </a:xfrm>
                <a:prstGeom prst="rect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accent2"/>
                      </a:solidFill>
                    </a:rPr>
                    <a:t>02</a:t>
                  </a:r>
                </a:p>
              </p:txBody>
            </p:sp>
            <p:sp>
              <p:nvSpPr>
                <p:cNvPr id="46" name="Text2">
                  <a:extLst>
                    <a:ext uri="{FF2B5EF4-FFF2-40B4-BE49-F238E27FC236}">
                      <a16:creationId xmlns:a16="http://schemas.microsoft.com/office/drawing/2014/main" id="{CF77A968-1ECA-4315-A4D2-214C1CCA5A3E}"/>
                    </a:ext>
                  </a:extLst>
                </p:cNvPr>
                <p:cNvSpPr/>
                <p:nvPr/>
              </p:nvSpPr>
              <p:spPr>
                <a:xfrm>
                  <a:off x="5536975" y="3525137"/>
                  <a:ext cx="6138146" cy="50947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92500" lnSpcReduction="1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/>
                    <a:t>国产软件的发展有助于提升我国信息产业的整体竞争力，促进产业结构优化升级，对经济增长具有重要意义。</a:t>
                  </a:r>
                  <a:endParaRPr lang="en-US" sz="2400" dirty="0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7062D11B-B681-E4F6-2849-A199A1DDE595}"/>
                  </a:ext>
                </a:extLst>
              </p:cNvPr>
              <p:cNvGrpSpPr/>
              <p:nvPr/>
            </p:nvGrpSpPr>
            <p:grpSpPr>
              <a:xfrm>
                <a:off x="1406456" y="4200144"/>
                <a:ext cx="10600226" cy="509476"/>
                <a:chOff x="1406456" y="4123248"/>
                <a:chExt cx="10600226" cy="509476"/>
              </a:xfrm>
            </p:grpSpPr>
            <p:sp>
              <p:nvSpPr>
                <p:cNvPr id="7" name="Bullet3">
                  <a:extLst>
                    <a:ext uri="{FF2B5EF4-FFF2-40B4-BE49-F238E27FC236}">
                      <a16:creationId xmlns:a16="http://schemas.microsoft.com/office/drawing/2014/main" id="{B404737B-5E93-4E60-B6FD-B7830E38BAE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55618" y="4169950"/>
                  <a:ext cx="3707118" cy="416072"/>
                </a:xfrm>
                <a:prstGeom prst="homePlate">
                  <a:avLst/>
                </a:prstGeom>
                <a:solidFill>
                  <a:schemeClr val="accent3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80000" tIns="45720" rIns="18000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b="1" dirty="0">
                      <a:solidFill>
                        <a:schemeClr val="bg1"/>
                      </a:solidFill>
                    </a:rPr>
                    <a:t>人才培养</a:t>
                  </a:r>
                  <a:endParaRPr lang="en-US" dirty="0"/>
                </a:p>
              </p:txBody>
            </p:sp>
            <p:sp>
              <p:nvSpPr>
                <p:cNvPr id="36" name="Number3">
                  <a:extLst>
                    <a:ext uri="{FF2B5EF4-FFF2-40B4-BE49-F238E27FC236}">
                      <a16:creationId xmlns:a16="http://schemas.microsoft.com/office/drawing/2014/main" id="{03738243-73E5-4040-B8D3-AB17731488B7}"/>
                    </a:ext>
                  </a:extLst>
                </p:cNvPr>
                <p:cNvSpPr/>
                <p:nvPr/>
              </p:nvSpPr>
              <p:spPr>
                <a:xfrm>
                  <a:off x="1406456" y="4179434"/>
                  <a:ext cx="761248" cy="397104"/>
                </a:xfrm>
                <a:prstGeom prst="rect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accent3"/>
                      </a:solidFill>
                    </a:rPr>
                    <a:t>03</a:t>
                  </a:r>
                </a:p>
              </p:txBody>
            </p:sp>
            <p:sp>
              <p:nvSpPr>
                <p:cNvPr id="47" name="Text3">
                  <a:extLst>
                    <a:ext uri="{FF2B5EF4-FFF2-40B4-BE49-F238E27FC236}">
                      <a16:creationId xmlns:a16="http://schemas.microsoft.com/office/drawing/2014/main" id="{E5E5C305-BEDE-43D9-BEF8-29C20C29FA28}"/>
                    </a:ext>
                  </a:extLst>
                </p:cNvPr>
                <p:cNvSpPr/>
                <p:nvPr/>
              </p:nvSpPr>
              <p:spPr>
                <a:xfrm>
                  <a:off x="6244611" y="4123248"/>
                  <a:ext cx="5762071" cy="50947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92500" lnSpcReduction="1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/>
                    <a:t>国产软件的发展需要大量的高素质人才，其研发和应用过程可以培养和锻炼相关领域的人才，为我国科技创新提供人才支持。</a:t>
                  </a:r>
                  <a:endParaRPr lang="en-US" sz="2400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81DC6028-9650-E729-0F61-BCBA1A75D122}"/>
                  </a:ext>
                </a:extLst>
              </p:cNvPr>
              <p:cNvGrpSpPr/>
              <p:nvPr/>
            </p:nvGrpSpPr>
            <p:grpSpPr>
              <a:xfrm>
                <a:off x="1406456" y="4832096"/>
                <a:ext cx="10485472" cy="509476"/>
                <a:chOff x="1406456" y="4728427"/>
                <a:chExt cx="10485472" cy="509476"/>
              </a:xfrm>
            </p:grpSpPr>
            <p:sp>
              <p:nvSpPr>
                <p:cNvPr id="8" name="Bullet4">
                  <a:extLst>
                    <a:ext uri="{FF2B5EF4-FFF2-40B4-BE49-F238E27FC236}">
                      <a16:creationId xmlns:a16="http://schemas.microsoft.com/office/drawing/2014/main" id="{EE09DECF-F14C-468D-B34E-D5A5DF94C5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55618" y="4775129"/>
                  <a:ext cx="4455792" cy="416072"/>
                </a:xfrm>
                <a:prstGeom prst="homePlate">
                  <a:avLst/>
                </a:prstGeom>
                <a:solidFill>
                  <a:schemeClr val="accent4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4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80000" tIns="45720" rIns="18000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b="1" dirty="0">
                      <a:solidFill>
                        <a:schemeClr val="bg1"/>
                      </a:solidFill>
                    </a:rPr>
                    <a:t>产业升级</a:t>
                  </a:r>
                  <a:endParaRPr lang="en-US" dirty="0"/>
                </a:p>
              </p:txBody>
            </p:sp>
            <p:sp>
              <p:nvSpPr>
                <p:cNvPr id="37" name="Number4">
                  <a:extLst>
                    <a:ext uri="{FF2B5EF4-FFF2-40B4-BE49-F238E27FC236}">
                      <a16:creationId xmlns:a16="http://schemas.microsoft.com/office/drawing/2014/main" id="{73B4E5C9-3FC8-4B39-8707-77579FE6ADBF}"/>
                    </a:ext>
                  </a:extLst>
                </p:cNvPr>
                <p:cNvSpPr/>
                <p:nvPr/>
              </p:nvSpPr>
              <p:spPr>
                <a:xfrm>
                  <a:off x="1406456" y="4784613"/>
                  <a:ext cx="761248" cy="397104"/>
                </a:xfrm>
                <a:prstGeom prst="rect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accent4"/>
                      </a:solidFill>
                    </a:rPr>
                    <a:t>04</a:t>
                  </a:r>
                </a:p>
              </p:txBody>
            </p:sp>
            <p:sp>
              <p:nvSpPr>
                <p:cNvPr id="48" name="Text4">
                  <a:extLst>
                    <a:ext uri="{FF2B5EF4-FFF2-40B4-BE49-F238E27FC236}">
                      <a16:creationId xmlns:a16="http://schemas.microsoft.com/office/drawing/2014/main" id="{EB1FE1C1-0A55-4790-A206-01404E2CE8DF}"/>
                    </a:ext>
                  </a:extLst>
                </p:cNvPr>
                <p:cNvSpPr/>
                <p:nvPr/>
              </p:nvSpPr>
              <p:spPr>
                <a:xfrm>
                  <a:off x="6952247" y="4728427"/>
                  <a:ext cx="4939681" cy="50947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92500" lnSpcReduction="100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600" dirty="0"/>
                    <a:t>国产软件的发展可以推动相关产业的技术创新和产业升级，形成新的经济增长点。</a:t>
                  </a:r>
                  <a:endParaRPr lang="en-US" sz="2400" dirty="0"/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FF9BC111-4EE1-1027-71D1-B565E7CFB080}"/>
                  </a:ext>
                </a:extLst>
              </p:cNvPr>
              <p:cNvGrpSpPr/>
              <p:nvPr/>
            </p:nvGrpSpPr>
            <p:grpSpPr>
              <a:xfrm>
                <a:off x="1406456" y="5464050"/>
                <a:ext cx="10600226" cy="509476"/>
                <a:chOff x="1406456" y="5464050"/>
                <a:chExt cx="10600226" cy="509476"/>
              </a:xfrm>
            </p:grpSpPr>
            <p:sp>
              <p:nvSpPr>
                <p:cNvPr id="9" name="Bullet5">
                  <a:extLst>
                    <a:ext uri="{FF2B5EF4-FFF2-40B4-BE49-F238E27FC236}">
                      <a16:creationId xmlns:a16="http://schemas.microsoft.com/office/drawing/2014/main" id="{34E4E406-A45A-4ABA-9A74-035F81D260D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55618" y="5510752"/>
                  <a:ext cx="5204469" cy="416072"/>
                </a:xfrm>
                <a:prstGeom prst="homePlate">
                  <a:avLst/>
                </a:prstGeom>
                <a:solidFill>
                  <a:schemeClr val="accent5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5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80000" tIns="45720" rIns="18000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b="1" dirty="0">
                      <a:solidFill>
                        <a:schemeClr val="bg1"/>
                      </a:solidFill>
                    </a:rPr>
                    <a:t>国际合作与竞争</a:t>
                  </a:r>
                  <a:endParaRPr lang="en-US" dirty="0"/>
                </a:p>
              </p:txBody>
            </p:sp>
            <p:sp>
              <p:nvSpPr>
                <p:cNvPr id="38" name="Number5">
                  <a:extLst>
                    <a:ext uri="{FF2B5EF4-FFF2-40B4-BE49-F238E27FC236}">
                      <a16:creationId xmlns:a16="http://schemas.microsoft.com/office/drawing/2014/main" id="{D265966D-DFE2-4058-ADAF-F02B0CC84F71}"/>
                    </a:ext>
                  </a:extLst>
                </p:cNvPr>
                <p:cNvSpPr/>
                <p:nvPr/>
              </p:nvSpPr>
              <p:spPr>
                <a:xfrm>
                  <a:off x="1406456" y="5520236"/>
                  <a:ext cx="761248" cy="397104"/>
                </a:xfrm>
                <a:prstGeom prst="rect">
                  <a:avLst/>
                </a:pr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600" b="1" dirty="0">
                      <a:solidFill>
                        <a:schemeClr val="accent5"/>
                      </a:solidFill>
                    </a:rPr>
                    <a:t>05</a:t>
                  </a:r>
                </a:p>
              </p:txBody>
            </p:sp>
            <p:sp>
              <p:nvSpPr>
                <p:cNvPr id="49" name="Text5">
                  <a:extLst>
                    <a:ext uri="{FF2B5EF4-FFF2-40B4-BE49-F238E27FC236}">
                      <a16:creationId xmlns:a16="http://schemas.microsoft.com/office/drawing/2014/main" id="{616E7B35-0D71-422B-BEFD-E99752FEEC34}"/>
                    </a:ext>
                  </a:extLst>
                </p:cNvPr>
                <p:cNvSpPr/>
                <p:nvPr/>
              </p:nvSpPr>
              <p:spPr>
                <a:xfrm>
                  <a:off x="7704674" y="5464050"/>
                  <a:ext cx="4302008" cy="50947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国产软件的发展有助于推动我国软件企业参与国际竞争，扩大国际合作，提升我国在全球软件产业中的地位。</a:t>
                  </a:r>
                  <a:endParaRPr lang="en-US" sz="2000" dirty="0"/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64180" y="298579"/>
            <a:ext cx="5539228" cy="964767"/>
          </a:xfrm>
        </p:spPr>
        <p:txBody>
          <a:bodyPr/>
          <a:lstStyle/>
          <a:p>
            <a:r>
              <a:rPr lang="zh-CN" altLang="en-US" dirty="0"/>
              <a:t>二、国产软件现状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6364180" y="2217592"/>
            <a:ext cx="3778196" cy="2289094"/>
          </a:xfrm>
        </p:spPr>
        <p:txBody>
          <a:bodyPr>
            <a:normAutofit/>
          </a:bodyPr>
          <a:lstStyle/>
          <a:p>
            <a:r>
              <a:rPr lang="en-US" altLang="zh-CN" dirty="0"/>
              <a:t>·</a:t>
            </a:r>
            <a:r>
              <a:rPr lang="zh-CN" altLang="en-US" dirty="0"/>
              <a:t>国产软件分类</a:t>
            </a:r>
            <a:endParaRPr lang="en-US" altLang="zh-CN" dirty="0"/>
          </a:p>
          <a:p>
            <a:r>
              <a:rPr lang="en-US" altLang="zh-CN" dirty="0"/>
              <a:t>·</a:t>
            </a:r>
            <a:r>
              <a:rPr lang="zh-CN" altLang="en-US" dirty="0"/>
              <a:t>国产软件现状</a:t>
            </a:r>
            <a:endParaRPr lang="en-US" altLang="zh-CN" dirty="0"/>
          </a:p>
          <a:p>
            <a:r>
              <a:rPr lang="en-US" altLang="zh-CN" dirty="0"/>
              <a:t>·</a:t>
            </a:r>
            <a:r>
              <a:rPr lang="zh-CN" altLang="en-US" dirty="0"/>
              <a:t>国产软件面临的挑战</a:t>
            </a:r>
            <a:endParaRPr lang="en-US" altLang="zh-CN" dirty="0"/>
          </a:p>
          <a:p>
            <a:r>
              <a:rPr lang="en-US" altLang="zh-CN" dirty="0"/>
              <a:t>·</a:t>
            </a:r>
            <a:r>
              <a:rPr lang="zh-CN" altLang="en-US" dirty="0"/>
              <a:t>国家对国产软件的政策支持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chemeClr val="accent3"/>
            </a:gs>
            <a:gs pos="100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国产软件的分类</a:t>
            </a:r>
            <a:endParaRPr lang="en-US" dirty="0"/>
          </a:p>
        </p:txBody>
      </p:sp>
      <p:grpSp>
        <p:nvGrpSpPr>
          <p:cNvPr id="46" name="diagram6.pptx">
            <a:extLst>
              <a:ext uri="{FF2B5EF4-FFF2-40B4-BE49-F238E27FC236}">
                <a16:creationId xmlns:a16="http://schemas.microsoft.com/office/drawing/2014/main" id="{07544261-B942-EE53-F547-8090D1BE89A8}"/>
              </a:ext>
            </a:extLst>
          </p:cNvPr>
          <p:cNvGrpSpPr/>
          <p:nvPr/>
        </p:nvGrpSpPr>
        <p:grpSpPr>
          <a:xfrm>
            <a:off x="688675" y="1121295"/>
            <a:ext cx="10876464" cy="4967917"/>
            <a:chOff x="688675" y="1130626"/>
            <a:chExt cx="10876464" cy="4967917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15E9E50-585F-56BD-731B-2747C3F52A5B}"/>
                </a:ext>
              </a:extLst>
            </p:cNvPr>
            <p:cNvGrpSpPr/>
            <p:nvPr/>
          </p:nvGrpSpPr>
          <p:grpSpPr>
            <a:xfrm>
              <a:off x="690895" y="1559601"/>
              <a:ext cx="1786448" cy="4538942"/>
              <a:chOff x="673100" y="1571087"/>
              <a:chExt cx="1786448" cy="4538942"/>
            </a:xfrm>
          </p:grpSpPr>
          <p:sp>
            <p:nvSpPr>
              <p:cNvPr id="3" name="Icon1">
                <a:extLst>
                  <a:ext uri="{FF2B5EF4-FFF2-40B4-BE49-F238E27FC236}">
                    <a16:creationId xmlns:a16="http://schemas.microsoft.com/office/drawing/2014/main" id="{6C816D9B-4971-6B7E-AE48-07265E89E6C5}"/>
                  </a:ext>
                </a:extLst>
              </p:cNvPr>
              <p:cNvSpPr/>
              <p:nvPr/>
            </p:nvSpPr>
            <p:spPr>
              <a:xfrm>
                <a:off x="721390" y="5619745"/>
                <a:ext cx="516860" cy="49028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/>
              </a:p>
            </p:txBody>
          </p:sp>
          <p:sp>
            <p:nvSpPr>
              <p:cNvPr id="6" name="Text1">
                <a:extLst>
                  <a:ext uri="{FF2B5EF4-FFF2-40B4-BE49-F238E27FC236}">
                    <a16:creationId xmlns:a16="http://schemas.microsoft.com/office/drawing/2014/main" id="{0B8E17EA-15FA-546C-E3CD-FE06F3F15BF0}"/>
                  </a:ext>
                </a:extLst>
              </p:cNvPr>
              <p:cNvSpPr txBox="1"/>
              <p:nvPr/>
            </p:nvSpPr>
            <p:spPr>
              <a:xfrm>
                <a:off x="673100" y="2047387"/>
                <a:ext cx="1733919" cy="333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 fontScale="2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6400" dirty="0"/>
                  <a:t>国产软件的操作系统包括：鸿蒙操作系统（</a:t>
                </a:r>
                <a:r>
                  <a:rPr lang="en-US" altLang="zh-CN" sz="6400" dirty="0" err="1"/>
                  <a:t>HarmonyOS</a:t>
                </a:r>
                <a:r>
                  <a:rPr lang="zh-CN" altLang="en-US" sz="6400" dirty="0"/>
                  <a:t>）、麒麟操作系统（</a:t>
                </a:r>
                <a:r>
                  <a:rPr lang="en-US" altLang="zh-CN" sz="6400" dirty="0" err="1"/>
                  <a:t>Kylin</a:t>
                </a:r>
                <a:r>
                  <a:rPr lang="en-US" altLang="zh-CN" sz="6400" dirty="0"/>
                  <a:t> OS</a:t>
                </a:r>
                <a:r>
                  <a:rPr lang="zh-CN" altLang="en-US" sz="6400" dirty="0"/>
                  <a:t>）、</a:t>
                </a:r>
                <a:r>
                  <a:rPr lang="en-US" altLang="zh-CN" sz="6400" dirty="0"/>
                  <a:t>UOS</a:t>
                </a:r>
                <a:r>
                  <a:rPr lang="zh-CN" altLang="en-US" sz="6400" dirty="0"/>
                  <a:t>操作系统（</a:t>
                </a:r>
                <a:r>
                  <a:rPr lang="en-US" altLang="zh-CN" sz="6400" dirty="0" err="1"/>
                  <a:t>UnionOS</a:t>
                </a:r>
                <a:r>
                  <a:rPr lang="zh-CN" altLang="en-US" sz="6400" dirty="0"/>
                  <a:t>）、中科方德操作系统（</a:t>
                </a:r>
                <a:r>
                  <a:rPr lang="en-US" altLang="zh-CN" sz="6400" dirty="0"/>
                  <a:t>Fedora</a:t>
                </a:r>
                <a:r>
                  <a:rPr lang="zh-CN" altLang="en-US" sz="6400" dirty="0"/>
                  <a:t>）等</a:t>
                </a:r>
                <a:r>
                  <a:rPr lang="zh-CN" altLang="en-US" sz="1200" dirty="0"/>
                  <a:t>。</a:t>
                </a:r>
                <a:endParaRPr lang="en-US" dirty="0"/>
              </a:p>
            </p:txBody>
          </p:sp>
          <p:sp>
            <p:nvSpPr>
              <p:cNvPr id="7" name="Bullet1">
                <a:extLst>
                  <a:ext uri="{FF2B5EF4-FFF2-40B4-BE49-F238E27FC236}">
                    <a16:creationId xmlns:a16="http://schemas.microsoft.com/office/drawing/2014/main" id="{2E88860D-3C5E-2B44-30C5-64B8329150A5}"/>
                  </a:ext>
                </a:extLst>
              </p:cNvPr>
              <p:cNvSpPr/>
              <p:nvPr/>
            </p:nvSpPr>
            <p:spPr>
              <a:xfrm>
                <a:off x="725628" y="1571087"/>
                <a:ext cx="1733920" cy="47737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/>
              <a:p>
                <a:pPr lvl="0"/>
                <a:r>
                  <a:rPr lang="zh-CN" altLang="en-US" b="1" dirty="0"/>
                  <a:t>操作系统</a:t>
                </a:r>
                <a:endParaRPr lang="en-US" dirty="0"/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4B245BC5-B333-B586-E9FF-216954535B76}"/>
                </a:ext>
              </a:extLst>
            </p:cNvPr>
            <p:cNvGrpSpPr/>
            <p:nvPr/>
          </p:nvGrpSpPr>
          <p:grpSpPr>
            <a:xfrm>
              <a:off x="2513271" y="1559601"/>
              <a:ext cx="1733919" cy="4538942"/>
              <a:chOff x="2495476" y="1571087"/>
              <a:chExt cx="1733919" cy="4538942"/>
            </a:xfrm>
          </p:grpSpPr>
          <p:sp>
            <p:nvSpPr>
              <p:cNvPr id="9" name="Text2">
                <a:extLst>
                  <a:ext uri="{FF2B5EF4-FFF2-40B4-BE49-F238E27FC236}">
                    <a16:creationId xmlns:a16="http://schemas.microsoft.com/office/drawing/2014/main" id="{F5F7AB0C-92DB-5B75-F37A-3C6A198CCD41}"/>
                  </a:ext>
                </a:extLst>
              </p:cNvPr>
              <p:cNvSpPr txBox="1"/>
              <p:nvPr/>
            </p:nvSpPr>
            <p:spPr>
              <a:xfrm>
                <a:off x="2495476" y="2047388"/>
                <a:ext cx="1733919" cy="3339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金山</a:t>
                </a:r>
                <a:r>
                  <a:rPr lang="en-US" altLang="zh-CN" sz="1600" dirty="0"/>
                  <a:t>WPS</a:t>
                </a:r>
                <a:r>
                  <a:rPr lang="zh-CN" altLang="en-US" sz="1600" dirty="0"/>
                  <a:t>、永中</a:t>
                </a:r>
                <a:r>
                  <a:rPr lang="en-US" altLang="zh-CN" sz="1600" dirty="0"/>
                  <a:t>Office</a:t>
                </a:r>
                <a:r>
                  <a:rPr lang="zh-CN" altLang="en-US" sz="1600" dirty="0"/>
                  <a:t>、数科</a:t>
                </a:r>
                <a:r>
                  <a:rPr lang="en-US" altLang="zh-CN" sz="1600" dirty="0"/>
                  <a:t>Office</a:t>
                </a:r>
                <a:r>
                  <a:rPr lang="zh-CN" altLang="en-US" sz="1600" dirty="0"/>
                  <a:t>等。</a:t>
                </a:r>
                <a:endParaRPr lang="en-US" sz="1600" dirty="0"/>
              </a:p>
            </p:txBody>
          </p:sp>
          <p:sp>
            <p:nvSpPr>
              <p:cNvPr id="10" name="Bullet2">
                <a:extLst>
                  <a:ext uri="{FF2B5EF4-FFF2-40B4-BE49-F238E27FC236}">
                    <a16:creationId xmlns:a16="http://schemas.microsoft.com/office/drawing/2014/main" id="{99F27EA9-E196-45A6-F6FB-2935B3C2BB76}"/>
                  </a:ext>
                </a:extLst>
              </p:cNvPr>
              <p:cNvSpPr/>
              <p:nvPr/>
            </p:nvSpPr>
            <p:spPr>
              <a:xfrm>
                <a:off x="2508177" y="1571087"/>
                <a:ext cx="1721218" cy="47737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/>
              <a:p>
                <a:pPr lvl="0"/>
                <a:r>
                  <a:rPr lang="zh-CN" altLang="en-US" b="1" dirty="0"/>
                  <a:t>办公软件</a:t>
                </a:r>
                <a:endParaRPr lang="en-US" dirty="0"/>
              </a:p>
            </p:txBody>
          </p:sp>
          <p:sp>
            <p:nvSpPr>
              <p:cNvPr id="11" name="Icon2">
                <a:extLst>
                  <a:ext uri="{FF2B5EF4-FFF2-40B4-BE49-F238E27FC236}">
                    <a16:creationId xmlns:a16="http://schemas.microsoft.com/office/drawing/2014/main" id="{ADBE2C3C-B3DA-2A0C-48F5-ABE41D866209}"/>
                  </a:ext>
                </a:extLst>
              </p:cNvPr>
              <p:cNvSpPr/>
              <p:nvPr/>
            </p:nvSpPr>
            <p:spPr>
              <a:xfrm>
                <a:off x="2543766" y="5619745"/>
                <a:ext cx="516860" cy="49028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6C294D0-C837-FE0F-612F-C89E006EBE30}"/>
                </a:ext>
              </a:extLst>
            </p:cNvPr>
            <p:cNvGrpSpPr/>
            <p:nvPr/>
          </p:nvGrpSpPr>
          <p:grpSpPr>
            <a:xfrm>
              <a:off x="4335647" y="1559601"/>
              <a:ext cx="1760353" cy="4538942"/>
              <a:chOff x="4317852" y="1571087"/>
              <a:chExt cx="1760353" cy="4538942"/>
            </a:xfrm>
          </p:grpSpPr>
          <p:sp>
            <p:nvSpPr>
              <p:cNvPr id="14" name="Text3">
                <a:extLst>
                  <a:ext uri="{FF2B5EF4-FFF2-40B4-BE49-F238E27FC236}">
                    <a16:creationId xmlns:a16="http://schemas.microsoft.com/office/drawing/2014/main" id="{B48E742B-FA89-7FA0-172D-D9E9BDFA8DBD}"/>
                  </a:ext>
                </a:extLst>
              </p:cNvPr>
              <p:cNvSpPr txBox="1"/>
              <p:nvPr/>
            </p:nvSpPr>
            <p:spPr>
              <a:xfrm>
                <a:off x="4317852" y="2064185"/>
                <a:ext cx="1733919" cy="33256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达梦数据库、人大金仓数据库、南大通用数据库等。</a:t>
                </a:r>
                <a:endParaRPr lang="en-US" dirty="0"/>
              </a:p>
            </p:txBody>
          </p:sp>
          <p:sp>
            <p:nvSpPr>
              <p:cNvPr id="15" name="Bullet3">
                <a:extLst>
                  <a:ext uri="{FF2B5EF4-FFF2-40B4-BE49-F238E27FC236}">
                    <a16:creationId xmlns:a16="http://schemas.microsoft.com/office/drawing/2014/main" id="{DB6358B5-ABF5-0A20-D0D0-C0A3AA2CCFDF}"/>
                  </a:ext>
                </a:extLst>
              </p:cNvPr>
              <p:cNvSpPr/>
              <p:nvPr/>
            </p:nvSpPr>
            <p:spPr>
              <a:xfrm>
                <a:off x="4344286" y="1571087"/>
                <a:ext cx="1733919" cy="47737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/>
              <a:p>
                <a:pPr lvl="0"/>
                <a:r>
                  <a:rPr lang="zh-CN" altLang="en-US" b="1" dirty="0"/>
                  <a:t>数据库</a:t>
                </a:r>
                <a:endParaRPr lang="en-US" dirty="0"/>
              </a:p>
            </p:txBody>
          </p:sp>
          <p:sp>
            <p:nvSpPr>
              <p:cNvPr id="16" name="Icon3">
                <a:extLst>
                  <a:ext uri="{FF2B5EF4-FFF2-40B4-BE49-F238E27FC236}">
                    <a16:creationId xmlns:a16="http://schemas.microsoft.com/office/drawing/2014/main" id="{F6370C94-4726-4B9E-6760-A61EDB256F98}"/>
                  </a:ext>
                </a:extLst>
              </p:cNvPr>
              <p:cNvSpPr/>
              <p:nvPr/>
            </p:nvSpPr>
            <p:spPr>
              <a:xfrm>
                <a:off x="4366142" y="5619745"/>
                <a:ext cx="516860" cy="49028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/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886FCB53-42C7-16A7-4EA5-9BE67197A917}"/>
                </a:ext>
              </a:extLst>
            </p:cNvPr>
            <p:cNvGrpSpPr/>
            <p:nvPr/>
          </p:nvGrpSpPr>
          <p:grpSpPr>
            <a:xfrm>
              <a:off x="6158023" y="1575329"/>
              <a:ext cx="1802293" cy="4523214"/>
              <a:chOff x="6140228" y="1586815"/>
              <a:chExt cx="1802293" cy="4523214"/>
            </a:xfrm>
          </p:grpSpPr>
          <p:sp>
            <p:nvSpPr>
              <p:cNvPr id="19" name="Text4">
                <a:extLst>
                  <a:ext uri="{FF2B5EF4-FFF2-40B4-BE49-F238E27FC236}">
                    <a16:creationId xmlns:a16="http://schemas.microsoft.com/office/drawing/2014/main" id="{41265A97-C6EF-FE1D-CF8E-2A0B0915AFB2}"/>
                  </a:ext>
                </a:extLst>
              </p:cNvPr>
              <p:cNvSpPr txBox="1"/>
              <p:nvPr/>
            </p:nvSpPr>
            <p:spPr>
              <a:xfrm>
                <a:off x="6140228" y="2080984"/>
                <a:ext cx="1733919" cy="33120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600" dirty="0"/>
                  <a:t>360</a:t>
                </a:r>
                <a:r>
                  <a:rPr lang="zh-CN" altLang="en-US" sz="1600" dirty="0"/>
                  <a:t>安全卫士、金山毒霸、瑞星杀毒软件、腾讯电脑管家等。</a:t>
                </a:r>
                <a:endParaRPr lang="en-US" sz="2400" dirty="0"/>
              </a:p>
            </p:txBody>
          </p:sp>
          <p:sp>
            <p:nvSpPr>
              <p:cNvPr id="20" name="Bullet4">
                <a:extLst>
                  <a:ext uri="{FF2B5EF4-FFF2-40B4-BE49-F238E27FC236}">
                    <a16:creationId xmlns:a16="http://schemas.microsoft.com/office/drawing/2014/main" id="{AF32F852-B294-8E50-B320-315011FE3E69}"/>
                  </a:ext>
                </a:extLst>
              </p:cNvPr>
              <p:cNvSpPr/>
              <p:nvPr/>
            </p:nvSpPr>
            <p:spPr>
              <a:xfrm>
                <a:off x="6208601" y="1586815"/>
                <a:ext cx="1733920" cy="47737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/>
              <a:p>
                <a:pPr lvl="0"/>
                <a:r>
                  <a:rPr lang="zh-CN" altLang="en-US" b="1" dirty="0"/>
                  <a:t>网络安全</a:t>
                </a:r>
                <a:endParaRPr lang="en-US" dirty="0"/>
              </a:p>
            </p:txBody>
          </p:sp>
          <p:sp>
            <p:nvSpPr>
              <p:cNvPr id="21" name="Icon4">
                <a:extLst>
                  <a:ext uri="{FF2B5EF4-FFF2-40B4-BE49-F238E27FC236}">
                    <a16:creationId xmlns:a16="http://schemas.microsoft.com/office/drawing/2014/main" id="{C2732E65-D4F3-5F18-418A-7D3AE3761780}"/>
                  </a:ext>
                </a:extLst>
              </p:cNvPr>
              <p:cNvSpPr/>
              <p:nvPr/>
            </p:nvSpPr>
            <p:spPr>
              <a:xfrm>
                <a:off x="6188518" y="5619745"/>
                <a:ext cx="516860" cy="49028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965874DD-206B-4A25-E5E3-490099F91743}"/>
                </a:ext>
              </a:extLst>
            </p:cNvPr>
            <p:cNvGrpSpPr/>
            <p:nvPr/>
          </p:nvGrpSpPr>
          <p:grpSpPr>
            <a:xfrm>
              <a:off x="7936171" y="1558531"/>
              <a:ext cx="1774086" cy="4540012"/>
              <a:chOff x="7918376" y="1570017"/>
              <a:chExt cx="1774086" cy="4540012"/>
            </a:xfrm>
          </p:grpSpPr>
          <p:sp>
            <p:nvSpPr>
              <p:cNvPr id="24" name="Text5">
                <a:extLst>
                  <a:ext uri="{FF2B5EF4-FFF2-40B4-BE49-F238E27FC236}">
                    <a16:creationId xmlns:a16="http://schemas.microsoft.com/office/drawing/2014/main" id="{97070D86-DC6E-226E-3CB5-C4D380B40BE8}"/>
                  </a:ext>
                </a:extLst>
              </p:cNvPr>
              <p:cNvSpPr txBox="1"/>
              <p:nvPr/>
            </p:nvSpPr>
            <p:spPr>
              <a:xfrm>
                <a:off x="7962605" y="2080985"/>
                <a:ext cx="1685628" cy="3315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阿里云、华为云、腾讯云等。</a:t>
                </a:r>
                <a:endParaRPr lang="en-US" sz="2400" dirty="0"/>
              </a:p>
            </p:txBody>
          </p:sp>
          <p:sp>
            <p:nvSpPr>
              <p:cNvPr id="25" name="Bullet5">
                <a:extLst>
                  <a:ext uri="{FF2B5EF4-FFF2-40B4-BE49-F238E27FC236}">
                    <a16:creationId xmlns:a16="http://schemas.microsoft.com/office/drawing/2014/main" id="{EF78384D-DADB-570B-07B5-A6470010A93D}"/>
                  </a:ext>
                </a:extLst>
              </p:cNvPr>
              <p:cNvSpPr/>
              <p:nvPr/>
            </p:nvSpPr>
            <p:spPr>
              <a:xfrm>
                <a:off x="7918376" y="1570017"/>
                <a:ext cx="1774086" cy="47737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/>
              <a:p>
                <a:pPr lvl="0"/>
                <a:r>
                  <a:rPr lang="zh-CN" altLang="en-US" b="1" dirty="0"/>
                  <a:t>云计算</a:t>
                </a:r>
                <a:endParaRPr lang="en-US" dirty="0"/>
              </a:p>
            </p:txBody>
          </p:sp>
          <p:sp>
            <p:nvSpPr>
              <p:cNvPr id="26" name="Icon5">
                <a:extLst>
                  <a:ext uri="{FF2B5EF4-FFF2-40B4-BE49-F238E27FC236}">
                    <a16:creationId xmlns:a16="http://schemas.microsoft.com/office/drawing/2014/main" id="{CDFB939B-8D50-F680-4EDB-B11112A742DC}"/>
                  </a:ext>
                </a:extLst>
              </p:cNvPr>
              <p:cNvSpPr/>
              <p:nvPr/>
            </p:nvSpPr>
            <p:spPr>
              <a:xfrm>
                <a:off x="8010894" y="5619745"/>
                <a:ext cx="516860" cy="49028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A8882B80-63CB-F623-92E0-90EDC09EA39E}"/>
                </a:ext>
              </a:extLst>
            </p:cNvPr>
            <p:cNvGrpSpPr/>
            <p:nvPr/>
          </p:nvGrpSpPr>
          <p:grpSpPr>
            <a:xfrm>
              <a:off x="9690234" y="1575329"/>
              <a:ext cx="1874905" cy="4523214"/>
              <a:chOff x="9672439" y="1586815"/>
              <a:chExt cx="1874905" cy="4523214"/>
            </a:xfrm>
          </p:grpSpPr>
          <p:sp>
            <p:nvSpPr>
              <p:cNvPr id="29" name="Text6">
                <a:extLst>
                  <a:ext uri="{FF2B5EF4-FFF2-40B4-BE49-F238E27FC236}">
                    <a16:creationId xmlns:a16="http://schemas.microsoft.com/office/drawing/2014/main" id="{890A0D14-652F-62D7-B5AA-B1C1EE200E8C}"/>
                  </a:ext>
                </a:extLst>
              </p:cNvPr>
              <p:cNvSpPr txBox="1"/>
              <p:nvPr/>
            </p:nvSpPr>
            <p:spPr>
              <a:xfrm>
                <a:off x="9784982" y="2171688"/>
                <a:ext cx="1685628" cy="3227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600" dirty="0"/>
                  <a:t>百度文心一言、科大讯飞星火、阿里通义千问、月之暗面</a:t>
                </a:r>
                <a:r>
                  <a:rPr lang="en-US" altLang="zh-CN" sz="1600" dirty="0" err="1"/>
                  <a:t>kimi</a:t>
                </a:r>
                <a:r>
                  <a:rPr lang="zh-CN" altLang="en-US" sz="1600" dirty="0"/>
                  <a:t>助手、智谱清言等。</a:t>
                </a:r>
                <a:endParaRPr lang="en-US" sz="2400" dirty="0"/>
              </a:p>
            </p:txBody>
          </p:sp>
          <p:sp>
            <p:nvSpPr>
              <p:cNvPr id="30" name="Bullet6">
                <a:extLst>
                  <a:ext uri="{FF2B5EF4-FFF2-40B4-BE49-F238E27FC236}">
                    <a16:creationId xmlns:a16="http://schemas.microsoft.com/office/drawing/2014/main" id="{E70A5676-F20B-3C8E-3289-782FF95188AD}"/>
                  </a:ext>
                </a:extLst>
              </p:cNvPr>
              <p:cNvSpPr/>
              <p:nvPr/>
            </p:nvSpPr>
            <p:spPr>
              <a:xfrm>
                <a:off x="9672439" y="1586815"/>
                <a:ext cx="1874905" cy="47737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/>
              <a:p>
                <a:pPr lvl="0"/>
                <a:r>
                  <a:rPr lang="zh-CN" altLang="en-US" b="1" dirty="0"/>
                  <a:t>人工智能大模型</a:t>
                </a:r>
                <a:endParaRPr lang="en-US" dirty="0"/>
              </a:p>
            </p:txBody>
          </p:sp>
          <p:sp>
            <p:nvSpPr>
              <p:cNvPr id="31" name="Icon6">
                <a:extLst>
                  <a:ext uri="{FF2B5EF4-FFF2-40B4-BE49-F238E27FC236}">
                    <a16:creationId xmlns:a16="http://schemas.microsoft.com/office/drawing/2014/main" id="{658AFD6D-FCE2-AF04-457B-41899FE28608}"/>
                  </a:ext>
                </a:extLst>
              </p:cNvPr>
              <p:cNvSpPr/>
              <p:nvPr/>
            </p:nvSpPr>
            <p:spPr>
              <a:xfrm>
                <a:off x="9833271" y="5619745"/>
                <a:ext cx="516860" cy="49028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tx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/>
              </a:p>
            </p:txBody>
          </p:sp>
        </p:grpSp>
        <p:sp>
          <p:nvSpPr>
            <p:cNvPr id="34" name="Title">
              <a:extLst>
                <a:ext uri="{FF2B5EF4-FFF2-40B4-BE49-F238E27FC236}">
                  <a16:creationId xmlns:a16="http://schemas.microsoft.com/office/drawing/2014/main" id="{CEAD47BF-76DB-E3BC-4F38-2843EF0CDF1E}"/>
                </a:ext>
              </a:extLst>
            </p:cNvPr>
            <p:cNvSpPr txBox="1"/>
            <p:nvPr/>
          </p:nvSpPr>
          <p:spPr>
            <a:xfrm>
              <a:off x="688675" y="1130626"/>
              <a:ext cx="10858500" cy="571794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国产软件现状</a:t>
            </a:r>
            <a:endParaRPr lang="en-US" dirty="0"/>
          </a:p>
        </p:txBody>
      </p:sp>
      <p:grpSp>
        <p:nvGrpSpPr>
          <p:cNvPr id="11" name="diagram7.pptx">
            <a:extLst>
              <a:ext uri="{FF2B5EF4-FFF2-40B4-BE49-F238E27FC236}">
                <a16:creationId xmlns:a16="http://schemas.microsoft.com/office/drawing/2014/main" id="{A09C7564-1098-F745-5F48-4A210AF67184}"/>
              </a:ext>
            </a:extLst>
          </p:cNvPr>
          <p:cNvGrpSpPr/>
          <p:nvPr/>
        </p:nvGrpSpPr>
        <p:grpSpPr>
          <a:xfrm>
            <a:off x="660400" y="1148552"/>
            <a:ext cx="10858500" cy="5530118"/>
            <a:chOff x="660400" y="1148552"/>
            <a:chExt cx="10858500" cy="5530118"/>
          </a:xfrm>
        </p:grpSpPr>
        <p:sp>
          <p:nvSpPr>
            <p:cNvPr id="3" name="iṡļîḑé">
              <a:extLst>
                <a:ext uri="{FF2B5EF4-FFF2-40B4-BE49-F238E27FC236}">
                  <a16:creationId xmlns:a16="http://schemas.microsoft.com/office/drawing/2014/main" id="{42FF023D-A800-346D-18A2-D5D15155D60A}"/>
                </a:ext>
              </a:extLst>
            </p:cNvPr>
            <p:cNvSpPr/>
            <p:nvPr/>
          </p:nvSpPr>
          <p:spPr>
            <a:xfrm>
              <a:off x="3767079" y="2033530"/>
              <a:ext cx="4645141" cy="4645140"/>
            </a:xfrm>
            <a:prstGeom prst="donut">
              <a:avLst>
                <a:gd name="adj" fmla="val 14579"/>
              </a:avLst>
            </a:prstGeom>
            <a:gradFill flip="none" rotWithShape="1">
              <a:gsLst>
                <a:gs pos="46000">
                  <a:schemeClr val="accent1">
                    <a:alpha val="0"/>
                  </a:schemeClr>
                </a:gs>
                <a:gs pos="100000">
                  <a:schemeClr val="accent1">
                    <a:alpha val="2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BFB756A-3137-76E8-69BF-FD8CF2F0972A}"/>
                </a:ext>
              </a:extLst>
            </p:cNvPr>
            <p:cNvGrpSpPr/>
            <p:nvPr/>
          </p:nvGrpSpPr>
          <p:grpSpPr>
            <a:xfrm>
              <a:off x="1477761" y="2203699"/>
              <a:ext cx="3355686" cy="1253447"/>
              <a:chOff x="1477761" y="2203699"/>
              <a:chExt cx="3355686" cy="1253447"/>
            </a:xfrm>
          </p:grpSpPr>
          <p:sp>
            <p:nvSpPr>
              <p:cNvPr id="85" name="ComponentBackground1">
                <a:extLst>
                  <a:ext uri="{FF2B5EF4-FFF2-40B4-BE49-F238E27FC236}">
                    <a16:creationId xmlns:a16="http://schemas.microsoft.com/office/drawing/2014/main" id="{CDB1057B-7BBA-EF64-7A3D-60AC41B7EDE7}"/>
                  </a:ext>
                </a:extLst>
              </p:cNvPr>
              <p:cNvSpPr/>
              <p:nvPr/>
            </p:nvSpPr>
            <p:spPr>
              <a:xfrm flipH="1">
                <a:off x="1477761" y="2203700"/>
                <a:ext cx="3291565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00" dirty="0">
                  <a:sym typeface="+mn-lt"/>
                </a:endParaRPr>
              </a:p>
            </p:txBody>
          </p:sp>
          <p:sp>
            <p:nvSpPr>
              <p:cNvPr id="86" name="Bullet1">
                <a:extLst>
                  <a:ext uri="{FF2B5EF4-FFF2-40B4-BE49-F238E27FC236}">
                    <a16:creationId xmlns:a16="http://schemas.microsoft.com/office/drawing/2014/main" id="{77D349FB-2C8D-C26D-B459-53685ED5EA8C}"/>
                  </a:ext>
                </a:extLst>
              </p:cNvPr>
              <p:cNvSpPr txBox="1"/>
              <p:nvPr/>
            </p:nvSpPr>
            <p:spPr>
              <a:xfrm flipH="1">
                <a:off x="1842687" y="2311867"/>
                <a:ext cx="2136068" cy="36164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1800" dirty="0">
                    <a:solidFill>
                      <a:schemeClr val="tx1"/>
                    </a:solidFill>
                  </a:rPr>
                  <a:t>关键基础软件</a:t>
                </a:r>
                <a:endParaRPr lang="en-US" dirty="0"/>
              </a:p>
            </p:txBody>
          </p:sp>
          <p:sp>
            <p:nvSpPr>
              <p:cNvPr id="87" name="Number1">
                <a:extLst>
                  <a:ext uri="{FF2B5EF4-FFF2-40B4-BE49-F238E27FC236}">
                    <a16:creationId xmlns:a16="http://schemas.microsoft.com/office/drawing/2014/main" id="{7CD70B4F-1D8B-869F-9FEB-F44C676E60F9}"/>
                  </a:ext>
                </a:extLst>
              </p:cNvPr>
              <p:cNvSpPr txBox="1"/>
              <p:nvPr/>
            </p:nvSpPr>
            <p:spPr>
              <a:xfrm flipH="1">
                <a:off x="4255469" y="2203699"/>
                <a:ext cx="577978" cy="577978"/>
              </a:xfrm>
              <a:prstGeom prst="roundRect">
                <a:avLst>
                  <a:gd name="adj" fmla="val 50000"/>
                </a:avLst>
              </a:prstGeom>
              <a:solidFill>
                <a:srgbClr val="F84D4D"/>
              </a:solidFill>
              <a:ln w="254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rgbClr val="F84D4D">
                    <a:alpha val="40000"/>
                  </a:srgbClr>
                </a:outerShdw>
              </a:effectLst>
            </p:spPr>
            <p:txBody>
              <a:bodyPr wrap="none" rtlCol="0" anchor="ctr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dirty="0">
                    <a:latin typeface="+mn-lt"/>
                    <a:ea typeface="+mn-ea"/>
                  </a:rPr>
                  <a:t>01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88" name="Text1">
                <a:extLst>
                  <a:ext uri="{FF2B5EF4-FFF2-40B4-BE49-F238E27FC236}">
                    <a16:creationId xmlns:a16="http://schemas.microsoft.com/office/drawing/2014/main" id="{9ED0C50A-D196-8C45-42AC-512C501809A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724157" y="2778009"/>
                <a:ext cx="2391986" cy="679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sym typeface="Arial" panose="020B0604020202020204" pitchFamily="34" charset="0"/>
                  </a:rPr>
                  <a:t>目前在关键基础软件领域相对落后。</a:t>
                </a:r>
                <a:endParaRPr lang="en-US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8078826-D9F3-A203-A823-6CA204337247}"/>
                </a:ext>
              </a:extLst>
            </p:cNvPr>
            <p:cNvGrpSpPr/>
            <p:nvPr/>
          </p:nvGrpSpPr>
          <p:grpSpPr>
            <a:xfrm>
              <a:off x="701844" y="3643853"/>
              <a:ext cx="3355686" cy="1253447"/>
              <a:chOff x="701844" y="3630512"/>
              <a:chExt cx="3355686" cy="1253447"/>
            </a:xfrm>
          </p:grpSpPr>
          <p:sp>
            <p:nvSpPr>
              <p:cNvPr id="77" name="ComponentBackground2">
                <a:extLst>
                  <a:ext uri="{FF2B5EF4-FFF2-40B4-BE49-F238E27FC236}">
                    <a16:creationId xmlns:a16="http://schemas.microsoft.com/office/drawing/2014/main" id="{7B0A11F1-0B30-F76F-827C-80E385AD7BE6}"/>
                  </a:ext>
                </a:extLst>
              </p:cNvPr>
              <p:cNvSpPr/>
              <p:nvPr/>
            </p:nvSpPr>
            <p:spPr>
              <a:xfrm flipH="1">
                <a:off x="701844" y="3630513"/>
                <a:ext cx="3291565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00" dirty="0">
                  <a:sym typeface="+mn-lt"/>
                </a:endParaRPr>
              </a:p>
            </p:txBody>
          </p:sp>
          <p:sp>
            <p:nvSpPr>
              <p:cNvPr id="78" name="Bullet2">
                <a:extLst>
                  <a:ext uri="{FF2B5EF4-FFF2-40B4-BE49-F238E27FC236}">
                    <a16:creationId xmlns:a16="http://schemas.microsoft.com/office/drawing/2014/main" id="{3D42430F-C50A-85A4-FE7E-7B393873B684}"/>
                  </a:ext>
                </a:extLst>
              </p:cNvPr>
              <p:cNvSpPr txBox="1"/>
              <p:nvPr/>
            </p:nvSpPr>
            <p:spPr>
              <a:xfrm flipH="1">
                <a:off x="1066770" y="3738680"/>
                <a:ext cx="2136068" cy="36164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1800" dirty="0">
                    <a:solidFill>
                      <a:schemeClr val="tx1"/>
                    </a:solidFill>
                  </a:rPr>
                  <a:t>国产软件市场份额</a:t>
                </a:r>
                <a:endParaRPr lang="en-US" dirty="0"/>
              </a:p>
            </p:txBody>
          </p:sp>
          <p:sp>
            <p:nvSpPr>
              <p:cNvPr id="79" name="Number2">
                <a:extLst>
                  <a:ext uri="{FF2B5EF4-FFF2-40B4-BE49-F238E27FC236}">
                    <a16:creationId xmlns:a16="http://schemas.microsoft.com/office/drawing/2014/main" id="{D3FAE535-7AE3-6B19-5669-189C5D96EFFC}"/>
                  </a:ext>
                </a:extLst>
              </p:cNvPr>
              <p:cNvSpPr txBox="1"/>
              <p:nvPr/>
            </p:nvSpPr>
            <p:spPr>
              <a:xfrm flipH="1">
                <a:off x="3479552" y="3630512"/>
                <a:ext cx="577978" cy="577978"/>
              </a:xfrm>
              <a:prstGeom prst="roundRect">
                <a:avLst>
                  <a:gd name="adj" fmla="val 50000"/>
                </a:avLst>
              </a:prstGeom>
              <a:solidFill>
                <a:srgbClr val="F84D4D"/>
              </a:solidFill>
              <a:ln w="254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rgbClr val="F84D4D">
                    <a:alpha val="40000"/>
                  </a:srgbClr>
                </a:outerShdw>
              </a:effectLst>
            </p:spPr>
            <p:txBody>
              <a:bodyPr wrap="none" rtlCol="0" anchor="ctr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dirty="0">
                    <a:latin typeface="+mn-lt"/>
                    <a:ea typeface="+mn-ea"/>
                  </a:rPr>
                  <a:t>02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80" name="Text2">
                <a:extLst>
                  <a:ext uri="{FF2B5EF4-FFF2-40B4-BE49-F238E27FC236}">
                    <a16:creationId xmlns:a16="http://schemas.microsoft.com/office/drawing/2014/main" id="{30BC0F00-686D-816E-C1C3-996EDEF266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48240" y="4204822"/>
                <a:ext cx="2391986" cy="679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sym typeface="Arial" panose="020B0604020202020204" pitchFamily="34" charset="0"/>
                  </a:rPr>
                  <a:t>在国内市场，国产软件逐渐占据一席之地，部分领域表现突出。</a:t>
                </a:r>
                <a:endParaRPr lang="en-US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61815A3-D5F2-CFCE-67E3-E864EE1D9647}"/>
                </a:ext>
              </a:extLst>
            </p:cNvPr>
            <p:cNvGrpSpPr/>
            <p:nvPr/>
          </p:nvGrpSpPr>
          <p:grpSpPr>
            <a:xfrm>
              <a:off x="1290241" y="5057325"/>
              <a:ext cx="3355686" cy="1253447"/>
              <a:chOff x="1290241" y="5057325"/>
              <a:chExt cx="3355686" cy="1253447"/>
            </a:xfrm>
          </p:grpSpPr>
          <p:sp>
            <p:nvSpPr>
              <p:cNvPr id="69" name="ComponentBackground3">
                <a:extLst>
                  <a:ext uri="{FF2B5EF4-FFF2-40B4-BE49-F238E27FC236}">
                    <a16:creationId xmlns:a16="http://schemas.microsoft.com/office/drawing/2014/main" id="{58AB745F-C4E5-1F7C-4977-E4FE115A83C2}"/>
                  </a:ext>
                </a:extLst>
              </p:cNvPr>
              <p:cNvSpPr/>
              <p:nvPr/>
            </p:nvSpPr>
            <p:spPr>
              <a:xfrm flipH="1">
                <a:off x="1290241" y="5057326"/>
                <a:ext cx="3291565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00" dirty="0">
                  <a:sym typeface="+mn-lt"/>
                </a:endParaRPr>
              </a:p>
            </p:txBody>
          </p:sp>
          <p:sp>
            <p:nvSpPr>
              <p:cNvPr id="70" name="Bullet3">
                <a:extLst>
                  <a:ext uri="{FF2B5EF4-FFF2-40B4-BE49-F238E27FC236}">
                    <a16:creationId xmlns:a16="http://schemas.microsoft.com/office/drawing/2014/main" id="{BE67E47D-8527-3EEF-C9C3-3BF2E137B059}"/>
                  </a:ext>
                </a:extLst>
              </p:cNvPr>
              <p:cNvSpPr txBox="1"/>
              <p:nvPr/>
            </p:nvSpPr>
            <p:spPr>
              <a:xfrm flipH="1">
                <a:off x="1655167" y="5165493"/>
                <a:ext cx="2136068" cy="36164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1800" dirty="0">
                    <a:solidFill>
                      <a:schemeClr val="tx1"/>
                    </a:solidFill>
                  </a:rPr>
                  <a:t>国产软件政策支持</a:t>
                </a:r>
                <a:endParaRPr lang="en-US" dirty="0"/>
              </a:p>
            </p:txBody>
          </p:sp>
          <p:sp>
            <p:nvSpPr>
              <p:cNvPr id="71" name="Number3">
                <a:extLst>
                  <a:ext uri="{FF2B5EF4-FFF2-40B4-BE49-F238E27FC236}">
                    <a16:creationId xmlns:a16="http://schemas.microsoft.com/office/drawing/2014/main" id="{C3163898-0076-68BB-C9FA-19A10FD9E0F1}"/>
                  </a:ext>
                </a:extLst>
              </p:cNvPr>
              <p:cNvSpPr txBox="1"/>
              <p:nvPr/>
            </p:nvSpPr>
            <p:spPr>
              <a:xfrm flipH="1">
                <a:off x="4067949" y="5057325"/>
                <a:ext cx="577978" cy="577978"/>
              </a:xfrm>
              <a:prstGeom prst="roundRect">
                <a:avLst>
                  <a:gd name="adj" fmla="val 50000"/>
                </a:avLst>
              </a:prstGeom>
              <a:solidFill>
                <a:srgbClr val="F84D4D"/>
              </a:solidFill>
              <a:ln w="254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rgbClr val="F84D4D">
                    <a:alpha val="40000"/>
                  </a:srgbClr>
                </a:outerShdw>
              </a:effectLst>
            </p:spPr>
            <p:txBody>
              <a:bodyPr wrap="none" rtlCol="0" anchor="ctr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dirty="0">
                    <a:latin typeface="+mn-lt"/>
                    <a:ea typeface="+mn-ea"/>
                  </a:rPr>
                  <a:t>03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72" name="Text3">
                <a:extLst>
                  <a:ext uri="{FF2B5EF4-FFF2-40B4-BE49-F238E27FC236}">
                    <a16:creationId xmlns:a16="http://schemas.microsoft.com/office/drawing/2014/main" id="{0E4698BE-098C-F45B-E3F9-A7ABB4274EE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36637" y="5631635"/>
                <a:ext cx="2391986" cy="679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sym typeface="Arial" panose="020B0604020202020204" pitchFamily="34" charset="0"/>
                  </a:rPr>
                  <a:t>国家大力扶持国产软件发展，出台相关政策鼓励创新和技术研发。</a:t>
                </a:r>
                <a:endParaRPr lang="en-US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871981D-7CC7-2419-2D93-8E22F93A3801}"/>
                </a:ext>
              </a:extLst>
            </p:cNvPr>
            <p:cNvGrpSpPr/>
            <p:nvPr/>
          </p:nvGrpSpPr>
          <p:grpSpPr>
            <a:xfrm>
              <a:off x="8277368" y="3643853"/>
              <a:ext cx="3183336" cy="1253447"/>
              <a:chOff x="8335565" y="3630512"/>
              <a:chExt cx="3183336" cy="1253447"/>
            </a:xfrm>
          </p:grpSpPr>
          <p:sp>
            <p:nvSpPr>
              <p:cNvPr id="73" name="ComponentBackground4">
                <a:extLst>
                  <a:ext uri="{FF2B5EF4-FFF2-40B4-BE49-F238E27FC236}">
                    <a16:creationId xmlns:a16="http://schemas.microsoft.com/office/drawing/2014/main" id="{DB946A61-6922-96E8-E435-F471D0A960DD}"/>
                  </a:ext>
                </a:extLst>
              </p:cNvPr>
              <p:cNvSpPr/>
              <p:nvPr/>
            </p:nvSpPr>
            <p:spPr>
              <a:xfrm>
                <a:off x="8399685" y="3630513"/>
                <a:ext cx="3119216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00" dirty="0">
                  <a:sym typeface="+mn-lt"/>
                </a:endParaRPr>
              </a:p>
            </p:txBody>
          </p:sp>
          <p:sp>
            <p:nvSpPr>
              <p:cNvPr id="74" name="Bullet4">
                <a:extLst>
                  <a:ext uri="{FF2B5EF4-FFF2-40B4-BE49-F238E27FC236}">
                    <a16:creationId xmlns:a16="http://schemas.microsoft.com/office/drawing/2014/main" id="{A83DFF94-A130-0685-AA74-9C21628C4CC6}"/>
                  </a:ext>
                </a:extLst>
              </p:cNvPr>
              <p:cNvSpPr txBox="1"/>
              <p:nvPr/>
            </p:nvSpPr>
            <p:spPr>
              <a:xfrm>
                <a:off x="9190257" y="3738680"/>
                <a:ext cx="2024221" cy="36164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85000" lnSpcReduction="10000"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1800" dirty="0">
                    <a:solidFill>
                      <a:schemeClr val="tx1"/>
                    </a:solidFill>
                  </a:rPr>
                  <a:t>国产软件优势与不足</a:t>
                </a:r>
                <a:endParaRPr lang="en-US" dirty="0"/>
              </a:p>
            </p:txBody>
          </p:sp>
          <p:sp>
            <p:nvSpPr>
              <p:cNvPr id="75" name="Number4">
                <a:extLst>
                  <a:ext uri="{FF2B5EF4-FFF2-40B4-BE49-F238E27FC236}">
                    <a16:creationId xmlns:a16="http://schemas.microsoft.com/office/drawing/2014/main" id="{E45EA55D-E8C0-97F2-2C6A-79D4EF60489D}"/>
                  </a:ext>
                </a:extLst>
              </p:cNvPr>
              <p:cNvSpPr txBox="1"/>
              <p:nvPr/>
            </p:nvSpPr>
            <p:spPr>
              <a:xfrm>
                <a:off x="8335565" y="3630512"/>
                <a:ext cx="577978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none" rtlCol="0" anchor="ctr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dirty="0">
                    <a:latin typeface="+mn-lt"/>
                    <a:ea typeface="+mn-ea"/>
                  </a:rPr>
                  <a:t>04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76" name="Text4">
                <a:extLst>
                  <a:ext uri="{FF2B5EF4-FFF2-40B4-BE49-F238E27FC236}">
                    <a16:creationId xmlns:a16="http://schemas.microsoft.com/office/drawing/2014/main" id="{6E9E83FE-D714-D212-90E4-42573DE51E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22294" y="4204822"/>
                <a:ext cx="2391986" cy="679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fontScale="92500" lnSpcReduction="10000"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sym typeface="Arial" panose="020B0604020202020204" pitchFamily="34" charset="0"/>
                  </a:rPr>
                  <a:t>国产软件在某些方面具备优势，如定制化服务和性价比，但在技术和生态方面仍有待提升。</a:t>
                </a:r>
                <a:endParaRPr 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E068F2D-704C-DA29-1872-FD9A4C1FA911}"/>
                </a:ext>
              </a:extLst>
            </p:cNvPr>
            <p:cNvGrpSpPr/>
            <p:nvPr/>
          </p:nvGrpSpPr>
          <p:grpSpPr>
            <a:xfrm>
              <a:off x="7422676" y="2203699"/>
              <a:ext cx="3183336" cy="1253447"/>
              <a:chOff x="7422676" y="2203699"/>
              <a:chExt cx="3183336" cy="1253447"/>
            </a:xfrm>
          </p:grpSpPr>
          <p:sp>
            <p:nvSpPr>
              <p:cNvPr id="81" name="ComponentBackground5">
                <a:extLst>
                  <a:ext uri="{FF2B5EF4-FFF2-40B4-BE49-F238E27FC236}">
                    <a16:creationId xmlns:a16="http://schemas.microsoft.com/office/drawing/2014/main" id="{81005BAD-AF70-0CBD-A4C5-82E5F563E197}"/>
                  </a:ext>
                </a:extLst>
              </p:cNvPr>
              <p:cNvSpPr/>
              <p:nvPr/>
            </p:nvSpPr>
            <p:spPr>
              <a:xfrm>
                <a:off x="7486796" y="2203700"/>
                <a:ext cx="3119216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200" dirty="0">
                  <a:sym typeface="+mn-lt"/>
                </a:endParaRPr>
              </a:p>
            </p:txBody>
          </p:sp>
          <p:sp>
            <p:nvSpPr>
              <p:cNvPr id="82" name="Bullet5">
                <a:extLst>
                  <a:ext uri="{FF2B5EF4-FFF2-40B4-BE49-F238E27FC236}">
                    <a16:creationId xmlns:a16="http://schemas.microsoft.com/office/drawing/2014/main" id="{5DA2E612-AB73-A9F1-3957-3C51C85946BC}"/>
                  </a:ext>
                </a:extLst>
              </p:cNvPr>
              <p:cNvSpPr txBox="1"/>
              <p:nvPr/>
            </p:nvSpPr>
            <p:spPr>
              <a:xfrm>
                <a:off x="8277368" y="2311867"/>
                <a:ext cx="2024221" cy="36164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lnSpcReduction="10000"/>
              </a:bodyPr>
              <a:lstStyle>
                <a:defPPr>
                  <a:defRPr lang="zh-CN"/>
                </a:defPPr>
                <a:lvl1pPr algn="ctr" defTabSz="914354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zh-CN" altLang="en-US" sz="1800" dirty="0">
                    <a:solidFill>
                      <a:schemeClr val="tx1"/>
                    </a:solidFill>
                  </a:rPr>
                  <a:t>国产软件未来展望</a:t>
                </a:r>
                <a:endParaRPr lang="en-US" dirty="0"/>
              </a:p>
            </p:txBody>
          </p:sp>
          <p:sp>
            <p:nvSpPr>
              <p:cNvPr id="83" name="Number5">
                <a:extLst>
                  <a:ext uri="{FF2B5EF4-FFF2-40B4-BE49-F238E27FC236}">
                    <a16:creationId xmlns:a16="http://schemas.microsoft.com/office/drawing/2014/main" id="{839452ED-DBCC-38E2-2710-2D1203B989C6}"/>
                  </a:ext>
                </a:extLst>
              </p:cNvPr>
              <p:cNvSpPr txBox="1"/>
              <p:nvPr/>
            </p:nvSpPr>
            <p:spPr>
              <a:xfrm>
                <a:off x="7422676" y="2203699"/>
                <a:ext cx="577978" cy="577978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none" rtlCol="0" anchor="ctr"/>
              <a:lstStyle>
                <a:defPPr>
                  <a:defRPr lang="zh-CN"/>
                </a:defPPr>
                <a:lvl1pPr algn="ctr">
                  <a:defRPr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dirty="0">
                    <a:latin typeface="+mn-lt"/>
                    <a:ea typeface="+mn-ea"/>
                  </a:rPr>
                  <a:t>05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84" name="Text5">
                <a:extLst>
                  <a:ext uri="{FF2B5EF4-FFF2-40B4-BE49-F238E27FC236}">
                    <a16:creationId xmlns:a16="http://schemas.microsoft.com/office/drawing/2014/main" id="{232B4142-5D0E-ECC8-1557-49763752F4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09405" y="2778009"/>
                <a:ext cx="2391986" cy="679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fontScale="92500"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sym typeface="Arial" panose="020B0604020202020204" pitchFamily="34" charset="0"/>
                  </a:rPr>
                  <a:t>随着技术进步和市场需求变化，国产软件有望迈向更高层次的发展。</a:t>
                </a:r>
                <a:endParaRPr lang="en-US" dirty="0"/>
              </a:p>
            </p:txBody>
          </p:sp>
        </p:grpSp>
        <p:sp>
          <p:nvSpPr>
            <p:cNvPr id="6" name="Title">
              <a:extLst>
                <a:ext uri="{FF2B5EF4-FFF2-40B4-BE49-F238E27FC236}">
                  <a16:creationId xmlns:a16="http://schemas.microsoft.com/office/drawing/2014/main" id="{18682F1E-EB6F-9C1D-67AF-F150FE36F88B}"/>
                </a:ext>
              </a:extLst>
            </p:cNvPr>
            <p:cNvSpPr>
              <a:spLocks/>
            </p:cNvSpPr>
            <p:nvPr/>
          </p:nvSpPr>
          <p:spPr>
            <a:xfrm>
              <a:off x="660400" y="1148552"/>
              <a:ext cx="10858500" cy="545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ctr">
                <a:buSzPct val="25000"/>
              </a:pPr>
              <a:endParaRPr lang="en-US" dirty="0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C4F93BD-65B2-DC09-643E-5FB3F228D248}"/>
                </a:ext>
              </a:extLst>
            </p:cNvPr>
            <p:cNvGrpSpPr/>
            <p:nvPr/>
          </p:nvGrpSpPr>
          <p:grpSpPr>
            <a:xfrm>
              <a:off x="5101421" y="3046316"/>
              <a:ext cx="2049255" cy="2279907"/>
              <a:chOff x="5101421" y="3046316"/>
              <a:chExt cx="2049255" cy="2279907"/>
            </a:xfrm>
          </p:grpSpPr>
          <p:sp>
            <p:nvSpPr>
              <p:cNvPr id="16" name="Oval 60">
                <a:extLst>
                  <a:ext uri="{FF2B5EF4-FFF2-40B4-BE49-F238E27FC236}">
                    <a16:creationId xmlns:a16="http://schemas.microsoft.com/office/drawing/2014/main" id="{3871959F-1815-2F6E-66FA-20826DDEE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1421" y="3279015"/>
                <a:ext cx="2049255" cy="204720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61">
                <a:extLst>
                  <a:ext uri="{FF2B5EF4-FFF2-40B4-BE49-F238E27FC236}">
                    <a16:creationId xmlns:a16="http://schemas.microsoft.com/office/drawing/2014/main" id="{B8B646C9-BC3B-0FDA-26CD-A18E78D38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6245" y="4241885"/>
                <a:ext cx="477000" cy="657836"/>
              </a:xfrm>
              <a:custGeom>
                <a:avLst/>
                <a:gdLst>
                  <a:gd name="T0" fmla="*/ 690 w 699"/>
                  <a:gd name="T1" fmla="*/ 0 h 964"/>
                  <a:gd name="T2" fmla="*/ 346 w 699"/>
                  <a:gd name="T3" fmla="*/ 130 h 964"/>
                  <a:gd name="T4" fmla="*/ 0 w 699"/>
                  <a:gd name="T5" fmla="*/ 964 h 964"/>
                  <a:gd name="T6" fmla="*/ 428 w 699"/>
                  <a:gd name="T7" fmla="*/ 826 h 964"/>
                  <a:gd name="T8" fmla="*/ 699 w 699"/>
                  <a:gd name="T9" fmla="*/ 11 h 964"/>
                  <a:gd name="T10" fmla="*/ 690 w 699"/>
                  <a:gd name="T11" fmla="*/ 0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9" h="964">
                    <a:moveTo>
                      <a:pt x="690" y="0"/>
                    </a:moveTo>
                    <a:lnTo>
                      <a:pt x="346" y="130"/>
                    </a:lnTo>
                    <a:lnTo>
                      <a:pt x="0" y="964"/>
                    </a:lnTo>
                    <a:lnTo>
                      <a:pt x="428" y="826"/>
                    </a:lnTo>
                    <a:lnTo>
                      <a:pt x="699" y="11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rgbClr val="90C2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62">
                <a:extLst>
                  <a:ext uri="{FF2B5EF4-FFF2-40B4-BE49-F238E27FC236}">
                    <a16:creationId xmlns:a16="http://schemas.microsoft.com/office/drawing/2014/main" id="{576F61C4-548D-0B06-2F20-AF8BA43427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12597" y="4228237"/>
                <a:ext cx="505660" cy="682403"/>
              </a:xfrm>
              <a:custGeom>
                <a:avLst/>
                <a:gdLst>
                  <a:gd name="T0" fmla="*/ 7 w 263"/>
                  <a:gd name="T1" fmla="*/ 355 h 355"/>
                  <a:gd name="T2" fmla="*/ 2 w 263"/>
                  <a:gd name="T3" fmla="*/ 353 h 355"/>
                  <a:gd name="T4" fmla="*/ 1 w 263"/>
                  <a:gd name="T5" fmla="*/ 346 h 355"/>
                  <a:gd name="T6" fmla="*/ 124 w 263"/>
                  <a:gd name="T7" fmla="*/ 51 h 355"/>
                  <a:gd name="T8" fmla="*/ 128 w 263"/>
                  <a:gd name="T9" fmla="*/ 47 h 355"/>
                  <a:gd name="T10" fmla="*/ 249 w 263"/>
                  <a:gd name="T11" fmla="*/ 1 h 355"/>
                  <a:gd name="T12" fmla="*/ 256 w 263"/>
                  <a:gd name="T13" fmla="*/ 3 h 355"/>
                  <a:gd name="T14" fmla="*/ 260 w 263"/>
                  <a:gd name="T15" fmla="*/ 6 h 355"/>
                  <a:gd name="T16" fmla="*/ 262 w 263"/>
                  <a:gd name="T17" fmla="*/ 13 h 355"/>
                  <a:gd name="T18" fmla="*/ 166 w 263"/>
                  <a:gd name="T19" fmla="*/ 302 h 355"/>
                  <a:gd name="T20" fmla="*/ 161 w 263"/>
                  <a:gd name="T21" fmla="*/ 307 h 355"/>
                  <a:gd name="T22" fmla="*/ 9 w 263"/>
                  <a:gd name="T23" fmla="*/ 355 h 355"/>
                  <a:gd name="T24" fmla="*/ 7 w 263"/>
                  <a:gd name="T25" fmla="*/ 355 h 355"/>
                  <a:gd name="T26" fmla="*/ 135 w 263"/>
                  <a:gd name="T27" fmla="*/ 58 h 355"/>
                  <a:gd name="T28" fmla="*/ 18 w 263"/>
                  <a:gd name="T29" fmla="*/ 338 h 355"/>
                  <a:gd name="T30" fmla="*/ 154 w 263"/>
                  <a:gd name="T31" fmla="*/ 295 h 355"/>
                  <a:gd name="T32" fmla="*/ 247 w 263"/>
                  <a:gd name="T33" fmla="*/ 16 h 355"/>
                  <a:gd name="T34" fmla="*/ 135 w 263"/>
                  <a:gd name="T35" fmla="*/ 58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3" h="355">
                    <a:moveTo>
                      <a:pt x="7" y="355"/>
                    </a:moveTo>
                    <a:cubicBezTo>
                      <a:pt x="5" y="355"/>
                      <a:pt x="3" y="354"/>
                      <a:pt x="2" y="353"/>
                    </a:cubicBezTo>
                    <a:cubicBezTo>
                      <a:pt x="0" y="351"/>
                      <a:pt x="0" y="348"/>
                      <a:pt x="1" y="346"/>
                    </a:cubicBezTo>
                    <a:cubicBezTo>
                      <a:pt x="124" y="51"/>
                      <a:pt x="124" y="51"/>
                      <a:pt x="124" y="51"/>
                    </a:cubicBezTo>
                    <a:cubicBezTo>
                      <a:pt x="125" y="49"/>
                      <a:pt x="126" y="48"/>
                      <a:pt x="128" y="47"/>
                    </a:cubicBezTo>
                    <a:cubicBezTo>
                      <a:pt x="249" y="1"/>
                      <a:pt x="249" y="1"/>
                      <a:pt x="249" y="1"/>
                    </a:cubicBezTo>
                    <a:cubicBezTo>
                      <a:pt x="252" y="0"/>
                      <a:pt x="254" y="1"/>
                      <a:pt x="256" y="3"/>
                    </a:cubicBezTo>
                    <a:cubicBezTo>
                      <a:pt x="260" y="6"/>
                      <a:pt x="260" y="6"/>
                      <a:pt x="260" y="6"/>
                    </a:cubicBezTo>
                    <a:cubicBezTo>
                      <a:pt x="262" y="8"/>
                      <a:pt x="263" y="11"/>
                      <a:pt x="262" y="13"/>
                    </a:cubicBezTo>
                    <a:cubicBezTo>
                      <a:pt x="166" y="302"/>
                      <a:pt x="166" y="302"/>
                      <a:pt x="166" y="302"/>
                    </a:cubicBezTo>
                    <a:cubicBezTo>
                      <a:pt x="165" y="304"/>
                      <a:pt x="163" y="306"/>
                      <a:pt x="161" y="307"/>
                    </a:cubicBezTo>
                    <a:cubicBezTo>
                      <a:pt x="9" y="355"/>
                      <a:pt x="9" y="355"/>
                      <a:pt x="9" y="355"/>
                    </a:cubicBezTo>
                    <a:cubicBezTo>
                      <a:pt x="8" y="355"/>
                      <a:pt x="7" y="355"/>
                      <a:pt x="7" y="355"/>
                    </a:cubicBezTo>
                    <a:close/>
                    <a:moveTo>
                      <a:pt x="135" y="58"/>
                    </a:moveTo>
                    <a:cubicBezTo>
                      <a:pt x="18" y="338"/>
                      <a:pt x="18" y="338"/>
                      <a:pt x="18" y="338"/>
                    </a:cubicBezTo>
                    <a:cubicBezTo>
                      <a:pt x="154" y="295"/>
                      <a:pt x="154" y="295"/>
                      <a:pt x="154" y="295"/>
                    </a:cubicBezTo>
                    <a:cubicBezTo>
                      <a:pt x="247" y="16"/>
                      <a:pt x="247" y="16"/>
                      <a:pt x="247" y="16"/>
                    </a:cubicBezTo>
                    <a:lnTo>
                      <a:pt x="135" y="58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63">
                <a:extLst>
                  <a:ext uri="{FF2B5EF4-FFF2-40B4-BE49-F238E27FC236}">
                    <a16:creationId xmlns:a16="http://schemas.microsoft.com/office/drawing/2014/main" id="{0AD30434-9160-8B39-B0DA-2C493F3AF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6932" y="4136113"/>
                <a:ext cx="495424" cy="763609"/>
              </a:xfrm>
              <a:custGeom>
                <a:avLst/>
                <a:gdLst>
                  <a:gd name="T0" fmla="*/ 726 w 726"/>
                  <a:gd name="T1" fmla="*/ 285 h 1119"/>
                  <a:gd name="T2" fmla="*/ 464 w 726"/>
                  <a:gd name="T3" fmla="*/ 0 h 1119"/>
                  <a:gd name="T4" fmla="*/ 0 w 726"/>
                  <a:gd name="T5" fmla="*/ 800 h 1119"/>
                  <a:gd name="T6" fmla="*/ 377 w 726"/>
                  <a:gd name="T7" fmla="*/ 1119 h 1119"/>
                  <a:gd name="T8" fmla="*/ 380 w 726"/>
                  <a:gd name="T9" fmla="*/ 1119 h 1119"/>
                  <a:gd name="T10" fmla="*/ 726 w 726"/>
                  <a:gd name="T11" fmla="*/ 285 h 1119"/>
                  <a:gd name="T12" fmla="*/ 726 w 726"/>
                  <a:gd name="T13" fmla="*/ 285 h 1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6" h="1119">
                    <a:moveTo>
                      <a:pt x="726" y="285"/>
                    </a:moveTo>
                    <a:lnTo>
                      <a:pt x="464" y="0"/>
                    </a:lnTo>
                    <a:lnTo>
                      <a:pt x="0" y="800"/>
                    </a:lnTo>
                    <a:lnTo>
                      <a:pt x="377" y="1119"/>
                    </a:lnTo>
                    <a:lnTo>
                      <a:pt x="380" y="1119"/>
                    </a:lnTo>
                    <a:lnTo>
                      <a:pt x="726" y="285"/>
                    </a:lnTo>
                    <a:lnTo>
                      <a:pt x="726" y="285"/>
                    </a:lnTo>
                    <a:close/>
                  </a:path>
                </a:pathLst>
              </a:custGeom>
              <a:solidFill>
                <a:srgbClr val="C0DC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64">
                <a:extLst>
                  <a:ext uri="{FF2B5EF4-FFF2-40B4-BE49-F238E27FC236}">
                    <a16:creationId xmlns:a16="http://schemas.microsoft.com/office/drawing/2014/main" id="{C51239BB-C4A3-01B9-2E08-07A9172A64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53284" y="4123147"/>
                <a:ext cx="522720" cy="787493"/>
              </a:xfrm>
              <a:custGeom>
                <a:avLst/>
                <a:gdLst>
                  <a:gd name="T0" fmla="*/ 141 w 272"/>
                  <a:gd name="T1" fmla="*/ 410 h 410"/>
                  <a:gd name="T2" fmla="*/ 137 w 272"/>
                  <a:gd name="T3" fmla="*/ 409 h 410"/>
                  <a:gd name="T4" fmla="*/ 3 w 272"/>
                  <a:gd name="T5" fmla="*/ 296 h 410"/>
                  <a:gd name="T6" fmla="*/ 1 w 272"/>
                  <a:gd name="T7" fmla="*/ 288 h 410"/>
                  <a:gd name="T8" fmla="*/ 166 w 272"/>
                  <a:gd name="T9" fmla="*/ 4 h 410"/>
                  <a:gd name="T10" fmla="*/ 171 w 272"/>
                  <a:gd name="T11" fmla="*/ 1 h 410"/>
                  <a:gd name="T12" fmla="*/ 177 w 272"/>
                  <a:gd name="T13" fmla="*/ 3 h 410"/>
                  <a:gd name="T14" fmla="*/ 268 w 272"/>
                  <a:gd name="T15" fmla="*/ 102 h 410"/>
                  <a:gd name="T16" fmla="*/ 270 w 272"/>
                  <a:gd name="T17" fmla="*/ 103 h 410"/>
                  <a:gd name="T18" fmla="*/ 271 w 272"/>
                  <a:gd name="T19" fmla="*/ 111 h 410"/>
                  <a:gd name="T20" fmla="*/ 148 w 272"/>
                  <a:gd name="T21" fmla="*/ 406 h 410"/>
                  <a:gd name="T22" fmla="*/ 144 w 272"/>
                  <a:gd name="T23" fmla="*/ 410 h 410"/>
                  <a:gd name="T24" fmla="*/ 143 w 272"/>
                  <a:gd name="T25" fmla="*/ 410 h 410"/>
                  <a:gd name="T26" fmla="*/ 141 w 272"/>
                  <a:gd name="T27" fmla="*/ 410 h 410"/>
                  <a:gd name="T28" fmla="*/ 16 w 272"/>
                  <a:gd name="T29" fmla="*/ 289 h 410"/>
                  <a:gd name="T30" fmla="*/ 139 w 272"/>
                  <a:gd name="T31" fmla="*/ 393 h 410"/>
                  <a:gd name="T32" fmla="*/ 257 w 272"/>
                  <a:gd name="T33" fmla="*/ 110 h 410"/>
                  <a:gd name="T34" fmla="*/ 173 w 272"/>
                  <a:gd name="T35" fmla="*/ 18 h 410"/>
                  <a:gd name="T36" fmla="*/ 16 w 272"/>
                  <a:gd name="T37" fmla="*/ 289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2" h="410">
                    <a:moveTo>
                      <a:pt x="141" y="410"/>
                    </a:moveTo>
                    <a:cubicBezTo>
                      <a:pt x="140" y="410"/>
                      <a:pt x="138" y="410"/>
                      <a:pt x="137" y="409"/>
                    </a:cubicBezTo>
                    <a:cubicBezTo>
                      <a:pt x="3" y="296"/>
                      <a:pt x="3" y="296"/>
                      <a:pt x="3" y="296"/>
                    </a:cubicBezTo>
                    <a:cubicBezTo>
                      <a:pt x="0" y="294"/>
                      <a:pt x="0" y="290"/>
                      <a:pt x="1" y="288"/>
                    </a:cubicBezTo>
                    <a:cubicBezTo>
                      <a:pt x="166" y="4"/>
                      <a:pt x="166" y="4"/>
                      <a:pt x="166" y="4"/>
                    </a:cubicBezTo>
                    <a:cubicBezTo>
                      <a:pt x="167" y="2"/>
                      <a:pt x="169" y="1"/>
                      <a:pt x="171" y="1"/>
                    </a:cubicBezTo>
                    <a:cubicBezTo>
                      <a:pt x="173" y="0"/>
                      <a:pt x="175" y="1"/>
                      <a:pt x="177" y="3"/>
                    </a:cubicBezTo>
                    <a:cubicBezTo>
                      <a:pt x="268" y="102"/>
                      <a:pt x="268" y="102"/>
                      <a:pt x="268" y="102"/>
                    </a:cubicBezTo>
                    <a:cubicBezTo>
                      <a:pt x="269" y="102"/>
                      <a:pt x="269" y="103"/>
                      <a:pt x="270" y="103"/>
                    </a:cubicBezTo>
                    <a:cubicBezTo>
                      <a:pt x="272" y="105"/>
                      <a:pt x="272" y="108"/>
                      <a:pt x="271" y="111"/>
                    </a:cubicBezTo>
                    <a:cubicBezTo>
                      <a:pt x="148" y="406"/>
                      <a:pt x="148" y="406"/>
                      <a:pt x="148" y="406"/>
                    </a:cubicBezTo>
                    <a:cubicBezTo>
                      <a:pt x="147" y="408"/>
                      <a:pt x="145" y="409"/>
                      <a:pt x="144" y="410"/>
                    </a:cubicBezTo>
                    <a:cubicBezTo>
                      <a:pt x="143" y="410"/>
                      <a:pt x="143" y="410"/>
                      <a:pt x="143" y="410"/>
                    </a:cubicBezTo>
                    <a:cubicBezTo>
                      <a:pt x="142" y="410"/>
                      <a:pt x="142" y="410"/>
                      <a:pt x="141" y="410"/>
                    </a:cubicBezTo>
                    <a:close/>
                    <a:moveTo>
                      <a:pt x="16" y="289"/>
                    </a:moveTo>
                    <a:cubicBezTo>
                      <a:pt x="139" y="393"/>
                      <a:pt x="139" y="393"/>
                      <a:pt x="139" y="393"/>
                    </a:cubicBezTo>
                    <a:cubicBezTo>
                      <a:pt x="257" y="110"/>
                      <a:pt x="257" y="110"/>
                      <a:pt x="257" y="110"/>
                    </a:cubicBezTo>
                    <a:cubicBezTo>
                      <a:pt x="173" y="18"/>
                      <a:pt x="173" y="18"/>
                      <a:pt x="173" y="18"/>
                    </a:cubicBezTo>
                    <a:lnTo>
                      <a:pt x="16" y="289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1ADA2D64-EAED-8C73-58F5-C92D29185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0844" y="4413168"/>
                <a:ext cx="309811" cy="709017"/>
              </a:xfrm>
              <a:custGeom>
                <a:avLst/>
                <a:gdLst>
                  <a:gd name="T0" fmla="*/ 315 w 454"/>
                  <a:gd name="T1" fmla="*/ 0 h 1039"/>
                  <a:gd name="T2" fmla="*/ 0 w 454"/>
                  <a:gd name="T3" fmla="*/ 82 h 1039"/>
                  <a:gd name="T4" fmla="*/ 25 w 454"/>
                  <a:gd name="T5" fmla="*/ 1039 h 1039"/>
                  <a:gd name="T6" fmla="*/ 454 w 454"/>
                  <a:gd name="T7" fmla="*/ 890 h 1039"/>
                  <a:gd name="T8" fmla="*/ 315 w 454"/>
                  <a:gd name="T9" fmla="*/ 0 h 10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4" h="1039">
                    <a:moveTo>
                      <a:pt x="315" y="0"/>
                    </a:moveTo>
                    <a:lnTo>
                      <a:pt x="0" y="82"/>
                    </a:lnTo>
                    <a:lnTo>
                      <a:pt x="25" y="1039"/>
                    </a:lnTo>
                    <a:lnTo>
                      <a:pt x="454" y="890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rgbClr val="90C2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9AFA3D6E-8708-3B15-F0B1-92D01FCAC6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37196" y="4399520"/>
                <a:ext cx="336425" cy="734265"/>
              </a:xfrm>
              <a:custGeom>
                <a:avLst/>
                <a:gdLst>
                  <a:gd name="T0" fmla="*/ 16 w 175"/>
                  <a:gd name="T1" fmla="*/ 382 h 382"/>
                  <a:gd name="T2" fmla="*/ 12 w 175"/>
                  <a:gd name="T3" fmla="*/ 381 h 382"/>
                  <a:gd name="T4" fmla="*/ 10 w 175"/>
                  <a:gd name="T5" fmla="*/ 376 h 382"/>
                  <a:gd name="T6" fmla="*/ 0 w 175"/>
                  <a:gd name="T7" fmla="*/ 36 h 382"/>
                  <a:gd name="T8" fmla="*/ 5 w 175"/>
                  <a:gd name="T9" fmla="*/ 30 h 382"/>
                  <a:gd name="T10" fmla="*/ 118 w 175"/>
                  <a:gd name="T11" fmla="*/ 1 h 382"/>
                  <a:gd name="T12" fmla="*/ 123 w 175"/>
                  <a:gd name="T13" fmla="*/ 2 h 382"/>
                  <a:gd name="T14" fmla="*/ 126 w 175"/>
                  <a:gd name="T15" fmla="*/ 6 h 382"/>
                  <a:gd name="T16" fmla="*/ 175 w 175"/>
                  <a:gd name="T17" fmla="*/ 322 h 382"/>
                  <a:gd name="T18" fmla="*/ 171 w 175"/>
                  <a:gd name="T19" fmla="*/ 330 h 382"/>
                  <a:gd name="T20" fmla="*/ 18 w 175"/>
                  <a:gd name="T21" fmla="*/ 382 h 382"/>
                  <a:gd name="T22" fmla="*/ 16 w 175"/>
                  <a:gd name="T23" fmla="*/ 382 h 382"/>
                  <a:gd name="T24" fmla="*/ 13 w 175"/>
                  <a:gd name="T25" fmla="*/ 41 h 382"/>
                  <a:gd name="T26" fmla="*/ 22 w 175"/>
                  <a:gd name="T27" fmla="*/ 367 h 382"/>
                  <a:gd name="T28" fmla="*/ 161 w 175"/>
                  <a:gd name="T29" fmla="*/ 319 h 382"/>
                  <a:gd name="T30" fmla="*/ 114 w 175"/>
                  <a:gd name="T31" fmla="*/ 15 h 382"/>
                  <a:gd name="T32" fmla="*/ 13 w 175"/>
                  <a:gd name="T33" fmla="*/ 41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5" h="382">
                    <a:moveTo>
                      <a:pt x="16" y="382"/>
                    </a:moveTo>
                    <a:cubicBezTo>
                      <a:pt x="15" y="382"/>
                      <a:pt x="13" y="382"/>
                      <a:pt x="12" y="381"/>
                    </a:cubicBezTo>
                    <a:cubicBezTo>
                      <a:pt x="11" y="380"/>
                      <a:pt x="10" y="378"/>
                      <a:pt x="10" y="37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3"/>
                      <a:pt x="2" y="30"/>
                      <a:pt x="5" y="30"/>
                    </a:cubicBezTo>
                    <a:cubicBezTo>
                      <a:pt x="118" y="1"/>
                      <a:pt x="118" y="1"/>
                      <a:pt x="118" y="1"/>
                    </a:cubicBezTo>
                    <a:cubicBezTo>
                      <a:pt x="120" y="0"/>
                      <a:pt x="121" y="1"/>
                      <a:pt x="123" y="2"/>
                    </a:cubicBezTo>
                    <a:cubicBezTo>
                      <a:pt x="125" y="3"/>
                      <a:pt x="126" y="4"/>
                      <a:pt x="126" y="6"/>
                    </a:cubicBezTo>
                    <a:cubicBezTo>
                      <a:pt x="175" y="322"/>
                      <a:pt x="175" y="322"/>
                      <a:pt x="175" y="322"/>
                    </a:cubicBezTo>
                    <a:cubicBezTo>
                      <a:pt x="175" y="325"/>
                      <a:pt x="174" y="328"/>
                      <a:pt x="171" y="330"/>
                    </a:cubicBezTo>
                    <a:cubicBezTo>
                      <a:pt x="18" y="382"/>
                      <a:pt x="18" y="382"/>
                      <a:pt x="18" y="382"/>
                    </a:cubicBezTo>
                    <a:cubicBezTo>
                      <a:pt x="18" y="382"/>
                      <a:pt x="17" y="382"/>
                      <a:pt x="16" y="382"/>
                    </a:cubicBezTo>
                    <a:close/>
                    <a:moveTo>
                      <a:pt x="13" y="41"/>
                    </a:moveTo>
                    <a:cubicBezTo>
                      <a:pt x="22" y="367"/>
                      <a:pt x="22" y="367"/>
                      <a:pt x="22" y="367"/>
                    </a:cubicBezTo>
                    <a:cubicBezTo>
                      <a:pt x="161" y="319"/>
                      <a:pt x="161" y="319"/>
                      <a:pt x="161" y="319"/>
                    </a:cubicBezTo>
                    <a:cubicBezTo>
                      <a:pt x="114" y="15"/>
                      <a:pt x="114" y="15"/>
                      <a:pt x="114" y="15"/>
                    </a:cubicBezTo>
                    <a:lnTo>
                      <a:pt x="13" y="41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13A5E143-5236-0C63-FD86-31EAA4FAB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313" y="4249392"/>
                <a:ext cx="367133" cy="745866"/>
              </a:xfrm>
              <a:custGeom>
                <a:avLst/>
                <a:gdLst>
                  <a:gd name="T0" fmla="*/ 521 w 538"/>
                  <a:gd name="T1" fmla="*/ 226 h 1093"/>
                  <a:gd name="T2" fmla="*/ 271 w 538"/>
                  <a:gd name="T3" fmla="*/ 0 h 1093"/>
                  <a:gd name="T4" fmla="*/ 0 w 538"/>
                  <a:gd name="T5" fmla="*/ 815 h 1093"/>
                  <a:gd name="T6" fmla="*/ 3 w 538"/>
                  <a:gd name="T7" fmla="*/ 815 h 1093"/>
                  <a:gd name="T8" fmla="*/ 378 w 538"/>
                  <a:gd name="T9" fmla="*/ 1093 h 1093"/>
                  <a:gd name="T10" fmla="*/ 386 w 538"/>
                  <a:gd name="T11" fmla="*/ 1093 h 1093"/>
                  <a:gd name="T12" fmla="*/ 538 w 538"/>
                  <a:gd name="T13" fmla="*/ 220 h 1093"/>
                  <a:gd name="T14" fmla="*/ 521 w 538"/>
                  <a:gd name="T15" fmla="*/ 226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8" h="1093">
                    <a:moveTo>
                      <a:pt x="521" y="226"/>
                    </a:moveTo>
                    <a:lnTo>
                      <a:pt x="271" y="0"/>
                    </a:lnTo>
                    <a:lnTo>
                      <a:pt x="0" y="815"/>
                    </a:lnTo>
                    <a:lnTo>
                      <a:pt x="3" y="815"/>
                    </a:lnTo>
                    <a:lnTo>
                      <a:pt x="378" y="1093"/>
                    </a:lnTo>
                    <a:lnTo>
                      <a:pt x="386" y="1093"/>
                    </a:lnTo>
                    <a:lnTo>
                      <a:pt x="538" y="220"/>
                    </a:lnTo>
                    <a:lnTo>
                      <a:pt x="521" y="226"/>
                    </a:lnTo>
                    <a:close/>
                  </a:path>
                </a:pathLst>
              </a:custGeom>
              <a:solidFill>
                <a:srgbClr val="C0DC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0FA6C2C6-42C7-C314-1541-63EFFA6583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04665" y="4236426"/>
                <a:ext cx="394429" cy="772480"/>
              </a:xfrm>
              <a:custGeom>
                <a:avLst/>
                <a:gdLst>
                  <a:gd name="T0" fmla="*/ 141 w 205"/>
                  <a:gd name="T1" fmla="*/ 402 h 402"/>
                  <a:gd name="T2" fmla="*/ 137 w 205"/>
                  <a:gd name="T3" fmla="*/ 401 h 402"/>
                  <a:gd name="T4" fmla="*/ 7 w 205"/>
                  <a:gd name="T5" fmla="*/ 303 h 402"/>
                  <a:gd name="T6" fmla="*/ 3 w 205"/>
                  <a:gd name="T7" fmla="*/ 301 h 402"/>
                  <a:gd name="T8" fmla="*/ 1 w 205"/>
                  <a:gd name="T9" fmla="*/ 294 h 402"/>
                  <a:gd name="T10" fmla="*/ 97 w 205"/>
                  <a:gd name="T11" fmla="*/ 5 h 402"/>
                  <a:gd name="T12" fmla="*/ 102 w 205"/>
                  <a:gd name="T13" fmla="*/ 1 h 402"/>
                  <a:gd name="T14" fmla="*/ 108 w 205"/>
                  <a:gd name="T15" fmla="*/ 2 h 402"/>
                  <a:gd name="T16" fmla="*/ 194 w 205"/>
                  <a:gd name="T17" fmla="*/ 80 h 402"/>
                  <a:gd name="T18" fmla="*/ 196 w 205"/>
                  <a:gd name="T19" fmla="*/ 79 h 402"/>
                  <a:gd name="T20" fmla="*/ 203 w 205"/>
                  <a:gd name="T21" fmla="*/ 80 h 402"/>
                  <a:gd name="T22" fmla="*/ 205 w 205"/>
                  <a:gd name="T23" fmla="*/ 86 h 402"/>
                  <a:gd name="T24" fmla="*/ 150 w 205"/>
                  <a:gd name="T25" fmla="*/ 396 h 402"/>
                  <a:gd name="T26" fmla="*/ 145 w 205"/>
                  <a:gd name="T27" fmla="*/ 401 h 402"/>
                  <a:gd name="T28" fmla="*/ 143 w 205"/>
                  <a:gd name="T29" fmla="*/ 402 h 402"/>
                  <a:gd name="T30" fmla="*/ 141 w 205"/>
                  <a:gd name="T31" fmla="*/ 402 h 402"/>
                  <a:gd name="T32" fmla="*/ 15 w 205"/>
                  <a:gd name="T33" fmla="*/ 293 h 402"/>
                  <a:gd name="T34" fmla="*/ 139 w 205"/>
                  <a:gd name="T35" fmla="*/ 385 h 402"/>
                  <a:gd name="T36" fmla="*/ 190 w 205"/>
                  <a:gd name="T37" fmla="*/ 94 h 402"/>
                  <a:gd name="T38" fmla="*/ 188 w 205"/>
                  <a:gd name="T39" fmla="*/ 92 h 402"/>
                  <a:gd name="T40" fmla="*/ 107 w 205"/>
                  <a:gd name="T41" fmla="*/ 19 h 402"/>
                  <a:gd name="T42" fmla="*/ 15 w 205"/>
                  <a:gd name="T43" fmla="*/ 293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05" h="402">
                    <a:moveTo>
                      <a:pt x="141" y="402"/>
                    </a:moveTo>
                    <a:cubicBezTo>
                      <a:pt x="140" y="402"/>
                      <a:pt x="139" y="401"/>
                      <a:pt x="137" y="401"/>
                    </a:cubicBezTo>
                    <a:cubicBezTo>
                      <a:pt x="7" y="303"/>
                      <a:pt x="7" y="303"/>
                      <a:pt x="7" y="303"/>
                    </a:cubicBezTo>
                    <a:cubicBezTo>
                      <a:pt x="5" y="303"/>
                      <a:pt x="4" y="302"/>
                      <a:pt x="3" y="301"/>
                    </a:cubicBezTo>
                    <a:cubicBezTo>
                      <a:pt x="1" y="299"/>
                      <a:pt x="0" y="297"/>
                      <a:pt x="1" y="294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98" y="3"/>
                      <a:pt x="100" y="1"/>
                      <a:pt x="102" y="1"/>
                    </a:cubicBezTo>
                    <a:cubicBezTo>
                      <a:pt x="104" y="0"/>
                      <a:pt x="106" y="1"/>
                      <a:pt x="108" y="2"/>
                    </a:cubicBezTo>
                    <a:cubicBezTo>
                      <a:pt x="194" y="80"/>
                      <a:pt x="194" y="80"/>
                      <a:pt x="194" y="80"/>
                    </a:cubicBezTo>
                    <a:cubicBezTo>
                      <a:pt x="196" y="79"/>
                      <a:pt x="196" y="79"/>
                      <a:pt x="196" y="79"/>
                    </a:cubicBezTo>
                    <a:cubicBezTo>
                      <a:pt x="198" y="78"/>
                      <a:pt x="201" y="79"/>
                      <a:pt x="203" y="80"/>
                    </a:cubicBezTo>
                    <a:cubicBezTo>
                      <a:pt x="204" y="82"/>
                      <a:pt x="205" y="84"/>
                      <a:pt x="205" y="86"/>
                    </a:cubicBezTo>
                    <a:cubicBezTo>
                      <a:pt x="150" y="396"/>
                      <a:pt x="150" y="396"/>
                      <a:pt x="150" y="396"/>
                    </a:cubicBezTo>
                    <a:cubicBezTo>
                      <a:pt x="150" y="398"/>
                      <a:pt x="148" y="400"/>
                      <a:pt x="145" y="401"/>
                    </a:cubicBezTo>
                    <a:cubicBezTo>
                      <a:pt x="143" y="402"/>
                      <a:pt x="143" y="402"/>
                      <a:pt x="143" y="402"/>
                    </a:cubicBezTo>
                    <a:cubicBezTo>
                      <a:pt x="142" y="402"/>
                      <a:pt x="142" y="402"/>
                      <a:pt x="141" y="402"/>
                    </a:cubicBezTo>
                    <a:close/>
                    <a:moveTo>
                      <a:pt x="15" y="293"/>
                    </a:moveTo>
                    <a:cubicBezTo>
                      <a:pt x="139" y="385"/>
                      <a:pt x="139" y="385"/>
                      <a:pt x="139" y="385"/>
                    </a:cubicBezTo>
                    <a:cubicBezTo>
                      <a:pt x="190" y="94"/>
                      <a:pt x="190" y="94"/>
                      <a:pt x="190" y="94"/>
                    </a:cubicBezTo>
                    <a:cubicBezTo>
                      <a:pt x="189" y="93"/>
                      <a:pt x="188" y="93"/>
                      <a:pt x="188" y="92"/>
                    </a:cubicBezTo>
                    <a:cubicBezTo>
                      <a:pt x="107" y="19"/>
                      <a:pt x="107" y="19"/>
                      <a:pt x="107" y="19"/>
                    </a:cubicBezTo>
                    <a:lnTo>
                      <a:pt x="15" y="293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D1D87239-BD3B-7533-0951-A7BD7DC36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4497" y="4318997"/>
                <a:ext cx="263407" cy="803188"/>
              </a:xfrm>
              <a:custGeom>
                <a:avLst/>
                <a:gdLst>
                  <a:gd name="T0" fmla="*/ 338 w 386"/>
                  <a:gd name="T1" fmla="*/ 225 h 1177"/>
                  <a:gd name="T2" fmla="*/ 65 w 386"/>
                  <a:gd name="T3" fmla="*/ 0 h 1177"/>
                  <a:gd name="T4" fmla="*/ 0 w 386"/>
                  <a:gd name="T5" fmla="*/ 876 h 1177"/>
                  <a:gd name="T6" fmla="*/ 384 w 386"/>
                  <a:gd name="T7" fmla="*/ 1177 h 1177"/>
                  <a:gd name="T8" fmla="*/ 386 w 386"/>
                  <a:gd name="T9" fmla="*/ 1177 h 1177"/>
                  <a:gd name="T10" fmla="*/ 361 w 386"/>
                  <a:gd name="T11" fmla="*/ 220 h 1177"/>
                  <a:gd name="T12" fmla="*/ 338 w 386"/>
                  <a:gd name="T13" fmla="*/ 225 h 1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6" h="1177">
                    <a:moveTo>
                      <a:pt x="338" y="225"/>
                    </a:moveTo>
                    <a:lnTo>
                      <a:pt x="65" y="0"/>
                    </a:lnTo>
                    <a:lnTo>
                      <a:pt x="0" y="876"/>
                    </a:lnTo>
                    <a:lnTo>
                      <a:pt x="384" y="1177"/>
                    </a:lnTo>
                    <a:lnTo>
                      <a:pt x="386" y="1177"/>
                    </a:lnTo>
                    <a:lnTo>
                      <a:pt x="361" y="220"/>
                    </a:lnTo>
                    <a:lnTo>
                      <a:pt x="338" y="225"/>
                    </a:lnTo>
                    <a:close/>
                  </a:path>
                </a:pathLst>
              </a:custGeom>
              <a:solidFill>
                <a:srgbClr val="C0DC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70">
                <a:extLst>
                  <a:ext uri="{FF2B5EF4-FFF2-40B4-BE49-F238E27FC236}">
                    <a16:creationId xmlns:a16="http://schemas.microsoft.com/office/drawing/2014/main" id="{18C6B60F-E62E-E154-EF5E-826642AF8A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91531" y="4305349"/>
                <a:ext cx="290021" cy="830484"/>
              </a:xfrm>
              <a:custGeom>
                <a:avLst/>
                <a:gdLst>
                  <a:gd name="T0" fmla="*/ 143 w 151"/>
                  <a:gd name="T1" fmla="*/ 432 h 432"/>
                  <a:gd name="T2" fmla="*/ 139 w 151"/>
                  <a:gd name="T3" fmla="*/ 430 h 432"/>
                  <a:gd name="T4" fmla="*/ 3 w 151"/>
                  <a:gd name="T5" fmla="*/ 323 h 432"/>
                  <a:gd name="T6" fmla="*/ 0 w 151"/>
                  <a:gd name="T7" fmla="*/ 317 h 432"/>
                  <a:gd name="T8" fmla="*/ 23 w 151"/>
                  <a:gd name="T9" fmla="*/ 7 h 432"/>
                  <a:gd name="T10" fmla="*/ 27 w 151"/>
                  <a:gd name="T11" fmla="*/ 1 h 432"/>
                  <a:gd name="T12" fmla="*/ 34 w 151"/>
                  <a:gd name="T13" fmla="*/ 2 h 432"/>
                  <a:gd name="T14" fmla="*/ 128 w 151"/>
                  <a:gd name="T15" fmla="*/ 80 h 432"/>
                  <a:gd name="T16" fmla="*/ 133 w 151"/>
                  <a:gd name="T17" fmla="*/ 79 h 432"/>
                  <a:gd name="T18" fmla="*/ 139 w 151"/>
                  <a:gd name="T19" fmla="*/ 80 h 432"/>
                  <a:gd name="T20" fmla="*/ 141 w 151"/>
                  <a:gd name="T21" fmla="*/ 85 h 432"/>
                  <a:gd name="T22" fmla="*/ 151 w 151"/>
                  <a:gd name="T23" fmla="*/ 425 h 432"/>
                  <a:gd name="T24" fmla="*/ 146 w 151"/>
                  <a:gd name="T25" fmla="*/ 431 h 432"/>
                  <a:gd name="T26" fmla="*/ 145 w 151"/>
                  <a:gd name="T27" fmla="*/ 431 h 432"/>
                  <a:gd name="T28" fmla="*/ 143 w 151"/>
                  <a:gd name="T29" fmla="*/ 432 h 432"/>
                  <a:gd name="T30" fmla="*/ 14 w 151"/>
                  <a:gd name="T31" fmla="*/ 315 h 432"/>
                  <a:gd name="T32" fmla="*/ 137 w 151"/>
                  <a:gd name="T33" fmla="*/ 412 h 432"/>
                  <a:gd name="T34" fmla="*/ 128 w 151"/>
                  <a:gd name="T35" fmla="*/ 93 h 432"/>
                  <a:gd name="T36" fmla="*/ 122 w 151"/>
                  <a:gd name="T37" fmla="*/ 92 h 432"/>
                  <a:gd name="T38" fmla="*/ 35 w 151"/>
                  <a:gd name="T39" fmla="*/ 21 h 432"/>
                  <a:gd name="T40" fmla="*/ 14 w 151"/>
                  <a:gd name="T41" fmla="*/ 315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1" h="432">
                    <a:moveTo>
                      <a:pt x="143" y="432"/>
                    </a:moveTo>
                    <a:cubicBezTo>
                      <a:pt x="142" y="432"/>
                      <a:pt x="140" y="431"/>
                      <a:pt x="139" y="430"/>
                    </a:cubicBezTo>
                    <a:cubicBezTo>
                      <a:pt x="3" y="323"/>
                      <a:pt x="3" y="323"/>
                      <a:pt x="3" y="323"/>
                    </a:cubicBezTo>
                    <a:cubicBezTo>
                      <a:pt x="1" y="322"/>
                      <a:pt x="0" y="320"/>
                      <a:pt x="0" y="317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4"/>
                      <a:pt x="25" y="2"/>
                      <a:pt x="27" y="1"/>
                    </a:cubicBezTo>
                    <a:cubicBezTo>
                      <a:pt x="29" y="0"/>
                      <a:pt x="32" y="1"/>
                      <a:pt x="34" y="2"/>
                    </a:cubicBezTo>
                    <a:cubicBezTo>
                      <a:pt x="128" y="80"/>
                      <a:pt x="128" y="80"/>
                      <a:pt x="128" y="80"/>
                    </a:cubicBezTo>
                    <a:cubicBezTo>
                      <a:pt x="133" y="79"/>
                      <a:pt x="133" y="79"/>
                      <a:pt x="133" y="79"/>
                    </a:cubicBezTo>
                    <a:cubicBezTo>
                      <a:pt x="135" y="78"/>
                      <a:pt x="137" y="79"/>
                      <a:pt x="139" y="80"/>
                    </a:cubicBezTo>
                    <a:cubicBezTo>
                      <a:pt x="140" y="81"/>
                      <a:pt x="141" y="83"/>
                      <a:pt x="141" y="85"/>
                    </a:cubicBezTo>
                    <a:cubicBezTo>
                      <a:pt x="151" y="425"/>
                      <a:pt x="151" y="425"/>
                      <a:pt x="151" y="425"/>
                    </a:cubicBezTo>
                    <a:cubicBezTo>
                      <a:pt x="151" y="427"/>
                      <a:pt x="149" y="430"/>
                      <a:pt x="146" y="431"/>
                    </a:cubicBezTo>
                    <a:cubicBezTo>
                      <a:pt x="145" y="431"/>
                      <a:pt x="145" y="431"/>
                      <a:pt x="145" y="431"/>
                    </a:cubicBezTo>
                    <a:cubicBezTo>
                      <a:pt x="145" y="432"/>
                      <a:pt x="144" y="432"/>
                      <a:pt x="143" y="432"/>
                    </a:cubicBezTo>
                    <a:close/>
                    <a:moveTo>
                      <a:pt x="14" y="315"/>
                    </a:moveTo>
                    <a:cubicBezTo>
                      <a:pt x="137" y="412"/>
                      <a:pt x="137" y="412"/>
                      <a:pt x="137" y="412"/>
                    </a:cubicBezTo>
                    <a:cubicBezTo>
                      <a:pt x="128" y="93"/>
                      <a:pt x="128" y="93"/>
                      <a:pt x="128" y="93"/>
                    </a:cubicBezTo>
                    <a:cubicBezTo>
                      <a:pt x="126" y="94"/>
                      <a:pt x="124" y="93"/>
                      <a:pt x="122" y="92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14" y="315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1">
                <a:extLst>
                  <a:ext uri="{FF2B5EF4-FFF2-40B4-BE49-F238E27FC236}">
                    <a16:creationId xmlns:a16="http://schemas.microsoft.com/office/drawing/2014/main" id="{8E12473B-2F02-10AF-BCD1-1FBF569461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1720" y="4311490"/>
                <a:ext cx="367133" cy="683767"/>
              </a:xfrm>
              <a:custGeom>
                <a:avLst/>
                <a:gdLst>
                  <a:gd name="T0" fmla="*/ 524 w 538"/>
                  <a:gd name="T1" fmla="*/ 0 h 1002"/>
                  <a:gd name="T2" fmla="*/ 152 w 538"/>
                  <a:gd name="T3" fmla="*/ 129 h 1002"/>
                  <a:gd name="T4" fmla="*/ 0 w 538"/>
                  <a:gd name="T5" fmla="*/ 1002 h 1002"/>
                  <a:gd name="T6" fmla="*/ 471 w 538"/>
                  <a:gd name="T7" fmla="*/ 884 h 1002"/>
                  <a:gd name="T8" fmla="*/ 473 w 538"/>
                  <a:gd name="T9" fmla="*/ 887 h 1002"/>
                  <a:gd name="T10" fmla="*/ 538 w 538"/>
                  <a:gd name="T11" fmla="*/ 11 h 1002"/>
                  <a:gd name="T12" fmla="*/ 524 w 538"/>
                  <a:gd name="T13" fmla="*/ 0 h 10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8" h="1002">
                    <a:moveTo>
                      <a:pt x="524" y="0"/>
                    </a:moveTo>
                    <a:lnTo>
                      <a:pt x="152" y="129"/>
                    </a:lnTo>
                    <a:lnTo>
                      <a:pt x="0" y="1002"/>
                    </a:lnTo>
                    <a:lnTo>
                      <a:pt x="471" y="884"/>
                    </a:lnTo>
                    <a:lnTo>
                      <a:pt x="473" y="887"/>
                    </a:lnTo>
                    <a:lnTo>
                      <a:pt x="538" y="11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rgbClr val="90C2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72">
                <a:extLst>
                  <a:ext uri="{FF2B5EF4-FFF2-40B4-BE49-F238E27FC236}">
                    <a16:creationId xmlns:a16="http://schemas.microsoft.com/office/drawing/2014/main" id="{A1E165A7-4790-2A5A-6496-D31147F4BB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68072" y="4297842"/>
                <a:ext cx="392382" cy="709017"/>
              </a:xfrm>
              <a:custGeom>
                <a:avLst/>
                <a:gdLst>
                  <a:gd name="T0" fmla="*/ 7 w 204"/>
                  <a:gd name="T1" fmla="*/ 369 h 369"/>
                  <a:gd name="T2" fmla="*/ 2 w 204"/>
                  <a:gd name="T3" fmla="*/ 368 h 369"/>
                  <a:gd name="T4" fmla="*/ 0 w 204"/>
                  <a:gd name="T5" fmla="*/ 362 h 369"/>
                  <a:gd name="T6" fmla="*/ 55 w 204"/>
                  <a:gd name="T7" fmla="*/ 52 h 369"/>
                  <a:gd name="T8" fmla="*/ 59 w 204"/>
                  <a:gd name="T9" fmla="*/ 47 h 369"/>
                  <a:gd name="T10" fmla="*/ 190 w 204"/>
                  <a:gd name="T11" fmla="*/ 1 h 369"/>
                  <a:gd name="T12" fmla="*/ 197 w 204"/>
                  <a:gd name="T13" fmla="*/ 2 h 369"/>
                  <a:gd name="T14" fmla="*/ 202 w 204"/>
                  <a:gd name="T15" fmla="*/ 6 h 369"/>
                  <a:gd name="T16" fmla="*/ 204 w 204"/>
                  <a:gd name="T17" fmla="*/ 12 h 369"/>
                  <a:gd name="T18" fmla="*/ 181 w 204"/>
                  <a:gd name="T19" fmla="*/ 322 h 369"/>
                  <a:gd name="T20" fmla="*/ 178 w 204"/>
                  <a:gd name="T21" fmla="*/ 328 h 369"/>
                  <a:gd name="T22" fmla="*/ 174 w 204"/>
                  <a:gd name="T23" fmla="*/ 328 h 369"/>
                  <a:gd name="T24" fmla="*/ 8 w 204"/>
                  <a:gd name="T25" fmla="*/ 369 h 369"/>
                  <a:gd name="T26" fmla="*/ 7 w 204"/>
                  <a:gd name="T27" fmla="*/ 369 h 369"/>
                  <a:gd name="T28" fmla="*/ 67 w 204"/>
                  <a:gd name="T29" fmla="*/ 58 h 369"/>
                  <a:gd name="T30" fmla="*/ 15 w 204"/>
                  <a:gd name="T31" fmla="*/ 354 h 369"/>
                  <a:gd name="T32" fmla="*/ 169 w 204"/>
                  <a:gd name="T33" fmla="*/ 316 h 369"/>
                  <a:gd name="T34" fmla="*/ 191 w 204"/>
                  <a:gd name="T35" fmla="*/ 15 h 369"/>
                  <a:gd name="T36" fmla="*/ 67 w 204"/>
                  <a:gd name="T37" fmla="*/ 58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4" h="369">
                    <a:moveTo>
                      <a:pt x="7" y="369"/>
                    </a:moveTo>
                    <a:cubicBezTo>
                      <a:pt x="5" y="369"/>
                      <a:pt x="4" y="369"/>
                      <a:pt x="2" y="368"/>
                    </a:cubicBezTo>
                    <a:cubicBezTo>
                      <a:pt x="1" y="366"/>
                      <a:pt x="0" y="364"/>
                      <a:pt x="0" y="362"/>
                    </a:cubicBezTo>
                    <a:cubicBezTo>
                      <a:pt x="55" y="52"/>
                      <a:pt x="55" y="52"/>
                      <a:pt x="55" y="52"/>
                    </a:cubicBezTo>
                    <a:cubicBezTo>
                      <a:pt x="55" y="50"/>
                      <a:pt x="57" y="48"/>
                      <a:pt x="59" y="47"/>
                    </a:cubicBezTo>
                    <a:cubicBezTo>
                      <a:pt x="190" y="1"/>
                      <a:pt x="190" y="1"/>
                      <a:pt x="190" y="1"/>
                    </a:cubicBezTo>
                    <a:cubicBezTo>
                      <a:pt x="193" y="0"/>
                      <a:pt x="195" y="1"/>
                      <a:pt x="197" y="2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4" y="8"/>
                      <a:pt x="204" y="10"/>
                      <a:pt x="204" y="12"/>
                    </a:cubicBezTo>
                    <a:cubicBezTo>
                      <a:pt x="181" y="322"/>
                      <a:pt x="181" y="322"/>
                      <a:pt x="181" y="322"/>
                    </a:cubicBezTo>
                    <a:cubicBezTo>
                      <a:pt x="181" y="325"/>
                      <a:pt x="180" y="327"/>
                      <a:pt x="178" y="328"/>
                    </a:cubicBezTo>
                    <a:cubicBezTo>
                      <a:pt x="176" y="328"/>
                      <a:pt x="175" y="329"/>
                      <a:pt x="174" y="328"/>
                    </a:cubicBezTo>
                    <a:cubicBezTo>
                      <a:pt x="8" y="369"/>
                      <a:pt x="8" y="369"/>
                      <a:pt x="8" y="369"/>
                    </a:cubicBezTo>
                    <a:cubicBezTo>
                      <a:pt x="8" y="369"/>
                      <a:pt x="7" y="369"/>
                      <a:pt x="7" y="369"/>
                    </a:cubicBezTo>
                    <a:close/>
                    <a:moveTo>
                      <a:pt x="67" y="58"/>
                    </a:moveTo>
                    <a:cubicBezTo>
                      <a:pt x="15" y="354"/>
                      <a:pt x="15" y="354"/>
                      <a:pt x="15" y="354"/>
                    </a:cubicBezTo>
                    <a:cubicBezTo>
                      <a:pt x="169" y="316"/>
                      <a:pt x="169" y="316"/>
                      <a:pt x="169" y="316"/>
                    </a:cubicBezTo>
                    <a:cubicBezTo>
                      <a:pt x="191" y="15"/>
                      <a:pt x="191" y="15"/>
                      <a:pt x="191" y="15"/>
                    </a:cubicBezTo>
                    <a:lnTo>
                      <a:pt x="67" y="58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73">
                <a:extLst>
                  <a:ext uri="{FF2B5EF4-FFF2-40B4-BE49-F238E27FC236}">
                    <a16:creationId xmlns:a16="http://schemas.microsoft.com/office/drawing/2014/main" id="{630DEACD-4843-015E-7059-6C86308E1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1365" y="4540095"/>
                <a:ext cx="47768" cy="40262"/>
              </a:xfrm>
              <a:custGeom>
                <a:avLst/>
                <a:gdLst>
                  <a:gd name="T0" fmla="*/ 20 w 25"/>
                  <a:gd name="T1" fmla="*/ 21 h 21"/>
                  <a:gd name="T2" fmla="*/ 18 w 25"/>
                  <a:gd name="T3" fmla="*/ 20 h 21"/>
                  <a:gd name="T4" fmla="*/ 2 w 25"/>
                  <a:gd name="T5" fmla="*/ 7 h 21"/>
                  <a:gd name="T6" fmla="*/ 1 w 25"/>
                  <a:gd name="T7" fmla="*/ 2 h 21"/>
                  <a:gd name="T8" fmla="*/ 7 w 25"/>
                  <a:gd name="T9" fmla="*/ 1 h 21"/>
                  <a:gd name="T10" fmla="*/ 23 w 25"/>
                  <a:gd name="T11" fmla="*/ 13 h 21"/>
                  <a:gd name="T12" fmla="*/ 24 w 25"/>
                  <a:gd name="T13" fmla="*/ 19 h 21"/>
                  <a:gd name="T14" fmla="*/ 20 w 25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1">
                    <a:moveTo>
                      <a:pt x="20" y="21"/>
                    </a:moveTo>
                    <a:cubicBezTo>
                      <a:pt x="20" y="21"/>
                      <a:pt x="19" y="20"/>
                      <a:pt x="18" y="2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0" y="3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5" y="15"/>
                      <a:pt x="25" y="17"/>
                      <a:pt x="24" y="19"/>
                    </a:cubicBezTo>
                    <a:cubicBezTo>
                      <a:pt x="23" y="20"/>
                      <a:pt x="22" y="21"/>
                      <a:pt x="20" y="2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74">
                <a:extLst>
                  <a:ext uri="{FF2B5EF4-FFF2-40B4-BE49-F238E27FC236}">
                    <a16:creationId xmlns:a16="http://schemas.microsoft.com/office/drawing/2014/main" id="{6D87EC4B-19B9-A64F-DF1E-EE4815819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2335" y="4594005"/>
                <a:ext cx="70970" cy="57322"/>
              </a:xfrm>
              <a:custGeom>
                <a:avLst/>
                <a:gdLst>
                  <a:gd name="T0" fmla="*/ 32 w 37"/>
                  <a:gd name="T1" fmla="*/ 30 h 30"/>
                  <a:gd name="T2" fmla="*/ 29 w 37"/>
                  <a:gd name="T3" fmla="*/ 29 h 30"/>
                  <a:gd name="T4" fmla="*/ 2 w 37"/>
                  <a:gd name="T5" fmla="*/ 8 h 30"/>
                  <a:gd name="T6" fmla="*/ 1 w 37"/>
                  <a:gd name="T7" fmla="*/ 2 h 30"/>
                  <a:gd name="T8" fmla="*/ 7 w 37"/>
                  <a:gd name="T9" fmla="*/ 1 h 30"/>
                  <a:gd name="T10" fmla="*/ 34 w 37"/>
                  <a:gd name="T11" fmla="*/ 23 h 30"/>
                  <a:gd name="T12" fmla="*/ 35 w 37"/>
                  <a:gd name="T13" fmla="*/ 28 h 30"/>
                  <a:gd name="T14" fmla="*/ 32 w 37"/>
                  <a:gd name="T1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0">
                    <a:moveTo>
                      <a:pt x="32" y="30"/>
                    </a:moveTo>
                    <a:cubicBezTo>
                      <a:pt x="31" y="30"/>
                      <a:pt x="30" y="30"/>
                      <a:pt x="29" y="2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4"/>
                      <a:pt x="1" y="2"/>
                    </a:cubicBezTo>
                    <a:cubicBezTo>
                      <a:pt x="2" y="0"/>
                      <a:pt x="5" y="0"/>
                      <a:pt x="7" y="1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6" y="24"/>
                      <a:pt x="37" y="27"/>
                      <a:pt x="35" y="28"/>
                    </a:cubicBezTo>
                    <a:cubicBezTo>
                      <a:pt x="34" y="29"/>
                      <a:pt x="33" y="30"/>
                      <a:pt x="32" y="30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5">
                <a:extLst>
                  <a:ext uri="{FF2B5EF4-FFF2-40B4-BE49-F238E27FC236}">
                    <a16:creationId xmlns:a16="http://schemas.microsoft.com/office/drawing/2014/main" id="{6687DD2C-EFDA-B273-BA72-7BB4ED601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459" y="4664975"/>
                <a:ext cx="79159" cy="40262"/>
              </a:xfrm>
              <a:custGeom>
                <a:avLst/>
                <a:gdLst>
                  <a:gd name="T0" fmla="*/ 21 w 41"/>
                  <a:gd name="T1" fmla="*/ 21 h 21"/>
                  <a:gd name="T2" fmla="*/ 18 w 41"/>
                  <a:gd name="T3" fmla="*/ 21 h 21"/>
                  <a:gd name="T4" fmla="*/ 2 w 41"/>
                  <a:gd name="T5" fmla="*/ 8 h 21"/>
                  <a:gd name="T6" fmla="*/ 2 w 41"/>
                  <a:gd name="T7" fmla="*/ 2 h 21"/>
                  <a:gd name="T8" fmla="*/ 7 w 41"/>
                  <a:gd name="T9" fmla="*/ 2 h 21"/>
                  <a:gd name="T10" fmla="*/ 21 w 41"/>
                  <a:gd name="T11" fmla="*/ 12 h 21"/>
                  <a:gd name="T12" fmla="*/ 34 w 41"/>
                  <a:gd name="T13" fmla="*/ 1 h 21"/>
                  <a:gd name="T14" fmla="*/ 40 w 41"/>
                  <a:gd name="T15" fmla="*/ 2 h 21"/>
                  <a:gd name="T16" fmla="*/ 39 w 41"/>
                  <a:gd name="T17" fmla="*/ 7 h 21"/>
                  <a:gd name="T18" fmla="*/ 23 w 41"/>
                  <a:gd name="T19" fmla="*/ 21 h 21"/>
                  <a:gd name="T20" fmla="*/ 21 w 41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21">
                    <a:moveTo>
                      <a:pt x="21" y="21"/>
                    </a:moveTo>
                    <a:cubicBezTo>
                      <a:pt x="20" y="21"/>
                      <a:pt x="19" y="21"/>
                      <a:pt x="18" y="21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6" y="0"/>
                      <a:pt x="38" y="0"/>
                      <a:pt x="40" y="2"/>
                    </a:cubicBezTo>
                    <a:cubicBezTo>
                      <a:pt x="41" y="3"/>
                      <a:pt x="41" y="6"/>
                      <a:pt x="39" y="7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1" y="2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76">
                <a:extLst>
                  <a:ext uri="{FF2B5EF4-FFF2-40B4-BE49-F238E27FC236}">
                    <a16:creationId xmlns:a16="http://schemas.microsoft.com/office/drawing/2014/main" id="{49A3C754-1E35-22BC-1DCB-5B38CA305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4326" y="4570803"/>
                <a:ext cx="82571" cy="68923"/>
              </a:xfrm>
              <a:custGeom>
                <a:avLst/>
                <a:gdLst>
                  <a:gd name="T0" fmla="*/ 4 w 43"/>
                  <a:gd name="T1" fmla="*/ 36 h 36"/>
                  <a:gd name="T2" fmla="*/ 1 w 43"/>
                  <a:gd name="T3" fmla="*/ 35 h 36"/>
                  <a:gd name="T4" fmla="*/ 2 w 43"/>
                  <a:gd name="T5" fmla="*/ 29 h 36"/>
                  <a:gd name="T6" fmla="*/ 35 w 43"/>
                  <a:gd name="T7" fmla="*/ 1 h 36"/>
                  <a:gd name="T8" fmla="*/ 41 w 43"/>
                  <a:gd name="T9" fmla="*/ 2 h 36"/>
                  <a:gd name="T10" fmla="*/ 41 w 43"/>
                  <a:gd name="T11" fmla="*/ 7 h 36"/>
                  <a:gd name="T12" fmla="*/ 7 w 43"/>
                  <a:gd name="T13" fmla="*/ 35 h 36"/>
                  <a:gd name="T14" fmla="*/ 4 w 43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36">
                    <a:moveTo>
                      <a:pt x="4" y="36"/>
                    </a:moveTo>
                    <a:cubicBezTo>
                      <a:pt x="3" y="36"/>
                      <a:pt x="2" y="36"/>
                      <a:pt x="1" y="35"/>
                    </a:cubicBezTo>
                    <a:cubicBezTo>
                      <a:pt x="0" y="33"/>
                      <a:pt x="0" y="31"/>
                      <a:pt x="2" y="29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7" y="0"/>
                      <a:pt x="40" y="0"/>
                      <a:pt x="41" y="2"/>
                    </a:cubicBezTo>
                    <a:cubicBezTo>
                      <a:pt x="43" y="3"/>
                      <a:pt x="42" y="6"/>
                      <a:pt x="41" y="7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6" y="36"/>
                      <a:pt x="5" y="36"/>
                      <a:pt x="4" y="36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7">
                <a:extLst>
                  <a:ext uri="{FF2B5EF4-FFF2-40B4-BE49-F238E27FC236}">
                    <a16:creationId xmlns:a16="http://schemas.microsoft.com/office/drawing/2014/main" id="{C7660D67-1BDA-CC51-CD2D-1A329C5C73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5558" y="4505293"/>
                <a:ext cx="115326" cy="98266"/>
              </a:xfrm>
              <a:custGeom>
                <a:avLst/>
                <a:gdLst>
                  <a:gd name="T0" fmla="*/ 55 w 60"/>
                  <a:gd name="T1" fmla="*/ 51 h 51"/>
                  <a:gd name="T2" fmla="*/ 51 w 60"/>
                  <a:gd name="T3" fmla="*/ 48 h 51"/>
                  <a:gd name="T4" fmla="*/ 50 w 60"/>
                  <a:gd name="T5" fmla="*/ 29 h 51"/>
                  <a:gd name="T6" fmla="*/ 21 w 60"/>
                  <a:gd name="T7" fmla="*/ 9 h 51"/>
                  <a:gd name="T8" fmla="*/ 8 w 60"/>
                  <a:gd name="T9" fmla="*/ 20 h 51"/>
                  <a:gd name="T10" fmla="*/ 2 w 60"/>
                  <a:gd name="T11" fmla="*/ 20 h 51"/>
                  <a:gd name="T12" fmla="*/ 2 w 60"/>
                  <a:gd name="T13" fmla="*/ 14 h 51"/>
                  <a:gd name="T14" fmla="*/ 18 w 60"/>
                  <a:gd name="T15" fmla="*/ 1 h 51"/>
                  <a:gd name="T16" fmla="*/ 23 w 60"/>
                  <a:gd name="T17" fmla="*/ 1 h 51"/>
                  <a:gd name="T18" fmla="*/ 56 w 60"/>
                  <a:gd name="T19" fmla="*/ 24 h 51"/>
                  <a:gd name="T20" fmla="*/ 58 w 60"/>
                  <a:gd name="T21" fmla="*/ 27 h 51"/>
                  <a:gd name="T22" fmla="*/ 59 w 60"/>
                  <a:gd name="T23" fmla="*/ 47 h 51"/>
                  <a:gd name="T24" fmla="*/ 56 w 60"/>
                  <a:gd name="T25" fmla="*/ 51 h 51"/>
                  <a:gd name="T26" fmla="*/ 55 w 60"/>
                  <a:gd name="T27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51">
                    <a:moveTo>
                      <a:pt x="55" y="51"/>
                    </a:moveTo>
                    <a:cubicBezTo>
                      <a:pt x="53" y="51"/>
                      <a:pt x="52" y="50"/>
                      <a:pt x="51" y="48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6" y="22"/>
                      <a:pt x="3" y="21"/>
                      <a:pt x="2" y="20"/>
                    </a:cubicBezTo>
                    <a:cubicBezTo>
                      <a:pt x="0" y="18"/>
                      <a:pt x="1" y="15"/>
                      <a:pt x="2" y="14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21" y="0"/>
                      <a:pt x="23" y="1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7" y="25"/>
                      <a:pt x="58" y="26"/>
                      <a:pt x="58" y="2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9"/>
                      <a:pt x="58" y="51"/>
                      <a:pt x="56" y="51"/>
                    </a:cubicBezTo>
                    <a:cubicBezTo>
                      <a:pt x="56" y="51"/>
                      <a:pt x="56" y="51"/>
                      <a:pt x="55" y="5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78">
                <a:extLst>
                  <a:ext uri="{FF2B5EF4-FFF2-40B4-BE49-F238E27FC236}">
                    <a16:creationId xmlns:a16="http://schemas.microsoft.com/office/drawing/2014/main" id="{076F7B09-67FD-256E-330D-BB85E9E056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9283" y="4501198"/>
                <a:ext cx="133069" cy="248395"/>
              </a:xfrm>
              <a:custGeom>
                <a:avLst/>
                <a:gdLst>
                  <a:gd name="T0" fmla="*/ 41 w 69"/>
                  <a:gd name="T1" fmla="*/ 129 h 129"/>
                  <a:gd name="T2" fmla="*/ 41 w 69"/>
                  <a:gd name="T3" fmla="*/ 129 h 129"/>
                  <a:gd name="T4" fmla="*/ 37 w 69"/>
                  <a:gd name="T5" fmla="*/ 124 h 129"/>
                  <a:gd name="T6" fmla="*/ 46 w 69"/>
                  <a:gd name="T7" fmla="*/ 80 h 129"/>
                  <a:gd name="T8" fmla="*/ 51 w 69"/>
                  <a:gd name="T9" fmla="*/ 77 h 129"/>
                  <a:gd name="T10" fmla="*/ 54 w 69"/>
                  <a:gd name="T11" fmla="*/ 82 h 129"/>
                  <a:gd name="T12" fmla="*/ 45 w 69"/>
                  <a:gd name="T13" fmla="*/ 125 h 129"/>
                  <a:gd name="T14" fmla="*/ 41 w 69"/>
                  <a:gd name="T15" fmla="*/ 129 h 129"/>
                  <a:gd name="T16" fmla="*/ 18 w 69"/>
                  <a:gd name="T17" fmla="*/ 126 h 129"/>
                  <a:gd name="T18" fmla="*/ 15 w 69"/>
                  <a:gd name="T19" fmla="*/ 125 h 129"/>
                  <a:gd name="T20" fmla="*/ 4 w 69"/>
                  <a:gd name="T21" fmla="*/ 112 h 129"/>
                  <a:gd name="T22" fmla="*/ 3 w 69"/>
                  <a:gd name="T23" fmla="*/ 110 h 129"/>
                  <a:gd name="T24" fmla="*/ 0 w 69"/>
                  <a:gd name="T25" fmla="*/ 83 h 129"/>
                  <a:gd name="T26" fmla="*/ 4 w 69"/>
                  <a:gd name="T27" fmla="*/ 79 h 129"/>
                  <a:gd name="T28" fmla="*/ 8 w 69"/>
                  <a:gd name="T29" fmla="*/ 82 h 129"/>
                  <a:gd name="T30" fmla="*/ 11 w 69"/>
                  <a:gd name="T31" fmla="*/ 108 h 129"/>
                  <a:gd name="T32" fmla="*/ 21 w 69"/>
                  <a:gd name="T33" fmla="*/ 119 h 129"/>
                  <a:gd name="T34" fmla="*/ 21 w 69"/>
                  <a:gd name="T35" fmla="*/ 125 h 129"/>
                  <a:gd name="T36" fmla="*/ 18 w 69"/>
                  <a:gd name="T37" fmla="*/ 126 h 129"/>
                  <a:gd name="T38" fmla="*/ 56 w 69"/>
                  <a:gd name="T39" fmla="*/ 52 h 129"/>
                  <a:gd name="T40" fmla="*/ 56 w 69"/>
                  <a:gd name="T41" fmla="*/ 52 h 129"/>
                  <a:gd name="T42" fmla="*/ 52 w 69"/>
                  <a:gd name="T43" fmla="*/ 47 h 129"/>
                  <a:gd name="T44" fmla="*/ 61 w 69"/>
                  <a:gd name="T45" fmla="*/ 4 h 129"/>
                  <a:gd name="T46" fmla="*/ 66 w 69"/>
                  <a:gd name="T47" fmla="*/ 1 h 129"/>
                  <a:gd name="T48" fmla="*/ 69 w 69"/>
                  <a:gd name="T49" fmla="*/ 5 h 129"/>
                  <a:gd name="T50" fmla="*/ 60 w 69"/>
                  <a:gd name="T51" fmla="*/ 49 h 129"/>
                  <a:gd name="T52" fmla="*/ 56 w 69"/>
                  <a:gd name="T53" fmla="*/ 52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9" h="129">
                    <a:moveTo>
                      <a:pt x="41" y="129"/>
                    </a:moveTo>
                    <a:cubicBezTo>
                      <a:pt x="41" y="129"/>
                      <a:pt x="41" y="129"/>
                      <a:pt x="41" y="129"/>
                    </a:cubicBezTo>
                    <a:cubicBezTo>
                      <a:pt x="38" y="128"/>
                      <a:pt x="37" y="126"/>
                      <a:pt x="37" y="124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78"/>
                      <a:pt x="49" y="76"/>
                      <a:pt x="51" y="77"/>
                    </a:cubicBezTo>
                    <a:cubicBezTo>
                      <a:pt x="53" y="77"/>
                      <a:pt x="54" y="79"/>
                      <a:pt x="54" y="82"/>
                    </a:cubicBezTo>
                    <a:cubicBezTo>
                      <a:pt x="45" y="125"/>
                      <a:pt x="45" y="125"/>
                      <a:pt x="45" y="125"/>
                    </a:cubicBezTo>
                    <a:cubicBezTo>
                      <a:pt x="45" y="127"/>
                      <a:pt x="43" y="129"/>
                      <a:pt x="41" y="129"/>
                    </a:cubicBezTo>
                    <a:close/>
                    <a:moveTo>
                      <a:pt x="18" y="126"/>
                    </a:moveTo>
                    <a:cubicBezTo>
                      <a:pt x="17" y="126"/>
                      <a:pt x="16" y="126"/>
                      <a:pt x="15" y="125"/>
                    </a:cubicBezTo>
                    <a:cubicBezTo>
                      <a:pt x="9" y="119"/>
                      <a:pt x="4" y="113"/>
                      <a:pt x="4" y="112"/>
                    </a:cubicBezTo>
                    <a:cubicBezTo>
                      <a:pt x="3" y="112"/>
                      <a:pt x="3" y="111"/>
                      <a:pt x="3" y="110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1"/>
                      <a:pt x="2" y="79"/>
                      <a:pt x="4" y="79"/>
                    </a:cubicBezTo>
                    <a:cubicBezTo>
                      <a:pt x="6" y="78"/>
                      <a:pt x="8" y="80"/>
                      <a:pt x="8" y="82"/>
                    </a:cubicBezTo>
                    <a:cubicBezTo>
                      <a:pt x="11" y="108"/>
                      <a:pt x="11" y="108"/>
                      <a:pt x="11" y="108"/>
                    </a:cubicBezTo>
                    <a:cubicBezTo>
                      <a:pt x="12" y="110"/>
                      <a:pt x="16" y="115"/>
                      <a:pt x="21" y="119"/>
                    </a:cubicBezTo>
                    <a:cubicBezTo>
                      <a:pt x="23" y="121"/>
                      <a:pt x="23" y="124"/>
                      <a:pt x="21" y="125"/>
                    </a:cubicBezTo>
                    <a:cubicBezTo>
                      <a:pt x="20" y="126"/>
                      <a:pt x="19" y="126"/>
                      <a:pt x="18" y="126"/>
                    </a:cubicBezTo>
                    <a:close/>
                    <a:moveTo>
                      <a:pt x="56" y="52"/>
                    </a:moveTo>
                    <a:cubicBezTo>
                      <a:pt x="56" y="52"/>
                      <a:pt x="56" y="52"/>
                      <a:pt x="56" y="52"/>
                    </a:cubicBezTo>
                    <a:cubicBezTo>
                      <a:pt x="53" y="52"/>
                      <a:pt x="52" y="50"/>
                      <a:pt x="52" y="47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2"/>
                      <a:pt x="63" y="0"/>
                      <a:pt x="66" y="1"/>
                    </a:cubicBezTo>
                    <a:cubicBezTo>
                      <a:pt x="68" y="1"/>
                      <a:pt x="69" y="3"/>
                      <a:pt x="69" y="5"/>
                    </a:cubicBezTo>
                    <a:cubicBezTo>
                      <a:pt x="60" y="49"/>
                      <a:pt x="60" y="49"/>
                      <a:pt x="60" y="49"/>
                    </a:cubicBezTo>
                    <a:cubicBezTo>
                      <a:pt x="60" y="51"/>
                      <a:pt x="58" y="52"/>
                      <a:pt x="56" y="52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79">
                <a:extLst>
                  <a:ext uri="{FF2B5EF4-FFF2-40B4-BE49-F238E27FC236}">
                    <a16:creationId xmlns:a16="http://schemas.microsoft.com/office/drawing/2014/main" id="{11B13A6C-09F1-58EB-E6F4-F60DADE0F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8257" y="4401568"/>
                <a:ext cx="51863" cy="53910"/>
              </a:xfrm>
              <a:custGeom>
                <a:avLst/>
                <a:gdLst>
                  <a:gd name="T0" fmla="*/ 4 w 27"/>
                  <a:gd name="T1" fmla="*/ 28 h 28"/>
                  <a:gd name="T2" fmla="*/ 3 w 27"/>
                  <a:gd name="T3" fmla="*/ 28 h 28"/>
                  <a:gd name="T4" fmla="*/ 0 w 27"/>
                  <a:gd name="T5" fmla="*/ 23 h 28"/>
                  <a:gd name="T6" fmla="*/ 4 w 27"/>
                  <a:gd name="T7" fmla="*/ 3 h 28"/>
                  <a:gd name="T8" fmla="*/ 7 w 27"/>
                  <a:gd name="T9" fmla="*/ 0 h 28"/>
                  <a:gd name="T10" fmla="*/ 11 w 27"/>
                  <a:gd name="T11" fmla="*/ 1 h 28"/>
                  <a:gd name="T12" fmla="*/ 25 w 27"/>
                  <a:gd name="T13" fmla="*/ 16 h 28"/>
                  <a:gd name="T14" fmla="*/ 25 w 27"/>
                  <a:gd name="T15" fmla="*/ 22 h 28"/>
                  <a:gd name="T16" fmla="*/ 19 w 27"/>
                  <a:gd name="T17" fmla="*/ 22 h 28"/>
                  <a:gd name="T18" fmla="*/ 11 w 27"/>
                  <a:gd name="T19" fmla="*/ 13 h 28"/>
                  <a:gd name="T20" fmla="*/ 8 w 27"/>
                  <a:gd name="T21" fmla="*/ 25 h 28"/>
                  <a:gd name="T22" fmla="*/ 4 w 27"/>
                  <a:gd name="T2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" h="28">
                    <a:moveTo>
                      <a:pt x="4" y="28"/>
                    </a:moveTo>
                    <a:cubicBezTo>
                      <a:pt x="4" y="28"/>
                      <a:pt x="4" y="28"/>
                      <a:pt x="3" y="28"/>
                    </a:cubicBezTo>
                    <a:cubicBezTo>
                      <a:pt x="1" y="28"/>
                      <a:pt x="0" y="26"/>
                      <a:pt x="0" y="2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"/>
                      <a:pt x="6" y="1"/>
                      <a:pt x="7" y="0"/>
                    </a:cubicBezTo>
                    <a:cubicBezTo>
                      <a:pt x="8" y="0"/>
                      <a:pt x="10" y="0"/>
                      <a:pt x="11" y="1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7" y="17"/>
                      <a:pt x="27" y="20"/>
                      <a:pt x="25" y="22"/>
                    </a:cubicBezTo>
                    <a:cubicBezTo>
                      <a:pt x="24" y="23"/>
                      <a:pt x="21" y="23"/>
                      <a:pt x="19" y="2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7"/>
                      <a:pt x="6" y="28"/>
                      <a:pt x="4" y="28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80">
                <a:extLst>
                  <a:ext uri="{FF2B5EF4-FFF2-40B4-BE49-F238E27FC236}">
                    <a16:creationId xmlns:a16="http://schemas.microsoft.com/office/drawing/2014/main" id="{5CED40E5-4231-7BC4-99DE-B0477751F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98781" y="4476632"/>
                <a:ext cx="77112" cy="236111"/>
              </a:xfrm>
              <a:custGeom>
                <a:avLst/>
                <a:gdLst>
                  <a:gd name="T0" fmla="*/ 36 w 40"/>
                  <a:gd name="T1" fmla="*/ 123 h 123"/>
                  <a:gd name="T2" fmla="*/ 32 w 40"/>
                  <a:gd name="T3" fmla="*/ 119 h 123"/>
                  <a:gd name="T4" fmla="*/ 30 w 40"/>
                  <a:gd name="T5" fmla="*/ 73 h 123"/>
                  <a:gd name="T6" fmla="*/ 34 w 40"/>
                  <a:gd name="T7" fmla="*/ 69 h 123"/>
                  <a:gd name="T8" fmla="*/ 38 w 40"/>
                  <a:gd name="T9" fmla="*/ 73 h 123"/>
                  <a:gd name="T10" fmla="*/ 40 w 40"/>
                  <a:gd name="T11" fmla="*/ 118 h 123"/>
                  <a:gd name="T12" fmla="*/ 36 w 40"/>
                  <a:gd name="T13" fmla="*/ 123 h 123"/>
                  <a:gd name="T14" fmla="*/ 36 w 40"/>
                  <a:gd name="T15" fmla="*/ 123 h 123"/>
                  <a:gd name="T16" fmla="*/ 32 w 40"/>
                  <a:gd name="T17" fmla="*/ 43 h 123"/>
                  <a:gd name="T18" fmla="*/ 28 w 40"/>
                  <a:gd name="T19" fmla="*/ 39 h 123"/>
                  <a:gd name="T20" fmla="*/ 28 w 40"/>
                  <a:gd name="T21" fmla="*/ 34 h 123"/>
                  <a:gd name="T22" fmla="*/ 2 w 40"/>
                  <a:gd name="T23" fmla="*/ 7 h 123"/>
                  <a:gd name="T24" fmla="*/ 2 w 40"/>
                  <a:gd name="T25" fmla="*/ 1 h 123"/>
                  <a:gd name="T26" fmla="*/ 7 w 40"/>
                  <a:gd name="T27" fmla="*/ 1 h 123"/>
                  <a:gd name="T28" fmla="*/ 35 w 40"/>
                  <a:gd name="T29" fmla="*/ 30 h 123"/>
                  <a:gd name="T30" fmla="*/ 36 w 40"/>
                  <a:gd name="T31" fmla="*/ 32 h 123"/>
                  <a:gd name="T32" fmla="*/ 37 w 40"/>
                  <a:gd name="T33" fmla="*/ 38 h 123"/>
                  <a:gd name="T34" fmla="*/ 33 w 40"/>
                  <a:gd name="T35" fmla="*/ 43 h 123"/>
                  <a:gd name="T36" fmla="*/ 32 w 40"/>
                  <a:gd name="T37" fmla="*/ 4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123">
                    <a:moveTo>
                      <a:pt x="36" y="123"/>
                    </a:moveTo>
                    <a:cubicBezTo>
                      <a:pt x="34" y="123"/>
                      <a:pt x="32" y="121"/>
                      <a:pt x="32" y="119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1"/>
                      <a:pt x="31" y="69"/>
                      <a:pt x="34" y="69"/>
                    </a:cubicBezTo>
                    <a:cubicBezTo>
                      <a:pt x="36" y="69"/>
                      <a:pt x="38" y="70"/>
                      <a:pt x="38" y="73"/>
                    </a:cubicBezTo>
                    <a:cubicBezTo>
                      <a:pt x="40" y="118"/>
                      <a:pt x="40" y="118"/>
                      <a:pt x="40" y="118"/>
                    </a:cubicBezTo>
                    <a:cubicBezTo>
                      <a:pt x="40" y="121"/>
                      <a:pt x="38" y="123"/>
                      <a:pt x="36" y="123"/>
                    </a:cubicBezTo>
                    <a:cubicBezTo>
                      <a:pt x="36" y="123"/>
                      <a:pt x="36" y="123"/>
                      <a:pt x="36" y="123"/>
                    </a:cubicBezTo>
                    <a:close/>
                    <a:moveTo>
                      <a:pt x="32" y="43"/>
                    </a:moveTo>
                    <a:cubicBezTo>
                      <a:pt x="30" y="43"/>
                      <a:pt x="28" y="41"/>
                      <a:pt x="28" y="39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5"/>
                      <a:pt x="0" y="3"/>
                      <a:pt x="2" y="1"/>
                    </a:cubicBezTo>
                    <a:cubicBezTo>
                      <a:pt x="3" y="0"/>
                      <a:pt x="6" y="0"/>
                      <a:pt x="7" y="1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30"/>
                      <a:pt x="36" y="31"/>
                      <a:pt x="36" y="32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7" y="41"/>
                      <a:pt x="35" y="43"/>
                      <a:pt x="33" y="43"/>
                    </a:cubicBezTo>
                    <a:cubicBezTo>
                      <a:pt x="33" y="43"/>
                      <a:pt x="33" y="43"/>
                      <a:pt x="32" y="43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81">
                <a:extLst>
                  <a:ext uri="{FF2B5EF4-FFF2-40B4-BE49-F238E27FC236}">
                    <a16:creationId xmlns:a16="http://schemas.microsoft.com/office/drawing/2014/main" id="{EEA35D1B-5645-084C-F404-9D48FA9DD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2244" y="4763241"/>
                <a:ext cx="55957" cy="66875"/>
              </a:xfrm>
              <a:custGeom>
                <a:avLst/>
                <a:gdLst>
                  <a:gd name="T0" fmla="*/ 24 w 29"/>
                  <a:gd name="T1" fmla="*/ 35 h 35"/>
                  <a:gd name="T2" fmla="*/ 23 w 29"/>
                  <a:gd name="T3" fmla="*/ 35 h 35"/>
                  <a:gd name="T4" fmla="*/ 4 w 29"/>
                  <a:gd name="T5" fmla="*/ 28 h 35"/>
                  <a:gd name="T6" fmla="*/ 1 w 29"/>
                  <a:gd name="T7" fmla="*/ 24 h 35"/>
                  <a:gd name="T8" fmla="*/ 0 w 29"/>
                  <a:gd name="T9" fmla="*/ 4 h 35"/>
                  <a:gd name="T10" fmla="*/ 4 w 29"/>
                  <a:gd name="T11" fmla="*/ 0 h 35"/>
                  <a:gd name="T12" fmla="*/ 8 w 29"/>
                  <a:gd name="T13" fmla="*/ 4 h 35"/>
                  <a:gd name="T14" fmla="*/ 9 w 29"/>
                  <a:gd name="T15" fmla="*/ 21 h 35"/>
                  <a:gd name="T16" fmla="*/ 25 w 29"/>
                  <a:gd name="T17" fmla="*/ 27 h 35"/>
                  <a:gd name="T18" fmla="*/ 28 w 29"/>
                  <a:gd name="T19" fmla="*/ 33 h 35"/>
                  <a:gd name="T20" fmla="*/ 24 w 29"/>
                  <a:gd name="T21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5">
                    <a:moveTo>
                      <a:pt x="24" y="35"/>
                    </a:moveTo>
                    <a:cubicBezTo>
                      <a:pt x="24" y="35"/>
                      <a:pt x="23" y="35"/>
                      <a:pt x="23" y="35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2" y="27"/>
                      <a:pt x="1" y="26"/>
                      <a:pt x="1" y="2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1"/>
                      <a:pt x="8" y="4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8" y="28"/>
                      <a:pt x="29" y="31"/>
                      <a:pt x="28" y="33"/>
                    </a:cubicBezTo>
                    <a:cubicBezTo>
                      <a:pt x="27" y="34"/>
                      <a:pt x="26" y="35"/>
                      <a:pt x="24" y="35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82">
                <a:extLst>
                  <a:ext uri="{FF2B5EF4-FFF2-40B4-BE49-F238E27FC236}">
                    <a16:creationId xmlns:a16="http://schemas.microsoft.com/office/drawing/2014/main" id="{5D34D2C4-B177-DDD8-869C-15F009A70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4604" y="4813056"/>
                <a:ext cx="61416" cy="55957"/>
              </a:xfrm>
              <a:custGeom>
                <a:avLst/>
                <a:gdLst>
                  <a:gd name="T0" fmla="*/ 24 w 32"/>
                  <a:gd name="T1" fmla="*/ 29 h 29"/>
                  <a:gd name="T2" fmla="*/ 23 w 32"/>
                  <a:gd name="T3" fmla="*/ 29 h 29"/>
                  <a:gd name="T4" fmla="*/ 3 w 32"/>
                  <a:gd name="T5" fmla="*/ 22 h 29"/>
                  <a:gd name="T6" fmla="*/ 1 w 32"/>
                  <a:gd name="T7" fmla="*/ 16 h 29"/>
                  <a:gd name="T8" fmla="*/ 6 w 32"/>
                  <a:gd name="T9" fmla="*/ 14 h 29"/>
                  <a:gd name="T10" fmla="*/ 21 w 32"/>
                  <a:gd name="T11" fmla="*/ 19 h 29"/>
                  <a:gd name="T12" fmla="*/ 24 w 32"/>
                  <a:gd name="T13" fmla="*/ 4 h 29"/>
                  <a:gd name="T14" fmla="*/ 28 w 32"/>
                  <a:gd name="T15" fmla="*/ 1 h 29"/>
                  <a:gd name="T16" fmla="*/ 32 w 32"/>
                  <a:gd name="T17" fmla="*/ 6 h 29"/>
                  <a:gd name="T18" fmla="*/ 28 w 32"/>
                  <a:gd name="T19" fmla="*/ 26 h 29"/>
                  <a:gd name="T20" fmla="*/ 26 w 32"/>
                  <a:gd name="T21" fmla="*/ 28 h 29"/>
                  <a:gd name="T22" fmla="*/ 24 w 32"/>
                  <a:gd name="T2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29">
                    <a:moveTo>
                      <a:pt x="24" y="29"/>
                    </a:moveTo>
                    <a:cubicBezTo>
                      <a:pt x="23" y="29"/>
                      <a:pt x="23" y="29"/>
                      <a:pt x="23" y="29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1" y="21"/>
                      <a:pt x="0" y="18"/>
                      <a:pt x="1" y="16"/>
                    </a:cubicBezTo>
                    <a:cubicBezTo>
                      <a:pt x="2" y="14"/>
                      <a:pt x="4" y="13"/>
                      <a:pt x="6" y="14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6" y="0"/>
                      <a:pt x="28" y="1"/>
                    </a:cubicBezTo>
                    <a:cubicBezTo>
                      <a:pt x="31" y="1"/>
                      <a:pt x="32" y="3"/>
                      <a:pt x="32" y="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27"/>
                      <a:pt x="27" y="28"/>
                      <a:pt x="26" y="28"/>
                    </a:cubicBezTo>
                    <a:cubicBezTo>
                      <a:pt x="25" y="29"/>
                      <a:pt x="25" y="29"/>
                      <a:pt x="24" y="29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83">
                <a:extLst>
                  <a:ext uri="{FF2B5EF4-FFF2-40B4-BE49-F238E27FC236}">
                    <a16:creationId xmlns:a16="http://schemas.microsoft.com/office/drawing/2014/main" id="{61541F0F-CAC3-E3DB-CE35-DAACE590DE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19879" y="4555108"/>
                <a:ext cx="53910" cy="219051"/>
              </a:xfrm>
              <a:custGeom>
                <a:avLst/>
                <a:gdLst>
                  <a:gd name="T0" fmla="*/ 4 w 28"/>
                  <a:gd name="T1" fmla="*/ 114 h 114"/>
                  <a:gd name="T2" fmla="*/ 3 w 28"/>
                  <a:gd name="T3" fmla="*/ 114 h 114"/>
                  <a:gd name="T4" fmla="*/ 0 w 28"/>
                  <a:gd name="T5" fmla="*/ 109 h 114"/>
                  <a:gd name="T6" fmla="*/ 7 w 28"/>
                  <a:gd name="T7" fmla="*/ 71 h 114"/>
                  <a:gd name="T8" fmla="*/ 12 w 28"/>
                  <a:gd name="T9" fmla="*/ 68 h 114"/>
                  <a:gd name="T10" fmla="*/ 15 w 28"/>
                  <a:gd name="T11" fmla="*/ 72 h 114"/>
                  <a:gd name="T12" fmla="*/ 8 w 28"/>
                  <a:gd name="T13" fmla="*/ 111 h 114"/>
                  <a:gd name="T14" fmla="*/ 4 w 28"/>
                  <a:gd name="T15" fmla="*/ 114 h 114"/>
                  <a:gd name="T16" fmla="*/ 16 w 28"/>
                  <a:gd name="T17" fmla="*/ 47 h 114"/>
                  <a:gd name="T18" fmla="*/ 16 w 28"/>
                  <a:gd name="T19" fmla="*/ 47 h 114"/>
                  <a:gd name="T20" fmla="*/ 12 w 28"/>
                  <a:gd name="T21" fmla="*/ 42 h 114"/>
                  <a:gd name="T22" fmla="*/ 20 w 28"/>
                  <a:gd name="T23" fmla="*/ 4 h 114"/>
                  <a:gd name="T24" fmla="*/ 24 w 28"/>
                  <a:gd name="T25" fmla="*/ 0 h 114"/>
                  <a:gd name="T26" fmla="*/ 28 w 28"/>
                  <a:gd name="T27" fmla="*/ 5 h 114"/>
                  <a:gd name="T28" fmla="*/ 20 w 28"/>
                  <a:gd name="T29" fmla="*/ 44 h 114"/>
                  <a:gd name="T30" fmla="*/ 16 w 28"/>
                  <a:gd name="T31" fmla="*/ 4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114">
                    <a:moveTo>
                      <a:pt x="4" y="114"/>
                    </a:moveTo>
                    <a:cubicBezTo>
                      <a:pt x="4" y="114"/>
                      <a:pt x="3" y="114"/>
                      <a:pt x="3" y="114"/>
                    </a:cubicBezTo>
                    <a:cubicBezTo>
                      <a:pt x="1" y="114"/>
                      <a:pt x="0" y="111"/>
                      <a:pt x="0" y="109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8" y="69"/>
                      <a:pt x="10" y="67"/>
                      <a:pt x="12" y="68"/>
                    </a:cubicBezTo>
                    <a:cubicBezTo>
                      <a:pt x="14" y="68"/>
                      <a:pt x="16" y="70"/>
                      <a:pt x="15" y="72"/>
                    </a:cubicBezTo>
                    <a:cubicBezTo>
                      <a:pt x="8" y="111"/>
                      <a:pt x="8" y="111"/>
                      <a:pt x="8" y="111"/>
                    </a:cubicBezTo>
                    <a:cubicBezTo>
                      <a:pt x="8" y="113"/>
                      <a:pt x="6" y="114"/>
                      <a:pt x="4" y="114"/>
                    </a:cubicBezTo>
                    <a:close/>
                    <a:moveTo>
                      <a:pt x="16" y="47"/>
                    </a:moveTo>
                    <a:cubicBezTo>
                      <a:pt x="16" y="47"/>
                      <a:pt x="16" y="47"/>
                      <a:pt x="16" y="47"/>
                    </a:cubicBezTo>
                    <a:cubicBezTo>
                      <a:pt x="13" y="46"/>
                      <a:pt x="12" y="44"/>
                      <a:pt x="12" y="42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1"/>
                      <a:pt x="22" y="0"/>
                      <a:pt x="24" y="0"/>
                    </a:cubicBezTo>
                    <a:cubicBezTo>
                      <a:pt x="27" y="1"/>
                      <a:pt x="28" y="3"/>
                      <a:pt x="28" y="5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5"/>
                      <a:pt x="18" y="47"/>
                      <a:pt x="16" y="47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84">
                <a:extLst>
                  <a:ext uri="{FF2B5EF4-FFF2-40B4-BE49-F238E27FC236}">
                    <a16:creationId xmlns:a16="http://schemas.microsoft.com/office/drawing/2014/main" id="{DFDCA633-CC22-6540-7299-BD26ECC06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8329" y="4460936"/>
                <a:ext cx="61416" cy="55957"/>
              </a:xfrm>
              <a:custGeom>
                <a:avLst/>
                <a:gdLst>
                  <a:gd name="T0" fmla="*/ 4 w 32"/>
                  <a:gd name="T1" fmla="*/ 29 h 29"/>
                  <a:gd name="T2" fmla="*/ 3 w 32"/>
                  <a:gd name="T3" fmla="*/ 29 h 29"/>
                  <a:gd name="T4" fmla="*/ 0 w 32"/>
                  <a:gd name="T5" fmla="*/ 24 h 29"/>
                  <a:gd name="T6" fmla="*/ 4 w 32"/>
                  <a:gd name="T7" fmla="*/ 4 h 29"/>
                  <a:gd name="T8" fmla="*/ 8 w 32"/>
                  <a:gd name="T9" fmla="*/ 1 h 29"/>
                  <a:gd name="T10" fmla="*/ 28 w 32"/>
                  <a:gd name="T11" fmla="*/ 0 h 29"/>
                  <a:gd name="T12" fmla="*/ 32 w 32"/>
                  <a:gd name="T13" fmla="*/ 4 h 29"/>
                  <a:gd name="T14" fmla="*/ 28 w 32"/>
                  <a:gd name="T15" fmla="*/ 8 h 29"/>
                  <a:gd name="T16" fmla="*/ 11 w 32"/>
                  <a:gd name="T17" fmla="*/ 9 h 29"/>
                  <a:gd name="T18" fmla="*/ 8 w 32"/>
                  <a:gd name="T19" fmla="*/ 25 h 29"/>
                  <a:gd name="T20" fmla="*/ 4 w 32"/>
                  <a:gd name="T2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29">
                    <a:moveTo>
                      <a:pt x="4" y="29"/>
                    </a:moveTo>
                    <a:cubicBezTo>
                      <a:pt x="4" y="29"/>
                      <a:pt x="3" y="29"/>
                      <a:pt x="3" y="29"/>
                    </a:cubicBezTo>
                    <a:cubicBezTo>
                      <a:pt x="1" y="28"/>
                      <a:pt x="0" y="26"/>
                      <a:pt x="0" y="2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6" y="1"/>
                      <a:pt x="8" y="1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30" y="0"/>
                      <a:pt x="32" y="2"/>
                      <a:pt x="32" y="4"/>
                    </a:cubicBezTo>
                    <a:cubicBezTo>
                      <a:pt x="32" y="6"/>
                      <a:pt x="30" y="8"/>
                      <a:pt x="28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7"/>
                      <a:pt x="6" y="29"/>
                      <a:pt x="4" y="29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85">
                <a:extLst>
                  <a:ext uri="{FF2B5EF4-FFF2-40B4-BE49-F238E27FC236}">
                    <a16:creationId xmlns:a16="http://schemas.microsoft.com/office/drawing/2014/main" id="{7B18C141-CAB0-524A-15BB-F7111789FF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52947" y="4478679"/>
                <a:ext cx="146034" cy="122832"/>
              </a:xfrm>
              <a:custGeom>
                <a:avLst/>
                <a:gdLst>
                  <a:gd name="T0" fmla="*/ 72 w 76"/>
                  <a:gd name="T1" fmla="*/ 64 h 64"/>
                  <a:gd name="T2" fmla="*/ 69 w 76"/>
                  <a:gd name="T3" fmla="*/ 63 h 64"/>
                  <a:gd name="T4" fmla="*/ 45 w 76"/>
                  <a:gd name="T5" fmla="*/ 43 h 64"/>
                  <a:gd name="T6" fmla="*/ 44 w 76"/>
                  <a:gd name="T7" fmla="*/ 37 h 64"/>
                  <a:gd name="T8" fmla="*/ 50 w 76"/>
                  <a:gd name="T9" fmla="*/ 37 h 64"/>
                  <a:gd name="T10" fmla="*/ 75 w 76"/>
                  <a:gd name="T11" fmla="*/ 57 h 64"/>
                  <a:gd name="T12" fmla="*/ 75 w 76"/>
                  <a:gd name="T13" fmla="*/ 63 h 64"/>
                  <a:gd name="T14" fmla="*/ 72 w 76"/>
                  <a:gd name="T15" fmla="*/ 64 h 64"/>
                  <a:gd name="T16" fmla="*/ 29 w 76"/>
                  <a:gd name="T17" fmla="*/ 29 h 64"/>
                  <a:gd name="T18" fmla="*/ 26 w 76"/>
                  <a:gd name="T19" fmla="*/ 28 h 64"/>
                  <a:gd name="T20" fmla="*/ 2 w 76"/>
                  <a:gd name="T21" fmla="*/ 8 h 64"/>
                  <a:gd name="T22" fmla="*/ 1 w 76"/>
                  <a:gd name="T23" fmla="*/ 2 h 64"/>
                  <a:gd name="T24" fmla="*/ 7 w 76"/>
                  <a:gd name="T25" fmla="*/ 1 h 64"/>
                  <a:gd name="T26" fmla="*/ 32 w 76"/>
                  <a:gd name="T27" fmla="*/ 22 h 64"/>
                  <a:gd name="T28" fmla="*/ 32 w 76"/>
                  <a:gd name="T29" fmla="*/ 27 h 64"/>
                  <a:gd name="T30" fmla="*/ 29 w 76"/>
                  <a:gd name="T31" fmla="*/ 2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64">
                    <a:moveTo>
                      <a:pt x="72" y="64"/>
                    </a:moveTo>
                    <a:cubicBezTo>
                      <a:pt x="71" y="64"/>
                      <a:pt x="70" y="64"/>
                      <a:pt x="69" y="63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3" y="42"/>
                      <a:pt x="43" y="39"/>
                      <a:pt x="44" y="37"/>
                    </a:cubicBezTo>
                    <a:cubicBezTo>
                      <a:pt x="46" y="36"/>
                      <a:pt x="48" y="35"/>
                      <a:pt x="50" y="37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76" y="58"/>
                      <a:pt x="76" y="61"/>
                      <a:pt x="75" y="63"/>
                    </a:cubicBezTo>
                    <a:cubicBezTo>
                      <a:pt x="74" y="64"/>
                      <a:pt x="73" y="64"/>
                      <a:pt x="72" y="64"/>
                    </a:cubicBezTo>
                    <a:close/>
                    <a:moveTo>
                      <a:pt x="29" y="29"/>
                    </a:moveTo>
                    <a:cubicBezTo>
                      <a:pt x="28" y="29"/>
                      <a:pt x="27" y="28"/>
                      <a:pt x="26" y="2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4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3"/>
                      <a:pt x="34" y="26"/>
                      <a:pt x="32" y="27"/>
                    </a:cubicBezTo>
                    <a:cubicBezTo>
                      <a:pt x="31" y="28"/>
                      <a:pt x="30" y="29"/>
                      <a:pt x="29" y="29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86">
                <a:extLst>
                  <a:ext uri="{FF2B5EF4-FFF2-40B4-BE49-F238E27FC236}">
                    <a16:creationId xmlns:a16="http://schemas.microsoft.com/office/drawing/2014/main" id="{38F8E1FC-E18C-AD4A-8A28-694C3AAF4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8089" y="4615159"/>
                <a:ext cx="84618" cy="40262"/>
              </a:xfrm>
              <a:custGeom>
                <a:avLst/>
                <a:gdLst>
                  <a:gd name="T0" fmla="*/ 20 w 44"/>
                  <a:gd name="T1" fmla="*/ 21 h 21"/>
                  <a:gd name="T2" fmla="*/ 17 w 44"/>
                  <a:gd name="T3" fmla="*/ 20 h 21"/>
                  <a:gd name="T4" fmla="*/ 2 w 44"/>
                  <a:gd name="T5" fmla="*/ 7 h 21"/>
                  <a:gd name="T6" fmla="*/ 1 w 44"/>
                  <a:gd name="T7" fmla="*/ 2 h 21"/>
                  <a:gd name="T8" fmla="*/ 7 w 44"/>
                  <a:gd name="T9" fmla="*/ 1 h 21"/>
                  <a:gd name="T10" fmla="*/ 21 w 44"/>
                  <a:gd name="T11" fmla="*/ 13 h 21"/>
                  <a:gd name="T12" fmla="*/ 39 w 44"/>
                  <a:gd name="T13" fmla="*/ 8 h 21"/>
                  <a:gd name="T14" fmla="*/ 44 w 44"/>
                  <a:gd name="T15" fmla="*/ 11 h 21"/>
                  <a:gd name="T16" fmla="*/ 41 w 44"/>
                  <a:gd name="T17" fmla="*/ 16 h 21"/>
                  <a:gd name="T18" fmla="*/ 21 w 44"/>
                  <a:gd name="T19" fmla="*/ 21 h 21"/>
                  <a:gd name="T20" fmla="*/ 20 w 44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21">
                    <a:moveTo>
                      <a:pt x="20" y="21"/>
                    </a:moveTo>
                    <a:cubicBezTo>
                      <a:pt x="19" y="21"/>
                      <a:pt x="18" y="21"/>
                      <a:pt x="17" y="2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0" y="3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41" y="8"/>
                      <a:pt x="43" y="9"/>
                      <a:pt x="44" y="11"/>
                    </a:cubicBezTo>
                    <a:cubicBezTo>
                      <a:pt x="44" y="13"/>
                      <a:pt x="43" y="16"/>
                      <a:pt x="41" y="16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0" y="21"/>
                      <a:pt x="20" y="2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F5041AB3-B677-BF7A-9C43-912D8BF43F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7956" y="4611065"/>
                <a:ext cx="55275" cy="25249"/>
              </a:xfrm>
              <a:custGeom>
                <a:avLst/>
                <a:gdLst>
                  <a:gd name="T0" fmla="*/ 5 w 29"/>
                  <a:gd name="T1" fmla="*/ 13 h 13"/>
                  <a:gd name="T2" fmla="*/ 1 w 29"/>
                  <a:gd name="T3" fmla="*/ 10 h 13"/>
                  <a:gd name="T4" fmla="*/ 4 w 29"/>
                  <a:gd name="T5" fmla="*/ 5 h 13"/>
                  <a:gd name="T6" fmla="*/ 23 w 29"/>
                  <a:gd name="T7" fmla="*/ 0 h 13"/>
                  <a:gd name="T8" fmla="*/ 28 w 29"/>
                  <a:gd name="T9" fmla="*/ 3 h 13"/>
                  <a:gd name="T10" fmla="*/ 25 w 29"/>
                  <a:gd name="T11" fmla="*/ 8 h 13"/>
                  <a:gd name="T12" fmla="*/ 6 w 29"/>
                  <a:gd name="T13" fmla="*/ 13 h 13"/>
                  <a:gd name="T14" fmla="*/ 5 w 29"/>
                  <a:gd name="T1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13">
                    <a:moveTo>
                      <a:pt x="5" y="13"/>
                    </a:moveTo>
                    <a:cubicBezTo>
                      <a:pt x="3" y="13"/>
                      <a:pt x="1" y="12"/>
                      <a:pt x="1" y="10"/>
                    </a:cubicBezTo>
                    <a:cubicBezTo>
                      <a:pt x="0" y="8"/>
                      <a:pt x="1" y="5"/>
                      <a:pt x="4" y="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6" y="0"/>
                      <a:pt x="28" y="1"/>
                      <a:pt x="28" y="3"/>
                    </a:cubicBezTo>
                    <a:cubicBezTo>
                      <a:pt x="29" y="5"/>
                      <a:pt x="28" y="7"/>
                      <a:pt x="25" y="8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3"/>
                      <a:pt x="5" y="13"/>
                      <a:pt x="5" y="13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88">
                <a:extLst>
                  <a:ext uri="{FF2B5EF4-FFF2-40B4-BE49-F238E27FC236}">
                    <a16:creationId xmlns:a16="http://schemas.microsoft.com/office/drawing/2014/main" id="{21CCACC8-6C00-195C-E988-9E78DC26D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1365" y="4540095"/>
                <a:ext cx="47768" cy="40262"/>
              </a:xfrm>
              <a:custGeom>
                <a:avLst/>
                <a:gdLst>
                  <a:gd name="T0" fmla="*/ 20 w 25"/>
                  <a:gd name="T1" fmla="*/ 21 h 21"/>
                  <a:gd name="T2" fmla="*/ 18 w 25"/>
                  <a:gd name="T3" fmla="*/ 20 h 21"/>
                  <a:gd name="T4" fmla="*/ 2 w 25"/>
                  <a:gd name="T5" fmla="*/ 7 h 21"/>
                  <a:gd name="T6" fmla="*/ 1 w 25"/>
                  <a:gd name="T7" fmla="*/ 2 h 21"/>
                  <a:gd name="T8" fmla="*/ 7 w 25"/>
                  <a:gd name="T9" fmla="*/ 1 h 21"/>
                  <a:gd name="T10" fmla="*/ 23 w 25"/>
                  <a:gd name="T11" fmla="*/ 13 h 21"/>
                  <a:gd name="T12" fmla="*/ 24 w 25"/>
                  <a:gd name="T13" fmla="*/ 19 h 21"/>
                  <a:gd name="T14" fmla="*/ 20 w 25"/>
                  <a:gd name="T1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21">
                    <a:moveTo>
                      <a:pt x="20" y="21"/>
                    </a:moveTo>
                    <a:cubicBezTo>
                      <a:pt x="20" y="21"/>
                      <a:pt x="19" y="20"/>
                      <a:pt x="18" y="2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0" y="3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5" y="15"/>
                      <a:pt x="25" y="17"/>
                      <a:pt x="24" y="19"/>
                    </a:cubicBezTo>
                    <a:cubicBezTo>
                      <a:pt x="23" y="20"/>
                      <a:pt x="22" y="21"/>
                      <a:pt x="20" y="2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89">
                <a:extLst>
                  <a:ext uri="{FF2B5EF4-FFF2-40B4-BE49-F238E27FC236}">
                    <a16:creationId xmlns:a16="http://schemas.microsoft.com/office/drawing/2014/main" id="{D1FB3780-373A-DD1D-AC29-39EF4C88B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2335" y="4594005"/>
                <a:ext cx="70970" cy="57322"/>
              </a:xfrm>
              <a:custGeom>
                <a:avLst/>
                <a:gdLst>
                  <a:gd name="T0" fmla="*/ 32 w 37"/>
                  <a:gd name="T1" fmla="*/ 30 h 30"/>
                  <a:gd name="T2" fmla="*/ 29 w 37"/>
                  <a:gd name="T3" fmla="*/ 29 h 30"/>
                  <a:gd name="T4" fmla="*/ 2 w 37"/>
                  <a:gd name="T5" fmla="*/ 8 h 30"/>
                  <a:gd name="T6" fmla="*/ 1 w 37"/>
                  <a:gd name="T7" fmla="*/ 2 h 30"/>
                  <a:gd name="T8" fmla="*/ 7 w 37"/>
                  <a:gd name="T9" fmla="*/ 1 h 30"/>
                  <a:gd name="T10" fmla="*/ 34 w 37"/>
                  <a:gd name="T11" fmla="*/ 23 h 30"/>
                  <a:gd name="T12" fmla="*/ 35 w 37"/>
                  <a:gd name="T13" fmla="*/ 28 h 30"/>
                  <a:gd name="T14" fmla="*/ 32 w 37"/>
                  <a:gd name="T1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0">
                    <a:moveTo>
                      <a:pt x="32" y="30"/>
                    </a:moveTo>
                    <a:cubicBezTo>
                      <a:pt x="31" y="30"/>
                      <a:pt x="30" y="30"/>
                      <a:pt x="29" y="2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4"/>
                      <a:pt x="1" y="2"/>
                    </a:cubicBezTo>
                    <a:cubicBezTo>
                      <a:pt x="2" y="0"/>
                      <a:pt x="5" y="0"/>
                      <a:pt x="7" y="1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6" y="24"/>
                      <a:pt x="37" y="27"/>
                      <a:pt x="35" y="28"/>
                    </a:cubicBezTo>
                    <a:cubicBezTo>
                      <a:pt x="34" y="29"/>
                      <a:pt x="33" y="30"/>
                      <a:pt x="32" y="30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90">
                <a:extLst>
                  <a:ext uri="{FF2B5EF4-FFF2-40B4-BE49-F238E27FC236}">
                    <a16:creationId xmlns:a16="http://schemas.microsoft.com/office/drawing/2014/main" id="{AC001EA6-BB1C-709C-1284-8E0208EF6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459" y="4664975"/>
                <a:ext cx="79159" cy="40262"/>
              </a:xfrm>
              <a:custGeom>
                <a:avLst/>
                <a:gdLst>
                  <a:gd name="T0" fmla="*/ 21 w 41"/>
                  <a:gd name="T1" fmla="*/ 21 h 21"/>
                  <a:gd name="T2" fmla="*/ 18 w 41"/>
                  <a:gd name="T3" fmla="*/ 21 h 21"/>
                  <a:gd name="T4" fmla="*/ 2 w 41"/>
                  <a:gd name="T5" fmla="*/ 8 h 21"/>
                  <a:gd name="T6" fmla="*/ 2 w 41"/>
                  <a:gd name="T7" fmla="*/ 2 h 21"/>
                  <a:gd name="T8" fmla="*/ 7 w 41"/>
                  <a:gd name="T9" fmla="*/ 2 h 21"/>
                  <a:gd name="T10" fmla="*/ 21 w 41"/>
                  <a:gd name="T11" fmla="*/ 12 h 21"/>
                  <a:gd name="T12" fmla="*/ 34 w 41"/>
                  <a:gd name="T13" fmla="*/ 1 h 21"/>
                  <a:gd name="T14" fmla="*/ 40 w 41"/>
                  <a:gd name="T15" fmla="*/ 2 h 21"/>
                  <a:gd name="T16" fmla="*/ 39 w 41"/>
                  <a:gd name="T17" fmla="*/ 7 h 21"/>
                  <a:gd name="T18" fmla="*/ 23 w 41"/>
                  <a:gd name="T19" fmla="*/ 21 h 21"/>
                  <a:gd name="T20" fmla="*/ 21 w 41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" h="21">
                    <a:moveTo>
                      <a:pt x="21" y="21"/>
                    </a:moveTo>
                    <a:cubicBezTo>
                      <a:pt x="20" y="21"/>
                      <a:pt x="19" y="21"/>
                      <a:pt x="18" y="21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6" y="0"/>
                      <a:pt x="38" y="0"/>
                      <a:pt x="40" y="2"/>
                    </a:cubicBezTo>
                    <a:cubicBezTo>
                      <a:pt x="41" y="3"/>
                      <a:pt x="41" y="6"/>
                      <a:pt x="39" y="7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1" y="2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91">
                <a:extLst>
                  <a:ext uri="{FF2B5EF4-FFF2-40B4-BE49-F238E27FC236}">
                    <a16:creationId xmlns:a16="http://schemas.microsoft.com/office/drawing/2014/main" id="{B2DBB2EB-EC55-8D3A-BF66-2175324FB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4326" y="4570803"/>
                <a:ext cx="82571" cy="68923"/>
              </a:xfrm>
              <a:custGeom>
                <a:avLst/>
                <a:gdLst>
                  <a:gd name="T0" fmla="*/ 4 w 43"/>
                  <a:gd name="T1" fmla="*/ 36 h 36"/>
                  <a:gd name="T2" fmla="*/ 1 w 43"/>
                  <a:gd name="T3" fmla="*/ 35 h 36"/>
                  <a:gd name="T4" fmla="*/ 2 w 43"/>
                  <a:gd name="T5" fmla="*/ 29 h 36"/>
                  <a:gd name="T6" fmla="*/ 35 w 43"/>
                  <a:gd name="T7" fmla="*/ 1 h 36"/>
                  <a:gd name="T8" fmla="*/ 41 w 43"/>
                  <a:gd name="T9" fmla="*/ 2 h 36"/>
                  <a:gd name="T10" fmla="*/ 41 w 43"/>
                  <a:gd name="T11" fmla="*/ 7 h 36"/>
                  <a:gd name="T12" fmla="*/ 7 w 43"/>
                  <a:gd name="T13" fmla="*/ 35 h 36"/>
                  <a:gd name="T14" fmla="*/ 4 w 43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36">
                    <a:moveTo>
                      <a:pt x="4" y="36"/>
                    </a:moveTo>
                    <a:cubicBezTo>
                      <a:pt x="3" y="36"/>
                      <a:pt x="2" y="36"/>
                      <a:pt x="1" y="35"/>
                    </a:cubicBezTo>
                    <a:cubicBezTo>
                      <a:pt x="0" y="33"/>
                      <a:pt x="0" y="31"/>
                      <a:pt x="2" y="29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7" y="0"/>
                      <a:pt x="40" y="0"/>
                      <a:pt x="41" y="2"/>
                    </a:cubicBezTo>
                    <a:cubicBezTo>
                      <a:pt x="43" y="3"/>
                      <a:pt x="42" y="6"/>
                      <a:pt x="41" y="7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6" y="36"/>
                      <a:pt x="5" y="36"/>
                      <a:pt x="4" y="36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92">
                <a:extLst>
                  <a:ext uri="{FF2B5EF4-FFF2-40B4-BE49-F238E27FC236}">
                    <a16:creationId xmlns:a16="http://schemas.microsoft.com/office/drawing/2014/main" id="{902F6060-EC39-2426-5B70-F37CCF23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5558" y="4505293"/>
                <a:ext cx="115326" cy="98266"/>
              </a:xfrm>
              <a:custGeom>
                <a:avLst/>
                <a:gdLst>
                  <a:gd name="T0" fmla="*/ 55 w 60"/>
                  <a:gd name="T1" fmla="*/ 51 h 51"/>
                  <a:gd name="T2" fmla="*/ 51 w 60"/>
                  <a:gd name="T3" fmla="*/ 48 h 51"/>
                  <a:gd name="T4" fmla="*/ 50 w 60"/>
                  <a:gd name="T5" fmla="*/ 29 h 51"/>
                  <a:gd name="T6" fmla="*/ 21 w 60"/>
                  <a:gd name="T7" fmla="*/ 9 h 51"/>
                  <a:gd name="T8" fmla="*/ 8 w 60"/>
                  <a:gd name="T9" fmla="*/ 20 h 51"/>
                  <a:gd name="T10" fmla="*/ 2 w 60"/>
                  <a:gd name="T11" fmla="*/ 20 h 51"/>
                  <a:gd name="T12" fmla="*/ 2 w 60"/>
                  <a:gd name="T13" fmla="*/ 14 h 51"/>
                  <a:gd name="T14" fmla="*/ 18 w 60"/>
                  <a:gd name="T15" fmla="*/ 1 h 51"/>
                  <a:gd name="T16" fmla="*/ 23 w 60"/>
                  <a:gd name="T17" fmla="*/ 1 h 51"/>
                  <a:gd name="T18" fmla="*/ 56 w 60"/>
                  <a:gd name="T19" fmla="*/ 24 h 51"/>
                  <a:gd name="T20" fmla="*/ 58 w 60"/>
                  <a:gd name="T21" fmla="*/ 27 h 51"/>
                  <a:gd name="T22" fmla="*/ 59 w 60"/>
                  <a:gd name="T23" fmla="*/ 47 h 51"/>
                  <a:gd name="T24" fmla="*/ 56 w 60"/>
                  <a:gd name="T25" fmla="*/ 51 h 51"/>
                  <a:gd name="T26" fmla="*/ 55 w 60"/>
                  <a:gd name="T27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51">
                    <a:moveTo>
                      <a:pt x="55" y="51"/>
                    </a:moveTo>
                    <a:cubicBezTo>
                      <a:pt x="53" y="51"/>
                      <a:pt x="52" y="50"/>
                      <a:pt x="51" y="48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6" y="22"/>
                      <a:pt x="3" y="21"/>
                      <a:pt x="2" y="20"/>
                    </a:cubicBezTo>
                    <a:cubicBezTo>
                      <a:pt x="0" y="18"/>
                      <a:pt x="1" y="15"/>
                      <a:pt x="2" y="14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9" y="0"/>
                      <a:pt x="21" y="0"/>
                      <a:pt x="23" y="1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7" y="25"/>
                      <a:pt x="58" y="26"/>
                      <a:pt x="58" y="2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9"/>
                      <a:pt x="58" y="51"/>
                      <a:pt x="56" y="51"/>
                    </a:cubicBezTo>
                    <a:cubicBezTo>
                      <a:pt x="56" y="51"/>
                      <a:pt x="56" y="51"/>
                      <a:pt x="55" y="5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93">
                <a:extLst>
                  <a:ext uri="{FF2B5EF4-FFF2-40B4-BE49-F238E27FC236}">
                    <a16:creationId xmlns:a16="http://schemas.microsoft.com/office/drawing/2014/main" id="{86EE7503-1C2B-2DFF-B8A6-8E6DCCE043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9283" y="4501198"/>
                <a:ext cx="133069" cy="248395"/>
              </a:xfrm>
              <a:custGeom>
                <a:avLst/>
                <a:gdLst>
                  <a:gd name="T0" fmla="*/ 41 w 69"/>
                  <a:gd name="T1" fmla="*/ 129 h 129"/>
                  <a:gd name="T2" fmla="*/ 41 w 69"/>
                  <a:gd name="T3" fmla="*/ 129 h 129"/>
                  <a:gd name="T4" fmla="*/ 37 w 69"/>
                  <a:gd name="T5" fmla="*/ 124 h 129"/>
                  <a:gd name="T6" fmla="*/ 46 w 69"/>
                  <a:gd name="T7" fmla="*/ 80 h 129"/>
                  <a:gd name="T8" fmla="*/ 51 w 69"/>
                  <a:gd name="T9" fmla="*/ 77 h 129"/>
                  <a:gd name="T10" fmla="*/ 54 w 69"/>
                  <a:gd name="T11" fmla="*/ 82 h 129"/>
                  <a:gd name="T12" fmla="*/ 45 w 69"/>
                  <a:gd name="T13" fmla="*/ 125 h 129"/>
                  <a:gd name="T14" fmla="*/ 41 w 69"/>
                  <a:gd name="T15" fmla="*/ 129 h 129"/>
                  <a:gd name="T16" fmla="*/ 18 w 69"/>
                  <a:gd name="T17" fmla="*/ 126 h 129"/>
                  <a:gd name="T18" fmla="*/ 15 w 69"/>
                  <a:gd name="T19" fmla="*/ 125 h 129"/>
                  <a:gd name="T20" fmla="*/ 4 w 69"/>
                  <a:gd name="T21" fmla="*/ 112 h 129"/>
                  <a:gd name="T22" fmla="*/ 3 w 69"/>
                  <a:gd name="T23" fmla="*/ 110 h 129"/>
                  <a:gd name="T24" fmla="*/ 0 w 69"/>
                  <a:gd name="T25" fmla="*/ 83 h 129"/>
                  <a:gd name="T26" fmla="*/ 4 w 69"/>
                  <a:gd name="T27" fmla="*/ 79 h 129"/>
                  <a:gd name="T28" fmla="*/ 8 w 69"/>
                  <a:gd name="T29" fmla="*/ 82 h 129"/>
                  <a:gd name="T30" fmla="*/ 11 w 69"/>
                  <a:gd name="T31" fmla="*/ 108 h 129"/>
                  <a:gd name="T32" fmla="*/ 21 w 69"/>
                  <a:gd name="T33" fmla="*/ 119 h 129"/>
                  <a:gd name="T34" fmla="*/ 21 w 69"/>
                  <a:gd name="T35" fmla="*/ 125 h 129"/>
                  <a:gd name="T36" fmla="*/ 18 w 69"/>
                  <a:gd name="T37" fmla="*/ 126 h 129"/>
                  <a:gd name="T38" fmla="*/ 56 w 69"/>
                  <a:gd name="T39" fmla="*/ 52 h 129"/>
                  <a:gd name="T40" fmla="*/ 56 w 69"/>
                  <a:gd name="T41" fmla="*/ 52 h 129"/>
                  <a:gd name="T42" fmla="*/ 52 w 69"/>
                  <a:gd name="T43" fmla="*/ 47 h 129"/>
                  <a:gd name="T44" fmla="*/ 61 w 69"/>
                  <a:gd name="T45" fmla="*/ 4 h 129"/>
                  <a:gd name="T46" fmla="*/ 66 w 69"/>
                  <a:gd name="T47" fmla="*/ 1 h 129"/>
                  <a:gd name="T48" fmla="*/ 69 w 69"/>
                  <a:gd name="T49" fmla="*/ 5 h 129"/>
                  <a:gd name="T50" fmla="*/ 60 w 69"/>
                  <a:gd name="T51" fmla="*/ 49 h 129"/>
                  <a:gd name="T52" fmla="*/ 56 w 69"/>
                  <a:gd name="T53" fmla="*/ 52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9" h="129">
                    <a:moveTo>
                      <a:pt x="41" y="129"/>
                    </a:moveTo>
                    <a:cubicBezTo>
                      <a:pt x="41" y="129"/>
                      <a:pt x="41" y="129"/>
                      <a:pt x="41" y="129"/>
                    </a:cubicBezTo>
                    <a:cubicBezTo>
                      <a:pt x="38" y="128"/>
                      <a:pt x="37" y="126"/>
                      <a:pt x="37" y="124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78"/>
                      <a:pt x="49" y="76"/>
                      <a:pt x="51" y="77"/>
                    </a:cubicBezTo>
                    <a:cubicBezTo>
                      <a:pt x="53" y="77"/>
                      <a:pt x="54" y="79"/>
                      <a:pt x="54" y="82"/>
                    </a:cubicBezTo>
                    <a:cubicBezTo>
                      <a:pt x="45" y="125"/>
                      <a:pt x="45" y="125"/>
                      <a:pt x="45" y="125"/>
                    </a:cubicBezTo>
                    <a:cubicBezTo>
                      <a:pt x="45" y="127"/>
                      <a:pt x="43" y="129"/>
                      <a:pt x="41" y="129"/>
                    </a:cubicBezTo>
                    <a:close/>
                    <a:moveTo>
                      <a:pt x="18" y="126"/>
                    </a:moveTo>
                    <a:cubicBezTo>
                      <a:pt x="17" y="126"/>
                      <a:pt x="16" y="126"/>
                      <a:pt x="15" y="125"/>
                    </a:cubicBezTo>
                    <a:cubicBezTo>
                      <a:pt x="9" y="119"/>
                      <a:pt x="4" y="113"/>
                      <a:pt x="4" y="112"/>
                    </a:cubicBezTo>
                    <a:cubicBezTo>
                      <a:pt x="3" y="112"/>
                      <a:pt x="3" y="111"/>
                      <a:pt x="3" y="110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1"/>
                      <a:pt x="2" y="79"/>
                      <a:pt x="4" y="79"/>
                    </a:cubicBezTo>
                    <a:cubicBezTo>
                      <a:pt x="6" y="78"/>
                      <a:pt x="8" y="80"/>
                      <a:pt x="8" y="82"/>
                    </a:cubicBezTo>
                    <a:cubicBezTo>
                      <a:pt x="11" y="108"/>
                      <a:pt x="11" y="108"/>
                      <a:pt x="11" y="108"/>
                    </a:cubicBezTo>
                    <a:cubicBezTo>
                      <a:pt x="12" y="110"/>
                      <a:pt x="16" y="115"/>
                      <a:pt x="21" y="119"/>
                    </a:cubicBezTo>
                    <a:cubicBezTo>
                      <a:pt x="23" y="121"/>
                      <a:pt x="23" y="124"/>
                      <a:pt x="21" y="125"/>
                    </a:cubicBezTo>
                    <a:cubicBezTo>
                      <a:pt x="20" y="126"/>
                      <a:pt x="19" y="126"/>
                      <a:pt x="18" y="126"/>
                    </a:cubicBezTo>
                    <a:close/>
                    <a:moveTo>
                      <a:pt x="56" y="52"/>
                    </a:moveTo>
                    <a:cubicBezTo>
                      <a:pt x="56" y="52"/>
                      <a:pt x="56" y="52"/>
                      <a:pt x="56" y="52"/>
                    </a:cubicBezTo>
                    <a:cubicBezTo>
                      <a:pt x="53" y="52"/>
                      <a:pt x="52" y="50"/>
                      <a:pt x="52" y="47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2"/>
                      <a:pt x="63" y="0"/>
                      <a:pt x="66" y="1"/>
                    </a:cubicBezTo>
                    <a:cubicBezTo>
                      <a:pt x="68" y="1"/>
                      <a:pt x="69" y="3"/>
                      <a:pt x="69" y="5"/>
                    </a:cubicBezTo>
                    <a:cubicBezTo>
                      <a:pt x="60" y="49"/>
                      <a:pt x="60" y="49"/>
                      <a:pt x="60" y="49"/>
                    </a:cubicBezTo>
                    <a:cubicBezTo>
                      <a:pt x="60" y="51"/>
                      <a:pt x="58" y="52"/>
                      <a:pt x="56" y="52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94">
                <a:extLst>
                  <a:ext uri="{FF2B5EF4-FFF2-40B4-BE49-F238E27FC236}">
                    <a16:creationId xmlns:a16="http://schemas.microsoft.com/office/drawing/2014/main" id="{8958F0AF-F760-C1B4-73AA-3640C97CA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8257" y="4401568"/>
                <a:ext cx="51863" cy="53910"/>
              </a:xfrm>
              <a:custGeom>
                <a:avLst/>
                <a:gdLst>
                  <a:gd name="T0" fmla="*/ 4 w 27"/>
                  <a:gd name="T1" fmla="*/ 28 h 28"/>
                  <a:gd name="T2" fmla="*/ 3 w 27"/>
                  <a:gd name="T3" fmla="*/ 28 h 28"/>
                  <a:gd name="T4" fmla="*/ 0 w 27"/>
                  <a:gd name="T5" fmla="*/ 23 h 28"/>
                  <a:gd name="T6" fmla="*/ 4 w 27"/>
                  <a:gd name="T7" fmla="*/ 3 h 28"/>
                  <a:gd name="T8" fmla="*/ 7 w 27"/>
                  <a:gd name="T9" fmla="*/ 0 h 28"/>
                  <a:gd name="T10" fmla="*/ 11 w 27"/>
                  <a:gd name="T11" fmla="*/ 1 h 28"/>
                  <a:gd name="T12" fmla="*/ 25 w 27"/>
                  <a:gd name="T13" fmla="*/ 16 h 28"/>
                  <a:gd name="T14" fmla="*/ 25 w 27"/>
                  <a:gd name="T15" fmla="*/ 22 h 28"/>
                  <a:gd name="T16" fmla="*/ 19 w 27"/>
                  <a:gd name="T17" fmla="*/ 22 h 28"/>
                  <a:gd name="T18" fmla="*/ 11 w 27"/>
                  <a:gd name="T19" fmla="*/ 13 h 28"/>
                  <a:gd name="T20" fmla="*/ 8 w 27"/>
                  <a:gd name="T21" fmla="*/ 25 h 28"/>
                  <a:gd name="T22" fmla="*/ 4 w 27"/>
                  <a:gd name="T2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" h="28">
                    <a:moveTo>
                      <a:pt x="4" y="28"/>
                    </a:moveTo>
                    <a:cubicBezTo>
                      <a:pt x="4" y="28"/>
                      <a:pt x="4" y="28"/>
                      <a:pt x="3" y="28"/>
                    </a:cubicBezTo>
                    <a:cubicBezTo>
                      <a:pt x="1" y="28"/>
                      <a:pt x="0" y="26"/>
                      <a:pt x="0" y="2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"/>
                      <a:pt x="6" y="1"/>
                      <a:pt x="7" y="0"/>
                    </a:cubicBezTo>
                    <a:cubicBezTo>
                      <a:pt x="8" y="0"/>
                      <a:pt x="10" y="0"/>
                      <a:pt x="11" y="1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7" y="17"/>
                      <a:pt x="27" y="20"/>
                      <a:pt x="25" y="22"/>
                    </a:cubicBezTo>
                    <a:cubicBezTo>
                      <a:pt x="24" y="23"/>
                      <a:pt x="21" y="23"/>
                      <a:pt x="19" y="2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7"/>
                      <a:pt x="6" y="28"/>
                      <a:pt x="4" y="28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95">
                <a:extLst>
                  <a:ext uri="{FF2B5EF4-FFF2-40B4-BE49-F238E27FC236}">
                    <a16:creationId xmlns:a16="http://schemas.microsoft.com/office/drawing/2014/main" id="{F7E655B7-4BCF-DE65-D57E-87987943E9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98781" y="4476632"/>
                <a:ext cx="77112" cy="236111"/>
              </a:xfrm>
              <a:custGeom>
                <a:avLst/>
                <a:gdLst>
                  <a:gd name="T0" fmla="*/ 36 w 40"/>
                  <a:gd name="T1" fmla="*/ 123 h 123"/>
                  <a:gd name="T2" fmla="*/ 32 w 40"/>
                  <a:gd name="T3" fmla="*/ 119 h 123"/>
                  <a:gd name="T4" fmla="*/ 30 w 40"/>
                  <a:gd name="T5" fmla="*/ 73 h 123"/>
                  <a:gd name="T6" fmla="*/ 34 w 40"/>
                  <a:gd name="T7" fmla="*/ 69 h 123"/>
                  <a:gd name="T8" fmla="*/ 38 w 40"/>
                  <a:gd name="T9" fmla="*/ 73 h 123"/>
                  <a:gd name="T10" fmla="*/ 40 w 40"/>
                  <a:gd name="T11" fmla="*/ 118 h 123"/>
                  <a:gd name="T12" fmla="*/ 36 w 40"/>
                  <a:gd name="T13" fmla="*/ 123 h 123"/>
                  <a:gd name="T14" fmla="*/ 36 w 40"/>
                  <a:gd name="T15" fmla="*/ 123 h 123"/>
                  <a:gd name="T16" fmla="*/ 32 w 40"/>
                  <a:gd name="T17" fmla="*/ 43 h 123"/>
                  <a:gd name="T18" fmla="*/ 28 w 40"/>
                  <a:gd name="T19" fmla="*/ 39 h 123"/>
                  <a:gd name="T20" fmla="*/ 28 w 40"/>
                  <a:gd name="T21" fmla="*/ 34 h 123"/>
                  <a:gd name="T22" fmla="*/ 2 w 40"/>
                  <a:gd name="T23" fmla="*/ 7 h 123"/>
                  <a:gd name="T24" fmla="*/ 2 w 40"/>
                  <a:gd name="T25" fmla="*/ 1 h 123"/>
                  <a:gd name="T26" fmla="*/ 7 w 40"/>
                  <a:gd name="T27" fmla="*/ 1 h 123"/>
                  <a:gd name="T28" fmla="*/ 35 w 40"/>
                  <a:gd name="T29" fmla="*/ 30 h 123"/>
                  <a:gd name="T30" fmla="*/ 36 w 40"/>
                  <a:gd name="T31" fmla="*/ 32 h 123"/>
                  <a:gd name="T32" fmla="*/ 37 w 40"/>
                  <a:gd name="T33" fmla="*/ 38 h 123"/>
                  <a:gd name="T34" fmla="*/ 33 w 40"/>
                  <a:gd name="T35" fmla="*/ 43 h 123"/>
                  <a:gd name="T36" fmla="*/ 32 w 40"/>
                  <a:gd name="T37" fmla="*/ 4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123">
                    <a:moveTo>
                      <a:pt x="36" y="123"/>
                    </a:moveTo>
                    <a:cubicBezTo>
                      <a:pt x="34" y="123"/>
                      <a:pt x="32" y="121"/>
                      <a:pt x="32" y="119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1"/>
                      <a:pt x="31" y="69"/>
                      <a:pt x="34" y="69"/>
                    </a:cubicBezTo>
                    <a:cubicBezTo>
                      <a:pt x="36" y="69"/>
                      <a:pt x="38" y="70"/>
                      <a:pt x="38" y="73"/>
                    </a:cubicBezTo>
                    <a:cubicBezTo>
                      <a:pt x="40" y="118"/>
                      <a:pt x="40" y="118"/>
                      <a:pt x="40" y="118"/>
                    </a:cubicBezTo>
                    <a:cubicBezTo>
                      <a:pt x="40" y="121"/>
                      <a:pt x="38" y="123"/>
                      <a:pt x="36" y="123"/>
                    </a:cubicBezTo>
                    <a:cubicBezTo>
                      <a:pt x="36" y="123"/>
                      <a:pt x="36" y="123"/>
                      <a:pt x="36" y="123"/>
                    </a:cubicBezTo>
                    <a:close/>
                    <a:moveTo>
                      <a:pt x="32" y="43"/>
                    </a:moveTo>
                    <a:cubicBezTo>
                      <a:pt x="30" y="43"/>
                      <a:pt x="28" y="41"/>
                      <a:pt x="28" y="39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5"/>
                      <a:pt x="0" y="3"/>
                      <a:pt x="2" y="1"/>
                    </a:cubicBezTo>
                    <a:cubicBezTo>
                      <a:pt x="3" y="0"/>
                      <a:pt x="6" y="0"/>
                      <a:pt x="7" y="1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30"/>
                      <a:pt x="36" y="31"/>
                      <a:pt x="36" y="32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7" y="41"/>
                      <a:pt x="35" y="43"/>
                      <a:pt x="33" y="43"/>
                    </a:cubicBezTo>
                    <a:cubicBezTo>
                      <a:pt x="33" y="43"/>
                      <a:pt x="33" y="43"/>
                      <a:pt x="32" y="43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96">
                <a:extLst>
                  <a:ext uri="{FF2B5EF4-FFF2-40B4-BE49-F238E27FC236}">
                    <a16:creationId xmlns:a16="http://schemas.microsoft.com/office/drawing/2014/main" id="{F522B8B3-BB39-D372-14EC-EADB04CAE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2244" y="4763241"/>
                <a:ext cx="55957" cy="66875"/>
              </a:xfrm>
              <a:custGeom>
                <a:avLst/>
                <a:gdLst>
                  <a:gd name="T0" fmla="*/ 24 w 29"/>
                  <a:gd name="T1" fmla="*/ 35 h 35"/>
                  <a:gd name="T2" fmla="*/ 23 w 29"/>
                  <a:gd name="T3" fmla="*/ 35 h 35"/>
                  <a:gd name="T4" fmla="*/ 4 w 29"/>
                  <a:gd name="T5" fmla="*/ 28 h 35"/>
                  <a:gd name="T6" fmla="*/ 1 w 29"/>
                  <a:gd name="T7" fmla="*/ 24 h 35"/>
                  <a:gd name="T8" fmla="*/ 0 w 29"/>
                  <a:gd name="T9" fmla="*/ 4 h 35"/>
                  <a:gd name="T10" fmla="*/ 4 w 29"/>
                  <a:gd name="T11" fmla="*/ 0 h 35"/>
                  <a:gd name="T12" fmla="*/ 8 w 29"/>
                  <a:gd name="T13" fmla="*/ 4 h 35"/>
                  <a:gd name="T14" fmla="*/ 9 w 29"/>
                  <a:gd name="T15" fmla="*/ 21 h 35"/>
                  <a:gd name="T16" fmla="*/ 25 w 29"/>
                  <a:gd name="T17" fmla="*/ 27 h 35"/>
                  <a:gd name="T18" fmla="*/ 28 w 29"/>
                  <a:gd name="T19" fmla="*/ 33 h 35"/>
                  <a:gd name="T20" fmla="*/ 24 w 29"/>
                  <a:gd name="T21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5">
                    <a:moveTo>
                      <a:pt x="24" y="35"/>
                    </a:moveTo>
                    <a:cubicBezTo>
                      <a:pt x="24" y="35"/>
                      <a:pt x="23" y="35"/>
                      <a:pt x="23" y="35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2" y="27"/>
                      <a:pt x="1" y="26"/>
                      <a:pt x="1" y="2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1"/>
                      <a:pt x="8" y="4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8" y="28"/>
                      <a:pt x="29" y="31"/>
                      <a:pt x="28" y="33"/>
                    </a:cubicBezTo>
                    <a:cubicBezTo>
                      <a:pt x="27" y="34"/>
                      <a:pt x="26" y="35"/>
                      <a:pt x="24" y="35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97">
                <a:extLst>
                  <a:ext uri="{FF2B5EF4-FFF2-40B4-BE49-F238E27FC236}">
                    <a16:creationId xmlns:a16="http://schemas.microsoft.com/office/drawing/2014/main" id="{071F8C01-A088-FB15-672B-8F908DF8A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4604" y="4813056"/>
                <a:ext cx="61416" cy="55957"/>
              </a:xfrm>
              <a:custGeom>
                <a:avLst/>
                <a:gdLst>
                  <a:gd name="T0" fmla="*/ 24 w 32"/>
                  <a:gd name="T1" fmla="*/ 29 h 29"/>
                  <a:gd name="T2" fmla="*/ 23 w 32"/>
                  <a:gd name="T3" fmla="*/ 29 h 29"/>
                  <a:gd name="T4" fmla="*/ 3 w 32"/>
                  <a:gd name="T5" fmla="*/ 22 h 29"/>
                  <a:gd name="T6" fmla="*/ 1 w 32"/>
                  <a:gd name="T7" fmla="*/ 16 h 29"/>
                  <a:gd name="T8" fmla="*/ 6 w 32"/>
                  <a:gd name="T9" fmla="*/ 14 h 29"/>
                  <a:gd name="T10" fmla="*/ 21 w 32"/>
                  <a:gd name="T11" fmla="*/ 19 h 29"/>
                  <a:gd name="T12" fmla="*/ 24 w 32"/>
                  <a:gd name="T13" fmla="*/ 4 h 29"/>
                  <a:gd name="T14" fmla="*/ 28 w 32"/>
                  <a:gd name="T15" fmla="*/ 1 h 29"/>
                  <a:gd name="T16" fmla="*/ 32 w 32"/>
                  <a:gd name="T17" fmla="*/ 6 h 29"/>
                  <a:gd name="T18" fmla="*/ 28 w 32"/>
                  <a:gd name="T19" fmla="*/ 26 h 29"/>
                  <a:gd name="T20" fmla="*/ 26 w 32"/>
                  <a:gd name="T21" fmla="*/ 28 h 29"/>
                  <a:gd name="T22" fmla="*/ 24 w 32"/>
                  <a:gd name="T2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29">
                    <a:moveTo>
                      <a:pt x="24" y="29"/>
                    </a:moveTo>
                    <a:cubicBezTo>
                      <a:pt x="23" y="29"/>
                      <a:pt x="23" y="29"/>
                      <a:pt x="23" y="29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1" y="21"/>
                      <a:pt x="0" y="18"/>
                      <a:pt x="1" y="16"/>
                    </a:cubicBezTo>
                    <a:cubicBezTo>
                      <a:pt x="2" y="14"/>
                      <a:pt x="4" y="13"/>
                      <a:pt x="6" y="14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6" y="0"/>
                      <a:pt x="28" y="1"/>
                    </a:cubicBezTo>
                    <a:cubicBezTo>
                      <a:pt x="31" y="1"/>
                      <a:pt x="32" y="3"/>
                      <a:pt x="32" y="6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27"/>
                      <a:pt x="27" y="28"/>
                      <a:pt x="26" y="28"/>
                    </a:cubicBezTo>
                    <a:cubicBezTo>
                      <a:pt x="25" y="29"/>
                      <a:pt x="25" y="29"/>
                      <a:pt x="24" y="29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98">
                <a:extLst>
                  <a:ext uri="{FF2B5EF4-FFF2-40B4-BE49-F238E27FC236}">
                    <a16:creationId xmlns:a16="http://schemas.microsoft.com/office/drawing/2014/main" id="{3810C901-0D66-07F4-491A-CE4CE3052F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19879" y="4555108"/>
                <a:ext cx="53910" cy="219051"/>
              </a:xfrm>
              <a:custGeom>
                <a:avLst/>
                <a:gdLst>
                  <a:gd name="T0" fmla="*/ 4 w 28"/>
                  <a:gd name="T1" fmla="*/ 114 h 114"/>
                  <a:gd name="T2" fmla="*/ 3 w 28"/>
                  <a:gd name="T3" fmla="*/ 114 h 114"/>
                  <a:gd name="T4" fmla="*/ 0 w 28"/>
                  <a:gd name="T5" fmla="*/ 109 h 114"/>
                  <a:gd name="T6" fmla="*/ 7 w 28"/>
                  <a:gd name="T7" fmla="*/ 71 h 114"/>
                  <a:gd name="T8" fmla="*/ 12 w 28"/>
                  <a:gd name="T9" fmla="*/ 68 h 114"/>
                  <a:gd name="T10" fmla="*/ 15 w 28"/>
                  <a:gd name="T11" fmla="*/ 72 h 114"/>
                  <a:gd name="T12" fmla="*/ 8 w 28"/>
                  <a:gd name="T13" fmla="*/ 111 h 114"/>
                  <a:gd name="T14" fmla="*/ 4 w 28"/>
                  <a:gd name="T15" fmla="*/ 114 h 114"/>
                  <a:gd name="T16" fmla="*/ 16 w 28"/>
                  <a:gd name="T17" fmla="*/ 47 h 114"/>
                  <a:gd name="T18" fmla="*/ 16 w 28"/>
                  <a:gd name="T19" fmla="*/ 47 h 114"/>
                  <a:gd name="T20" fmla="*/ 12 w 28"/>
                  <a:gd name="T21" fmla="*/ 42 h 114"/>
                  <a:gd name="T22" fmla="*/ 20 w 28"/>
                  <a:gd name="T23" fmla="*/ 4 h 114"/>
                  <a:gd name="T24" fmla="*/ 24 w 28"/>
                  <a:gd name="T25" fmla="*/ 0 h 114"/>
                  <a:gd name="T26" fmla="*/ 28 w 28"/>
                  <a:gd name="T27" fmla="*/ 5 h 114"/>
                  <a:gd name="T28" fmla="*/ 20 w 28"/>
                  <a:gd name="T29" fmla="*/ 44 h 114"/>
                  <a:gd name="T30" fmla="*/ 16 w 28"/>
                  <a:gd name="T31" fmla="*/ 4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" h="114">
                    <a:moveTo>
                      <a:pt x="4" y="114"/>
                    </a:moveTo>
                    <a:cubicBezTo>
                      <a:pt x="4" y="114"/>
                      <a:pt x="3" y="114"/>
                      <a:pt x="3" y="114"/>
                    </a:cubicBezTo>
                    <a:cubicBezTo>
                      <a:pt x="1" y="114"/>
                      <a:pt x="0" y="111"/>
                      <a:pt x="0" y="109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8" y="69"/>
                      <a:pt x="10" y="67"/>
                      <a:pt x="12" y="68"/>
                    </a:cubicBezTo>
                    <a:cubicBezTo>
                      <a:pt x="14" y="68"/>
                      <a:pt x="16" y="70"/>
                      <a:pt x="15" y="72"/>
                    </a:cubicBezTo>
                    <a:cubicBezTo>
                      <a:pt x="8" y="111"/>
                      <a:pt x="8" y="111"/>
                      <a:pt x="8" y="111"/>
                    </a:cubicBezTo>
                    <a:cubicBezTo>
                      <a:pt x="8" y="113"/>
                      <a:pt x="6" y="114"/>
                      <a:pt x="4" y="114"/>
                    </a:cubicBezTo>
                    <a:close/>
                    <a:moveTo>
                      <a:pt x="16" y="47"/>
                    </a:moveTo>
                    <a:cubicBezTo>
                      <a:pt x="16" y="47"/>
                      <a:pt x="16" y="47"/>
                      <a:pt x="16" y="47"/>
                    </a:cubicBezTo>
                    <a:cubicBezTo>
                      <a:pt x="13" y="46"/>
                      <a:pt x="12" y="44"/>
                      <a:pt x="12" y="42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1"/>
                      <a:pt x="22" y="0"/>
                      <a:pt x="24" y="0"/>
                    </a:cubicBezTo>
                    <a:cubicBezTo>
                      <a:pt x="27" y="1"/>
                      <a:pt x="28" y="3"/>
                      <a:pt x="28" y="5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5"/>
                      <a:pt x="18" y="47"/>
                      <a:pt x="16" y="47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99">
                <a:extLst>
                  <a:ext uri="{FF2B5EF4-FFF2-40B4-BE49-F238E27FC236}">
                    <a16:creationId xmlns:a16="http://schemas.microsoft.com/office/drawing/2014/main" id="{AC573514-EBD1-8AC6-38BE-87F0F25C4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8329" y="4460936"/>
                <a:ext cx="61416" cy="55957"/>
              </a:xfrm>
              <a:custGeom>
                <a:avLst/>
                <a:gdLst>
                  <a:gd name="T0" fmla="*/ 4 w 32"/>
                  <a:gd name="T1" fmla="*/ 29 h 29"/>
                  <a:gd name="T2" fmla="*/ 3 w 32"/>
                  <a:gd name="T3" fmla="*/ 29 h 29"/>
                  <a:gd name="T4" fmla="*/ 0 w 32"/>
                  <a:gd name="T5" fmla="*/ 24 h 29"/>
                  <a:gd name="T6" fmla="*/ 4 w 32"/>
                  <a:gd name="T7" fmla="*/ 4 h 29"/>
                  <a:gd name="T8" fmla="*/ 8 w 32"/>
                  <a:gd name="T9" fmla="*/ 1 h 29"/>
                  <a:gd name="T10" fmla="*/ 28 w 32"/>
                  <a:gd name="T11" fmla="*/ 0 h 29"/>
                  <a:gd name="T12" fmla="*/ 32 w 32"/>
                  <a:gd name="T13" fmla="*/ 4 h 29"/>
                  <a:gd name="T14" fmla="*/ 28 w 32"/>
                  <a:gd name="T15" fmla="*/ 8 h 29"/>
                  <a:gd name="T16" fmla="*/ 11 w 32"/>
                  <a:gd name="T17" fmla="*/ 9 h 29"/>
                  <a:gd name="T18" fmla="*/ 8 w 32"/>
                  <a:gd name="T19" fmla="*/ 25 h 29"/>
                  <a:gd name="T20" fmla="*/ 4 w 32"/>
                  <a:gd name="T21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29">
                    <a:moveTo>
                      <a:pt x="4" y="29"/>
                    </a:moveTo>
                    <a:cubicBezTo>
                      <a:pt x="4" y="29"/>
                      <a:pt x="3" y="29"/>
                      <a:pt x="3" y="29"/>
                    </a:cubicBezTo>
                    <a:cubicBezTo>
                      <a:pt x="1" y="28"/>
                      <a:pt x="0" y="26"/>
                      <a:pt x="0" y="2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6" y="1"/>
                      <a:pt x="8" y="1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30" y="0"/>
                      <a:pt x="32" y="2"/>
                      <a:pt x="32" y="4"/>
                    </a:cubicBezTo>
                    <a:cubicBezTo>
                      <a:pt x="32" y="6"/>
                      <a:pt x="30" y="8"/>
                      <a:pt x="28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7"/>
                      <a:pt x="6" y="29"/>
                      <a:pt x="4" y="29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100">
                <a:extLst>
                  <a:ext uri="{FF2B5EF4-FFF2-40B4-BE49-F238E27FC236}">
                    <a16:creationId xmlns:a16="http://schemas.microsoft.com/office/drawing/2014/main" id="{20F4E60C-1586-DFA5-8754-4D6D420331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52947" y="4478678"/>
                <a:ext cx="146034" cy="122832"/>
              </a:xfrm>
              <a:custGeom>
                <a:avLst/>
                <a:gdLst>
                  <a:gd name="T0" fmla="*/ 72 w 76"/>
                  <a:gd name="T1" fmla="*/ 64 h 64"/>
                  <a:gd name="T2" fmla="*/ 69 w 76"/>
                  <a:gd name="T3" fmla="*/ 63 h 64"/>
                  <a:gd name="T4" fmla="*/ 45 w 76"/>
                  <a:gd name="T5" fmla="*/ 43 h 64"/>
                  <a:gd name="T6" fmla="*/ 44 w 76"/>
                  <a:gd name="T7" fmla="*/ 37 h 64"/>
                  <a:gd name="T8" fmla="*/ 50 w 76"/>
                  <a:gd name="T9" fmla="*/ 37 h 64"/>
                  <a:gd name="T10" fmla="*/ 75 w 76"/>
                  <a:gd name="T11" fmla="*/ 57 h 64"/>
                  <a:gd name="T12" fmla="*/ 75 w 76"/>
                  <a:gd name="T13" fmla="*/ 63 h 64"/>
                  <a:gd name="T14" fmla="*/ 72 w 76"/>
                  <a:gd name="T15" fmla="*/ 64 h 64"/>
                  <a:gd name="T16" fmla="*/ 29 w 76"/>
                  <a:gd name="T17" fmla="*/ 29 h 64"/>
                  <a:gd name="T18" fmla="*/ 26 w 76"/>
                  <a:gd name="T19" fmla="*/ 28 h 64"/>
                  <a:gd name="T20" fmla="*/ 2 w 76"/>
                  <a:gd name="T21" fmla="*/ 8 h 64"/>
                  <a:gd name="T22" fmla="*/ 1 w 76"/>
                  <a:gd name="T23" fmla="*/ 2 h 64"/>
                  <a:gd name="T24" fmla="*/ 7 w 76"/>
                  <a:gd name="T25" fmla="*/ 1 h 64"/>
                  <a:gd name="T26" fmla="*/ 32 w 76"/>
                  <a:gd name="T27" fmla="*/ 22 h 64"/>
                  <a:gd name="T28" fmla="*/ 32 w 76"/>
                  <a:gd name="T29" fmla="*/ 27 h 64"/>
                  <a:gd name="T30" fmla="*/ 29 w 76"/>
                  <a:gd name="T31" fmla="*/ 2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" h="64">
                    <a:moveTo>
                      <a:pt x="72" y="64"/>
                    </a:moveTo>
                    <a:cubicBezTo>
                      <a:pt x="71" y="64"/>
                      <a:pt x="70" y="64"/>
                      <a:pt x="69" y="63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3" y="42"/>
                      <a:pt x="43" y="39"/>
                      <a:pt x="44" y="37"/>
                    </a:cubicBezTo>
                    <a:cubicBezTo>
                      <a:pt x="46" y="36"/>
                      <a:pt x="48" y="35"/>
                      <a:pt x="50" y="37"/>
                    </a:cubicBezTo>
                    <a:cubicBezTo>
                      <a:pt x="75" y="57"/>
                      <a:pt x="75" y="57"/>
                      <a:pt x="75" y="57"/>
                    </a:cubicBezTo>
                    <a:cubicBezTo>
                      <a:pt x="76" y="58"/>
                      <a:pt x="76" y="61"/>
                      <a:pt x="75" y="63"/>
                    </a:cubicBezTo>
                    <a:cubicBezTo>
                      <a:pt x="74" y="64"/>
                      <a:pt x="73" y="64"/>
                      <a:pt x="72" y="64"/>
                    </a:cubicBezTo>
                    <a:close/>
                    <a:moveTo>
                      <a:pt x="29" y="29"/>
                    </a:moveTo>
                    <a:cubicBezTo>
                      <a:pt x="28" y="29"/>
                      <a:pt x="27" y="28"/>
                      <a:pt x="26" y="2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4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3"/>
                      <a:pt x="34" y="26"/>
                      <a:pt x="32" y="27"/>
                    </a:cubicBezTo>
                    <a:cubicBezTo>
                      <a:pt x="31" y="28"/>
                      <a:pt x="30" y="29"/>
                      <a:pt x="29" y="29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101">
                <a:extLst>
                  <a:ext uri="{FF2B5EF4-FFF2-40B4-BE49-F238E27FC236}">
                    <a16:creationId xmlns:a16="http://schemas.microsoft.com/office/drawing/2014/main" id="{A1E45CA1-0C8F-938C-11C4-066ADA80F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8089" y="4615159"/>
                <a:ext cx="84618" cy="40262"/>
              </a:xfrm>
              <a:custGeom>
                <a:avLst/>
                <a:gdLst>
                  <a:gd name="T0" fmla="*/ 20 w 44"/>
                  <a:gd name="T1" fmla="*/ 21 h 21"/>
                  <a:gd name="T2" fmla="*/ 17 w 44"/>
                  <a:gd name="T3" fmla="*/ 20 h 21"/>
                  <a:gd name="T4" fmla="*/ 2 w 44"/>
                  <a:gd name="T5" fmla="*/ 7 h 21"/>
                  <a:gd name="T6" fmla="*/ 1 w 44"/>
                  <a:gd name="T7" fmla="*/ 2 h 21"/>
                  <a:gd name="T8" fmla="*/ 7 w 44"/>
                  <a:gd name="T9" fmla="*/ 1 h 21"/>
                  <a:gd name="T10" fmla="*/ 21 w 44"/>
                  <a:gd name="T11" fmla="*/ 13 h 21"/>
                  <a:gd name="T12" fmla="*/ 39 w 44"/>
                  <a:gd name="T13" fmla="*/ 8 h 21"/>
                  <a:gd name="T14" fmla="*/ 44 w 44"/>
                  <a:gd name="T15" fmla="*/ 11 h 21"/>
                  <a:gd name="T16" fmla="*/ 41 w 44"/>
                  <a:gd name="T17" fmla="*/ 16 h 21"/>
                  <a:gd name="T18" fmla="*/ 21 w 44"/>
                  <a:gd name="T19" fmla="*/ 21 h 21"/>
                  <a:gd name="T20" fmla="*/ 20 w 44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21">
                    <a:moveTo>
                      <a:pt x="20" y="21"/>
                    </a:moveTo>
                    <a:cubicBezTo>
                      <a:pt x="19" y="21"/>
                      <a:pt x="18" y="21"/>
                      <a:pt x="17" y="2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0" y="3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41" y="8"/>
                      <a:pt x="43" y="9"/>
                      <a:pt x="44" y="11"/>
                    </a:cubicBezTo>
                    <a:cubicBezTo>
                      <a:pt x="44" y="13"/>
                      <a:pt x="43" y="16"/>
                      <a:pt x="41" y="16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0" y="21"/>
                      <a:pt x="20" y="21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102">
                <a:extLst>
                  <a:ext uri="{FF2B5EF4-FFF2-40B4-BE49-F238E27FC236}">
                    <a16:creationId xmlns:a16="http://schemas.microsoft.com/office/drawing/2014/main" id="{FA771E92-A26C-1CA0-24C2-DAD56F675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7956" y="4611065"/>
                <a:ext cx="55275" cy="25249"/>
              </a:xfrm>
              <a:custGeom>
                <a:avLst/>
                <a:gdLst>
                  <a:gd name="T0" fmla="*/ 5 w 29"/>
                  <a:gd name="T1" fmla="*/ 13 h 13"/>
                  <a:gd name="T2" fmla="*/ 1 w 29"/>
                  <a:gd name="T3" fmla="*/ 10 h 13"/>
                  <a:gd name="T4" fmla="*/ 4 w 29"/>
                  <a:gd name="T5" fmla="*/ 5 h 13"/>
                  <a:gd name="T6" fmla="*/ 23 w 29"/>
                  <a:gd name="T7" fmla="*/ 0 h 13"/>
                  <a:gd name="T8" fmla="*/ 28 w 29"/>
                  <a:gd name="T9" fmla="*/ 3 h 13"/>
                  <a:gd name="T10" fmla="*/ 25 w 29"/>
                  <a:gd name="T11" fmla="*/ 8 h 13"/>
                  <a:gd name="T12" fmla="*/ 6 w 29"/>
                  <a:gd name="T13" fmla="*/ 13 h 13"/>
                  <a:gd name="T14" fmla="*/ 5 w 29"/>
                  <a:gd name="T1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13">
                    <a:moveTo>
                      <a:pt x="5" y="13"/>
                    </a:moveTo>
                    <a:cubicBezTo>
                      <a:pt x="3" y="13"/>
                      <a:pt x="1" y="12"/>
                      <a:pt x="1" y="10"/>
                    </a:cubicBezTo>
                    <a:cubicBezTo>
                      <a:pt x="0" y="8"/>
                      <a:pt x="1" y="5"/>
                      <a:pt x="4" y="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6" y="0"/>
                      <a:pt x="28" y="1"/>
                      <a:pt x="28" y="3"/>
                    </a:cubicBezTo>
                    <a:cubicBezTo>
                      <a:pt x="29" y="5"/>
                      <a:pt x="28" y="7"/>
                      <a:pt x="25" y="8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3"/>
                      <a:pt x="5" y="13"/>
                      <a:pt x="5" y="13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103">
                <a:extLst>
                  <a:ext uri="{FF2B5EF4-FFF2-40B4-BE49-F238E27FC236}">
                    <a16:creationId xmlns:a16="http://schemas.microsoft.com/office/drawing/2014/main" id="{1F8AF788-5BF1-7317-BC7F-E50F1F63E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9171" y="3736225"/>
                <a:ext cx="615527" cy="848227"/>
              </a:xfrm>
              <a:custGeom>
                <a:avLst/>
                <a:gdLst>
                  <a:gd name="T0" fmla="*/ 273 w 320"/>
                  <a:gd name="T1" fmla="*/ 228 h 441"/>
                  <a:gd name="T2" fmla="*/ 273 w 320"/>
                  <a:gd name="T3" fmla="*/ 228 h 441"/>
                  <a:gd name="T4" fmla="*/ 287 w 320"/>
                  <a:gd name="T5" fmla="*/ 207 h 441"/>
                  <a:gd name="T6" fmla="*/ 231 w 320"/>
                  <a:gd name="T7" fmla="*/ 32 h 441"/>
                  <a:gd name="T8" fmla="*/ 60 w 320"/>
                  <a:gd name="T9" fmla="*/ 87 h 441"/>
                  <a:gd name="T10" fmla="*/ 50 w 320"/>
                  <a:gd name="T11" fmla="*/ 110 h 441"/>
                  <a:gd name="T12" fmla="*/ 50 w 320"/>
                  <a:gd name="T13" fmla="*/ 110 h 441"/>
                  <a:gd name="T14" fmla="*/ 50 w 320"/>
                  <a:gd name="T15" fmla="*/ 111 h 441"/>
                  <a:gd name="T16" fmla="*/ 45 w 320"/>
                  <a:gd name="T17" fmla="*/ 142 h 441"/>
                  <a:gd name="T18" fmla="*/ 3 w 320"/>
                  <a:gd name="T19" fmla="*/ 407 h 441"/>
                  <a:gd name="T20" fmla="*/ 39 w 320"/>
                  <a:gd name="T21" fmla="*/ 427 h 441"/>
                  <a:gd name="T22" fmla="*/ 239 w 320"/>
                  <a:gd name="T23" fmla="*/ 257 h 441"/>
                  <a:gd name="T24" fmla="*/ 272 w 320"/>
                  <a:gd name="T25" fmla="*/ 229 h 441"/>
                  <a:gd name="T26" fmla="*/ 273 w 320"/>
                  <a:gd name="T27" fmla="*/ 228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0" h="441">
                    <a:moveTo>
                      <a:pt x="273" y="228"/>
                    </a:moveTo>
                    <a:cubicBezTo>
                      <a:pt x="273" y="228"/>
                      <a:pt x="273" y="228"/>
                      <a:pt x="273" y="228"/>
                    </a:cubicBezTo>
                    <a:cubicBezTo>
                      <a:pt x="278" y="221"/>
                      <a:pt x="283" y="214"/>
                      <a:pt x="287" y="207"/>
                    </a:cubicBezTo>
                    <a:cubicBezTo>
                      <a:pt x="320" y="144"/>
                      <a:pt x="295" y="64"/>
                      <a:pt x="231" y="32"/>
                    </a:cubicBezTo>
                    <a:cubicBezTo>
                      <a:pt x="169" y="0"/>
                      <a:pt x="92" y="24"/>
                      <a:pt x="60" y="87"/>
                    </a:cubicBezTo>
                    <a:cubicBezTo>
                      <a:pt x="56" y="94"/>
                      <a:pt x="52" y="102"/>
                      <a:pt x="50" y="110"/>
                    </a:cubicBezTo>
                    <a:cubicBezTo>
                      <a:pt x="50" y="110"/>
                      <a:pt x="50" y="110"/>
                      <a:pt x="50" y="110"/>
                    </a:cubicBezTo>
                    <a:cubicBezTo>
                      <a:pt x="50" y="111"/>
                      <a:pt x="50" y="111"/>
                      <a:pt x="50" y="111"/>
                    </a:cubicBezTo>
                    <a:cubicBezTo>
                      <a:pt x="47" y="122"/>
                      <a:pt x="45" y="132"/>
                      <a:pt x="45" y="142"/>
                    </a:cubicBezTo>
                    <a:cubicBezTo>
                      <a:pt x="3" y="407"/>
                      <a:pt x="3" y="407"/>
                      <a:pt x="3" y="407"/>
                    </a:cubicBezTo>
                    <a:cubicBezTo>
                      <a:pt x="0" y="427"/>
                      <a:pt x="24" y="441"/>
                      <a:pt x="39" y="427"/>
                    </a:cubicBezTo>
                    <a:cubicBezTo>
                      <a:pt x="239" y="257"/>
                      <a:pt x="239" y="257"/>
                      <a:pt x="239" y="257"/>
                    </a:cubicBezTo>
                    <a:cubicBezTo>
                      <a:pt x="251" y="250"/>
                      <a:pt x="263" y="240"/>
                      <a:pt x="272" y="229"/>
                    </a:cubicBezTo>
                    <a:lnTo>
                      <a:pt x="273" y="228"/>
                    </a:lnTo>
                    <a:close/>
                  </a:path>
                </a:pathLst>
              </a:custGeom>
              <a:solidFill>
                <a:srgbClr val="D6E5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104">
                <a:extLst>
                  <a:ext uri="{FF2B5EF4-FFF2-40B4-BE49-F238E27FC236}">
                    <a16:creationId xmlns:a16="http://schemas.microsoft.com/office/drawing/2014/main" id="{844160B5-A1A2-BDF4-57BC-1EA63C16A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9171" y="3813337"/>
                <a:ext cx="609386" cy="771115"/>
              </a:xfrm>
              <a:custGeom>
                <a:avLst/>
                <a:gdLst>
                  <a:gd name="T0" fmla="*/ 287 w 317"/>
                  <a:gd name="T1" fmla="*/ 167 h 401"/>
                  <a:gd name="T2" fmla="*/ 245 w 317"/>
                  <a:gd name="T3" fmla="*/ 0 h 401"/>
                  <a:gd name="T4" fmla="*/ 223 w 317"/>
                  <a:gd name="T5" fmla="*/ 106 h 401"/>
                  <a:gd name="T6" fmla="*/ 29 w 317"/>
                  <a:gd name="T7" fmla="*/ 200 h 401"/>
                  <a:gd name="T8" fmla="*/ 3 w 317"/>
                  <a:gd name="T9" fmla="*/ 367 h 401"/>
                  <a:gd name="T10" fmla="*/ 39 w 317"/>
                  <a:gd name="T11" fmla="*/ 387 h 401"/>
                  <a:gd name="T12" fmla="*/ 239 w 317"/>
                  <a:gd name="T13" fmla="*/ 217 h 401"/>
                  <a:gd name="T14" fmla="*/ 272 w 317"/>
                  <a:gd name="T15" fmla="*/ 189 h 401"/>
                  <a:gd name="T16" fmla="*/ 273 w 317"/>
                  <a:gd name="T17" fmla="*/ 188 h 401"/>
                  <a:gd name="T18" fmla="*/ 273 w 317"/>
                  <a:gd name="T19" fmla="*/ 188 h 401"/>
                  <a:gd name="T20" fmla="*/ 287 w 317"/>
                  <a:gd name="T21" fmla="*/ 167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7" h="401">
                    <a:moveTo>
                      <a:pt x="287" y="167"/>
                    </a:moveTo>
                    <a:cubicBezTo>
                      <a:pt x="317" y="108"/>
                      <a:pt x="298" y="36"/>
                      <a:pt x="245" y="0"/>
                    </a:cubicBezTo>
                    <a:cubicBezTo>
                      <a:pt x="248" y="35"/>
                      <a:pt x="241" y="72"/>
                      <a:pt x="223" y="106"/>
                    </a:cubicBezTo>
                    <a:cubicBezTo>
                      <a:pt x="183" y="181"/>
                      <a:pt x="102" y="219"/>
                      <a:pt x="29" y="200"/>
                    </a:cubicBezTo>
                    <a:cubicBezTo>
                      <a:pt x="3" y="367"/>
                      <a:pt x="3" y="367"/>
                      <a:pt x="3" y="367"/>
                    </a:cubicBezTo>
                    <a:cubicBezTo>
                      <a:pt x="0" y="387"/>
                      <a:pt x="24" y="401"/>
                      <a:pt x="39" y="387"/>
                    </a:cubicBezTo>
                    <a:cubicBezTo>
                      <a:pt x="239" y="217"/>
                      <a:pt x="239" y="217"/>
                      <a:pt x="239" y="217"/>
                    </a:cubicBezTo>
                    <a:cubicBezTo>
                      <a:pt x="251" y="210"/>
                      <a:pt x="263" y="200"/>
                      <a:pt x="272" y="189"/>
                    </a:cubicBezTo>
                    <a:cubicBezTo>
                      <a:pt x="273" y="188"/>
                      <a:pt x="273" y="188"/>
                      <a:pt x="273" y="188"/>
                    </a:cubicBezTo>
                    <a:cubicBezTo>
                      <a:pt x="273" y="188"/>
                      <a:pt x="273" y="188"/>
                      <a:pt x="273" y="188"/>
                    </a:cubicBezTo>
                    <a:cubicBezTo>
                      <a:pt x="278" y="181"/>
                      <a:pt x="283" y="174"/>
                      <a:pt x="287" y="167"/>
                    </a:cubicBezTo>
                    <a:close/>
                  </a:path>
                </a:pathLst>
              </a:custGeom>
              <a:solidFill>
                <a:srgbClr val="B7D16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105">
                <a:extLst>
                  <a:ext uri="{FF2B5EF4-FFF2-40B4-BE49-F238E27FC236}">
                    <a16:creationId xmlns:a16="http://schemas.microsoft.com/office/drawing/2014/main" id="{B31F1D12-DB4A-5B22-19E6-F0B9E4B837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77570" y="3747826"/>
                <a:ext cx="615527" cy="834579"/>
              </a:xfrm>
              <a:custGeom>
                <a:avLst/>
                <a:gdLst>
                  <a:gd name="T0" fmla="*/ 31 w 320"/>
                  <a:gd name="T1" fmla="*/ 434 h 434"/>
                  <a:gd name="T2" fmla="*/ 16 w 320"/>
                  <a:gd name="T3" fmla="*/ 430 h 434"/>
                  <a:gd name="T4" fmla="*/ 2 w 320"/>
                  <a:gd name="T5" fmla="*/ 400 h 434"/>
                  <a:gd name="T6" fmla="*/ 43 w 320"/>
                  <a:gd name="T7" fmla="*/ 135 h 434"/>
                  <a:gd name="T8" fmla="*/ 48 w 320"/>
                  <a:gd name="T9" fmla="*/ 104 h 434"/>
                  <a:gd name="T10" fmla="*/ 48 w 320"/>
                  <a:gd name="T11" fmla="*/ 103 h 434"/>
                  <a:gd name="T12" fmla="*/ 49 w 320"/>
                  <a:gd name="T13" fmla="*/ 100 h 434"/>
                  <a:gd name="T14" fmla="*/ 59 w 320"/>
                  <a:gd name="T15" fmla="*/ 77 h 434"/>
                  <a:gd name="T16" fmla="*/ 138 w 320"/>
                  <a:gd name="T17" fmla="*/ 11 h 434"/>
                  <a:gd name="T18" fmla="*/ 241 w 320"/>
                  <a:gd name="T19" fmla="*/ 19 h 434"/>
                  <a:gd name="T20" fmla="*/ 308 w 320"/>
                  <a:gd name="T21" fmla="*/ 99 h 434"/>
                  <a:gd name="T22" fmla="*/ 300 w 320"/>
                  <a:gd name="T23" fmla="*/ 204 h 434"/>
                  <a:gd name="T24" fmla="*/ 286 w 320"/>
                  <a:gd name="T25" fmla="*/ 225 h 434"/>
                  <a:gd name="T26" fmla="*/ 284 w 320"/>
                  <a:gd name="T27" fmla="*/ 228 h 434"/>
                  <a:gd name="T28" fmla="*/ 284 w 320"/>
                  <a:gd name="T29" fmla="*/ 228 h 434"/>
                  <a:gd name="T30" fmla="*/ 249 w 320"/>
                  <a:gd name="T31" fmla="*/ 257 h 434"/>
                  <a:gd name="T32" fmla="*/ 50 w 320"/>
                  <a:gd name="T33" fmla="*/ 427 h 434"/>
                  <a:gd name="T34" fmla="*/ 31 w 320"/>
                  <a:gd name="T35" fmla="*/ 434 h 434"/>
                  <a:gd name="T36" fmla="*/ 63 w 320"/>
                  <a:gd name="T37" fmla="*/ 107 h 434"/>
                  <a:gd name="T38" fmla="*/ 63 w 320"/>
                  <a:gd name="T39" fmla="*/ 108 h 434"/>
                  <a:gd name="T40" fmla="*/ 58 w 320"/>
                  <a:gd name="T41" fmla="*/ 136 h 434"/>
                  <a:gd name="T42" fmla="*/ 58 w 320"/>
                  <a:gd name="T43" fmla="*/ 137 h 434"/>
                  <a:gd name="T44" fmla="*/ 17 w 320"/>
                  <a:gd name="T45" fmla="*/ 402 h 434"/>
                  <a:gd name="T46" fmla="*/ 24 w 320"/>
                  <a:gd name="T47" fmla="*/ 417 h 434"/>
                  <a:gd name="T48" fmla="*/ 40 w 320"/>
                  <a:gd name="T49" fmla="*/ 415 h 434"/>
                  <a:gd name="T50" fmla="*/ 240 w 320"/>
                  <a:gd name="T51" fmla="*/ 245 h 434"/>
                  <a:gd name="T52" fmla="*/ 241 w 320"/>
                  <a:gd name="T53" fmla="*/ 244 h 434"/>
                  <a:gd name="T54" fmla="*/ 272 w 320"/>
                  <a:gd name="T55" fmla="*/ 218 h 434"/>
                  <a:gd name="T56" fmla="*/ 273 w 320"/>
                  <a:gd name="T57" fmla="*/ 217 h 434"/>
                  <a:gd name="T58" fmla="*/ 273 w 320"/>
                  <a:gd name="T59" fmla="*/ 217 h 434"/>
                  <a:gd name="T60" fmla="*/ 286 w 320"/>
                  <a:gd name="T61" fmla="*/ 197 h 434"/>
                  <a:gd name="T62" fmla="*/ 294 w 320"/>
                  <a:gd name="T63" fmla="*/ 104 h 434"/>
                  <a:gd name="T64" fmla="*/ 234 w 320"/>
                  <a:gd name="T65" fmla="*/ 33 h 434"/>
                  <a:gd name="T66" fmla="*/ 143 w 320"/>
                  <a:gd name="T67" fmla="*/ 25 h 434"/>
                  <a:gd name="T68" fmla="*/ 72 w 320"/>
                  <a:gd name="T69" fmla="*/ 84 h 434"/>
                  <a:gd name="T70" fmla="*/ 63 w 320"/>
                  <a:gd name="T71" fmla="*/ 106 h 434"/>
                  <a:gd name="T72" fmla="*/ 63 w 320"/>
                  <a:gd name="T73" fmla="*/ 107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0" h="434">
                    <a:moveTo>
                      <a:pt x="31" y="434"/>
                    </a:moveTo>
                    <a:cubicBezTo>
                      <a:pt x="26" y="434"/>
                      <a:pt x="21" y="433"/>
                      <a:pt x="16" y="430"/>
                    </a:cubicBezTo>
                    <a:cubicBezTo>
                      <a:pt x="6" y="424"/>
                      <a:pt x="0" y="412"/>
                      <a:pt x="2" y="400"/>
                    </a:cubicBezTo>
                    <a:cubicBezTo>
                      <a:pt x="43" y="135"/>
                      <a:pt x="43" y="135"/>
                      <a:pt x="43" y="135"/>
                    </a:cubicBezTo>
                    <a:cubicBezTo>
                      <a:pt x="44" y="125"/>
                      <a:pt x="45" y="114"/>
                      <a:pt x="48" y="104"/>
                    </a:cubicBezTo>
                    <a:cubicBezTo>
                      <a:pt x="48" y="103"/>
                      <a:pt x="48" y="103"/>
                      <a:pt x="48" y="103"/>
                    </a:cubicBezTo>
                    <a:cubicBezTo>
                      <a:pt x="48" y="102"/>
                      <a:pt x="49" y="101"/>
                      <a:pt x="49" y="100"/>
                    </a:cubicBezTo>
                    <a:cubicBezTo>
                      <a:pt x="52" y="92"/>
                      <a:pt x="55" y="84"/>
                      <a:pt x="59" y="77"/>
                    </a:cubicBezTo>
                    <a:cubicBezTo>
                      <a:pt x="76" y="45"/>
                      <a:pt x="104" y="22"/>
                      <a:pt x="138" y="11"/>
                    </a:cubicBezTo>
                    <a:cubicBezTo>
                      <a:pt x="172" y="0"/>
                      <a:pt x="209" y="3"/>
                      <a:pt x="241" y="19"/>
                    </a:cubicBezTo>
                    <a:cubicBezTo>
                      <a:pt x="273" y="36"/>
                      <a:pt x="297" y="64"/>
                      <a:pt x="308" y="99"/>
                    </a:cubicBezTo>
                    <a:cubicBezTo>
                      <a:pt x="320" y="135"/>
                      <a:pt x="317" y="172"/>
                      <a:pt x="300" y="204"/>
                    </a:cubicBezTo>
                    <a:cubicBezTo>
                      <a:pt x="296" y="211"/>
                      <a:pt x="291" y="219"/>
                      <a:pt x="286" y="225"/>
                    </a:cubicBezTo>
                    <a:cubicBezTo>
                      <a:pt x="285" y="226"/>
                      <a:pt x="285" y="227"/>
                      <a:pt x="284" y="228"/>
                    </a:cubicBezTo>
                    <a:cubicBezTo>
                      <a:pt x="284" y="228"/>
                      <a:pt x="284" y="228"/>
                      <a:pt x="284" y="228"/>
                    </a:cubicBezTo>
                    <a:cubicBezTo>
                      <a:pt x="274" y="240"/>
                      <a:pt x="262" y="249"/>
                      <a:pt x="249" y="257"/>
                    </a:cubicBezTo>
                    <a:cubicBezTo>
                      <a:pt x="50" y="427"/>
                      <a:pt x="50" y="427"/>
                      <a:pt x="50" y="427"/>
                    </a:cubicBezTo>
                    <a:cubicBezTo>
                      <a:pt x="45" y="432"/>
                      <a:pt x="38" y="434"/>
                      <a:pt x="31" y="434"/>
                    </a:cubicBezTo>
                    <a:close/>
                    <a:moveTo>
                      <a:pt x="63" y="107"/>
                    </a:moveTo>
                    <a:cubicBezTo>
                      <a:pt x="63" y="107"/>
                      <a:pt x="63" y="107"/>
                      <a:pt x="63" y="108"/>
                    </a:cubicBezTo>
                    <a:cubicBezTo>
                      <a:pt x="60" y="117"/>
                      <a:pt x="59" y="127"/>
                      <a:pt x="58" y="136"/>
                    </a:cubicBezTo>
                    <a:cubicBezTo>
                      <a:pt x="58" y="137"/>
                      <a:pt x="58" y="137"/>
                      <a:pt x="58" y="137"/>
                    </a:cubicBezTo>
                    <a:cubicBezTo>
                      <a:pt x="17" y="402"/>
                      <a:pt x="17" y="402"/>
                      <a:pt x="17" y="402"/>
                    </a:cubicBezTo>
                    <a:cubicBezTo>
                      <a:pt x="16" y="410"/>
                      <a:pt x="20" y="415"/>
                      <a:pt x="24" y="417"/>
                    </a:cubicBezTo>
                    <a:cubicBezTo>
                      <a:pt x="28" y="419"/>
                      <a:pt x="35" y="420"/>
                      <a:pt x="40" y="415"/>
                    </a:cubicBezTo>
                    <a:cubicBezTo>
                      <a:pt x="240" y="245"/>
                      <a:pt x="240" y="245"/>
                      <a:pt x="240" y="245"/>
                    </a:cubicBezTo>
                    <a:cubicBezTo>
                      <a:pt x="240" y="245"/>
                      <a:pt x="240" y="245"/>
                      <a:pt x="241" y="244"/>
                    </a:cubicBezTo>
                    <a:cubicBezTo>
                      <a:pt x="253" y="237"/>
                      <a:pt x="263" y="228"/>
                      <a:pt x="272" y="218"/>
                    </a:cubicBezTo>
                    <a:cubicBezTo>
                      <a:pt x="272" y="218"/>
                      <a:pt x="272" y="217"/>
                      <a:pt x="273" y="217"/>
                    </a:cubicBezTo>
                    <a:cubicBezTo>
                      <a:pt x="273" y="217"/>
                      <a:pt x="273" y="217"/>
                      <a:pt x="273" y="217"/>
                    </a:cubicBezTo>
                    <a:cubicBezTo>
                      <a:pt x="278" y="211"/>
                      <a:pt x="282" y="204"/>
                      <a:pt x="286" y="197"/>
                    </a:cubicBezTo>
                    <a:cubicBezTo>
                      <a:pt x="301" y="168"/>
                      <a:pt x="304" y="135"/>
                      <a:pt x="294" y="104"/>
                    </a:cubicBezTo>
                    <a:cubicBezTo>
                      <a:pt x="284" y="73"/>
                      <a:pt x="263" y="47"/>
                      <a:pt x="234" y="33"/>
                    </a:cubicBezTo>
                    <a:cubicBezTo>
                      <a:pt x="205" y="18"/>
                      <a:pt x="173" y="16"/>
                      <a:pt x="143" y="25"/>
                    </a:cubicBezTo>
                    <a:cubicBezTo>
                      <a:pt x="112" y="35"/>
                      <a:pt x="87" y="56"/>
                      <a:pt x="72" y="84"/>
                    </a:cubicBezTo>
                    <a:cubicBezTo>
                      <a:pt x="69" y="91"/>
                      <a:pt x="66" y="99"/>
                      <a:pt x="63" y="106"/>
                    </a:cubicBezTo>
                    <a:cubicBezTo>
                      <a:pt x="63" y="106"/>
                      <a:pt x="63" y="107"/>
                      <a:pt x="63" y="107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106">
                <a:extLst>
                  <a:ext uri="{FF2B5EF4-FFF2-40B4-BE49-F238E27FC236}">
                    <a16:creationId xmlns:a16="http://schemas.microsoft.com/office/drawing/2014/main" id="{56CEE526-3D27-F694-842D-5D02CE3E23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58406" y="3893860"/>
                <a:ext cx="296163" cy="275008"/>
              </a:xfrm>
              <a:custGeom>
                <a:avLst/>
                <a:gdLst>
                  <a:gd name="T0" fmla="*/ 81 w 154"/>
                  <a:gd name="T1" fmla="*/ 143 h 143"/>
                  <a:gd name="T2" fmla="*/ 48 w 154"/>
                  <a:gd name="T3" fmla="*/ 135 h 143"/>
                  <a:gd name="T4" fmla="*/ 18 w 154"/>
                  <a:gd name="T5" fmla="*/ 40 h 143"/>
                  <a:gd name="T6" fmla="*/ 60 w 154"/>
                  <a:gd name="T7" fmla="*/ 5 h 143"/>
                  <a:gd name="T8" fmla="*/ 114 w 154"/>
                  <a:gd name="T9" fmla="*/ 10 h 143"/>
                  <a:gd name="T10" fmla="*/ 148 w 154"/>
                  <a:gd name="T11" fmla="*/ 52 h 143"/>
                  <a:gd name="T12" fmla="*/ 143 w 154"/>
                  <a:gd name="T13" fmla="*/ 106 h 143"/>
                  <a:gd name="T14" fmla="*/ 143 w 154"/>
                  <a:gd name="T15" fmla="*/ 106 h 143"/>
                  <a:gd name="T16" fmla="*/ 81 w 154"/>
                  <a:gd name="T17" fmla="*/ 143 h 143"/>
                  <a:gd name="T18" fmla="*/ 81 w 154"/>
                  <a:gd name="T19" fmla="*/ 17 h 143"/>
                  <a:gd name="T20" fmla="*/ 65 w 154"/>
                  <a:gd name="T21" fmla="*/ 20 h 143"/>
                  <a:gd name="T22" fmla="*/ 32 w 154"/>
                  <a:gd name="T23" fmla="*/ 47 h 143"/>
                  <a:gd name="T24" fmla="*/ 28 w 154"/>
                  <a:gd name="T25" fmla="*/ 89 h 143"/>
                  <a:gd name="T26" fmla="*/ 55 w 154"/>
                  <a:gd name="T27" fmla="*/ 122 h 143"/>
                  <a:gd name="T28" fmla="*/ 130 w 154"/>
                  <a:gd name="T29" fmla="*/ 99 h 143"/>
                  <a:gd name="T30" fmla="*/ 134 w 154"/>
                  <a:gd name="T31" fmla="*/ 56 h 143"/>
                  <a:gd name="T32" fmla="*/ 107 w 154"/>
                  <a:gd name="T33" fmla="*/ 24 h 143"/>
                  <a:gd name="T34" fmla="*/ 81 w 154"/>
                  <a:gd name="T35" fmla="*/ 17 h 143"/>
                  <a:gd name="T36" fmla="*/ 137 w 154"/>
                  <a:gd name="T37" fmla="*/ 102 h 143"/>
                  <a:gd name="T38" fmla="*/ 137 w 154"/>
                  <a:gd name="T39" fmla="*/ 102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4" h="143">
                    <a:moveTo>
                      <a:pt x="81" y="143"/>
                    </a:moveTo>
                    <a:cubicBezTo>
                      <a:pt x="70" y="143"/>
                      <a:pt x="58" y="141"/>
                      <a:pt x="48" y="135"/>
                    </a:cubicBezTo>
                    <a:cubicBezTo>
                      <a:pt x="13" y="117"/>
                      <a:pt x="0" y="74"/>
                      <a:pt x="18" y="40"/>
                    </a:cubicBezTo>
                    <a:cubicBezTo>
                      <a:pt x="27" y="23"/>
                      <a:pt x="42" y="11"/>
                      <a:pt x="60" y="5"/>
                    </a:cubicBezTo>
                    <a:cubicBezTo>
                      <a:pt x="78" y="0"/>
                      <a:pt x="97" y="1"/>
                      <a:pt x="114" y="10"/>
                    </a:cubicBezTo>
                    <a:cubicBezTo>
                      <a:pt x="131" y="19"/>
                      <a:pt x="143" y="34"/>
                      <a:pt x="148" y="52"/>
                    </a:cubicBezTo>
                    <a:cubicBezTo>
                      <a:pt x="154" y="70"/>
                      <a:pt x="152" y="89"/>
                      <a:pt x="143" y="106"/>
                    </a:cubicBezTo>
                    <a:cubicBezTo>
                      <a:pt x="143" y="106"/>
                      <a:pt x="143" y="106"/>
                      <a:pt x="143" y="106"/>
                    </a:cubicBezTo>
                    <a:cubicBezTo>
                      <a:pt x="131" y="130"/>
                      <a:pt x="106" y="143"/>
                      <a:pt x="81" y="143"/>
                    </a:cubicBezTo>
                    <a:close/>
                    <a:moveTo>
                      <a:pt x="81" y="17"/>
                    </a:moveTo>
                    <a:cubicBezTo>
                      <a:pt x="75" y="17"/>
                      <a:pt x="70" y="18"/>
                      <a:pt x="65" y="20"/>
                    </a:cubicBezTo>
                    <a:cubicBezTo>
                      <a:pt x="50" y="24"/>
                      <a:pt x="39" y="34"/>
                      <a:pt x="32" y="47"/>
                    </a:cubicBezTo>
                    <a:cubicBezTo>
                      <a:pt x="25" y="60"/>
                      <a:pt x="24" y="75"/>
                      <a:pt x="28" y="89"/>
                    </a:cubicBezTo>
                    <a:cubicBezTo>
                      <a:pt x="32" y="103"/>
                      <a:pt x="42" y="115"/>
                      <a:pt x="55" y="122"/>
                    </a:cubicBezTo>
                    <a:cubicBezTo>
                      <a:pt x="82" y="136"/>
                      <a:pt x="116" y="126"/>
                      <a:pt x="130" y="99"/>
                    </a:cubicBezTo>
                    <a:cubicBezTo>
                      <a:pt x="137" y="86"/>
                      <a:pt x="138" y="71"/>
                      <a:pt x="134" y="56"/>
                    </a:cubicBezTo>
                    <a:cubicBezTo>
                      <a:pt x="129" y="42"/>
                      <a:pt x="120" y="31"/>
                      <a:pt x="107" y="24"/>
                    </a:cubicBezTo>
                    <a:cubicBezTo>
                      <a:pt x="99" y="19"/>
                      <a:pt x="90" y="17"/>
                      <a:pt x="81" y="17"/>
                    </a:cubicBezTo>
                    <a:close/>
                    <a:moveTo>
                      <a:pt x="137" y="102"/>
                    </a:moveTo>
                    <a:cubicBezTo>
                      <a:pt x="137" y="102"/>
                      <a:pt x="137" y="102"/>
                      <a:pt x="137" y="102"/>
                    </a:cubicBez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107">
                <a:extLst>
                  <a:ext uri="{FF2B5EF4-FFF2-40B4-BE49-F238E27FC236}">
                    <a16:creationId xmlns:a16="http://schemas.microsoft.com/office/drawing/2014/main" id="{B230930B-57F5-B83C-F189-9FE8BFE3E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8554" y="3057917"/>
                <a:ext cx="355532" cy="751326"/>
              </a:xfrm>
              <a:custGeom>
                <a:avLst/>
                <a:gdLst>
                  <a:gd name="T0" fmla="*/ 0 w 521"/>
                  <a:gd name="T1" fmla="*/ 310 h 1101"/>
                  <a:gd name="T2" fmla="*/ 144 w 521"/>
                  <a:gd name="T3" fmla="*/ 0 h 1101"/>
                  <a:gd name="T4" fmla="*/ 521 w 521"/>
                  <a:gd name="T5" fmla="*/ 1101 h 1101"/>
                  <a:gd name="T6" fmla="*/ 0 w 521"/>
                  <a:gd name="T7" fmla="*/ 310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1" h="1101">
                    <a:moveTo>
                      <a:pt x="0" y="310"/>
                    </a:moveTo>
                    <a:lnTo>
                      <a:pt x="144" y="0"/>
                    </a:lnTo>
                    <a:lnTo>
                      <a:pt x="521" y="1101"/>
                    </a:lnTo>
                    <a:lnTo>
                      <a:pt x="0" y="310"/>
                    </a:lnTo>
                    <a:close/>
                  </a:path>
                </a:pathLst>
              </a:custGeom>
              <a:solidFill>
                <a:srgbClr val="90C2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108">
                <a:extLst>
                  <a:ext uri="{FF2B5EF4-FFF2-40B4-BE49-F238E27FC236}">
                    <a16:creationId xmlns:a16="http://schemas.microsoft.com/office/drawing/2014/main" id="{6FED0571-DC38-1672-B9A3-4C68B2E2AE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59000" y="3046316"/>
                <a:ext cx="374639" cy="774527"/>
              </a:xfrm>
              <a:custGeom>
                <a:avLst/>
                <a:gdLst>
                  <a:gd name="T0" fmla="*/ 57 w 195"/>
                  <a:gd name="T1" fmla="*/ 0 h 403"/>
                  <a:gd name="T2" fmla="*/ 61 w 195"/>
                  <a:gd name="T3" fmla="*/ 4 h 403"/>
                  <a:gd name="T4" fmla="*/ 194 w 195"/>
                  <a:gd name="T5" fmla="*/ 395 h 403"/>
                  <a:gd name="T6" fmla="*/ 192 w 195"/>
                  <a:gd name="T7" fmla="*/ 402 h 403"/>
                  <a:gd name="T8" fmla="*/ 185 w 195"/>
                  <a:gd name="T9" fmla="*/ 400 h 403"/>
                  <a:gd name="T10" fmla="*/ 1 w 195"/>
                  <a:gd name="T11" fmla="*/ 119 h 403"/>
                  <a:gd name="T12" fmla="*/ 0 w 195"/>
                  <a:gd name="T13" fmla="*/ 114 h 403"/>
                  <a:gd name="T14" fmla="*/ 52 w 195"/>
                  <a:gd name="T15" fmla="*/ 3 h 403"/>
                  <a:gd name="T16" fmla="*/ 56 w 195"/>
                  <a:gd name="T17" fmla="*/ 0 h 403"/>
                  <a:gd name="T18" fmla="*/ 57 w 195"/>
                  <a:gd name="T19" fmla="*/ 0 h 403"/>
                  <a:gd name="T20" fmla="*/ 172 w 195"/>
                  <a:gd name="T21" fmla="*/ 361 h 403"/>
                  <a:gd name="T22" fmla="*/ 55 w 195"/>
                  <a:gd name="T23" fmla="*/ 19 h 403"/>
                  <a:gd name="T24" fmla="*/ 11 w 195"/>
                  <a:gd name="T25" fmla="*/ 116 h 403"/>
                  <a:gd name="T26" fmla="*/ 172 w 195"/>
                  <a:gd name="T27" fmla="*/ 361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5" h="403">
                    <a:moveTo>
                      <a:pt x="57" y="0"/>
                    </a:moveTo>
                    <a:cubicBezTo>
                      <a:pt x="59" y="1"/>
                      <a:pt x="60" y="2"/>
                      <a:pt x="61" y="4"/>
                    </a:cubicBezTo>
                    <a:cubicBezTo>
                      <a:pt x="194" y="395"/>
                      <a:pt x="194" y="395"/>
                      <a:pt x="194" y="395"/>
                    </a:cubicBezTo>
                    <a:cubicBezTo>
                      <a:pt x="195" y="398"/>
                      <a:pt x="194" y="400"/>
                      <a:pt x="192" y="402"/>
                    </a:cubicBezTo>
                    <a:cubicBezTo>
                      <a:pt x="190" y="403"/>
                      <a:pt x="187" y="402"/>
                      <a:pt x="185" y="400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0" y="118"/>
                      <a:pt x="0" y="116"/>
                      <a:pt x="0" y="114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2" y="2"/>
                      <a:pt x="54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lose/>
                    <a:moveTo>
                      <a:pt x="172" y="361"/>
                    </a:moveTo>
                    <a:cubicBezTo>
                      <a:pt x="55" y="19"/>
                      <a:pt x="55" y="19"/>
                      <a:pt x="55" y="19"/>
                    </a:cubicBezTo>
                    <a:cubicBezTo>
                      <a:pt x="11" y="116"/>
                      <a:pt x="11" y="116"/>
                      <a:pt x="11" y="116"/>
                    </a:cubicBezTo>
                    <a:lnTo>
                      <a:pt x="172" y="361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109">
                <a:extLst>
                  <a:ext uri="{FF2B5EF4-FFF2-40B4-BE49-F238E27FC236}">
                    <a16:creationId xmlns:a16="http://schemas.microsoft.com/office/drawing/2014/main" id="{BCA8CF8B-A14D-1244-F10D-D96B79724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5855" y="3269461"/>
                <a:ext cx="588231" cy="539781"/>
              </a:xfrm>
              <a:custGeom>
                <a:avLst/>
                <a:gdLst>
                  <a:gd name="T0" fmla="*/ 0 w 862"/>
                  <a:gd name="T1" fmla="*/ 76 h 791"/>
                  <a:gd name="T2" fmla="*/ 341 w 862"/>
                  <a:gd name="T3" fmla="*/ 0 h 791"/>
                  <a:gd name="T4" fmla="*/ 862 w 862"/>
                  <a:gd name="T5" fmla="*/ 791 h 791"/>
                  <a:gd name="T6" fmla="*/ 0 w 862"/>
                  <a:gd name="T7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62" h="791">
                    <a:moveTo>
                      <a:pt x="0" y="76"/>
                    </a:moveTo>
                    <a:lnTo>
                      <a:pt x="341" y="0"/>
                    </a:lnTo>
                    <a:lnTo>
                      <a:pt x="862" y="791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C0DC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110">
                <a:extLst>
                  <a:ext uri="{FF2B5EF4-FFF2-40B4-BE49-F238E27FC236}">
                    <a16:creationId xmlns:a16="http://schemas.microsoft.com/office/drawing/2014/main" id="{8A88CE2E-2032-DAAD-318C-8E5785FA26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24253" y="3259908"/>
                <a:ext cx="609386" cy="560935"/>
              </a:xfrm>
              <a:custGeom>
                <a:avLst/>
                <a:gdLst>
                  <a:gd name="T0" fmla="*/ 128 w 317"/>
                  <a:gd name="T1" fmla="*/ 0 h 292"/>
                  <a:gd name="T2" fmla="*/ 131 w 317"/>
                  <a:gd name="T3" fmla="*/ 2 h 292"/>
                  <a:gd name="T4" fmla="*/ 316 w 317"/>
                  <a:gd name="T5" fmla="*/ 283 h 292"/>
                  <a:gd name="T6" fmla="*/ 315 w 317"/>
                  <a:gd name="T7" fmla="*/ 290 h 292"/>
                  <a:gd name="T8" fmla="*/ 308 w 317"/>
                  <a:gd name="T9" fmla="*/ 290 h 292"/>
                  <a:gd name="T10" fmla="*/ 2 w 317"/>
                  <a:gd name="T11" fmla="*/ 36 h 292"/>
                  <a:gd name="T12" fmla="*/ 1 w 317"/>
                  <a:gd name="T13" fmla="*/ 31 h 292"/>
                  <a:gd name="T14" fmla="*/ 5 w 317"/>
                  <a:gd name="T15" fmla="*/ 27 h 292"/>
                  <a:gd name="T16" fmla="*/ 126 w 317"/>
                  <a:gd name="T17" fmla="*/ 0 h 292"/>
                  <a:gd name="T18" fmla="*/ 128 w 317"/>
                  <a:gd name="T19" fmla="*/ 0 h 292"/>
                  <a:gd name="T20" fmla="*/ 289 w 317"/>
                  <a:gd name="T21" fmla="*/ 260 h 292"/>
                  <a:gd name="T22" fmla="*/ 125 w 317"/>
                  <a:gd name="T23" fmla="*/ 11 h 292"/>
                  <a:gd name="T24" fmla="*/ 17 w 317"/>
                  <a:gd name="T25" fmla="*/ 35 h 292"/>
                  <a:gd name="T26" fmla="*/ 289 w 317"/>
                  <a:gd name="T27" fmla="*/ 26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7" h="292">
                    <a:moveTo>
                      <a:pt x="128" y="0"/>
                    </a:moveTo>
                    <a:cubicBezTo>
                      <a:pt x="129" y="0"/>
                      <a:pt x="130" y="1"/>
                      <a:pt x="131" y="2"/>
                    </a:cubicBezTo>
                    <a:cubicBezTo>
                      <a:pt x="316" y="283"/>
                      <a:pt x="316" y="283"/>
                      <a:pt x="316" y="283"/>
                    </a:cubicBezTo>
                    <a:cubicBezTo>
                      <a:pt x="317" y="285"/>
                      <a:pt x="317" y="288"/>
                      <a:pt x="315" y="290"/>
                    </a:cubicBezTo>
                    <a:cubicBezTo>
                      <a:pt x="313" y="292"/>
                      <a:pt x="310" y="292"/>
                      <a:pt x="308" y="290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1" y="35"/>
                      <a:pt x="0" y="33"/>
                      <a:pt x="1" y="31"/>
                    </a:cubicBezTo>
                    <a:cubicBezTo>
                      <a:pt x="1" y="29"/>
                      <a:pt x="3" y="28"/>
                      <a:pt x="5" y="27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27" y="0"/>
                      <a:pt x="127" y="0"/>
                      <a:pt x="128" y="0"/>
                    </a:cubicBezTo>
                    <a:close/>
                    <a:moveTo>
                      <a:pt x="289" y="260"/>
                    </a:moveTo>
                    <a:cubicBezTo>
                      <a:pt x="125" y="11"/>
                      <a:pt x="125" y="11"/>
                      <a:pt x="125" y="11"/>
                    </a:cubicBezTo>
                    <a:cubicBezTo>
                      <a:pt x="17" y="35"/>
                      <a:pt x="17" y="35"/>
                      <a:pt x="17" y="35"/>
                    </a:cubicBezTo>
                    <a:lnTo>
                      <a:pt x="289" y="260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Freeform 111">
                <a:extLst>
                  <a:ext uri="{FF2B5EF4-FFF2-40B4-BE49-F238E27FC236}">
                    <a16:creationId xmlns:a16="http://schemas.microsoft.com/office/drawing/2014/main" id="{5C2C501F-862A-47C1-5D74-8B5AF2789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7789" y="3198492"/>
                <a:ext cx="318682" cy="610751"/>
              </a:xfrm>
              <a:custGeom>
                <a:avLst/>
                <a:gdLst>
                  <a:gd name="T0" fmla="*/ 273 w 467"/>
                  <a:gd name="T1" fmla="*/ 895 h 895"/>
                  <a:gd name="T2" fmla="*/ 0 w 467"/>
                  <a:gd name="T3" fmla="*/ 87 h 895"/>
                  <a:gd name="T4" fmla="*/ 467 w 467"/>
                  <a:gd name="T5" fmla="*/ 0 h 895"/>
                  <a:gd name="T6" fmla="*/ 273 w 467"/>
                  <a:gd name="T7" fmla="*/ 895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7" h="895">
                    <a:moveTo>
                      <a:pt x="273" y="895"/>
                    </a:moveTo>
                    <a:lnTo>
                      <a:pt x="0" y="87"/>
                    </a:lnTo>
                    <a:lnTo>
                      <a:pt x="467" y="0"/>
                    </a:lnTo>
                    <a:lnTo>
                      <a:pt x="273" y="895"/>
                    </a:lnTo>
                    <a:close/>
                  </a:path>
                </a:pathLst>
              </a:custGeom>
              <a:solidFill>
                <a:srgbClr val="C0DC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Freeform 112">
                <a:extLst>
                  <a:ext uri="{FF2B5EF4-FFF2-40B4-BE49-F238E27FC236}">
                    <a16:creationId xmlns:a16="http://schemas.microsoft.com/office/drawing/2014/main" id="{6E053AEC-2915-F63B-2AD4-88BFEA3F01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8236" y="3188938"/>
                <a:ext cx="339836" cy="630540"/>
              </a:xfrm>
              <a:custGeom>
                <a:avLst/>
                <a:gdLst>
                  <a:gd name="T0" fmla="*/ 172 w 177"/>
                  <a:gd name="T1" fmla="*/ 0 h 328"/>
                  <a:gd name="T2" fmla="*/ 175 w 177"/>
                  <a:gd name="T3" fmla="*/ 2 h 328"/>
                  <a:gd name="T4" fmla="*/ 176 w 177"/>
                  <a:gd name="T5" fmla="*/ 6 h 328"/>
                  <a:gd name="T6" fmla="*/ 107 w 177"/>
                  <a:gd name="T7" fmla="*/ 324 h 328"/>
                  <a:gd name="T8" fmla="*/ 102 w 177"/>
                  <a:gd name="T9" fmla="*/ 328 h 328"/>
                  <a:gd name="T10" fmla="*/ 97 w 177"/>
                  <a:gd name="T11" fmla="*/ 325 h 328"/>
                  <a:gd name="T12" fmla="*/ 0 w 177"/>
                  <a:gd name="T13" fmla="*/ 37 h 328"/>
                  <a:gd name="T14" fmla="*/ 1 w 177"/>
                  <a:gd name="T15" fmla="*/ 33 h 328"/>
                  <a:gd name="T16" fmla="*/ 4 w 177"/>
                  <a:gd name="T17" fmla="*/ 31 h 328"/>
                  <a:gd name="T18" fmla="*/ 171 w 177"/>
                  <a:gd name="T19" fmla="*/ 0 h 328"/>
                  <a:gd name="T20" fmla="*/ 172 w 177"/>
                  <a:gd name="T21" fmla="*/ 0 h 328"/>
                  <a:gd name="T22" fmla="*/ 101 w 177"/>
                  <a:gd name="T23" fmla="*/ 304 h 328"/>
                  <a:gd name="T24" fmla="*/ 165 w 177"/>
                  <a:gd name="T25" fmla="*/ 12 h 328"/>
                  <a:gd name="T26" fmla="*/ 12 w 177"/>
                  <a:gd name="T27" fmla="*/ 40 h 328"/>
                  <a:gd name="T28" fmla="*/ 101 w 177"/>
                  <a:gd name="T29" fmla="*/ 304 h 3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7" h="328">
                    <a:moveTo>
                      <a:pt x="172" y="0"/>
                    </a:moveTo>
                    <a:cubicBezTo>
                      <a:pt x="173" y="0"/>
                      <a:pt x="174" y="1"/>
                      <a:pt x="175" y="2"/>
                    </a:cubicBezTo>
                    <a:cubicBezTo>
                      <a:pt x="176" y="3"/>
                      <a:pt x="177" y="5"/>
                      <a:pt x="176" y="6"/>
                    </a:cubicBezTo>
                    <a:cubicBezTo>
                      <a:pt x="107" y="324"/>
                      <a:pt x="107" y="324"/>
                      <a:pt x="107" y="324"/>
                    </a:cubicBezTo>
                    <a:cubicBezTo>
                      <a:pt x="106" y="326"/>
                      <a:pt x="104" y="328"/>
                      <a:pt x="102" y="328"/>
                    </a:cubicBezTo>
                    <a:cubicBezTo>
                      <a:pt x="100" y="328"/>
                      <a:pt x="97" y="327"/>
                      <a:pt x="97" y="325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6"/>
                      <a:pt x="0" y="34"/>
                      <a:pt x="1" y="33"/>
                    </a:cubicBezTo>
                    <a:cubicBezTo>
                      <a:pt x="2" y="32"/>
                      <a:pt x="3" y="31"/>
                      <a:pt x="4" y="31"/>
                    </a:cubicBezTo>
                    <a:cubicBezTo>
                      <a:pt x="171" y="0"/>
                      <a:pt x="171" y="0"/>
                      <a:pt x="171" y="0"/>
                    </a:cubicBezTo>
                    <a:cubicBezTo>
                      <a:pt x="171" y="0"/>
                      <a:pt x="171" y="0"/>
                      <a:pt x="172" y="0"/>
                    </a:cubicBezTo>
                    <a:close/>
                    <a:moveTo>
                      <a:pt x="101" y="304"/>
                    </a:moveTo>
                    <a:cubicBezTo>
                      <a:pt x="165" y="12"/>
                      <a:pt x="165" y="12"/>
                      <a:pt x="165" y="12"/>
                    </a:cubicBezTo>
                    <a:cubicBezTo>
                      <a:pt x="12" y="40"/>
                      <a:pt x="12" y="40"/>
                      <a:pt x="12" y="40"/>
                    </a:cubicBezTo>
                    <a:lnTo>
                      <a:pt x="101" y="304"/>
                    </a:lnTo>
                    <a:close/>
                  </a:path>
                </a:pathLst>
              </a:custGeom>
              <a:solidFill>
                <a:srgbClr val="0C22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国产软件面临的挑战</a:t>
            </a:r>
            <a:endParaRPr lang="en-US" dirty="0"/>
          </a:p>
        </p:txBody>
      </p:sp>
      <p:grpSp>
        <p:nvGrpSpPr>
          <p:cNvPr id="30" name="diagram8.pptx">
            <a:extLst>
              <a:ext uri="{FF2B5EF4-FFF2-40B4-BE49-F238E27FC236}">
                <a16:creationId xmlns:a16="http://schemas.microsoft.com/office/drawing/2014/main" id="{799320AB-2797-7542-3F12-D3C27230F055}"/>
              </a:ext>
            </a:extLst>
          </p:cNvPr>
          <p:cNvGrpSpPr/>
          <p:nvPr/>
        </p:nvGrpSpPr>
        <p:grpSpPr>
          <a:xfrm>
            <a:off x="660400" y="1130300"/>
            <a:ext cx="10858500" cy="5016500"/>
            <a:chOff x="660400" y="1130300"/>
            <a:chExt cx="10858500" cy="5016500"/>
          </a:xfrm>
        </p:grpSpPr>
        <p:sp>
          <p:nvSpPr>
            <p:cNvPr id="6" name="PictureMisc">
              <a:extLst>
                <a:ext uri="{FF2B5EF4-FFF2-40B4-BE49-F238E27FC236}">
                  <a16:creationId xmlns:a16="http://schemas.microsoft.com/office/drawing/2014/main" id="{20F36688-9985-492E-A54C-01ABDE83BB31}"/>
                </a:ext>
              </a:extLst>
            </p:cNvPr>
            <p:cNvSpPr/>
            <p:nvPr/>
          </p:nvSpPr>
          <p:spPr>
            <a:xfrm>
              <a:off x="4984597" y="1881476"/>
              <a:ext cx="2222806" cy="2222806"/>
            </a:xfrm>
            <a:prstGeom prst="ellipse">
              <a:avLst/>
            </a:prstGeom>
            <a:blipFill>
              <a:blip r:embed="rId2"/>
              <a:stretch>
                <a:fillRect l="-26162" t="484" r="-28416" b="-484"/>
              </a:stretch>
            </a:blipFill>
            <a:ln w="57150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zh-CN" altLang="en-US" sz="2800" b="1" dirty="0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8079C18-7F4D-B059-8B1B-7F78FA95F905}"/>
                </a:ext>
              </a:extLst>
            </p:cNvPr>
            <p:cNvGrpSpPr/>
            <p:nvPr/>
          </p:nvGrpSpPr>
          <p:grpSpPr>
            <a:xfrm>
              <a:off x="673100" y="4741690"/>
              <a:ext cx="2594502" cy="1405110"/>
              <a:chOff x="673100" y="4741690"/>
              <a:chExt cx="2594502" cy="1405110"/>
            </a:xfrm>
          </p:grpSpPr>
          <p:sp>
            <p:nvSpPr>
              <p:cNvPr id="22" name="Bullet1">
                <a:extLst>
                  <a:ext uri="{FF2B5EF4-FFF2-40B4-BE49-F238E27FC236}">
                    <a16:creationId xmlns:a16="http://schemas.microsoft.com/office/drawing/2014/main" id="{3BB26B75-4E06-43EF-8496-A5A731777130}"/>
                  </a:ext>
                </a:extLst>
              </p:cNvPr>
              <p:cNvSpPr txBox="1"/>
              <p:nvPr/>
            </p:nvSpPr>
            <p:spPr bwMode="auto">
              <a:xfrm>
                <a:off x="673100" y="4741690"/>
                <a:ext cx="2594502" cy="480299"/>
              </a:xfrm>
              <a:prstGeom prst="rect">
                <a:avLst/>
              </a:prstGeom>
              <a:solidFill>
                <a:schemeClr val="tx2">
                  <a:alpha val="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b="1" dirty="0"/>
                  <a:t>软件生态环境有限</a:t>
                </a:r>
                <a:endParaRPr lang="en-US" dirty="0"/>
              </a:p>
            </p:txBody>
          </p:sp>
          <p:sp>
            <p:nvSpPr>
              <p:cNvPr id="23" name="Text1">
                <a:extLst>
                  <a:ext uri="{FF2B5EF4-FFF2-40B4-BE49-F238E27FC236}">
                    <a16:creationId xmlns:a16="http://schemas.microsoft.com/office/drawing/2014/main" id="{2DDBA384-A9E8-4916-868B-12D6A356D3CA}"/>
                  </a:ext>
                </a:extLst>
              </p:cNvPr>
              <p:cNvSpPr/>
              <p:nvPr/>
            </p:nvSpPr>
            <p:spPr bwMode="auto">
              <a:xfrm>
                <a:off x="673100" y="5221989"/>
                <a:ext cx="2594502" cy="9248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dirty="0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48BB3B0-2BEE-4C7C-8EB1-65C14E1354A1}"/>
                </a:ext>
              </a:extLst>
            </p:cNvPr>
            <p:cNvGrpSpPr/>
            <p:nvPr/>
          </p:nvGrpSpPr>
          <p:grpSpPr>
            <a:xfrm>
              <a:off x="3423533" y="4741690"/>
              <a:ext cx="2594502" cy="1405110"/>
              <a:chOff x="3423533" y="4741690"/>
              <a:chExt cx="2594502" cy="1405110"/>
            </a:xfrm>
          </p:grpSpPr>
          <p:sp>
            <p:nvSpPr>
              <p:cNvPr id="20" name="Bullet2">
                <a:extLst>
                  <a:ext uri="{FF2B5EF4-FFF2-40B4-BE49-F238E27FC236}">
                    <a16:creationId xmlns:a16="http://schemas.microsoft.com/office/drawing/2014/main" id="{F294E8C3-C6BE-44A2-B8E1-B7AD51CE35CD}"/>
                  </a:ext>
                </a:extLst>
              </p:cNvPr>
              <p:cNvSpPr txBox="1"/>
              <p:nvPr/>
            </p:nvSpPr>
            <p:spPr bwMode="auto">
              <a:xfrm>
                <a:off x="3423533" y="4741690"/>
                <a:ext cx="2594502" cy="480299"/>
              </a:xfrm>
              <a:prstGeom prst="rect">
                <a:avLst/>
              </a:prstGeom>
              <a:solidFill>
                <a:schemeClr val="tx2">
                  <a:alpha val="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b="1" dirty="0"/>
                  <a:t>硬件支撑不足</a:t>
                </a:r>
                <a:endParaRPr lang="en-US" dirty="0"/>
              </a:p>
            </p:txBody>
          </p:sp>
          <p:sp>
            <p:nvSpPr>
              <p:cNvPr id="21" name="Text2">
                <a:extLst>
                  <a:ext uri="{FF2B5EF4-FFF2-40B4-BE49-F238E27FC236}">
                    <a16:creationId xmlns:a16="http://schemas.microsoft.com/office/drawing/2014/main" id="{45402F8E-8909-4352-92CD-6D3BD90F8CD7}"/>
                  </a:ext>
                </a:extLst>
              </p:cNvPr>
              <p:cNvSpPr/>
              <p:nvPr/>
            </p:nvSpPr>
            <p:spPr bwMode="auto">
              <a:xfrm>
                <a:off x="3423533" y="5221989"/>
                <a:ext cx="2594502" cy="9248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79BE6C75-717A-F412-3457-84432098CA32}"/>
                </a:ext>
              </a:extLst>
            </p:cNvPr>
            <p:cNvGrpSpPr/>
            <p:nvPr/>
          </p:nvGrpSpPr>
          <p:grpSpPr>
            <a:xfrm>
              <a:off x="6173965" y="4741690"/>
              <a:ext cx="2594502" cy="1405110"/>
              <a:chOff x="6173965" y="4741690"/>
              <a:chExt cx="2594502" cy="1405110"/>
            </a:xfrm>
          </p:grpSpPr>
          <p:sp>
            <p:nvSpPr>
              <p:cNvPr id="18" name="Bullet3">
                <a:extLst>
                  <a:ext uri="{FF2B5EF4-FFF2-40B4-BE49-F238E27FC236}">
                    <a16:creationId xmlns:a16="http://schemas.microsoft.com/office/drawing/2014/main" id="{B3D071A3-A3B6-4264-9EAA-2A60C4E5BCE4}"/>
                  </a:ext>
                </a:extLst>
              </p:cNvPr>
              <p:cNvSpPr txBox="1"/>
              <p:nvPr/>
            </p:nvSpPr>
            <p:spPr bwMode="auto">
              <a:xfrm>
                <a:off x="6173965" y="4741690"/>
                <a:ext cx="2594502" cy="480299"/>
              </a:xfrm>
              <a:prstGeom prst="rect">
                <a:avLst/>
              </a:prstGeom>
              <a:solidFill>
                <a:schemeClr val="tx2">
                  <a:alpha val="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b="1" dirty="0"/>
                  <a:t>工业领域装备的缺乏</a:t>
                </a:r>
                <a:endParaRPr lang="en-US" dirty="0"/>
              </a:p>
            </p:txBody>
          </p:sp>
          <p:sp>
            <p:nvSpPr>
              <p:cNvPr id="19" name="Text3">
                <a:extLst>
                  <a:ext uri="{FF2B5EF4-FFF2-40B4-BE49-F238E27FC236}">
                    <a16:creationId xmlns:a16="http://schemas.microsoft.com/office/drawing/2014/main" id="{DFF57FE4-F667-41CE-B1BD-92551153A9F8}"/>
                  </a:ext>
                </a:extLst>
              </p:cNvPr>
              <p:cNvSpPr/>
              <p:nvPr/>
            </p:nvSpPr>
            <p:spPr bwMode="auto">
              <a:xfrm>
                <a:off x="6173965" y="5221989"/>
                <a:ext cx="2594502" cy="9248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dirty="0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EF5A073-0346-54B8-097D-EC92C630844E}"/>
                </a:ext>
              </a:extLst>
            </p:cNvPr>
            <p:cNvGrpSpPr/>
            <p:nvPr/>
          </p:nvGrpSpPr>
          <p:grpSpPr>
            <a:xfrm>
              <a:off x="8924398" y="4741690"/>
              <a:ext cx="2594502" cy="1405110"/>
              <a:chOff x="8924398" y="4741690"/>
              <a:chExt cx="2594502" cy="1405110"/>
            </a:xfrm>
          </p:grpSpPr>
          <p:sp>
            <p:nvSpPr>
              <p:cNvPr id="16" name="Bullet4">
                <a:extLst>
                  <a:ext uri="{FF2B5EF4-FFF2-40B4-BE49-F238E27FC236}">
                    <a16:creationId xmlns:a16="http://schemas.microsoft.com/office/drawing/2014/main" id="{B9613CD2-890A-40FD-9082-5875778A16DD}"/>
                  </a:ext>
                </a:extLst>
              </p:cNvPr>
              <p:cNvSpPr txBox="1"/>
              <p:nvPr/>
            </p:nvSpPr>
            <p:spPr bwMode="auto">
              <a:xfrm>
                <a:off x="8924398" y="4741690"/>
                <a:ext cx="2594502" cy="480299"/>
              </a:xfrm>
              <a:prstGeom prst="rect">
                <a:avLst/>
              </a:prstGeom>
              <a:solidFill>
                <a:schemeClr val="tx2">
                  <a:alpha val="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zh-CN" altLang="en-US" b="1" dirty="0"/>
                  <a:t>人才方面的匮乏</a:t>
                </a:r>
                <a:endParaRPr lang="en-US" dirty="0"/>
              </a:p>
            </p:txBody>
          </p:sp>
          <p:sp>
            <p:nvSpPr>
              <p:cNvPr id="17" name="Text4">
                <a:extLst>
                  <a:ext uri="{FF2B5EF4-FFF2-40B4-BE49-F238E27FC236}">
                    <a16:creationId xmlns:a16="http://schemas.microsoft.com/office/drawing/2014/main" id="{6B12CC5D-92A8-4D85-B956-955256C50481}"/>
                  </a:ext>
                </a:extLst>
              </p:cNvPr>
              <p:cNvSpPr/>
              <p:nvPr/>
            </p:nvSpPr>
            <p:spPr bwMode="auto">
              <a:xfrm>
                <a:off x="8924398" y="5221989"/>
                <a:ext cx="2594502" cy="9248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dirty="0"/>
              </a:p>
            </p:txBody>
          </p:sp>
        </p:grpSp>
        <p:cxnSp>
          <p:nvCxnSpPr>
            <p:cNvPr id="12" name="îṩļiḑè">
              <a:extLst>
                <a:ext uri="{FF2B5EF4-FFF2-40B4-BE49-F238E27FC236}">
                  <a16:creationId xmlns:a16="http://schemas.microsoft.com/office/drawing/2014/main" id="{157C2C21-8120-4D54-A96A-C597F377DB44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rot="5400000">
              <a:off x="3703823" y="2343904"/>
              <a:ext cx="664314" cy="4131258"/>
            </a:xfrm>
            <a:prstGeom prst="bentConnector3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îṣľíḑê">
              <a:extLst>
                <a:ext uri="{FF2B5EF4-FFF2-40B4-BE49-F238E27FC236}">
                  <a16:creationId xmlns:a16="http://schemas.microsoft.com/office/drawing/2014/main" id="{F2DB5BB5-57D9-4AD4-8B99-08C753E247FB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rot="5400000">
              <a:off x="5079040" y="3719121"/>
              <a:ext cx="664314" cy="1380825"/>
            </a:xfrm>
            <a:prstGeom prst="bentConnector3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îşḻiḓé">
              <a:extLst>
                <a:ext uri="{FF2B5EF4-FFF2-40B4-BE49-F238E27FC236}">
                  <a16:creationId xmlns:a16="http://schemas.microsoft.com/office/drawing/2014/main" id="{CC5C87B6-F0BD-4F58-85E5-1BC1F30792AD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rot="16200000" flipH="1">
              <a:off x="6454255" y="3724729"/>
              <a:ext cx="664314" cy="1369607"/>
            </a:xfrm>
            <a:prstGeom prst="bentConnector3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íS1ïḋe">
              <a:extLst>
                <a:ext uri="{FF2B5EF4-FFF2-40B4-BE49-F238E27FC236}">
                  <a16:creationId xmlns:a16="http://schemas.microsoft.com/office/drawing/2014/main" id="{D4AD0247-721B-4C0F-81EC-6291607133A4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rot="16200000" flipH="1">
              <a:off x="7829472" y="2349513"/>
              <a:ext cx="664314" cy="4120040"/>
            </a:xfrm>
            <a:prstGeom prst="bentConnector3">
              <a:avLst/>
            </a:prstGeom>
            <a:ln w="6350" cap="rnd">
              <a:solidFill>
                <a:schemeClr val="tx2">
                  <a:alpha val="50000"/>
                </a:schemeClr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itle">
              <a:extLst>
                <a:ext uri="{FF2B5EF4-FFF2-40B4-BE49-F238E27FC236}">
                  <a16:creationId xmlns:a16="http://schemas.microsoft.com/office/drawing/2014/main" id="{7903DCCF-1F20-5F40-29B1-F3C563E07BA6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国家对国产软件的政策支持</a:t>
            </a:r>
            <a:endParaRPr lang="en-US" dirty="0"/>
          </a:p>
        </p:txBody>
      </p:sp>
      <p:grpSp>
        <p:nvGrpSpPr>
          <p:cNvPr id="27" name="diagram9.pptx">
            <a:extLst>
              <a:ext uri="{FF2B5EF4-FFF2-40B4-BE49-F238E27FC236}">
                <a16:creationId xmlns:a16="http://schemas.microsoft.com/office/drawing/2014/main" id="{EE00255E-09C0-A1D1-7B6C-3F447759987B}"/>
              </a:ext>
            </a:extLst>
          </p:cNvPr>
          <p:cNvGrpSpPr/>
          <p:nvPr/>
        </p:nvGrpSpPr>
        <p:grpSpPr>
          <a:xfrm>
            <a:off x="1593734" y="1405651"/>
            <a:ext cx="9004533" cy="4495802"/>
            <a:chOff x="1593734" y="1405651"/>
            <a:chExt cx="9004533" cy="4495802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976A52D-542C-B446-4553-D57EE1A0356B}"/>
                </a:ext>
              </a:extLst>
            </p:cNvPr>
            <p:cNvGrpSpPr/>
            <p:nvPr/>
          </p:nvGrpSpPr>
          <p:grpSpPr>
            <a:xfrm>
              <a:off x="1593734" y="2312995"/>
              <a:ext cx="2459034" cy="2459030"/>
              <a:chOff x="1593734" y="2312995"/>
              <a:chExt cx="2459034" cy="2459030"/>
            </a:xfrm>
          </p:grpSpPr>
          <p:sp>
            <p:nvSpPr>
              <p:cNvPr id="13" name="Title">
                <a:extLst>
                  <a:ext uri="{FF2B5EF4-FFF2-40B4-BE49-F238E27FC236}">
                    <a16:creationId xmlns:a16="http://schemas.microsoft.com/office/drawing/2014/main" id="{0D09A460-5F0E-4065-8C70-A515AE46840D}"/>
                  </a:ext>
                </a:extLst>
              </p:cNvPr>
              <p:cNvSpPr/>
              <p:nvPr/>
            </p:nvSpPr>
            <p:spPr>
              <a:xfrm>
                <a:off x="1593734" y="2312995"/>
                <a:ext cx="2459034" cy="2459030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endParaRPr lang="en-US" dirty="0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2CBCA239-9779-42AC-90AB-F2DDC95DEB40}"/>
                  </a:ext>
                </a:extLst>
              </p:cNvPr>
              <p:cNvGrpSpPr/>
              <p:nvPr/>
            </p:nvGrpSpPr>
            <p:grpSpPr>
              <a:xfrm>
                <a:off x="1747714" y="2466975"/>
                <a:ext cx="2151074" cy="2151070"/>
                <a:chOff x="989863" y="2466975"/>
                <a:chExt cx="2151074" cy="2151070"/>
              </a:xfrm>
            </p:grpSpPr>
            <p:sp>
              <p:nvSpPr>
                <p:cNvPr id="20" name="圆: 空心 19">
                  <a:extLst>
                    <a:ext uri="{FF2B5EF4-FFF2-40B4-BE49-F238E27FC236}">
                      <a16:creationId xmlns:a16="http://schemas.microsoft.com/office/drawing/2014/main" id="{2C08123F-6168-4936-AA18-29402457E6B0}"/>
                    </a:ext>
                  </a:extLst>
                </p:cNvPr>
                <p:cNvSpPr/>
                <p:nvPr/>
              </p:nvSpPr>
              <p:spPr>
                <a:xfrm>
                  <a:off x="989863" y="2466975"/>
                  <a:ext cx="2151074" cy="2151070"/>
                </a:xfrm>
                <a:prstGeom prst="donut">
                  <a:avLst>
                    <a:gd name="adj" fmla="val 17000"/>
                  </a:avLst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1" name="空心弧 20">
                  <a:extLst>
                    <a:ext uri="{FF2B5EF4-FFF2-40B4-BE49-F238E27FC236}">
                      <a16:creationId xmlns:a16="http://schemas.microsoft.com/office/drawing/2014/main" id="{44FB7C40-CBA5-4E13-973D-A4D1C5DA7C72}"/>
                    </a:ext>
                  </a:extLst>
                </p:cNvPr>
                <p:cNvSpPr/>
                <p:nvPr/>
              </p:nvSpPr>
              <p:spPr>
                <a:xfrm>
                  <a:off x="989863" y="2466975"/>
                  <a:ext cx="2151074" cy="2151070"/>
                </a:xfrm>
                <a:prstGeom prst="blockArc">
                  <a:avLst>
                    <a:gd name="adj1" fmla="val 21117331"/>
                    <a:gd name="adj2" fmla="val 9071983"/>
                    <a:gd name="adj3" fmla="val 17000"/>
                  </a:avLst>
                </a:prstGeom>
                <a:solidFill>
                  <a:schemeClr val="bg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2" name="空心弧 21">
                  <a:extLst>
                    <a:ext uri="{FF2B5EF4-FFF2-40B4-BE49-F238E27FC236}">
                      <a16:creationId xmlns:a16="http://schemas.microsoft.com/office/drawing/2014/main" id="{A3AF7259-B20D-461C-8532-A2323026366A}"/>
                    </a:ext>
                  </a:extLst>
                </p:cNvPr>
                <p:cNvSpPr/>
                <p:nvPr/>
              </p:nvSpPr>
              <p:spPr>
                <a:xfrm>
                  <a:off x="989863" y="2466975"/>
                  <a:ext cx="2151074" cy="2151070"/>
                </a:xfrm>
                <a:prstGeom prst="blockArc">
                  <a:avLst>
                    <a:gd name="adj1" fmla="val 17895101"/>
                    <a:gd name="adj2" fmla="val 2443215"/>
                    <a:gd name="adj3" fmla="val 17000"/>
                  </a:avLst>
                </a:prstGeom>
                <a:solidFill>
                  <a:schemeClr val="tx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</p:grp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E045F4D9-9733-4985-9880-5199D67FDE40}"/>
                </a:ext>
              </a:extLst>
            </p:cNvPr>
            <p:cNvCxnSpPr>
              <a:stCxn id="5" idx="2"/>
              <a:endCxn id="13" idx="6"/>
            </p:cNvCxnSpPr>
            <p:nvPr/>
          </p:nvCxnSpPr>
          <p:spPr>
            <a:xfrm flipH="1">
              <a:off x="4052768" y="3542510"/>
              <a:ext cx="1504060" cy="0"/>
            </a:xfrm>
            <a:prstGeom prst="line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D4986E04-2055-4B34-B36A-51C66412F1C0}"/>
                </a:ext>
              </a:extLst>
            </p:cNvPr>
            <p:cNvCxnSpPr>
              <a:stCxn id="7" idx="2"/>
              <a:endCxn id="13" idx="0"/>
            </p:cNvCxnSpPr>
            <p:nvPr/>
          </p:nvCxnSpPr>
          <p:spPr>
            <a:xfrm rot="10800000" flipV="1">
              <a:off x="2823252" y="1901047"/>
              <a:ext cx="2733577" cy="411947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8B195A63-AE3A-473D-92D2-AEF37C0374DC}"/>
                </a:ext>
              </a:extLst>
            </p:cNvPr>
            <p:cNvCxnSpPr>
              <a:stCxn id="3" idx="2"/>
              <a:endCxn id="13" idx="4"/>
            </p:cNvCxnSpPr>
            <p:nvPr/>
          </p:nvCxnSpPr>
          <p:spPr>
            <a:xfrm rot="10800000">
              <a:off x="2823252" y="4772025"/>
              <a:ext cx="2733577" cy="505594"/>
            </a:xfrm>
            <a:prstGeom prst="bentConnector2">
              <a:avLst/>
            </a:prstGeom>
            <a:ln w="12700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0A5E6D20-CC0C-9799-BC3B-11F05221A21D}"/>
                </a:ext>
              </a:extLst>
            </p:cNvPr>
            <p:cNvGrpSpPr/>
            <p:nvPr/>
          </p:nvGrpSpPr>
          <p:grpSpPr>
            <a:xfrm>
              <a:off x="5556828" y="1405651"/>
              <a:ext cx="5041439" cy="1071527"/>
              <a:chOff x="5556828" y="1405651"/>
              <a:chExt cx="5041439" cy="1071527"/>
            </a:xfrm>
          </p:grpSpPr>
          <p:sp>
            <p:nvSpPr>
              <p:cNvPr id="4" name="Bullet1">
                <a:extLst>
                  <a:ext uri="{FF2B5EF4-FFF2-40B4-BE49-F238E27FC236}">
                    <a16:creationId xmlns:a16="http://schemas.microsoft.com/office/drawing/2014/main" id="{132924BF-44AD-4D75-94C5-D3F191C1791B}"/>
                  </a:ext>
                </a:extLst>
              </p:cNvPr>
              <p:cNvSpPr/>
              <p:nvPr/>
            </p:nvSpPr>
            <p:spPr>
              <a:xfrm>
                <a:off x="6579046" y="1408503"/>
                <a:ext cx="4019220" cy="369332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zh-CN" altLang="en-US" b="1" dirty="0"/>
                  <a:t>国家政策支持概述</a:t>
                </a:r>
                <a:endParaRPr lang="en-US" dirty="0"/>
              </a:p>
            </p:txBody>
          </p:sp>
          <p:sp>
            <p:nvSpPr>
              <p:cNvPr id="6" name="Text1">
                <a:extLst>
                  <a:ext uri="{FF2B5EF4-FFF2-40B4-BE49-F238E27FC236}">
                    <a16:creationId xmlns:a16="http://schemas.microsoft.com/office/drawing/2014/main" id="{1257191A-6BCA-4203-9AA9-D33D661F2080}"/>
                  </a:ext>
                </a:extLst>
              </p:cNvPr>
              <p:cNvSpPr/>
              <p:nvPr/>
            </p:nvSpPr>
            <p:spPr>
              <a:xfrm>
                <a:off x="6579047" y="1777835"/>
                <a:ext cx="4019220" cy="699343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国家大力扶持国产软件发展，通过政策引导、资金投入、市场培育等手段，提高国产软件的市场竞争力和技术创新能力。</a:t>
                </a:r>
                <a:endParaRPr lang="en-US" dirty="0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00516200-494F-441A-82E9-D1D3191359EE}"/>
                  </a:ext>
                </a:extLst>
              </p:cNvPr>
              <p:cNvSpPr/>
              <p:nvPr/>
            </p:nvSpPr>
            <p:spPr>
              <a:xfrm>
                <a:off x="5556828" y="1405651"/>
                <a:ext cx="990796" cy="990794"/>
              </a:xfrm>
              <a:prstGeom prst="ellipse">
                <a:avLst/>
              </a:pr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8" name="Icon1">
                <a:extLst>
                  <a:ext uri="{FF2B5EF4-FFF2-40B4-BE49-F238E27FC236}">
                    <a16:creationId xmlns:a16="http://schemas.microsoft.com/office/drawing/2014/main" id="{B30FE1E4-625D-439B-8225-769B1D49CDC1}"/>
                  </a:ext>
                </a:extLst>
              </p:cNvPr>
              <p:cNvSpPr/>
              <p:nvPr/>
            </p:nvSpPr>
            <p:spPr bwMode="auto">
              <a:xfrm>
                <a:off x="5785168" y="1634127"/>
                <a:ext cx="534116" cy="533843"/>
              </a:xfrm>
              <a:custGeom>
                <a:avLst/>
                <a:gdLst>
                  <a:gd name="connsiteX0" fmla="*/ 92075 w 329801"/>
                  <a:gd name="connsiteY0" fmla="*/ 220095 h 329633"/>
                  <a:gd name="connsiteX1" fmla="*/ 92075 w 329801"/>
                  <a:gd name="connsiteY1" fmla="*/ 228033 h 329633"/>
                  <a:gd name="connsiteX2" fmla="*/ 100013 w 329801"/>
                  <a:gd name="connsiteY2" fmla="*/ 228033 h 329633"/>
                  <a:gd name="connsiteX3" fmla="*/ 92075 w 329801"/>
                  <a:gd name="connsiteY3" fmla="*/ 202632 h 329633"/>
                  <a:gd name="connsiteX4" fmla="*/ 92075 w 329801"/>
                  <a:gd name="connsiteY4" fmla="*/ 210570 h 329633"/>
                  <a:gd name="connsiteX5" fmla="*/ 107950 w 329801"/>
                  <a:gd name="connsiteY5" fmla="*/ 228032 h 329633"/>
                  <a:gd name="connsiteX6" fmla="*/ 117475 w 329801"/>
                  <a:gd name="connsiteY6" fmla="*/ 228032 h 329633"/>
                  <a:gd name="connsiteX7" fmla="*/ 92075 w 329801"/>
                  <a:gd name="connsiteY7" fmla="*/ 185170 h 329633"/>
                  <a:gd name="connsiteX8" fmla="*/ 92075 w 329801"/>
                  <a:gd name="connsiteY8" fmla="*/ 194695 h 329633"/>
                  <a:gd name="connsiteX9" fmla="*/ 117475 w 329801"/>
                  <a:gd name="connsiteY9" fmla="*/ 220095 h 329633"/>
                  <a:gd name="connsiteX10" fmla="*/ 117475 w 329801"/>
                  <a:gd name="connsiteY10" fmla="*/ 210570 h 329633"/>
                  <a:gd name="connsiteX11" fmla="*/ 32288 w 329801"/>
                  <a:gd name="connsiteY11" fmla="*/ 177232 h 329633"/>
                  <a:gd name="connsiteX12" fmla="*/ 152400 w 329801"/>
                  <a:gd name="connsiteY12" fmla="*/ 298635 h 329633"/>
                  <a:gd name="connsiteX13" fmla="*/ 149817 w 329801"/>
                  <a:gd name="connsiteY13" fmla="*/ 329632 h 329633"/>
                  <a:gd name="connsiteX14" fmla="*/ 0 w 329801"/>
                  <a:gd name="connsiteY14" fmla="*/ 179815 h 329633"/>
                  <a:gd name="connsiteX15" fmla="*/ 32288 w 329801"/>
                  <a:gd name="connsiteY15" fmla="*/ 177232 h 329633"/>
                  <a:gd name="connsiteX16" fmla="*/ 92075 w 329801"/>
                  <a:gd name="connsiteY16" fmla="*/ 167707 h 329633"/>
                  <a:gd name="connsiteX17" fmla="*/ 92075 w 329801"/>
                  <a:gd name="connsiteY17" fmla="*/ 177232 h 329633"/>
                  <a:gd name="connsiteX18" fmla="*/ 117475 w 329801"/>
                  <a:gd name="connsiteY18" fmla="*/ 202632 h 329633"/>
                  <a:gd name="connsiteX19" fmla="*/ 117475 w 329801"/>
                  <a:gd name="connsiteY19" fmla="*/ 194695 h 329633"/>
                  <a:gd name="connsiteX20" fmla="*/ 109538 w 329801"/>
                  <a:gd name="connsiteY20" fmla="*/ 161357 h 329633"/>
                  <a:gd name="connsiteX21" fmla="*/ 117476 w 329801"/>
                  <a:gd name="connsiteY21" fmla="*/ 169295 h 329633"/>
                  <a:gd name="connsiteX22" fmla="*/ 117476 w 329801"/>
                  <a:gd name="connsiteY22" fmla="*/ 161357 h 329633"/>
                  <a:gd name="connsiteX23" fmla="*/ 92075 w 329801"/>
                  <a:gd name="connsiteY23" fmla="*/ 161357 h 329633"/>
                  <a:gd name="connsiteX24" fmla="*/ 117475 w 329801"/>
                  <a:gd name="connsiteY24" fmla="*/ 186757 h 329633"/>
                  <a:gd name="connsiteX25" fmla="*/ 117475 w 329801"/>
                  <a:gd name="connsiteY25" fmla="*/ 177232 h 329633"/>
                  <a:gd name="connsiteX26" fmla="*/ 100012 w 329801"/>
                  <a:gd name="connsiteY26" fmla="*/ 161357 h 329633"/>
                  <a:gd name="connsiteX27" fmla="*/ 86111 w 329801"/>
                  <a:gd name="connsiteY27" fmla="*/ 150245 h 329633"/>
                  <a:gd name="connsiteX28" fmla="*/ 123439 w 329801"/>
                  <a:gd name="connsiteY28" fmla="*/ 150245 h 329633"/>
                  <a:gd name="connsiteX29" fmla="*/ 128588 w 329801"/>
                  <a:gd name="connsiteY29" fmla="*/ 155381 h 329633"/>
                  <a:gd name="connsiteX30" fmla="*/ 128588 w 329801"/>
                  <a:gd name="connsiteY30" fmla="*/ 232422 h 329633"/>
                  <a:gd name="connsiteX31" fmla="*/ 123439 w 329801"/>
                  <a:gd name="connsiteY31" fmla="*/ 237558 h 329633"/>
                  <a:gd name="connsiteX32" fmla="*/ 86111 w 329801"/>
                  <a:gd name="connsiteY32" fmla="*/ 237558 h 329633"/>
                  <a:gd name="connsiteX33" fmla="*/ 80963 w 329801"/>
                  <a:gd name="connsiteY33" fmla="*/ 232422 h 329633"/>
                  <a:gd name="connsiteX34" fmla="*/ 80963 w 329801"/>
                  <a:gd name="connsiteY34" fmla="*/ 155381 h 329633"/>
                  <a:gd name="connsiteX35" fmla="*/ 86111 w 329801"/>
                  <a:gd name="connsiteY35" fmla="*/ 150245 h 329633"/>
                  <a:gd name="connsiteX36" fmla="*/ 327661 w 329801"/>
                  <a:gd name="connsiteY36" fmla="*/ 137545 h 329633"/>
                  <a:gd name="connsiteX37" fmla="*/ 178802 w 329801"/>
                  <a:gd name="connsiteY37" fmla="*/ 329633 h 329633"/>
                  <a:gd name="connsiteX38" fmla="*/ 176213 w 329801"/>
                  <a:gd name="connsiteY38" fmla="*/ 297404 h 329633"/>
                  <a:gd name="connsiteX39" fmla="*/ 269412 w 329801"/>
                  <a:gd name="connsiteY39" fmla="*/ 247125 h 329633"/>
                  <a:gd name="connsiteX40" fmla="*/ 295300 w 329801"/>
                  <a:gd name="connsiteY40" fmla="*/ 143991 h 329633"/>
                  <a:gd name="connsiteX41" fmla="*/ 327661 w 329801"/>
                  <a:gd name="connsiteY41" fmla="*/ 137545 h 329633"/>
                  <a:gd name="connsiteX42" fmla="*/ 211138 w 329801"/>
                  <a:gd name="connsiteY42" fmla="*/ 132782 h 329633"/>
                  <a:gd name="connsiteX43" fmla="*/ 211138 w 329801"/>
                  <a:gd name="connsiteY43" fmla="*/ 228032 h 329633"/>
                  <a:gd name="connsiteX44" fmla="*/ 236538 w 329801"/>
                  <a:gd name="connsiteY44" fmla="*/ 228032 h 329633"/>
                  <a:gd name="connsiteX45" fmla="*/ 236538 w 329801"/>
                  <a:gd name="connsiteY45" fmla="*/ 132782 h 329633"/>
                  <a:gd name="connsiteX46" fmla="*/ 203587 w 329801"/>
                  <a:gd name="connsiteY46" fmla="*/ 121670 h 329633"/>
                  <a:gd name="connsiteX47" fmla="*/ 240915 w 329801"/>
                  <a:gd name="connsiteY47" fmla="*/ 121670 h 329633"/>
                  <a:gd name="connsiteX48" fmla="*/ 246063 w 329801"/>
                  <a:gd name="connsiteY48" fmla="*/ 126821 h 329633"/>
                  <a:gd name="connsiteX49" fmla="*/ 246063 w 329801"/>
                  <a:gd name="connsiteY49" fmla="*/ 232407 h 329633"/>
                  <a:gd name="connsiteX50" fmla="*/ 240915 w 329801"/>
                  <a:gd name="connsiteY50" fmla="*/ 237558 h 329633"/>
                  <a:gd name="connsiteX51" fmla="*/ 203587 w 329801"/>
                  <a:gd name="connsiteY51" fmla="*/ 237558 h 329633"/>
                  <a:gd name="connsiteX52" fmla="*/ 198438 w 329801"/>
                  <a:gd name="connsiteY52" fmla="*/ 232407 h 329633"/>
                  <a:gd name="connsiteX53" fmla="*/ 198438 w 329801"/>
                  <a:gd name="connsiteY53" fmla="*/ 126821 h 329633"/>
                  <a:gd name="connsiteX54" fmla="*/ 203587 w 329801"/>
                  <a:gd name="connsiteY54" fmla="*/ 121670 h 329633"/>
                  <a:gd name="connsiteX55" fmla="*/ 146403 w 329801"/>
                  <a:gd name="connsiteY55" fmla="*/ 78807 h 329633"/>
                  <a:gd name="connsiteX56" fmla="*/ 182211 w 329801"/>
                  <a:gd name="connsiteY56" fmla="*/ 78807 h 329633"/>
                  <a:gd name="connsiteX57" fmla="*/ 187326 w 329801"/>
                  <a:gd name="connsiteY57" fmla="*/ 83970 h 329633"/>
                  <a:gd name="connsiteX58" fmla="*/ 187326 w 329801"/>
                  <a:gd name="connsiteY58" fmla="*/ 232394 h 329633"/>
                  <a:gd name="connsiteX59" fmla="*/ 182211 w 329801"/>
                  <a:gd name="connsiteY59" fmla="*/ 237557 h 329633"/>
                  <a:gd name="connsiteX60" fmla="*/ 146403 w 329801"/>
                  <a:gd name="connsiteY60" fmla="*/ 237557 h 329633"/>
                  <a:gd name="connsiteX61" fmla="*/ 141288 w 329801"/>
                  <a:gd name="connsiteY61" fmla="*/ 232394 h 329633"/>
                  <a:gd name="connsiteX62" fmla="*/ 141288 w 329801"/>
                  <a:gd name="connsiteY62" fmla="*/ 83970 h 329633"/>
                  <a:gd name="connsiteX63" fmla="*/ 146403 w 329801"/>
                  <a:gd name="connsiteY63" fmla="*/ 78807 h 329633"/>
                  <a:gd name="connsiteX64" fmla="*/ 257930 w 329801"/>
                  <a:gd name="connsiteY64" fmla="*/ 31182 h 329633"/>
                  <a:gd name="connsiteX65" fmla="*/ 319088 w 329801"/>
                  <a:gd name="connsiteY65" fmla="*/ 109775 h 329633"/>
                  <a:gd name="connsiteX66" fmla="*/ 287859 w 329801"/>
                  <a:gd name="connsiteY66" fmla="*/ 120082 h 329633"/>
                  <a:gd name="connsiteX67" fmla="*/ 268340 w 329801"/>
                  <a:gd name="connsiteY67" fmla="*/ 85295 h 329633"/>
                  <a:gd name="connsiteX68" fmla="*/ 239713 w 329801"/>
                  <a:gd name="connsiteY68" fmla="*/ 58238 h 329633"/>
                  <a:gd name="connsiteX69" fmla="*/ 257930 w 329801"/>
                  <a:gd name="connsiteY69" fmla="*/ 31182 h 329633"/>
                  <a:gd name="connsiteX70" fmla="*/ 155199 w 329801"/>
                  <a:gd name="connsiteY70" fmla="*/ 194 h 329633"/>
                  <a:gd name="connsiteX71" fmla="*/ 233363 w 329801"/>
                  <a:gd name="connsiteY71" fmla="*/ 15064 h 329633"/>
                  <a:gd name="connsiteX72" fmla="*/ 219181 w 329801"/>
                  <a:gd name="connsiteY72" fmla="*/ 46097 h 329633"/>
                  <a:gd name="connsiteX73" fmla="*/ 32232 w 329801"/>
                  <a:gd name="connsiteY73" fmla="*/ 153420 h 329633"/>
                  <a:gd name="connsiteX74" fmla="*/ 0 w 329801"/>
                  <a:gd name="connsiteY74" fmla="*/ 150834 h 329633"/>
                  <a:gd name="connsiteX75" fmla="*/ 79936 w 329801"/>
                  <a:gd name="connsiteY75" fmla="*/ 24115 h 329633"/>
                  <a:gd name="connsiteX76" fmla="*/ 155199 w 329801"/>
                  <a:gd name="connsiteY76" fmla="*/ 194 h 329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329801" h="329633">
                    <a:moveTo>
                      <a:pt x="92075" y="220095"/>
                    </a:moveTo>
                    <a:lnTo>
                      <a:pt x="92075" y="228033"/>
                    </a:lnTo>
                    <a:lnTo>
                      <a:pt x="100013" y="228033"/>
                    </a:lnTo>
                    <a:close/>
                    <a:moveTo>
                      <a:pt x="92075" y="202632"/>
                    </a:moveTo>
                    <a:lnTo>
                      <a:pt x="92075" y="210570"/>
                    </a:lnTo>
                    <a:lnTo>
                      <a:pt x="107950" y="228032"/>
                    </a:lnTo>
                    <a:lnTo>
                      <a:pt x="117475" y="228032"/>
                    </a:lnTo>
                    <a:close/>
                    <a:moveTo>
                      <a:pt x="92075" y="185170"/>
                    </a:moveTo>
                    <a:lnTo>
                      <a:pt x="92075" y="194695"/>
                    </a:lnTo>
                    <a:lnTo>
                      <a:pt x="117475" y="220095"/>
                    </a:lnTo>
                    <a:lnTo>
                      <a:pt x="117475" y="210570"/>
                    </a:lnTo>
                    <a:close/>
                    <a:moveTo>
                      <a:pt x="32288" y="177232"/>
                    </a:moveTo>
                    <a:cubicBezTo>
                      <a:pt x="43912" y="246974"/>
                      <a:pt x="83949" y="287012"/>
                      <a:pt x="152400" y="298635"/>
                    </a:cubicBezTo>
                    <a:cubicBezTo>
                      <a:pt x="151108" y="308968"/>
                      <a:pt x="151108" y="319300"/>
                      <a:pt x="149817" y="329632"/>
                    </a:cubicBezTo>
                    <a:cubicBezTo>
                      <a:pt x="61993" y="323174"/>
                      <a:pt x="2583" y="246974"/>
                      <a:pt x="0" y="179815"/>
                    </a:cubicBezTo>
                    <a:cubicBezTo>
                      <a:pt x="10332" y="179815"/>
                      <a:pt x="21956" y="178524"/>
                      <a:pt x="32288" y="177232"/>
                    </a:cubicBezTo>
                    <a:close/>
                    <a:moveTo>
                      <a:pt x="92075" y="167707"/>
                    </a:moveTo>
                    <a:lnTo>
                      <a:pt x="92075" y="177232"/>
                    </a:lnTo>
                    <a:lnTo>
                      <a:pt x="117475" y="202632"/>
                    </a:lnTo>
                    <a:lnTo>
                      <a:pt x="117475" y="194695"/>
                    </a:lnTo>
                    <a:close/>
                    <a:moveTo>
                      <a:pt x="109538" y="161357"/>
                    </a:moveTo>
                    <a:lnTo>
                      <a:pt x="117476" y="169295"/>
                    </a:lnTo>
                    <a:lnTo>
                      <a:pt x="117476" y="161357"/>
                    </a:lnTo>
                    <a:close/>
                    <a:moveTo>
                      <a:pt x="92075" y="161357"/>
                    </a:moveTo>
                    <a:lnTo>
                      <a:pt x="117475" y="186757"/>
                    </a:lnTo>
                    <a:lnTo>
                      <a:pt x="117475" y="177232"/>
                    </a:lnTo>
                    <a:lnTo>
                      <a:pt x="100012" y="161357"/>
                    </a:lnTo>
                    <a:close/>
                    <a:moveTo>
                      <a:pt x="86111" y="150245"/>
                    </a:moveTo>
                    <a:lnTo>
                      <a:pt x="123439" y="150245"/>
                    </a:lnTo>
                    <a:cubicBezTo>
                      <a:pt x="126013" y="150245"/>
                      <a:pt x="128588" y="152813"/>
                      <a:pt x="128588" y="155381"/>
                    </a:cubicBezTo>
                    <a:cubicBezTo>
                      <a:pt x="128588" y="155381"/>
                      <a:pt x="128588" y="155381"/>
                      <a:pt x="128588" y="232422"/>
                    </a:cubicBezTo>
                    <a:cubicBezTo>
                      <a:pt x="128588" y="236274"/>
                      <a:pt x="126013" y="237558"/>
                      <a:pt x="123439" y="237558"/>
                    </a:cubicBezTo>
                    <a:cubicBezTo>
                      <a:pt x="123439" y="237558"/>
                      <a:pt x="123439" y="237558"/>
                      <a:pt x="86111" y="237558"/>
                    </a:cubicBezTo>
                    <a:cubicBezTo>
                      <a:pt x="83537" y="237558"/>
                      <a:pt x="80963" y="236274"/>
                      <a:pt x="80963" y="232422"/>
                    </a:cubicBezTo>
                    <a:cubicBezTo>
                      <a:pt x="80963" y="232422"/>
                      <a:pt x="80963" y="232422"/>
                      <a:pt x="80963" y="155381"/>
                    </a:cubicBezTo>
                    <a:cubicBezTo>
                      <a:pt x="80963" y="152813"/>
                      <a:pt x="83537" y="150245"/>
                      <a:pt x="86111" y="150245"/>
                    </a:cubicBezTo>
                    <a:close/>
                    <a:moveTo>
                      <a:pt x="327661" y="137545"/>
                    </a:moveTo>
                    <a:cubicBezTo>
                      <a:pt x="344488" y="247125"/>
                      <a:pt x="259056" y="327055"/>
                      <a:pt x="178802" y="329633"/>
                    </a:cubicBezTo>
                    <a:cubicBezTo>
                      <a:pt x="177508" y="319320"/>
                      <a:pt x="177508" y="309006"/>
                      <a:pt x="176213" y="297404"/>
                    </a:cubicBezTo>
                    <a:cubicBezTo>
                      <a:pt x="213752" y="293536"/>
                      <a:pt x="246112" y="276777"/>
                      <a:pt x="269412" y="247125"/>
                    </a:cubicBezTo>
                    <a:cubicBezTo>
                      <a:pt x="292711" y="216185"/>
                      <a:pt x="300478" y="181377"/>
                      <a:pt x="295300" y="143991"/>
                    </a:cubicBezTo>
                    <a:cubicBezTo>
                      <a:pt x="305656" y="141413"/>
                      <a:pt x="316011" y="140123"/>
                      <a:pt x="327661" y="137545"/>
                    </a:cubicBezTo>
                    <a:close/>
                    <a:moveTo>
                      <a:pt x="211138" y="132782"/>
                    </a:moveTo>
                    <a:lnTo>
                      <a:pt x="211138" y="228032"/>
                    </a:lnTo>
                    <a:lnTo>
                      <a:pt x="236538" y="228032"/>
                    </a:lnTo>
                    <a:lnTo>
                      <a:pt x="236538" y="132782"/>
                    </a:lnTo>
                    <a:close/>
                    <a:moveTo>
                      <a:pt x="203587" y="121670"/>
                    </a:moveTo>
                    <a:lnTo>
                      <a:pt x="240915" y="121670"/>
                    </a:lnTo>
                    <a:cubicBezTo>
                      <a:pt x="243489" y="121670"/>
                      <a:pt x="246063" y="124245"/>
                      <a:pt x="246063" y="126821"/>
                    </a:cubicBezTo>
                    <a:cubicBezTo>
                      <a:pt x="246063" y="126821"/>
                      <a:pt x="246063" y="126821"/>
                      <a:pt x="246063" y="232407"/>
                    </a:cubicBezTo>
                    <a:cubicBezTo>
                      <a:pt x="246063" y="236270"/>
                      <a:pt x="243489" y="237558"/>
                      <a:pt x="240915" y="237558"/>
                    </a:cubicBezTo>
                    <a:cubicBezTo>
                      <a:pt x="240915" y="237558"/>
                      <a:pt x="240915" y="237558"/>
                      <a:pt x="203587" y="237558"/>
                    </a:cubicBezTo>
                    <a:cubicBezTo>
                      <a:pt x="201013" y="237558"/>
                      <a:pt x="198438" y="236270"/>
                      <a:pt x="198438" y="232407"/>
                    </a:cubicBezTo>
                    <a:cubicBezTo>
                      <a:pt x="198438" y="232407"/>
                      <a:pt x="198438" y="232407"/>
                      <a:pt x="198438" y="126821"/>
                    </a:cubicBezTo>
                    <a:cubicBezTo>
                      <a:pt x="198438" y="124245"/>
                      <a:pt x="201013" y="121670"/>
                      <a:pt x="203587" y="121670"/>
                    </a:cubicBezTo>
                    <a:close/>
                    <a:moveTo>
                      <a:pt x="146403" y="78807"/>
                    </a:moveTo>
                    <a:lnTo>
                      <a:pt x="182211" y="78807"/>
                    </a:lnTo>
                    <a:cubicBezTo>
                      <a:pt x="186047" y="78807"/>
                      <a:pt x="187326" y="80098"/>
                      <a:pt x="187326" y="83970"/>
                    </a:cubicBezTo>
                    <a:cubicBezTo>
                      <a:pt x="187326" y="83970"/>
                      <a:pt x="187326" y="83970"/>
                      <a:pt x="187326" y="232394"/>
                    </a:cubicBezTo>
                    <a:cubicBezTo>
                      <a:pt x="187326" y="236266"/>
                      <a:pt x="186047" y="237557"/>
                      <a:pt x="182211" y="237557"/>
                    </a:cubicBezTo>
                    <a:cubicBezTo>
                      <a:pt x="182211" y="237557"/>
                      <a:pt x="182211" y="237557"/>
                      <a:pt x="146403" y="237557"/>
                    </a:cubicBezTo>
                    <a:cubicBezTo>
                      <a:pt x="142567" y="237557"/>
                      <a:pt x="141288" y="236266"/>
                      <a:pt x="141288" y="232394"/>
                    </a:cubicBezTo>
                    <a:cubicBezTo>
                      <a:pt x="141288" y="232394"/>
                      <a:pt x="141288" y="232394"/>
                      <a:pt x="141288" y="83970"/>
                    </a:cubicBezTo>
                    <a:cubicBezTo>
                      <a:pt x="141288" y="80098"/>
                      <a:pt x="142567" y="78807"/>
                      <a:pt x="146403" y="78807"/>
                    </a:cubicBezTo>
                    <a:close/>
                    <a:moveTo>
                      <a:pt x="257930" y="31182"/>
                    </a:moveTo>
                    <a:cubicBezTo>
                      <a:pt x="286558" y="51796"/>
                      <a:pt x="306076" y="77565"/>
                      <a:pt x="319088" y="109775"/>
                    </a:cubicBezTo>
                    <a:cubicBezTo>
                      <a:pt x="308678" y="113640"/>
                      <a:pt x="298269" y="117505"/>
                      <a:pt x="287859" y="120082"/>
                    </a:cubicBezTo>
                    <a:cubicBezTo>
                      <a:pt x="282654" y="107198"/>
                      <a:pt x="276148" y="95602"/>
                      <a:pt x="268340" y="85295"/>
                    </a:cubicBezTo>
                    <a:cubicBezTo>
                      <a:pt x="259232" y="74988"/>
                      <a:pt x="250123" y="65969"/>
                      <a:pt x="239713" y="58238"/>
                    </a:cubicBezTo>
                    <a:cubicBezTo>
                      <a:pt x="244918" y="49220"/>
                      <a:pt x="251424" y="40201"/>
                      <a:pt x="257930" y="31182"/>
                    </a:cubicBezTo>
                    <a:close/>
                    <a:moveTo>
                      <a:pt x="155199" y="194"/>
                    </a:moveTo>
                    <a:cubicBezTo>
                      <a:pt x="180825" y="-1099"/>
                      <a:pt x="206933" y="4073"/>
                      <a:pt x="233363" y="15064"/>
                    </a:cubicBezTo>
                    <a:cubicBezTo>
                      <a:pt x="228206" y="25408"/>
                      <a:pt x="224338" y="35753"/>
                      <a:pt x="219181" y="46097"/>
                    </a:cubicBezTo>
                    <a:cubicBezTo>
                      <a:pt x="130219" y="6012"/>
                      <a:pt x="37389" y="69372"/>
                      <a:pt x="32232" y="153420"/>
                    </a:cubicBezTo>
                    <a:cubicBezTo>
                      <a:pt x="21918" y="153420"/>
                      <a:pt x="10314" y="152127"/>
                      <a:pt x="0" y="150834"/>
                    </a:cubicBezTo>
                    <a:cubicBezTo>
                      <a:pt x="6446" y="95233"/>
                      <a:pt x="32232" y="52562"/>
                      <a:pt x="79936" y="24115"/>
                    </a:cubicBezTo>
                    <a:cubicBezTo>
                      <a:pt x="104433" y="9245"/>
                      <a:pt x="129574" y="1487"/>
                      <a:pt x="155199" y="1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019C9F6-26C4-BF71-8D91-225768FDDE45}"/>
                </a:ext>
              </a:extLst>
            </p:cNvPr>
            <p:cNvGrpSpPr/>
            <p:nvPr/>
          </p:nvGrpSpPr>
          <p:grpSpPr>
            <a:xfrm>
              <a:off x="5556828" y="3047113"/>
              <a:ext cx="5041439" cy="1105787"/>
              <a:chOff x="5556828" y="3047113"/>
              <a:chExt cx="5041439" cy="110578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B8C0A8EE-C703-45CD-8CBC-8628F3947612}"/>
                  </a:ext>
                </a:extLst>
              </p:cNvPr>
              <p:cNvSpPr/>
              <p:nvPr/>
            </p:nvSpPr>
            <p:spPr>
              <a:xfrm>
                <a:off x="5556828" y="3047113"/>
                <a:ext cx="990796" cy="990794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8" name="Icon2">
                <a:extLst>
                  <a:ext uri="{FF2B5EF4-FFF2-40B4-BE49-F238E27FC236}">
                    <a16:creationId xmlns:a16="http://schemas.microsoft.com/office/drawing/2014/main" id="{8625FD5D-725B-4C39-AC47-889099F8E17B}"/>
                  </a:ext>
                </a:extLst>
              </p:cNvPr>
              <p:cNvSpPr/>
              <p:nvPr/>
            </p:nvSpPr>
            <p:spPr bwMode="auto">
              <a:xfrm>
                <a:off x="5785168" y="3275589"/>
                <a:ext cx="534116" cy="533843"/>
              </a:xfrm>
              <a:custGeom>
                <a:avLst/>
                <a:gdLst>
                  <a:gd name="connsiteX0" fmla="*/ 92075 w 329801"/>
                  <a:gd name="connsiteY0" fmla="*/ 220095 h 329633"/>
                  <a:gd name="connsiteX1" fmla="*/ 92075 w 329801"/>
                  <a:gd name="connsiteY1" fmla="*/ 228033 h 329633"/>
                  <a:gd name="connsiteX2" fmla="*/ 100013 w 329801"/>
                  <a:gd name="connsiteY2" fmla="*/ 228033 h 329633"/>
                  <a:gd name="connsiteX3" fmla="*/ 92075 w 329801"/>
                  <a:gd name="connsiteY3" fmla="*/ 202632 h 329633"/>
                  <a:gd name="connsiteX4" fmla="*/ 92075 w 329801"/>
                  <a:gd name="connsiteY4" fmla="*/ 210570 h 329633"/>
                  <a:gd name="connsiteX5" fmla="*/ 107950 w 329801"/>
                  <a:gd name="connsiteY5" fmla="*/ 228032 h 329633"/>
                  <a:gd name="connsiteX6" fmla="*/ 117475 w 329801"/>
                  <a:gd name="connsiteY6" fmla="*/ 228032 h 329633"/>
                  <a:gd name="connsiteX7" fmla="*/ 92075 w 329801"/>
                  <a:gd name="connsiteY7" fmla="*/ 185170 h 329633"/>
                  <a:gd name="connsiteX8" fmla="*/ 92075 w 329801"/>
                  <a:gd name="connsiteY8" fmla="*/ 194695 h 329633"/>
                  <a:gd name="connsiteX9" fmla="*/ 117475 w 329801"/>
                  <a:gd name="connsiteY9" fmla="*/ 220095 h 329633"/>
                  <a:gd name="connsiteX10" fmla="*/ 117475 w 329801"/>
                  <a:gd name="connsiteY10" fmla="*/ 210570 h 329633"/>
                  <a:gd name="connsiteX11" fmla="*/ 32288 w 329801"/>
                  <a:gd name="connsiteY11" fmla="*/ 177232 h 329633"/>
                  <a:gd name="connsiteX12" fmla="*/ 152400 w 329801"/>
                  <a:gd name="connsiteY12" fmla="*/ 298635 h 329633"/>
                  <a:gd name="connsiteX13" fmla="*/ 149817 w 329801"/>
                  <a:gd name="connsiteY13" fmla="*/ 329632 h 329633"/>
                  <a:gd name="connsiteX14" fmla="*/ 0 w 329801"/>
                  <a:gd name="connsiteY14" fmla="*/ 179815 h 329633"/>
                  <a:gd name="connsiteX15" fmla="*/ 32288 w 329801"/>
                  <a:gd name="connsiteY15" fmla="*/ 177232 h 329633"/>
                  <a:gd name="connsiteX16" fmla="*/ 92075 w 329801"/>
                  <a:gd name="connsiteY16" fmla="*/ 167707 h 329633"/>
                  <a:gd name="connsiteX17" fmla="*/ 92075 w 329801"/>
                  <a:gd name="connsiteY17" fmla="*/ 177232 h 329633"/>
                  <a:gd name="connsiteX18" fmla="*/ 117475 w 329801"/>
                  <a:gd name="connsiteY18" fmla="*/ 202632 h 329633"/>
                  <a:gd name="connsiteX19" fmla="*/ 117475 w 329801"/>
                  <a:gd name="connsiteY19" fmla="*/ 194695 h 329633"/>
                  <a:gd name="connsiteX20" fmla="*/ 109538 w 329801"/>
                  <a:gd name="connsiteY20" fmla="*/ 161357 h 329633"/>
                  <a:gd name="connsiteX21" fmla="*/ 117476 w 329801"/>
                  <a:gd name="connsiteY21" fmla="*/ 169295 h 329633"/>
                  <a:gd name="connsiteX22" fmla="*/ 117476 w 329801"/>
                  <a:gd name="connsiteY22" fmla="*/ 161357 h 329633"/>
                  <a:gd name="connsiteX23" fmla="*/ 92075 w 329801"/>
                  <a:gd name="connsiteY23" fmla="*/ 161357 h 329633"/>
                  <a:gd name="connsiteX24" fmla="*/ 117475 w 329801"/>
                  <a:gd name="connsiteY24" fmla="*/ 186757 h 329633"/>
                  <a:gd name="connsiteX25" fmla="*/ 117475 w 329801"/>
                  <a:gd name="connsiteY25" fmla="*/ 177232 h 329633"/>
                  <a:gd name="connsiteX26" fmla="*/ 100012 w 329801"/>
                  <a:gd name="connsiteY26" fmla="*/ 161357 h 329633"/>
                  <a:gd name="connsiteX27" fmla="*/ 86111 w 329801"/>
                  <a:gd name="connsiteY27" fmla="*/ 150245 h 329633"/>
                  <a:gd name="connsiteX28" fmla="*/ 123439 w 329801"/>
                  <a:gd name="connsiteY28" fmla="*/ 150245 h 329633"/>
                  <a:gd name="connsiteX29" fmla="*/ 128588 w 329801"/>
                  <a:gd name="connsiteY29" fmla="*/ 155381 h 329633"/>
                  <a:gd name="connsiteX30" fmla="*/ 128588 w 329801"/>
                  <a:gd name="connsiteY30" fmla="*/ 232422 h 329633"/>
                  <a:gd name="connsiteX31" fmla="*/ 123439 w 329801"/>
                  <a:gd name="connsiteY31" fmla="*/ 237558 h 329633"/>
                  <a:gd name="connsiteX32" fmla="*/ 86111 w 329801"/>
                  <a:gd name="connsiteY32" fmla="*/ 237558 h 329633"/>
                  <a:gd name="connsiteX33" fmla="*/ 80963 w 329801"/>
                  <a:gd name="connsiteY33" fmla="*/ 232422 h 329633"/>
                  <a:gd name="connsiteX34" fmla="*/ 80963 w 329801"/>
                  <a:gd name="connsiteY34" fmla="*/ 155381 h 329633"/>
                  <a:gd name="connsiteX35" fmla="*/ 86111 w 329801"/>
                  <a:gd name="connsiteY35" fmla="*/ 150245 h 329633"/>
                  <a:gd name="connsiteX36" fmla="*/ 327661 w 329801"/>
                  <a:gd name="connsiteY36" fmla="*/ 137545 h 329633"/>
                  <a:gd name="connsiteX37" fmla="*/ 178802 w 329801"/>
                  <a:gd name="connsiteY37" fmla="*/ 329633 h 329633"/>
                  <a:gd name="connsiteX38" fmla="*/ 176213 w 329801"/>
                  <a:gd name="connsiteY38" fmla="*/ 297404 h 329633"/>
                  <a:gd name="connsiteX39" fmla="*/ 269412 w 329801"/>
                  <a:gd name="connsiteY39" fmla="*/ 247125 h 329633"/>
                  <a:gd name="connsiteX40" fmla="*/ 295300 w 329801"/>
                  <a:gd name="connsiteY40" fmla="*/ 143991 h 329633"/>
                  <a:gd name="connsiteX41" fmla="*/ 327661 w 329801"/>
                  <a:gd name="connsiteY41" fmla="*/ 137545 h 329633"/>
                  <a:gd name="connsiteX42" fmla="*/ 211138 w 329801"/>
                  <a:gd name="connsiteY42" fmla="*/ 132782 h 329633"/>
                  <a:gd name="connsiteX43" fmla="*/ 211138 w 329801"/>
                  <a:gd name="connsiteY43" fmla="*/ 228032 h 329633"/>
                  <a:gd name="connsiteX44" fmla="*/ 236538 w 329801"/>
                  <a:gd name="connsiteY44" fmla="*/ 228032 h 329633"/>
                  <a:gd name="connsiteX45" fmla="*/ 236538 w 329801"/>
                  <a:gd name="connsiteY45" fmla="*/ 132782 h 329633"/>
                  <a:gd name="connsiteX46" fmla="*/ 203587 w 329801"/>
                  <a:gd name="connsiteY46" fmla="*/ 121670 h 329633"/>
                  <a:gd name="connsiteX47" fmla="*/ 240915 w 329801"/>
                  <a:gd name="connsiteY47" fmla="*/ 121670 h 329633"/>
                  <a:gd name="connsiteX48" fmla="*/ 246063 w 329801"/>
                  <a:gd name="connsiteY48" fmla="*/ 126821 h 329633"/>
                  <a:gd name="connsiteX49" fmla="*/ 246063 w 329801"/>
                  <a:gd name="connsiteY49" fmla="*/ 232407 h 329633"/>
                  <a:gd name="connsiteX50" fmla="*/ 240915 w 329801"/>
                  <a:gd name="connsiteY50" fmla="*/ 237558 h 329633"/>
                  <a:gd name="connsiteX51" fmla="*/ 203587 w 329801"/>
                  <a:gd name="connsiteY51" fmla="*/ 237558 h 329633"/>
                  <a:gd name="connsiteX52" fmla="*/ 198438 w 329801"/>
                  <a:gd name="connsiteY52" fmla="*/ 232407 h 329633"/>
                  <a:gd name="connsiteX53" fmla="*/ 198438 w 329801"/>
                  <a:gd name="connsiteY53" fmla="*/ 126821 h 329633"/>
                  <a:gd name="connsiteX54" fmla="*/ 203587 w 329801"/>
                  <a:gd name="connsiteY54" fmla="*/ 121670 h 329633"/>
                  <a:gd name="connsiteX55" fmla="*/ 146403 w 329801"/>
                  <a:gd name="connsiteY55" fmla="*/ 78807 h 329633"/>
                  <a:gd name="connsiteX56" fmla="*/ 182211 w 329801"/>
                  <a:gd name="connsiteY56" fmla="*/ 78807 h 329633"/>
                  <a:gd name="connsiteX57" fmla="*/ 187326 w 329801"/>
                  <a:gd name="connsiteY57" fmla="*/ 83970 h 329633"/>
                  <a:gd name="connsiteX58" fmla="*/ 187326 w 329801"/>
                  <a:gd name="connsiteY58" fmla="*/ 232394 h 329633"/>
                  <a:gd name="connsiteX59" fmla="*/ 182211 w 329801"/>
                  <a:gd name="connsiteY59" fmla="*/ 237557 h 329633"/>
                  <a:gd name="connsiteX60" fmla="*/ 146403 w 329801"/>
                  <a:gd name="connsiteY60" fmla="*/ 237557 h 329633"/>
                  <a:gd name="connsiteX61" fmla="*/ 141288 w 329801"/>
                  <a:gd name="connsiteY61" fmla="*/ 232394 h 329633"/>
                  <a:gd name="connsiteX62" fmla="*/ 141288 w 329801"/>
                  <a:gd name="connsiteY62" fmla="*/ 83970 h 329633"/>
                  <a:gd name="connsiteX63" fmla="*/ 146403 w 329801"/>
                  <a:gd name="connsiteY63" fmla="*/ 78807 h 329633"/>
                  <a:gd name="connsiteX64" fmla="*/ 257930 w 329801"/>
                  <a:gd name="connsiteY64" fmla="*/ 31182 h 329633"/>
                  <a:gd name="connsiteX65" fmla="*/ 319088 w 329801"/>
                  <a:gd name="connsiteY65" fmla="*/ 109775 h 329633"/>
                  <a:gd name="connsiteX66" fmla="*/ 287859 w 329801"/>
                  <a:gd name="connsiteY66" fmla="*/ 120082 h 329633"/>
                  <a:gd name="connsiteX67" fmla="*/ 268340 w 329801"/>
                  <a:gd name="connsiteY67" fmla="*/ 85295 h 329633"/>
                  <a:gd name="connsiteX68" fmla="*/ 239713 w 329801"/>
                  <a:gd name="connsiteY68" fmla="*/ 58238 h 329633"/>
                  <a:gd name="connsiteX69" fmla="*/ 257930 w 329801"/>
                  <a:gd name="connsiteY69" fmla="*/ 31182 h 329633"/>
                  <a:gd name="connsiteX70" fmla="*/ 155199 w 329801"/>
                  <a:gd name="connsiteY70" fmla="*/ 194 h 329633"/>
                  <a:gd name="connsiteX71" fmla="*/ 233363 w 329801"/>
                  <a:gd name="connsiteY71" fmla="*/ 15064 h 329633"/>
                  <a:gd name="connsiteX72" fmla="*/ 219181 w 329801"/>
                  <a:gd name="connsiteY72" fmla="*/ 46097 h 329633"/>
                  <a:gd name="connsiteX73" fmla="*/ 32232 w 329801"/>
                  <a:gd name="connsiteY73" fmla="*/ 153420 h 329633"/>
                  <a:gd name="connsiteX74" fmla="*/ 0 w 329801"/>
                  <a:gd name="connsiteY74" fmla="*/ 150834 h 329633"/>
                  <a:gd name="connsiteX75" fmla="*/ 79936 w 329801"/>
                  <a:gd name="connsiteY75" fmla="*/ 24115 h 329633"/>
                  <a:gd name="connsiteX76" fmla="*/ 155199 w 329801"/>
                  <a:gd name="connsiteY76" fmla="*/ 194 h 329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329801" h="329633">
                    <a:moveTo>
                      <a:pt x="92075" y="220095"/>
                    </a:moveTo>
                    <a:lnTo>
                      <a:pt x="92075" y="228033"/>
                    </a:lnTo>
                    <a:lnTo>
                      <a:pt x="100013" y="228033"/>
                    </a:lnTo>
                    <a:close/>
                    <a:moveTo>
                      <a:pt x="92075" y="202632"/>
                    </a:moveTo>
                    <a:lnTo>
                      <a:pt x="92075" y="210570"/>
                    </a:lnTo>
                    <a:lnTo>
                      <a:pt x="107950" y="228032"/>
                    </a:lnTo>
                    <a:lnTo>
                      <a:pt x="117475" y="228032"/>
                    </a:lnTo>
                    <a:close/>
                    <a:moveTo>
                      <a:pt x="92075" y="185170"/>
                    </a:moveTo>
                    <a:lnTo>
                      <a:pt x="92075" y="194695"/>
                    </a:lnTo>
                    <a:lnTo>
                      <a:pt x="117475" y="220095"/>
                    </a:lnTo>
                    <a:lnTo>
                      <a:pt x="117475" y="210570"/>
                    </a:lnTo>
                    <a:close/>
                    <a:moveTo>
                      <a:pt x="32288" y="177232"/>
                    </a:moveTo>
                    <a:cubicBezTo>
                      <a:pt x="43912" y="246974"/>
                      <a:pt x="83949" y="287012"/>
                      <a:pt x="152400" y="298635"/>
                    </a:cubicBezTo>
                    <a:cubicBezTo>
                      <a:pt x="151108" y="308968"/>
                      <a:pt x="151108" y="319300"/>
                      <a:pt x="149817" y="329632"/>
                    </a:cubicBezTo>
                    <a:cubicBezTo>
                      <a:pt x="61993" y="323174"/>
                      <a:pt x="2583" y="246974"/>
                      <a:pt x="0" y="179815"/>
                    </a:cubicBezTo>
                    <a:cubicBezTo>
                      <a:pt x="10332" y="179815"/>
                      <a:pt x="21956" y="178524"/>
                      <a:pt x="32288" y="177232"/>
                    </a:cubicBezTo>
                    <a:close/>
                    <a:moveTo>
                      <a:pt x="92075" y="167707"/>
                    </a:moveTo>
                    <a:lnTo>
                      <a:pt x="92075" y="177232"/>
                    </a:lnTo>
                    <a:lnTo>
                      <a:pt x="117475" y="202632"/>
                    </a:lnTo>
                    <a:lnTo>
                      <a:pt x="117475" y="194695"/>
                    </a:lnTo>
                    <a:close/>
                    <a:moveTo>
                      <a:pt x="109538" y="161357"/>
                    </a:moveTo>
                    <a:lnTo>
                      <a:pt x="117476" y="169295"/>
                    </a:lnTo>
                    <a:lnTo>
                      <a:pt x="117476" y="161357"/>
                    </a:lnTo>
                    <a:close/>
                    <a:moveTo>
                      <a:pt x="92075" y="161357"/>
                    </a:moveTo>
                    <a:lnTo>
                      <a:pt x="117475" y="186757"/>
                    </a:lnTo>
                    <a:lnTo>
                      <a:pt x="117475" y="177232"/>
                    </a:lnTo>
                    <a:lnTo>
                      <a:pt x="100012" y="161357"/>
                    </a:lnTo>
                    <a:close/>
                    <a:moveTo>
                      <a:pt x="86111" y="150245"/>
                    </a:moveTo>
                    <a:lnTo>
                      <a:pt x="123439" y="150245"/>
                    </a:lnTo>
                    <a:cubicBezTo>
                      <a:pt x="126013" y="150245"/>
                      <a:pt x="128588" y="152813"/>
                      <a:pt x="128588" y="155381"/>
                    </a:cubicBezTo>
                    <a:cubicBezTo>
                      <a:pt x="128588" y="155381"/>
                      <a:pt x="128588" y="155381"/>
                      <a:pt x="128588" y="232422"/>
                    </a:cubicBezTo>
                    <a:cubicBezTo>
                      <a:pt x="128588" y="236274"/>
                      <a:pt x="126013" y="237558"/>
                      <a:pt x="123439" y="237558"/>
                    </a:cubicBezTo>
                    <a:cubicBezTo>
                      <a:pt x="123439" y="237558"/>
                      <a:pt x="123439" y="237558"/>
                      <a:pt x="86111" y="237558"/>
                    </a:cubicBezTo>
                    <a:cubicBezTo>
                      <a:pt x="83537" y="237558"/>
                      <a:pt x="80963" y="236274"/>
                      <a:pt x="80963" y="232422"/>
                    </a:cubicBezTo>
                    <a:cubicBezTo>
                      <a:pt x="80963" y="232422"/>
                      <a:pt x="80963" y="232422"/>
                      <a:pt x="80963" y="155381"/>
                    </a:cubicBezTo>
                    <a:cubicBezTo>
                      <a:pt x="80963" y="152813"/>
                      <a:pt x="83537" y="150245"/>
                      <a:pt x="86111" y="150245"/>
                    </a:cubicBezTo>
                    <a:close/>
                    <a:moveTo>
                      <a:pt x="327661" y="137545"/>
                    </a:moveTo>
                    <a:cubicBezTo>
                      <a:pt x="344488" y="247125"/>
                      <a:pt x="259056" y="327055"/>
                      <a:pt x="178802" y="329633"/>
                    </a:cubicBezTo>
                    <a:cubicBezTo>
                      <a:pt x="177508" y="319320"/>
                      <a:pt x="177508" y="309006"/>
                      <a:pt x="176213" y="297404"/>
                    </a:cubicBezTo>
                    <a:cubicBezTo>
                      <a:pt x="213752" y="293536"/>
                      <a:pt x="246112" y="276777"/>
                      <a:pt x="269412" y="247125"/>
                    </a:cubicBezTo>
                    <a:cubicBezTo>
                      <a:pt x="292711" y="216185"/>
                      <a:pt x="300478" y="181377"/>
                      <a:pt x="295300" y="143991"/>
                    </a:cubicBezTo>
                    <a:cubicBezTo>
                      <a:pt x="305656" y="141413"/>
                      <a:pt x="316011" y="140123"/>
                      <a:pt x="327661" y="137545"/>
                    </a:cubicBezTo>
                    <a:close/>
                    <a:moveTo>
                      <a:pt x="211138" y="132782"/>
                    </a:moveTo>
                    <a:lnTo>
                      <a:pt x="211138" y="228032"/>
                    </a:lnTo>
                    <a:lnTo>
                      <a:pt x="236538" y="228032"/>
                    </a:lnTo>
                    <a:lnTo>
                      <a:pt x="236538" y="132782"/>
                    </a:lnTo>
                    <a:close/>
                    <a:moveTo>
                      <a:pt x="203587" y="121670"/>
                    </a:moveTo>
                    <a:lnTo>
                      <a:pt x="240915" y="121670"/>
                    </a:lnTo>
                    <a:cubicBezTo>
                      <a:pt x="243489" y="121670"/>
                      <a:pt x="246063" y="124245"/>
                      <a:pt x="246063" y="126821"/>
                    </a:cubicBezTo>
                    <a:cubicBezTo>
                      <a:pt x="246063" y="126821"/>
                      <a:pt x="246063" y="126821"/>
                      <a:pt x="246063" y="232407"/>
                    </a:cubicBezTo>
                    <a:cubicBezTo>
                      <a:pt x="246063" y="236270"/>
                      <a:pt x="243489" y="237558"/>
                      <a:pt x="240915" y="237558"/>
                    </a:cubicBezTo>
                    <a:cubicBezTo>
                      <a:pt x="240915" y="237558"/>
                      <a:pt x="240915" y="237558"/>
                      <a:pt x="203587" y="237558"/>
                    </a:cubicBezTo>
                    <a:cubicBezTo>
                      <a:pt x="201013" y="237558"/>
                      <a:pt x="198438" y="236270"/>
                      <a:pt x="198438" y="232407"/>
                    </a:cubicBezTo>
                    <a:cubicBezTo>
                      <a:pt x="198438" y="232407"/>
                      <a:pt x="198438" y="232407"/>
                      <a:pt x="198438" y="126821"/>
                    </a:cubicBezTo>
                    <a:cubicBezTo>
                      <a:pt x="198438" y="124245"/>
                      <a:pt x="201013" y="121670"/>
                      <a:pt x="203587" y="121670"/>
                    </a:cubicBezTo>
                    <a:close/>
                    <a:moveTo>
                      <a:pt x="146403" y="78807"/>
                    </a:moveTo>
                    <a:lnTo>
                      <a:pt x="182211" y="78807"/>
                    </a:lnTo>
                    <a:cubicBezTo>
                      <a:pt x="186047" y="78807"/>
                      <a:pt x="187326" y="80098"/>
                      <a:pt x="187326" y="83970"/>
                    </a:cubicBezTo>
                    <a:cubicBezTo>
                      <a:pt x="187326" y="83970"/>
                      <a:pt x="187326" y="83970"/>
                      <a:pt x="187326" y="232394"/>
                    </a:cubicBezTo>
                    <a:cubicBezTo>
                      <a:pt x="187326" y="236266"/>
                      <a:pt x="186047" y="237557"/>
                      <a:pt x="182211" y="237557"/>
                    </a:cubicBezTo>
                    <a:cubicBezTo>
                      <a:pt x="182211" y="237557"/>
                      <a:pt x="182211" y="237557"/>
                      <a:pt x="146403" y="237557"/>
                    </a:cubicBezTo>
                    <a:cubicBezTo>
                      <a:pt x="142567" y="237557"/>
                      <a:pt x="141288" y="236266"/>
                      <a:pt x="141288" y="232394"/>
                    </a:cubicBezTo>
                    <a:cubicBezTo>
                      <a:pt x="141288" y="232394"/>
                      <a:pt x="141288" y="232394"/>
                      <a:pt x="141288" y="83970"/>
                    </a:cubicBezTo>
                    <a:cubicBezTo>
                      <a:pt x="141288" y="80098"/>
                      <a:pt x="142567" y="78807"/>
                      <a:pt x="146403" y="78807"/>
                    </a:cubicBezTo>
                    <a:close/>
                    <a:moveTo>
                      <a:pt x="257930" y="31182"/>
                    </a:moveTo>
                    <a:cubicBezTo>
                      <a:pt x="286558" y="51796"/>
                      <a:pt x="306076" y="77565"/>
                      <a:pt x="319088" y="109775"/>
                    </a:cubicBezTo>
                    <a:cubicBezTo>
                      <a:pt x="308678" y="113640"/>
                      <a:pt x="298269" y="117505"/>
                      <a:pt x="287859" y="120082"/>
                    </a:cubicBezTo>
                    <a:cubicBezTo>
                      <a:pt x="282654" y="107198"/>
                      <a:pt x="276148" y="95602"/>
                      <a:pt x="268340" y="85295"/>
                    </a:cubicBezTo>
                    <a:cubicBezTo>
                      <a:pt x="259232" y="74988"/>
                      <a:pt x="250123" y="65969"/>
                      <a:pt x="239713" y="58238"/>
                    </a:cubicBezTo>
                    <a:cubicBezTo>
                      <a:pt x="244918" y="49220"/>
                      <a:pt x="251424" y="40201"/>
                      <a:pt x="257930" y="31182"/>
                    </a:cubicBezTo>
                    <a:close/>
                    <a:moveTo>
                      <a:pt x="155199" y="194"/>
                    </a:moveTo>
                    <a:cubicBezTo>
                      <a:pt x="180825" y="-1099"/>
                      <a:pt x="206933" y="4073"/>
                      <a:pt x="233363" y="15064"/>
                    </a:cubicBezTo>
                    <a:cubicBezTo>
                      <a:pt x="228206" y="25408"/>
                      <a:pt x="224338" y="35753"/>
                      <a:pt x="219181" y="46097"/>
                    </a:cubicBezTo>
                    <a:cubicBezTo>
                      <a:pt x="130219" y="6012"/>
                      <a:pt x="37389" y="69372"/>
                      <a:pt x="32232" y="153420"/>
                    </a:cubicBezTo>
                    <a:cubicBezTo>
                      <a:pt x="21918" y="153420"/>
                      <a:pt x="10314" y="152127"/>
                      <a:pt x="0" y="150834"/>
                    </a:cubicBezTo>
                    <a:cubicBezTo>
                      <a:pt x="6446" y="95233"/>
                      <a:pt x="32232" y="52562"/>
                      <a:pt x="79936" y="24115"/>
                    </a:cubicBezTo>
                    <a:cubicBezTo>
                      <a:pt x="104433" y="9245"/>
                      <a:pt x="129574" y="1487"/>
                      <a:pt x="155199" y="1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9" name="Bullet2">
                <a:extLst>
                  <a:ext uri="{FF2B5EF4-FFF2-40B4-BE49-F238E27FC236}">
                    <a16:creationId xmlns:a16="http://schemas.microsoft.com/office/drawing/2014/main" id="{A8E3A3B6-4889-438C-807A-10B52CD6FEFB}"/>
                  </a:ext>
                </a:extLst>
              </p:cNvPr>
              <p:cNvSpPr/>
              <p:nvPr/>
            </p:nvSpPr>
            <p:spPr>
              <a:xfrm>
                <a:off x="6579046" y="3084225"/>
                <a:ext cx="4019220" cy="369332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zh-CN" altLang="en-US" b="1" dirty="0"/>
                  <a:t>政策扶持措施详解</a:t>
                </a:r>
                <a:endParaRPr lang="en-US" dirty="0"/>
              </a:p>
            </p:txBody>
          </p:sp>
          <p:sp>
            <p:nvSpPr>
              <p:cNvPr id="10" name="Text2">
                <a:extLst>
                  <a:ext uri="{FF2B5EF4-FFF2-40B4-BE49-F238E27FC236}">
                    <a16:creationId xmlns:a16="http://schemas.microsoft.com/office/drawing/2014/main" id="{A7D7ECAA-14D8-46AA-AE90-E64E2F93B3FD}"/>
                  </a:ext>
                </a:extLst>
              </p:cNvPr>
              <p:cNvSpPr/>
              <p:nvPr/>
            </p:nvSpPr>
            <p:spPr>
              <a:xfrm>
                <a:off x="6579047" y="3453557"/>
                <a:ext cx="4019220" cy="699343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详细介绍国家对国产软件的各项政策支持措施，包括税收优惠、政府采购、产业扶持等，助力国产软件快速发展。</a:t>
                </a:r>
                <a:endParaRPr lang="en-US" dirty="0"/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D89BC1E-D428-D663-B13C-B9E6931422F9}"/>
                </a:ext>
              </a:extLst>
            </p:cNvPr>
            <p:cNvGrpSpPr/>
            <p:nvPr/>
          </p:nvGrpSpPr>
          <p:grpSpPr>
            <a:xfrm>
              <a:off x="5556828" y="4782222"/>
              <a:ext cx="5041439" cy="1119231"/>
              <a:chOff x="5556828" y="4782222"/>
              <a:chExt cx="5041439" cy="1119231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E326B126-AC1B-49B1-9EB5-2A4E01FAB59A}"/>
                  </a:ext>
                </a:extLst>
              </p:cNvPr>
              <p:cNvSpPr/>
              <p:nvPr/>
            </p:nvSpPr>
            <p:spPr>
              <a:xfrm>
                <a:off x="5556828" y="4782222"/>
                <a:ext cx="990796" cy="990794"/>
              </a:xfrm>
              <a:prstGeom prst="ellipse">
                <a:avLst/>
              </a:prstGeom>
              <a:solidFill>
                <a:schemeClr val="tx2">
                  <a:alpha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" name="Bullet3">
                <a:extLst>
                  <a:ext uri="{FF2B5EF4-FFF2-40B4-BE49-F238E27FC236}">
                    <a16:creationId xmlns:a16="http://schemas.microsoft.com/office/drawing/2014/main" id="{002187F5-54D4-42E3-886F-F3EE261203E4}"/>
                  </a:ext>
                </a:extLst>
              </p:cNvPr>
              <p:cNvSpPr/>
              <p:nvPr/>
            </p:nvSpPr>
            <p:spPr>
              <a:xfrm>
                <a:off x="6579046" y="4832778"/>
                <a:ext cx="4019220" cy="369332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zh-CN" altLang="en-US" b="1" dirty="0"/>
                  <a:t>政策实施成效与展望</a:t>
                </a:r>
                <a:endParaRPr lang="en-US" dirty="0"/>
              </a:p>
            </p:txBody>
          </p:sp>
          <p:sp>
            <p:nvSpPr>
              <p:cNvPr id="12" name="Text3">
                <a:extLst>
                  <a:ext uri="{FF2B5EF4-FFF2-40B4-BE49-F238E27FC236}">
                    <a16:creationId xmlns:a16="http://schemas.microsoft.com/office/drawing/2014/main" id="{A100426D-1E27-4127-9A41-8134DE80C5BE}"/>
                  </a:ext>
                </a:extLst>
              </p:cNvPr>
              <p:cNvSpPr/>
              <p:nvPr/>
            </p:nvSpPr>
            <p:spPr>
              <a:xfrm>
                <a:off x="6579047" y="5202110"/>
                <a:ext cx="4019220" cy="699343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分析国家政策支持下国产软件的发展现状，以及未来发展趋势和挑战，为政策进一步完善提供参考。</a:t>
                </a:r>
                <a:endParaRPr lang="en-US" dirty="0"/>
              </a:p>
            </p:txBody>
          </p:sp>
          <p:sp>
            <p:nvSpPr>
              <p:cNvPr id="19" name="Icon3">
                <a:extLst>
                  <a:ext uri="{FF2B5EF4-FFF2-40B4-BE49-F238E27FC236}">
                    <a16:creationId xmlns:a16="http://schemas.microsoft.com/office/drawing/2014/main" id="{A8B55223-E576-41AD-A972-DFC8EF3BE362}"/>
                  </a:ext>
                </a:extLst>
              </p:cNvPr>
              <p:cNvSpPr/>
              <p:nvPr/>
            </p:nvSpPr>
            <p:spPr bwMode="auto">
              <a:xfrm>
                <a:off x="5785168" y="5010698"/>
                <a:ext cx="534116" cy="533843"/>
              </a:xfrm>
              <a:custGeom>
                <a:avLst/>
                <a:gdLst>
                  <a:gd name="connsiteX0" fmla="*/ 92075 w 329801"/>
                  <a:gd name="connsiteY0" fmla="*/ 220095 h 329633"/>
                  <a:gd name="connsiteX1" fmla="*/ 92075 w 329801"/>
                  <a:gd name="connsiteY1" fmla="*/ 228033 h 329633"/>
                  <a:gd name="connsiteX2" fmla="*/ 100013 w 329801"/>
                  <a:gd name="connsiteY2" fmla="*/ 228033 h 329633"/>
                  <a:gd name="connsiteX3" fmla="*/ 92075 w 329801"/>
                  <a:gd name="connsiteY3" fmla="*/ 202632 h 329633"/>
                  <a:gd name="connsiteX4" fmla="*/ 92075 w 329801"/>
                  <a:gd name="connsiteY4" fmla="*/ 210570 h 329633"/>
                  <a:gd name="connsiteX5" fmla="*/ 107950 w 329801"/>
                  <a:gd name="connsiteY5" fmla="*/ 228032 h 329633"/>
                  <a:gd name="connsiteX6" fmla="*/ 117475 w 329801"/>
                  <a:gd name="connsiteY6" fmla="*/ 228032 h 329633"/>
                  <a:gd name="connsiteX7" fmla="*/ 92075 w 329801"/>
                  <a:gd name="connsiteY7" fmla="*/ 185170 h 329633"/>
                  <a:gd name="connsiteX8" fmla="*/ 92075 w 329801"/>
                  <a:gd name="connsiteY8" fmla="*/ 194695 h 329633"/>
                  <a:gd name="connsiteX9" fmla="*/ 117475 w 329801"/>
                  <a:gd name="connsiteY9" fmla="*/ 220095 h 329633"/>
                  <a:gd name="connsiteX10" fmla="*/ 117475 w 329801"/>
                  <a:gd name="connsiteY10" fmla="*/ 210570 h 329633"/>
                  <a:gd name="connsiteX11" fmla="*/ 32288 w 329801"/>
                  <a:gd name="connsiteY11" fmla="*/ 177232 h 329633"/>
                  <a:gd name="connsiteX12" fmla="*/ 152400 w 329801"/>
                  <a:gd name="connsiteY12" fmla="*/ 298635 h 329633"/>
                  <a:gd name="connsiteX13" fmla="*/ 149817 w 329801"/>
                  <a:gd name="connsiteY13" fmla="*/ 329632 h 329633"/>
                  <a:gd name="connsiteX14" fmla="*/ 0 w 329801"/>
                  <a:gd name="connsiteY14" fmla="*/ 179815 h 329633"/>
                  <a:gd name="connsiteX15" fmla="*/ 32288 w 329801"/>
                  <a:gd name="connsiteY15" fmla="*/ 177232 h 329633"/>
                  <a:gd name="connsiteX16" fmla="*/ 92075 w 329801"/>
                  <a:gd name="connsiteY16" fmla="*/ 167707 h 329633"/>
                  <a:gd name="connsiteX17" fmla="*/ 92075 w 329801"/>
                  <a:gd name="connsiteY17" fmla="*/ 177232 h 329633"/>
                  <a:gd name="connsiteX18" fmla="*/ 117475 w 329801"/>
                  <a:gd name="connsiteY18" fmla="*/ 202632 h 329633"/>
                  <a:gd name="connsiteX19" fmla="*/ 117475 w 329801"/>
                  <a:gd name="connsiteY19" fmla="*/ 194695 h 329633"/>
                  <a:gd name="connsiteX20" fmla="*/ 109538 w 329801"/>
                  <a:gd name="connsiteY20" fmla="*/ 161357 h 329633"/>
                  <a:gd name="connsiteX21" fmla="*/ 117476 w 329801"/>
                  <a:gd name="connsiteY21" fmla="*/ 169295 h 329633"/>
                  <a:gd name="connsiteX22" fmla="*/ 117476 w 329801"/>
                  <a:gd name="connsiteY22" fmla="*/ 161357 h 329633"/>
                  <a:gd name="connsiteX23" fmla="*/ 92075 w 329801"/>
                  <a:gd name="connsiteY23" fmla="*/ 161357 h 329633"/>
                  <a:gd name="connsiteX24" fmla="*/ 117475 w 329801"/>
                  <a:gd name="connsiteY24" fmla="*/ 186757 h 329633"/>
                  <a:gd name="connsiteX25" fmla="*/ 117475 w 329801"/>
                  <a:gd name="connsiteY25" fmla="*/ 177232 h 329633"/>
                  <a:gd name="connsiteX26" fmla="*/ 100012 w 329801"/>
                  <a:gd name="connsiteY26" fmla="*/ 161357 h 329633"/>
                  <a:gd name="connsiteX27" fmla="*/ 86111 w 329801"/>
                  <a:gd name="connsiteY27" fmla="*/ 150245 h 329633"/>
                  <a:gd name="connsiteX28" fmla="*/ 123439 w 329801"/>
                  <a:gd name="connsiteY28" fmla="*/ 150245 h 329633"/>
                  <a:gd name="connsiteX29" fmla="*/ 128588 w 329801"/>
                  <a:gd name="connsiteY29" fmla="*/ 155381 h 329633"/>
                  <a:gd name="connsiteX30" fmla="*/ 128588 w 329801"/>
                  <a:gd name="connsiteY30" fmla="*/ 232422 h 329633"/>
                  <a:gd name="connsiteX31" fmla="*/ 123439 w 329801"/>
                  <a:gd name="connsiteY31" fmla="*/ 237558 h 329633"/>
                  <a:gd name="connsiteX32" fmla="*/ 86111 w 329801"/>
                  <a:gd name="connsiteY32" fmla="*/ 237558 h 329633"/>
                  <a:gd name="connsiteX33" fmla="*/ 80963 w 329801"/>
                  <a:gd name="connsiteY33" fmla="*/ 232422 h 329633"/>
                  <a:gd name="connsiteX34" fmla="*/ 80963 w 329801"/>
                  <a:gd name="connsiteY34" fmla="*/ 155381 h 329633"/>
                  <a:gd name="connsiteX35" fmla="*/ 86111 w 329801"/>
                  <a:gd name="connsiteY35" fmla="*/ 150245 h 329633"/>
                  <a:gd name="connsiteX36" fmla="*/ 327661 w 329801"/>
                  <a:gd name="connsiteY36" fmla="*/ 137545 h 329633"/>
                  <a:gd name="connsiteX37" fmla="*/ 178802 w 329801"/>
                  <a:gd name="connsiteY37" fmla="*/ 329633 h 329633"/>
                  <a:gd name="connsiteX38" fmla="*/ 176213 w 329801"/>
                  <a:gd name="connsiteY38" fmla="*/ 297404 h 329633"/>
                  <a:gd name="connsiteX39" fmla="*/ 269412 w 329801"/>
                  <a:gd name="connsiteY39" fmla="*/ 247125 h 329633"/>
                  <a:gd name="connsiteX40" fmla="*/ 295300 w 329801"/>
                  <a:gd name="connsiteY40" fmla="*/ 143991 h 329633"/>
                  <a:gd name="connsiteX41" fmla="*/ 327661 w 329801"/>
                  <a:gd name="connsiteY41" fmla="*/ 137545 h 329633"/>
                  <a:gd name="connsiteX42" fmla="*/ 211138 w 329801"/>
                  <a:gd name="connsiteY42" fmla="*/ 132782 h 329633"/>
                  <a:gd name="connsiteX43" fmla="*/ 211138 w 329801"/>
                  <a:gd name="connsiteY43" fmla="*/ 228032 h 329633"/>
                  <a:gd name="connsiteX44" fmla="*/ 236538 w 329801"/>
                  <a:gd name="connsiteY44" fmla="*/ 228032 h 329633"/>
                  <a:gd name="connsiteX45" fmla="*/ 236538 w 329801"/>
                  <a:gd name="connsiteY45" fmla="*/ 132782 h 329633"/>
                  <a:gd name="connsiteX46" fmla="*/ 203587 w 329801"/>
                  <a:gd name="connsiteY46" fmla="*/ 121670 h 329633"/>
                  <a:gd name="connsiteX47" fmla="*/ 240915 w 329801"/>
                  <a:gd name="connsiteY47" fmla="*/ 121670 h 329633"/>
                  <a:gd name="connsiteX48" fmla="*/ 246063 w 329801"/>
                  <a:gd name="connsiteY48" fmla="*/ 126821 h 329633"/>
                  <a:gd name="connsiteX49" fmla="*/ 246063 w 329801"/>
                  <a:gd name="connsiteY49" fmla="*/ 232407 h 329633"/>
                  <a:gd name="connsiteX50" fmla="*/ 240915 w 329801"/>
                  <a:gd name="connsiteY50" fmla="*/ 237558 h 329633"/>
                  <a:gd name="connsiteX51" fmla="*/ 203587 w 329801"/>
                  <a:gd name="connsiteY51" fmla="*/ 237558 h 329633"/>
                  <a:gd name="connsiteX52" fmla="*/ 198438 w 329801"/>
                  <a:gd name="connsiteY52" fmla="*/ 232407 h 329633"/>
                  <a:gd name="connsiteX53" fmla="*/ 198438 w 329801"/>
                  <a:gd name="connsiteY53" fmla="*/ 126821 h 329633"/>
                  <a:gd name="connsiteX54" fmla="*/ 203587 w 329801"/>
                  <a:gd name="connsiteY54" fmla="*/ 121670 h 329633"/>
                  <a:gd name="connsiteX55" fmla="*/ 146403 w 329801"/>
                  <a:gd name="connsiteY55" fmla="*/ 78807 h 329633"/>
                  <a:gd name="connsiteX56" fmla="*/ 182211 w 329801"/>
                  <a:gd name="connsiteY56" fmla="*/ 78807 h 329633"/>
                  <a:gd name="connsiteX57" fmla="*/ 187326 w 329801"/>
                  <a:gd name="connsiteY57" fmla="*/ 83970 h 329633"/>
                  <a:gd name="connsiteX58" fmla="*/ 187326 w 329801"/>
                  <a:gd name="connsiteY58" fmla="*/ 232394 h 329633"/>
                  <a:gd name="connsiteX59" fmla="*/ 182211 w 329801"/>
                  <a:gd name="connsiteY59" fmla="*/ 237557 h 329633"/>
                  <a:gd name="connsiteX60" fmla="*/ 146403 w 329801"/>
                  <a:gd name="connsiteY60" fmla="*/ 237557 h 329633"/>
                  <a:gd name="connsiteX61" fmla="*/ 141288 w 329801"/>
                  <a:gd name="connsiteY61" fmla="*/ 232394 h 329633"/>
                  <a:gd name="connsiteX62" fmla="*/ 141288 w 329801"/>
                  <a:gd name="connsiteY62" fmla="*/ 83970 h 329633"/>
                  <a:gd name="connsiteX63" fmla="*/ 146403 w 329801"/>
                  <a:gd name="connsiteY63" fmla="*/ 78807 h 329633"/>
                  <a:gd name="connsiteX64" fmla="*/ 257930 w 329801"/>
                  <a:gd name="connsiteY64" fmla="*/ 31182 h 329633"/>
                  <a:gd name="connsiteX65" fmla="*/ 319088 w 329801"/>
                  <a:gd name="connsiteY65" fmla="*/ 109775 h 329633"/>
                  <a:gd name="connsiteX66" fmla="*/ 287859 w 329801"/>
                  <a:gd name="connsiteY66" fmla="*/ 120082 h 329633"/>
                  <a:gd name="connsiteX67" fmla="*/ 268340 w 329801"/>
                  <a:gd name="connsiteY67" fmla="*/ 85295 h 329633"/>
                  <a:gd name="connsiteX68" fmla="*/ 239713 w 329801"/>
                  <a:gd name="connsiteY68" fmla="*/ 58238 h 329633"/>
                  <a:gd name="connsiteX69" fmla="*/ 257930 w 329801"/>
                  <a:gd name="connsiteY69" fmla="*/ 31182 h 329633"/>
                  <a:gd name="connsiteX70" fmla="*/ 155199 w 329801"/>
                  <a:gd name="connsiteY70" fmla="*/ 194 h 329633"/>
                  <a:gd name="connsiteX71" fmla="*/ 233363 w 329801"/>
                  <a:gd name="connsiteY71" fmla="*/ 15064 h 329633"/>
                  <a:gd name="connsiteX72" fmla="*/ 219181 w 329801"/>
                  <a:gd name="connsiteY72" fmla="*/ 46097 h 329633"/>
                  <a:gd name="connsiteX73" fmla="*/ 32232 w 329801"/>
                  <a:gd name="connsiteY73" fmla="*/ 153420 h 329633"/>
                  <a:gd name="connsiteX74" fmla="*/ 0 w 329801"/>
                  <a:gd name="connsiteY74" fmla="*/ 150834 h 329633"/>
                  <a:gd name="connsiteX75" fmla="*/ 79936 w 329801"/>
                  <a:gd name="connsiteY75" fmla="*/ 24115 h 329633"/>
                  <a:gd name="connsiteX76" fmla="*/ 155199 w 329801"/>
                  <a:gd name="connsiteY76" fmla="*/ 194 h 329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329801" h="329633">
                    <a:moveTo>
                      <a:pt x="92075" y="220095"/>
                    </a:moveTo>
                    <a:lnTo>
                      <a:pt x="92075" y="228033"/>
                    </a:lnTo>
                    <a:lnTo>
                      <a:pt x="100013" y="228033"/>
                    </a:lnTo>
                    <a:close/>
                    <a:moveTo>
                      <a:pt x="92075" y="202632"/>
                    </a:moveTo>
                    <a:lnTo>
                      <a:pt x="92075" y="210570"/>
                    </a:lnTo>
                    <a:lnTo>
                      <a:pt x="107950" y="228032"/>
                    </a:lnTo>
                    <a:lnTo>
                      <a:pt x="117475" y="228032"/>
                    </a:lnTo>
                    <a:close/>
                    <a:moveTo>
                      <a:pt x="92075" y="185170"/>
                    </a:moveTo>
                    <a:lnTo>
                      <a:pt x="92075" y="194695"/>
                    </a:lnTo>
                    <a:lnTo>
                      <a:pt x="117475" y="220095"/>
                    </a:lnTo>
                    <a:lnTo>
                      <a:pt x="117475" y="210570"/>
                    </a:lnTo>
                    <a:close/>
                    <a:moveTo>
                      <a:pt x="32288" y="177232"/>
                    </a:moveTo>
                    <a:cubicBezTo>
                      <a:pt x="43912" y="246974"/>
                      <a:pt x="83949" y="287012"/>
                      <a:pt x="152400" y="298635"/>
                    </a:cubicBezTo>
                    <a:cubicBezTo>
                      <a:pt x="151108" y="308968"/>
                      <a:pt x="151108" y="319300"/>
                      <a:pt x="149817" y="329632"/>
                    </a:cubicBezTo>
                    <a:cubicBezTo>
                      <a:pt x="61993" y="323174"/>
                      <a:pt x="2583" y="246974"/>
                      <a:pt x="0" y="179815"/>
                    </a:cubicBezTo>
                    <a:cubicBezTo>
                      <a:pt x="10332" y="179815"/>
                      <a:pt x="21956" y="178524"/>
                      <a:pt x="32288" y="177232"/>
                    </a:cubicBezTo>
                    <a:close/>
                    <a:moveTo>
                      <a:pt x="92075" y="167707"/>
                    </a:moveTo>
                    <a:lnTo>
                      <a:pt x="92075" y="177232"/>
                    </a:lnTo>
                    <a:lnTo>
                      <a:pt x="117475" y="202632"/>
                    </a:lnTo>
                    <a:lnTo>
                      <a:pt x="117475" y="194695"/>
                    </a:lnTo>
                    <a:close/>
                    <a:moveTo>
                      <a:pt x="109538" y="161357"/>
                    </a:moveTo>
                    <a:lnTo>
                      <a:pt x="117476" y="169295"/>
                    </a:lnTo>
                    <a:lnTo>
                      <a:pt x="117476" y="161357"/>
                    </a:lnTo>
                    <a:close/>
                    <a:moveTo>
                      <a:pt x="92075" y="161357"/>
                    </a:moveTo>
                    <a:lnTo>
                      <a:pt x="117475" y="186757"/>
                    </a:lnTo>
                    <a:lnTo>
                      <a:pt x="117475" y="177232"/>
                    </a:lnTo>
                    <a:lnTo>
                      <a:pt x="100012" y="161357"/>
                    </a:lnTo>
                    <a:close/>
                    <a:moveTo>
                      <a:pt x="86111" y="150245"/>
                    </a:moveTo>
                    <a:lnTo>
                      <a:pt x="123439" y="150245"/>
                    </a:lnTo>
                    <a:cubicBezTo>
                      <a:pt x="126013" y="150245"/>
                      <a:pt x="128588" y="152813"/>
                      <a:pt x="128588" y="155381"/>
                    </a:cubicBezTo>
                    <a:cubicBezTo>
                      <a:pt x="128588" y="155381"/>
                      <a:pt x="128588" y="155381"/>
                      <a:pt x="128588" y="232422"/>
                    </a:cubicBezTo>
                    <a:cubicBezTo>
                      <a:pt x="128588" y="236274"/>
                      <a:pt x="126013" y="237558"/>
                      <a:pt x="123439" y="237558"/>
                    </a:cubicBezTo>
                    <a:cubicBezTo>
                      <a:pt x="123439" y="237558"/>
                      <a:pt x="123439" y="237558"/>
                      <a:pt x="86111" y="237558"/>
                    </a:cubicBezTo>
                    <a:cubicBezTo>
                      <a:pt x="83537" y="237558"/>
                      <a:pt x="80963" y="236274"/>
                      <a:pt x="80963" y="232422"/>
                    </a:cubicBezTo>
                    <a:cubicBezTo>
                      <a:pt x="80963" y="232422"/>
                      <a:pt x="80963" y="232422"/>
                      <a:pt x="80963" y="155381"/>
                    </a:cubicBezTo>
                    <a:cubicBezTo>
                      <a:pt x="80963" y="152813"/>
                      <a:pt x="83537" y="150245"/>
                      <a:pt x="86111" y="150245"/>
                    </a:cubicBezTo>
                    <a:close/>
                    <a:moveTo>
                      <a:pt x="327661" y="137545"/>
                    </a:moveTo>
                    <a:cubicBezTo>
                      <a:pt x="344488" y="247125"/>
                      <a:pt x="259056" y="327055"/>
                      <a:pt x="178802" y="329633"/>
                    </a:cubicBezTo>
                    <a:cubicBezTo>
                      <a:pt x="177508" y="319320"/>
                      <a:pt x="177508" y="309006"/>
                      <a:pt x="176213" y="297404"/>
                    </a:cubicBezTo>
                    <a:cubicBezTo>
                      <a:pt x="213752" y="293536"/>
                      <a:pt x="246112" y="276777"/>
                      <a:pt x="269412" y="247125"/>
                    </a:cubicBezTo>
                    <a:cubicBezTo>
                      <a:pt x="292711" y="216185"/>
                      <a:pt x="300478" y="181377"/>
                      <a:pt x="295300" y="143991"/>
                    </a:cubicBezTo>
                    <a:cubicBezTo>
                      <a:pt x="305656" y="141413"/>
                      <a:pt x="316011" y="140123"/>
                      <a:pt x="327661" y="137545"/>
                    </a:cubicBezTo>
                    <a:close/>
                    <a:moveTo>
                      <a:pt x="211138" y="132782"/>
                    </a:moveTo>
                    <a:lnTo>
                      <a:pt x="211138" y="228032"/>
                    </a:lnTo>
                    <a:lnTo>
                      <a:pt x="236538" y="228032"/>
                    </a:lnTo>
                    <a:lnTo>
                      <a:pt x="236538" y="132782"/>
                    </a:lnTo>
                    <a:close/>
                    <a:moveTo>
                      <a:pt x="203587" y="121670"/>
                    </a:moveTo>
                    <a:lnTo>
                      <a:pt x="240915" y="121670"/>
                    </a:lnTo>
                    <a:cubicBezTo>
                      <a:pt x="243489" y="121670"/>
                      <a:pt x="246063" y="124245"/>
                      <a:pt x="246063" y="126821"/>
                    </a:cubicBezTo>
                    <a:cubicBezTo>
                      <a:pt x="246063" y="126821"/>
                      <a:pt x="246063" y="126821"/>
                      <a:pt x="246063" y="232407"/>
                    </a:cubicBezTo>
                    <a:cubicBezTo>
                      <a:pt x="246063" y="236270"/>
                      <a:pt x="243489" y="237558"/>
                      <a:pt x="240915" y="237558"/>
                    </a:cubicBezTo>
                    <a:cubicBezTo>
                      <a:pt x="240915" y="237558"/>
                      <a:pt x="240915" y="237558"/>
                      <a:pt x="203587" y="237558"/>
                    </a:cubicBezTo>
                    <a:cubicBezTo>
                      <a:pt x="201013" y="237558"/>
                      <a:pt x="198438" y="236270"/>
                      <a:pt x="198438" y="232407"/>
                    </a:cubicBezTo>
                    <a:cubicBezTo>
                      <a:pt x="198438" y="232407"/>
                      <a:pt x="198438" y="232407"/>
                      <a:pt x="198438" y="126821"/>
                    </a:cubicBezTo>
                    <a:cubicBezTo>
                      <a:pt x="198438" y="124245"/>
                      <a:pt x="201013" y="121670"/>
                      <a:pt x="203587" y="121670"/>
                    </a:cubicBezTo>
                    <a:close/>
                    <a:moveTo>
                      <a:pt x="146403" y="78807"/>
                    </a:moveTo>
                    <a:lnTo>
                      <a:pt x="182211" y="78807"/>
                    </a:lnTo>
                    <a:cubicBezTo>
                      <a:pt x="186047" y="78807"/>
                      <a:pt x="187326" y="80098"/>
                      <a:pt x="187326" y="83970"/>
                    </a:cubicBezTo>
                    <a:cubicBezTo>
                      <a:pt x="187326" y="83970"/>
                      <a:pt x="187326" y="83970"/>
                      <a:pt x="187326" y="232394"/>
                    </a:cubicBezTo>
                    <a:cubicBezTo>
                      <a:pt x="187326" y="236266"/>
                      <a:pt x="186047" y="237557"/>
                      <a:pt x="182211" y="237557"/>
                    </a:cubicBezTo>
                    <a:cubicBezTo>
                      <a:pt x="182211" y="237557"/>
                      <a:pt x="182211" y="237557"/>
                      <a:pt x="146403" y="237557"/>
                    </a:cubicBezTo>
                    <a:cubicBezTo>
                      <a:pt x="142567" y="237557"/>
                      <a:pt x="141288" y="236266"/>
                      <a:pt x="141288" y="232394"/>
                    </a:cubicBezTo>
                    <a:cubicBezTo>
                      <a:pt x="141288" y="232394"/>
                      <a:pt x="141288" y="232394"/>
                      <a:pt x="141288" y="83970"/>
                    </a:cubicBezTo>
                    <a:cubicBezTo>
                      <a:pt x="141288" y="80098"/>
                      <a:pt x="142567" y="78807"/>
                      <a:pt x="146403" y="78807"/>
                    </a:cubicBezTo>
                    <a:close/>
                    <a:moveTo>
                      <a:pt x="257930" y="31182"/>
                    </a:moveTo>
                    <a:cubicBezTo>
                      <a:pt x="286558" y="51796"/>
                      <a:pt x="306076" y="77565"/>
                      <a:pt x="319088" y="109775"/>
                    </a:cubicBezTo>
                    <a:cubicBezTo>
                      <a:pt x="308678" y="113640"/>
                      <a:pt x="298269" y="117505"/>
                      <a:pt x="287859" y="120082"/>
                    </a:cubicBezTo>
                    <a:cubicBezTo>
                      <a:pt x="282654" y="107198"/>
                      <a:pt x="276148" y="95602"/>
                      <a:pt x="268340" y="85295"/>
                    </a:cubicBezTo>
                    <a:cubicBezTo>
                      <a:pt x="259232" y="74988"/>
                      <a:pt x="250123" y="65969"/>
                      <a:pt x="239713" y="58238"/>
                    </a:cubicBezTo>
                    <a:cubicBezTo>
                      <a:pt x="244918" y="49220"/>
                      <a:pt x="251424" y="40201"/>
                      <a:pt x="257930" y="31182"/>
                    </a:cubicBezTo>
                    <a:close/>
                    <a:moveTo>
                      <a:pt x="155199" y="194"/>
                    </a:moveTo>
                    <a:cubicBezTo>
                      <a:pt x="180825" y="-1099"/>
                      <a:pt x="206933" y="4073"/>
                      <a:pt x="233363" y="15064"/>
                    </a:cubicBezTo>
                    <a:cubicBezTo>
                      <a:pt x="228206" y="25408"/>
                      <a:pt x="224338" y="35753"/>
                      <a:pt x="219181" y="46097"/>
                    </a:cubicBezTo>
                    <a:cubicBezTo>
                      <a:pt x="130219" y="6012"/>
                      <a:pt x="37389" y="69372"/>
                      <a:pt x="32232" y="153420"/>
                    </a:cubicBezTo>
                    <a:cubicBezTo>
                      <a:pt x="21918" y="153420"/>
                      <a:pt x="10314" y="152127"/>
                      <a:pt x="0" y="150834"/>
                    </a:cubicBezTo>
                    <a:cubicBezTo>
                      <a:pt x="6446" y="95233"/>
                      <a:pt x="32232" y="52562"/>
                      <a:pt x="79936" y="24115"/>
                    </a:cubicBezTo>
                    <a:cubicBezTo>
                      <a:pt x="104433" y="9245"/>
                      <a:pt x="129574" y="1487"/>
                      <a:pt x="155199" y="1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5126648" y="326571"/>
            <a:ext cx="6260138" cy="1039412"/>
          </a:xfrm>
        </p:spPr>
        <p:txBody>
          <a:bodyPr/>
          <a:lstStyle/>
          <a:p>
            <a:r>
              <a:rPr lang="zh-CN" altLang="en-US" dirty="0"/>
              <a:t>三、国产软件发展趋势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5757691" y="1853698"/>
            <a:ext cx="4757909" cy="2307756"/>
          </a:xfrm>
        </p:spPr>
        <p:txBody>
          <a:bodyPr>
            <a:normAutofit/>
          </a:bodyPr>
          <a:lstStyle/>
          <a:p>
            <a:r>
              <a:rPr lang="en-US" altLang="zh-CN" dirty="0"/>
              <a:t>·</a:t>
            </a:r>
            <a:r>
              <a:rPr lang="zh-CN" altLang="en-US" dirty="0"/>
              <a:t>基础软件须重视</a:t>
            </a:r>
            <a:endParaRPr lang="en-US" altLang="zh-CN" dirty="0"/>
          </a:p>
          <a:p>
            <a:r>
              <a:rPr lang="en-US" altLang="zh-CN" dirty="0"/>
              <a:t>·</a:t>
            </a:r>
            <a:r>
              <a:rPr lang="zh-CN" altLang="en-US" dirty="0"/>
              <a:t>迎接更高质量发展</a:t>
            </a:r>
            <a:endParaRPr lang="en-US" altLang="zh-CN" dirty="0"/>
          </a:p>
          <a:p>
            <a:r>
              <a:rPr lang="en-US" altLang="zh-CN" dirty="0"/>
              <a:t>·</a:t>
            </a:r>
            <a:r>
              <a:rPr lang="zh-CN" altLang="en-US" dirty="0"/>
              <a:t>结语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基础软件须重视</a:t>
            </a:r>
            <a:endParaRPr lang="en-US" dirty="0"/>
          </a:p>
        </p:txBody>
      </p:sp>
      <p:grpSp>
        <p:nvGrpSpPr>
          <p:cNvPr id="13" name="diagram11.pptx">
            <a:extLst>
              <a:ext uri="{FF2B5EF4-FFF2-40B4-BE49-F238E27FC236}">
                <a16:creationId xmlns:a16="http://schemas.microsoft.com/office/drawing/2014/main" id="{C8FB462B-AEC5-9CE2-0A59-416ED79D00CA}"/>
              </a:ext>
            </a:extLst>
          </p:cNvPr>
          <p:cNvGrpSpPr/>
          <p:nvPr/>
        </p:nvGrpSpPr>
        <p:grpSpPr>
          <a:xfrm>
            <a:off x="0" y="1429723"/>
            <a:ext cx="12192000" cy="4496339"/>
            <a:chOff x="0" y="1429723"/>
            <a:chExt cx="12192000" cy="4496339"/>
          </a:xfrm>
        </p:grpSpPr>
        <p:sp>
          <p:nvSpPr>
            <p:cNvPr id="5" name="ïṩľídê">
              <a:extLst>
                <a:ext uri="{FF2B5EF4-FFF2-40B4-BE49-F238E27FC236}">
                  <a16:creationId xmlns:a16="http://schemas.microsoft.com/office/drawing/2014/main" id="{C70C443B-B8C9-1CAA-6708-B00F75F6BC7C}"/>
                </a:ext>
              </a:extLst>
            </p:cNvPr>
            <p:cNvSpPr/>
            <p:nvPr/>
          </p:nvSpPr>
          <p:spPr>
            <a:xfrm>
              <a:off x="0" y="1862174"/>
              <a:ext cx="12192000" cy="3645383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4F15361-8B66-E971-D9C0-610F22C3E063}"/>
                </a:ext>
              </a:extLst>
            </p:cNvPr>
            <p:cNvGrpSpPr/>
            <p:nvPr/>
          </p:nvGrpSpPr>
          <p:grpSpPr>
            <a:xfrm>
              <a:off x="1345282" y="1429723"/>
              <a:ext cx="2256150" cy="4496339"/>
              <a:chOff x="1345282" y="1429723"/>
              <a:chExt cx="2256150" cy="4496339"/>
            </a:xfrm>
          </p:grpSpPr>
          <p:sp>
            <p:nvSpPr>
              <p:cNvPr id="17" name="PictureMisc">
                <a:extLst>
                  <a:ext uri="{FF2B5EF4-FFF2-40B4-BE49-F238E27FC236}">
                    <a16:creationId xmlns:a16="http://schemas.microsoft.com/office/drawing/2014/main" id="{64E9EF7B-7ED3-08C7-E02F-55884FC21D24}"/>
                  </a:ext>
                </a:extLst>
              </p:cNvPr>
              <p:cNvSpPr/>
              <p:nvPr/>
            </p:nvSpPr>
            <p:spPr>
              <a:xfrm>
                <a:off x="1481789" y="1540711"/>
                <a:ext cx="1986168" cy="4284463"/>
              </a:xfrm>
              <a:custGeom>
                <a:avLst/>
                <a:gdLst>
                  <a:gd name="connsiteX0" fmla="*/ 444792 w 4503763"/>
                  <a:gd name="connsiteY0" fmla="*/ 0 h 9715289"/>
                  <a:gd name="connsiteX1" fmla="*/ 4058971 w 4503763"/>
                  <a:gd name="connsiteY1" fmla="*/ 0 h 9715289"/>
                  <a:gd name="connsiteX2" fmla="*/ 4503763 w 4503763"/>
                  <a:gd name="connsiteY2" fmla="*/ 444792 h 9715289"/>
                  <a:gd name="connsiteX3" fmla="*/ 4503763 w 4503763"/>
                  <a:gd name="connsiteY3" fmla="*/ 9270497 h 9715289"/>
                  <a:gd name="connsiteX4" fmla="*/ 4058971 w 4503763"/>
                  <a:gd name="connsiteY4" fmla="*/ 9715289 h 9715289"/>
                  <a:gd name="connsiteX5" fmla="*/ 444792 w 4503763"/>
                  <a:gd name="connsiteY5" fmla="*/ 9715289 h 9715289"/>
                  <a:gd name="connsiteX6" fmla="*/ 0 w 4503763"/>
                  <a:gd name="connsiteY6" fmla="*/ 9270497 h 9715289"/>
                  <a:gd name="connsiteX7" fmla="*/ 0 w 4503763"/>
                  <a:gd name="connsiteY7" fmla="*/ 444792 h 9715289"/>
                  <a:gd name="connsiteX8" fmla="*/ 444792 w 4503763"/>
                  <a:gd name="connsiteY8" fmla="*/ 0 h 9715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03763" h="9715289">
                    <a:moveTo>
                      <a:pt x="444792" y="0"/>
                    </a:moveTo>
                    <a:lnTo>
                      <a:pt x="4058971" y="0"/>
                    </a:lnTo>
                    <a:cubicBezTo>
                      <a:pt x="4304623" y="0"/>
                      <a:pt x="4503763" y="199140"/>
                      <a:pt x="4503763" y="444792"/>
                    </a:cubicBezTo>
                    <a:lnTo>
                      <a:pt x="4503763" y="9270497"/>
                    </a:lnTo>
                    <a:cubicBezTo>
                      <a:pt x="4503763" y="9516149"/>
                      <a:pt x="4304623" y="9715289"/>
                      <a:pt x="4058971" y="9715289"/>
                    </a:cubicBezTo>
                    <a:lnTo>
                      <a:pt x="444792" y="9715289"/>
                    </a:lnTo>
                    <a:cubicBezTo>
                      <a:pt x="199140" y="9715289"/>
                      <a:pt x="0" y="9516149"/>
                      <a:pt x="0" y="9270497"/>
                    </a:cubicBezTo>
                    <a:lnTo>
                      <a:pt x="0" y="444792"/>
                    </a:lnTo>
                    <a:cubicBezTo>
                      <a:pt x="0" y="199140"/>
                      <a:pt x="199140" y="0"/>
                      <a:pt x="444792" y="0"/>
                    </a:cubicBezTo>
                    <a:close/>
                  </a:path>
                </a:pathLst>
              </a:custGeom>
              <a:blipFill>
                <a:blip r:embed="rId2"/>
                <a:srcRect/>
                <a:stretch>
                  <a:fillRect l="-116994" t="107" r="-116456" b="-10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8" name="îṥľîḓe">
                <a:extLst>
                  <a:ext uri="{FF2B5EF4-FFF2-40B4-BE49-F238E27FC236}">
                    <a16:creationId xmlns:a16="http://schemas.microsoft.com/office/drawing/2014/main" id="{52B2BE49-406A-D1E0-310A-B5BF7430D726}"/>
                  </a:ext>
                </a:extLst>
              </p:cNvPr>
              <p:cNvSpPr/>
              <p:nvPr/>
            </p:nvSpPr>
            <p:spPr>
              <a:xfrm>
                <a:off x="3565242" y="2481880"/>
                <a:ext cx="36190" cy="5006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2" h="21596" extrusionOk="0">
                    <a:moveTo>
                      <a:pt x="0" y="0"/>
                    </a:moveTo>
                    <a:lnTo>
                      <a:pt x="0" y="21596"/>
                    </a:lnTo>
                    <a:lnTo>
                      <a:pt x="9420" y="21596"/>
                    </a:lnTo>
                    <a:cubicBezTo>
                      <a:pt x="12945" y="21596"/>
                      <a:pt x="14707" y="21598"/>
                      <a:pt x="16579" y="21555"/>
                    </a:cubicBezTo>
                    <a:cubicBezTo>
                      <a:pt x="18628" y="21501"/>
                      <a:pt x="20261" y="21383"/>
                      <a:pt x="21007" y="21235"/>
                    </a:cubicBezTo>
                    <a:cubicBezTo>
                      <a:pt x="21600" y="21099"/>
                      <a:pt x="21572" y="20968"/>
                      <a:pt x="21572" y="20717"/>
                    </a:cubicBezTo>
                    <a:lnTo>
                      <a:pt x="21572" y="879"/>
                    </a:lnTo>
                    <a:cubicBezTo>
                      <a:pt x="21572" y="624"/>
                      <a:pt x="21600" y="497"/>
                      <a:pt x="21007" y="361"/>
                    </a:cubicBezTo>
                    <a:cubicBezTo>
                      <a:pt x="20261" y="213"/>
                      <a:pt x="18628" y="95"/>
                      <a:pt x="16579" y="41"/>
                    </a:cubicBezTo>
                    <a:cubicBezTo>
                      <a:pt x="14707" y="-2"/>
                      <a:pt x="12986" y="0"/>
                      <a:pt x="951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 fontScale="92500" lnSpcReduction="20000"/>
              </a:bodyPr>
              <a:lstStyle/>
              <a:p>
                <a:endParaRPr sz="3200">
                  <a:solidFill>
                    <a:schemeClr val="accent1">
                      <a:hueOff val="-12342858"/>
                      <a:satOff val="-30434"/>
                      <a:lumOff val="4509"/>
                    </a:schemeClr>
                  </a:solidFill>
                </a:endParaRPr>
              </a:p>
            </p:txBody>
          </p:sp>
          <p:sp>
            <p:nvSpPr>
              <p:cNvPr id="19" name="ïśļîḍe">
                <a:extLst>
                  <a:ext uri="{FF2B5EF4-FFF2-40B4-BE49-F238E27FC236}">
                    <a16:creationId xmlns:a16="http://schemas.microsoft.com/office/drawing/2014/main" id="{44B15F8E-8042-D70F-9000-16991F37CF22}"/>
                  </a:ext>
                </a:extLst>
              </p:cNvPr>
              <p:cNvSpPr/>
              <p:nvPr/>
            </p:nvSpPr>
            <p:spPr>
              <a:xfrm>
                <a:off x="1345282" y="2045253"/>
                <a:ext cx="35398" cy="10489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1" h="21600" extrusionOk="0">
                    <a:moveTo>
                      <a:pt x="12326" y="0"/>
                    </a:moveTo>
                    <a:cubicBezTo>
                      <a:pt x="8816" y="0"/>
                      <a:pt x="6993" y="3"/>
                      <a:pt x="5104" y="23"/>
                    </a:cubicBezTo>
                    <a:cubicBezTo>
                      <a:pt x="3009" y="49"/>
                      <a:pt x="1340" y="102"/>
                      <a:pt x="577" y="172"/>
                    </a:cubicBezTo>
                    <a:cubicBezTo>
                      <a:pt x="-29" y="237"/>
                      <a:pt x="0" y="300"/>
                      <a:pt x="0" y="420"/>
                    </a:cubicBezTo>
                    <a:lnTo>
                      <a:pt x="0" y="3023"/>
                    </a:lnTo>
                    <a:cubicBezTo>
                      <a:pt x="0" y="3145"/>
                      <a:pt x="-29" y="3206"/>
                      <a:pt x="577" y="3270"/>
                    </a:cubicBezTo>
                    <a:cubicBezTo>
                      <a:pt x="1340" y="3341"/>
                      <a:pt x="3009" y="3394"/>
                      <a:pt x="5104" y="3420"/>
                    </a:cubicBezTo>
                    <a:cubicBezTo>
                      <a:pt x="7018" y="3440"/>
                      <a:pt x="8778" y="3443"/>
                      <a:pt x="12326" y="3443"/>
                    </a:cubicBezTo>
                    <a:lnTo>
                      <a:pt x="21571" y="3443"/>
                    </a:lnTo>
                    <a:lnTo>
                      <a:pt x="21571" y="0"/>
                    </a:lnTo>
                    <a:lnTo>
                      <a:pt x="12326" y="0"/>
                    </a:lnTo>
                    <a:close/>
                    <a:moveTo>
                      <a:pt x="12326" y="6632"/>
                    </a:moveTo>
                    <a:cubicBezTo>
                      <a:pt x="8816" y="6632"/>
                      <a:pt x="6993" y="6631"/>
                      <a:pt x="5104" y="6651"/>
                    </a:cubicBezTo>
                    <a:cubicBezTo>
                      <a:pt x="3009" y="6677"/>
                      <a:pt x="1340" y="6733"/>
                      <a:pt x="577" y="6804"/>
                    </a:cubicBezTo>
                    <a:cubicBezTo>
                      <a:pt x="-29" y="6869"/>
                      <a:pt x="0" y="6928"/>
                      <a:pt x="0" y="7048"/>
                    </a:cubicBezTo>
                    <a:lnTo>
                      <a:pt x="0" y="12814"/>
                    </a:lnTo>
                    <a:cubicBezTo>
                      <a:pt x="0" y="12936"/>
                      <a:pt x="-29" y="12997"/>
                      <a:pt x="577" y="13062"/>
                    </a:cubicBezTo>
                    <a:cubicBezTo>
                      <a:pt x="1340" y="13132"/>
                      <a:pt x="3009" y="13189"/>
                      <a:pt x="5104" y="13214"/>
                    </a:cubicBezTo>
                    <a:cubicBezTo>
                      <a:pt x="7018" y="13235"/>
                      <a:pt x="8778" y="13234"/>
                      <a:pt x="12326" y="13234"/>
                    </a:cubicBezTo>
                    <a:lnTo>
                      <a:pt x="21571" y="13234"/>
                    </a:lnTo>
                    <a:lnTo>
                      <a:pt x="21571" y="6632"/>
                    </a:lnTo>
                    <a:lnTo>
                      <a:pt x="12326" y="6632"/>
                    </a:lnTo>
                    <a:close/>
                    <a:moveTo>
                      <a:pt x="12326" y="14994"/>
                    </a:moveTo>
                    <a:cubicBezTo>
                      <a:pt x="8816" y="14994"/>
                      <a:pt x="6993" y="14997"/>
                      <a:pt x="5104" y="15017"/>
                    </a:cubicBezTo>
                    <a:cubicBezTo>
                      <a:pt x="3009" y="15043"/>
                      <a:pt x="1340" y="15096"/>
                      <a:pt x="577" y="15167"/>
                    </a:cubicBezTo>
                    <a:cubicBezTo>
                      <a:pt x="-29" y="15232"/>
                      <a:pt x="0" y="15294"/>
                      <a:pt x="0" y="15414"/>
                    </a:cubicBezTo>
                    <a:lnTo>
                      <a:pt x="0" y="21180"/>
                    </a:lnTo>
                    <a:cubicBezTo>
                      <a:pt x="0" y="21302"/>
                      <a:pt x="-29" y="21363"/>
                      <a:pt x="577" y="21428"/>
                    </a:cubicBezTo>
                    <a:cubicBezTo>
                      <a:pt x="1340" y="21498"/>
                      <a:pt x="3009" y="21551"/>
                      <a:pt x="5104" y="21577"/>
                    </a:cubicBezTo>
                    <a:cubicBezTo>
                      <a:pt x="7018" y="21598"/>
                      <a:pt x="8778" y="21600"/>
                      <a:pt x="12326" y="21600"/>
                    </a:cubicBezTo>
                    <a:lnTo>
                      <a:pt x="21571" y="21600"/>
                    </a:lnTo>
                    <a:lnTo>
                      <a:pt x="21571" y="14994"/>
                    </a:lnTo>
                    <a:lnTo>
                      <a:pt x="12326" y="1499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/>
              </a:bodyPr>
              <a:lstStyle/>
              <a:p>
                <a:pPr>
                  <a:defRPr sz="3200">
                    <a:solidFill>
                      <a:schemeClr val="accent1">
                        <a:hueOff val="-12342858"/>
                        <a:satOff val="-30434"/>
                        <a:lumOff val="4509"/>
                      </a:schemeClr>
                    </a:solidFill>
                  </a:defRPr>
                </a:pPr>
                <a:endParaRPr/>
              </a:p>
            </p:txBody>
          </p:sp>
          <p:sp>
            <p:nvSpPr>
              <p:cNvPr id="20" name="iš1íḑé">
                <a:extLst>
                  <a:ext uri="{FF2B5EF4-FFF2-40B4-BE49-F238E27FC236}">
                    <a16:creationId xmlns:a16="http://schemas.microsoft.com/office/drawing/2014/main" id="{6EB73FBD-41E4-51CD-9430-C38DB21E5D5E}"/>
                  </a:ext>
                </a:extLst>
              </p:cNvPr>
              <p:cNvSpPr/>
              <p:nvPr/>
            </p:nvSpPr>
            <p:spPr>
              <a:xfrm>
                <a:off x="1363626" y="1429723"/>
                <a:ext cx="2218697" cy="44963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862" y="0"/>
                    </a:moveTo>
                    <a:cubicBezTo>
                      <a:pt x="3463" y="0"/>
                      <a:pt x="2756" y="1"/>
                      <a:pt x="2009" y="118"/>
                    </a:cubicBezTo>
                    <a:cubicBezTo>
                      <a:pt x="1186" y="265"/>
                      <a:pt x="538" y="585"/>
                      <a:pt x="238" y="991"/>
                    </a:cubicBezTo>
                    <a:cubicBezTo>
                      <a:pt x="0" y="1362"/>
                      <a:pt x="0" y="1711"/>
                      <a:pt x="0" y="2399"/>
                    </a:cubicBezTo>
                    <a:lnTo>
                      <a:pt x="0" y="19190"/>
                    </a:lnTo>
                    <a:cubicBezTo>
                      <a:pt x="0" y="19888"/>
                      <a:pt x="0" y="20238"/>
                      <a:pt x="238" y="20609"/>
                    </a:cubicBezTo>
                    <a:cubicBezTo>
                      <a:pt x="538" y="21015"/>
                      <a:pt x="1186" y="21335"/>
                      <a:pt x="2009" y="21482"/>
                    </a:cubicBezTo>
                    <a:cubicBezTo>
                      <a:pt x="2761" y="21600"/>
                      <a:pt x="3468" y="21600"/>
                      <a:pt x="4862" y="21600"/>
                    </a:cubicBezTo>
                    <a:lnTo>
                      <a:pt x="16717" y="21600"/>
                    </a:lnTo>
                    <a:cubicBezTo>
                      <a:pt x="18133" y="21600"/>
                      <a:pt x="18840" y="21600"/>
                      <a:pt x="19592" y="21482"/>
                    </a:cubicBezTo>
                    <a:cubicBezTo>
                      <a:pt x="20415" y="21335"/>
                      <a:pt x="21062" y="21015"/>
                      <a:pt x="21362" y="20609"/>
                    </a:cubicBezTo>
                    <a:cubicBezTo>
                      <a:pt x="21600" y="20238"/>
                      <a:pt x="21600" y="19888"/>
                      <a:pt x="21600" y="19200"/>
                    </a:cubicBezTo>
                    <a:lnTo>
                      <a:pt x="21600" y="2410"/>
                    </a:lnTo>
                    <a:cubicBezTo>
                      <a:pt x="21600" y="1711"/>
                      <a:pt x="21600" y="1362"/>
                      <a:pt x="21362" y="991"/>
                    </a:cubicBezTo>
                    <a:cubicBezTo>
                      <a:pt x="21062" y="585"/>
                      <a:pt x="20415" y="265"/>
                      <a:pt x="19592" y="118"/>
                    </a:cubicBezTo>
                    <a:cubicBezTo>
                      <a:pt x="18840" y="0"/>
                      <a:pt x="18132" y="0"/>
                      <a:pt x="16738" y="0"/>
                    </a:cubicBezTo>
                    <a:lnTo>
                      <a:pt x="4862" y="0"/>
                    </a:lnTo>
                    <a:close/>
                    <a:moveTo>
                      <a:pt x="4609" y="377"/>
                    </a:moveTo>
                    <a:lnTo>
                      <a:pt x="16991" y="377"/>
                    </a:lnTo>
                    <a:cubicBezTo>
                      <a:pt x="18073" y="377"/>
                      <a:pt x="18624" y="376"/>
                      <a:pt x="19208" y="468"/>
                    </a:cubicBezTo>
                    <a:cubicBezTo>
                      <a:pt x="19847" y="582"/>
                      <a:pt x="20351" y="831"/>
                      <a:pt x="20583" y="1146"/>
                    </a:cubicBezTo>
                    <a:cubicBezTo>
                      <a:pt x="20768" y="1434"/>
                      <a:pt x="20768" y="1706"/>
                      <a:pt x="20768" y="2249"/>
                    </a:cubicBezTo>
                    <a:lnTo>
                      <a:pt x="20768" y="19359"/>
                    </a:lnTo>
                    <a:cubicBezTo>
                      <a:pt x="20768" y="19893"/>
                      <a:pt x="20768" y="20165"/>
                      <a:pt x="20583" y="20453"/>
                    </a:cubicBezTo>
                    <a:cubicBezTo>
                      <a:pt x="20351" y="20768"/>
                      <a:pt x="19847" y="21017"/>
                      <a:pt x="19208" y="21132"/>
                    </a:cubicBezTo>
                    <a:cubicBezTo>
                      <a:pt x="18624" y="21223"/>
                      <a:pt x="18073" y="21223"/>
                      <a:pt x="16974" y="21223"/>
                    </a:cubicBezTo>
                    <a:lnTo>
                      <a:pt x="4609" y="21223"/>
                    </a:lnTo>
                    <a:cubicBezTo>
                      <a:pt x="3527" y="21223"/>
                      <a:pt x="2976" y="21223"/>
                      <a:pt x="2392" y="21132"/>
                    </a:cubicBezTo>
                    <a:cubicBezTo>
                      <a:pt x="1753" y="21017"/>
                      <a:pt x="1251" y="20768"/>
                      <a:pt x="1018" y="20453"/>
                    </a:cubicBezTo>
                    <a:cubicBezTo>
                      <a:pt x="833" y="20165"/>
                      <a:pt x="832" y="19893"/>
                      <a:pt x="832" y="19351"/>
                    </a:cubicBezTo>
                    <a:lnTo>
                      <a:pt x="832" y="2240"/>
                    </a:lnTo>
                    <a:cubicBezTo>
                      <a:pt x="832" y="1706"/>
                      <a:pt x="833" y="1434"/>
                      <a:pt x="1018" y="1146"/>
                    </a:cubicBezTo>
                    <a:cubicBezTo>
                      <a:pt x="1251" y="831"/>
                      <a:pt x="1753" y="582"/>
                      <a:pt x="2392" y="468"/>
                    </a:cubicBezTo>
                    <a:cubicBezTo>
                      <a:pt x="2973" y="377"/>
                      <a:pt x="3522" y="377"/>
                      <a:pt x="4609" y="37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/>
              </a:bodyPr>
              <a:lstStyle/>
              <a:p>
                <a:pPr>
                  <a:defRPr sz="3200">
                    <a:solidFill>
                      <a:schemeClr val="accent1">
                        <a:hueOff val="-12342858"/>
                        <a:satOff val="-30434"/>
                        <a:lumOff val="4509"/>
                      </a:schemeClr>
                    </a:solidFill>
                  </a:defRPr>
                </a:pPr>
                <a:endParaRPr/>
              </a:p>
            </p:txBody>
          </p:sp>
          <p:sp>
            <p:nvSpPr>
              <p:cNvPr id="21" name="îṣḻiḑé">
                <a:extLst>
                  <a:ext uri="{FF2B5EF4-FFF2-40B4-BE49-F238E27FC236}">
                    <a16:creationId xmlns:a16="http://schemas.microsoft.com/office/drawing/2014/main" id="{4971674F-08B0-986D-6D0E-FAFB6BFAB588}"/>
                  </a:ext>
                </a:extLst>
              </p:cNvPr>
              <p:cNvSpPr/>
              <p:nvPr/>
            </p:nvSpPr>
            <p:spPr>
              <a:xfrm>
                <a:off x="1397297" y="1463536"/>
                <a:ext cx="2151478" cy="44285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78" y="0"/>
                    </a:moveTo>
                    <a:cubicBezTo>
                      <a:pt x="3189" y="0"/>
                      <a:pt x="2539" y="1"/>
                      <a:pt x="1850" y="107"/>
                    </a:cubicBezTo>
                    <a:cubicBezTo>
                      <a:pt x="1093" y="241"/>
                      <a:pt x="495" y="531"/>
                      <a:pt x="219" y="899"/>
                    </a:cubicBezTo>
                    <a:cubicBezTo>
                      <a:pt x="0" y="1235"/>
                      <a:pt x="0" y="1552"/>
                      <a:pt x="0" y="2175"/>
                    </a:cubicBezTo>
                    <a:lnTo>
                      <a:pt x="0" y="19415"/>
                    </a:lnTo>
                    <a:cubicBezTo>
                      <a:pt x="0" y="20049"/>
                      <a:pt x="0" y="20365"/>
                      <a:pt x="219" y="20701"/>
                    </a:cubicBezTo>
                    <a:cubicBezTo>
                      <a:pt x="495" y="21069"/>
                      <a:pt x="1093" y="21359"/>
                      <a:pt x="1850" y="21493"/>
                    </a:cubicBezTo>
                    <a:cubicBezTo>
                      <a:pt x="2543" y="21600"/>
                      <a:pt x="3194" y="21600"/>
                      <a:pt x="4478" y="21600"/>
                    </a:cubicBezTo>
                    <a:lnTo>
                      <a:pt x="17103" y="21600"/>
                    </a:lnTo>
                    <a:cubicBezTo>
                      <a:pt x="18407" y="21600"/>
                      <a:pt x="19057" y="21600"/>
                      <a:pt x="19750" y="21493"/>
                    </a:cubicBezTo>
                    <a:cubicBezTo>
                      <a:pt x="20507" y="21359"/>
                      <a:pt x="21105" y="21069"/>
                      <a:pt x="21381" y="20701"/>
                    </a:cubicBezTo>
                    <a:cubicBezTo>
                      <a:pt x="21600" y="20365"/>
                      <a:pt x="21600" y="20048"/>
                      <a:pt x="21600" y="19425"/>
                    </a:cubicBezTo>
                    <a:lnTo>
                      <a:pt x="21600" y="2185"/>
                    </a:lnTo>
                    <a:cubicBezTo>
                      <a:pt x="21600" y="1551"/>
                      <a:pt x="21600" y="1235"/>
                      <a:pt x="21381" y="899"/>
                    </a:cubicBezTo>
                    <a:cubicBezTo>
                      <a:pt x="21105" y="531"/>
                      <a:pt x="20507" y="241"/>
                      <a:pt x="19750" y="107"/>
                    </a:cubicBezTo>
                    <a:cubicBezTo>
                      <a:pt x="19057" y="0"/>
                      <a:pt x="18406" y="0"/>
                      <a:pt x="17122" y="0"/>
                    </a:cubicBezTo>
                    <a:lnTo>
                      <a:pt x="4478" y="0"/>
                    </a:lnTo>
                    <a:close/>
                    <a:moveTo>
                      <a:pt x="4068" y="499"/>
                    </a:moveTo>
                    <a:lnTo>
                      <a:pt x="5025" y="499"/>
                    </a:lnTo>
                    <a:cubicBezTo>
                      <a:pt x="5096" y="503"/>
                      <a:pt x="5163" y="515"/>
                      <a:pt x="5212" y="541"/>
                    </a:cubicBezTo>
                    <a:cubicBezTo>
                      <a:pt x="5257" y="565"/>
                      <a:pt x="5280" y="596"/>
                      <a:pt x="5285" y="628"/>
                    </a:cubicBezTo>
                    <a:cubicBezTo>
                      <a:pt x="5292" y="675"/>
                      <a:pt x="5300" y="719"/>
                      <a:pt x="5312" y="761"/>
                    </a:cubicBezTo>
                    <a:cubicBezTo>
                      <a:pt x="5325" y="807"/>
                      <a:pt x="5343" y="851"/>
                      <a:pt x="5369" y="893"/>
                    </a:cubicBezTo>
                    <a:cubicBezTo>
                      <a:pt x="5426" y="969"/>
                      <a:pt x="5516" y="1037"/>
                      <a:pt x="5631" y="1092"/>
                    </a:cubicBezTo>
                    <a:cubicBezTo>
                      <a:pt x="5746" y="1148"/>
                      <a:pt x="5886" y="1192"/>
                      <a:pt x="6042" y="1220"/>
                    </a:cubicBezTo>
                    <a:cubicBezTo>
                      <a:pt x="6185" y="1242"/>
                      <a:pt x="6324" y="1253"/>
                      <a:pt x="6494" y="1258"/>
                    </a:cubicBezTo>
                    <a:cubicBezTo>
                      <a:pt x="6664" y="1264"/>
                      <a:pt x="6866" y="1263"/>
                      <a:pt x="7135" y="1263"/>
                    </a:cubicBezTo>
                    <a:lnTo>
                      <a:pt x="14440" y="1263"/>
                    </a:lnTo>
                    <a:cubicBezTo>
                      <a:pt x="14708" y="1263"/>
                      <a:pt x="14910" y="1264"/>
                      <a:pt x="15080" y="1258"/>
                    </a:cubicBezTo>
                    <a:cubicBezTo>
                      <a:pt x="15251" y="1253"/>
                      <a:pt x="15390" y="1242"/>
                      <a:pt x="15533" y="1220"/>
                    </a:cubicBezTo>
                    <a:cubicBezTo>
                      <a:pt x="15689" y="1192"/>
                      <a:pt x="15829" y="1148"/>
                      <a:pt x="15944" y="1092"/>
                    </a:cubicBezTo>
                    <a:cubicBezTo>
                      <a:pt x="16058" y="1037"/>
                      <a:pt x="16148" y="969"/>
                      <a:pt x="16205" y="893"/>
                    </a:cubicBezTo>
                    <a:cubicBezTo>
                      <a:pt x="16232" y="851"/>
                      <a:pt x="16249" y="807"/>
                      <a:pt x="16262" y="761"/>
                    </a:cubicBezTo>
                    <a:cubicBezTo>
                      <a:pt x="16274" y="719"/>
                      <a:pt x="16282" y="675"/>
                      <a:pt x="16289" y="628"/>
                    </a:cubicBezTo>
                    <a:cubicBezTo>
                      <a:pt x="16294" y="596"/>
                      <a:pt x="16318" y="565"/>
                      <a:pt x="16362" y="541"/>
                    </a:cubicBezTo>
                    <a:cubicBezTo>
                      <a:pt x="16412" y="515"/>
                      <a:pt x="16480" y="503"/>
                      <a:pt x="16551" y="499"/>
                    </a:cubicBezTo>
                    <a:lnTo>
                      <a:pt x="17532" y="499"/>
                    </a:lnTo>
                    <a:cubicBezTo>
                      <a:pt x="18404" y="499"/>
                      <a:pt x="18846" y="499"/>
                      <a:pt x="19317" y="571"/>
                    </a:cubicBezTo>
                    <a:cubicBezTo>
                      <a:pt x="19831" y="662"/>
                      <a:pt x="20237" y="859"/>
                      <a:pt x="20424" y="1109"/>
                    </a:cubicBezTo>
                    <a:cubicBezTo>
                      <a:pt x="20573" y="1338"/>
                      <a:pt x="20573" y="1553"/>
                      <a:pt x="20573" y="1983"/>
                    </a:cubicBezTo>
                    <a:lnTo>
                      <a:pt x="20573" y="19623"/>
                    </a:lnTo>
                    <a:cubicBezTo>
                      <a:pt x="20573" y="20046"/>
                      <a:pt x="20573" y="20262"/>
                      <a:pt x="20424" y="20491"/>
                    </a:cubicBezTo>
                    <a:cubicBezTo>
                      <a:pt x="20237" y="20741"/>
                      <a:pt x="19831" y="20938"/>
                      <a:pt x="19317" y="21029"/>
                    </a:cubicBezTo>
                    <a:cubicBezTo>
                      <a:pt x="18846" y="21101"/>
                      <a:pt x="18403" y="21101"/>
                      <a:pt x="17517" y="21101"/>
                    </a:cubicBezTo>
                    <a:lnTo>
                      <a:pt x="4068" y="21101"/>
                    </a:lnTo>
                    <a:cubicBezTo>
                      <a:pt x="3196" y="21101"/>
                      <a:pt x="2754" y="21101"/>
                      <a:pt x="2283" y="21029"/>
                    </a:cubicBezTo>
                    <a:cubicBezTo>
                      <a:pt x="1769" y="20938"/>
                      <a:pt x="1363" y="20741"/>
                      <a:pt x="1176" y="20491"/>
                    </a:cubicBezTo>
                    <a:cubicBezTo>
                      <a:pt x="1027" y="20262"/>
                      <a:pt x="1027" y="20047"/>
                      <a:pt x="1027" y="19617"/>
                    </a:cubicBezTo>
                    <a:lnTo>
                      <a:pt x="1027" y="1977"/>
                    </a:lnTo>
                    <a:cubicBezTo>
                      <a:pt x="1027" y="1554"/>
                      <a:pt x="1027" y="1338"/>
                      <a:pt x="1176" y="1109"/>
                    </a:cubicBezTo>
                    <a:cubicBezTo>
                      <a:pt x="1363" y="859"/>
                      <a:pt x="1769" y="662"/>
                      <a:pt x="2283" y="571"/>
                    </a:cubicBezTo>
                    <a:cubicBezTo>
                      <a:pt x="2751" y="499"/>
                      <a:pt x="3195" y="499"/>
                      <a:pt x="4068" y="49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/>
              </a:bodyPr>
              <a:lstStyle/>
              <a:p>
                <a:pPr>
                  <a:defRPr sz="3200">
                    <a:solidFill>
                      <a:schemeClr val="accent1">
                        <a:hueOff val="-12342858"/>
                        <a:satOff val="-30434"/>
                        <a:lumOff val="4509"/>
                      </a:schemeClr>
                    </a:solidFill>
                  </a:defRPr>
                </a:pPr>
                <a:endParaRPr/>
              </a:p>
            </p:txBody>
          </p:sp>
          <p:sp>
            <p:nvSpPr>
              <p:cNvPr id="22" name="íṣlîḋè">
                <a:extLst>
                  <a:ext uri="{FF2B5EF4-FFF2-40B4-BE49-F238E27FC236}">
                    <a16:creationId xmlns:a16="http://schemas.microsoft.com/office/drawing/2014/main" id="{D7EDB46F-E854-FF4A-F6F5-FDF4B90CBD9F}"/>
                  </a:ext>
                </a:extLst>
              </p:cNvPr>
              <p:cNvSpPr/>
              <p:nvPr/>
            </p:nvSpPr>
            <p:spPr>
              <a:xfrm>
                <a:off x="2673865" y="1574168"/>
                <a:ext cx="63423" cy="63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 fontScale="25000" lnSpcReduction="20000"/>
              </a:bodyPr>
              <a:lstStyle/>
              <a:p>
                <a:pPr>
                  <a:defRPr sz="3200">
                    <a:solidFill>
                      <a:schemeClr val="accent1">
                        <a:hueOff val="-12342858"/>
                        <a:satOff val="-30434"/>
                        <a:lumOff val="4509"/>
                      </a:schemeClr>
                    </a:solidFill>
                  </a:defRPr>
                </a:pPr>
                <a:endParaRPr/>
              </a:p>
            </p:txBody>
          </p:sp>
          <p:sp>
            <p:nvSpPr>
              <p:cNvPr id="23" name="iśḻîḓé">
                <a:extLst>
                  <a:ext uri="{FF2B5EF4-FFF2-40B4-BE49-F238E27FC236}">
                    <a16:creationId xmlns:a16="http://schemas.microsoft.com/office/drawing/2014/main" id="{EB0D2CEC-D17B-EDB3-B073-D82E3BAEA1C9}"/>
                  </a:ext>
                </a:extLst>
              </p:cNvPr>
              <p:cNvSpPr/>
              <p:nvPr/>
            </p:nvSpPr>
            <p:spPr>
              <a:xfrm>
                <a:off x="2335635" y="1586801"/>
                <a:ext cx="271017" cy="382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24" y="0"/>
                    </a:moveTo>
                    <a:cubicBezTo>
                      <a:pt x="1103" y="0"/>
                      <a:pt x="729" y="1260"/>
                      <a:pt x="453" y="3213"/>
                    </a:cubicBezTo>
                    <a:cubicBezTo>
                      <a:pt x="178" y="5166"/>
                      <a:pt x="0" y="7820"/>
                      <a:pt x="0" y="10800"/>
                    </a:cubicBezTo>
                    <a:cubicBezTo>
                      <a:pt x="0" y="16761"/>
                      <a:pt x="683" y="21600"/>
                      <a:pt x="1524" y="21600"/>
                    </a:cubicBezTo>
                    <a:cubicBezTo>
                      <a:pt x="1961" y="21600"/>
                      <a:pt x="2397" y="21600"/>
                      <a:pt x="2834" y="21600"/>
                    </a:cubicBezTo>
                    <a:cubicBezTo>
                      <a:pt x="5336" y="21600"/>
                      <a:pt x="7838" y="21600"/>
                      <a:pt x="10340" y="21600"/>
                    </a:cubicBezTo>
                    <a:cubicBezTo>
                      <a:pt x="10533" y="21600"/>
                      <a:pt x="10727" y="21600"/>
                      <a:pt x="10920" y="21600"/>
                    </a:cubicBezTo>
                    <a:lnTo>
                      <a:pt x="20076" y="21600"/>
                    </a:lnTo>
                    <a:cubicBezTo>
                      <a:pt x="20497" y="21600"/>
                      <a:pt x="20871" y="20340"/>
                      <a:pt x="21147" y="18387"/>
                    </a:cubicBezTo>
                    <a:cubicBezTo>
                      <a:pt x="21422" y="16434"/>
                      <a:pt x="21600" y="13780"/>
                      <a:pt x="21600" y="10800"/>
                    </a:cubicBezTo>
                    <a:cubicBezTo>
                      <a:pt x="21600" y="4839"/>
                      <a:pt x="20917" y="0"/>
                      <a:pt x="20076" y="0"/>
                    </a:cubicBezTo>
                    <a:cubicBezTo>
                      <a:pt x="19639" y="0"/>
                      <a:pt x="19203" y="0"/>
                      <a:pt x="18766" y="0"/>
                    </a:cubicBezTo>
                    <a:cubicBezTo>
                      <a:pt x="16264" y="0"/>
                      <a:pt x="13762" y="0"/>
                      <a:pt x="11260" y="0"/>
                    </a:cubicBezTo>
                    <a:lnTo>
                      <a:pt x="1524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 fontScale="25000" lnSpcReduction="20000"/>
              </a:bodyPr>
              <a:lstStyle/>
              <a:p>
                <a:pPr>
                  <a:defRPr sz="3200">
                    <a:solidFill>
                      <a:schemeClr val="accent1">
                        <a:hueOff val="-12342858"/>
                        <a:satOff val="-30434"/>
                        <a:lumOff val="4509"/>
                      </a:schemeClr>
                    </a:solidFill>
                  </a:defRPr>
                </a:pPr>
                <a:endParaRPr/>
              </a:p>
            </p:txBody>
          </p:sp>
        </p:grpSp>
        <p:sp>
          <p:nvSpPr>
            <p:cNvPr id="3" name="Title">
              <a:extLst>
                <a:ext uri="{FF2B5EF4-FFF2-40B4-BE49-F238E27FC236}">
                  <a16:creationId xmlns:a16="http://schemas.microsoft.com/office/drawing/2014/main" id="{313BFE6E-57C7-51E5-3ED5-949FAA2CC2B6}"/>
                </a:ext>
              </a:extLst>
            </p:cNvPr>
            <p:cNvSpPr txBox="1">
              <a:spLocks/>
            </p:cNvSpPr>
            <p:nvPr/>
          </p:nvSpPr>
          <p:spPr>
            <a:xfrm>
              <a:off x="4488441" y="2045253"/>
              <a:ext cx="7030458" cy="461665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endParaRPr lang="en-US" dirty="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6EB3DD3-306A-CF51-87C2-9C22D709416D}"/>
                </a:ext>
              </a:extLst>
            </p:cNvPr>
            <p:cNvGrpSpPr/>
            <p:nvPr/>
          </p:nvGrpSpPr>
          <p:grpSpPr>
            <a:xfrm>
              <a:off x="4488441" y="2771046"/>
              <a:ext cx="3325387" cy="1172724"/>
              <a:chOff x="4488441" y="2771046"/>
              <a:chExt cx="3325387" cy="1172724"/>
            </a:xfrm>
          </p:grpSpPr>
          <p:sp>
            <p:nvSpPr>
              <p:cNvPr id="32" name="IconBackground1">
                <a:extLst>
                  <a:ext uri="{FF2B5EF4-FFF2-40B4-BE49-F238E27FC236}">
                    <a16:creationId xmlns:a16="http://schemas.microsoft.com/office/drawing/2014/main" id="{53A27DDC-36A3-E18E-E92E-2B542234CDBE}"/>
                  </a:ext>
                </a:extLst>
              </p:cNvPr>
              <p:cNvSpPr/>
              <p:nvPr/>
            </p:nvSpPr>
            <p:spPr>
              <a:xfrm>
                <a:off x="4488441" y="2788291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Icon1">
                <a:extLst>
                  <a:ext uri="{FF2B5EF4-FFF2-40B4-BE49-F238E27FC236}">
                    <a16:creationId xmlns:a16="http://schemas.microsoft.com/office/drawing/2014/main" id="{5A9F5667-EBB5-D0AC-8178-CC200BB4E517}"/>
                  </a:ext>
                </a:extLst>
              </p:cNvPr>
              <p:cNvSpPr/>
              <p:nvPr/>
            </p:nvSpPr>
            <p:spPr>
              <a:xfrm>
                <a:off x="4604541" y="2922470"/>
                <a:ext cx="178001" cy="148188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Bullet1">
                <a:extLst>
                  <a:ext uri="{FF2B5EF4-FFF2-40B4-BE49-F238E27FC236}">
                    <a16:creationId xmlns:a16="http://schemas.microsoft.com/office/drawing/2014/main" id="{80E0454D-2C56-8D6C-59A4-7D257E086E5B}"/>
                  </a:ext>
                </a:extLst>
              </p:cNvPr>
              <p:cNvSpPr txBox="1"/>
              <p:nvPr/>
            </p:nvSpPr>
            <p:spPr>
              <a:xfrm>
                <a:off x="4946714" y="2771046"/>
                <a:ext cx="2627566" cy="396570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 dirty="0"/>
                  <a:t>创新研发需要长期坚持</a:t>
                </a:r>
                <a:endParaRPr lang="en-US" dirty="0"/>
              </a:p>
            </p:txBody>
          </p:sp>
          <p:sp>
            <p:nvSpPr>
              <p:cNvPr id="43" name="Text1">
                <a:extLst>
                  <a:ext uri="{FF2B5EF4-FFF2-40B4-BE49-F238E27FC236}">
                    <a16:creationId xmlns:a16="http://schemas.microsoft.com/office/drawing/2014/main" id="{78DAB074-299A-EF71-4F78-D4AE08E8EF55}"/>
                  </a:ext>
                </a:extLst>
              </p:cNvPr>
              <p:cNvSpPr txBox="1"/>
              <p:nvPr/>
            </p:nvSpPr>
            <p:spPr>
              <a:xfrm>
                <a:off x="4945949" y="3206965"/>
                <a:ext cx="2867879" cy="736805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这是由基础软件的特点决定的。其包括复杂性、渐进性、持久性。</a:t>
                </a:r>
                <a:endParaRPr lang="en-US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4E22A73-24A7-1C29-73F8-7200A3349EC3}"/>
                </a:ext>
              </a:extLst>
            </p:cNvPr>
            <p:cNvGrpSpPr/>
            <p:nvPr/>
          </p:nvGrpSpPr>
          <p:grpSpPr>
            <a:xfrm>
              <a:off x="8115355" y="2791467"/>
              <a:ext cx="3278079" cy="1143827"/>
              <a:chOff x="8115355" y="2791467"/>
              <a:chExt cx="3278079" cy="1143827"/>
            </a:xfrm>
          </p:grpSpPr>
          <p:sp>
            <p:nvSpPr>
              <p:cNvPr id="38" name="IconBackground2">
                <a:extLst>
                  <a:ext uri="{FF2B5EF4-FFF2-40B4-BE49-F238E27FC236}">
                    <a16:creationId xmlns:a16="http://schemas.microsoft.com/office/drawing/2014/main" id="{159CFA78-927E-995D-667E-AEC38478B055}"/>
                  </a:ext>
                </a:extLst>
              </p:cNvPr>
              <p:cNvSpPr/>
              <p:nvPr/>
            </p:nvSpPr>
            <p:spPr>
              <a:xfrm>
                <a:off x="8115355" y="2791467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6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Icon2">
                <a:extLst>
                  <a:ext uri="{FF2B5EF4-FFF2-40B4-BE49-F238E27FC236}">
                    <a16:creationId xmlns:a16="http://schemas.microsoft.com/office/drawing/2014/main" id="{6EA75F5F-553C-F774-726E-4B58952C9E46}"/>
                  </a:ext>
                </a:extLst>
              </p:cNvPr>
              <p:cNvSpPr/>
              <p:nvPr/>
            </p:nvSpPr>
            <p:spPr>
              <a:xfrm>
                <a:off x="8231455" y="2912336"/>
                <a:ext cx="178001" cy="162108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Bullet2">
                <a:extLst>
                  <a:ext uri="{FF2B5EF4-FFF2-40B4-BE49-F238E27FC236}">
                    <a16:creationId xmlns:a16="http://schemas.microsoft.com/office/drawing/2014/main" id="{498D49AB-27C6-0D42-20CD-D69453B3FEC1}"/>
                  </a:ext>
                </a:extLst>
              </p:cNvPr>
              <p:cNvSpPr txBox="1"/>
              <p:nvPr/>
            </p:nvSpPr>
            <p:spPr>
              <a:xfrm>
                <a:off x="8525555" y="2797103"/>
                <a:ext cx="2627566" cy="396570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 dirty="0"/>
                  <a:t>基础软件是技术根本</a:t>
                </a:r>
                <a:endParaRPr lang="en-US" dirty="0"/>
              </a:p>
            </p:txBody>
          </p:sp>
          <p:sp>
            <p:nvSpPr>
              <p:cNvPr id="47" name="Text2">
                <a:extLst>
                  <a:ext uri="{FF2B5EF4-FFF2-40B4-BE49-F238E27FC236}">
                    <a16:creationId xmlns:a16="http://schemas.microsoft.com/office/drawing/2014/main" id="{6175C961-B177-E493-4623-4959EF6641A8}"/>
                  </a:ext>
                </a:extLst>
              </p:cNvPr>
              <p:cNvSpPr txBox="1"/>
              <p:nvPr/>
            </p:nvSpPr>
            <p:spPr>
              <a:xfrm>
                <a:off x="8525555" y="3198489"/>
                <a:ext cx="2867879" cy="73680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目前国内的基础软件发展并不平衡，在很多方面举例最高水平还有较大差距。</a:t>
                </a:r>
                <a:endParaRPr lang="en-US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7891E79-9E66-8F76-2A40-16FBD8A1DDDF}"/>
                </a:ext>
              </a:extLst>
            </p:cNvPr>
            <p:cNvGrpSpPr/>
            <p:nvPr/>
          </p:nvGrpSpPr>
          <p:grpSpPr>
            <a:xfrm>
              <a:off x="4488441" y="4180749"/>
              <a:ext cx="3325387" cy="1172724"/>
              <a:chOff x="4488441" y="4180749"/>
              <a:chExt cx="3325387" cy="1172724"/>
            </a:xfrm>
          </p:grpSpPr>
          <p:sp>
            <p:nvSpPr>
              <p:cNvPr id="35" name="IconBackground3">
                <a:extLst>
                  <a:ext uri="{FF2B5EF4-FFF2-40B4-BE49-F238E27FC236}">
                    <a16:creationId xmlns:a16="http://schemas.microsoft.com/office/drawing/2014/main" id="{FEDA28F7-68BD-3573-ED69-59755DEDD836}"/>
                  </a:ext>
                </a:extLst>
              </p:cNvPr>
              <p:cNvSpPr/>
              <p:nvPr/>
            </p:nvSpPr>
            <p:spPr>
              <a:xfrm>
                <a:off x="4488441" y="4200118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con3">
                <a:extLst>
                  <a:ext uri="{FF2B5EF4-FFF2-40B4-BE49-F238E27FC236}">
                    <a16:creationId xmlns:a16="http://schemas.microsoft.com/office/drawing/2014/main" id="{803B7F14-1421-7F14-CAEF-3515DDEFE60D}"/>
                  </a:ext>
                </a:extLst>
              </p:cNvPr>
              <p:cNvSpPr/>
              <p:nvPr/>
            </p:nvSpPr>
            <p:spPr>
              <a:xfrm>
                <a:off x="4604541" y="4340696"/>
                <a:ext cx="178001" cy="141741"/>
              </a:xfrm>
              <a:custGeom>
                <a:avLst/>
                <a:gdLst>
                  <a:gd name="connsiteX0" fmla="*/ 486767 w 514350"/>
                  <a:gd name="connsiteY0" fmla="*/ 621 h 409575"/>
                  <a:gd name="connsiteX1" fmla="*/ 515342 w 514350"/>
                  <a:gd name="connsiteY1" fmla="*/ 29196 h 409575"/>
                  <a:gd name="connsiteX2" fmla="*/ 515342 w 514350"/>
                  <a:gd name="connsiteY2" fmla="*/ 324471 h 409575"/>
                  <a:gd name="connsiteX3" fmla="*/ 486767 w 514350"/>
                  <a:gd name="connsiteY3" fmla="*/ 353046 h 409575"/>
                  <a:gd name="connsiteX4" fmla="*/ 192159 w 514350"/>
                  <a:gd name="connsiteY4" fmla="*/ 353046 h 409575"/>
                  <a:gd name="connsiteX5" fmla="*/ 115387 w 514350"/>
                  <a:gd name="connsiteY5" fmla="*/ 410196 h 409575"/>
                  <a:gd name="connsiteX6" fmla="*/ 115387 w 514350"/>
                  <a:gd name="connsiteY6" fmla="*/ 353046 h 409575"/>
                  <a:gd name="connsiteX7" fmla="*/ 29567 w 514350"/>
                  <a:gd name="connsiteY7" fmla="*/ 353046 h 409575"/>
                  <a:gd name="connsiteX8" fmla="*/ 992 w 514350"/>
                  <a:gd name="connsiteY8" fmla="*/ 324471 h 409575"/>
                  <a:gd name="connsiteX9" fmla="*/ 992 w 514350"/>
                  <a:gd name="connsiteY9" fmla="*/ 29196 h 409575"/>
                  <a:gd name="connsiteX10" fmla="*/ 29567 w 514350"/>
                  <a:gd name="connsiteY10" fmla="*/ 621 h 409575"/>
                  <a:gd name="connsiteX11" fmla="*/ 486767 w 514350"/>
                  <a:gd name="connsiteY11" fmla="*/ 621 h 409575"/>
                  <a:gd name="connsiteX12" fmla="*/ 124817 w 514350"/>
                  <a:gd name="connsiteY12" fmla="*/ 143496 h 409575"/>
                  <a:gd name="connsiteX13" fmla="*/ 91480 w 514350"/>
                  <a:gd name="connsiteY13" fmla="*/ 176834 h 409575"/>
                  <a:gd name="connsiteX14" fmla="*/ 124817 w 514350"/>
                  <a:gd name="connsiteY14" fmla="*/ 210171 h 409575"/>
                  <a:gd name="connsiteX15" fmla="*/ 158155 w 514350"/>
                  <a:gd name="connsiteY15" fmla="*/ 176834 h 409575"/>
                  <a:gd name="connsiteX16" fmla="*/ 124817 w 514350"/>
                  <a:gd name="connsiteY16" fmla="*/ 143496 h 409575"/>
                  <a:gd name="connsiteX17" fmla="*/ 258167 w 514350"/>
                  <a:gd name="connsiteY17" fmla="*/ 143496 h 409575"/>
                  <a:gd name="connsiteX18" fmla="*/ 224830 w 514350"/>
                  <a:gd name="connsiteY18" fmla="*/ 176834 h 409575"/>
                  <a:gd name="connsiteX19" fmla="*/ 258167 w 514350"/>
                  <a:gd name="connsiteY19" fmla="*/ 210171 h 409575"/>
                  <a:gd name="connsiteX20" fmla="*/ 291505 w 514350"/>
                  <a:gd name="connsiteY20" fmla="*/ 176834 h 409575"/>
                  <a:gd name="connsiteX21" fmla="*/ 258167 w 514350"/>
                  <a:gd name="connsiteY21" fmla="*/ 143496 h 409575"/>
                  <a:gd name="connsiteX22" fmla="*/ 391517 w 514350"/>
                  <a:gd name="connsiteY22" fmla="*/ 143496 h 409575"/>
                  <a:gd name="connsiteX23" fmla="*/ 358180 w 514350"/>
                  <a:gd name="connsiteY23" fmla="*/ 176834 h 409575"/>
                  <a:gd name="connsiteX24" fmla="*/ 391517 w 514350"/>
                  <a:gd name="connsiteY24" fmla="*/ 210171 h 409575"/>
                  <a:gd name="connsiteX25" fmla="*/ 424855 w 514350"/>
                  <a:gd name="connsiteY25" fmla="*/ 176834 h 409575"/>
                  <a:gd name="connsiteX26" fmla="*/ 391517 w 514350"/>
                  <a:gd name="connsiteY26" fmla="*/ 143496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Bullet3">
                <a:extLst>
                  <a:ext uri="{FF2B5EF4-FFF2-40B4-BE49-F238E27FC236}">
                    <a16:creationId xmlns:a16="http://schemas.microsoft.com/office/drawing/2014/main" id="{D309FAB2-A5BA-7523-0545-3805D5D2CAF6}"/>
                  </a:ext>
                </a:extLst>
              </p:cNvPr>
              <p:cNvSpPr txBox="1"/>
              <p:nvPr/>
            </p:nvSpPr>
            <p:spPr>
              <a:xfrm>
                <a:off x="4946714" y="4180749"/>
                <a:ext cx="2627566" cy="396570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 dirty="0"/>
                  <a:t>自主创新才能保障安全</a:t>
                </a:r>
                <a:endParaRPr lang="en-US" dirty="0"/>
              </a:p>
            </p:txBody>
          </p:sp>
          <p:sp>
            <p:nvSpPr>
              <p:cNvPr id="51" name="Text3">
                <a:extLst>
                  <a:ext uri="{FF2B5EF4-FFF2-40B4-BE49-F238E27FC236}">
                    <a16:creationId xmlns:a16="http://schemas.microsoft.com/office/drawing/2014/main" id="{8C0DD1A3-C1A5-E9B5-232C-D18FD6513616}"/>
                  </a:ext>
                </a:extLst>
              </p:cNvPr>
              <p:cNvSpPr txBox="1"/>
              <p:nvPr/>
            </p:nvSpPr>
            <p:spPr>
              <a:xfrm>
                <a:off x="4945949" y="4616668"/>
                <a:ext cx="2867879" cy="736805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保障基础软件供应链的安全，必须从根本出发。</a:t>
                </a:r>
                <a:endParaRPr 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CECF889-709E-1590-1BBC-032E6193BCFC}"/>
                </a:ext>
              </a:extLst>
            </p:cNvPr>
            <p:cNvGrpSpPr/>
            <p:nvPr/>
          </p:nvGrpSpPr>
          <p:grpSpPr>
            <a:xfrm>
              <a:off x="8115355" y="4172273"/>
              <a:ext cx="3324519" cy="1172724"/>
              <a:chOff x="8115355" y="4172273"/>
              <a:chExt cx="3324519" cy="1172724"/>
            </a:xfrm>
          </p:grpSpPr>
          <p:sp>
            <p:nvSpPr>
              <p:cNvPr id="29" name="IconBackground4">
                <a:extLst>
                  <a:ext uri="{FF2B5EF4-FFF2-40B4-BE49-F238E27FC236}">
                    <a16:creationId xmlns:a16="http://schemas.microsoft.com/office/drawing/2014/main" id="{9514543E-8139-97E9-9840-781673E91EE2}"/>
                  </a:ext>
                </a:extLst>
              </p:cNvPr>
              <p:cNvSpPr/>
              <p:nvPr/>
            </p:nvSpPr>
            <p:spPr>
              <a:xfrm>
                <a:off x="8115355" y="4206470"/>
                <a:ext cx="410200" cy="41019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Icon4">
                <a:extLst>
                  <a:ext uri="{FF2B5EF4-FFF2-40B4-BE49-F238E27FC236}">
                    <a16:creationId xmlns:a16="http://schemas.microsoft.com/office/drawing/2014/main" id="{804BE1DF-E9A4-B53D-B27D-72AFFF2EB9BC}"/>
                  </a:ext>
                </a:extLst>
              </p:cNvPr>
              <p:cNvSpPr/>
              <p:nvPr/>
            </p:nvSpPr>
            <p:spPr>
              <a:xfrm>
                <a:off x="8231455" y="4344819"/>
                <a:ext cx="178001" cy="13350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Bullet4">
                <a:extLst>
                  <a:ext uri="{FF2B5EF4-FFF2-40B4-BE49-F238E27FC236}">
                    <a16:creationId xmlns:a16="http://schemas.microsoft.com/office/drawing/2014/main" id="{78019F88-5987-3AFB-96BC-718AF964E0E1}"/>
                  </a:ext>
                </a:extLst>
              </p:cNvPr>
              <p:cNvSpPr txBox="1"/>
              <p:nvPr/>
            </p:nvSpPr>
            <p:spPr>
              <a:xfrm>
                <a:off x="8572760" y="4172273"/>
                <a:ext cx="2627566" cy="396570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 dirty="0"/>
                  <a:t>在研发源头构建体系</a:t>
                </a:r>
                <a:endParaRPr lang="en-US" dirty="0"/>
              </a:p>
            </p:txBody>
          </p:sp>
          <p:sp>
            <p:nvSpPr>
              <p:cNvPr id="55" name="Text4">
                <a:extLst>
                  <a:ext uri="{FF2B5EF4-FFF2-40B4-BE49-F238E27FC236}">
                    <a16:creationId xmlns:a16="http://schemas.microsoft.com/office/drawing/2014/main" id="{58D6E450-1A07-A7C9-BB77-8D930896C2A7}"/>
                  </a:ext>
                </a:extLst>
              </p:cNvPr>
              <p:cNvSpPr txBox="1"/>
              <p:nvPr/>
            </p:nvSpPr>
            <p:spPr>
              <a:xfrm>
                <a:off x="8571995" y="4608192"/>
                <a:ext cx="2867879" cy="736805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以自主创新技术构建应用安全闭环；以全线自主产品构筑应用本质安全；以自主研发保障软件基础安全。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迎接更高质量发展</a:t>
            </a:r>
            <a:endParaRPr lang="en-US" dirty="0"/>
          </a:p>
        </p:txBody>
      </p:sp>
      <p:grpSp>
        <p:nvGrpSpPr>
          <p:cNvPr id="5" name="diagram12.pptx">
            <a:extLst>
              <a:ext uri="{FF2B5EF4-FFF2-40B4-BE49-F238E27FC236}">
                <a16:creationId xmlns:a16="http://schemas.microsoft.com/office/drawing/2014/main" id="{72A8DB5B-62DE-8C71-73B1-9418690F62DC}"/>
              </a:ext>
            </a:extLst>
          </p:cNvPr>
          <p:cNvGrpSpPr/>
          <p:nvPr/>
        </p:nvGrpSpPr>
        <p:grpSpPr>
          <a:xfrm>
            <a:off x="0" y="1130300"/>
            <a:ext cx="12192000" cy="5003800"/>
            <a:chOff x="0" y="1130300"/>
            <a:chExt cx="12192000" cy="5003800"/>
          </a:xfrm>
        </p:grpSpPr>
        <p:sp>
          <p:nvSpPr>
            <p:cNvPr id="3" name="Title">
              <a:extLst>
                <a:ext uri="{FF2B5EF4-FFF2-40B4-BE49-F238E27FC236}">
                  <a16:creationId xmlns:a16="http://schemas.microsoft.com/office/drawing/2014/main" id="{5C77ECDC-07E2-DDA7-1605-F9D5892013BD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1D467BF-A6D8-9946-B5B9-420E78B85F84}"/>
                </a:ext>
              </a:extLst>
            </p:cNvPr>
            <p:cNvSpPr/>
            <p:nvPr/>
          </p:nvSpPr>
          <p:spPr>
            <a:xfrm>
              <a:off x="0" y="6070902"/>
              <a:ext cx="12192000" cy="631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65A83CC-FF5A-6E46-7B3A-DEC60CEAFB35}"/>
                </a:ext>
              </a:extLst>
            </p:cNvPr>
            <p:cNvGrpSpPr/>
            <p:nvPr/>
          </p:nvGrpSpPr>
          <p:grpSpPr>
            <a:xfrm>
              <a:off x="938499" y="1776634"/>
              <a:ext cx="2416976" cy="1830210"/>
              <a:chOff x="988409" y="1776634"/>
              <a:chExt cx="2416976" cy="1830210"/>
            </a:xfrm>
          </p:grpSpPr>
          <p:sp>
            <p:nvSpPr>
              <p:cNvPr id="31" name="Shape1">
                <a:extLst>
                  <a:ext uri="{FF2B5EF4-FFF2-40B4-BE49-F238E27FC236}">
                    <a16:creationId xmlns:a16="http://schemas.microsoft.com/office/drawing/2014/main" id="{61B4F4E5-4618-1956-CE9A-21DEA354AEF8}"/>
                  </a:ext>
                </a:extLst>
              </p:cNvPr>
              <p:cNvSpPr/>
              <p:nvPr/>
            </p:nvSpPr>
            <p:spPr>
              <a:xfrm>
                <a:off x="1474293" y="2050895"/>
                <a:ext cx="441189" cy="44118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Number1">
                <a:extLst>
                  <a:ext uri="{FF2B5EF4-FFF2-40B4-BE49-F238E27FC236}">
                    <a16:creationId xmlns:a16="http://schemas.microsoft.com/office/drawing/2014/main" id="{3A3B4F5A-115F-A569-8AA7-D82FFF0727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8410" y="1776634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01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33" name="Text1">
                <a:extLst>
                  <a:ext uri="{FF2B5EF4-FFF2-40B4-BE49-F238E27FC236}">
                    <a16:creationId xmlns:a16="http://schemas.microsoft.com/office/drawing/2014/main" id="{77ECF3BB-3BC5-5989-DA33-1EAFB2952F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8410" y="2993934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集中力量办大事。</a:t>
                </a:r>
                <a:endParaRPr lang="en-US" dirty="0"/>
              </a:p>
            </p:txBody>
          </p:sp>
          <p:sp>
            <p:nvSpPr>
              <p:cNvPr id="34" name="Bullet1">
                <a:extLst>
                  <a:ext uri="{FF2B5EF4-FFF2-40B4-BE49-F238E27FC236}">
                    <a16:creationId xmlns:a16="http://schemas.microsoft.com/office/drawing/2014/main" id="{89B42BB8-4A14-9DF3-9E66-ACE4B8C909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8409" y="2552746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制度优势</a:t>
                </a:r>
                <a:endParaRPr lang="en-US" dirty="0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2343FEA4-CA26-910B-31EE-69500D53C087}"/>
                </a:ext>
              </a:extLst>
            </p:cNvPr>
            <p:cNvGrpSpPr/>
            <p:nvPr/>
          </p:nvGrpSpPr>
          <p:grpSpPr>
            <a:xfrm>
              <a:off x="3566941" y="1776634"/>
              <a:ext cx="2416976" cy="1830210"/>
              <a:chOff x="3616851" y="1776634"/>
              <a:chExt cx="2416976" cy="1830210"/>
            </a:xfrm>
          </p:grpSpPr>
          <p:sp>
            <p:nvSpPr>
              <p:cNvPr id="27" name="Shape2">
                <a:extLst>
                  <a:ext uri="{FF2B5EF4-FFF2-40B4-BE49-F238E27FC236}">
                    <a16:creationId xmlns:a16="http://schemas.microsoft.com/office/drawing/2014/main" id="{DF92649D-0120-9A34-6FA9-B7E7445D5CBC}"/>
                  </a:ext>
                </a:extLst>
              </p:cNvPr>
              <p:cNvSpPr/>
              <p:nvPr/>
            </p:nvSpPr>
            <p:spPr>
              <a:xfrm>
                <a:off x="4102735" y="2050895"/>
                <a:ext cx="441189" cy="4411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Number2">
                <a:extLst>
                  <a:ext uri="{FF2B5EF4-FFF2-40B4-BE49-F238E27FC236}">
                    <a16:creationId xmlns:a16="http://schemas.microsoft.com/office/drawing/2014/main" id="{55FB4184-8D5D-6285-F156-E5E51410A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6852" y="1776634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02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AE40B22F-4F01-31E4-221A-415C0794D0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16852" y="2993934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自主研发助力发展</a:t>
                </a:r>
                <a:endParaRPr lang="en-US" dirty="0"/>
              </a:p>
            </p:txBody>
          </p:sp>
          <p:sp>
            <p:nvSpPr>
              <p:cNvPr id="30" name="Bullet2">
                <a:extLst>
                  <a:ext uri="{FF2B5EF4-FFF2-40B4-BE49-F238E27FC236}">
                    <a16:creationId xmlns:a16="http://schemas.microsoft.com/office/drawing/2014/main" id="{549CB6A7-CD11-D6E1-37AE-8E486242AF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16851" y="2552746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软件工作者的付出</a:t>
                </a:r>
                <a:endParaRPr lang="en-US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5E941514-DCCB-C7E8-105A-3244A5D775B0}"/>
                </a:ext>
              </a:extLst>
            </p:cNvPr>
            <p:cNvGrpSpPr/>
            <p:nvPr/>
          </p:nvGrpSpPr>
          <p:grpSpPr>
            <a:xfrm>
              <a:off x="6195383" y="1776634"/>
              <a:ext cx="2416976" cy="1830210"/>
              <a:chOff x="6245293" y="1776634"/>
              <a:chExt cx="2416976" cy="1830210"/>
            </a:xfrm>
          </p:grpSpPr>
          <p:sp>
            <p:nvSpPr>
              <p:cNvPr id="23" name="Shape3">
                <a:extLst>
                  <a:ext uri="{FF2B5EF4-FFF2-40B4-BE49-F238E27FC236}">
                    <a16:creationId xmlns:a16="http://schemas.microsoft.com/office/drawing/2014/main" id="{937B9AA1-CF6F-A106-CE74-AEDAABBBFD73}"/>
                  </a:ext>
                </a:extLst>
              </p:cNvPr>
              <p:cNvSpPr/>
              <p:nvPr/>
            </p:nvSpPr>
            <p:spPr>
              <a:xfrm>
                <a:off x="6731177" y="2050895"/>
                <a:ext cx="441189" cy="44118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Number3">
                <a:extLst>
                  <a:ext uri="{FF2B5EF4-FFF2-40B4-BE49-F238E27FC236}">
                    <a16:creationId xmlns:a16="http://schemas.microsoft.com/office/drawing/2014/main" id="{19496576-3A2F-7181-2384-2360C9A6F2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45294" y="1776634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03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25" name="Text3">
                <a:extLst>
                  <a:ext uri="{FF2B5EF4-FFF2-40B4-BE49-F238E27FC236}">
                    <a16:creationId xmlns:a16="http://schemas.microsoft.com/office/drawing/2014/main" id="{0479DC25-D0B8-9395-E9B4-FFB245B9A9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45294" y="2993934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深入国产企业，亲自调研。</a:t>
                </a:r>
                <a:endParaRPr lang="en-US" dirty="0"/>
              </a:p>
            </p:txBody>
          </p:sp>
          <p:sp>
            <p:nvSpPr>
              <p:cNvPr id="26" name="Bullet3">
                <a:extLst>
                  <a:ext uri="{FF2B5EF4-FFF2-40B4-BE49-F238E27FC236}">
                    <a16:creationId xmlns:a16="http://schemas.microsoft.com/office/drawing/2014/main" id="{81A0C9C3-E4D0-8E37-5237-1678CF2130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45293" y="2552746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重视高校教育领域</a:t>
                </a:r>
                <a:endParaRPr lang="en-US" dirty="0"/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CBD78EC4-5A1B-7978-6BB4-E6A23ACD0F9E}"/>
                </a:ext>
              </a:extLst>
            </p:cNvPr>
            <p:cNvGrpSpPr/>
            <p:nvPr/>
          </p:nvGrpSpPr>
          <p:grpSpPr>
            <a:xfrm>
              <a:off x="8823825" y="1776634"/>
              <a:ext cx="2416976" cy="1830210"/>
              <a:chOff x="8873734" y="1776634"/>
              <a:chExt cx="2416976" cy="1830210"/>
            </a:xfrm>
          </p:grpSpPr>
          <p:sp>
            <p:nvSpPr>
              <p:cNvPr id="36" name="Shape4">
                <a:extLst>
                  <a:ext uri="{FF2B5EF4-FFF2-40B4-BE49-F238E27FC236}">
                    <a16:creationId xmlns:a16="http://schemas.microsoft.com/office/drawing/2014/main" id="{326983C3-BBE0-D867-262A-111B5D1DE890}"/>
                  </a:ext>
                </a:extLst>
              </p:cNvPr>
              <p:cNvSpPr/>
              <p:nvPr/>
            </p:nvSpPr>
            <p:spPr>
              <a:xfrm>
                <a:off x="9359618" y="2050895"/>
                <a:ext cx="441189" cy="4411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7" name="Number4">
                <a:extLst>
                  <a:ext uri="{FF2B5EF4-FFF2-40B4-BE49-F238E27FC236}">
                    <a16:creationId xmlns:a16="http://schemas.microsoft.com/office/drawing/2014/main" id="{CB017059-958B-E015-D765-28184A1A49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73735" y="1776634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04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38" name="Text4">
                <a:extLst>
                  <a:ext uri="{FF2B5EF4-FFF2-40B4-BE49-F238E27FC236}">
                    <a16:creationId xmlns:a16="http://schemas.microsoft.com/office/drawing/2014/main" id="{3E18BDCB-29AB-9768-8D37-066ABF3691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73735" y="2993934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保障用户数据安全</a:t>
                </a:r>
                <a:endParaRPr lang="en-US" dirty="0"/>
              </a:p>
            </p:txBody>
          </p:sp>
          <p:sp>
            <p:nvSpPr>
              <p:cNvPr id="39" name="Bullet4">
                <a:extLst>
                  <a:ext uri="{FF2B5EF4-FFF2-40B4-BE49-F238E27FC236}">
                    <a16:creationId xmlns:a16="http://schemas.microsoft.com/office/drawing/2014/main" id="{06E8B567-3BA0-978C-D313-46054897DA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73734" y="2552746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强化信息安全</a:t>
                </a:r>
                <a:endParaRPr lang="en-US" dirty="0"/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12873534-82D4-7447-8D54-CDBC0D9AC3FC}"/>
                </a:ext>
              </a:extLst>
            </p:cNvPr>
            <p:cNvGrpSpPr/>
            <p:nvPr/>
          </p:nvGrpSpPr>
          <p:grpSpPr>
            <a:xfrm>
              <a:off x="2252720" y="3954838"/>
              <a:ext cx="2416976" cy="1830210"/>
              <a:chOff x="988409" y="3954838"/>
              <a:chExt cx="2416976" cy="1830210"/>
            </a:xfrm>
          </p:grpSpPr>
          <p:sp>
            <p:nvSpPr>
              <p:cNvPr id="19" name="Shape5">
                <a:extLst>
                  <a:ext uri="{FF2B5EF4-FFF2-40B4-BE49-F238E27FC236}">
                    <a16:creationId xmlns:a16="http://schemas.microsoft.com/office/drawing/2014/main" id="{B09D250F-5DBE-B55C-B5B7-21F43B22AB45}"/>
                  </a:ext>
                </a:extLst>
              </p:cNvPr>
              <p:cNvSpPr/>
              <p:nvPr/>
            </p:nvSpPr>
            <p:spPr>
              <a:xfrm>
                <a:off x="1474293" y="4229099"/>
                <a:ext cx="441189" cy="4411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Number5">
                <a:extLst>
                  <a:ext uri="{FF2B5EF4-FFF2-40B4-BE49-F238E27FC236}">
                    <a16:creationId xmlns:a16="http://schemas.microsoft.com/office/drawing/2014/main" id="{D70F1E95-B02A-121F-C45D-B2CC33DFF3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8410" y="3954838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05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21" name="Text5">
                <a:extLst>
                  <a:ext uri="{FF2B5EF4-FFF2-40B4-BE49-F238E27FC236}">
                    <a16:creationId xmlns:a16="http://schemas.microsoft.com/office/drawing/2014/main" id="{6E58AE8C-174C-79D8-6238-F4150A8458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8410" y="5172138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跨界合作创新模式</a:t>
                </a:r>
                <a:endParaRPr lang="en-US" dirty="0"/>
              </a:p>
            </p:txBody>
          </p:sp>
          <p:sp>
            <p:nvSpPr>
              <p:cNvPr id="22" name="Bullet5">
                <a:extLst>
                  <a:ext uri="{FF2B5EF4-FFF2-40B4-BE49-F238E27FC236}">
                    <a16:creationId xmlns:a16="http://schemas.microsoft.com/office/drawing/2014/main" id="{D487B81A-12E4-0F7D-186B-3373A296F3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8409" y="4730950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融合发展新业态</a:t>
                </a:r>
                <a:endParaRPr lang="en-US" dirty="0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8CBF2A-721F-6CC0-0D11-DB2714AE1A42}"/>
                </a:ext>
              </a:extLst>
            </p:cNvPr>
            <p:cNvGrpSpPr/>
            <p:nvPr/>
          </p:nvGrpSpPr>
          <p:grpSpPr>
            <a:xfrm>
              <a:off x="4881162" y="3954838"/>
              <a:ext cx="2416976" cy="1830210"/>
              <a:chOff x="3616851" y="3954838"/>
              <a:chExt cx="2416976" cy="1830210"/>
            </a:xfrm>
          </p:grpSpPr>
          <p:sp>
            <p:nvSpPr>
              <p:cNvPr id="15" name="Shape6">
                <a:extLst>
                  <a:ext uri="{FF2B5EF4-FFF2-40B4-BE49-F238E27FC236}">
                    <a16:creationId xmlns:a16="http://schemas.microsoft.com/office/drawing/2014/main" id="{01A8C3FC-9E16-074B-C4DB-54410DBE9536}"/>
                  </a:ext>
                </a:extLst>
              </p:cNvPr>
              <p:cNvSpPr/>
              <p:nvPr/>
            </p:nvSpPr>
            <p:spPr>
              <a:xfrm>
                <a:off x="4102735" y="4229099"/>
                <a:ext cx="441189" cy="44118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Number6">
                <a:extLst>
                  <a:ext uri="{FF2B5EF4-FFF2-40B4-BE49-F238E27FC236}">
                    <a16:creationId xmlns:a16="http://schemas.microsoft.com/office/drawing/2014/main" id="{077C6463-6F78-D858-5462-77FFB96F04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6852" y="3954838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06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17" name="Text6">
                <a:extLst>
                  <a:ext uri="{FF2B5EF4-FFF2-40B4-BE49-F238E27FC236}">
                    <a16:creationId xmlns:a16="http://schemas.microsoft.com/office/drawing/2014/main" id="{DC42E25D-B9C8-A4BD-DD9F-77DA36236D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16852" y="5172138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集聚产业核心竞争力</a:t>
                </a:r>
                <a:endParaRPr lang="en-US" dirty="0"/>
              </a:p>
            </p:txBody>
          </p:sp>
          <p:sp>
            <p:nvSpPr>
              <p:cNvPr id="18" name="Bullet6">
                <a:extLst>
                  <a:ext uri="{FF2B5EF4-FFF2-40B4-BE49-F238E27FC236}">
                    <a16:creationId xmlns:a16="http://schemas.microsoft.com/office/drawing/2014/main" id="{58607C2E-6AE3-67B6-8C08-F728786AE7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16851" y="4730950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培养人才梯队</a:t>
                </a:r>
                <a:endParaRPr lang="en-US" dirty="0"/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09D8F538-92EC-8FC5-2915-92536AFF36F5}"/>
                </a:ext>
              </a:extLst>
            </p:cNvPr>
            <p:cNvGrpSpPr/>
            <p:nvPr/>
          </p:nvGrpSpPr>
          <p:grpSpPr>
            <a:xfrm>
              <a:off x="7509604" y="3954838"/>
              <a:ext cx="2416976" cy="1830210"/>
              <a:chOff x="6245293" y="3954838"/>
              <a:chExt cx="2416976" cy="1830210"/>
            </a:xfrm>
          </p:grpSpPr>
          <p:sp>
            <p:nvSpPr>
              <p:cNvPr id="11" name="Shape7">
                <a:extLst>
                  <a:ext uri="{FF2B5EF4-FFF2-40B4-BE49-F238E27FC236}">
                    <a16:creationId xmlns:a16="http://schemas.microsoft.com/office/drawing/2014/main" id="{4AF02FE5-5BA0-C6DC-89B1-809429EAE0F4}"/>
                  </a:ext>
                </a:extLst>
              </p:cNvPr>
              <p:cNvSpPr/>
              <p:nvPr/>
            </p:nvSpPr>
            <p:spPr>
              <a:xfrm>
                <a:off x="6731177" y="4229099"/>
                <a:ext cx="441189" cy="44118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Number7">
                <a:extLst>
                  <a:ext uri="{FF2B5EF4-FFF2-40B4-BE49-F238E27FC236}">
                    <a16:creationId xmlns:a16="http://schemas.microsoft.com/office/drawing/2014/main" id="{AA6629F7-9D6A-77F0-EDE8-AF55850871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45294" y="3954838"/>
                <a:ext cx="927072" cy="77611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/>
                <a:r>
                  <a:rPr kumimoji="1" lang="en-US" altLang="zh-CN" sz="5400" b="1" dirty="0">
                    <a:cs typeface="+mn-ea"/>
                    <a:sym typeface="+mn-lt"/>
                  </a:rPr>
                  <a:t>07</a:t>
                </a:r>
                <a:endParaRPr kumimoji="1" lang="zh-CN" altLang="en-US" sz="5400" b="1" dirty="0">
                  <a:cs typeface="+mn-ea"/>
                  <a:sym typeface="+mn-lt"/>
                </a:endParaRPr>
              </a:p>
            </p:txBody>
          </p:sp>
          <p:sp>
            <p:nvSpPr>
              <p:cNvPr id="13" name="Text7">
                <a:extLst>
                  <a:ext uri="{FF2B5EF4-FFF2-40B4-BE49-F238E27FC236}">
                    <a16:creationId xmlns:a16="http://schemas.microsoft.com/office/drawing/2014/main" id="{7A1D9DEA-3828-4F47-056D-089718EA06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45294" y="5172138"/>
                <a:ext cx="2416975" cy="6129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i="0" dirty="0">
                    <a:solidFill>
                      <a:schemeClr val="tx1"/>
                    </a:solidFill>
                    <a:effectLst/>
                    <a:cs typeface="+mn-ea"/>
                    <a:sym typeface="+mn-lt"/>
                  </a:rPr>
                  <a:t>国产软件走向世界</a:t>
                </a:r>
                <a:endParaRPr lang="en-US" dirty="0"/>
              </a:p>
            </p:txBody>
          </p:sp>
          <p:sp>
            <p:nvSpPr>
              <p:cNvPr id="14" name="Bullet7">
                <a:extLst>
                  <a:ext uri="{FF2B5EF4-FFF2-40B4-BE49-F238E27FC236}">
                    <a16:creationId xmlns:a16="http://schemas.microsoft.com/office/drawing/2014/main" id="{826E63D7-CAA6-F932-3EB0-7CE4604742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45293" y="4730950"/>
                <a:ext cx="2416975" cy="4411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拓展国际市场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8310" y="520473"/>
            <a:ext cx="1830874" cy="900112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结语</a:t>
            </a:r>
            <a:endParaRPr lang="en-US" sz="4800" dirty="0"/>
          </a:p>
        </p:txBody>
      </p:sp>
      <p:sp>
        <p:nvSpPr>
          <p:cNvPr id="9" name="PictureMisc">
            <a:extLst>
              <a:ext uri="{FF2B5EF4-FFF2-40B4-BE49-F238E27FC236}">
                <a16:creationId xmlns:a16="http://schemas.microsoft.com/office/drawing/2014/main" id="{F0D5C90C-1639-BE5B-678A-A488298C91B1}"/>
              </a:ext>
            </a:extLst>
          </p:cNvPr>
          <p:cNvSpPr/>
          <p:nvPr/>
        </p:nvSpPr>
        <p:spPr>
          <a:xfrm>
            <a:off x="8195376" y="2108397"/>
            <a:ext cx="2298700" cy="2298700"/>
          </a:xfrm>
          <a:prstGeom prst="ellipse">
            <a:avLst/>
          </a:prstGeom>
          <a:blipFill>
            <a:blip r:embed="rId2"/>
            <a:stretch>
              <a:fillRect l="-26262" t="688" r="-28317" b="-688"/>
            </a:stretch>
          </a:blip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 defTabSz="914377"/>
            <a:endParaRPr lang="id-ID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A77EA4-07F5-FC3C-B28A-A448D46563C0}"/>
              </a:ext>
            </a:extLst>
          </p:cNvPr>
          <p:cNvSpPr txBox="1"/>
          <p:nvPr/>
        </p:nvSpPr>
        <p:spPr>
          <a:xfrm>
            <a:off x="1105679" y="2274838"/>
            <a:ext cx="6111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随着中国经济的持续增长和科技创新的推动，国产软件行业正处于蓬勃发展的关键时期。未来，我们可以期待国产软件在人工智能、区块链、物联网等领域继续取得突破性进展。同时，随着政府政策的支持和市场需求的增长，国产软件企业将更加注重技术创新、产品质量和服务体验，为用户提供更加优质、智能化的解决方案。我们相信，中国软件产业必将在全球舞台上展现出更加耀眼的光芒，成为世界软件产业发展的重要引领者和贡献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814988" y="438538"/>
            <a:ext cx="2847910" cy="860812"/>
          </a:xfrm>
        </p:spPr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814988" y="1520716"/>
            <a:ext cx="2267004" cy="86081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研讨人：汪江豪</a:t>
            </a:r>
            <a:endParaRPr lang="en-US" altLang="zh-CN" sz="1800" dirty="0"/>
          </a:p>
          <a:p>
            <a:r>
              <a:rPr lang="zh-CN" altLang="en-US" sz="1800" dirty="0"/>
              <a:t>学号：</a:t>
            </a:r>
            <a:r>
              <a:rPr lang="en-US" altLang="zh-CN" sz="1800" dirty="0"/>
              <a:t>22121630</a:t>
            </a:r>
            <a:endParaRPr lang="en-US" sz="1800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A382782B-97B0-063F-5306-7625F139B842}"/>
              </a:ext>
            </a:extLst>
          </p:cNvPr>
          <p:cNvSpPr txBox="1">
            <a:spLocks/>
          </p:cNvSpPr>
          <p:nvPr/>
        </p:nvSpPr>
        <p:spPr>
          <a:xfrm>
            <a:off x="1814988" y="2649199"/>
            <a:ext cx="4281012" cy="3975535"/>
          </a:xfrm>
          <a:prstGeom prst="rect">
            <a:avLst/>
          </a:prstGeom>
        </p:spPr>
        <p:txBody>
          <a:bodyPr vert="horz" wrap="square" lIns="9000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自我评分：</a:t>
            </a:r>
            <a:r>
              <a:rPr lang="en-US" altLang="zh-CN" sz="1800" dirty="0"/>
              <a:t>98</a:t>
            </a:r>
            <a:r>
              <a:rPr lang="zh-CN" altLang="en-US" sz="1800" dirty="0"/>
              <a:t>分</a:t>
            </a:r>
            <a:endParaRPr lang="en-US" altLang="zh-CN" sz="1800" dirty="0"/>
          </a:p>
          <a:p>
            <a:r>
              <a:rPr lang="zh-CN" altLang="en-US" sz="1800" dirty="0"/>
              <a:t>原因：</a:t>
            </a:r>
            <a:endParaRPr lang="en-US" altLang="zh-CN" sz="1800" dirty="0"/>
          </a:p>
          <a:p>
            <a:r>
              <a:rPr lang="en-US" altLang="zh-CN" sz="1800" dirty="0"/>
              <a:t>        </a:t>
            </a:r>
            <a:r>
              <a:rPr lang="zh-CN" altLang="en-US" sz="1800" dirty="0"/>
              <a:t>本次报告任务，我花费了很多时间进行网上资料查询，了解了国产软件取得的成就以及未来的挑战，学习到了有用的知识。</a:t>
            </a:r>
            <a:endParaRPr lang="en-US" altLang="zh-CN" sz="1800" dirty="0"/>
          </a:p>
          <a:p>
            <a:r>
              <a:rPr lang="en-US" altLang="zh-CN" sz="1800" dirty="0"/>
              <a:t>       </a:t>
            </a:r>
            <a:r>
              <a:rPr lang="zh-CN" altLang="en-US" sz="1800" dirty="0"/>
              <a:t>报告整体格式规范，条理清晰。</a:t>
            </a:r>
            <a:r>
              <a:rPr lang="en-US" altLang="zh-CN" sz="1800" dirty="0"/>
              <a:t>PPT</a:t>
            </a:r>
            <a:r>
              <a:rPr lang="zh-CN" altLang="en-US" sz="1800" dirty="0"/>
              <a:t>整体美观简约，图文并茂。</a:t>
            </a:r>
            <a:endParaRPr lang="en-US" altLang="zh-CN" sz="1800" dirty="0"/>
          </a:p>
          <a:p>
            <a:r>
              <a:rPr lang="en-US" altLang="zh-CN" sz="1800" dirty="0"/>
              <a:t>       </a:t>
            </a:r>
            <a:r>
              <a:rPr lang="zh-CN" altLang="en-US" sz="1800" dirty="0"/>
              <a:t>美中不足在于讲解得可能稍许枯燥。</a:t>
            </a:r>
            <a:endParaRPr lang="en-US" altLang="zh-CN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1C9F2"/>
      </a:accent1>
      <a:accent2>
        <a:srgbClr val="29A0B0"/>
      </a:accent2>
      <a:accent3>
        <a:srgbClr val="09A9B9"/>
      </a:accent3>
      <a:accent4>
        <a:srgbClr val="1EF0F2"/>
      </a:accent4>
      <a:accent5>
        <a:srgbClr val="1AF2E0"/>
      </a:accent5>
      <a:accent6>
        <a:srgbClr val="B0B0B0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 主题​​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173</TotalTime>
  <Words>1125</Words>
  <Application>Microsoft Office PowerPoint</Application>
  <PresentationFormat>宽屏</PresentationFormat>
  <Paragraphs>120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Arial</vt:lpstr>
      <vt:lpstr>Designed by iSlide</vt:lpstr>
      <vt:lpstr>国产软件概况</vt:lpstr>
      <vt:lpstr>目录</vt:lpstr>
      <vt:lpstr>一、引言</vt:lpstr>
      <vt:lpstr>国产软件背景</vt:lpstr>
      <vt:lpstr>发展国产软件的必要性</vt:lpstr>
      <vt:lpstr>二、国产软件现状</vt:lpstr>
      <vt:lpstr>国产软件的分类</vt:lpstr>
      <vt:lpstr>国产软件现状</vt:lpstr>
      <vt:lpstr>国产软件面临的挑战</vt:lpstr>
      <vt:lpstr>国家对国产软件的政策支持</vt:lpstr>
      <vt:lpstr>三、国产软件发展趋势</vt:lpstr>
      <vt:lpstr>基础软件须重视</vt:lpstr>
      <vt:lpstr>迎接更高质量发展</vt:lpstr>
      <vt:lpstr>结语</vt:lpstr>
      <vt:lpstr>谢谢观看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国产软件概况</dc:title>
  <dc:creator>iSlide</dc:creator>
  <cp:lastModifiedBy>江豪 汪</cp:lastModifiedBy>
  <cp:revision>9</cp:revision>
  <cp:lastPrinted>2024-02-04T00:00:00Z</cp:lastPrinted>
  <dcterms:created xsi:type="dcterms:W3CDTF">2024-02-04T00:00:00Z</dcterms:created>
  <dcterms:modified xsi:type="dcterms:W3CDTF">2024-05-06T13:09:40Z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1456ca69-5745-4c52-8458-714e4a04b5c9</vt:lpwstr>
  </property>
</Properties>
</file>