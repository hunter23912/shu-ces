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25"/>
  </p:notesMasterIdLst>
  <p:sldIdLst>
    <p:sldId id="258" r:id="rId3"/>
    <p:sldId id="383" r:id="rId4"/>
    <p:sldId id="384" r:id="rId5"/>
    <p:sldId id="385" r:id="rId6"/>
    <p:sldId id="386" r:id="rId7"/>
    <p:sldId id="387" r:id="rId8"/>
    <p:sldId id="388" r:id="rId9"/>
    <p:sldId id="389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397" r:id="rId18"/>
    <p:sldId id="398" r:id="rId19"/>
    <p:sldId id="399" r:id="rId20"/>
    <p:sldId id="400" r:id="rId21"/>
    <p:sldId id="401" r:id="rId22"/>
    <p:sldId id="402" r:id="rId23"/>
    <p:sldId id="403" r:id="rId2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6424" autoAdjust="0"/>
  </p:normalViewPr>
  <p:slideViewPr>
    <p:cSldViewPr>
      <p:cViewPr varScale="1">
        <p:scale>
          <a:sx n="70" d="100"/>
          <a:sy n="70" d="100"/>
        </p:scale>
        <p:origin x="-51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B93354-46FB-4691-B295-CF103173A62E}" type="datetimeFigureOut">
              <a:rPr lang="zh-CN" altLang="en-US"/>
              <a:pPr>
                <a:defRPr/>
              </a:pPr>
              <a:t>2018/5/28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0080698-A450-4F59-9272-B44AF3D81F2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143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843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8D0F674B-C5FE-4E0D-827D-ECD64472564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520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082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6" descr="preface copy.bmp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3343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2539370" y="3212976"/>
            <a:ext cx="4008405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楷体" pitchFamily="49" charset="-122"/>
                <a:ea typeface="楷体" pitchFamily="49" charset="-122"/>
              </a:rPr>
              <a:t>大学化学</a:t>
            </a:r>
            <a:endParaRPr lang="en-US" altLang="zh-CN" sz="54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楷体" pitchFamily="49" charset="-122"/>
              <a:ea typeface="楷体" pitchFamily="49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楷体" pitchFamily="49" charset="-122"/>
              </a:rPr>
              <a:t>College Chemistry</a:t>
            </a:r>
            <a:endParaRPr lang="zh-CN" altLang="en-US" sz="4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j-lt"/>
              <a:ea typeface="楷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53082" y="4665330"/>
            <a:ext cx="121379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lt"/>
                <a:ea typeface="楷体" pitchFamily="49" charset="-122"/>
              </a:rPr>
              <a:t>复习</a:t>
            </a:r>
            <a:endParaRPr lang="en-US" altLang="zh-CN" sz="4000" b="1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j-lt"/>
              <a:ea typeface="楷体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剪去同侧角的矩形 11"/>
          <p:cNvSpPr/>
          <p:nvPr/>
        </p:nvSpPr>
        <p:spPr>
          <a:xfrm rot="10800000">
            <a:off x="7956550" y="828675"/>
            <a:ext cx="1079500" cy="144463"/>
          </a:xfrm>
          <a:prstGeom prst="snip2Same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5123" name="图片 13" descr="上海大学-1.bmp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92150"/>
            <a:ext cx="7302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图片 15" descr="上海大学.bmp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3" t="26900" r="65189" b="26900"/>
          <a:stretch>
            <a:fillRect/>
          </a:stretch>
        </p:blipFill>
        <p:spPr bwMode="auto">
          <a:xfrm>
            <a:off x="107950" y="115888"/>
            <a:ext cx="719138" cy="88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剪去对角的矩形 1"/>
          <p:cNvSpPr/>
          <p:nvPr/>
        </p:nvSpPr>
        <p:spPr>
          <a:xfrm>
            <a:off x="827088" y="836613"/>
            <a:ext cx="6121400" cy="144462"/>
          </a:xfrm>
          <a:prstGeom prst="snip2Diag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0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../&#20911;&#21033;&#30340;&#35838;&#20214;/flash&#25554;&#22270;/&#20307;&#31995;1.exe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../&#20911;&#21033;&#30340;PPT/flash&#25554;&#22270;/&#21407;&#30005;&#27744;.exe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google.com.hk/url?sa=i&amp;rct=j&amp;q=polar+bond&amp;source=images&amp;cd=&amp;cad=rja&amp;docid=ndVifnPLD7GC0M&amp;tbnid=cUxPwdZuASboxM:&amp;ved=0CAUQjRw&amp;url=http://www.800mainstreet.com/5/0005-008-negativity.htm&amp;ei=34U9UsbtLeLqiAeIioCQAg&amp;psig=AFQjCNFxiDPXfnfyFdwszQ_G0bAgJ70_5A&amp;ust=1379850043581794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eg"/><Relationship Id="rId4" Type="http://schemas.openxmlformats.org/officeDocument/2006/relationships/hyperlink" Target="http://www.google.com.hk/url?sa=i&amp;rct=j&amp;q=polar+bond&amp;source=images&amp;cd=&amp;cad=rja&amp;docid=RuzERr00DaAzPM&amp;tbnid=FhTwlkK4D_-qxM:&amp;ved=0CAUQjRw&amp;url=http://wps.prenhall.com/wps/media/objects/3081/3155729/blb0903.html&amp;ei=XYY9UvOjD-WUiAfKu4C4Bw&amp;psig=AFQjCNFxiDPXfnfyFdwszQ_G0bAgJ70_5A&amp;ust=1379850043581794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../&#20911;&#21033;&#30340;&#35838;&#20214;/flash&#25554;&#22270;/&#26497;&#21270;3.exe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27584" y="116632"/>
            <a:ext cx="6120680" cy="72008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第一章 化学反应基本规律</a:t>
            </a:r>
          </a:p>
        </p:txBody>
      </p:sp>
      <p:sp>
        <p:nvSpPr>
          <p:cNvPr id="3" name="Text Box 3">
            <a:hlinkClick r:id="rId2" action="ppaction://hlinkfile"/>
          </p:cNvPr>
          <p:cNvSpPr txBox="1">
            <a:spLocks noChangeArrowheads="1"/>
          </p:cNvSpPr>
          <p:nvPr/>
        </p:nvSpPr>
        <p:spPr bwMode="auto">
          <a:xfrm>
            <a:off x="827584" y="1674386"/>
            <a:ext cx="8028384" cy="166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rIns="5400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敞开系统</a:t>
            </a:r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──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系统与环境之间既有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物质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交换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又有</a:t>
            </a:r>
            <a:r>
              <a:rPr lang="zh-CN" altLang="en-US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能量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交换</a:t>
            </a:r>
          </a:p>
          <a:p>
            <a:pPr marL="0" lvl="2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封闭系统</a:t>
            </a:r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──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系统与环境之间没有物质交换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只有</a:t>
            </a:r>
            <a:r>
              <a:rPr lang="zh-CN" altLang="en-US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能量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交换</a:t>
            </a:r>
          </a:p>
          <a:p>
            <a:pPr marL="0" lvl="2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孤立系统</a:t>
            </a:r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──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系统与环境之间没有物质和能量交换</a:t>
            </a:r>
          </a:p>
        </p:txBody>
      </p:sp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827584" y="1151166"/>
            <a:ext cx="24961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 smtClean="0">
                <a:ea typeface="Verdana" panose="020B0604030504040204" pitchFamily="34" charset="0"/>
                <a:cs typeface="Verdana" panose="020B0604030504040204" pitchFamily="34" charset="0"/>
              </a:rPr>
              <a:t>1.</a:t>
            </a:r>
            <a:r>
              <a:rPr lang="zh-CN" altLang="en-US" b="1" dirty="0" smtClean="0">
                <a:ea typeface="楷体" panose="02010609060101010101" pitchFamily="49" charset="-122"/>
                <a:cs typeface="Verdana" panose="020B0604030504040204" pitchFamily="34" charset="0"/>
              </a:rPr>
              <a:t> 系统和环境</a:t>
            </a:r>
            <a:endParaRPr lang="zh-CN" altLang="en-US" b="1" dirty="0"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7584" y="3625860"/>
            <a:ext cx="3217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2. </a:t>
            </a:r>
            <a:r>
              <a:rPr lang="zh-CN" altLang="en-US" sz="2800" b="1" dirty="0">
                <a:latin typeface="Verdana" pitchFamily="34" charset="0"/>
                <a:ea typeface="楷体" panose="02010609060101010101" pitchFamily="49" charset="-122"/>
                <a:cs typeface="Verdana" pitchFamily="34" charset="0"/>
              </a:rPr>
              <a:t>状态和状态函数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55576" y="4325553"/>
            <a:ext cx="8100392" cy="83163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lIns="92075" tIns="46038" rIns="92075" bIns="46038">
            <a:spAutoFit/>
          </a:bodyPr>
          <a:lstStyle>
            <a:lvl1pPr marL="381000" indent="-3810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>
              <a:spcBef>
                <a:spcPts val="0"/>
              </a:spcBef>
              <a:defRPr/>
            </a:pPr>
            <a:r>
              <a:rPr lang="zh-CN" altLang="en-US" b="1" dirty="0" smtClean="0">
                <a:latin typeface="Verdana" pitchFamily="34" charset="0"/>
                <a:ea typeface="楷体" panose="02010609060101010101" pitchFamily="49" charset="-122"/>
                <a:cs typeface="Verdana" pitchFamily="34" charset="0"/>
              </a:rPr>
              <a:t>状态函数的特征：变化值</a:t>
            </a:r>
            <a:r>
              <a:rPr lang="zh-CN" altLang="en-US" b="1" dirty="0" smtClean="0">
                <a:solidFill>
                  <a:srgbClr val="FF0000"/>
                </a:solidFill>
                <a:latin typeface="Verdana" pitchFamily="34" charset="0"/>
                <a:ea typeface="楷体" panose="02010609060101010101" pitchFamily="49" charset="-122"/>
                <a:cs typeface="Verdana" pitchFamily="34" charset="0"/>
              </a:rPr>
              <a:t>只与</a:t>
            </a:r>
            <a:r>
              <a:rPr lang="zh-CN" altLang="en-US" b="1" dirty="0" smtClean="0">
                <a:latin typeface="Verdana" pitchFamily="34" charset="0"/>
                <a:ea typeface="楷体" panose="02010609060101010101" pitchFamily="49" charset="-122"/>
                <a:cs typeface="Verdana" pitchFamily="34" charset="0"/>
              </a:rPr>
              <a:t>系统变化的</a:t>
            </a:r>
            <a:r>
              <a:rPr lang="zh-CN" altLang="en-US" b="1" dirty="0" smtClean="0">
                <a:solidFill>
                  <a:srgbClr val="FF0000"/>
                </a:solidFill>
                <a:latin typeface="Verdana" pitchFamily="34" charset="0"/>
                <a:ea typeface="楷体" panose="02010609060101010101" pitchFamily="49" charset="-122"/>
                <a:cs typeface="Verdana" pitchFamily="34" charset="0"/>
              </a:rPr>
              <a:t>始末状态</a:t>
            </a:r>
            <a:r>
              <a:rPr lang="zh-CN" altLang="en-US" b="1" dirty="0" smtClean="0">
                <a:latin typeface="Verdana" pitchFamily="34" charset="0"/>
                <a:ea typeface="楷体" panose="02010609060101010101" pitchFamily="49" charset="-122"/>
                <a:cs typeface="Verdana" pitchFamily="34" charset="0"/>
              </a:rPr>
              <a:t>有关，而与</a:t>
            </a:r>
            <a:r>
              <a:rPr lang="zh-CN" altLang="en-US" b="1" dirty="0" smtClean="0">
                <a:solidFill>
                  <a:srgbClr val="FF0000"/>
                </a:solidFill>
                <a:latin typeface="Verdana" pitchFamily="34" charset="0"/>
                <a:ea typeface="楷体" panose="02010609060101010101" pitchFamily="49" charset="-122"/>
                <a:cs typeface="Verdana" pitchFamily="34" charset="0"/>
              </a:rPr>
              <a:t>变化途径</a:t>
            </a:r>
            <a:r>
              <a:rPr lang="zh-CN" altLang="en-US" b="1" dirty="0" smtClean="0">
                <a:latin typeface="Verdana" pitchFamily="34" charset="0"/>
                <a:ea typeface="楷体" panose="02010609060101010101" pitchFamily="49" charset="-122"/>
                <a:cs typeface="Verdana" pitchFamily="34" charset="0"/>
              </a:rPr>
              <a:t>无关。</a:t>
            </a:r>
            <a:endParaRPr lang="en-US" altLang="zh-CN" b="1" dirty="0">
              <a:latin typeface="Verdana" pitchFamily="34" charset="0"/>
              <a:ea typeface="楷体" panose="02010609060101010101" pitchFamily="49" charset="-122"/>
              <a:cs typeface="Verdana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5576" y="5343599"/>
            <a:ext cx="2969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Verdana" pitchFamily="34" charset="0"/>
                <a:ea typeface="楷体" panose="02010609060101010101" pitchFamily="49" charset="-122"/>
                <a:cs typeface="Verdana" pitchFamily="34" charset="0"/>
              </a:rPr>
              <a:t>强度性质和广度性质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14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27584" y="116632"/>
            <a:ext cx="6120680" cy="72008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第一章 化学反应基本规律</a:t>
            </a:r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827584" y="1196752"/>
            <a:ext cx="42995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 smtClean="0">
                <a:ea typeface="Verdana" panose="020B0604030504040204" pitchFamily="34" charset="0"/>
                <a:cs typeface="Verdana" panose="020B0604030504040204" pitchFamily="34" charset="0"/>
              </a:rPr>
              <a:t>3.</a:t>
            </a:r>
            <a:r>
              <a:rPr lang="zh-CN" altLang="en-US" b="1" dirty="0" smtClean="0">
                <a:ea typeface="楷体" panose="02010609060101010101" pitchFamily="49" charset="-122"/>
                <a:cs typeface="Verdana" panose="020B0604030504040204" pitchFamily="34" charset="0"/>
              </a:rPr>
              <a:t> 内能、焓</a:t>
            </a:r>
            <a:r>
              <a:rPr lang="zh-CN" altLang="en-US" b="1" dirty="0">
                <a:ea typeface="楷体" panose="02010609060101010101" pitchFamily="49" charset="-122"/>
                <a:cs typeface="Verdana" panose="020B0604030504040204" pitchFamily="34" charset="0"/>
              </a:rPr>
              <a:t>变</a:t>
            </a:r>
            <a:r>
              <a:rPr lang="zh-CN" altLang="en-US" b="1" dirty="0" smtClean="0">
                <a:ea typeface="楷体" panose="02010609060101010101" pitchFamily="49" charset="-122"/>
                <a:cs typeface="Verdana" panose="020B0604030504040204" pitchFamily="34" charset="0"/>
              </a:rPr>
              <a:t>和盖斯定律</a:t>
            </a:r>
            <a:endParaRPr lang="zh-CN" altLang="en-US" b="1" dirty="0"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27584" y="1839946"/>
            <a:ext cx="4459875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Symbol" panose="05050102010706020507" pitchFamily="18" charset="2"/>
                <a:ea typeface="Verdana" panose="020B0604030504040204" pitchFamily="34" charset="0"/>
                <a:cs typeface="Verdana" panose="020B0604030504040204" pitchFamily="34" charset="0"/>
              </a:rPr>
              <a:t>D</a:t>
            </a:r>
            <a:r>
              <a:rPr lang="en-US" altLang="zh-CN" sz="2800" b="1" i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</a:t>
            </a:r>
            <a:r>
              <a:rPr lang="en-US" altLang="zh-CN" sz="28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= </a:t>
            </a:r>
            <a:r>
              <a:rPr lang="en-US" altLang="zh-CN" sz="2800" b="1" i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</a:t>
            </a:r>
            <a:r>
              <a:rPr lang="en-US" altLang="zh-CN" sz="2800" b="1" i="1" baseline="-25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zh-CN" sz="28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- </a:t>
            </a:r>
            <a:r>
              <a:rPr lang="en-US" altLang="zh-CN" sz="2800" b="1" i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</a:t>
            </a:r>
            <a:r>
              <a:rPr lang="en-US" altLang="zh-CN" sz="2800" b="1" i="1" baseline="-25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en-US" altLang="zh-CN" sz="2800" b="1" baseline="-250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8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 </a:t>
            </a:r>
            <a:r>
              <a:rPr lang="en-US" altLang="zh-CN" sz="2800" b="1" i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</a:t>
            </a:r>
            <a:r>
              <a:rPr lang="en-US" altLang="zh-CN" sz="28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+ </a:t>
            </a:r>
            <a:r>
              <a:rPr lang="en-US" altLang="zh-CN" sz="2800" b="1" i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</a:p>
        </p:txBody>
      </p:sp>
      <p:sp>
        <p:nvSpPr>
          <p:cNvPr id="5" name="矩形 4"/>
          <p:cNvSpPr/>
          <p:nvPr/>
        </p:nvSpPr>
        <p:spPr>
          <a:xfrm>
            <a:off x="827584" y="2440051"/>
            <a:ext cx="28055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Verdana" pitchFamily="34" charset="0"/>
                <a:ea typeface="Verdana" pitchFamily="34" charset="0"/>
                <a:cs typeface="Verdana" pitchFamily="34" charset="0"/>
                <a:sym typeface="Symbol" pitchFamily="18" charset="2"/>
              </a:rPr>
              <a:t></a:t>
            </a:r>
            <a:r>
              <a:rPr lang="en-US" altLang="zh-CN" sz="2800" b="1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H </a:t>
            </a:r>
            <a:r>
              <a:rPr lang="en-US" altLang="zh-CN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(</a:t>
            </a:r>
            <a:r>
              <a:rPr lang="zh-CN" altLang="en-US" sz="2800" b="1" dirty="0">
                <a:latin typeface="Verdana" pitchFamily="34" charset="0"/>
                <a:ea typeface="楷体" pitchFamily="49" charset="-122"/>
                <a:cs typeface="Verdana" pitchFamily="34" charset="0"/>
              </a:rPr>
              <a:t>焓变</a:t>
            </a:r>
            <a:r>
              <a:rPr lang="en-US" altLang="zh-CN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)=</a:t>
            </a:r>
            <a:r>
              <a:rPr lang="en-US" altLang="zh-CN" sz="2800" b="1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Q</a:t>
            </a:r>
            <a:r>
              <a:rPr lang="en-US" altLang="zh-CN" sz="2800" b="1" baseline="-25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</a:t>
            </a:r>
            <a:r>
              <a:rPr lang="en-US" altLang="zh-CN" sz="2800" b="1" baseline="-25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endParaRPr lang="zh-CN" altLang="en-US" sz="2800" dirty="0"/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827584" y="3079361"/>
            <a:ext cx="610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 smtClean="0">
                <a:ea typeface="Verdana" panose="020B0604030504040204" pitchFamily="34" charset="0"/>
                <a:cs typeface="Verdana" panose="020B0604030504040204" pitchFamily="34" charset="0"/>
              </a:rPr>
              <a:t>4.</a:t>
            </a:r>
            <a:r>
              <a:rPr lang="zh-CN" altLang="en-US" b="1" dirty="0" smtClean="0">
                <a:ea typeface="楷体" panose="02010609060101010101" pitchFamily="49" charset="-122"/>
                <a:cs typeface="Verdana" panose="020B0604030504040204" pitchFamily="34" charset="0"/>
              </a:rPr>
              <a:t> 标准摩尔生成焓和标准摩尔反应焓</a:t>
            </a:r>
            <a:endParaRPr lang="zh-CN" altLang="en-US" b="1" dirty="0"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31619" y="5867212"/>
            <a:ext cx="82089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latin typeface="Symbol" pitchFamily="18" charset="2"/>
                <a:ea typeface="Verdana" pitchFamily="34" charset="0"/>
                <a:cs typeface="Verdana" pitchFamily="34" charset="0"/>
              </a:rPr>
              <a:t>D</a:t>
            </a:r>
            <a:r>
              <a:rPr lang="en-US" altLang="zh-CN" sz="2800" b="1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H</a:t>
            </a:r>
            <a:r>
              <a:rPr lang="en-US" altLang="zh-CN" sz="2800" b="1" baseline="-25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</a:t>
            </a:r>
            <a:r>
              <a:rPr lang="en-US" altLang="zh-CN" sz="2800" b="1" baseline="30000" dirty="0">
                <a:latin typeface="Verdana" pitchFamily="34" charset="0"/>
                <a:ea typeface="Verdana" pitchFamily="34" charset="0"/>
                <a:cs typeface="Verdana" pitchFamily="34" charset="0"/>
                <a:sym typeface="Webdings" panose="05030102010509060703" pitchFamily="18" charset="2"/>
              </a:rPr>
              <a:t></a:t>
            </a:r>
            <a:r>
              <a:rPr lang="en-US" altLang="zh-CN" sz="2800" b="1" dirty="0">
                <a:latin typeface="Symbol" pitchFamily="18" charset="2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(T) = </a:t>
            </a:r>
            <a:r>
              <a:rPr lang="az-Cyrl-AZ" altLang="zh-CN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∑</a:t>
            </a:r>
            <a:r>
              <a:rPr lang="en-US" altLang="zh-CN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en-US" altLang="zh-CN" sz="2800" b="1" dirty="0" err="1">
                <a:latin typeface="Symbol" pitchFamily="18" charset="2"/>
                <a:ea typeface="Verdana" pitchFamily="34" charset="0"/>
                <a:cs typeface="Verdana" pitchFamily="34" charset="0"/>
              </a:rPr>
              <a:t>n</a:t>
            </a:r>
            <a:r>
              <a:rPr lang="en-US" altLang="zh-CN" sz="2800" b="1" baseline="-25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</a:t>
            </a:r>
            <a:r>
              <a:rPr lang="en-US" altLang="zh-CN" sz="2800" b="1" baseline="-25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2800" b="1" dirty="0" err="1" smtClean="0">
                <a:latin typeface="Symbol" pitchFamily="18" charset="2"/>
                <a:ea typeface="Verdana" pitchFamily="34" charset="0"/>
                <a:cs typeface="Verdana" pitchFamily="34" charset="0"/>
              </a:rPr>
              <a:t>D</a:t>
            </a:r>
            <a:r>
              <a:rPr lang="en-US" altLang="zh-CN" sz="28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H</a:t>
            </a:r>
            <a:r>
              <a:rPr lang="en-US" altLang="zh-CN" sz="2800" b="1" baseline="-250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f</a:t>
            </a:r>
            <a:r>
              <a:rPr lang="en-US" altLang="zh-CN" sz="2800" b="1" baseline="30000" dirty="0" smtClean="0">
                <a:latin typeface="Verdana" pitchFamily="34" charset="0"/>
                <a:ea typeface="Verdana" pitchFamily="34" charset="0"/>
                <a:cs typeface="Verdana" pitchFamily="34" charset="0"/>
                <a:sym typeface="Webdings" panose="05030102010509060703" pitchFamily="18" charset="2"/>
              </a:rPr>
              <a:t></a:t>
            </a:r>
            <a:r>
              <a:rPr lang="zh-CN" altLang="en-US" sz="2800" b="1" baseline="-25000" dirty="0" smtClean="0">
                <a:latin typeface="楷体" panose="02010609060101010101" pitchFamily="49" charset="-122"/>
                <a:ea typeface="楷体" panose="02010609060101010101" pitchFamily="49" charset="-122"/>
                <a:cs typeface="Verdana" pitchFamily="34" charset="0"/>
              </a:rPr>
              <a:t>生成物</a:t>
            </a:r>
            <a:r>
              <a:rPr lang="en-US" altLang="zh-CN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) - </a:t>
            </a:r>
            <a:r>
              <a:rPr lang="az-Cyrl-AZ" altLang="zh-CN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∑</a:t>
            </a:r>
            <a:r>
              <a:rPr lang="en-US" altLang="zh-CN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en-US" altLang="zh-CN" sz="2800" b="1" dirty="0" err="1">
                <a:latin typeface="Symbol" pitchFamily="18" charset="2"/>
                <a:ea typeface="Verdana" pitchFamily="34" charset="0"/>
                <a:cs typeface="Verdana" pitchFamily="34" charset="0"/>
              </a:rPr>
              <a:t>n</a:t>
            </a:r>
            <a:r>
              <a:rPr lang="en-US" altLang="zh-CN" sz="2800" b="1" baseline="-25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</a:t>
            </a:r>
            <a:r>
              <a:rPr lang="en-US" altLang="zh-CN" sz="2800" b="1" baseline="-25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2800" b="1" dirty="0" err="1" smtClean="0">
                <a:latin typeface="Symbol" pitchFamily="18" charset="2"/>
                <a:ea typeface="Verdana" pitchFamily="34" charset="0"/>
                <a:cs typeface="Verdana" pitchFamily="34" charset="0"/>
              </a:rPr>
              <a:t>D</a:t>
            </a:r>
            <a:r>
              <a:rPr lang="en-US" altLang="zh-CN" sz="28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H</a:t>
            </a:r>
            <a:r>
              <a:rPr lang="en-US" altLang="zh-CN" sz="2800" b="1" baseline="-250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f</a:t>
            </a:r>
            <a:r>
              <a:rPr lang="en-US" altLang="zh-CN" sz="2800" b="1" baseline="30000" dirty="0" smtClean="0">
                <a:latin typeface="Verdana" pitchFamily="34" charset="0"/>
                <a:ea typeface="Verdana" pitchFamily="34" charset="0"/>
                <a:cs typeface="Verdana" pitchFamily="34" charset="0"/>
                <a:sym typeface="Webdings" panose="05030102010509060703" pitchFamily="18" charset="2"/>
              </a:rPr>
              <a:t></a:t>
            </a:r>
            <a:r>
              <a:rPr lang="zh-CN" altLang="en-US" sz="2800" b="1" baseline="-25000" dirty="0" smtClean="0">
                <a:latin typeface="楷体" panose="02010609060101010101" pitchFamily="49" charset="-122"/>
                <a:ea typeface="楷体" panose="02010609060101010101" pitchFamily="49" charset="-122"/>
                <a:cs typeface="Verdana" pitchFamily="34" charset="0"/>
              </a:rPr>
              <a:t>反应</a:t>
            </a:r>
            <a:r>
              <a:rPr lang="zh-CN" altLang="en-US" sz="2800" b="1" baseline="-25000" dirty="0">
                <a:latin typeface="楷体" panose="02010609060101010101" pitchFamily="49" charset="-122"/>
                <a:ea typeface="楷体" panose="02010609060101010101" pitchFamily="49" charset="-122"/>
                <a:cs typeface="Verdana" pitchFamily="34" charset="0"/>
              </a:rPr>
              <a:t>物</a:t>
            </a:r>
            <a:r>
              <a:rPr lang="en-US" altLang="zh-CN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) </a:t>
            </a:r>
          </a:p>
        </p:txBody>
      </p:sp>
      <p:sp>
        <p:nvSpPr>
          <p:cNvPr id="8" name="矩形 7"/>
          <p:cNvSpPr/>
          <p:nvPr/>
        </p:nvSpPr>
        <p:spPr>
          <a:xfrm>
            <a:off x="931619" y="4365104"/>
            <a:ext cx="12987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>
                <a:latin typeface="Symbol" pitchFamily="18" charset="2"/>
                <a:ea typeface="Verdana" pitchFamily="34" charset="0"/>
                <a:cs typeface="Verdana" pitchFamily="34" charset="0"/>
              </a:rPr>
              <a:t>D</a:t>
            </a:r>
            <a:r>
              <a:rPr lang="en-US" altLang="zh-CN" sz="2800" b="1" baseline="-25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f</a:t>
            </a:r>
            <a:r>
              <a:rPr lang="en-US" altLang="zh-CN" sz="2800" b="1" i="1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H</a:t>
            </a:r>
            <a:r>
              <a:rPr lang="en-US" altLang="zh-CN" sz="2800" b="1" baseline="-250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</a:t>
            </a:r>
            <a:r>
              <a:rPr lang="en-US" altLang="zh-CN" sz="2800" b="1" baseline="30000" dirty="0">
                <a:latin typeface="Verdana" pitchFamily="34" charset="0"/>
                <a:ea typeface="Verdana" pitchFamily="34" charset="0"/>
                <a:cs typeface="Verdana" pitchFamily="34" charset="0"/>
                <a:sym typeface="Webdings" panose="05030102010509060703" pitchFamily="18" charset="2"/>
              </a:rPr>
              <a:t>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931619" y="4907067"/>
            <a:ext cx="1949573" cy="7817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sz="2800" b="1" dirty="0" err="1" smtClean="0">
                <a:latin typeface="Symbol" panose="05050102010706020507" pitchFamily="18" charset="2"/>
                <a:ea typeface="Verdana" pitchFamily="34" charset="0"/>
                <a:cs typeface="Verdana" pitchFamily="34" charset="0"/>
              </a:rPr>
              <a:t>D</a:t>
            </a:r>
            <a:r>
              <a:rPr lang="en-US" altLang="zh-CN" sz="2800" b="1" baseline="-250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r</a:t>
            </a:r>
            <a:r>
              <a:rPr lang="en-US" altLang="zh-CN" sz="2800" b="1" i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H</a:t>
            </a:r>
            <a:r>
              <a:rPr lang="en-US" altLang="zh-CN" sz="2800" b="1" baseline="-250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m</a:t>
            </a:r>
            <a:r>
              <a:rPr lang="en-US" altLang="zh-CN" sz="2800" b="1" baseline="30000" dirty="0">
                <a:latin typeface="Verdana" pitchFamily="34" charset="0"/>
                <a:ea typeface="Verdana" pitchFamily="34" charset="0"/>
                <a:cs typeface="Verdana" pitchFamily="34" charset="0"/>
                <a:sym typeface="Webdings" panose="05030102010509060703" pitchFamily="18" charset="2"/>
              </a:rPr>
              <a:t></a:t>
            </a:r>
            <a:r>
              <a:rPr lang="en-US" altLang="zh-CN" sz="28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(T)</a:t>
            </a:r>
          </a:p>
        </p:txBody>
      </p:sp>
      <p:sp>
        <p:nvSpPr>
          <p:cNvPr id="10" name="矩形 9"/>
          <p:cNvSpPr/>
          <p:nvPr/>
        </p:nvSpPr>
        <p:spPr>
          <a:xfrm>
            <a:off x="931619" y="3701011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66725" indent="-466725" eaLnBrk="1" hangingPunct="1">
              <a:spcBef>
                <a:spcPct val="20000"/>
              </a:spcBef>
              <a:buClr>
                <a:schemeClr val="hlink"/>
              </a:buClr>
              <a:buSzPct val="80000"/>
            </a:pPr>
            <a:r>
              <a:rPr lang="zh-CN" altLang="en-US" sz="2800" b="1" dirty="0">
                <a:latin typeface="楷体" pitchFamily="49" charset="-122"/>
                <a:ea typeface="楷体" pitchFamily="49" charset="-122"/>
                <a:cs typeface="Verdana" pitchFamily="34" charset="0"/>
              </a:rPr>
              <a:t>热力学标准状态</a:t>
            </a:r>
          </a:p>
        </p:txBody>
      </p:sp>
    </p:spTree>
    <p:extLst>
      <p:ext uri="{BB962C8B-B14F-4D97-AF65-F5344CB8AC3E}">
        <p14:creationId xmlns:p14="http://schemas.microsoft.com/office/powerpoint/2010/main" val="303661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27584" y="116632"/>
            <a:ext cx="6120680" cy="72008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第一章 化学反应基本规律</a:t>
            </a:r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827584" y="1052736"/>
            <a:ext cx="39388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 smtClean="0">
                <a:ea typeface="Verdana" panose="020B0604030504040204" pitchFamily="34" charset="0"/>
                <a:cs typeface="Verdana" panose="020B0604030504040204" pitchFamily="34" charset="0"/>
              </a:rPr>
              <a:t>5.</a:t>
            </a:r>
            <a:r>
              <a:rPr lang="zh-CN" altLang="en-US" b="1" dirty="0" smtClean="0">
                <a:ea typeface="楷体" panose="02010609060101010101" pitchFamily="49" charset="-122"/>
                <a:cs typeface="Verdana" panose="020B0604030504040204" pitchFamily="34" charset="0"/>
              </a:rPr>
              <a:t> 熵和热力学第二定律</a:t>
            </a:r>
            <a:endParaRPr lang="zh-CN" altLang="en-US" b="1" dirty="0"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44142" y="1700808"/>
            <a:ext cx="32592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标准摩尔熵，</a:t>
            </a:r>
            <a:r>
              <a:rPr lang="en-US" altLang="zh-CN" sz="2800" b="1" baseline="30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ebdings" panose="05030102010509060703" pitchFamily="18" charset="2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S</a:t>
            </a:r>
            <a:r>
              <a:rPr lang="en-US" altLang="zh-CN" sz="2800" b="1" baseline="-30000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m</a:t>
            </a:r>
            <a:r>
              <a:rPr lang="en-US" altLang="zh-CN" sz="2800" b="1" baseline="30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ebdings" panose="05030102010509060703" pitchFamily="18" charset="2"/>
              </a:rPr>
              <a:t></a:t>
            </a:r>
            <a:r>
              <a:rPr lang="en-US" altLang="zh-CN" sz="2800" b="1" baseline="-30000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 </a:t>
            </a:r>
            <a:endParaRPr lang="zh-CN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844142" y="2348880"/>
            <a:ext cx="52405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Verdana"/>
                <a:ea typeface="楷体" panose="02010609060101010101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2800" b="1" baseline="-30000" dirty="0" err="1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r</a:t>
            </a:r>
            <a:r>
              <a:rPr lang="en-US" altLang="zh-CN" sz="2800" b="1" i="1" dirty="0" err="1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S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m</a:t>
            </a:r>
            <a:r>
              <a:rPr lang="en-US" altLang="zh-CN" sz="2800" b="1" baseline="30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ebdings" panose="05030102010509060703" pitchFamily="18" charset="2"/>
              </a:rPr>
              <a:t></a:t>
            </a:r>
            <a:r>
              <a:rPr lang="en-US" altLang="zh-CN" sz="2800" b="1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=</a:t>
            </a:r>
            <a:r>
              <a:rPr lang="en-US" altLang="zh-CN" sz="2800" b="1" baseline="30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ebdings" panose="05030102010509060703" pitchFamily="18" charset="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∑</a:t>
            </a:r>
            <a:r>
              <a:rPr lang="en-US" altLang="zh-CN" sz="2800" b="1" i="1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S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m</a:t>
            </a:r>
            <a:r>
              <a:rPr lang="en-US" altLang="zh-CN" sz="2800" b="1" baseline="30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ebdings" panose="05030102010509060703" pitchFamily="18" charset="2"/>
              </a:rPr>
              <a:t></a:t>
            </a:r>
            <a:r>
              <a:rPr lang="zh-CN" altLang="en-US" sz="2800" b="1" baseline="-25000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产物</a:t>
            </a:r>
            <a:r>
              <a:rPr lang="en-US" altLang="zh-CN" sz="2800" b="1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-</a:t>
            </a:r>
            <a:r>
              <a:rPr lang="en-US" altLang="zh-CN" sz="2800" b="1" baseline="30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ebdings" panose="05030102010509060703" pitchFamily="18" charset="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∑</a:t>
            </a:r>
            <a:r>
              <a:rPr lang="en-US" altLang="zh-CN" sz="2800" b="1" i="1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S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m</a:t>
            </a:r>
            <a:r>
              <a:rPr lang="en-US" altLang="zh-CN" sz="2800" b="1" baseline="30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ebdings" panose="05030102010509060703" pitchFamily="18" charset="2"/>
              </a:rPr>
              <a:t></a:t>
            </a:r>
            <a:r>
              <a:rPr lang="zh-CN" altLang="en-US" sz="2800" b="1" baseline="-25000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反应物</a:t>
            </a:r>
            <a:r>
              <a:rPr lang="zh-CN" altLang="en-US" sz="2800" dirty="0">
                <a:solidFill>
                  <a:srgbClr val="000000"/>
                </a:solidFill>
                <a:latin typeface="Verdana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6" name="矩形 5"/>
          <p:cNvSpPr/>
          <p:nvPr/>
        </p:nvSpPr>
        <p:spPr>
          <a:xfrm>
            <a:off x="844142" y="3017136"/>
            <a:ext cx="1988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参考态元素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27584" y="3573016"/>
            <a:ext cx="44262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dirty="0" smtClean="0">
                <a:latin typeface="Verdana"/>
                <a:ea typeface="楷体" panose="02010609060101010101" pitchFamily="49" charset="-122"/>
              </a:rPr>
              <a:t>6. </a:t>
            </a:r>
            <a:r>
              <a:rPr lang="zh-CN" altLang="en-US" sz="2800" b="1" dirty="0" smtClean="0">
                <a:latin typeface="Verdana"/>
                <a:ea typeface="楷体" panose="02010609060101010101" pitchFamily="49" charset="-122"/>
              </a:rPr>
              <a:t>吉</a:t>
            </a:r>
            <a:r>
              <a:rPr lang="zh-CN" altLang="en-US" sz="2800" b="1" dirty="0">
                <a:latin typeface="Verdana"/>
                <a:ea typeface="楷体" panose="02010609060101010101" pitchFamily="49" charset="-122"/>
              </a:rPr>
              <a:t>布斯</a:t>
            </a: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函数和反应方向</a:t>
            </a:r>
            <a:r>
              <a:rPr lang="zh-CN" altLang="en-US" sz="2800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899592" y="4149080"/>
            <a:ext cx="3816424" cy="523220"/>
          </a:xfrm>
          <a:prstGeom prst="rect">
            <a:avLst/>
          </a:prstGeom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  <a:sym typeface="Symbol" panose="05050102010706020507" pitchFamily="18" charset="2"/>
              </a:rPr>
              <a:t></a:t>
            </a:r>
            <a:r>
              <a:rPr lang="en-US" altLang="zh-CN" sz="2800" b="1" baseline="-25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2800" b="1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US" altLang="zh-CN" sz="2800" b="1" i="1" baseline="-25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 panose="05050102010706020507" pitchFamily="18" charset="2"/>
              </a:rPr>
              <a:t></a:t>
            </a:r>
            <a:r>
              <a:rPr lang="en-US" altLang="zh-CN" sz="2800" b="1" baseline="-25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2800" b="1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</a:t>
            </a:r>
            <a:r>
              <a:rPr lang="en-US" altLang="zh-CN" sz="2800" b="1" i="1" baseline="-25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altLang="zh-CN" sz="28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</a:t>
            </a:r>
            <a:r>
              <a:rPr lang="en-US" altLang="zh-CN" sz="2800" b="1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US" altLang="zh-CN" sz="28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 panose="05050102010706020507" pitchFamily="18" charset="2"/>
              </a:rPr>
              <a:t></a:t>
            </a:r>
            <a:r>
              <a:rPr lang="en-US" altLang="zh-CN" sz="2800" b="1" baseline="-25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2800" b="1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altLang="zh-CN" sz="2800" b="1" i="1" baseline="-25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endParaRPr lang="en-US" altLang="zh-CN" sz="2800" b="1" i="1" baseline="-25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827584" y="4725144"/>
            <a:ext cx="6096000" cy="180022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/>
          <a:p>
            <a:pPr algn="just">
              <a:defRPr/>
            </a:pP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  <a:sym typeface="Symbol" panose="05050102010706020507" pitchFamily="18" charset="2"/>
              </a:rPr>
              <a:t>判断一个反应进行的方向时，如果：</a:t>
            </a:r>
          </a:p>
          <a:p>
            <a:pPr algn="just">
              <a:defRPr/>
            </a:pP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  <a:sym typeface="Symbol" panose="05050102010706020507" pitchFamily="18" charset="2"/>
              </a:rPr>
              <a:t>　　</a:t>
            </a:r>
            <a:r>
              <a:rPr lang="en-US" altLang="zh-CN" sz="2800" b="1" baseline="-30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</a:t>
            </a:r>
            <a:r>
              <a:rPr lang="en-US" altLang="zh-CN" sz="2800" b="1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US" altLang="zh-CN" sz="2800" b="1" i="1" baseline="-25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altLang="zh-CN" sz="28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 0  </a:t>
            </a: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反应自发进行</a:t>
            </a:r>
          </a:p>
          <a:p>
            <a:pPr algn="just">
              <a:defRPr/>
            </a:pP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  <a:sym typeface="Symbol" panose="05050102010706020507" pitchFamily="18" charset="2"/>
              </a:rPr>
              <a:t>　　</a:t>
            </a:r>
            <a:r>
              <a:rPr lang="en-US" altLang="zh-CN" sz="2800" b="1" baseline="-30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</a:t>
            </a:r>
            <a:r>
              <a:rPr lang="en-US" altLang="zh-CN" sz="2800" b="1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US" altLang="zh-CN" sz="2800" b="1" i="1" baseline="-25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altLang="zh-CN" sz="28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 0  </a:t>
            </a: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反应不自发进行</a:t>
            </a:r>
          </a:p>
          <a:p>
            <a:pPr algn="just">
              <a:defRPr/>
            </a:pP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  <a:sym typeface="Symbol" panose="05050102010706020507" pitchFamily="18" charset="2"/>
              </a:rPr>
              <a:t>　　</a:t>
            </a:r>
            <a:r>
              <a:rPr lang="en-US" altLang="zh-CN" sz="2800" b="1" baseline="-30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</a:t>
            </a:r>
            <a:r>
              <a:rPr lang="en-US" altLang="zh-CN" sz="2800" b="1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US" altLang="zh-CN" sz="2800" b="1" i="1" baseline="-25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altLang="zh-CN" sz="28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 0  </a:t>
            </a: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平衡状态</a:t>
            </a:r>
          </a:p>
        </p:txBody>
      </p:sp>
    </p:spTree>
    <p:extLst>
      <p:ext uri="{BB962C8B-B14F-4D97-AF65-F5344CB8AC3E}">
        <p14:creationId xmlns:p14="http://schemas.microsoft.com/office/powerpoint/2010/main" val="380282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576" y="1105580"/>
            <a:ext cx="44262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dirty="0" smtClean="0">
                <a:latin typeface="Verdana"/>
                <a:ea typeface="楷体" panose="02010609060101010101" pitchFamily="49" charset="-122"/>
              </a:rPr>
              <a:t>6. </a:t>
            </a:r>
            <a:r>
              <a:rPr lang="zh-CN" altLang="en-US" sz="2800" b="1" dirty="0" smtClean="0">
                <a:latin typeface="Verdana"/>
                <a:ea typeface="楷体" panose="02010609060101010101" pitchFamily="49" charset="-122"/>
              </a:rPr>
              <a:t>吉</a:t>
            </a:r>
            <a:r>
              <a:rPr lang="zh-CN" altLang="en-US" sz="2800" b="1" dirty="0">
                <a:latin typeface="Verdana"/>
                <a:ea typeface="楷体" panose="02010609060101010101" pitchFamily="49" charset="-122"/>
              </a:rPr>
              <a:t>布斯</a:t>
            </a: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函数和反应方向</a:t>
            </a:r>
            <a:r>
              <a:rPr lang="zh-CN" altLang="en-US" sz="2800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827584" y="116632"/>
            <a:ext cx="6120680" cy="72008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第一章 化学反应基本规律</a:t>
            </a:r>
          </a:p>
        </p:txBody>
      </p:sp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755576" y="1935996"/>
            <a:ext cx="5400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  <a:sym typeface="Symbol" panose="05050102010706020507" pitchFamily="18" charset="2"/>
              </a:rPr>
              <a:t></a:t>
            </a:r>
            <a:r>
              <a:rPr lang="en-US" altLang="zh-CN" b="1" baseline="-25000" dirty="0" err="1">
                <a:ea typeface="Verdana" panose="020B0604030504040204" pitchFamily="34" charset="0"/>
                <a:cs typeface="Verdana" panose="020B0604030504040204" pitchFamily="34" charset="0"/>
              </a:rPr>
              <a:t>r</a:t>
            </a:r>
            <a:r>
              <a:rPr lang="en-US" altLang="zh-CN" b="1" i="1" dirty="0" err="1"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US" altLang="zh-CN" b="1" baseline="-25000" dirty="0" err="1"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altLang="zh-CN" b="1" baseline="30000" dirty="0">
                <a:ea typeface="Verdana" panose="020B0604030504040204" pitchFamily="34" charset="0"/>
                <a:cs typeface="Verdana" panose="020B0604030504040204" pitchFamily="34" charset="0"/>
                <a:sym typeface="Webdings" panose="05030102010509060703" pitchFamily="18" charset="2"/>
              </a:rPr>
              <a:t></a:t>
            </a:r>
            <a:r>
              <a:rPr lang="en-US" altLang="zh-CN" b="1" dirty="0">
                <a:ea typeface="Verdana" panose="020B0604030504040204" pitchFamily="34" charset="0"/>
                <a:cs typeface="Verdana" panose="020B0604030504040204" pitchFamily="34" charset="0"/>
              </a:rPr>
              <a:t> = </a:t>
            </a:r>
            <a:r>
              <a:rPr lang="en-US" altLang="zh-CN" b="1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  <a:sym typeface="Symbol" panose="05050102010706020507" pitchFamily="18" charset="2"/>
              </a:rPr>
              <a:t></a:t>
            </a:r>
            <a:r>
              <a:rPr lang="en-US" altLang="zh-CN" b="1" baseline="-25000" dirty="0" err="1">
                <a:ea typeface="Verdana" panose="020B0604030504040204" pitchFamily="34" charset="0"/>
                <a:cs typeface="Verdana" panose="020B0604030504040204" pitchFamily="34" charset="0"/>
              </a:rPr>
              <a:t>r</a:t>
            </a:r>
            <a:r>
              <a:rPr lang="en-US" altLang="zh-CN" b="1" i="1" dirty="0" err="1">
                <a:ea typeface="Verdana" panose="020B0604030504040204" pitchFamily="34" charset="0"/>
                <a:cs typeface="Verdana" panose="020B0604030504040204" pitchFamily="34" charset="0"/>
              </a:rPr>
              <a:t>H</a:t>
            </a:r>
            <a:r>
              <a:rPr lang="en-US" altLang="zh-CN" b="1" baseline="-25000" dirty="0" err="1"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altLang="zh-CN" b="1" baseline="30000" dirty="0">
                <a:ea typeface="Verdana" panose="020B0604030504040204" pitchFamily="34" charset="0"/>
                <a:cs typeface="Verdana" panose="020B0604030504040204" pitchFamily="34" charset="0"/>
                <a:sym typeface="Webdings" panose="05030102010509060703" pitchFamily="18" charset="2"/>
              </a:rPr>
              <a:t> </a:t>
            </a:r>
            <a:r>
              <a:rPr lang="en-US" altLang="zh-CN" b="1" dirty="0">
                <a:ea typeface="Verdana" panose="020B0604030504040204" pitchFamily="34" charset="0"/>
                <a:cs typeface="Verdana" panose="020B0604030504040204" pitchFamily="34" charset="0"/>
                <a:sym typeface="Webdings" panose="05030102010509060703" pitchFamily="18" charset="2"/>
              </a:rPr>
              <a:t>-</a:t>
            </a:r>
            <a:r>
              <a:rPr lang="en-US" altLang="zh-CN" b="1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en-US" altLang="zh-CN" b="1" i="1" dirty="0" err="1">
                <a:ea typeface="Verdana" panose="020B0604030504040204" pitchFamily="34" charset="0"/>
                <a:cs typeface="Verdana" panose="020B0604030504040204" pitchFamily="34" charset="0"/>
                <a:sym typeface="Webdings" panose="05030102010509060703" pitchFamily="18" charset="2"/>
              </a:rPr>
              <a:t>T</a:t>
            </a:r>
            <a:r>
              <a:rPr lang="en-US" altLang="zh-CN" b="1" dirty="0" err="1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  <a:sym typeface="Symbol" panose="05050102010706020507" pitchFamily="18" charset="2"/>
              </a:rPr>
              <a:t></a:t>
            </a:r>
            <a:r>
              <a:rPr lang="en-US" altLang="zh-CN" b="1" baseline="-25000" dirty="0" err="1">
                <a:ea typeface="Verdana" panose="020B0604030504040204" pitchFamily="34" charset="0"/>
                <a:cs typeface="Verdana" panose="020B0604030504040204" pitchFamily="34" charset="0"/>
              </a:rPr>
              <a:t>r</a:t>
            </a:r>
            <a:r>
              <a:rPr lang="en-US" altLang="zh-CN" b="1" i="1" dirty="0" err="1"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altLang="zh-CN" b="1" baseline="-25000" dirty="0" err="1"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altLang="zh-CN" b="1" baseline="30000" dirty="0">
                <a:ea typeface="Verdana" panose="020B0604030504040204" pitchFamily="34" charset="0"/>
                <a:cs typeface="Verdana" panose="020B0604030504040204" pitchFamily="34" charset="0"/>
                <a:sym typeface="Webdings" panose="05030102010509060703" pitchFamily="18" charset="2"/>
              </a:rPr>
              <a:t></a:t>
            </a:r>
            <a:endParaRPr lang="zh-CN" altLang="el-GR" sz="1800" b="1" dirty="0"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829454"/>
              </p:ext>
            </p:extLst>
          </p:nvPr>
        </p:nvGraphicFramePr>
        <p:xfrm>
          <a:off x="539552" y="2852936"/>
          <a:ext cx="8208936" cy="3093789"/>
        </p:xfrm>
        <a:graphic>
          <a:graphicData uri="http://schemas.openxmlformats.org/drawingml/2006/table">
            <a:tbl>
              <a:tblPr/>
              <a:tblGrid>
                <a:gridCol w="9121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121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1210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282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34438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95090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类型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  <a:sym typeface="Symbol" panose="05050102010706020507" pitchFamily="18" charset="2"/>
                        </a:rPr>
                        <a:t></a:t>
                      </a:r>
                      <a:r>
                        <a:rPr kumimoji="0" lang="en-US" altLang="zh-CN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  <a:sym typeface="Symbol" panose="05050102010706020507" pitchFamily="18" charset="2"/>
                        </a:rPr>
                        <a:t></a:t>
                      </a:r>
                      <a:r>
                        <a:rPr kumimoji="0" lang="en-US" altLang="zh-CN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  <a:sym typeface="Symbol" panose="05050102010706020507" pitchFamily="18" charset="2"/>
                        </a:rPr>
                        <a:t></a:t>
                      </a:r>
                      <a:r>
                        <a:rPr kumimoji="0" lang="en-US" altLang="zh-CN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反应的自发性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2884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-</a:t>
                      </a: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-</a:t>
                      </a: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-</a:t>
                      </a: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-</a:t>
                      </a: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永远是</a:t>
                      </a: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-</a:t>
                      </a:r>
                      <a:endParaRPr kumimoji="0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永远是</a:t>
                      </a:r>
                      <a:r>
                        <a:rPr kumimoji="0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受温度影响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受温度影响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rgbClr val="007FB8"/>
                        </a:buClr>
                        <a:buSzPct val="75000"/>
                        <a:buFont typeface="Wingdings" panose="05000000000000000000" pitchFamily="2" charset="2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Font typeface="Wingdings" panose="05000000000000000000" pitchFamily="2" charset="2"/>
                        <a:defRPr sz="16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自发反应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非自发反应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温度低时自发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0" lang="zh-CN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温度高时自发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42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27584" y="116632"/>
            <a:ext cx="6120680" cy="72008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第一章 化学反应基本规律</a:t>
            </a:r>
          </a:p>
        </p:txBody>
      </p:sp>
      <p:sp>
        <p:nvSpPr>
          <p:cNvPr id="3" name="矩形 2"/>
          <p:cNvSpPr/>
          <p:nvPr/>
        </p:nvSpPr>
        <p:spPr>
          <a:xfrm>
            <a:off x="395536" y="1052736"/>
            <a:ext cx="21355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dirty="0" smtClean="0">
                <a:latin typeface="Verdana"/>
                <a:ea typeface="楷体" panose="02010609060101010101" pitchFamily="49" charset="-122"/>
              </a:rPr>
              <a:t>7. </a:t>
            </a:r>
            <a:r>
              <a:rPr lang="zh-CN" altLang="en-US" sz="2800" b="1" dirty="0" smtClean="0">
                <a:latin typeface="Verdana"/>
                <a:ea typeface="楷体" panose="02010609060101010101" pitchFamily="49" charset="-122"/>
              </a:rPr>
              <a:t>化学平衡</a:t>
            </a:r>
            <a:endParaRPr lang="zh-CN" altLang="en-US" sz="2800" dirty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5536" y="1601788"/>
            <a:ext cx="86789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 smtClean="0">
                <a:latin typeface="Verdana"/>
                <a:ea typeface="楷体" panose="02010609060101010101" pitchFamily="49" charset="-122"/>
              </a:rPr>
              <a:t>平衡常数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800" b="1" baseline="-25000" dirty="0" smtClea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  </a:t>
            </a:r>
            <a:r>
              <a:rPr lang="en-US" altLang="zh-CN" sz="2800" b="1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800" b="1" baseline="-25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</a:t>
            </a:r>
            <a:r>
              <a:rPr lang="zh-CN" altLang="en-US" sz="2800" b="1" dirty="0" smtClean="0">
                <a:latin typeface="Verdana"/>
                <a:ea typeface="楷体" panose="02010609060101010101" pitchFamily="49" charset="-122"/>
              </a:rPr>
              <a:t> 与浓度和压力无关，只与温度有关。</a:t>
            </a:r>
            <a:endParaRPr lang="zh-CN" altLang="en-US" sz="2800" dirty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536" y="2276872"/>
            <a:ext cx="33473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  <a:sym typeface="Symbol" panose="05050102010706020507" pitchFamily="18" charset="2"/>
              </a:rPr>
              <a:t></a:t>
            </a:r>
            <a:r>
              <a:rPr lang="en-US" altLang="zh-CN" sz="2800" b="1" baseline="-25000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2800" b="1" i="1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US" altLang="zh-CN" sz="2800" b="1" baseline="-25000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l-GR" altLang="zh-CN" sz="2800" b="1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Θ</a:t>
            </a:r>
            <a:r>
              <a:rPr lang="en-US" altLang="zh-CN" sz="2800" b="1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 panose="05050102010706020507" pitchFamily="18" charset="2"/>
              </a:rPr>
              <a:t>-</a:t>
            </a:r>
            <a:r>
              <a:rPr lang="en-US" altLang="zh-CN" sz="2800" b="1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RTln</a:t>
            </a:r>
            <a:r>
              <a:rPr lang="en-US" altLang="zh-CN" sz="2800" b="1" i="1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l-GR" altLang="zh-CN" sz="2800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Θ</a:t>
            </a:r>
            <a:r>
              <a:rPr lang="en-US" altLang="zh-CN" sz="2800" b="1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en-US" altLang="el-GR" sz="2800" b="1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5536" y="2951956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ea typeface="楷体" panose="02010609060101010101" pitchFamily="49" charset="-122"/>
              </a:rPr>
              <a:t>多重平衡</a:t>
            </a:r>
            <a:r>
              <a:rPr lang="zh-CN" altLang="en-US" sz="2800" b="1" dirty="0">
                <a:solidFill>
                  <a:srgbClr val="FF0000"/>
                </a:solidFill>
                <a:ea typeface="楷体" panose="02010609060101010101" pitchFamily="49" charset="-122"/>
              </a:rPr>
              <a:t>规则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95536" y="3627040"/>
            <a:ext cx="8677275" cy="27352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400" b="1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例：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</a:t>
            </a:r>
            <a:r>
              <a:rPr lang="en-US" altLang="zh-CN" sz="2400" b="1" baseline="-300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(g) + CO</a:t>
            </a:r>
            <a:r>
              <a:rPr lang="en-US" altLang="zh-CN" sz="2400" b="1" baseline="-300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(g) = SO</a:t>
            </a:r>
            <a:r>
              <a:rPr lang="en-US" altLang="zh-CN" sz="2400" b="1" baseline="-300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(g) + CO(g)</a:t>
            </a:r>
            <a:r>
              <a:rPr lang="zh-CN" altLang="en-US" sz="2400" b="1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(1)</a:t>
            </a:r>
            <a:r>
              <a:rPr lang="zh-CN" altLang="en-US" sz="2400" b="1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      </a:t>
            </a:r>
            <a:r>
              <a:rPr lang="en-US" altLang="zh-CN" sz="2400" b="1" i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400" b="1" baseline="-250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endParaRPr lang="en-US" altLang="zh-CN" sz="2400" b="1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FontTx/>
              <a:buNone/>
            </a:pP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SO</a:t>
            </a:r>
            <a:r>
              <a:rPr lang="en-US" altLang="zh-CN" sz="2400" b="1" baseline="-300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(g) + 1/2O</a:t>
            </a:r>
            <a:r>
              <a:rPr lang="en-US" altLang="zh-CN" sz="2400" b="1" baseline="-300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(g) = SO</a:t>
            </a:r>
            <a:r>
              <a:rPr lang="en-US" altLang="zh-CN" sz="2400" b="1" baseline="-300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(g)           (2)</a:t>
            </a:r>
            <a:r>
              <a:rPr lang="zh-CN" altLang="en-US" sz="2400" b="1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      </a:t>
            </a:r>
            <a:r>
              <a:rPr lang="en-US" altLang="zh-CN" sz="2400" b="1" i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400" b="1" baseline="-250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>
              <a:buFontTx/>
              <a:buNone/>
            </a:pPr>
            <a:r>
              <a:rPr lang="zh-CN" altLang="en-US" sz="2400" b="1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求   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</a:t>
            </a:r>
            <a:r>
              <a:rPr lang="en-US" altLang="zh-CN" sz="2400" b="1" baseline="-300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(g) = CO(g) + 1/2O</a:t>
            </a:r>
            <a:r>
              <a:rPr lang="en-US" altLang="zh-CN" sz="2400" b="1" baseline="-300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(g)            (3)</a:t>
            </a:r>
            <a:r>
              <a:rPr lang="zh-CN" altLang="en-US" sz="2400" b="1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       </a:t>
            </a:r>
            <a:r>
              <a:rPr lang="en-US" altLang="zh-CN" sz="2400" b="1" i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400" b="1" baseline="-250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endParaRPr lang="en-US" altLang="zh-CN" sz="2400" b="1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FontTx/>
              <a:buNone/>
            </a:pP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(3) = (1) - (2)</a:t>
            </a:r>
            <a:r>
              <a:rPr lang="zh-CN" altLang="en-US" sz="2400" b="1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</a:t>
            </a:r>
          </a:p>
          <a:p>
            <a:pPr>
              <a:buFontTx/>
              <a:buNone/>
            </a:pPr>
            <a:r>
              <a:rPr lang="zh-CN" altLang="en-US" sz="2400" b="1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   则 </a:t>
            </a:r>
            <a:r>
              <a:rPr lang="en-US" altLang="zh-CN" sz="2400" b="1" i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400" b="1" baseline="-250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= </a:t>
            </a:r>
            <a:r>
              <a:rPr lang="en-US" altLang="zh-CN" sz="2400" b="1" i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400" b="1" baseline="-250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 panose="05050102010706020507" pitchFamily="18" charset="2"/>
              </a:rPr>
              <a:t>/</a:t>
            </a: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400" b="1" i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400" b="1" baseline="-2500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endParaRPr lang="en-US" altLang="zh-CN" sz="2400" b="1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b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</a:t>
            </a:r>
            <a:r>
              <a:rPr lang="zh-CN" altLang="en-US" sz="2400" b="1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结论：方程式相加减，平衡常数相乘除。</a:t>
            </a:r>
            <a:endParaRPr lang="zh-CN" altLang="en-US" sz="2400" b="1" dirty="0" smtClean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35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27584" y="116632"/>
            <a:ext cx="6120680" cy="72008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第一章 化学反应基本规律</a:t>
            </a:r>
          </a:p>
        </p:txBody>
      </p:sp>
      <p:sp>
        <p:nvSpPr>
          <p:cNvPr id="3" name="矩形 2"/>
          <p:cNvSpPr/>
          <p:nvPr/>
        </p:nvSpPr>
        <p:spPr>
          <a:xfrm>
            <a:off x="395536" y="1196752"/>
            <a:ext cx="21355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dirty="0" smtClean="0">
                <a:latin typeface="Verdana"/>
                <a:ea typeface="楷体" panose="02010609060101010101" pitchFamily="49" charset="-122"/>
              </a:rPr>
              <a:t>7. </a:t>
            </a:r>
            <a:r>
              <a:rPr lang="zh-CN" altLang="en-US" sz="2800" b="1" dirty="0" smtClean="0">
                <a:latin typeface="Verdana"/>
                <a:ea typeface="楷体" panose="02010609060101010101" pitchFamily="49" charset="-122"/>
              </a:rPr>
              <a:t>化学平衡</a:t>
            </a:r>
            <a:endParaRPr lang="zh-CN" altLang="en-US" sz="2800" dirty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95536" y="1791980"/>
            <a:ext cx="8496944" cy="279978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FontTx/>
              <a:buNone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平衡移动的总规律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勒夏特列原理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：</a:t>
            </a:r>
            <a:endParaRPr lang="en-US" altLang="zh-CN" sz="2800" b="1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algn="just">
              <a:lnSpc>
                <a:spcPct val="120000"/>
              </a:lnSpc>
              <a:buFontTx/>
              <a:buNone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如果改变平衡系统的条件之一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例如，浓度、压力或温度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，平衡就向能减弱这个改变的方向移动。</a:t>
            </a:r>
            <a:endParaRPr lang="en-US" altLang="zh-CN" sz="2800" b="1" dirty="0" smtClean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  <a:p>
            <a:pPr marL="0" indent="0" algn="just">
              <a:lnSpc>
                <a:spcPct val="120000"/>
              </a:lnSpc>
              <a:buFontTx/>
              <a:buNone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催化剂同等加快正、逆反应速率，不影响化学平衡，但能够加快到达化学平衡。 </a:t>
            </a:r>
          </a:p>
        </p:txBody>
      </p:sp>
    </p:spTree>
    <p:extLst>
      <p:ext uri="{BB962C8B-B14F-4D97-AF65-F5344CB8AC3E}">
        <p14:creationId xmlns:p14="http://schemas.microsoft.com/office/powerpoint/2010/main" val="279501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899592" y="116632"/>
            <a:ext cx="532859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第二章　溶液与离子平衡</a:t>
            </a:r>
          </a:p>
        </p:txBody>
      </p:sp>
      <p:sp>
        <p:nvSpPr>
          <p:cNvPr id="5" name="矩形 4"/>
          <p:cNvSpPr/>
          <p:nvPr/>
        </p:nvSpPr>
        <p:spPr>
          <a:xfrm>
            <a:off x="772098" y="1124744"/>
            <a:ext cx="60917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lang="en-US" altLang="zh-CN" sz="2800" b="1" noProof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Bronsted-Lowry</a:t>
            </a:r>
            <a:r>
              <a:rPr lang="zh-CN" altLang="en-US" sz="2800" b="1" noProof="1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酸碱质子理论</a:t>
            </a:r>
            <a:endParaRPr lang="zh-CN" altLang="zh-CN" sz="2800" b="1" noProof="1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5901" y="2312353"/>
            <a:ext cx="1988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noProof="1">
                <a:solidFill>
                  <a:srgbClr val="FF0000"/>
                </a:solidFill>
                <a:ea typeface="楷体" panose="02010609060101010101" pitchFamily="49" charset="-122"/>
              </a:rPr>
              <a:t>共轭酸碱对</a:t>
            </a:r>
            <a:endParaRPr lang="zh-CN" altLang="en-US" sz="2800" b="1" noProof="1">
              <a:solidFill>
                <a:srgbClr val="FF0000"/>
              </a:solidFill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899592" y="2931393"/>
            <a:ext cx="6408737" cy="522288"/>
            <a:chOff x="899592" y="2590473"/>
            <a:chExt cx="6408712" cy="523220"/>
          </a:xfrm>
        </p:grpSpPr>
        <p:sp>
          <p:nvSpPr>
            <p:cNvPr id="8" name="Text Box 2"/>
            <p:cNvSpPr txBox="1">
              <a:spLocks noChangeArrowheads="1"/>
            </p:cNvSpPr>
            <p:nvPr/>
          </p:nvSpPr>
          <p:spPr bwMode="auto">
            <a:xfrm>
              <a:off x="899592" y="2590473"/>
              <a:ext cx="640871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800" b="1" noProof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HAc(</a:t>
              </a:r>
              <a:r>
                <a:rPr lang="zh-CN" altLang="en-US" sz="2800" b="1" noProof="1">
                  <a:latin typeface="Verdana" panose="020B0604030504040204" pitchFamily="34" charset="0"/>
                  <a:ea typeface="楷体" panose="02010609060101010101" pitchFamily="49" charset="-122"/>
                  <a:cs typeface="Verdana" panose="020B0604030504040204" pitchFamily="34" charset="0"/>
                </a:rPr>
                <a:t>酸</a:t>
              </a:r>
              <a:r>
                <a:rPr lang="en-US" altLang="zh-CN" sz="2800" b="1" noProof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)         Ac</a:t>
              </a:r>
              <a:r>
                <a:rPr lang="en-US" altLang="zh-CN" sz="2800" b="1" baseline="30000" noProof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-</a:t>
              </a:r>
              <a:r>
                <a:rPr lang="en-US" altLang="zh-CN" sz="2800" b="1" noProof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(</a:t>
              </a:r>
              <a:r>
                <a:rPr lang="zh-CN" altLang="en-US" sz="2800" b="1" noProof="1">
                  <a:latin typeface="Verdana" panose="020B0604030504040204" pitchFamily="34" charset="0"/>
                  <a:ea typeface="楷体" panose="02010609060101010101" pitchFamily="49" charset="-122"/>
                  <a:cs typeface="Verdana" panose="020B0604030504040204" pitchFamily="34" charset="0"/>
                </a:rPr>
                <a:t>碱</a:t>
              </a:r>
              <a:r>
                <a:rPr lang="en-US" altLang="zh-CN" sz="2800" b="1" noProof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) + H</a:t>
              </a:r>
              <a:r>
                <a:rPr lang="en-US" altLang="zh-CN" sz="2800" b="1" baseline="30000" noProof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+</a:t>
              </a:r>
              <a:r>
                <a:rPr lang="en-US" altLang="zh-CN" sz="2800" b="1" noProof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(</a:t>
              </a:r>
              <a:r>
                <a:rPr lang="zh-CN" altLang="en-US" sz="2800" b="1" noProof="1">
                  <a:latin typeface="Verdana" panose="020B0604030504040204" pitchFamily="34" charset="0"/>
                  <a:ea typeface="楷体" panose="02010609060101010101" pitchFamily="49" charset="-122"/>
                  <a:cs typeface="Verdana" panose="020B0604030504040204" pitchFamily="34" charset="0"/>
                </a:rPr>
                <a:t>质子</a:t>
              </a:r>
              <a:r>
                <a:rPr lang="en-US" altLang="zh-CN" sz="2800" b="1" noProof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)</a:t>
              </a:r>
              <a:endParaRPr lang="zh-CN" altLang="en-US" sz="2800" b="1" baseline="30000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245" t="-5" b="81033"/>
            <a:stretch>
              <a:fillRect/>
            </a:stretch>
          </p:blipFill>
          <p:spPr bwMode="auto">
            <a:xfrm>
              <a:off x="2627852" y="2783427"/>
              <a:ext cx="838510" cy="2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矩形 9"/>
          <p:cNvSpPr/>
          <p:nvPr/>
        </p:nvSpPr>
        <p:spPr>
          <a:xfrm>
            <a:off x="899592" y="3553852"/>
            <a:ext cx="31053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i="1" noProof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800" b="1" baseline="-25000" noProof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altLang="zh-CN" sz="2800" b="1" noProof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× </a:t>
            </a:r>
            <a:r>
              <a:rPr lang="en-US" altLang="zh-CN" sz="2800" b="1" i="1" noProof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800" b="1" baseline="-25000" noProof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en-US" altLang="zh-CN" sz="2800" b="1" noProof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=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800" b="1" noProof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</a:t>
            </a:r>
            <a:r>
              <a:rPr lang="en-US" altLang="zh-CN" sz="2800" b="1" baseline="30000" noProof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-14</a:t>
            </a:r>
          </a:p>
        </p:txBody>
      </p:sp>
      <p:sp>
        <p:nvSpPr>
          <p:cNvPr id="11" name="矩形 10"/>
          <p:cNvSpPr/>
          <p:nvPr/>
        </p:nvSpPr>
        <p:spPr>
          <a:xfrm>
            <a:off x="772098" y="4149080"/>
            <a:ext cx="17281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defRPr/>
            </a:pP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</a:t>
            </a:r>
            <a:r>
              <a:rPr lang="en-US" altLang="zh-CN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pH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值</a:t>
            </a:r>
            <a:endParaRPr lang="zh-CN" altLang="en-US" sz="2800" b="1" dirty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99592" y="1691178"/>
            <a:ext cx="1988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noProof="1" smtClean="0">
                <a:solidFill>
                  <a:srgbClr val="FF0000"/>
                </a:solidFill>
                <a:ea typeface="楷体" panose="02010609060101010101" pitchFamily="49" charset="-122"/>
              </a:rPr>
              <a:t>酸碱的定义</a:t>
            </a:r>
            <a:endParaRPr lang="zh-CN" altLang="en-US" sz="2800" b="1" noProof="1">
              <a:solidFill>
                <a:srgbClr val="FF0000"/>
              </a:solidFill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798693" y="4781535"/>
            <a:ext cx="2704421" cy="56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90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381000" indent="95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10000"/>
              </a:spcBef>
              <a:defRPr/>
            </a:pP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pH = -</a:t>
            </a:r>
            <a:r>
              <a:rPr lang="en-US" altLang="zh-CN" sz="2800" b="1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lg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[H</a:t>
            </a:r>
            <a:r>
              <a:rPr lang="en-US" altLang="zh-CN" sz="2800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</a:t>
            </a:r>
            <a:endParaRPr lang="en-US" altLang="zh-CN" sz="28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779912" y="4781535"/>
            <a:ext cx="55610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因为：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[OH</a:t>
            </a:r>
            <a:r>
              <a:rPr lang="en-US" altLang="zh-CN" sz="2800" b="1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][H</a:t>
            </a:r>
            <a:r>
              <a:rPr lang="en-US" altLang="zh-CN" sz="2800" b="1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 = 10</a:t>
            </a:r>
            <a:r>
              <a:rPr lang="en-US" altLang="zh-CN" sz="2800" b="1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-14</a:t>
            </a:r>
            <a:endParaRPr lang="zh-CN" altLang="en-US" sz="2800" b="1" baseline="30000" dirty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3779912" y="5332746"/>
            <a:ext cx="43747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所以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Verdana" panose="020B0604030504040204" pitchFamily="34" charset="0"/>
              </a:rPr>
              <a:t>：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pH + pOH = 14</a:t>
            </a:r>
            <a:endParaRPr lang="en-US" altLang="zh-CN" sz="2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60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899592" y="116632"/>
            <a:ext cx="532859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第二章　溶液与离子平衡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1052736"/>
            <a:ext cx="6824304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一</a:t>
            </a: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元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弱酸和弱碱的解离平衡和平衡常数</a:t>
            </a:r>
            <a:endParaRPr lang="zh-CN" altLang="en-US" sz="2800" dirty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786263" y="1700808"/>
            <a:ext cx="4248472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793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358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>
              <a:lnSpc>
                <a:spcPct val="125000"/>
              </a:lnSpc>
              <a:defRPr/>
            </a:pPr>
            <a:r>
              <a:rPr lang="en-US" altLang="zh-CN" sz="2800" b="1" i="1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800" b="1" baseline="-25000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l-GR" altLang="zh-CN" sz="2800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ϴ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是弱酸电离平衡常数</a:t>
            </a:r>
            <a:endParaRPr lang="en-US" altLang="zh-CN" sz="2800" b="1" dirty="0" smtClean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  <a:p>
            <a:pPr marL="0" lvl="2">
              <a:lnSpc>
                <a:spcPct val="125000"/>
              </a:lnSpc>
              <a:defRPr/>
            </a:pPr>
            <a:r>
              <a:rPr lang="en-US" altLang="zh-CN" sz="2800" b="1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800" b="1" baseline="-25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el-GR" altLang="zh-CN" sz="2800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ϴ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是弱碱电离平衡常数。</a:t>
            </a:r>
            <a:endParaRPr lang="zh-CN" altLang="en-US" b="1" dirty="0" smtClean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755576" y="2909033"/>
            <a:ext cx="6048672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38100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lvl="2"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8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4. </a:t>
            </a:r>
            <a:r>
              <a:rPr lang="zh-CN" altLang="en-US" sz="2800" dirty="0" smtClean="0">
                <a:solidFill>
                  <a:schemeClr val="tx1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一</a:t>
            </a:r>
            <a:r>
              <a:rPr lang="zh-CN" altLang="en-US" sz="2800" dirty="0">
                <a:solidFill>
                  <a:schemeClr val="tx1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元弱酸或弱碱电离平衡计算公式</a:t>
            </a:r>
            <a:endParaRPr kumimoji="0" lang="zh-CN" altLang="en-US" sz="2800" dirty="0">
              <a:solidFill>
                <a:schemeClr val="tx1"/>
              </a:solidFill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6263" y="3500654"/>
            <a:ext cx="1627369" cy="5845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稀释定律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49333" y="4121104"/>
            <a:ext cx="60549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当满足 </a:t>
            </a:r>
            <a:r>
              <a:rPr lang="en-US" altLang="zh-CN" sz="2400" b="1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r>
              <a:rPr lang="en-US" altLang="zh-CN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</a:t>
            </a:r>
            <a:r>
              <a:rPr lang="en-US" altLang="zh-CN" sz="2400" b="1" i="1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400" b="1" baseline="-25000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altLang="zh-CN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≥ 500 </a:t>
            </a:r>
            <a:r>
              <a:rPr lang="zh-CN" altLang="en-US" sz="24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时，</a:t>
            </a:r>
            <a:r>
              <a:rPr lang="en-US" altLang="zh-CN" sz="2400" b="1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r>
              <a:rPr lang="en-US" altLang="zh-CN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4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- </a:t>
            </a:r>
            <a:r>
              <a:rPr lang="en-US" altLang="zh-CN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[H</a:t>
            </a:r>
            <a:r>
              <a:rPr lang="en-US" altLang="zh-CN" sz="2400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</a:t>
            </a:r>
            <a:r>
              <a:rPr lang="en-US" altLang="zh-CN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 ≈ </a:t>
            </a:r>
            <a:r>
              <a:rPr lang="en-US" altLang="zh-CN" sz="2400" b="1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endParaRPr lang="zh-CN" altLang="en-US" sz="2400" b="1" i="1" dirty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38867" y="4892048"/>
            <a:ext cx="2047257" cy="971538"/>
            <a:chOff x="5055462" y="3719975"/>
            <a:chExt cx="1303951" cy="971538"/>
          </a:xfrm>
        </p:grpSpPr>
        <p:sp>
          <p:nvSpPr>
            <p:cNvPr id="9" name="矩形 8"/>
            <p:cNvSpPr/>
            <p:nvPr/>
          </p:nvSpPr>
          <p:spPr>
            <a:xfrm>
              <a:off x="5055462" y="3986673"/>
              <a:ext cx="6663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 err="1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K</a:t>
              </a:r>
              <a:r>
                <a:rPr lang="en-US" altLang="zh-CN" sz="2400" b="1" baseline="-25000" dirty="0" err="1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</a:t>
              </a:r>
              <a:r>
                <a:rPr lang="el-GR" altLang="zh-CN" sz="2400" b="1" baseline="30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n-US" altLang="zh-CN" sz="2400" b="1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≈ </a:t>
              </a:r>
              <a:endParaRPr lang="zh-CN" altLang="en-US" sz="2400" dirty="0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5660133" y="3719975"/>
              <a:ext cx="699280" cy="971538"/>
              <a:chOff x="1962615" y="2482499"/>
              <a:chExt cx="704124" cy="971538"/>
            </a:xfrm>
          </p:grpSpPr>
          <p:sp>
            <p:nvSpPr>
              <p:cNvPr id="11" name="Text Box 4"/>
              <p:cNvSpPr txBox="1">
                <a:spLocks noChangeArrowheads="1"/>
              </p:cNvSpPr>
              <p:nvPr/>
            </p:nvSpPr>
            <p:spPr bwMode="auto">
              <a:xfrm>
                <a:off x="1962615" y="2482499"/>
                <a:ext cx="70412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2400" b="1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[H</a:t>
                </a:r>
                <a:r>
                  <a:rPr lang="en-US" altLang="zh-CN" sz="2400" b="1" baseline="30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+</a:t>
                </a:r>
                <a:r>
                  <a:rPr lang="en-US" altLang="zh-CN" sz="2400" b="1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]</a:t>
                </a:r>
                <a:r>
                  <a:rPr lang="en-US" altLang="zh-CN" sz="2400" b="1" baseline="30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</a:t>
                </a:r>
                <a:endParaRPr lang="en-US" altLang="zh-CN" sz="24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1980211" y="2980030"/>
                <a:ext cx="68652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 Box 4"/>
              <p:cNvSpPr txBox="1">
                <a:spLocks noChangeArrowheads="1"/>
              </p:cNvSpPr>
              <p:nvPr/>
            </p:nvSpPr>
            <p:spPr bwMode="auto">
              <a:xfrm>
                <a:off x="2176032" y="2992372"/>
                <a:ext cx="27728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2400" b="1" i="1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</a:t>
                </a:r>
                <a:endParaRPr lang="en-US" altLang="zh-CN" sz="2400" b="1" i="1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3324313" y="5066412"/>
            <a:ext cx="2463882" cy="646331"/>
            <a:chOff x="3180119" y="5767082"/>
            <a:chExt cx="1438063" cy="646331"/>
          </a:xfrm>
        </p:grpSpPr>
        <p:sp>
          <p:nvSpPr>
            <p:cNvPr id="15" name="矩形 14"/>
            <p:cNvSpPr/>
            <p:nvPr/>
          </p:nvSpPr>
          <p:spPr>
            <a:xfrm>
              <a:off x="3180119" y="5859415"/>
              <a:ext cx="83301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[H</a:t>
              </a:r>
              <a:r>
                <a:rPr lang="en-US" altLang="zh-CN" sz="2400" b="1" baseline="30000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+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] =  </a:t>
              </a:r>
              <a:endParaRPr lang="zh-CN" altLang="en-US" sz="2400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 rot="20947733">
              <a:off x="3900897" y="5767082"/>
              <a:ext cx="71728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√</a:t>
              </a:r>
              <a:endParaRPr lang="zh-CN" altLang="en-US" sz="3600" dirty="0">
                <a:solidFill>
                  <a:srgbClr val="FF0000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4103578" y="5900164"/>
              <a:ext cx="45676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K</a:t>
              </a:r>
              <a:r>
                <a:rPr lang="en-US" altLang="zh-CN" sz="2400" b="1" baseline="-25000" dirty="0" err="1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</a:t>
              </a:r>
              <a:r>
                <a:rPr lang="en-US" altLang="zh-CN" sz="2400" b="1" i="1" dirty="0" err="1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</a:t>
              </a:r>
              <a:endParaRPr lang="zh-CN" altLang="en-US" sz="2400" i="1" dirty="0">
                <a:solidFill>
                  <a:srgbClr val="FF0000"/>
                </a:solidFill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4126944" y="5859415"/>
              <a:ext cx="386994" cy="0"/>
            </a:xfrm>
            <a:prstGeom prst="line">
              <a:avLst/>
            </a:prstGeom>
            <a:ln w="412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748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utoUpdateAnimBg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899592" y="116632"/>
            <a:ext cx="532859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第二章　溶液与离子平衡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1124744"/>
            <a:ext cx="21355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5. 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缓冲溶液</a:t>
            </a:r>
            <a:endParaRPr lang="en-US" altLang="zh-CN" sz="2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55576" y="1762922"/>
            <a:ext cx="42484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800" noProof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HAc - NaAc</a:t>
            </a:r>
            <a:r>
              <a:rPr lang="en-US" altLang="zh-CN" sz="2800" noProof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　</a:t>
            </a:r>
            <a:r>
              <a:rPr lang="en-US" altLang="zh-CN" sz="2800" noProof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zh-CN" altLang="en-US" sz="2800" dirty="0" smtClean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缓冲对</a:t>
            </a:r>
            <a:r>
              <a:rPr lang="en-US" altLang="zh-CN" sz="2800" dirty="0" smtClean="0">
                <a:solidFill>
                  <a:schemeClr val="tx1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)</a:t>
            </a:r>
            <a:endParaRPr lang="zh-CN" altLang="en-US" sz="2800" dirty="0">
              <a:solidFill>
                <a:schemeClr val="tx1"/>
              </a:solidFill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50964" y="2458321"/>
            <a:ext cx="51845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en-US" sz="28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NH</a:t>
            </a:r>
            <a:r>
              <a:rPr lang="en-US" altLang="en-US" sz="2800" baseline="-250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r>
              <a:rPr lang="en-US" altLang="en-US" sz="28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·H</a:t>
            </a:r>
            <a:r>
              <a:rPr lang="en-US" altLang="en-US" sz="2800" baseline="-250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en-US" sz="28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</a:t>
            </a:r>
            <a:r>
              <a:rPr lang="en-US" altLang="en-US" sz="2800" noProof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800" noProof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</a:t>
            </a:r>
            <a:r>
              <a:rPr lang="en-US" altLang="en-US" sz="28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NH</a:t>
            </a:r>
            <a:r>
              <a:rPr lang="en-US" altLang="en-US" sz="2800" baseline="-250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</a:t>
            </a:r>
            <a:r>
              <a:rPr lang="en-US" altLang="en-US" sz="28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  </a:t>
            </a:r>
            <a:r>
              <a:rPr lang="en-US" altLang="zh-CN" sz="2800" noProof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缓冲对</a:t>
            </a:r>
            <a:r>
              <a:rPr lang="en-US" altLang="zh-CN" sz="2800" dirty="0" smtClean="0">
                <a:solidFill>
                  <a:schemeClr val="tx1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)</a:t>
            </a:r>
            <a:endParaRPr lang="zh-CN" altLang="en-US" sz="2800" dirty="0">
              <a:solidFill>
                <a:schemeClr val="tx1"/>
              </a:solidFill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06324" y="3202802"/>
            <a:ext cx="2383283" cy="916029"/>
            <a:chOff x="359690" y="5609315"/>
            <a:chExt cx="2383283" cy="916029"/>
          </a:xfrm>
        </p:grpSpPr>
        <p:grpSp>
          <p:nvGrpSpPr>
            <p:cNvPr id="7" name="组合 6"/>
            <p:cNvGrpSpPr/>
            <p:nvPr/>
          </p:nvGrpSpPr>
          <p:grpSpPr>
            <a:xfrm>
              <a:off x="359690" y="5609315"/>
              <a:ext cx="2383283" cy="916029"/>
              <a:chOff x="1934158" y="2928099"/>
              <a:chExt cx="2383283" cy="916029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1934158" y="3158931"/>
                <a:ext cx="143340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[H</a:t>
                </a:r>
                <a:r>
                  <a:rPr lang="en-US" altLang="zh-CN" sz="2400" b="1" baseline="300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+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] = 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3612905" y="2928099"/>
                <a:ext cx="704536" cy="916029"/>
                <a:chOff x="2587156" y="2524224"/>
                <a:chExt cx="709417" cy="916029"/>
              </a:xfrm>
            </p:grpSpPr>
            <p:sp>
              <p:nvSpPr>
                <p:cNvPr id="11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2587156" y="2978588"/>
                  <a:ext cx="62731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2400" b="1" i="1" dirty="0" smtClean="0">
                      <a:solidFill>
                        <a:srgbClr val="FF000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C</a:t>
                  </a:r>
                  <a:r>
                    <a:rPr lang="zh-CN" altLang="en-US" sz="1600" b="1" dirty="0" smtClean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  <a:cs typeface="Verdana" panose="020B0604030504040204" pitchFamily="34" charset="0"/>
                    </a:rPr>
                    <a:t>盐</a:t>
                  </a:r>
                  <a:endParaRPr lang="en-US" altLang="zh-CN" sz="2400" b="1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cxnSp>
              <p:nvCxnSpPr>
                <p:cNvPr id="12" name="直接连接符 11"/>
                <p:cNvCxnSpPr/>
                <p:nvPr/>
              </p:nvCxnSpPr>
              <p:spPr>
                <a:xfrm>
                  <a:off x="2587156" y="2980030"/>
                  <a:ext cx="62731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2591645" y="2524224"/>
                  <a:ext cx="70492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2400" b="1" i="1" dirty="0">
                      <a:solidFill>
                        <a:srgbClr val="FF000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C</a:t>
                  </a:r>
                  <a:r>
                    <a:rPr lang="zh-CN" altLang="en-US" sz="1600" b="1" dirty="0" smtClean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  <a:cs typeface="Verdana" panose="020B0604030504040204" pitchFamily="34" charset="0"/>
                    </a:rPr>
                    <a:t>酸</a:t>
                  </a:r>
                  <a:endParaRPr lang="en-US" altLang="zh-CN" sz="2400" b="1" baseline="300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8" name="矩形 7"/>
            <p:cNvSpPr/>
            <p:nvPr/>
          </p:nvSpPr>
          <p:spPr>
            <a:xfrm>
              <a:off x="1552213" y="5832846"/>
              <a:ext cx="56696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 err="1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K</a:t>
              </a:r>
              <a:r>
                <a:rPr lang="en-US" altLang="zh-CN" sz="2400" b="1" baseline="-25000" dirty="0" err="1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680289" y="3153720"/>
            <a:ext cx="2989040" cy="916029"/>
            <a:chOff x="-120450" y="5609315"/>
            <a:chExt cx="2863423" cy="916029"/>
          </a:xfrm>
        </p:grpSpPr>
        <p:grpSp>
          <p:nvGrpSpPr>
            <p:cNvPr id="15" name="组合 14"/>
            <p:cNvGrpSpPr/>
            <p:nvPr/>
          </p:nvGrpSpPr>
          <p:grpSpPr>
            <a:xfrm>
              <a:off x="-120450" y="5609315"/>
              <a:ext cx="2863423" cy="916029"/>
              <a:chOff x="1454018" y="2928099"/>
              <a:chExt cx="2863423" cy="916029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1454018" y="3169813"/>
                <a:ext cx="11368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pH = 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>
                <a:off x="3612905" y="2928099"/>
                <a:ext cx="704536" cy="916029"/>
                <a:chOff x="2587156" y="2524224"/>
                <a:chExt cx="709417" cy="916029"/>
              </a:xfrm>
            </p:grpSpPr>
            <p:sp>
              <p:nvSpPr>
                <p:cNvPr id="19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2587156" y="2978588"/>
                  <a:ext cx="62731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2400" b="1" i="1" dirty="0" smtClean="0">
                      <a:solidFill>
                        <a:srgbClr val="FF000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C</a:t>
                  </a:r>
                  <a:r>
                    <a:rPr lang="zh-CN" altLang="en-US" sz="1600" b="1" dirty="0" smtClean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  <a:cs typeface="Verdana" panose="020B0604030504040204" pitchFamily="34" charset="0"/>
                    </a:rPr>
                    <a:t>盐</a:t>
                  </a:r>
                  <a:endParaRPr lang="en-US" altLang="zh-CN" sz="2400" b="1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cxnSp>
              <p:nvCxnSpPr>
                <p:cNvPr id="20" name="直接连接符 19"/>
                <p:cNvCxnSpPr/>
                <p:nvPr/>
              </p:nvCxnSpPr>
              <p:spPr>
                <a:xfrm>
                  <a:off x="2587156" y="2980030"/>
                  <a:ext cx="62731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2591645" y="2524224"/>
                  <a:ext cx="70492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altLang="zh-CN" sz="2400" b="1" i="1" dirty="0">
                      <a:solidFill>
                        <a:srgbClr val="FF0000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C</a:t>
                  </a:r>
                  <a:r>
                    <a:rPr lang="zh-CN" altLang="en-US" sz="1600" b="1" dirty="0" smtClean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  <a:cs typeface="Verdana" panose="020B0604030504040204" pitchFamily="34" charset="0"/>
                    </a:rPr>
                    <a:t>酸</a:t>
                  </a:r>
                  <a:endParaRPr lang="en-US" altLang="zh-CN" sz="2400" b="1" baseline="300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16" name="矩形 15"/>
            <p:cNvSpPr/>
            <p:nvPr/>
          </p:nvSpPr>
          <p:spPr>
            <a:xfrm>
              <a:off x="734006" y="5832846"/>
              <a:ext cx="13851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 err="1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</a:t>
              </a:r>
              <a:r>
                <a:rPr lang="en-US" altLang="zh-CN" sz="2400" b="1" i="1" dirty="0" err="1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K</a:t>
              </a:r>
              <a:r>
                <a:rPr lang="en-US" altLang="zh-CN" sz="2400" b="1" baseline="-25000" dirty="0" err="1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- </a:t>
              </a:r>
              <a:r>
                <a:rPr lang="en-US" altLang="zh-CN" sz="2400" b="1" dirty="0" err="1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lg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814001" y="4372495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noProof="1">
                <a:latin typeface="Verdana" panose="020B0604030504040204" pitchFamily="34" charset="0"/>
                <a:ea typeface="楷体" pitchFamily="49" charset="-122"/>
                <a:cs typeface="Verdana" panose="020B0604030504040204" pitchFamily="34" charset="0"/>
              </a:rPr>
              <a:t>缓冲容量</a:t>
            </a:r>
            <a:endParaRPr lang="zh-CN" altLang="en-US" sz="2800" b="1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532892" y="4372495"/>
            <a:ext cx="27975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pH = </a:t>
            </a:r>
            <a:r>
              <a:rPr lang="en-US" altLang="zh-CN" sz="28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</a:t>
            </a:r>
            <a:r>
              <a:rPr lang="en-US" altLang="zh-CN" sz="2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800" b="1" baseline="-250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±</a:t>
            </a: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  <a:cs typeface="Verdana" panose="020B0604030504040204" pitchFamily="34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14001" y="5167684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noProof="1" smtClean="0">
                <a:latin typeface="Verdana" panose="020B0604030504040204" pitchFamily="34" charset="0"/>
                <a:ea typeface="楷体" pitchFamily="49" charset="-122"/>
                <a:cs typeface="Verdana" panose="020B0604030504040204" pitchFamily="34" charset="0"/>
              </a:rPr>
              <a:t>缓冲溶液的配置</a:t>
            </a:r>
            <a:endParaRPr lang="zh-CN" altLang="en-US" sz="2800" b="1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44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899592" y="116632"/>
            <a:ext cx="532859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第二章　溶液与离子平衡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1124744"/>
            <a:ext cx="28568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6. </a:t>
            </a: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沉淀溶解平衡</a:t>
            </a:r>
            <a:endParaRPr lang="en-US" altLang="zh-CN" sz="2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71018" y="1647964"/>
            <a:ext cx="13933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 smtClean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溶度积</a:t>
            </a:r>
            <a:r>
              <a:rPr lang="zh-CN" altLang="en-US" sz="2800" dirty="0" smtClean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</a:t>
            </a:r>
            <a:endParaRPr lang="zh-CN" altLang="en-US" sz="2800" dirty="0">
              <a:solidFill>
                <a:srgbClr val="FF0000"/>
              </a:solidFill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55576" y="2276872"/>
            <a:ext cx="48734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ea typeface="楷体" panose="02010609060101010101" pitchFamily="49" charset="-122"/>
              </a:rPr>
              <a:t>溶度积和溶解度之间</a:t>
            </a:r>
            <a:r>
              <a:rPr lang="zh-CN" altLang="en-US" sz="2800" b="1" dirty="0" smtClean="0">
                <a:ea typeface="楷体" panose="02010609060101010101" pitchFamily="49" charset="-122"/>
              </a:rPr>
              <a:t>的关系：</a:t>
            </a:r>
            <a:endParaRPr lang="zh-CN" altLang="en-US" sz="2800" dirty="0"/>
          </a:p>
        </p:txBody>
      </p:sp>
      <p:sp>
        <p:nvSpPr>
          <p:cNvPr id="6" name="矩形 5"/>
          <p:cNvSpPr/>
          <p:nvPr/>
        </p:nvSpPr>
        <p:spPr>
          <a:xfrm>
            <a:off x="771018" y="2931040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AB</a:t>
            </a:r>
            <a:r>
              <a:rPr lang="zh-CN" altLang="en-US" sz="2400" b="1" dirty="0">
                <a:solidFill>
                  <a:srgbClr val="00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型：</a:t>
            </a:r>
            <a:r>
              <a:rPr lang="en-US" altLang="zh-CN" sz="2400" b="1" dirty="0" err="1">
                <a:solidFill>
                  <a:srgbClr val="00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AgBr</a:t>
            </a:r>
            <a:r>
              <a:rPr lang="en-US" altLang="zh-CN" sz="2400" b="1" dirty="0">
                <a:solidFill>
                  <a:srgbClr val="00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 </a:t>
            </a:r>
            <a:r>
              <a:rPr lang="en-US" altLang="zh-CN" sz="2400" b="1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400" b="1" baseline="-25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</a:t>
            </a:r>
            <a:r>
              <a:rPr lang="el-GR" altLang="zh-CN" sz="2400" b="1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ϴ</a:t>
            </a:r>
            <a:r>
              <a:rPr lang="en-US" altLang="zh-CN" sz="2400" b="1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en-US" altLang="zh-CN" sz="24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AgBr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</a:t>
            </a:r>
            <a:r>
              <a:rPr lang="en-US" altLang="zh-CN" sz="2400" b="1" dirty="0">
                <a:solidFill>
                  <a:srgbClr val="00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= 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[Ag</a:t>
            </a:r>
            <a:r>
              <a:rPr lang="en-US" altLang="zh-CN" sz="2400" b="1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][Br</a:t>
            </a:r>
            <a:r>
              <a:rPr lang="en-US" altLang="zh-CN" sz="2400" b="1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 = </a:t>
            </a:r>
            <a:r>
              <a:rPr lang="en-US" altLang="zh-CN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altLang="zh-CN" sz="2400" b="1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</a:p>
        </p:txBody>
      </p:sp>
      <p:sp>
        <p:nvSpPr>
          <p:cNvPr id="7" name="矩形 6"/>
          <p:cNvSpPr/>
          <p:nvPr/>
        </p:nvSpPr>
        <p:spPr>
          <a:xfrm>
            <a:off x="755576" y="3507247"/>
            <a:ext cx="2622834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algn="just">
              <a:lnSpc>
                <a:spcPct val="150000"/>
              </a:lnSpc>
              <a:buFont typeface="宋体" panose="02010600030101010101" pitchFamily="2" charset="-122"/>
              <a:buNone/>
              <a:defRPr/>
            </a:pPr>
            <a:r>
              <a:rPr lang="en-US" altLang="zh-CN" sz="2800" b="1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7. </a:t>
            </a: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溶度积规则</a:t>
            </a:r>
            <a:r>
              <a:rPr lang="zh-CN" altLang="en-US" sz="2800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55576" y="4360453"/>
            <a:ext cx="56010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[A</a:t>
            </a:r>
            <a:r>
              <a:rPr lang="en-US" altLang="zh-CN" sz="2400" b="1" baseline="30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][B</a:t>
            </a:r>
            <a:r>
              <a:rPr lang="en-US" altLang="zh-CN" sz="2400" b="1" baseline="30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 =</a:t>
            </a:r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 panose="05050102010706020507" pitchFamily="18" charset="2"/>
              </a:rPr>
              <a:t>&lt;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4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400" b="1" baseline="-250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</a:t>
            </a:r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固体溶解  </a:t>
            </a:r>
          </a:p>
          <a:p>
            <a:pPr algn="just"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[A</a:t>
            </a:r>
            <a:r>
              <a:rPr lang="en-US" altLang="zh-CN" sz="2400" b="1" baseline="30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][B</a:t>
            </a:r>
            <a:r>
              <a:rPr lang="en-US" altLang="zh-CN" sz="2400" b="1" baseline="30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 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= </a:t>
            </a:r>
            <a:r>
              <a:rPr lang="en-US" altLang="zh-CN" sz="24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400" b="1" baseline="-250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</a:t>
            </a:r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溶解平衡</a:t>
            </a:r>
          </a:p>
          <a:p>
            <a:pPr algn="just"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[A</a:t>
            </a:r>
            <a:r>
              <a:rPr lang="en-US" altLang="zh-CN" sz="2400" b="1" baseline="30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][B</a:t>
            </a:r>
            <a:r>
              <a:rPr lang="en-US" altLang="zh-CN" sz="2400" b="1" baseline="30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 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Symbol" panose="05050102010706020507" pitchFamily="18" charset="2"/>
              </a:rPr>
              <a:t>&gt;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4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400" b="1" baseline="-250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</a:t>
            </a:r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生成沉淀 </a:t>
            </a:r>
          </a:p>
        </p:txBody>
      </p:sp>
    </p:spTree>
    <p:extLst>
      <p:ext uri="{BB962C8B-B14F-4D97-AF65-F5344CB8AC3E}">
        <p14:creationId xmlns:p14="http://schemas.microsoft.com/office/powerpoint/2010/main" val="227565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9592" y="116632"/>
            <a:ext cx="64395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第三章 氧化还原反应和电化学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5576" y="1124744"/>
            <a:ext cx="17748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1. 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氧</a:t>
            </a: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化数</a:t>
            </a:r>
            <a:endParaRPr lang="en-US" altLang="zh-CN" sz="2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02229" y="1700808"/>
            <a:ext cx="345638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en-US" altLang="zh-CN" sz="2000" b="1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</a:t>
            </a:r>
            <a:r>
              <a:rPr lang="en-US" altLang="zh-CN" sz="2000" b="1" baseline="-25000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— -1</a:t>
            </a:r>
            <a:r>
              <a:rPr lang="zh-CN" altLang="en-US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；</a:t>
            </a:r>
            <a:endParaRPr lang="en-US" altLang="zh-CN" sz="2000" b="1" dirty="0" smtClean="0">
              <a:solidFill>
                <a:srgbClr val="33333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0" fontAlgn="base" hangingPunct="0">
              <a:spcAft>
                <a:spcPct val="0"/>
              </a:spcAft>
            </a:pPr>
            <a:r>
              <a:rPr lang="en-US" altLang="zh-CN" sz="2000" b="1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</a:t>
            </a:r>
            <a:r>
              <a:rPr lang="en-US" altLang="zh-CN" sz="2000" b="1" baseline="-25000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— </a:t>
            </a:r>
            <a:r>
              <a:rPr lang="en-US" altLang="zh-CN" sz="2000" b="1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 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楷体_GB2312" pitchFamily="49" charset="-122"/>
                <a:cs typeface="Verdana" panose="020B0604030504040204" pitchFamily="34" charset="0"/>
              </a:rPr>
              <a:t>(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-1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楷体_GB2312" pitchFamily="49" charset="-122"/>
                <a:cs typeface="Verdana" panose="020B0604030504040204" pitchFamily="34" charset="0"/>
              </a:rPr>
              <a:t>, 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+1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楷体_GB2312" pitchFamily="49" charset="-122"/>
                <a:cs typeface="Verdana" panose="020B0604030504040204" pitchFamily="34" charset="0"/>
              </a:rPr>
              <a:t>, 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+2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楷体_GB2312" pitchFamily="49" charset="-122"/>
                <a:cs typeface="Verdana" panose="020B0604030504040204" pitchFamily="34" charset="0"/>
              </a:rPr>
              <a:t>);</a:t>
            </a:r>
          </a:p>
          <a:p>
            <a:pPr eaLnBrk="0" fontAlgn="base" hangingPunct="0">
              <a:spcAft>
                <a:spcPct val="0"/>
              </a:spcAft>
            </a:pPr>
            <a:r>
              <a:rPr lang="en-US" altLang="zh-CN" sz="2000" b="1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</a:t>
            </a:r>
            <a:r>
              <a:rPr lang="en-US" altLang="zh-CN" sz="2000" b="1" baseline="-25000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000" b="1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— 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-3 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楷体_GB2312" pitchFamily="49" charset="-122"/>
                <a:cs typeface="Verdana" panose="020B0604030504040204" pitchFamily="34" charset="0"/>
              </a:rPr>
              <a:t>(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+4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楷体_GB2312" pitchFamily="49" charset="-122"/>
                <a:cs typeface="Verdana" panose="020B0604030504040204" pitchFamily="34" charset="0"/>
              </a:rPr>
              <a:t>, 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+5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楷体_GB2312" pitchFamily="49" charset="-122"/>
                <a:cs typeface="Verdana" panose="020B0604030504040204" pitchFamily="34" charset="0"/>
              </a:rPr>
              <a:t>);</a:t>
            </a:r>
            <a:endParaRPr lang="en-US" altLang="zh-CN" sz="2000" b="1" dirty="0">
              <a:solidFill>
                <a:srgbClr val="333333"/>
              </a:solidFill>
              <a:latin typeface="Verdana" panose="020B0604030504040204" pitchFamily="34" charset="0"/>
              <a:ea typeface="楷体_GB2312" pitchFamily="49" charset="-122"/>
              <a:cs typeface="Verdana" panose="020B0604030504040204" pitchFamily="34" charset="0"/>
            </a:endParaRPr>
          </a:p>
          <a:p>
            <a:pPr eaLnBrk="0" fontAlgn="base" hangingPunct="0">
              <a:spcAft>
                <a:spcPct val="0"/>
              </a:spcAft>
            </a:pPr>
            <a:r>
              <a:rPr lang="en-US" altLang="zh-CN" sz="2000" b="1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</a:t>
            </a:r>
            <a:r>
              <a:rPr lang="en-US" altLang="zh-CN" sz="2000" b="1" baseline="-25000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— </a:t>
            </a:r>
            <a:r>
              <a:rPr lang="en-US" altLang="zh-CN" sz="2000" b="1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 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楷体_GB2312" pitchFamily="49" charset="-122"/>
                <a:cs typeface="Verdana" panose="020B0604030504040204" pitchFamily="34" charset="0"/>
              </a:rPr>
              <a:t>(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-1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楷体_GB2312" pitchFamily="49" charset="-122"/>
                <a:cs typeface="Verdana" panose="020B0604030504040204" pitchFamily="34" charset="0"/>
              </a:rPr>
              <a:t>);</a:t>
            </a:r>
            <a:r>
              <a:rPr lang="zh-CN" altLang="en-US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楷体_GB2312" pitchFamily="49" charset="-122"/>
                <a:cs typeface="Verdana" panose="020B0604030504040204" pitchFamily="34" charset="0"/>
              </a:rPr>
              <a:t>  </a:t>
            </a:r>
            <a:endParaRPr lang="zh-CN" altLang="en-US" sz="2000" b="1" dirty="0">
              <a:solidFill>
                <a:srgbClr val="333333"/>
              </a:solidFill>
              <a:latin typeface="Verdana" panose="020B0604030504040204" pitchFamily="34" charset="0"/>
              <a:ea typeface="楷体_GB2312" pitchFamily="49" charset="-122"/>
              <a:cs typeface="Verdana" panose="020B0604030504040204" pitchFamily="34" charset="0"/>
            </a:endParaRPr>
          </a:p>
          <a:p>
            <a:pPr eaLnBrk="0" fontAlgn="base" hangingPunct="0">
              <a:spcAft>
                <a:spcPct val="0"/>
              </a:spcAft>
            </a:pPr>
            <a:r>
              <a:rPr lang="en-US" altLang="zh-CN" sz="2000" b="1" dirty="0" err="1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</a:t>
            </a:r>
            <a:r>
              <a:rPr lang="en-US" altLang="zh-CN" sz="2000" b="1" baseline="30000" dirty="0" err="1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Ⅰ</a:t>
            </a:r>
            <a:r>
              <a:rPr lang="en-US" altLang="zh-CN" sz="2000" b="1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— </a:t>
            </a:r>
            <a:r>
              <a:rPr lang="en-US" altLang="zh-CN" sz="2000" b="1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+1</a:t>
            </a:r>
            <a:r>
              <a:rPr lang="zh-CN" altLang="en-US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楷体_GB2312" pitchFamily="49" charset="-122"/>
                <a:cs typeface="Verdana" panose="020B0604030504040204" pitchFamily="34" charset="0"/>
              </a:rPr>
              <a:t>；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</a:t>
            </a:r>
            <a:r>
              <a:rPr lang="en-US" altLang="zh-CN" sz="2000" b="1" baseline="30000" dirty="0" err="1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Ⅱ</a:t>
            </a:r>
            <a:r>
              <a:rPr lang="en-US" altLang="zh-CN" sz="2000" b="1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000" b="1" dirty="0" smtClean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— +</a:t>
            </a:r>
            <a:r>
              <a:rPr lang="en-US" altLang="zh-CN" sz="2000" b="1" dirty="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zh-CN" altLang="en-US" sz="2000" b="1" dirty="0">
                <a:solidFill>
                  <a:srgbClr val="333333"/>
                </a:solidFill>
                <a:latin typeface="Verdana" panose="020B0604030504040204" pitchFamily="34" charset="0"/>
                <a:ea typeface="楷体_GB2312" pitchFamily="49" charset="-122"/>
                <a:cs typeface="Verdana" panose="020B0604030504040204" pitchFamily="34" charset="0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786983" y="3384868"/>
            <a:ext cx="17748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2. 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原电池</a:t>
            </a:r>
            <a:endParaRPr lang="en-US" altLang="zh-CN" sz="2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ext Box 3">
            <a:hlinkClick r:id="rId2" action="ppaction://hlinkfile"/>
          </p:cNvPr>
          <p:cNvSpPr txBox="1">
            <a:spLocks noChangeArrowheads="1"/>
          </p:cNvSpPr>
          <p:nvPr/>
        </p:nvSpPr>
        <p:spPr bwMode="auto">
          <a:xfrm>
            <a:off x="802521" y="3908088"/>
            <a:ext cx="5040560" cy="5191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装置</a:t>
            </a: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、电极反应及电池反应</a:t>
            </a:r>
            <a:endParaRPr lang="zh-CN" altLang="en-US" dirty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802229" y="5003264"/>
            <a:ext cx="1728192" cy="46617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电池符号</a:t>
            </a:r>
          </a:p>
        </p:txBody>
      </p:sp>
      <p:sp>
        <p:nvSpPr>
          <p:cNvPr id="9" name="矩形 8"/>
          <p:cNvSpPr/>
          <p:nvPr/>
        </p:nvSpPr>
        <p:spPr>
          <a:xfrm>
            <a:off x="802229" y="5644992"/>
            <a:ext cx="8118649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2400" b="1" dirty="0">
                <a:solidFill>
                  <a:srgbClr val="0805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(-) </a:t>
            </a:r>
            <a:r>
              <a:rPr kumimoji="1" lang="zh-CN" altLang="en-US" sz="2400" b="1" dirty="0">
                <a:solidFill>
                  <a:srgbClr val="0805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惰性电极 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 </a:t>
            </a:r>
            <a:r>
              <a:rPr kumimoji="1" lang="zh-CN" altLang="en-US" sz="2400" b="1" dirty="0">
                <a:solidFill>
                  <a:srgbClr val="0805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其它 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 </a:t>
            </a:r>
            <a:r>
              <a:rPr kumimoji="1" lang="zh-CN" altLang="en-US" sz="2400" b="1" dirty="0">
                <a:solidFill>
                  <a:srgbClr val="0805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离子 </a:t>
            </a:r>
            <a:r>
              <a:rPr lang="en-US" altLang="zh-CN" sz="24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ll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zh-CN" altLang="en-US" sz="2400" b="1" dirty="0">
                <a:solidFill>
                  <a:srgbClr val="0805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离子 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 </a:t>
            </a:r>
            <a:r>
              <a:rPr kumimoji="1" lang="zh-CN" altLang="en-US" sz="2400" b="1" dirty="0">
                <a:solidFill>
                  <a:srgbClr val="0805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其它 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 </a:t>
            </a:r>
            <a:r>
              <a:rPr kumimoji="1" lang="zh-CN" altLang="en-US" sz="2400" b="1" dirty="0">
                <a:solidFill>
                  <a:srgbClr val="0805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惰性电极 </a:t>
            </a:r>
            <a:r>
              <a:rPr kumimoji="1" lang="en-US" altLang="zh-CN" sz="2400" b="1" dirty="0">
                <a:solidFill>
                  <a:srgbClr val="0805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(+)</a:t>
            </a:r>
            <a:endParaRPr kumimoji="1" lang="zh-CN" altLang="en-US" sz="2400" b="1" dirty="0">
              <a:solidFill>
                <a:srgbClr val="080500"/>
              </a:solidFill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786983" y="4449310"/>
            <a:ext cx="2848913" cy="46617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负失氧，正得还</a:t>
            </a:r>
          </a:p>
        </p:txBody>
      </p:sp>
    </p:spTree>
    <p:extLst>
      <p:ext uri="{BB962C8B-B14F-4D97-AF65-F5344CB8AC3E}">
        <p14:creationId xmlns:p14="http://schemas.microsoft.com/office/powerpoint/2010/main" val="233165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9592" y="116632"/>
            <a:ext cx="64395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第三章 氧化还原反应和电化学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5576" y="1124744"/>
            <a:ext cx="21355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3. 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电极电势</a:t>
            </a:r>
            <a:endParaRPr lang="en-US" altLang="zh-CN" sz="2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1331640" y="1748135"/>
            <a:ext cx="5292322" cy="52322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氧化态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+ </a:t>
            </a:r>
            <a:r>
              <a:rPr lang="en-US" altLang="zh-CN" sz="2800" b="1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</a:t>
            </a:r>
            <a:r>
              <a:rPr lang="en-US" altLang="zh-CN" sz="28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⇌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8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还原态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zh-CN" altLang="en-US" sz="2800" b="1" dirty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55576" y="2577656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能斯特方程：</a:t>
            </a:r>
            <a:endParaRPr lang="en-US" altLang="zh-CN" sz="2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891097" y="2357250"/>
            <a:ext cx="5328592" cy="973985"/>
            <a:chOff x="3059832" y="2967335"/>
            <a:chExt cx="3755414" cy="973985"/>
          </a:xfrm>
        </p:grpSpPr>
        <p:grpSp>
          <p:nvGrpSpPr>
            <p:cNvPr id="7" name="组合 6"/>
            <p:cNvGrpSpPr/>
            <p:nvPr/>
          </p:nvGrpSpPr>
          <p:grpSpPr>
            <a:xfrm>
              <a:off x="3059832" y="3007042"/>
              <a:ext cx="2182200" cy="862684"/>
              <a:chOff x="829647" y="2515821"/>
              <a:chExt cx="1506401" cy="862684"/>
            </a:xfrm>
          </p:grpSpPr>
          <p:sp>
            <p:nvSpPr>
              <p:cNvPr id="12" name="Text Box 4"/>
              <p:cNvSpPr txBox="1">
                <a:spLocks noChangeArrowheads="1"/>
              </p:cNvSpPr>
              <p:nvPr/>
            </p:nvSpPr>
            <p:spPr bwMode="auto">
              <a:xfrm>
                <a:off x="1602208" y="2515821"/>
                <a:ext cx="73384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2400" b="1" dirty="0" smtClean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0.0592</a:t>
                </a:r>
                <a:endParaRPr lang="en-US" altLang="zh-CN" sz="2400" b="1" dirty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829647" y="2742780"/>
                <a:ext cx="10547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smtClean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</a:t>
                </a:r>
                <a:r>
                  <a:rPr lang="el-GR" altLang="zh-CN" sz="2400" b="1" baseline="30000" dirty="0" smtClean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= </a:t>
                </a:r>
                <a:r>
                  <a:rPr lang="en-US" altLang="zh-CN" sz="2400" b="1" i="1" dirty="0" smtClean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</a:t>
                </a:r>
                <a:r>
                  <a:rPr lang="az-Cyrl-AZ" altLang="zh-CN" sz="2400" b="1" baseline="30000" dirty="0" smtClean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ө</a:t>
                </a:r>
                <a:r>
                  <a:rPr lang="en-US" altLang="zh-CN" sz="2400" b="1" baseline="30000" dirty="0" smtClean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altLang="zh-CN" sz="2400" b="1" dirty="0" smtClean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+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>
                <a:off x="1573025" y="2977485"/>
                <a:ext cx="747864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 Box 4"/>
              <p:cNvSpPr txBox="1">
                <a:spLocks noChangeArrowheads="1"/>
              </p:cNvSpPr>
              <p:nvPr/>
            </p:nvSpPr>
            <p:spPr bwMode="auto">
              <a:xfrm>
                <a:off x="1847907" y="2916840"/>
                <a:ext cx="28737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2400" b="1" i="1" dirty="0" smtClean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z</a:t>
                </a:r>
                <a:endParaRPr lang="en-US" altLang="zh-CN" sz="2400" b="1" i="1" baseline="30000" dirty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  <p:sp>
          <p:nvSpPr>
            <p:cNvPr id="8" name="矩形 7"/>
            <p:cNvSpPr/>
            <p:nvPr/>
          </p:nvSpPr>
          <p:spPr>
            <a:xfrm>
              <a:off x="5212351" y="3234000"/>
              <a:ext cx="40580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 err="1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lg</a:t>
              </a:r>
              <a:r>
                <a:rPr lang="el-GR" altLang="zh-CN" sz="2400" b="1" baseline="30000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5582426" y="2967335"/>
              <a:ext cx="12328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[</a:t>
              </a:r>
              <a:r>
                <a:rPr lang="zh-CN" altLang="en-US" sz="2400" b="1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Verdana" panose="020B0604030504040204" pitchFamily="34" charset="0"/>
                </a:rPr>
                <a:t>氧化态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]</a:t>
              </a:r>
              <a:r>
                <a:rPr lang="en-US" altLang="zh-CN" sz="2400" b="1" i="1" baseline="30000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</a:t>
              </a:r>
              <a:endParaRPr lang="en-US" altLang="zh-CN" sz="2400" b="1" i="1" baseline="30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5546525" y="3468211"/>
              <a:ext cx="11542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5582426" y="3479655"/>
              <a:ext cx="12328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[</a:t>
              </a:r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Verdana" panose="020B0604030504040204" pitchFamily="34" charset="0"/>
                </a:rPr>
                <a:t>还原</a:t>
              </a:r>
              <a:r>
                <a:rPr lang="zh-CN" altLang="en-US" sz="2400" b="1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Verdana" panose="020B0604030504040204" pitchFamily="34" charset="0"/>
                </a:rPr>
                <a:t>态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]</a:t>
              </a:r>
              <a:r>
                <a:rPr lang="en-US" altLang="zh-CN" sz="2400" b="1" i="1" baseline="30000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q</a:t>
              </a:r>
              <a:endParaRPr lang="en-US" altLang="zh-CN" sz="2400" b="1" i="1" baseline="30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331640" y="3508433"/>
            <a:ext cx="6120680" cy="1050607"/>
            <a:chOff x="827584" y="1975538"/>
            <a:chExt cx="4292063" cy="1050607"/>
          </a:xfrm>
        </p:grpSpPr>
        <p:sp>
          <p:nvSpPr>
            <p:cNvPr id="17" name="Text Box 4"/>
            <p:cNvSpPr txBox="1">
              <a:spLocks noChangeArrowheads="1"/>
            </p:cNvSpPr>
            <p:nvPr/>
          </p:nvSpPr>
          <p:spPr bwMode="auto">
            <a:xfrm>
              <a:off x="2129489" y="2564480"/>
              <a:ext cx="138540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0.0592</a:t>
              </a:r>
              <a:endPara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827584" y="2278739"/>
              <a:ext cx="136287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 err="1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lg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n-US" altLang="zh-CN" sz="2400" b="1" i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K</a:t>
              </a:r>
              <a:r>
                <a:rPr lang="az-Cyrl-AZ" altLang="zh-CN" sz="2400" b="1" baseline="30000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ө</a:t>
              </a:r>
              <a:r>
                <a:rPr lang="az-Cyrl-AZ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=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1744166" y="2516903"/>
              <a:ext cx="188601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3636948" y="2286070"/>
              <a:ext cx="5083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=</a:t>
              </a:r>
              <a:r>
                <a:rPr lang="el-GR" altLang="zh-CN" sz="2400" b="1" baseline="30000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744166" y="1975538"/>
              <a:ext cx="266290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i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z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(</a:t>
              </a:r>
              <a:r>
                <a:rPr lang="en-US" altLang="zh-CN" sz="2400" b="1" i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lang="zh-CN" altLang="en-US" sz="2400" b="1" baseline="-25000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Verdana" panose="020B0604030504040204" pitchFamily="34" charset="0"/>
                </a:rPr>
                <a:t>正极</a:t>
              </a:r>
              <a:r>
                <a:rPr lang="az-Cyrl-AZ" altLang="zh-CN" sz="2400" b="1" baseline="30000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ө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– </a:t>
              </a:r>
              <a:r>
                <a:rPr lang="en-US" altLang="zh-CN" sz="2400" b="1" i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lang="zh-CN" altLang="en-US" sz="2400" b="1" baseline="-25000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Verdana" panose="020B0604030504040204" pitchFamily="34" charset="0"/>
                </a:rPr>
                <a:t>负极</a:t>
              </a:r>
              <a:r>
                <a:rPr lang="az-Cyrl-AZ" altLang="zh-CN" sz="2400" b="1" baseline="30000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ө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)</a:t>
              </a:r>
              <a:endParaRPr lang="en-US" altLang="zh-CN" sz="2400" b="1" baseline="30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2" name="Text Box 4"/>
            <p:cNvSpPr txBox="1">
              <a:spLocks noChangeArrowheads="1"/>
            </p:cNvSpPr>
            <p:nvPr/>
          </p:nvSpPr>
          <p:spPr bwMode="auto">
            <a:xfrm>
              <a:off x="3958265" y="2548753"/>
              <a:ext cx="116138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0.0592</a:t>
              </a:r>
              <a:endPara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958265" y="2524802"/>
              <a:ext cx="97935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4166957" y="2047906"/>
              <a:ext cx="75071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i="1" dirty="0" err="1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zE</a:t>
              </a:r>
              <a:r>
                <a:rPr lang="az-Cyrl-AZ" altLang="zh-CN" sz="2400" b="1" baseline="30000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ө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endParaRPr lang="en-US" altLang="zh-CN" sz="2400" b="1" baseline="30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814361" y="4938844"/>
            <a:ext cx="2736304" cy="11604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dirty="0" err="1">
                <a:solidFill>
                  <a:srgbClr val="FF0000"/>
                </a:solidFill>
                <a:latin typeface="Symbol" panose="05050102010706020507" pitchFamily="18" charset="2"/>
                <a:ea typeface="Verdana" panose="020B0604030504040204" pitchFamily="34" charset="0"/>
                <a:cs typeface="Verdana" panose="020B0604030504040204" pitchFamily="34" charset="0"/>
              </a:rPr>
              <a:t>D</a:t>
            </a:r>
            <a:r>
              <a:rPr lang="en-US" altLang="zh-CN" sz="2800" b="1" baseline="-250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</a:t>
            </a:r>
            <a:r>
              <a:rPr lang="en-US" altLang="zh-CN" sz="2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US" altLang="zh-CN" sz="2800" b="1" baseline="-25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 -</a:t>
            </a:r>
            <a:r>
              <a:rPr lang="en-US" altLang="zh-CN" sz="2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zFE</a:t>
            </a:r>
            <a:endParaRPr lang="en-US" altLang="zh-CN" sz="2800" b="1" i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zh-CN" sz="2800" b="1" dirty="0" err="1" smtClean="0">
                <a:solidFill>
                  <a:srgbClr val="FF0000"/>
                </a:solidFill>
                <a:latin typeface="Symbol" panose="05050102010706020507" pitchFamily="18" charset="2"/>
                <a:ea typeface="Verdana" panose="020B0604030504040204" pitchFamily="34" charset="0"/>
                <a:cs typeface="Verdana" panose="020B0604030504040204" pitchFamily="34" charset="0"/>
              </a:rPr>
              <a:t>D</a:t>
            </a:r>
            <a:r>
              <a:rPr lang="en-US" altLang="zh-CN" sz="2800" b="1" baseline="-25000" dirty="0" err="1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</a:t>
            </a:r>
            <a:r>
              <a:rPr lang="en-US" altLang="zh-CN" sz="2800" b="1" i="1" dirty="0" err="1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az-Cyrl-AZ" altLang="zh-CN" sz="2800" b="1" baseline="30000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ө</a:t>
            </a:r>
            <a:r>
              <a:rPr lang="en-US" altLang="zh-CN" sz="2800" b="1" baseline="-25000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 -</a:t>
            </a:r>
            <a:r>
              <a:rPr lang="en-US" altLang="zh-CN" sz="2800" b="1" i="1" dirty="0" err="1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zFE</a:t>
            </a:r>
            <a:r>
              <a:rPr lang="az-Cyrl-AZ" altLang="zh-CN" sz="2800" b="1" baseline="30000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ө</a:t>
            </a:r>
            <a:endParaRPr lang="en-US" altLang="zh-CN" sz="28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488301" y="4808111"/>
            <a:ext cx="5489848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 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&lt;0    </a:t>
            </a:r>
            <a:r>
              <a:rPr lang="en-US" altLang="zh-CN" sz="2400" b="1" dirty="0">
                <a:latin typeface="Symbol" panose="05050102010706020507" pitchFamily="18" charset="2"/>
                <a:ea typeface="楷体" panose="02010609060101010101" pitchFamily="49" charset="-122"/>
                <a:cs typeface="Verdana" panose="020B0604030504040204" pitchFamily="34" charset="0"/>
              </a:rPr>
              <a:t>D</a:t>
            </a:r>
            <a:r>
              <a:rPr lang="en-US" altLang="zh-CN" sz="2400" b="1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 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</a:t>
            </a:r>
            <a:r>
              <a:rPr lang="en-US" altLang="zh-CN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  </a:t>
            </a:r>
            <a:r>
              <a:rPr lang="zh-CN" altLang="en-US" sz="24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反应</a:t>
            </a: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正向非自发；</a:t>
            </a:r>
          </a:p>
          <a:p>
            <a:pPr>
              <a:lnSpc>
                <a:spcPct val="120000"/>
              </a:lnSpc>
            </a:pPr>
            <a:r>
              <a:rPr lang="en-US" altLang="zh-CN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 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=0    </a:t>
            </a:r>
            <a:r>
              <a:rPr lang="en-US" altLang="zh-CN" sz="2400" b="1" dirty="0">
                <a:latin typeface="Symbol" panose="05050102010706020507" pitchFamily="18" charset="2"/>
                <a:ea typeface="楷体" panose="02010609060101010101" pitchFamily="49" charset="-122"/>
                <a:cs typeface="Verdana" panose="020B0604030504040204" pitchFamily="34" charset="0"/>
              </a:rPr>
              <a:t>D</a:t>
            </a:r>
            <a:r>
              <a:rPr lang="en-US" altLang="zh-CN" sz="2400" b="1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 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</a:t>
            </a:r>
            <a:r>
              <a:rPr lang="en-US" altLang="zh-CN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  </a:t>
            </a:r>
            <a:r>
              <a:rPr lang="zh-CN" altLang="en-US" sz="24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反应</a:t>
            </a: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处于平衡状态；</a:t>
            </a:r>
          </a:p>
          <a:p>
            <a:pPr>
              <a:lnSpc>
                <a:spcPct val="120000"/>
              </a:lnSpc>
            </a:pPr>
            <a:r>
              <a:rPr lang="en-US" altLang="zh-CN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 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&gt;0    </a:t>
            </a:r>
            <a:r>
              <a:rPr lang="en-US" altLang="zh-CN" sz="2400" b="1" dirty="0">
                <a:latin typeface="Symbol" panose="05050102010706020507" pitchFamily="18" charset="2"/>
                <a:ea typeface="楷体" panose="02010609060101010101" pitchFamily="49" charset="-122"/>
                <a:cs typeface="Verdana" panose="020B0604030504040204" pitchFamily="34" charset="0"/>
              </a:rPr>
              <a:t>D</a:t>
            </a:r>
            <a:r>
              <a:rPr lang="en-US" altLang="zh-CN" sz="2400" b="1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 </a:t>
            </a:r>
            <a:r>
              <a:rPr lang="en-US" altLang="zh-CN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</a:t>
            </a:r>
            <a:r>
              <a:rPr lang="en-US" altLang="zh-CN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  </a:t>
            </a:r>
            <a:r>
              <a:rPr lang="zh-CN" altLang="en-US" sz="24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反应</a:t>
            </a: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正向自发。</a:t>
            </a:r>
          </a:p>
        </p:txBody>
      </p:sp>
    </p:spTree>
    <p:extLst>
      <p:ext uri="{BB962C8B-B14F-4D97-AF65-F5344CB8AC3E}">
        <p14:creationId xmlns:p14="http://schemas.microsoft.com/office/powerpoint/2010/main" val="129395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9592" y="116632"/>
            <a:ext cx="64395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第三章 氧化还原反应和电化学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5576" y="1124744"/>
            <a:ext cx="3217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4. 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电极电势的应用</a:t>
            </a:r>
            <a:endParaRPr lang="en-US" altLang="zh-CN" sz="2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721246" y="1647964"/>
            <a:ext cx="57921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 algn="l" eaLnBrk="1" hangingPunct="1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kumimoji="1" lang="zh-CN" altLang="en-US" sz="2800" b="1" dirty="0" smtClean="0">
                <a:solidFill>
                  <a:srgbClr val="0805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比较</a:t>
            </a:r>
            <a:r>
              <a:rPr kumimoji="1" lang="zh-CN" altLang="en-US" sz="2800" b="1" dirty="0">
                <a:solidFill>
                  <a:srgbClr val="0805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氧化剂和还原剂的相对强弱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721246" y="5013176"/>
            <a:ext cx="377874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 algn="l" eaLnBrk="1" hangingPunct="1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kumimoji="1" lang="zh-CN" altLang="en-US" sz="2800" b="1" dirty="0" smtClean="0">
                <a:solidFill>
                  <a:srgbClr val="0805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判断离子能否共存</a:t>
            </a:r>
            <a:endParaRPr kumimoji="1" lang="zh-CN" altLang="en-US" sz="2800" b="1" dirty="0">
              <a:solidFill>
                <a:srgbClr val="080500"/>
              </a:solidFill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6" name="Rectangle 2"/>
          <p:cNvSpPr txBox="1">
            <a:spLocks noRot="1" noChangeArrowheads="1"/>
          </p:cNvSpPr>
          <p:nvPr/>
        </p:nvSpPr>
        <p:spPr>
          <a:xfrm>
            <a:off x="709059" y="2217323"/>
            <a:ext cx="5933789" cy="2664296"/>
          </a:xfrm>
          <a:prstGeom prst="rect">
            <a:avLst/>
          </a:prstGeom>
        </p:spPr>
        <p:txBody>
          <a:bodyPr/>
          <a:lstStyle>
            <a:lvl1pPr marL="466725" indent="-466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31863" indent="-463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FB8"/>
              </a:buClr>
              <a:buSzPct val="75000"/>
              <a:buFont typeface="Wingdings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331913" indent="-398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7FB8"/>
              </a:buClr>
              <a:buSzPct val="75000"/>
              <a:buFont typeface="Wingdings" pitchFamily="2" charset="2"/>
              <a:buChar char="§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573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defRPr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defRPr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标准电极电势表的递变规律：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  氧化型 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 </a:t>
            </a:r>
            <a:r>
              <a:rPr lang="en-US" altLang="zh-CN" sz="2800" b="1" i="1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</a:t>
            </a:r>
            <a:r>
              <a:rPr lang="en-US" altLang="zh-CN" sz="2800" b="1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⇌ 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还原型         </a:t>
            </a:r>
            <a:r>
              <a:rPr lang="en-US" altLang="zh-CN" sz="2800" b="1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az-Cyrl-AZ" altLang="zh-CN" sz="2800" b="1" baseline="300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ө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</a:p>
          <a:p>
            <a:pPr marL="0" indent="0" eaLnBrk="1" hangingPunct="1">
              <a:spcBef>
                <a:spcPts val="0"/>
              </a:spcBef>
            </a:pPr>
            <a:r>
              <a:rPr lang="zh-CN" altLang="en-US" sz="2800" b="1" dirty="0" smtClean="0">
                <a:solidFill>
                  <a:srgbClr val="A50021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        </a:t>
            </a:r>
            <a:endParaRPr lang="en-US" altLang="zh-CN" sz="2800" b="1" dirty="0" smtClean="0">
              <a:solidFill>
                <a:srgbClr val="A50021"/>
              </a:solidFill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  <a:p>
            <a:pPr marL="0" indent="0" eaLnBrk="1" hangingPunct="1">
              <a:spcBef>
                <a:spcPts val="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最</a:t>
            </a: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强氧化剂       </a:t>
            </a: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最弱还原剂      大</a:t>
            </a:r>
            <a:endParaRPr lang="en-US" altLang="zh-CN" sz="2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…                  …</a:t>
            </a:r>
          </a:p>
          <a:p>
            <a:pPr marL="0" indent="0" eaLnBrk="1" hangingPunct="1">
              <a:spcBef>
                <a:spcPts val="0"/>
              </a:spcBef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最</a:t>
            </a:r>
            <a:r>
              <a:rPr lang="zh-CN" altLang="en-US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弱氧化剂       </a:t>
            </a: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最强还原剂      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小</a:t>
            </a:r>
            <a:endParaRPr lang="zh-CN" altLang="en-US" sz="2800" b="1" dirty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10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971550" y="44450"/>
            <a:ext cx="5184775" cy="647700"/>
          </a:xfrm>
          <a:prstGeom prst="rect">
            <a:avLst/>
          </a:prstGeo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4000" b="1" dirty="0">
                <a:latin typeface="楷体" pitchFamily="49" charset="-122"/>
                <a:ea typeface="楷体" pitchFamily="49" charset="-122"/>
                <a:cs typeface="+mj-cs"/>
              </a:rPr>
              <a:t>第四章 物质结构基础</a:t>
            </a:r>
          </a:p>
        </p:txBody>
      </p:sp>
      <p:sp>
        <p:nvSpPr>
          <p:cNvPr id="3" name="矩形 2"/>
          <p:cNvSpPr/>
          <p:nvPr/>
        </p:nvSpPr>
        <p:spPr>
          <a:xfrm>
            <a:off x="907976" y="3284984"/>
            <a:ext cx="46602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2. 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Verdana" panose="020B0604030504040204" pitchFamily="34" charset="0"/>
              </a:rPr>
              <a:t>原子轨道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Verdana" panose="020B0604030504040204" pitchFamily="34" charset="0"/>
              </a:rPr>
              <a:t>和电子云的图像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403648" y="1525277"/>
            <a:ext cx="2634054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" panose="02010609060101010101" pitchFamily="49" charset="-122"/>
                <a:cs typeface="Verdana" panose="020B0604030504040204" pitchFamily="34" charset="0"/>
              </a:rPr>
              <a:t>主量子数 </a:t>
            </a:r>
            <a:r>
              <a:rPr lang="en-US" altLang="zh-CN" b="1" i="1" dirty="0">
                <a:solidFill>
                  <a:srgbClr val="FF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n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楷体" panose="02010609060101010101" pitchFamily="49" charset="-122"/>
                <a:cs typeface="Verdana" panose="020B0604030504040204" pitchFamily="34" charset="0"/>
              </a:rPr>
              <a:t>角</a:t>
            </a:r>
            <a:r>
              <a:rPr lang="zh-CN" altLang="en-US" b="1" dirty="0">
                <a:solidFill>
                  <a:srgbClr val="FF0000"/>
                </a:solidFill>
                <a:ea typeface="楷体" panose="02010609060101010101" pitchFamily="49" charset="-122"/>
                <a:cs typeface="Verdana" panose="020B0604030504040204" pitchFamily="34" charset="0"/>
              </a:rPr>
              <a:t>量子数 </a:t>
            </a:r>
            <a:r>
              <a:rPr lang="en-US" altLang="zh-CN" b="1" i="1" dirty="0">
                <a:solidFill>
                  <a:srgbClr val="FF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l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楷体" panose="02010609060101010101" pitchFamily="49" charset="-122"/>
                <a:cs typeface="Verdana" panose="020B0604030504040204" pitchFamily="34" charset="0"/>
              </a:rPr>
              <a:t>磁量子数 </a:t>
            </a:r>
            <a:r>
              <a:rPr lang="en-US" altLang="zh-CN" b="1" i="1" dirty="0" smtClean="0">
                <a:solidFill>
                  <a:srgbClr val="FF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endParaRPr lang="en-US" altLang="zh-CN" b="1" i="1" dirty="0">
              <a:solidFill>
                <a:srgbClr val="FF0000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楷体" panose="02010609060101010101" pitchFamily="49" charset="-122"/>
                <a:cs typeface="Verdana" panose="020B0604030504040204" pitchFamily="34" charset="0"/>
              </a:rPr>
              <a:t>自旋量子数 </a:t>
            </a:r>
            <a:r>
              <a:rPr lang="en-US" altLang="zh-CN" b="1" i="1" dirty="0" err="1" smtClean="0">
                <a:solidFill>
                  <a:srgbClr val="FF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altLang="zh-CN" b="1" i="1" baseline="-25000" dirty="0" err="1" smtClean="0">
                <a:solidFill>
                  <a:srgbClr val="FF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lang="zh-CN" altLang="en-US" b="1" i="1" baseline="-25000" dirty="0">
              <a:solidFill>
                <a:srgbClr val="FF0000"/>
              </a:solidFill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07976" y="1052736"/>
            <a:ext cx="2496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1. </a:t>
            </a:r>
            <a:r>
              <a:rPr kumimoji="1" lang="zh-CN" altLang="en-US" sz="2800" b="1" dirty="0" smtClean="0">
                <a:latin typeface="Calibri" panose="020F0502020204030204" pitchFamily="34" charset="0"/>
                <a:ea typeface="楷体" panose="02010609060101010101" pitchFamily="49" charset="-122"/>
              </a:rPr>
              <a:t>四</a:t>
            </a:r>
            <a:r>
              <a:rPr kumimoji="1" lang="zh-CN" altLang="en-US" sz="2800" b="1" dirty="0">
                <a:latin typeface="Calibri" panose="020F0502020204030204" pitchFamily="34" charset="0"/>
                <a:ea typeface="楷体" panose="02010609060101010101" pitchFamily="49" charset="-122"/>
              </a:rPr>
              <a:t>个</a:t>
            </a:r>
            <a:r>
              <a:rPr kumimoji="1" lang="zh-CN" altLang="en-US" sz="2800" b="1" dirty="0" smtClean="0">
                <a:latin typeface="Calibri" panose="020F0502020204030204" pitchFamily="34" charset="0"/>
                <a:ea typeface="楷体" panose="02010609060101010101" pitchFamily="49" charset="-122"/>
              </a:rPr>
              <a:t>量子数</a:t>
            </a:r>
            <a:endParaRPr kumimoji="1" lang="zh-CN" altLang="en-US" sz="2800" b="1" dirty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719064" y="3885638"/>
            <a:ext cx="80648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Y(</a:t>
            </a:r>
            <a:r>
              <a:rPr kumimoji="1" lang="en-US" altLang="zh-CN" sz="28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x,y,z</a:t>
            </a:r>
            <a:r>
              <a:rPr kumimoji="1"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)→R(r)Q(</a:t>
            </a:r>
            <a:r>
              <a:rPr kumimoji="1" lang="en-US" altLang="zh-CN" sz="2800" b="1" i="1" dirty="0">
                <a:latin typeface="Symbol" panose="05050102010706020507" pitchFamily="18" charset="2"/>
                <a:ea typeface="Verdana" panose="020B0604030504040204" pitchFamily="34" charset="0"/>
                <a:cs typeface="Verdana" panose="020B0604030504040204" pitchFamily="34" charset="0"/>
              </a:rPr>
              <a:t>q</a:t>
            </a:r>
            <a:r>
              <a:rPr kumimoji="1"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)F(</a:t>
            </a:r>
            <a:r>
              <a:rPr kumimoji="1" lang="en-US" altLang="zh-CN" sz="2800" b="1" i="1" dirty="0">
                <a:latin typeface="Symbol" panose="05050102010706020507" pitchFamily="18" charset="2"/>
                <a:ea typeface="Verdana" panose="020B0604030504040204" pitchFamily="34" charset="0"/>
                <a:cs typeface="Verdana" panose="020B0604030504040204" pitchFamily="34" charset="0"/>
              </a:rPr>
              <a:t>f</a:t>
            </a:r>
            <a:r>
              <a:rPr kumimoji="1"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→ </a:t>
            </a:r>
            <a:r>
              <a:rPr kumimoji="1" lang="en-US" altLang="zh-CN" sz="28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</a:t>
            </a:r>
            <a:r>
              <a:rPr kumimoji="1" lang="en-US" altLang="zh-CN" sz="2800" b="1" i="1" baseline="-25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nl</a:t>
            </a:r>
            <a:r>
              <a:rPr kumimoji="1"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(r)</a:t>
            </a:r>
            <a:r>
              <a:rPr kumimoji="1" lang="en-US" altLang="zh-CN" sz="28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</a:t>
            </a:r>
            <a:r>
              <a:rPr kumimoji="1" lang="en-US" altLang="zh-CN" sz="2800" b="1" i="1" baseline="-25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lm</a:t>
            </a:r>
            <a:r>
              <a:rPr kumimoji="1"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kumimoji="1" lang="en-US" altLang="zh-CN" sz="2800" b="1" i="1" dirty="0" err="1">
                <a:latin typeface="Symbol" panose="05050102010706020507" pitchFamily="18" charset="2"/>
                <a:ea typeface="Verdana" panose="020B0604030504040204" pitchFamily="34" charset="0"/>
                <a:cs typeface="Verdana" panose="020B0604030504040204" pitchFamily="34" charset="0"/>
              </a:rPr>
              <a:t>q</a:t>
            </a:r>
            <a:r>
              <a:rPr kumimoji="1" lang="en-US" altLang="zh-CN" sz="28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r>
              <a:rPr kumimoji="1" lang="en-US" altLang="zh-CN" sz="2800" b="1" i="1" dirty="0" err="1">
                <a:latin typeface="Symbol" panose="05050102010706020507" pitchFamily="18" charset="2"/>
                <a:ea typeface="Verdana" panose="020B0604030504040204" pitchFamily="34" charset="0"/>
                <a:cs typeface="Verdana" panose="020B0604030504040204" pitchFamily="34" charset="0"/>
              </a:rPr>
              <a:t>f</a:t>
            </a:r>
            <a:r>
              <a:rPr kumimoji="1"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r>
              <a:rPr kumimoji="1" lang="en-US" altLang="zh-CN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kumimoji="1" lang="ru-RU" alt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359024" y="4506082"/>
            <a:ext cx="8784976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原子轨道和</a:t>
            </a:r>
            <a:r>
              <a:rPr lang="zh-CN" altLang="en-US" sz="24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电子云</a:t>
            </a:r>
            <a:r>
              <a:rPr lang="zh-CN" altLang="en-US" sz="2400" b="1" dirty="0" smtClean="0">
                <a:solidFill>
                  <a:srgbClr val="0000FF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图像</a:t>
            </a: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区别与联系</a:t>
            </a: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：</a:t>
            </a:r>
            <a:endParaRPr lang="en-US" altLang="zh-CN" sz="2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</a:t>
            </a:r>
            <a:r>
              <a:rPr kumimoji="1" lang="en-US" altLang="zh-CN" sz="16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函数符号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形状         符号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相位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      特点</a:t>
            </a:r>
            <a:endParaRPr kumimoji="1" lang="en-US" altLang="zh-CN" sz="24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原子轨道：</a:t>
            </a:r>
            <a:r>
              <a:rPr kumimoji="1" lang="el-GR" altLang="zh-CN" sz="2400" b="1" i="1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kumimoji="1" lang="en-US" altLang="zh-CN" sz="2400" b="1" i="1" dirty="0" smtClean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</a:t>
            </a:r>
            <a:r>
              <a:rPr kumimoji="1" lang="el-GR" altLang="zh-CN" sz="2400" b="1" i="1" dirty="0" smtClean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Ψ</a:t>
            </a:r>
            <a:r>
              <a:rPr kumimoji="1" lang="en-US" altLang="zh-CN" sz="2400" b="1" i="1" dirty="0" smtClean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</a:t>
            </a:r>
            <a:r>
              <a:rPr kumimoji="1" lang="zh-CN" altLang="en-US" sz="20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球形 哑铃型 花瓣</a:t>
            </a:r>
            <a:r>
              <a:rPr kumimoji="1" lang="zh-CN" altLang="en-US" sz="20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形   </a:t>
            </a:r>
            <a:r>
              <a:rPr kumimoji="1" lang="zh-CN" altLang="en-US" sz="20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    </a:t>
            </a:r>
            <a:r>
              <a:rPr kumimoji="1" lang="zh-CN" altLang="en-US" sz="24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有               胖</a:t>
            </a:r>
            <a:endParaRPr kumimoji="1" lang="en-US" altLang="zh-CN" sz="2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电子云：</a:t>
            </a:r>
            <a:r>
              <a:rPr kumimoji="1" lang="zh-CN" altLang="en-US" sz="2400" b="1" dirty="0">
                <a:solidFill>
                  <a:srgbClr val="0000FF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    |</a:t>
            </a:r>
            <a:r>
              <a:rPr kumimoji="1" lang="el-GR" altLang="zh-CN" sz="2400" b="1" i="1" dirty="0" smtClean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Ψ</a:t>
            </a:r>
            <a:r>
              <a:rPr kumimoji="1" lang="en-US" altLang="zh-CN" sz="2400" b="1" dirty="0" smtClean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|</a:t>
            </a:r>
            <a:r>
              <a:rPr kumimoji="1" lang="en-US" altLang="zh-CN" sz="2400" b="1" baseline="30000" dirty="0" smtClean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     </a:t>
            </a:r>
            <a:r>
              <a:rPr kumimoji="1" lang="zh-CN" altLang="en-US" sz="20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球形 </a:t>
            </a:r>
            <a:r>
              <a:rPr kumimoji="1" lang="zh-CN" altLang="en-US" sz="20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哑铃型 花瓣形   </a:t>
            </a:r>
            <a:r>
              <a:rPr kumimoji="1" lang="zh-CN" altLang="en-US" sz="20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    </a:t>
            </a:r>
            <a:r>
              <a:rPr kumimoji="1" lang="zh-CN" altLang="en-US" sz="24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无               瘦</a:t>
            </a:r>
            <a:endParaRPr kumimoji="1" lang="en-US" altLang="zh-CN" sz="2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331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971550" y="44450"/>
            <a:ext cx="5184775" cy="647700"/>
          </a:xfrm>
          <a:prstGeom prst="rect">
            <a:avLst/>
          </a:prstGeo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4000" b="1" dirty="0">
                <a:latin typeface="楷体" pitchFamily="49" charset="-122"/>
                <a:ea typeface="楷体" pitchFamily="49" charset="-122"/>
                <a:cs typeface="+mj-cs"/>
              </a:rPr>
              <a:t>第四章 物质结构基础</a:t>
            </a:r>
          </a:p>
        </p:txBody>
      </p:sp>
      <p:sp>
        <p:nvSpPr>
          <p:cNvPr id="3" name="矩形 2"/>
          <p:cNvSpPr/>
          <p:nvPr/>
        </p:nvSpPr>
        <p:spPr>
          <a:xfrm>
            <a:off x="895934" y="1124744"/>
            <a:ext cx="61029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3. </a:t>
            </a:r>
            <a:r>
              <a:rPr lang="zh-CN" altLang="en-US" sz="2800" b="1" dirty="0" smtClean="0">
                <a:ea typeface="楷体" panose="02010609060101010101" pitchFamily="49" charset="-122"/>
              </a:rPr>
              <a:t>原子</a:t>
            </a:r>
            <a:r>
              <a:rPr lang="zh-CN" altLang="en-US" sz="2800" b="1" dirty="0">
                <a:ea typeface="楷体" panose="02010609060101010101" pitchFamily="49" charset="-122"/>
              </a:rPr>
              <a:t>的电子排布式和外层电子构型</a:t>
            </a:r>
            <a:endParaRPr kumimoji="1" lang="zh-CN" altLang="en-US" sz="2800" b="1" dirty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95934" y="1844824"/>
            <a:ext cx="6192837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电子排布式：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如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K: 1s</a:t>
            </a:r>
            <a:r>
              <a:rPr lang="en-US" altLang="zh-CN" sz="2800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2s</a:t>
            </a:r>
            <a:r>
              <a:rPr lang="en-US" altLang="zh-CN" sz="2800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2p</a:t>
            </a:r>
            <a:r>
              <a:rPr lang="en-US" altLang="zh-CN" sz="2800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3s</a:t>
            </a:r>
            <a:r>
              <a:rPr lang="en-US" altLang="zh-CN" sz="2800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3p</a:t>
            </a:r>
            <a:r>
              <a:rPr lang="en-US" altLang="zh-CN" sz="2800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4s</a:t>
            </a:r>
            <a:r>
              <a:rPr lang="en-US" altLang="zh-CN" sz="2800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u"/>
            </a:pPr>
            <a:endParaRPr lang="zh-CN" altLang="en-US" sz="2800" b="1" dirty="0" smtClean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原子实表示法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如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altLang="zh-CN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: 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[</a:t>
            </a:r>
            <a:r>
              <a:rPr lang="en-US" altLang="zh-CN" sz="2800" b="1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]4</a:t>
            </a:r>
            <a:r>
              <a:rPr lang="en-US" altLang="zh-CN" sz="2800" b="1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altLang="zh-CN" sz="2800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u"/>
            </a:pPr>
            <a:endParaRPr lang="en-US" altLang="zh-CN" sz="2800" b="1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价电子构型表示式</a:t>
            </a:r>
            <a:endParaRPr lang="en-US" altLang="zh-CN" sz="2800" b="1" dirty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如</a:t>
            </a: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K: 4</a:t>
            </a:r>
            <a:r>
              <a:rPr lang="en-US" altLang="zh-CN" sz="2800" b="1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altLang="zh-CN" sz="2800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endParaRPr lang="en-US" altLang="zh-CN" sz="2800" b="1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325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99592" y="116632"/>
            <a:ext cx="5184775" cy="647700"/>
          </a:xfrm>
          <a:prstGeom prst="rect">
            <a:avLst/>
          </a:prstGeo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4000" b="1" dirty="0">
                <a:latin typeface="楷体" pitchFamily="49" charset="-122"/>
                <a:ea typeface="楷体" pitchFamily="49" charset="-122"/>
                <a:cs typeface="+mj-cs"/>
              </a:rPr>
              <a:t>第四章 物质结构基础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1124744"/>
            <a:ext cx="24961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4. </a:t>
            </a:r>
            <a:r>
              <a:rPr lang="zh-CN" altLang="en-US" sz="2800" b="1" dirty="0" smtClean="0">
                <a:ea typeface="楷体" panose="02010609060101010101" pitchFamily="49" charset="-122"/>
              </a:rPr>
              <a:t>元素周期系</a:t>
            </a:r>
            <a:endParaRPr lang="en-US" altLang="zh-CN" sz="2800" b="1" dirty="0"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55576" y="1746766"/>
            <a:ext cx="19543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ea typeface="楷体" panose="02010609060101010101" pitchFamily="49" charset="-122"/>
              </a:rPr>
              <a:t>电负性 </a:t>
            </a:r>
            <a:r>
              <a:rPr lang="en-US" altLang="zh-CN" sz="2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en-US" altLang="zh-CN" sz="2800" b="1" i="1" dirty="0">
                <a:latin typeface="Symbol" panose="05050102010706020507" pitchFamily="18" charset="2"/>
                <a:ea typeface="楷体" panose="02010609060101010101" pitchFamily="49" charset="-122"/>
                <a:cs typeface="Times New Roman" pitchFamily="18" charset="0"/>
              </a:rPr>
              <a:t>c</a:t>
            </a:r>
            <a:r>
              <a:rPr lang="en-US" altLang="zh-CN" sz="28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)</a:t>
            </a:r>
            <a:endParaRPr lang="zh-CN" altLang="en-US" sz="28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55576" y="2492896"/>
            <a:ext cx="8229600" cy="863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定义：</a:t>
            </a:r>
            <a:r>
              <a:rPr lang="zh-CN" altLang="en-US" sz="2400" b="1" dirty="0" smtClean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是原子在分子中吸引电子的能力。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量化：指定</a:t>
            </a:r>
            <a:r>
              <a:rPr lang="en-US" altLang="zh-CN" sz="24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</a:t>
            </a:r>
            <a:r>
              <a:rPr lang="zh-CN" altLang="en-US" sz="24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的电负性为4.0, 计算其它元素的电负性数值。</a:t>
            </a:r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592613"/>
            <a:ext cx="4103687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5922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99592" y="116632"/>
            <a:ext cx="5184775" cy="647700"/>
          </a:xfrm>
          <a:prstGeom prst="rect">
            <a:avLst/>
          </a:prstGeo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4000" b="1" dirty="0">
                <a:latin typeface="楷体" pitchFamily="49" charset="-122"/>
                <a:ea typeface="楷体" pitchFamily="49" charset="-122"/>
                <a:cs typeface="+mj-cs"/>
              </a:rPr>
              <a:t>第四章 物质结构基础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1124744"/>
            <a:ext cx="17748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eaLnBrk="1" hangingPunct="1">
              <a:spcBef>
                <a:spcPct val="20000"/>
              </a:spcBef>
            </a:pPr>
            <a:r>
              <a:rPr lang="en-US" altLang="zh-CN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5. 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化学键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5576" y="1746766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键的极性</a:t>
            </a:r>
            <a:endParaRPr lang="zh-CN" altLang="en-US" sz="2800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33434" y="2450706"/>
            <a:ext cx="3816350" cy="165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7030A0"/>
              </a:buClr>
              <a:buFont typeface="Wingdings" panose="05000000000000000000" pitchFamily="2" charset="2"/>
              <a:buChar char="p"/>
            </a:pPr>
            <a:r>
              <a:rPr lang="zh-CN" altLang="en-US" sz="2000" b="1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非极性共价键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b="1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相同原子形成的共价键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b="1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                           </a:t>
            </a:r>
            <a:endParaRPr lang="en-US" altLang="zh-CN" sz="2000" b="1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7030A0"/>
              </a:buClr>
              <a:buFont typeface="Wingdings" panose="05000000000000000000" pitchFamily="2" charset="2"/>
              <a:buChar char="p"/>
            </a:pPr>
            <a:r>
              <a:rPr lang="zh-CN" altLang="en-US" sz="2000" b="1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极性共价键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b="1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不同原子形成的共价键                            </a:t>
            </a:r>
            <a:endParaRPr lang="en-US" altLang="zh-CN" sz="2000" b="1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2000" b="1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1" name="Picture 2" descr="http://www.800mainstreet.com/5/0005-008-period-en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2" r="8440"/>
          <a:stretch>
            <a:fillRect/>
          </a:stretch>
        </p:blipFill>
        <p:spPr bwMode="auto">
          <a:xfrm>
            <a:off x="4622809" y="2379269"/>
            <a:ext cx="4248150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 descr="http://wps.prenhall.com/wps/media/objects/3081/3155729/blb0903/bl09fg11.jpg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96" y="4250931"/>
            <a:ext cx="2376488" cy="175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203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99592" y="116632"/>
            <a:ext cx="5184775" cy="647700"/>
          </a:xfrm>
          <a:prstGeom prst="rect">
            <a:avLst/>
          </a:prstGeo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4000" b="1" dirty="0">
                <a:latin typeface="楷体" pitchFamily="49" charset="-122"/>
                <a:ea typeface="楷体" pitchFamily="49" charset="-122"/>
                <a:cs typeface="+mj-cs"/>
              </a:rPr>
              <a:t>第四章 物质结构基础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1124744"/>
            <a:ext cx="21355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eaLnBrk="1" hangingPunct="1">
              <a:spcBef>
                <a:spcPct val="20000"/>
              </a:spcBef>
            </a:pPr>
            <a:r>
              <a:rPr lang="en-US" altLang="zh-CN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6. </a:t>
            </a:r>
            <a:r>
              <a:rPr lang="zh-CN" altLang="en-US" sz="28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杂化轨道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46050" y="3554413"/>
            <a:ext cx="1085850" cy="4302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</a:t>
            </a:r>
            <a:r>
              <a:rPr kumimoji="1" lang="en-US" altLang="zh-CN" sz="2000" b="1" baseline="3000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</a:t>
            </a:r>
            <a:r>
              <a:rPr lang="zh-CN" altLang="en-US" sz="2400" b="1" smtClean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型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219200" y="2551113"/>
            <a:ext cx="180816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</a:t>
            </a: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等性杂化</a:t>
            </a:r>
          </a:p>
          <a:p>
            <a:pPr algn="ctr" eaLnBrk="1" hangingPunct="1">
              <a:spcBef>
                <a:spcPct val="50000"/>
              </a:spcBef>
              <a:defRPr/>
            </a:pPr>
            <a:endParaRPr lang="zh-CN" altLang="en-US" b="1" dirty="0" smtClean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defRPr/>
            </a:pPr>
            <a:endParaRPr lang="zh-CN" altLang="en-US" b="1" dirty="0" smtClean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defRPr/>
            </a:pPr>
            <a:endParaRPr lang="zh-CN" altLang="en-US" b="1" dirty="0" smtClean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defRPr/>
            </a:pPr>
            <a:endParaRPr lang="zh-CN" altLang="en-US" b="1" dirty="0" smtClean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zh-CN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</a:t>
            </a:r>
            <a:r>
              <a:rPr lang="en-US" altLang="zh-CN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不等性杂化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722563" y="2114550"/>
            <a:ext cx="1108075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</a:t>
            </a: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杂化:</a:t>
            </a:r>
            <a:endParaRPr lang="en-US" altLang="zh-CN" b="1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</a:t>
            </a:r>
            <a:r>
              <a:rPr lang="en-US" altLang="zh-CN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杂化：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</a:t>
            </a:r>
            <a:r>
              <a:rPr lang="en-US" altLang="zh-CN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杂化：</a:t>
            </a:r>
            <a:endParaRPr lang="zh-CN" altLang="en-US" b="1" baseline="-30000" dirty="0" smtClean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878138" y="4464050"/>
            <a:ext cx="1938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4个</a:t>
            </a:r>
            <a:r>
              <a:rPr lang="en-US" altLang="zh-CN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</a:t>
            </a:r>
            <a:r>
              <a:rPr lang="en-US" altLang="zh-CN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杂化轨道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738688" y="4292600"/>
            <a:ext cx="3632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含一孤电子对   三角锥       </a:t>
            </a:r>
            <a:r>
              <a:rPr lang="en-US" altLang="zh-CN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NH</a:t>
            </a:r>
            <a:r>
              <a:rPr lang="en-US" altLang="zh-CN" b="1" baseline="-25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9" name="AutoShape 8"/>
          <p:cNvSpPr>
            <a:spLocks/>
          </p:cNvSpPr>
          <p:nvPr/>
        </p:nvSpPr>
        <p:spPr bwMode="auto">
          <a:xfrm>
            <a:off x="1168400" y="2513013"/>
            <a:ext cx="76200" cy="2590800"/>
          </a:xfrm>
          <a:prstGeom prst="leftBrace">
            <a:avLst>
              <a:gd name="adj1" fmla="val 28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latin typeface="Verdana" panose="020B0604030504040204" pitchFamily="34" charset="0"/>
              <a:ea typeface="楷体" pitchFamily="49" charset="-122"/>
              <a:cs typeface="Verdana" panose="020B0604030504040204" pitchFamily="34" charset="0"/>
            </a:endParaRPr>
          </a:p>
        </p:txBody>
      </p:sp>
      <p:sp>
        <p:nvSpPr>
          <p:cNvPr id="10" name="AutoShape 9"/>
          <p:cNvSpPr>
            <a:spLocks/>
          </p:cNvSpPr>
          <p:nvPr/>
        </p:nvSpPr>
        <p:spPr bwMode="auto">
          <a:xfrm>
            <a:off x="2646363" y="2106613"/>
            <a:ext cx="76200" cy="1219200"/>
          </a:xfrm>
          <a:prstGeom prst="leftBrace">
            <a:avLst>
              <a:gd name="adj1" fmla="val 1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latin typeface="Verdana" panose="020B0604030504040204" pitchFamily="34" charset="0"/>
              <a:ea typeface="楷体" pitchFamily="49" charset="-122"/>
              <a:cs typeface="Verdana" panose="020B0604030504040204" pitchFamily="34" charset="0"/>
            </a:endParaRPr>
          </a:p>
        </p:txBody>
      </p:sp>
      <p:sp>
        <p:nvSpPr>
          <p:cNvPr id="11" name="AutoShape 10"/>
          <p:cNvSpPr>
            <a:spLocks/>
          </p:cNvSpPr>
          <p:nvPr/>
        </p:nvSpPr>
        <p:spPr bwMode="auto">
          <a:xfrm>
            <a:off x="4738688" y="4311650"/>
            <a:ext cx="76200" cy="6858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latin typeface="Verdana" panose="020B0604030504040204" pitchFamily="34" charset="0"/>
              <a:ea typeface="楷体" pitchFamily="49" charset="-122"/>
              <a:cs typeface="Verdana" panose="020B0604030504040204" pitchFamily="34" charset="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879850" y="2106613"/>
            <a:ext cx="44656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2个 </a:t>
            </a:r>
            <a:r>
              <a:rPr lang="en-US" altLang="zh-CN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杂化轨道      直线形         </a:t>
            </a:r>
            <a:r>
              <a:rPr lang="en-US" altLang="zh-CN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BeCl</a:t>
            </a:r>
            <a:r>
              <a:rPr lang="en-US" altLang="zh-CN" b="1" baseline="-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3797300" y="2932113"/>
            <a:ext cx="4302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4个</a:t>
            </a:r>
            <a:r>
              <a:rPr lang="en-US" altLang="zh-CN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</a:t>
            </a:r>
            <a:r>
              <a:rPr lang="en-US" altLang="zh-CN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杂化轨道    正四面体      </a:t>
            </a:r>
            <a:r>
              <a:rPr lang="en-US" altLang="zh-CN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</a:t>
            </a:r>
            <a:r>
              <a:rPr lang="en-US" altLang="zh-CN" b="1" baseline="-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</a:t>
            </a:r>
            <a:endParaRPr lang="zh-CN" altLang="en-US" b="1" baseline="-30000" dirty="0" smtClean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4738688" y="4692650"/>
            <a:ext cx="3632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含二孤电子对    </a:t>
            </a:r>
            <a:r>
              <a:rPr lang="en-US" altLang="zh-CN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</a:t>
            </a: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字型       </a:t>
            </a:r>
            <a:r>
              <a:rPr lang="en-US" altLang="zh-CN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</a:t>
            </a:r>
            <a:r>
              <a:rPr lang="en-US" altLang="zh-CN" b="1" baseline="-25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zh-CN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</a:t>
            </a:r>
            <a:endParaRPr lang="zh-CN" altLang="en-US" dirty="0" smtClean="0">
              <a:latin typeface="Verdana" panose="020B0604030504040204" pitchFamily="34" charset="0"/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15" name="矩形 2"/>
          <p:cNvSpPr>
            <a:spLocks noChangeArrowheads="1"/>
          </p:cNvSpPr>
          <p:nvPr/>
        </p:nvSpPr>
        <p:spPr bwMode="auto">
          <a:xfrm>
            <a:off x="6267450" y="3873500"/>
            <a:ext cx="20510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空间构型      实例</a:t>
            </a: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803900" y="1619250"/>
            <a:ext cx="23034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空间构型       实例</a:t>
            </a:r>
          </a:p>
        </p:txBody>
      </p:sp>
    </p:spTree>
    <p:extLst>
      <p:ext uri="{BB962C8B-B14F-4D97-AF65-F5344CB8AC3E}">
        <p14:creationId xmlns:p14="http://schemas.microsoft.com/office/powerpoint/2010/main" val="46195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nimBg="1"/>
      <p:bldP spid="10" grpId="0" animBg="1"/>
      <p:bldP spid="11" grpId="0" animBg="1"/>
      <p:bldP spid="12" grpId="0" autoUpdateAnimBg="0"/>
      <p:bldP spid="13" grpId="0" autoUpdateAnimBg="0"/>
      <p:bldP spid="1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576" y="980728"/>
            <a:ext cx="3217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eaLnBrk="1" hangingPunct="1">
              <a:spcBef>
                <a:spcPct val="20000"/>
              </a:spcBef>
            </a:pP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7. </a:t>
            </a:r>
            <a:r>
              <a:rPr lang="zh-CN" altLang="en-US" sz="2800" b="1" dirty="0" smtClean="0">
                <a:latin typeface="+mn-lt"/>
                <a:ea typeface="楷体" panose="02010609060101010101" pitchFamily="49" charset="-122"/>
              </a:rPr>
              <a:t>分子间力</a:t>
            </a:r>
            <a:r>
              <a:rPr lang="zh-CN" altLang="en-US" sz="2800" b="1" dirty="0">
                <a:latin typeface="+mn-lt"/>
                <a:ea typeface="楷体" panose="02010609060101010101" pitchFamily="49" charset="-122"/>
              </a:rPr>
              <a:t>和氢键</a:t>
            </a:r>
            <a:endParaRPr lang="en-US" altLang="zh-CN" sz="2800" b="1" dirty="0"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899592" y="116632"/>
            <a:ext cx="5184775" cy="647700"/>
          </a:xfrm>
          <a:prstGeom prst="rect">
            <a:avLst/>
          </a:prstGeo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4000" b="1" dirty="0">
                <a:latin typeface="楷体" pitchFamily="49" charset="-122"/>
                <a:ea typeface="楷体" pitchFamily="49" charset="-122"/>
                <a:cs typeface="+mj-cs"/>
              </a:rPr>
              <a:t>第四章 物质结构基础</a:t>
            </a:r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1910135" y="2276872"/>
            <a:ext cx="1333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b="1" dirty="0">
                <a:latin typeface="+mn-lt"/>
                <a:ea typeface="楷体" pitchFamily="49" charset="-122"/>
              </a:rPr>
              <a:t>非极性键                      </a:t>
            </a:r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4423148" y="2289572"/>
            <a:ext cx="38179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800" b="1">
                <a:ea typeface="楷体" panose="02010609060101010101" pitchFamily="49" charset="-122"/>
                <a:cs typeface="Verdana" panose="020B0604030504040204" pitchFamily="34" charset="0"/>
              </a:rPr>
              <a:t>非极性分子      如：</a:t>
            </a:r>
            <a:r>
              <a:rPr lang="en-US" altLang="zh-CN" sz="1800" b="1">
                <a:solidFill>
                  <a:srgbClr val="FF00FF"/>
                </a:solidFill>
                <a:ea typeface="宋体" panose="02010600030101010101" pitchFamily="2" charset="-122"/>
                <a:cs typeface="Verdana" panose="020B0604030504040204" pitchFamily="34" charset="0"/>
              </a:rPr>
              <a:t>S</a:t>
            </a:r>
            <a:r>
              <a:rPr lang="en-US" altLang="zh-CN" sz="1800" b="1" baseline="-25000">
                <a:solidFill>
                  <a:srgbClr val="FF00FF"/>
                </a:solidFill>
                <a:ea typeface="宋体" panose="02010600030101010101" pitchFamily="2" charset="-122"/>
                <a:cs typeface="Verdana" panose="020B0604030504040204" pitchFamily="34" charset="0"/>
              </a:rPr>
              <a:t>8</a:t>
            </a:r>
            <a:r>
              <a:rPr lang="en-US" altLang="zh-CN" sz="1800" b="1">
                <a:solidFill>
                  <a:srgbClr val="FF00FF"/>
                </a:solidFill>
                <a:ea typeface="宋体" panose="02010600030101010101" pitchFamily="2" charset="-122"/>
                <a:cs typeface="Verdana" panose="020B0604030504040204" pitchFamily="34" charset="0"/>
              </a:rPr>
              <a:t> P</a:t>
            </a:r>
            <a:r>
              <a:rPr lang="en-US" altLang="zh-CN" sz="1800" b="1" baseline="-25000">
                <a:solidFill>
                  <a:srgbClr val="FF00FF"/>
                </a:solidFill>
                <a:ea typeface="宋体" panose="02010600030101010101" pitchFamily="2" charset="-122"/>
                <a:cs typeface="Verdana" panose="020B0604030504040204" pitchFamily="34" charset="0"/>
              </a:rPr>
              <a:t>4</a:t>
            </a:r>
            <a:r>
              <a:rPr lang="en-US" altLang="zh-CN" sz="1800" b="1" baseline="-25000">
                <a:ea typeface="宋体" panose="02010600030101010101" pitchFamily="2" charset="-122"/>
                <a:cs typeface="Verdana" panose="020B0604030504040204" pitchFamily="34" charset="0"/>
              </a:rPr>
              <a:t> </a:t>
            </a:r>
            <a:endParaRPr lang="zh-CN" altLang="en-US" sz="1800" b="1" baseline="-25000">
              <a:ea typeface="楷体" panose="02010609060101010101" pitchFamily="49" charset="-122"/>
              <a:cs typeface="Verdana" panose="020B0604030504040204" pitchFamily="34" charset="0"/>
            </a:endParaRP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3089648" y="3189684"/>
            <a:ext cx="1682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b="1" dirty="0">
                <a:latin typeface="+mn-lt"/>
                <a:ea typeface="楷体" pitchFamily="49" charset="-122"/>
              </a:rPr>
              <a:t>几何结构对称</a:t>
            </a: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6934573" y="2911872"/>
            <a:ext cx="7207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CO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2</a:t>
            </a: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 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BF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3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CH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4</a:t>
            </a:r>
            <a:endParaRPr lang="zh-CN" altLang="en-US" dirty="0">
              <a:solidFill>
                <a:srgbClr val="FF00FF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6934573" y="4024709"/>
            <a:ext cx="914400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H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2</a:t>
            </a: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O</a:t>
            </a:r>
          </a:p>
          <a:p>
            <a:pPr>
              <a:defRPr/>
            </a:pP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NH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3</a:t>
            </a: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 CHCl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3</a:t>
            </a:r>
            <a:endParaRPr lang="zh-CN" altLang="en-US" b="1" baseline="-25000" dirty="0">
              <a:solidFill>
                <a:srgbClr val="FF00FF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30" name="AutoShape 12"/>
          <p:cNvSpPr>
            <a:spLocks/>
          </p:cNvSpPr>
          <p:nvPr/>
        </p:nvSpPr>
        <p:spPr bwMode="auto">
          <a:xfrm>
            <a:off x="1968873" y="2465784"/>
            <a:ext cx="55562" cy="1427163"/>
          </a:xfrm>
          <a:prstGeom prst="leftBrace">
            <a:avLst>
              <a:gd name="adj1" fmla="val 1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b="1">
              <a:latin typeface="+mn-lt"/>
              <a:ea typeface="楷体" pitchFamily="49" charset="-122"/>
            </a:endParaRPr>
          </a:p>
        </p:txBody>
      </p:sp>
      <p:sp>
        <p:nvSpPr>
          <p:cNvPr id="31" name="AutoShape 13"/>
          <p:cNvSpPr>
            <a:spLocks/>
          </p:cNvSpPr>
          <p:nvPr/>
        </p:nvSpPr>
        <p:spPr bwMode="auto">
          <a:xfrm>
            <a:off x="3024560" y="3296047"/>
            <a:ext cx="114300" cy="11557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latin typeface="+mn-lt"/>
              <a:ea typeface="楷体" pitchFamily="49" charset="-122"/>
            </a:endParaRPr>
          </a:p>
        </p:txBody>
      </p:sp>
      <p:sp>
        <p:nvSpPr>
          <p:cNvPr id="32" name="AutoShape 14"/>
          <p:cNvSpPr>
            <a:spLocks/>
          </p:cNvSpPr>
          <p:nvPr/>
        </p:nvSpPr>
        <p:spPr bwMode="auto">
          <a:xfrm>
            <a:off x="6877423" y="2986484"/>
            <a:ext cx="90487" cy="838200"/>
          </a:xfrm>
          <a:prstGeom prst="leftBrace">
            <a:avLst>
              <a:gd name="adj1" fmla="val 10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latin typeface="+mn-lt"/>
              <a:ea typeface="楷体" pitchFamily="49" charset="-122"/>
            </a:endParaRPr>
          </a:p>
        </p:txBody>
      </p:sp>
      <p:sp>
        <p:nvSpPr>
          <p:cNvPr id="33" name="AutoShape 15"/>
          <p:cNvSpPr>
            <a:spLocks/>
          </p:cNvSpPr>
          <p:nvPr/>
        </p:nvSpPr>
        <p:spPr bwMode="auto">
          <a:xfrm>
            <a:off x="6877423" y="4085034"/>
            <a:ext cx="115887" cy="803275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latin typeface="+mn-lt"/>
              <a:ea typeface="楷体" pitchFamily="49" charset="-122"/>
            </a:endParaRPr>
          </a:p>
        </p:txBody>
      </p:sp>
      <p:sp>
        <p:nvSpPr>
          <p:cNvPr id="34" name="Text Box 16"/>
          <p:cNvSpPr txBox="1">
            <a:spLocks noChangeArrowheads="1"/>
          </p:cNvSpPr>
          <p:nvPr/>
        </p:nvSpPr>
        <p:spPr bwMode="auto">
          <a:xfrm>
            <a:off x="683568" y="1503948"/>
            <a:ext cx="5491163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latin typeface="+mn-lt"/>
                <a:ea typeface="楷体" pitchFamily="49" charset="-122"/>
              </a:rPr>
              <a:t>非极性分子</a:t>
            </a:r>
            <a:r>
              <a:rPr lang="zh-CN" altLang="en-US" b="1" dirty="0">
                <a:latin typeface="Arial" charset="0"/>
                <a:ea typeface="楷体" pitchFamily="49" charset="-122"/>
              </a:rPr>
              <a:t>：</a:t>
            </a:r>
            <a:r>
              <a:rPr lang="zh-CN" altLang="en-US" b="1" dirty="0">
                <a:solidFill>
                  <a:srgbClr val="FF0066"/>
                </a:solidFill>
                <a:latin typeface="+mn-lt"/>
                <a:ea typeface="楷体" pitchFamily="49" charset="-122"/>
              </a:rPr>
              <a:t>正电荷中心和负电荷中心重合的分子</a:t>
            </a:r>
            <a:r>
              <a:rPr lang="zh-CN" altLang="en-US" b="1" dirty="0">
                <a:latin typeface="+mn-lt"/>
                <a:ea typeface="楷体" pitchFamily="49" charset="-122"/>
              </a:rPr>
              <a:t>。                     </a:t>
            </a:r>
          </a:p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latin typeface="+mn-lt"/>
                <a:ea typeface="楷体" pitchFamily="49" charset="-122"/>
              </a:rPr>
              <a:t>极性分子：</a:t>
            </a:r>
            <a:r>
              <a:rPr lang="zh-CN" altLang="en-US" b="1" dirty="0">
                <a:solidFill>
                  <a:srgbClr val="FF0066"/>
                </a:solidFill>
                <a:latin typeface="+mn-lt"/>
                <a:ea typeface="楷体" pitchFamily="49" charset="-122"/>
              </a:rPr>
              <a:t>正负电荷中心不重合的分子</a:t>
            </a:r>
            <a:r>
              <a:rPr lang="zh-CN" altLang="en-US" b="1" dirty="0">
                <a:latin typeface="+mn-lt"/>
                <a:ea typeface="楷体" pitchFamily="49" charset="-122"/>
              </a:rPr>
              <a:t>。                     </a:t>
            </a:r>
            <a:endParaRPr lang="zh-CN" altLang="en-US" dirty="0">
              <a:latin typeface="+mn-lt"/>
              <a:ea typeface="楷体" pitchFamily="49" charset="-122"/>
            </a:endParaRPr>
          </a:p>
        </p:txBody>
      </p:sp>
      <p:sp>
        <p:nvSpPr>
          <p:cNvPr id="35" name="Text Box 17"/>
          <p:cNvSpPr txBox="1">
            <a:spLocks noChangeArrowheads="1"/>
          </p:cNvSpPr>
          <p:nvPr/>
        </p:nvSpPr>
        <p:spPr bwMode="auto">
          <a:xfrm>
            <a:off x="4681910" y="3194447"/>
            <a:ext cx="25908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b="1" dirty="0">
                <a:latin typeface="+mn-lt"/>
                <a:ea typeface="楷体" pitchFamily="49" charset="-122"/>
              </a:rPr>
              <a:t>非极性分子， 如：</a:t>
            </a:r>
          </a:p>
        </p:txBody>
      </p:sp>
      <p:sp>
        <p:nvSpPr>
          <p:cNvPr id="36" name="Text Box 18"/>
          <p:cNvSpPr txBox="1">
            <a:spLocks noChangeArrowheads="1"/>
          </p:cNvSpPr>
          <p:nvPr/>
        </p:nvSpPr>
        <p:spPr bwMode="auto">
          <a:xfrm>
            <a:off x="4800973" y="4154884"/>
            <a:ext cx="2133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b="1" dirty="0">
                <a:latin typeface="+mn-lt"/>
                <a:ea typeface="楷体" pitchFamily="49" charset="-122"/>
              </a:rPr>
              <a:t>极性分子，如：</a:t>
            </a:r>
          </a:p>
        </p:txBody>
      </p:sp>
      <p:sp>
        <p:nvSpPr>
          <p:cNvPr id="37" name="矩形 36"/>
          <p:cNvSpPr/>
          <p:nvPr/>
        </p:nvSpPr>
        <p:spPr>
          <a:xfrm>
            <a:off x="611560" y="2980134"/>
            <a:ext cx="146367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b="1" dirty="0">
                <a:latin typeface="+mn-lt"/>
                <a:ea typeface="楷体" pitchFamily="49" charset="-122"/>
              </a:rPr>
              <a:t>多原子分子 </a:t>
            </a:r>
            <a:endParaRPr lang="zh-CN" altLang="en-US" dirty="0">
              <a:latin typeface="+mn-lt"/>
              <a:ea typeface="楷体" pitchFamily="49" charset="-122"/>
            </a:endParaRPr>
          </a:p>
        </p:txBody>
      </p:sp>
      <p:sp>
        <p:nvSpPr>
          <p:cNvPr id="38" name="矩形 16"/>
          <p:cNvSpPr>
            <a:spLocks noChangeArrowheads="1"/>
          </p:cNvSpPr>
          <p:nvPr/>
        </p:nvSpPr>
        <p:spPr bwMode="auto">
          <a:xfrm>
            <a:off x="3121398" y="4154884"/>
            <a:ext cx="1811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800" b="1">
                <a:latin typeface="Arial" panose="020B0604020202020204" pitchFamily="34" charset="0"/>
                <a:ea typeface="楷体" panose="02010609060101010101" pitchFamily="49" charset="-122"/>
              </a:rPr>
              <a:t>几何结构不对称</a:t>
            </a:r>
          </a:p>
        </p:txBody>
      </p:sp>
      <p:sp>
        <p:nvSpPr>
          <p:cNvPr id="39" name="矩形 17"/>
          <p:cNvSpPr>
            <a:spLocks noChangeArrowheads="1"/>
          </p:cNvSpPr>
          <p:nvPr/>
        </p:nvSpPr>
        <p:spPr bwMode="auto">
          <a:xfrm>
            <a:off x="2027610" y="3681809"/>
            <a:ext cx="881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1800" b="1">
                <a:latin typeface="Arial" panose="020B0604020202020204" pitchFamily="34" charset="0"/>
                <a:ea typeface="楷体" panose="02010609060101010101" pitchFamily="49" charset="-122"/>
              </a:rPr>
              <a:t>极性键</a:t>
            </a:r>
          </a:p>
        </p:txBody>
      </p:sp>
      <p:sp>
        <p:nvSpPr>
          <p:cNvPr id="40" name="Rectangle 3"/>
          <p:cNvSpPr txBox="1">
            <a:spLocks noChangeArrowheads="1"/>
          </p:cNvSpPr>
          <p:nvPr/>
        </p:nvSpPr>
        <p:spPr bwMode="auto">
          <a:xfrm>
            <a:off x="2522910" y="4888309"/>
            <a:ext cx="1554163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  <a:ea typeface="楷体" panose="02010609060101010101" pitchFamily="49" charset="-122"/>
              </a:rPr>
              <a:t>直线型</a:t>
            </a:r>
            <a:endParaRPr lang="en-US" altLang="zh-CN" sz="1800" b="1">
              <a:solidFill>
                <a:srgbClr val="FF00FF"/>
              </a:solidFill>
              <a:latin typeface="Calibri" panose="020F0502020204030204" pitchFamily="34" charset="0"/>
              <a:ea typeface="楷体" panose="02010609060101010101" pitchFamily="49" charset="-122"/>
            </a:endParaRPr>
          </a:p>
          <a:p>
            <a:pPr eaLnBrk="1" hangingPunct="1">
              <a:buClr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  <a:ea typeface="楷体" panose="02010609060101010101" pitchFamily="49" charset="-122"/>
              </a:rPr>
              <a:t>平面三角形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  <a:ea typeface="楷体" panose="02010609060101010101" pitchFamily="49" charset="-122"/>
              </a:rPr>
              <a:t>正四面体</a:t>
            </a:r>
            <a:endParaRPr lang="en-US" altLang="zh-CN" sz="1800" b="1">
              <a:solidFill>
                <a:srgbClr val="FF00FF"/>
              </a:solidFill>
              <a:latin typeface="Calibri" panose="020F0502020204030204" pitchFamily="34" charset="0"/>
              <a:ea typeface="楷体" panose="02010609060101010101" pitchFamily="49" charset="-122"/>
            </a:endParaRPr>
          </a:p>
          <a:p>
            <a:pPr eaLnBrk="1" hangingPunct="1">
              <a:buClr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  <a:ea typeface="楷体" panose="02010609060101010101" pitchFamily="49" charset="-122"/>
              </a:rPr>
              <a:t>平面四方型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  <a:ea typeface="楷体" panose="02010609060101010101" pitchFamily="49" charset="-122"/>
              </a:rPr>
              <a:t>正八面体</a:t>
            </a:r>
          </a:p>
        </p:txBody>
      </p: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611560" y="5516959"/>
            <a:ext cx="18859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b="1" dirty="0">
                <a:latin typeface="+mn-lt"/>
                <a:ea typeface="楷体" pitchFamily="49" charset="-122"/>
              </a:rPr>
              <a:t>对称的几何结构</a:t>
            </a:r>
          </a:p>
        </p:txBody>
      </p:sp>
      <p:sp>
        <p:nvSpPr>
          <p:cNvPr id="42" name="AutoShape 5"/>
          <p:cNvSpPr>
            <a:spLocks/>
          </p:cNvSpPr>
          <p:nvPr/>
        </p:nvSpPr>
        <p:spPr bwMode="auto">
          <a:xfrm>
            <a:off x="2434010" y="4888309"/>
            <a:ext cx="127000" cy="1690688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latin typeface="+mn-lt"/>
              <a:ea typeface="楷体" pitchFamily="49" charset="-122"/>
            </a:endParaRPr>
          </a:p>
        </p:txBody>
      </p:sp>
      <p:sp>
        <p:nvSpPr>
          <p:cNvPr id="43" name="Text Box 6"/>
          <p:cNvSpPr txBox="1">
            <a:spLocks noChangeArrowheads="1"/>
          </p:cNvSpPr>
          <p:nvPr/>
        </p:nvSpPr>
        <p:spPr bwMode="auto">
          <a:xfrm>
            <a:off x="3813548" y="4851797"/>
            <a:ext cx="2517775" cy="176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CO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2</a:t>
            </a: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  CS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2</a:t>
            </a: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 BeCl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2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BF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3</a:t>
            </a: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 BCl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3</a:t>
            </a: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</a:p>
          <a:p>
            <a:pPr>
              <a:spcBef>
                <a:spcPts val="600"/>
              </a:spcBef>
              <a:defRPr/>
            </a:pP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CH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4</a:t>
            </a: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 CCl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4</a:t>
            </a: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 NH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4</a:t>
            </a:r>
            <a:r>
              <a:rPr lang="en-US" altLang="zh-CN" b="1" baseline="30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+</a:t>
            </a:r>
          </a:p>
          <a:p>
            <a:pPr>
              <a:spcBef>
                <a:spcPts val="600"/>
              </a:spcBef>
              <a:defRPr/>
            </a:pP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XeF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4</a:t>
            </a:r>
            <a:endParaRPr lang="zh-CN" altLang="en-US" b="1" baseline="-25000" dirty="0">
              <a:solidFill>
                <a:srgbClr val="FF00FF"/>
              </a:solidFill>
              <a:latin typeface="+mn-lt"/>
              <a:ea typeface="楷体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SF</a:t>
            </a:r>
            <a:r>
              <a:rPr lang="en-US" altLang="zh-CN" b="1" baseline="-25000" dirty="0">
                <a:solidFill>
                  <a:srgbClr val="FF00FF"/>
                </a:solidFill>
                <a:latin typeface="+mn-lt"/>
                <a:ea typeface="楷体" pitchFamily="49" charset="-122"/>
              </a:rPr>
              <a:t>6</a:t>
            </a:r>
            <a:r>
              <a:rPr lang="en-US" altLang="zh-CN" b="1" dirty="0">
                <a:solidFill>
                  <a:srgbClr val="FF00FF"/>
                </a:solidFill>
                <a:latin typeface="+mn-lt"/>
                <a:ea typeface="楷体" pitchFamily="49" charset="-122"/>
              </a:rPr>
              <a:t> </a:t>
            </a:r>
            <a:endParaRPr lang="zh-CN" altLang="en-US" b="1" baseline="-25000" dirty="0">
              <a:solidFill>
                <a:srgbClr val="FF00FF"/>
              </a:solidFill>
              <a:latin typeface="+mn-lt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279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autoUpdateAnimBg="0"/>
      <p:bldP spid="27" grpId="0"/>
      <p:bldP spid="28" grpId="0" autoUpdateAnimBg="0"/>
      <p:bldP spid="29" grpId="0" autoUpdateAnimBg="0"/>
      <p:bldP spid="30" grpId="0" animBg="1" autoUpdateAnimBg="0"/>
      <p:bldP spid="31" grpId="0" animBg="1"/>
      <p:bldP spid="32" grpId="0" animBg="1"/>
      <p:bldP spid="33" grpId="0" animBg="1"/>
      <p:bldP spid="34" grpId="0" autoUpdateAnimBg="0"/>
      <p:bldP spid="35" grpId="0" autoUpdateAnimBg="0"/>
      <p:bldP spid="36" grpId="0" autoUpdateAnimBg="0"/>
      <p:bldP spid="38" grpId="0"/>
      <p:bldP spid="39" grpId="0"/>
      <p:bldP spid="40" grpId="0" autoUpdateAnimBg="0"/>
      <p:bldP spid="42" grpId="0" animBg="1"/>
      <p:bldP spid="4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99592" y="116632"/>
            <a:ext cx="5184775" cy="647700"/>
          </a:xfrm>
          <a:prstGeom prst="rect">
            <a:avLst/>
          </a:prstGeo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4000" b="1" dirty="0">
                <a:latin typeface="楷体" pitchFamily="49" charset="-122"/>
                <a:ea typeface="楷体" pitchFamily="49" charset="-122"/>
                <a:cs typeface="+mj-cs"/>
              </a:rPr>
              <a:t>第四章 物质结构基础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1105580"/>
            <a:ext cx="3217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eaLnBrk="1" hangingPunct="1">
              <a:spcBef>
                <a:spcPct val="20000"/>
              </a:spcBef>
            </a:pP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7. </a:t>
            </a:r>
            <a:r>
              <a:rPr lang="zh-CN" altLang="en-US" sz="2800" b="1" dirty="0" smtClean="0">
                <a:latin typeface="+mn-lt"/>
                <a:ea typeface="楷体" panose="02010609060101010101" pitchFamily="49" charset="-122"/>
              </a:rPr>
              <a:t>分子间力</a:t>
            </a:r>
            <a:r>
              <a:rPr lang="zh-CN" altLang="en-US" sz="2800" b="1" dirty="0">
                <a:latin typeface="+mn-lt"/>
                <a:ea typeface="楷体" panose="02010609060101010101" pitchFamily="49" charset="-122"/>
              </a:rPr>
              <a:t>和氢键</a:t>
            </a:r>
            <a:endParaRPr lang="en-US" altLang="zh-CN" sz="2800" b="1" dirty="0">
              <a:latin typeface="+mn-lt"/>
              <a:ea typeface="楷体" panose="02010609060101010101" pitchFamily="49" charset="-122"/>
            </a:endParaRPr>
          </a:p>
        </p:txBody>
      </p:sp>
      <p:sp useBgFill="1">
        <p:nvSpPr>
          <p:cNvPr id="4" name="Text Box 4">
            <a:hlinkClick r:id="rId2" action="ppaction://hlinkfile"/>
          </p:cNvPr>
          <p:cNvSpPr txBox="1">
            <a:spLocks noChangeArrowheads="1"/>
          </p:cNvSpPr>
          <p:nvPr/>
        </p:nvSpPr>
        <p:spPr bwMode="auto">
          <a:xfrm>
            <a:off x="107504" y="3881462"/>
            <a:ext cx="4968875" cy="38735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3</a:t>
            </a:r>
            <a:r>
              <a:rPr lang="zh-CN" altLang="en-US" sz="24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. </a:t>
            </a:r>
            <a:r>
              <a:rPr lang="zh-CN" altLang="en-US" sz="2400" b="1" dirty="0" smtClean="0">
                <a:solidFill>
                  <a:srgbClr val="FF0066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极性</a:t>
            </a: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分子和</a:t>
            </a:r>
            <a:r>
              <a:rPr lang="zh-CN" altLang="en-US" sz="2400" b="1" dirty="0">
                <a:solidFill>
                  <a:srgbClr val="FF0066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极性</a:t>
            </a: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分子之间存在？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07504" y="1706587"/>
            <a:ext cx="6262688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latin typeface="Verdana" panose="020B0604030504040204" pitchFamily="34" charset="0"/>
              </a:rPr>
              <a:t>1</a:t>
            </a:r>
            <a:r>
              <a:rPr lang="en-US" altLang="zh-CN" sz="2400" b="1" dirty="0" smtClean="0">
                <a:latin typeface="Verdana" panose="020B0604030504040204" pitchFamily="34" charset="0"/>
              </a:rPr>
              <a:t>. </a:t>
            </a:r>
            <a:r>
              <a:rPr lang="zh-CN" altLang="en-US" sz="2400" b="1" dirty="0" smtClean="0">
                <a:solidFill>
                  <a:srgbClr val="FF0066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非</a:t>
            </a:r>
            <a:r>
              <a:rPr lang="zh-CN" altLang="en-US" sz="2400" b="1" dirty="0">
                <a:solidFill>
                  <a:srgbClr val="FF0066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极性</a:t>
            </a: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分子和</a:t>
            </a:r>
            <a:r>
              <a:rPr lang="zh-CN" altLang="en-US" sz="2400" b="1" dirty="0">
                <a:solidFill>
                  <a:srgbClr val="FF0066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非极性</a:t>
            </a: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分子之间存在？</a:t>
            </a:r>
          </a:p>
        </p:txBody>
      </p:sp>
      <p:sp useBgFill="1"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107504" y="2789262"/>
            <a:ext cx="5256213" cy="388938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2</a:t>
            </a:r>
            <a:r>
              <a:rPr lang="zh-CN" altLang="en-US" sz="2400" b="1" dirty="0" smtClean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. </a:t>
            </a:r>
            <a:r>
              <a:rPr lang="zh-CN" altLang="en-US" sz="2400" b="1" dirty="0" smtClean="0">
                <a:solidFill>
                  <a:srgbClr val="FF0066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极性</a:t>
            </a: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分子和</a:t>
            </a:r>
            <a:r>
              <a:rPr lang="zh-CN" altLang="en-US" sz="2400" b="1" dirty="0">
                <a:solidFill>
                  <a:srgbClr val="FF0066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非极性</a:t>
            </a:r>
            <a:r>
              <a:rPr lang="zh-CN" altLang="en-US" sz="24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分子之间存在？</a:t>
            </a: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7922767" y="1628800"/>
            <a:ext cx="11128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色散力</a:t>
            </a: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6654354" y="2716237"/>
            <a:ext cx="2349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诱导力，色散力</a:t>
            </a:r>
          </a:p>
        </p:txBody>
      </p: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5354192" y="3803675"/>
            <a:ext cx="358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取向力，诱导力，色散力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28383" y="4653136"/>
            <a:ext cx="417671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FF0000"/>
                </a:solidFill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氢键通式</a:t>
            </a:r>
            <a:r>
              <a:rPr lang="zh-CN" altLang="en-US" sz="20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：</a:t>
            </a:r>
            <a:r>
              <a:rPr lang="en-US" altLang="zh-CN" sz="20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X—H—Y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X,Y = F, O, 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(</a:t>
            </a:r>
            <a:r>
              <a:rPr lang="zh-CN" altLang="en-US" sz="20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电负性大、半径小、含孤电子对)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键能：&lt;  4</a:t>
            </a:r>
            <a:r>
              <a:rPr lang="en-US" altLang="zh-CN" sz="20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0</a:t>
            </a:r>
            <a:r>
              <a:rPr lang="zh-CN" altLang="en-US" sz="2000" b="1" dirty="0">
                <a:latin typeface="Verdana" panose="020B0604030504040204" pitchFamily="34" charset="0"/>
                <a:ea typeface="楷体" panose="02010609060101010101" pitchFamily="49" charset="-122"/>
                <a:cs typeface="Verdana" panose="020B0604030504040204" pitchFamily="34" charset="0"/>
              </a:rPr>
              <a:t> </a:t>
            </a:r>
            <a:r>
              <a:rPr lang="en-US" altLang="zh-CN" sz="2000" b="1" dirty="0">
                <a:latin typeface="Verdana" panose="020B0604030504040204" pitchFamily="34" charset="0"/>
              </a:rPr>
              <a:t>kJ·mol</a:t>
            </a:r>
            <a:r>
              <a:rPr lang="en-US" altLang="zh-CN" sz="2000" b="1" baseline="30000" dirty="0">
                <a:latin typeface="Verdana" panose="020B0604030504040204" pitchFamily="34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7128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 autoUpdateAnimBg="0"/>
      <p:bldP spid="7" grpId="0"/>
      <p:bldP spid="8" grpId="0"/>
      <p:bldP spid="9" grpId="0"/>
      <p:bldP spid="1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99592" y="116632"/>
            <a:ext cx="5184775" cy="647700"/>
          </a:xfrm>
          <a:prstGeom prst="rect">
            <a:avLst/>
          </a:prstGeo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4000" b="1" dirty="0">
                <a:latin typeface="楷体" pitchFamily="49" charset="-122"/>
                <a:ea typeface="楷体" pitchFamily="49" charset="-122"/>
                <a:cs typeface="+mj-cs"/>
              </a:rPr>
              <a:t>第四章 物质结构基础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1038880"/>
            <a:ext cx="35782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eaLnBrk="1" hangingPunct="1">
              <a:spcBef>
                <a:spcPct val="20000"/>
              </a:spcBef>
            </a:pPr>
            <a:r>
              <a:rPr lang="en-US" altLang="zh-CN" sz="28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8. </a:t>
            </a:r>
            <a:r>
              <a:rPr lang="zh-CN" altLang="en-US" sz="2800" b="1" dirty="0" smtClean="0">
                <a:latin typeface="+mn-lt"/>
                <a:ea typeface="楷体" panose="02010609060101010101" pitchFamily="49" charset="-122"/>
              </a:rPr>
              <a:t>晶体的结构和特征</a:t>
            </a:r>
            <a:endParaRPr lang="en-US" altLang="zh-CN" sz="2800" b="1" dirty="0">
              <a:latin typeface="+mn-lt"/>
              <a:ea typeface="楷体" panose="02010609060101010101" pitchFamily="49" charset="-122"/>
            </a:endParaRPr>
          </a:p>
        </p:txBody>
      </p:sp>
      <p:graphicFrame>
        <p:nvGraphicFramePr>
          <p:cNvPr id="4" name="Group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6765914"/>
              </p:ext>
            </p:extLst>
          </p:nvPr>
        </p:nvGraphicFramePr>
        <p:xfrm>
          <a:off x="35496" y="1517476"/>
          <a:ext cx="9108504" cy="5295900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390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520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110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20855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8973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700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晶体类型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举例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晶格结点上微粒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微粒间作用力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微粒间的化学键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熔沸点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618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离子晶体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NaCl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阴阳离子：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Na</a:t>
                      </a:r>
                      <a:r>
                        <a:rPr kumimoji="1" lang="en-US" altLang="zh-CN" sz="1800" b="1" i="0" u="none" strike="noStrike" kern="1200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</a:t>
                      </a:r>
                      <a:r>
                        <a:rPr kumimoji="1" lang="zh-CN" altLang="en-US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Cl</a:t>
                      </a:r>
                      <a:r>
                        <a:rPr kumimoji="1" lang="en-US" altLang="zh-CN" sz="1800" b="1" i="0" u="none" strike="noStrike" kern="1200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</a:t>
                      </a:r>
                      <a:endParaRPr kumimoji="1" lang="zh-CN" altLang="en-US" sz="1800" b="1" i="0" u="none" strike="noStrike" kern="1200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" panose="02010609060101010101" pitchFamily="49" charset="-122"/>
                        <a:cs typeface="Verdana" panose="020B060403050404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静电力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离子键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高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199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原子晶体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金刚石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)</a:t>
                      </a:r>
                      <a:endParaRPr kumimoji="1" lang="zh-CN" altLang="en-US" sz="1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" panose="02010609060101010101" pitchFamily="49" charset="-122"/>
                        <a:cs typeface="Verdana" panose="020B060403050404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原子：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" panose="02010609060101010101" pitchFamily="49" charset="-122"/>
                        <a:cs typeface="Verdana" panose="020B060403050404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共价键力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共价键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高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199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分子晶体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</a:t>
                      </a:r>
                      <a:r>
                        <a:rPr kumimoji="1" lang="en-US" altLang="zh-CN" sz="1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冰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分子：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</a:t>
                      </a:r>
                      <a:r>
                        <a:rPr kumimoji="1" lang="en-US" altLang="zh-CN" sz="1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" panose="02010609060101010101" pitchFamily="49" charset="-122"/>
                        <a:cs typeface="Verdana" panose="020B060403050404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分子间作用力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分子间作用力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" panose="02010609060101010101" pitchFamily="49" charset="-122"/>
                        <a:cs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范德华力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" panose="02010609060101010101" pitchFamily="49" charset="-122"/>
                        <a:cs typeface="Verdana" panose="020B060403050404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低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221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金属晶体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Cu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原子：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Cu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，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" panose="02010609060101010101" pitchFamily="49" charset="-122"/>
                        <a:cs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离子：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Cu</a:t>
                      </a:r>
                      <a:r>
                        <a:rPr kumimoji="1" lang="en-US" altLang="zh-CN" sz="1800" b="1" i="0" u="none" strike="noStrike" kern="1200" cap="none" normalizeH="0" baseline="30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</a:t>
                      </a:r>
                      <a:r>
                        <a:rPr kumimoji="1" lang="en-US" altLang="zh-CN" sz="18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" panose="02010609060101010101" pitchFamily="49" charset="-122"/>
                        <a:cs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自由电子：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" panose="02010609060101010101" pitchFamily="49" charset="-122"/>
                        <a:cs typeface="Verdana" panose="020B060403050404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金属键力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金属键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较高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712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混合晶体</a:t>
                      </a:r>
                    </a:p>
                  </a:txBody>
                  <a:tcPr marL="36000" marR="36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石墨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原子：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" panose="02010609060101010101" pitchFamily="49" charset="-122"/>
                        <a:cs typeface="Verdana" panose="020B060403050404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平面：共价键力；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垂直：分子间作用力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平面：共价键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垂直：分子间作用力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范德华力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楷体" panose="02010609060101010101" pitchFamily="49" charset="-122"/>
                        <a:cs typeface="Verdana" panose="020B06040305040402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楷体" panose="02010609060101010101" pitchFamily="49" charset="-122"/>
                          <a:cs typeface="Verdana" panose="020B0604030504040204" pitchFamily="34" charset="0"/>
                        </a:rPr>
                        <a:t>高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6432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2273</TotalTime>
  <Words>1455</Words>
  <Application>Microsoft Office PowerPoint</Application>
  <PresentationFormat>全屏显示(4:3)</PresentationFormat>
  <Paragraphs>300</Paragraphs>
  <Slides>22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4" baseType="lpstr">
      <vt:lpstr>1_Office 主题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上海大学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上海大学</dc:creator>
  <cp:lastModifiedBy>user</cp:lastModifiedBy>
  <cp:revision>492</cp:revision>
  <dcterms:created xsi:type="dcterms:W3CDTF">2016-07-19T04:27:47Z</dcterms:created>
  <dcterms:modified xsi:type="dcterms:W3CDTF">2018-05-28T09:51:08Z</dcterms:modified>
</cp:coreProperties>
</file>