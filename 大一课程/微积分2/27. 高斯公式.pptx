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3"/>
  </p:notesMasterIdLst>
  <p:sldIdLst>
    <p:sldId id="587" r:id="rId3"/>
    <p:sldId id="773" r:id="rId4"/>
    <p:sldId id="1091" r:id="rId5"/>
    <p:sldId id="1092" r:id="rId6"/>
    <p:sldId id="1093" r:id="rId7"/>
    <p:sldId id="1094" r:id="rId8"/>
    <p:sldId id="1095" r:id="rId9"/>
    <p:sldId id="729" r:id="rId10"/>
    <p:sldId id="1096" r:id="rId11"/>
    <p:sldId id="875" r:id="rId12"/>
    <p:sldId id="902" r:id="rId13"/>
    <p:sldId id="1097" r:id="rId14"/>
    <p:sldId id="431" r:id="rId15"/>
    <p:sldId id="1098" r:id="rId16"/>
    <p:sldId id="1099" r:id="rId17"/>
    <p:sldId id="1105" r:id="rId18"/>
    <p:sldId id="1100" r:id="rId19"/>
    <p:sldId id="1106" r:id="rId20"/>
    <p:sldId id="900" r:id="rId21"/>
    <p:sldId id="1101" r:id="rId22"/>
    <p:sldId id="1107" r:id="rId23"/>
    <p:sldId id="1102" r:id="rId24"/>
    <p:sldId id="1026" r:id="rId25"/>
    <p:sldId id="1103" r:id="rId26"/>
    <p:sldId id="1108" r:id="rId27"/>
    <p:sldId id="1110" r:id="rId28"/>
    <p:sldId id="898" r:id="rId29"/>
    <p:sldId id="1104" r:id="rId30"/>
    <p:sldId id="813" r:id="rId31"/>
    <p:sldId id="814" r:id="rId32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4" autoAdjust="0"/>
    <p:restoredTop sz="93673" autoAdjust="0"/>
  </p:normalViewPr>
  <p:slideViewPr>
    <p:cSldViewPr snapToGrid="0" snapToObjects="1">
      <p:cViewPr varScale="1">
        <p:scale>
          <a:sx n="72" d="100"/>
          <a:sy n="72" d="100"/>
        </p:scale>
        <p:origin x="62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5T09:07:45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15744 13351 150 0,'3'-10'0'0,"-1"6"0"0,0 0 0 0,1 3 0 0,-3-1 0 0,0 2 0 0,0-3-16 0,0 3-1 0,0 0 24 0,0 0 0 16,0 0 62-16,0-1-28 0,0 1 0 0,0 0 20 16,0 0 0-16,0 0-34 0,0 0-6 0,0 0-39 15,0 0 40-15,0 0 0 0,0 0 24 0,2 0 5 16,-2 0-29-16,0 0 6 16,0 0 27-16,0 0 7 0,0 0-36 0,0 0 63 15,0 0-33-15,1 0 0 0,5-2-24 0,1 0-22 16,6-2-9-16,1-2 40 0,2 1-8 0,-1 1-28 15,3-1 0-15,-2 1 27 0,0 0-36 0,-5 3 3 16,-1-2 31-16,1 2-13 0,-2-1-15 0,-4 2 10 16,1 0 11-16,-1 0-23 0,1 0 17 0,0 0-5 15,1 0 6-15,0 0-9 0,4 0 9 0,-2 0 4 16,3 3-5-16,2 0-37 16,-1 0 37-16,0 1-3 0,2 0-21 0,-4-1 1 15,3 1 20-15,-2 0-3 0,0 1-28 0,-1-1-3 16,-2 2 30-16,1-2-3 0,1 3-19 0,0-1 13 15,1-1 6-15,1 1 14 0,1 1-16 0,0 0-2 16,2-2 1-16,0 1 31 0,1-1-29 0,0-1 0 16,2 1 11-16,2-1-7 0,-5 0-3 15,3-3 4-15,-2 4-2 0,0-2 1 0,-2-1-1 0,2 2 5 16,-3 0-11-16,2-2 6 0,0 2 1 16,0-1-5-16,0 1 4 0,3-2-1 15,1 1-2-15,-2 2 28 0,3-4-25 0,0 3-1 16,1-2 6-16,6-1-4 0,-4 1 0 0,3 0 0 15,-1-2 0-15,3 0 0 0,-6 0 4 0,7 0-7 16,-1 0 3-16,-1 0 1 0,0 0-1 16,2 0-7-16,-3 0 9 0,6-2-2 0,-3 0-3 0,2 1 4 15,1-1-2-15,1-2 0 0,2 0 6 0,0-1-6 16,5-1 1-16,-5 0-1 0,7-1 5 16,-3 1-5-16,-5 1 3 0,4-3-3 15,5 0 10-15,-8 3-9 0,1 1 1 0,-1-1-9 16,-1 1 11-16,1 2-3 0,-2-2 0 0,2 3-40 15,-1-2 38-15,1 2 0 0,-1-1-20 0,6-1 19 16,0 0-2-16,0 2 2 0,0-3-14 0,4 0 13 16,2-2-3-16,4 2 2 0,0 1-9 0,-1-1 8 15,1 0-1-15,0 2-8 0,-1 0 10 0,-1 0-2 16,4 0 2-16,-1 0-37 16,1 1-1-16,9 1 34 0,-6-2-28 0,14-2 25 15,-5 2-4-15,3-3 4 0,0-1 15 0,0 3-16 16,-7-3-5-16,16 1 4 0,-5 0 28 0,1 1-1 15,-4 3-24-15,1-2 17 0,-12 2-15 0,14 1-1 16,-17 0 7-16,12 0-5 0,-7 0 6 0,0 0-5 16,4 0 17-16,13 0-16 0,-2 0 1 0,2 0-1 15,4-2 32-15,13-2-31 0,-18 0 1 16,28 0 26-16,-6-5-26 0,-3 5 1 0,-1-1 2 16,-5 2-21-16,-15-2 23 0,7 2-4 15,1 1 4-15,-6-2-24 0,3 3 22 0,-4-4-1 16,-9 2-21-16,15 0 20 0,-8 0-4 0,2-1 2 15,11 1 28-15,-1-3 0 0,-6 2-27 0,17-1 0 16,-8-1 34-16,4-1-32 0,2 1 2 0,-4 1-13 16,21-3 12-16,-11 3 1 0,-4 2 5 0,-6 1-31 15,-14 0 29-15,7 1 1 0,-4-2-83 0,-2 3 38 16,-6 0 13-16,-3 0 0 16,-5 0-23-16,-8 0 12 0,3 0 1 0,-1 0 14 15,-1 0 6-15,6 0-8 0,0 0 6 0,-5 0 9 16,14 0-9-16,-9 0-2 0,2-3 1 0,0-3-37 15,-12 0 0-15,5-1 37 0,-3-1-29 0,-3-1 0 16,-4 0 27-16,0-2-6 0,-6-2-58 0,-8 5 18 16,2-4 5-16,-7 3-62 0,-2-3 43 15,-7 6 14-15,-5 2 0 0,-5 0-271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曲线积分</a:t>
            </a:r>
            <a:endParaRPr lang="en-US" altLang="zh-CN">
              <a:solidFill>
                <a:srgbClr val="777671"/>
              </a:solidFill>
            </a:endParaRPr>
          </a:p>
          <a:p>
            <a:r>
              <a:rPr lang="zh-CN" altLang="en-US">
                <a:solidFill>
                  <a:srgbClr val="777671"/>
                </a:solidFill>
              </a:rPr>
              <a:t>与曲面积分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对坐标的曲面积分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2DB4EE-F408-4D89-9B87-2707B23A6432}"/>
              </a:ext>
            </a:extLst>
          </p:cNvPr>
          <p:cNvSpPr/>
          <p:nvPr/>
        </p:nvSpPr>
        <p:spPr>
          <a:xfrm>
            <a:off x="877503" y="1772350"/>
            <a:ext cx="11007703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对坐标的曲面积分的概念与性质；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对坐标的曲面积分的计算；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两类曲面积分之间的联系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对坐标的曲面积分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对坐标的曲面积分的计算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4837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将曲面积分化为二重积分：设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由方程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给出的，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面上的投影区域为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上具有一阶连续偏导数，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上连续，则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取上侧时积分取正，取下侧时积分取负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4837543"/>
              </a:xfrm>
              <a:prstGeom prst="rect">
                <a:avLst/>
              </a:prstGeom>
              <a:blipFill>
                <a:blip r:embed="rId2"/>
                <a:stretch>
                  <a:fillRect l="-1545" r="-297" b="-3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对坐标的曲面积分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495" y="1127904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计算对坐标的曲面积分的步骤：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4" y="2179694"/>
                <a:ext cx="10730306" cy="2003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将被积函数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中的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替换为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求出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投影区域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确定正负号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2179694"/>
                <a:ext cx="10730306" cy="2003754"/>
              </a:xfrm>
              <a:prstGeom prst="rect">
                <a:avLst/>
              </a:prstGeom>
              <a:blipFill>
                <a:blip r:embed="rId2"/>
                <a:stretch>
                  <a:fillRect l="-1477" t="-1220" b="-9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对坐标的曲面积分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曲面积分的计算方法（化为二重积分）：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259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统一积分变量：代入曲面方程（方程不同时分片）；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确定积分区域：把积分曲面投影到相关坐标面；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积分元素投影：第一类曲面积分为面积投影，第二类曲面积分为有向投影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F2A23F-2F2F-4678-A9AC-07F6302171B9}"/>
              </a:ext>
            </a:extLst>
          </p:cNvPr>
          <p:cNvSpPr/>
          <p:nvPr/>
        </p:nvSpPr>
        <p:spPr>
          <a:xfrm>
            <a:off x="877503" y="4608613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二重积分是第二类曲面积分的特殊情况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17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对坐标的曲面积分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两类曲面积分之间的联系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5274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𝑷𝒅𝒚𝒅𝒛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𝑸𝒅𝒛𝒅𝒙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𝑹𝒅𝒙𝒅𝒚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func>
                            <m:func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3200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𝜶</m:t>
                              </m:r>
                            </m:e>
                          </m:func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func>
                            <m:func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3200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</m:func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func>
                            <m:func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𝜸</m:t>
                              </m:r>
                            </m:e>
                          </m:fun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𝑺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是有向曲面上法向量的方向余弦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5274201"/>
              </a:xfrm>
              <a:prstGeom prst="rect">
                <a:avLst/>
              </a:prstGeom>
              <a:blipFill>
                <a:blip r:embed="rId2"/>
                <a:stretch>
                  <a:fillRect l="-1545" r="-951" b="-27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43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746234"/>
                <a:ext cx="10260399" cy="54805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合一投影法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)∈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，有</a:t>
                </a:r>
                <a:endParaRPr lang="en-US" altLang="zh-CN" sz="3200" b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𝑷𝒅𝒚𝒅𝒛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𝑸𝒅𝒛𝒅𝒙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𝑹𝒅𝒙𝒅𝒚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(−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取上侧时积分取正，取下侧时积分取负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746234"/>
                <a:ext cx="10260399" cy="5480539"/>
              </a:xfrm>
              <a:prstGeom prst="rect">
                <a:avLst/>
              </a:prstGeom>
              <a:blipFill>
                <a:blip r:embed="rId2"/>
                <a:stretch>
                  <a:fillRect l="-1545" b="-2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6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第六节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高斯公式</a:t>
            </a:r>
          </a:p>
        </p:txBody>
      </p:sp>
    </p:spTree>
    <p:extLst>
      <p:ext uri="{BB962C8B-B14F-4D97-AF65-F5344CB8AC3E}">
        <p14:creationId xmlns:p14="http://schemas.microsoft.com/office/powerpoint/2010/main" val="381492650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2DB4EE-F408-4D89-9B87-2707B23A6432}"/>
                  </a:ext>
                </a:extLst>
              </p:cNvPr>
              <p:cNvSpPr/>
              <p:nvPr/>
            </p:nvSpPr>
            <p:spPr>
              <a:xfrm>
                <a:off x="877503" y="1462788"/>
                <a:ext cx="11007703" cy="3932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格林公式：设闭区域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由分段光滑的曲线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围成，函数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𝑸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den>
                              </m:f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的取正向的边界曲线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2DB4EE-F408-4D89-9B87-2707B23A6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462788"/>
                <a:ext cx="11007703" cy="3932423"/>
              </a:xfrm>
              <a:prstGeom prst="rect">
                <a:avLst/>
              </a:prstGeom>
              <a:blipFill>
                <a:blip r:embed="rId2"/>
                <a:stretch>
                  <a:fillRect l="-1440" t="-620" b="-4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33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一、高斯公式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983E1AC-759B-4316-80F1-3A89ED249145}"/>
                  </a:ext>
                </a:extLst>
              </p:cNvPr>
              <p:cNvSpPr/>
              <p:nvPr/>
            </p:nvSpPr>
            <p:spPr>
              <a:xfrm>
                <a:off x="877503" y="1462788"/>
                <a:ext cx="11007703" cy="52066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高斯公式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：设闭区域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由分片光滑的闭曲面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所围成，函数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𝑸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𝑹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𝑷𝒅𝒚𝒅𝒛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𝑸𝒅𝒛𝒅𝒙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𝑹𝒅𝒙𝒅𝒚</m:t>
                        </m:r>
                      </m:e>
                    </m:nary>
                  </m:oMath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                                      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𝜸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边界的外侧，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处的外侧法向量的方向余弦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983E1AC-759B-4316-80F1-3A89ED249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462788"/>
                <a:ext cx="11007703" cy="5206618"/>
              </a:xfrm>
              <a:prstGeom prst="rect">
                <a:avLst/>
              </a:prstGeom>
              <a:blipFill>
                <a:blip r:embed="rId2"/>
                <a:stretch>
                  <a:fillRect l="-1440" t="-468" r="-5039" b="-2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10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/>
              <p:nvPr/>
            </p:nvSpPr>
            <p:spPr>
              <a:xfrm>
                <a:off x="878106" y="678072"/>
                <a:ext cx="10730306" cy="11460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𝑸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𝑹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𝑷𝒅𝒚𝒅𝒛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𝑸𝒅𝒛𝒅𝒙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𝑹𝒅𝒙𝒅𝒚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678072"/>
                <a:ext cx="10730306" cy="1146019"/>
              </a:xfrm>
              <a:prstGeom prst="rect">
                <a:avLst/>
              </a:prstGeom>
              <a:blipFill>
                <a:blip r:embed="rId2"/>
                <a:stretch>
                  <a:fillRect r="-568" b="-1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13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983E1AC-759B-4316-80F1-3A89ED249145}"/>
                  </a:ext>
                </a:extLst>
              </p:cNvPr>
              <p:cNvSpPr/>
              <p:nvPr/>
            </p:nvSpPr>
            <p:spPr>
              <a:xfrm>
                <a:off x="877503" y="678072"/>
                <a:ext cx="11007703" cy="3089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的体积为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𝑽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𝑷𝒅𝒚𝒅𝒛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𝑸𝒅𝒛𝒅𝒙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983E1AC-759B-4316-80F1-3A89ED249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678072"/>
                <a:ext cx="11007703" cy="3089628"/>
              </a:xfrm>
              <a:prstGeom prst="rect">
                <a:avLst/>
              </a:prstGeom>
              <a:blipFill>
                <a:blip r:embed="rId2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065370B-5BED-4109-A4B5-F74501031C51}"/>
                  </a:ext>
                </a:extLst>
              </p:cNvPr>
              <p:cNvSpPr/>
              <p:nvPr/>
            </p:nvSpPr>
            <p:spPr>
              <a:xfrm>
                <a:off x="877500" y="3767700"/>
                <a:ext cx="10953943" cy="29281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取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的体积为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𝑽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den>
                      </m:f>
                      <m:nary>
                        <m:naryPr>
                          <m:chr m:val="∯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𝒅𝒚𝒅𝒛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065370B-5BED-4109-A4B5-F74501031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3767700"/>
                <a:ext cx="10953943" cy="2928174"/>
              </a:xfrm>
              <a:prstGeom prst="rect">
                <a:avLst/>
              </a:prstGeom>
              <a:blipFill>
                <a:blip r:embed="rId3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16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69F49B-A158-4EC2-9B11-910C32A05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687" y="746234"/>
            <a:ext cx="3474725" cy="369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AA5FDD-A160-4D4A-96C5-65A06D4D10AE}"/>
              </a:ext>
            </a:extLst>
          </p:cNvPr>
          <p:cNvSpPr/>
          <p:nvPr/>
        </p:nvSpPr>
        <p:spPr>
          <a:xfrm>
            <a:off x="877500" y="959881"/>
            <a:ext cx="6568329" cy="259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(1777-1855)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，德国著名数学家、物理学家、天文学家、几何学家，大地测量学家。享有“数学王子”的美誉。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F1FF4A-EC0C-48F6-9BB1-A2D52704EF13}"/>
              </a:ext>
            </a:extLst>
          </p:cNvPr>
          <p:cNvSpPr/>
          <p:nvPr/>
        </p:nvSpPr>
        <p:spPr>
          <a:xfrm>
            <a:off x="877500" y="3767700"/>
            <a:ext cx="6568329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正十七边形的尺规作图；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CA0706-FFE3-49F8-8D3E-4836A7645250}"/>
              </a:ext>
            </a:extLst>
          </p:cNvPr>
          <p:cNvSpPr/>
          <p:nvPr/>
        </p:nvSpPr>
        <p:spPr>
          <a:xfrm>
            <a:off x="877500" y="4649670"/>
            <a:ext cx="6568329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博士论文：代数基本定理；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8F4586-BF85-44EF-97F5-B900ADD92F63}"/>
              </a:ext>
            </a:extLst>
          </p:cNvPr>
          <p:cNvSpPr/>
          <p:nvPr/>
        </p:nvSpPr>
        <p:spPr>
          <a:xfrm>
            <a:off x="877499" y="5531640"/>
            <a:ext cx="6568329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献身科学，追求完美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015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69F49B-A158-4EC2-9B11-910C32A05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687" y="746234"/>
            <a:ext cx="3474725" cy="369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AA5FDD-A160-4D4A-96C5-65A06D4D10AE}"/>
              </a:ext>
            </a:extLst>
          </p:cNvPr>
          <p:cNvSpPr/>
          <p:nvPr/>
        </p:nvSpPr>
        <p:spPr>
          <a:xfrm>
            <a:off x="877500" y="991467"/>
            <a:ext cx="7256187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“宁可发表少些，但要的是成熟的结果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F1FF4A-EC0C-48F6-9BB1-A2D52704EF13}"/>
              </a:ext>
            </a:extLst>
          </p:cNvPr>
          <p:cNvSpPr/>
          <p:nvPr/>
        </p:nvSpPr>
        <p:spPr>
          <a:xfrm>
            <a:off x="877503" y="2141630"/>
            <a:ext cx="6568329" cy="1950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假如别人和我一样专心和持久的思考数学真理，他也会作出同样的发现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768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032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𝒙𝒅𝒚𝒅𝒛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𝒚𝒅𝒛𝒅𝒙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为椭球面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的外侧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032223"/>
              </a:xfrm>
              <a:prstGeom prst="rect">
                <a:avLst/>
              </a:prstGeom>
              <a:blipFill>
                <a:blip r:embed="rId2"/>
                <a:stretch>
                  <a:fillRect l="-1543" r="-5460" b="-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768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032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𝒙𝒅𝒚𝒅𝒛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𝒚𝒅𝒛𝒅𝒙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为椭球面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的外侧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032223"/>
              </a:xfrm>
              <a:prstGeom prst="rect">
                <a:avLst/>
              </a:prstGeom>
              <a:blipFill>
                <a:blip r:embed="rId2"/>
                <a:stretch>
                  <a:fillRect l="-1543" r="-5460" b="-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795030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𝒂𝒃𝒄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795030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EF10E63-6AD8-4A50-91F5-20C79784AEBC}"/>
              </a:ext>
            </a:extLst>
          </p:cNvPr>
          <p:cNvSpPr/>
          <p:nvPr/>
        </p:nvSpPr>
        <p:spPr>
          <a:xfrm>
            <a:off x="877502" y="5572021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利用高斯公式或合一投影法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309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402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𝒙𝒚𝒅𝒛𝒅𝒙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为锥面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的下侧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402837"/>
              </a:xfrm>
              <a:prstGeom prst="rect">
                <a:avLst/>
              </a:prstGeom>
              <a:blipFill>
                <a:blip r:embed="rId2"/>
                <a:stretch>
                  <a:fillRect l="-1543" t="-1015" b="-4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94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402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𝒙𝒚𝒅𝒛𝒅𝒙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为锥面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的下侧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402837"/>
              </a:xfrm>
              <a:prstGeom prst="rect">
                <a:avLst/>
              </a:prstGeom>
              <a:blipFill>
                <a:blip r:embed="rId2"/>
                <a:stretch>
                  <a:fillRect l="-1543" t="-1015" b="-4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814033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𝒉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14033"/>
                <a:ext cx="10730306" cy="998863"/>
              </a:xfrm>
              <a:prstGeom prst="rect">
                <a:avLst/>
              </a:prstGeom>
              <a:blipFill>
                <a:blip r:embed="rId3"/>
                <a:stretch>
                  <a:fillRect l="-1477"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FD3AEBB-9DFC-429B-BC12-54D83720E172}"/>
              </a:ext>
            </a:extLst>
          </p:cNvPr>
          <p:cNvSpPr/>
          <p:nvPr/>
        </p:nvSpPr>
        <p:spPr>
          <a:xfrm>
            <a:off x="877502" y="5847529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需要加一块曲面使之成为封闭曲面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582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/>
              <p:nvPr/>
            </p:nvSpPr>
            <p:spPr>
              <a:xfrm>
                <a:off x="877503" y="1478530"/>
                <a:ext cx="10730306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当积分曲面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不封闭时，与格林公式类似，可对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作封闭化处理；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478530"/>
                <a:ext cx="10730306" cy="1310295"/>
              </a:xfrm>
              <a:prstGeom prst="rect">
                <a:avLst/>
              </a:prstGeom>
              <a:blipFill>
                <a:blip r:embed="rId2"/>
                <a:stretch>
                  <a:fillRect l="-1477" t="-1869" b="-14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9E161F8-4250-48E4-8D0A-AC4C4C3E1F49}"/>
              </a:ext>
            </a:extLst>
          </p:cNvPr>
          <p:cNvSpPr/>
          <p:nvPr/>
        </p:nvSpPr>
        <p:spPr>
          <a:xfrm>
            <a:off x="877503" y="3096601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若考虑封闭曲面的内侧，应在三重积分前加负号；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3129930-029C-4157-ACDC-602BBA041F82}"/>
                  </a:ext>
                </a:extLst>
              </p:cNvPr>
              <p:cNvSpPr/>
              <p:nvPr/>
            </p:nvSpPr>
            <p:spPr>
              <a:xfrm>
                <a:off x="877503" y="4064336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要求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内具有一阶连续偏导数！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3129930-029C-4157-ACDC-602BBA041F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4064336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49B434A-2518-436B-B2A6-AFCDAE1AFFAB}"/>
                  </a:ext>
                </a:extLst>
              </p14:cNvPr>
              <p14:cNvContentPartPr/>
              <p14:nvPr/>
            </p14:nvContentPartPr>
            <p14:xfrm>
              <a:off x="5667840" y="4681080"/>
              <a:ext cx="3121560" cy="163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49B434A-2518-436B-B2A6-AFCDAE1AFF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8480" y="4671720"/>
                <a:ext cx="3140280" cy="1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906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378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𝜶</m:t>
                                </m:r>
                              </m:e>
                            </m:fun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𝜷</m:t>
                                </m:r>
                              </m:e>
                            </m:fun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𝜸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是其外法向量的方向余弦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378472"/>
              </a:xfrm>
              <a:prstGeom prst="rect">
                <a:avLst/>
              </a:prstGeom>
              <a:blipFill>
                <a:blip r:embed="rId2"/>
                <a:stretch>
                  <a:fillRect l="-1543" r="-1484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3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378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𝜶</m:t>
                                </m:r>
                              </m:e>
                            </m:fun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𝜷</m:t>
                                </m:r>
                              </m:e>
                            </m:fun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func>
                              <m:func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𝜸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是其外法向量的方向余弦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378472"/>
              </a:xfrm>
              <a:prstGeom prst="rect">
                <a:avLst/>
              </a:prstGeom>
              <a:blipFill>
                <a:blip r:embed="rId2"/>
                <a:stretch>
                  <a:fillRect l="-1543" r="-1484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181065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81065"/>
                <a:ext cx="10730306" cy="677814"/>
              </a:xfrm>
              <a:prstGeom prst="rect">
                <a:avLst/>
              </a:prstGeom>
              <a:blipFill>
                <a:blip r:embed="rId3"/>
                <a:stretch>
                  <a:fillRect l="-1477" t="-3604" b="-23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A4EE7DD-AE41-48D7-9329-C1C63F381DBD}"/>
                  </a:ext>
                </a:extLst>
              </p:cNvPr>
              <p:cNvSpPr/>
              <p:nvPr/>
            </p:nvSpPr>
            <p:spPr>
              <a:xfrm>
                <a:off x="877502" y="5847529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先代入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A4EE7DD-AE41-48D7-9329-C1C63F381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847529"/>
                <a:ext cx="10730306" cy="677814"/>
              </a:xfrm>
              <a:prstGeom prst="rect">
                <a:avLst/>
              </a:prstGeom>
              <a:blipFill>
                <a:blip r:embed="rId4"/>
                <a:stretch>
                  <a:fillRect l="-1477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6F4B305-09C0-42CB-9AF7-947F5C79D4D8}"/>
                  </a:ext>
                </a:extLst>
              </p:cNvPr>
              <p:cNvSpPr/>
              <p:nvPr/>
            </p:nvSpPr>
            <p:spPr>
              <a:xfrm>
                <a:off x="877502" y="3056544"/>
                <a:ext cx="11007703" cy="20066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𝑸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𝑹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𝑷𝒅𝒚𝒅𝒛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𝑸𝒅𝒛𝒅𝒙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𝑹𝒅𝒙𝒅𝒚</m:t>
                        </m:r>
                      </m:e>
                    </m:nary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                                      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𝜸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6F4B305-09C0-42CB-9AF7-947F5C79D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056544"/>
                <a:ext cx="11007703" cy="20066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53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4680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在闭区域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上具有一阶及二阶连续偏导数，证明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𝒗𝒅𝒙𝒅𝒚𝒅𝒛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num>
                          <m:den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  <m:acc>
                              <m:accPr>
                                <m:chr m:val="⃗"/>
                                <m:ctrlP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</m:acc>
                          </m:den>
                        </m:f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𝒗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𝒗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𝒗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𝒅𝒙𝒅𝒚𝒅𝒛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是闭区域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的整个边界曲面，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的外法线方向导数，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4680769"/>
              </a:xfrm>
              <a:prstGeom prst="rect">
                <a:avLst/>
              </a:prstGeom>
              <a:blipFill>
                <a:blip r:embed="rId2"/>
                <a:stretch>
                  <a:fillRect l="-1543" t="-521" r="-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6A4EE7DD-AE41-48D7-9329-C1C63F381DBD}"/>
              </a:ext>
            </a:extLst>
          </p:cNvPr>
          <p:cNvSpPr/>
          <p:nvPr/>
        </p:nvSpPr>
        <p:spPr>
          <a:xfrm>
            <a:off x="877502" y="5847529"/>
            <a:ext cx="10730306" cy="677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该公式称为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格林第一公式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17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70087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7C3F073-E96C-49A8-A3AC-A710DEF439E5}"/>
                  </a:ext>
                </a:extLst>
              </p:cNvPr>
              <p:cNvSpPr/>
              <p:nvPr/>
            </p:nvSpPr>
            <p:spPr>
              <a:xfrm>
                <a:off x="877500" y="1045890"/>
                <a:ext cx="10971061" cy="47320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对于三元函数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，定义它在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沿任意方向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的方向导数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zh-CN" altLang="en-US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𝒍</m:t>
                                    </m:r>
                                  </m:e>
                                </m:acc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，且当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处可微时，有计算公式</a:t>
                </a:r>
                <a:endParaRPr lang="en-US" altLang="zh-CN" sz="3200" b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num>
                                <m:den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𝒍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num>
                                <m:den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num>
                                <m:den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fun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num>
                                <m:den>
                                  <m:r>
                                    <a:rPr lang="zh-CN" altLang="en-US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𝜸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的方向余弦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.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7C3F073-E96C-49A8-A3AC-A710DEF439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045890"/>
                <a:ext cx="10971061" cy="4732001"/>
              </a:xfrm>
              <a:prstGeom prst="rect">
                <a:avLst/>
              </a:prstGeom>
              <a:blipFill>
                <a:blip r:embed="rId2"/>
                <a:stretch>
                  <a:fillRect l="-1444" r="-1389" b="-3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56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068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𝒗𝒅𝒙𝒅𝒚𝒅𝒛</m:t>
                        </m:r>
                      </m:e>
                    </m:nary>
                  </m:oMath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num>
                          <m:den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  <m:acc>
                              <m:accPr>
                                <m:chr m:val="⃗"/>
                                <m:ctrlP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</m:acc>
                          </m:den>
                        </m:f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𝒗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𝒗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𝒗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𝒅𝒙𝒅𝒚𝒅𝒛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068130"/>
              </a:xfrm>
              <a:prstGeom prst="rect">
                <a:avLst/>
              </a:prstGeom>
              <a:blipFill>
                <a:blip r:embed="rId2"/>
                <a:stretch>
                  <a:fillRect b="-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96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068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𝒅𝒚𝒅𝒛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𝒚𝒅𝒛𝒅𝒙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𝒛𝒅𝒙𝒅𝒚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𝒛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f>
                                  <m:f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068195"/>
              </a:xfrm>
              <a:prstGeom prst="rect">
                <a:avLst/>
              </a:prstGeom>
              <a:blipFill>
                <a:blip r:embed="rId2"/>
                <a:stretch>
                  <a:fillRect l="-1543" b="-8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9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068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𝒅𝒚𝒅𝒛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𝒚𝒅𝒛𝒅𝒙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𝒛𝒅𝒙𝒅𝒚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𝒛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f>
                                  <m:f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068195"/>
              </a:xfrm>
              <a:prstGeom prst="rect">
                <a:avLst/>
              </a:prstGeom>
              <a:blipFill>
                <a:blip r:embed="rId2"/>
                <a:stretch>
                  <a:fillRect l="-1543" b="-8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814033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14033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FD3AEBB-9DFC-429B-BC12-54D83720E172}"/>
              </a:ext>
            </a:extLst>
          </p:cNvPr>
          <p:cNvSpPr/>
          <p:nvPr/>
        </p:nvSpPr>
        <p:spPr>
          <a:xfrm>
            <a:off x="877502" y="5847529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需要加一块曲面使之成为封闭曲面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923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高斯公式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85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983E1AC-759B-4316-80F1-3A89ED249145}"/>
                  </a:ext>
                </a:extLst>
              </p:cNvPr>
              <p:cNvSpPr/>
              <p:nvPr/>
            </p:nvSpPr>
            <p:spPr>
              <a:xfrm>
                <a:off x="877503" y="1165905"/>
                <a:ext cx="11007703" cy="52066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高斯公式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：设闭区域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由分片光滑的闭曲面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所围成，函数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𝑸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𝑹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𝑷𝒅𝒚𝒅𝒛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𝑸𝒅𝒛𝒅𝒙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𝑹𝒅𝒙𝒅𝒚</m:t>
                        </m:r>
                      </m:e>
                    </m:nary>
                  </m:oMath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                                      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𝜷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𝜸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边界的外侧，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处的外侧法向量的方向余弦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983E1AC-759B-4316-80F1-3A89ED249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165905"/>
                <a:ext cx="11007703" cy="5206618"/>
              </a:xfrm>
              <a:prstGeom prst="rect">
                <a:avLst/>
              </a:prstGeom>
              <a:blipFill>
                <a:blip r:embed="rId2"/>
                <a:stretch>
                  <a:fillRect l="-1440" t="-468" r="-5039" b="-2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78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高斯公式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P255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9-6(A) 1(2)(4)(6).</a:t>
            </a:r>
          </a:p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9-6(B) 1.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60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https://www.bilibili.com/video/BV1z441147rL</a:t>
            </a: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4746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5027485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15363</TotalTime>
  <Words>1368</Words>
  <Application>Microsoft Office PowerPoint</Application>
  <PresentationFormat>宽屏</PresentationFormat>
  <Paragraphs>145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Microsoft Yahei</vt:lpstr>
      <vt:lpstr>Microsoft Yahei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1040</cp:revision>
  <dcterms:created xsi:type="dcterms:W3CDTF">2015-08-18T02:51:41Z</dcterms:created>
  <dcterms:modified xsi:type="dcterms:W3CDTF">2022-02-28T01:46:01Z</dcterms:modified>
</cp:coreProperties>
</file>