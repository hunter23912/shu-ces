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0"/>
  </p:notesMasterIdLst>
  <p:sldIdLst>
    <p:sldId id="587" r:id="rId3"/>
    <p:sldId id="773" r:id="rId4"/>
    <p:sldId id="883" r:id="rId5"/>
    <p:sldId id="1070" r:id="rId6"/>
    <p:sldId id="843" r:id="rId7"/>
    <p:sldId id="1061" r:id="rId8"/>
    <p:sldId id="1062" r:id="rId9"/>
    <p:sldId id="1063" r:id="rId10"/>
    <p:sldId id="1069" r:id="rId11"/>
    <p:sldId id="729" r:id="rId12"/>
    <p:sldId id="869" r:id="rId13"/>
    <p:sldId id="775" r:id="rId14"/>
    <p:sldId id="1054" r:id="rId15"/>
    <p:sldId id="1065" r:id="rId16"/>
    <p:sldId id="1055" r:id="rId17"/>
    <p:sldId id="776" r:id="rId18"/>
    <p:sldId id="1056" r:id="rId19"/>
    <p:sldId id="1066" r:id="rId20"/>
    <p:sldId id="1057" r:id="rId21"/>
    <p:sldId id="863" r:id="rId22"/>
    <p:sldId id="840" r:id="rId23"/>
    <p:sldId id="1067" r:id="rId24"/>
    <p:sldId id="1058" r:id="rId25"/>
    <p:sldId id="1068" r:id="rId26"/>
    <p:sldId id="812" r:id="rId27"/>
    <p:sldId id="813" r:id="rId28"/>
    <p:sldId id="814" r:id="rId29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DAC34-256E-4A87-8AEE-B106B70BE765}" v="29" dt="2021-01-14T14:50:42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3673" autoAdjust="0"/>
  </p:normalViewPr>
  <p:slideViewPr>
    <p:cSldViewPr snapToGrid="0" snapToObjects="1">
      <p:cViewPr varScale="1">
        <p:scale>
          <a:sx n="44" d="100"/>
          <a:sy n="44" d="100"/>
        </p:scale>
        <p:origin x="80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2022/1/11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0.png"/><Relationship Id="rId4" Type="http://schemas.openxmlformats.org/officeDocument/2006/relationships/image" Target="../media/image5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7" Type="http://schemas.openxmlformats.org/officeDocument/2006/relationships/image" Target="../media/image5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0.png"/><Relationship Id="rId11" Type="http://schemas.openxmlformats.org/officeDocument/2006/relationships/image" Target="../media/image2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40.png"/><Relationship Id="rId7" Type="http://schemas.openxmlformats.org/officeDocument/2006/relationships/image" Target="../media/image5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0.png"/><Relationship Id="rId5" Type="http://schemas.openxmlformats.org/officeDocument/2006/relationships/image" Target="../media/image43.png"/><Relationship Id="rId10" Type="http://schemas.openxmlformats.org/officeDocument/2006/relationships/image" Target="../media/image160.png"/><Relationship Id="rId4" Type="http://schemas.openxmlformats.org/officeDocument/2006/relationships/image" Target="../media/image42.png"/><Relationship Id="rId9" Type="http://schemas.openxmlformats.org/officeDocument/2006/relationships/image" Target="../media/image1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0.png"/><Relationship Id="rId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重积分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02992-8537-405E-9523-E2253C6FF4EB}"/>
              </a:ext>
            </a:extLst>
          </p:cNvPr>
          <p:cNvSpPr/>
          <p:nvPr/>
        </p:nvSpPr>
        <p:spPr>
          <a:xfrm>
            <a:off x="877503" y="1772350"/>
            <a:ext cx="11007703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三重积分的变量代换；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柱面坐标系下三重积分计算；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球面坐标系下三重积分计算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1BBE3511-F123-40F0-940B-D42C732F1E4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88273" y="1483890"/>
              <a:ext cx="9615453" cy="3890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5530">
                      <a:extLst>
                        <a:ext uri="{9D8B030D-6E8A-4147-A177-3AD203B41FA5}">
                          <a16:colId xmlns:a16="http://schemas.microsoft.com/office/drawing/2014/main" val="3428692517"/>
                        </a:ext>
                      </a:extLst>
                    </a:gridCol>
                    <a:gridCol w="3306572">
                      <a:extLst>
                        <a:ext uri="{9D8B030D-6E8A-4147-A177-3AD203B41FA5}">
                          <a16:colId xmlns:a16="http://schemas.microsoft.com/office/drawing/2014/main" val="712513526"/>
                        </a:ext>
                      </a:extLst>
                    </a:gridCol>
                    <a:gridCol w="3973351">
                      <a:extLst>
                        <a:ext uri="{9D8B030D-6E8A-4147-A177-3AD203B41FA5}">
                          <a16:colId xmlns:a16="http://schemas.microsoft.com/office/drawing/2014/main" val="1020627754"/>
                        </a:ext>
                      </a:extLst>
                    </a:gridCol>
                  </a:tblGrid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坐标系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体积元素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适用情况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207982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直角坐标系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𝒅𝒙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积分区域多由坐标面围成，被积函数形式简洁或变量可分离</a:t>
                          </a:r>
                          <a:r>
                            <a:rPr lang="en-US" altLang="zh-CN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.</a:t>
                          </a:r>
                          <a:endParaRPr lang="zh-CN" altLang="en-US" sz="3200" dirty="0"/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zh-CN" alt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5920569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柱面坐标系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𝜽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5396941"/>
                      </a:ext>
                    </a:extLst>
                  </a:tr>
                  <a:tr h="9616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球面坐标系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𝒅𝒓𝒅</m:t>
                                </m:r>
                                <m: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𝝋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71357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1BBE3511-F123-40F0-940B-D42C732F1E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0435"/>
                  </p:ext>
                </p:extLst>
              </p:nvPr>
            </p:nvGraphicFramePr>
            <p:xfrm>
              <a:off x="1288273" y="1483890"/>
              <a:ext cx="9615453" cy="3890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5530">
                      <a:extLst>
                        <a:ext uri="{9D8B030D-6E8A-4147-A177-3AD203B41FA5}">
                          <a16:colId xmlns:a16="http://schemas.microsoft.com/office/drawing/2014/main" val="3428692517"/>
                        </a:ext>
                      </a:extLst>
                    </a:gridCol>
                    <a:gridCol w="3306572">
                      <a:extLst>
                        <a:ext uri="{9D8B030D-6E8A-4147-A177-3AD203B41FA5}">
                          <a16:colId xmlns:a16="http://schemas.microsoft.com/office/drawing/2014/main" val="712513526"/>
                        </a:ext>
                      </a:extLst>
                    </a:gridCol>
                    <a:gridCol w="3973351">
                      <a:extLst>
                        <a:ext uri="{9D8B030D-6E8A-4147-A177-3AD203B41FA5}">
                          <a16:colId xmlns:a16="http://schemas.microsoft.com/office/drawing/2014/main" val="1020627754"/>
                        </a:ext>
                      </a:extLst>
                    </a:gridCol>
                  </a:tblGrid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坐标系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体积元素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适用情况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207982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直角坐标系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718" t="-101274" r="-120810" b="-20764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积分区域多由坐标面围成，被积函数形式简洁或变量可分离</a:t>
                          </a:r>
                          <a:r>
                            <a:rPr lang="en-US" altLang="zh-CN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.</a:t>
                          </a:r>
                          <a:endParaRPr lang="zh-CN" altLang="en-US" sz="3200" dirty="0"/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zh-CN" alt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5920569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柱面坐标系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718" t="-200000" r="-120810" b="-10632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5396941"/>
                      </a:ext>
                    </a:extLst>
                  </a:tr>
                  <a:tr h="10136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球面坐标系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718" t="-285542" r="-120810" b="-12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71357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682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42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𝒅𝒙𝒅𝒚𝒅𝒛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42089"/>
              </a:xfrm>
              <a:prstGeom prst="rect">
                <a:avLst/>
              </a:prstGeom>
              <a:blipFill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758885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𝟐𝟏</m:t>
                    </m:r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758885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42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𝒅𝒙𝒅𝒚𝒅𝒛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42089"/>
              </a:xfrm>
              <a:prstGeom prst="rect">
                <a:avLst/>
              </a:prstGeom>
              <a:blipFill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758885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𝟐𝟏</m:t>
                    </m:r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758885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/>
              <p:nvPr/>
            </p:nvSpPr>
            <p:spPr>
              <a:xfrm>
                <a:off x="877502" y="292016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由球面与圆锥面围成，注意交线在何处？用哪种方法？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920161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r="-1136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5326BF7-A9D2-436F-95B4-193B9A52FA29}"/>
                  </a:ext>
                </a:extLst>
              </p:cNvPr>
              <p:cNvSpPr/>
              <p:nvPr/>
            </p:nvSpPr>
            <p:spPr>
              <a:xfrm>
                <a:off x="877502" y="3584958"/>
                <a:ext cx="10730306" cy="22016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5326BF7-A9D2-436F-95B4-193B9A52F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584958"/>
                <a:ext cx="10730306" cy="22016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56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819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连续，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𝑭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𝒕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𝛀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𝒅𝒙𝒅𝒚𝒅𝒛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819828"/>
              </a:xfrm>
              <a:prstGeom prst="rect">
                <a:avLst/>
              </a:prstGeom>
              <a:blipFill>
                <a:blip r:embed="rId2"/>
                <a:stretch>
                  <a:fillRect l="-1543" t="-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DC2B235-BAD0-474D-8F81-BD9EE4A469B6}"/>
                  </a:ext>
                </a:extLst>
              </p:cNvPr>
              <p:cNvSpPr/>
              <p:nvPr/>
            </p:nvSpPr>
            <p:spPr>
              <a:xfrm>
                <a:off x="877502" y="5567536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𝒉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DC2B235-BAD0-474D-8F81-BD9EE4A469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567536"/>
                <a:ext cx="10730306" cy="998863"/>
              </a:xfrm>
              <a:prstGeom prst="rect">
                <a:avLst/>
              </a:prstGeom>
              <a:blipFill>
                <a:blip r:embed="rId5"/>
                <a:stretch>
                  <a:fillRect l="-1477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10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1374919"/>
                <a:ext cx="10273098" cy="15471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𝝅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𝒉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𝒓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1374919"/>
                <a:ext cx="10273098" cy="15471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618922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𝒉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618922"/>
                <a:ext cx="10730306" cy="998863"/>
              </a:xfrm>
              <a:prstGeom prst="rect">
                <a:avLst/>
              </a:prstGeom>
              <a:blipFill>
                <a:blip r:embed="rId3"/>
                <a:stretch>
                  <a:fillRect l="-1477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A056DF3-B985-4441-B51A-37AF8BE72288}"/>
              </a:ext>
            </a:extLst>
          </p:cNvPr>
          <p:cNvSpPr/>
          <p:nvPr/>
        </p:nvSpPr>
        <p:spPr>
          <a:xfrm>
            <a:off x="877502" y="4869633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被积函数为抽象函数，去掉积分号考虑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变上限定积分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求导或者中值定理；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970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9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：计算位于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而密度函数为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的物体的质量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90591"/>
              </a:xfrm>
              <a:prstGeom prst="rect">
                <a:avLst/>
              </a:prstGeom>
              <a:blipFill>
                <a:blip r:embed="rId2"/>
                <a:stretch>
                  <a:fillRect l="-1543" b="-1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A4A903B-2230-4469-B89A-47CB26D1F096}"/>
                  </a:ext>
                </a:extLst>
              </p:cNvPr>
              <p:cNvSpPr/>
              <p:nvPr/>
            </p:nvSpPr>
            <p:spPr>
              <a:xfrm>
                <a:off x="877502" y="5417005"/>
                <a:ext cx="10730306" cy="985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𝟏𝟓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𝒂𝒃𝒄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A4A903B-2230-4469-B89A-47CB26D1F0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17005"/>
                <a:ext cx="10730306" cy="985270"/>
              </a:xfrm>
              <a:prstGeom prst="rect">
                <a:avLst/>
              </a:prstGeom>
              <a:blipFill>
                <a:blip r:embed="rId5"/>
                <a:stretch>
                  <a:fillRect l="-1477" b="-6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31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9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：计算位于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而密度函数为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的物体的质量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90591"/>
              </a:xfrm>
              <a:prstGeom prst="rect">
                <a:avLst/>
              </a:prstGeom>
              <a:blipFill>
                <a:blip r:embed="rId2"/>
                <a:stretch>
                  <a:fillRect l="-1543" b="-1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2833088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𝒄𝒘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𝒂𝒃𝒄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833088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AC960DA-11E9-49B8-8E24-9D352F397E4D}"/>
                  </a:ext>
                </a:extLst>
              </p:cNvPr>
              <p:cNvSpPr/>
              <p:nvPr/>
            </p:nvSpPr>
            <p:spPr>
              <a:xfrm>
                <a:off x="877502" y="5417005"/>
                <a:ext cx="10730306" cy="985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𝟏𝟓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𝒂𝒃𝒄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AC960DA-11E9-49B8-8E24-9D352F397E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17005"/>
                <a:ext cx="10730306" cy="985270"/>
              </a:xfrm>
              <a:prstGeom prst="rect">
                <a:avLst/>
              </a:prstGeom>
              <a:blipFill>
                <a:blip r:embed="rId4"/>
                <a:stretch>
                  <a:fillRect l="-1477" b="-6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CE804EDB-41F0-4A34-8527-E7ED937C78BD}"/>
              </a:ext>
            </a:extLst>
          </p:cNvPr>
          <p:cNvSpPr/>
          <p:nvPr/>
        </p:nvSpPr>
        <p:spPr>
          <a:xfrm>
            <a:off x="877502" y="379264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注意轮换对称性！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31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第四节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重积分的</a:t>
            </a:r>
            <a:endParaRPr kumimoji="1" lang="en-US" altLang="zh-CN" dirty="0"/>
          </a:p>
          <a:p>
            <a:r>
              <a:rPr kumimoji="1" lang="zh-CN" altLang="en-US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1611093"/>
                <a:ext cx="10730306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设空间曲面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𝑺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面的投影区域为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上具有一阶连续偏导数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如何求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的面积？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611093"/>
                <a:ext cx="10730306" cy="1950470"/>
              </a:xfrm>
              <a:prstGeom prst="rect">
                <a:avLst/>
              </a:prstGeom>
              <a:blipFill>
                <a:blip r:embed="rId2"/>
                <a:stretch>
                  <a:fillRect l="-1477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67807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一、曲面的面积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1083E5-6093-4A54-BF02-DA9C08D74E73}"/>
              </a:ext>
            </a:extLst>
          </p:cNvPr>
          <p:cNvSpPr/>
          <p:nvPr/>
        </p:nvSpPr>
        <p:spPr>
          <a:xfrm>
            <a:off x="877501" y="3824464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</a:t>
            </a:r>
            <a:r>
              <a:rPr lang="zh-CN" altLang="en-US" sz="3200" b="1" kern="0" dirty="0">
                <a:solidFill>
                  <a:srgbClr val="676661"/>
                </a:solidFill>
                <a:ea typeface="微软雅黑" panose="020B0503020204020204" pitchFamily="34" charset="-122"/>
              </a:rPr>
              <a:t>用“分割、求和、求极限（微元法）”以及“以平代曲”的思想</a:t>
            </a:r>
            <a:r>
              <a:rPr lang="en-US" altLang="zh-CN" sz="3200" b="1" kern="0" dirty="0">
                <a:solidFill>
                  <a:srgbClr val="676661"/>
                </a:solidFill>
                <a:ea typeface="微软雅黑" panose="020B0503020204020204" pitchFamily="34" charset="-122"/>
              </a:rPr>
              <a:t>.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922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746234"/>
                <a:ext cx="10730306" cy="19496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分割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：将投影区域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分割为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个小区域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𝒊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,⋯,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，相应地将曲面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𝑺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分成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个小曲面片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将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的面积仍记为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46234"/>
                <a:ext cx="10730306" cy="1949636"/>
              </a:xfrm>
              <a:prstGeom prst="rect">
                <a:avLst/>
              </a:prstGeom>
              <a:blipFill>
                <a:blip r:embed="rId2"/>
                <a:stretch>
                  <a:fillRect l="-1477" t="-1250" r="-5227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3075850"/>
                <a:ext cx="10730306" cy="669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与</a:t>
                </a:r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有什么关系？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075850"/>
                <a:ext cx="10730306" cy="669286"/>
              </a:xfrm>
              <a:prstGeom prst="rect">
                <a:avLst/>
              </a:prstGeom>
              <a:blipFill>
                <a:blip r:embed="rId3"/>
                <a:stretch>
                  <a:fillRect l="-1477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79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9" y="1478742"/>
                <a:ext cx="10760480" cy="2711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全微分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14:m>
                  <m:oMath xmlns:m="http://schemas.openxmlformats.org/officeDocument/2006/math"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的线性主部，意味着可用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近似 </a:t>
                </a:r>
                <a14:m>
                  <m:oMath xmlns:m="http://schemas.openxmlformats.org/officeDocument/2006/math"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1478742"/>
                <a:ext cx="10760480" cy="2711640"/>
              </a:xfrm>
              <a:prstGeom prst="rect">
                <a:avLst/>
              </a:prstGeom>
              <a:blipFill rotWithShape="1">
                <a:blip r:embed="rId2"/>
                <a:stretch>
                  <a:fillRect l="-1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499" y="746234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回顾全微分的几何意义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54A284-A5FE-4929-9332-410292517C2F}"/>
                  </a:ext>
                </a:extLst>
              </p:cNvPr>
              <p:cNvSpPr/>
              <p:nvPr/>
            </p:nvSpPr>
            <p:spPr>
              <a:xfrm>
                <a:off x="877499" y="4215164"/>
                <a:ext cx="10760480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几何上，微分就是在点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3200" b="1" i="1" kern="0" dirty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附近存在近似曲面的平面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 dirty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dirty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实际上是曲面的切平面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基本特点就是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局部以直代曲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554A284-A5FE-4929-9332-410292517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4215164"/>
                <a:ext cx="10760480" cy="2012859"/>
              </a:xfrm>
              <a:prstGeom prst="rect">
                <a:avLst/>
              </a:prstGeom>
              <a:blipFill rotWithShape="1">
                <a:blip r:embed="rId3"/>
                <a:stretch>
                  <a:fillRect l="-1473" t="-1208" r="-510" b="-8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652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p:pic>
        <p:nvPicPr>
          <p:cNvPr id="3" name="QQ图片20200305231349">
            <a:hlinkClick r:id="" action="ppaction://media"/>
            <a:extLst>
              <a:ext uri="{FF2B5EF4-FFF2-40B4-BE49-F238E27FC236}">
                <a16:creationId xmlns:a16="http://schemas.microsoft.com/office/drawing/2014/main" id="{A7F5DCD5-8C2B-4D3C-86FF-52B9385AEB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99165" y="803572"/>
            <a:ext cx="4993670" cy="525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5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746234"/>
                <a:ext cx="10730306" cy="2586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求（近似）和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在每个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上任取一点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，作曲面在这点的切平面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，并在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上取出一小块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，使得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在平面上的投影都为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将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的面积仍记为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，用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去近似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46234"/>
                <a:ext cx="10730306" cy="2586349"/>
              </a:xfrm>
              <a:prstGeom prst="rect">
                <a:avLst/>
              </a:prstGeom>
              <a:blipFill>
                <a:blip r:embed="rId2"/>
                <a:stretch>
                  <a:fillRect l="-1477" t="-941" r="-1080" b="-6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3937222"/>
                <a:ext cx="10730306" cy="247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曲面面积近似值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sup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sup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937222"/>
                <a:ext cx="10730306" cy="2477409"/>
              </a:xfrm>
              <a:prstGeom prst="rect">
                <a:avLst/>
              </a:prstGeom>
              <a:blipFill>
                <a:blip r:embed="rId3"/>
                <a:stretch>
                  <a:fillRect l="-1477" t="-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09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977056"/>
                <a:ext cx="10730306" cy="247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取极限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：记所有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最大直径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→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977056"/>
                <a:ext cx="10730306" cy="2477409"/>
              </a:xfrm>
              <a:prstGeom prst="rect">
                <a:avLst/>
              </a:prstGeom>
              <a:blipFill>
                <a:blip r:embed="rId2"/>
                <a:stretch>
                  <a:fillRect l="-1477" t="-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04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678072"/>
                <a:ext cx="10730306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面上小闭区域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𝝈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对应的曲面部分面积可用对应的切平面上与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𝝈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对应部分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来近似，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成为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面积微元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678072"/>
                <a:ext cx="10730306" cy="1310295"/>
              </a:xfrm>
              <a:prstGeom prst="rect">
                <a:avLst/>
              </a:prstGeom>
              <a:blipFill>
                <a:blip r:embed="rId4"/>
                <a:stretch>
                  <a:fillRect l="-1477" t="-1860" r="-1307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47F8937-D0A7-4E8A-88A7-109B9866C93D}"/>
                  </a:ext>
                </a:extLst>
              </p:cNvPr>
              <p:cNvSpPr/>
              <p:nvPr/>
            </p:nvSpPr>
            <p:spPr>
              <a:xfrm>
                <a:off x="877501" y="1988367"/>
                <a:ext cx="10760480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可知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𝒅𝑨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3200" b="0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𝝋</m:t>
                            </m:r>
                          </m:e>
                        </m:fun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𝝈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处切平面与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面的夹角；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47F8937-D0A7-4E8A-88A7-109B9866C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88367"/>
                <a:ext cx="10760480" cy="1310295"/>
              </a:xfrm>
              <a:prstGeom prst="rect">
                <a:avLst/>
              </a:prstGeom>
              <a:blipFill>
                <a:blip r:embed="rId5"/>
                <a:stretch>
                  <a:fillRect l="-1473" t="-18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/>
              <p:nvPr/>
            </p:nvSpPr>
            <p:spPr>
              <a:xfrm>
                <a:off x="877501" y="3298662"/>
                <a:ext cx="10760480" cy="34303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两平面之间的夹角为法向量之间的夹角，即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),−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的夹角，则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</m:fun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298662"/>
                <a:ext cx="10760480" cy="3430363"/>
              </a:xfrm>
              <a:prstGeom prst="rect">
                <a:avLst/>
              </a:prstGeom>
              <a:blipFill>
                <a:blip r:embed="rId6"/>
                <a:stretch>
                  <a:fillRect l="-1473" t="-7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56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p:pic>
        <p:nvPicPr>
          <p:cNvPr id="2" name="QQ图片20200305231356">
            <a:hlinkClick r:id="" action="ppaction://media"/>
            <a:extLst>
              <a:ext uri="{FF2B5EF4-FFF2-40B4-BE49-F238E27FC236}">
                <a16:creationId xmlns:a16="http://schemas.microsoft.com/office/drawing/2014/main" id="{8B610F7D-FB68-4568-8AE5-7EFEC23819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5521" y="842043"/>
            <a:ext cx="6460958" cy="51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678072"/>
                <a:ext cx="10730306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面积微元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𝒅𝑨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e>
                      </m:ra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𝝈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678072"/>
                <a:ext cx="10730306" cy="2035301"/>
              </a:xfrm>
              <a:prstGeom prst="rect">
                <a:avLst/>
              </a:prstGeom>
              <a:blipFill>
                <a:blip r:embed="rId2"/>
                <a:stretch>
                  <a:fillRect l="-1477" t="-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/>
              <p:nvPr/>
            </p:nvSpPr>
            <p:spPr>
              <a:xfrm>
                <a:off x="877501" y="2713373"/>
                <a:ext cx="10760480" cy="2729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因此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rad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𝒅𝒙𝒅𝒚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DA0638F-D939-4F8B-837D-4985F0FB6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713373"/>
                <a:ext cx="10760480" cy="2729080"/>
              </a:xfrm>
              <a:prstGeom prst="rect">
                <a:avLst/>
              </a:prstGeom>
              <a:blipFill>
                <a:blip r:embed="rId4"/>
                <a:stretch>
                  <a:fillRect l="-1473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4A39D24-60FF-4519-B973-713A21188A91}"/>
                  </a:ext>
                </a:extLst>
              </p:cNvPr>
              <p:cNvSpPr/>
              <p:nvPr/>
            </p:nvSpPr>
            <p:spPr>
              <a:xfrm>
                <a:off x="877501" y="5436920"/>
                <a:ext cx="10760480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：如果曲面方程由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确定？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4A39D24-60FF-4519-B973-713A21188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436920"/>
                <a:ext cx="10760480" cy="664797"/>
              </a:xfrm>
              <a:prstGeom prst="rect">
                <a:avLst/>
              </a:prstGeom>
              <a:blipFill>
                <a:blip r:embed="rId5"/>
                <a:stretch>
                  <a:fillRect l="-1473" t="-3670" r="-227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0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3070041"/>
                <a:ext cx="11007703" cy="2224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𝒅𝒍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上积分，得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(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070041"/>
                <a:ext cx="11007703" cy="2224583"/>
              </a:xfrm>
              <a:prstGeom prst="rect">
                <a:avLst/>
              </a:prstGeom>
              <a:blipFill rotWithShape="1">
                <a:blip r:embed="rId2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1" y="891719"/>
                <a:ext cx="11007703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回顾弧长微元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𝒅𝒍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 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ra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𝒅𝒙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1007703" cy="2035301"/>
              </a:xfrm>
              <a:prstGeom prst="rect">
                <a:avLst/>
              </a:prstGeom>
              <a:blipFill>
                <a:blip r:embed="rId3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63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3" y="678072"/>
                <a:ext cx="7176104" cy="1979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被柱面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所截得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部分的曲面面积（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3200" b="1" kern="0" dirty="0" err="1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ViViani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曲面）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678072"/>
                <a:ext cx="7176104" cy="1979453"/>
              </a:xfrm>
              <a:prstGeom prst="rect">
                <a:avLst/>
              </a:prstGeom>
              <a:blipFill>
                <a:blip r:embed="rId2"/>
                <a:stretch>
                  <a:fillRect l="-2209" t="-615" r="-935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85">
            <a:extLst>
              <a:ext uri="{FF2B5EF4-FFF2-40B4-BE49-F238E27FC236}">
                <a16:creationId xmlns:a16="http://schemas.microsoft.com/office/drawing/2014/main" id="{8409ABB6-7D16-42C2-93EE-A0013475FB74}"/>
              </a:ext>
            </a:extLst>
          </p:cNvPr>
          <p:cNvGrpSpPr>
            <a:grpSpLocks/>
          </p:cNvGrpSpPr>
          <p:nvPr/>
        </p:nvGrpSpPr>
        <p:grpSpPr bwMode="auto">
          <a:xfrm>
            <a:off x="9329738" y="1675402"/>
            <a:ext cx="1008062" cy="1274763"/>
            <a:chOff x="3960" y="2240"/>
            <a:chExt cx="648" cy="803"/>
          </a:xfrm>
        </p:grpSpPr>
        <p:sp>
          <p:nvSpPr>
            <p:cNvPr id="9" name="Rectangle 79">
              <a:extLst>
                <a:ext uri="{FF2B5EF4-FFF2-40B4-BE49-F238E27FC236}">
                  <a16:creationId xmlns:a16="http://schemas.microsoft.com/office/drawing/2014/main" id="{3C053F42-DAC2-4024-A1E2-9BE61122B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400"/>
              <a:ext cx="648" cy="506"/>
            </a:xfrm>
            <a:prstGeom prst="rect">
              <a:avLst/>
            </a:pr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5000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rc 80">
              <a:extLst>
                <a:ext uri="{FF2B5EF4-FFF2-40B4-BE49-F238E27FC236}">
                  <a16:creationId xmlns:a16="http://schemas.microsoft.com/office/drawing/2014/main" id="{523F8C71-F231-4664-93EE-3E90182EA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880"/>
              <a:ext cx="646" cy="163"/>
            </a:xfrm>
            <a:custGeom>
              <a:avLst/>
              <a:gdLst>
                <a:gd name="G0" fmla="+- 21600 0 0"/>
                <a:gd name="G1" fmla="+- 1173 0 0"/>
                <a:gd name="G2" fmla="+- 21600 0 0"/>
                <a:gd name="T0" fmla="*/ 43168 w 43200"/>
                <a:gd name="T1" fmla="*/ 0 h 22773"/>
                <a:gd name="T2" fmla="*/ 0 w 43200"/>
                <a:gd name="T3" fmla="*/ 1109 h 22773"/>
                <a:gd name="T4" fmla="*/ 21600 w 43200"/>
                <a:gd name="T5" fmla="*/ 1173 h 22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773" fill="none" extrusionOk="0">
                  <a:moveTo>
                    <a:pt x="43168" y="-1"/>
                  </a:moveTo>
                  <a:cubicBezTo>
                    <a:pt x="43189" y="390"/>
                    <a:pt x="43200" y="781"/>
                    <a:pt x="43200" y="1173"/>
                  </a:cubicBezTo>
                  <a:cubicBezTo>
                    <a:pt x="43200" y="13102"/>
                    <a:pt x="33529" y="22773"/>
                    <a:pt x="21600" y="22773"/>
                  </a:cubicBezTo>
                  <a:cubicBezTo>
                    <a:pt x="9670" y="22773"/>
                    <a:pt x="0" y="13102"/>
                    <a:pt x="0" y="1173"/>
                  </a:cubicBezTo>
                  <a:cubicBezTo>
                    <a:pt x="0" y="1151"/>
                    <a:pt x="0" y="1130"/>
                    <a:pt x="0" y="1109"/>
                  </a:cubicBezTo>
                </a:path>
                <a:path w="43200" h="22773" stroke="0" extrusionOk="0">
                  <a:moveTo>
                    <a:pt x="43168" y="-1"/>
                  </a:moveTo>
                  <a:cubicBezTo>
                    <a:pt x="43189" y="390"/>
                    <a:pt x="43200" y="781"/>
                    <a:pt x="43200" y="1173"/>
                  </a:cubicBezTo>
                  <a:cubicBezTo>
                    <a:pt x="43200" y="13102"/>
                    <a:pt x="33529" y="22773"/>
                    <a:pt x="21600" y="22773"/>
                  </a:cubicBezTo>
                  <a:cubicBezTo>
                    <a:pt x="9670" y="22773"/>
                    <a:pt x="0" y="13102"/>
                    <a:pt x="0" y="1173"/>
                  </a:cubicBezTo>
                  <a:cubicBezTo>
                    <a:pt x="0" y="1151"/>
                    <a:pt x="0" y="1130"/>
                    <a:pt x="0" y="1109"/>
                  </a:cubicBezTo>
                  <a:lnTo>
                    <a:pt x="21600" y="1173"/>
                  </a:lnTo>
                  <a:close/>
                </a:path>
              </a:pathLst>
            </a:cu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5000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rc 81">
              <a:extLst>
                <a:ext uri="{FF2B5EF4-FFF2-40B4-BE49-F238E27FC236}">
                  <a16:creationId xmlns:a16="http://schemas.microsoft.com/office/drawing/2014/main" id="{FF0F6893-FCAE-4B73-A3D8-20E2E557186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962" y="2736"/>
              <a:ext cx="643" cy="171"/>
            </a:xfrm>
            <a:custGeom>
              <a:avLst/>
              <a:gdLst>
                <a:gd name="G0" fmla="+- 21600 0 0"/>
                <a:gd name="G1" fmla="+- 2394 0 0"/>
                <a:gd name="G2" fmla="+- 21600 0 0"/>
                <a:gd name="T0" fmla="*/ 43019 w 43019"/>
                <a:gd name="T1" fmla="*/ 5184 h 23994"/>
                <a:gd name="T2" fmla="*/ 133 w 43019"/>
                <a:gd name="T3" fmla="*/ 0 h 23994"/>
                <a:gd name="T4" fmla="*/ 21600 w 43019"/>
                <a:gd name="T5" fmla="*/ 2394 h 23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019" h="23994" fill="none" extrusionOk="0">
                  <a:moveTo>
                    <a:pt x="43019" y="5184"/>
                  </a:moveTo>
                  <a:cubicBezTo>
                    <a:pt x="41617" y="15943"/>
                    <a:pt x="32450" y="23993"/>
                    <a:pt x="21600" y="23993"/>
                  </a:cubicBezTo>
                  <a:cubicBezTo>
                    <a:pt x="9670" y="23994"/>
                    <a:pt x="0" y="14323"/>
                    <a:pt x="0" y="2394"/>
                  </a:cubicBezTo>
                  <a:cubicBezTo>
                    <a:pt x="0" y="1594"/>
                    <a:pt x="44" y="794"/>
                    <a:pt x="133" y="0"/>
                  </a:cubicBezTo>
                </a:path>
                <a:path w="43019" h="23994" stroke="0" extrusionOk="0">
                  <a:moveTo>
                    <a:pt x="43019" y="5184"/>
                  </a:moveTo>
                  <a:cubicBezTo>
                    <a:pt x="41617" y="15943"/>
                    <a:pt x="32450" y="23993"/>
                    <a:pt x="21600" y="23993"/>
                  </a:cubicBezTo>
                  <a:cubicBezTo>
                    <a:pt x="9670" y="23994"/>
                    <a:pt x="0" y="14323"/>
                    <a:pt x="0" y="2394"/>
                  </a:cubicBezTo>
                  <a:cubicBezTo>
                    <a:pt x="0" y="1594"/>
                    <a:pt x="44" y="794"/>
                    <a:pt x="133" y="0"/>
                  </a:cubicBezTo>
                  <a:lnTo>
                    <a:pt x="21600" y="2394"/>
                  </a:lnTo>
                  <a:close/>
                </a:path>
              </a:pathLst>
            </a:cu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5000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79D45418-F69A-4EA5-9EEF-696E9884F9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0180">
              <a:off x="3960" y="2240"/>
              <a:ext cx="647" cy="309"/>
            </a:xfrm>
            <a:prstGeom prst="ellipse">
              <a:avLst/>
            </a:prstGeom>
            <a:gradFill rotWithShape="0">
              <a:gsLst>
                <a:gs pos="0">
                  <a:srgbClr val="008000">
                    <a:gamma/>
                    <a:shade val="46275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4803208-5946-482B-A2C9-EDB605348F2C}"/>
              </a:ext>
            </a:extLst>
          </p:cNvPr>
          <p:cNvSpPr>
            <a:spLocks noChangeArrowheads="1"/>
          </p:cNvSpPr>
          <p:nvPr/>
        </p:nvSpPr>
        <p:spPr bwMode="auto">
          <a:xfrm rot="130180">
            <a:off x="9318626" y="2461215"/>
            <a:ext cx="1027113" cy="490537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89">
            <a:extLst>
              <a:ext uri="{FF2B5EF4-FFF2-40B4-BE49-F238E27FC236}">
                <a16:creationId xmlns:a16="http://schemas.microsoft.com/office/drawing/2014/main" id="{7E4B43CC-79C2-4A42-9203-C9CE10103B8A}"/>
              </a:ext>
            </a:extLst>
          </p:cNvPr>
          <p:cNvGrpSpPr>
            <a:grpSpLocks/>
          </p:cNvGrpSpPr>
          <p:nvPr/>
        </p:nvGrpSpPr>
        <p:grpSpPr bwMode="auto">
          <a:xfrm>
            <a:off x="8561388" y="443501"/>
            <a:ext cx="3287712" cy="3130550"/>
            <a:chOff x="3489" y="376"/>
            <a:chExt cx="2071" cy="1972"/>
          </a:xfrm>
        </p:grpSpPr>
        <p:grpSp>
          <p:nvGrpSpPr>
            <p:cNvPr id="15" name="Group 78">
              <a:extLst>
                <a:ext uri="{FF2B5EF4-FFF2-40B4-BE49-F238E27FC236}">
                  <a16:creationId xmlns:a16="http://schemas.microsoft.com/office/drawing/2014/main" id="{5C08D237-EECA-45E7-9506-7E2590994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9" y="376"/>
              <a:ext cx="2071" cy="1972"/>
              <a:chOff x="3489" y="376"/>
              <a:chExt cx="2071" cy="1972"/>
            </a:xfrm>
          </p:grpSpPr>
          <p:grpSp>
            <p:nvGrpSpPr>
              <p:cNvPr id="17" name="Group 73">
                <a:extLst>
                  <a:ext uri="{FF2B5EF4-FFF2-40B4-BE49-F238E27FC236}">
                    <a16:creationId xmlns:a16="http://schemas.microsoft.com/office/drawing/2014/main" id="{0F429DF2-4BA5-4BE6-BF4B-25586DA77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2" y="1345"/>
                <a:ext cx="1726" cy="615"/>
                <a:chOff x="2640" y="2773"/>
                <a:chExt cx="1920" cy="684"/>
              </a:xfrm>
            </p:grpSpPr>
            <p:sp>
              <p:nvSpPr>
                <p:cNvPr id="29" name="Arc 71">
                  <a:extLst>
                    <a:ext uri="{FF2B5EF4-FFF2-40B4-BE49-F238E27FC236}">
                      <a16:creationId xmlns:a16="http://schemas.microsoft.com/office/drawing/2014/main" id="{A0191ACB-F7A4-471B-A37B-F96DC80C68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1" y="3110"/>
                  <a:ext cx="1919" cy="347"/>
                </a:xfrm>
                <a:custGeom>
                  <a:avLst/>
                  <a:gdLst>
                    <a:gd name="G0" fmla="+- 21600 0 0"/>
                    <a:gd name="G1" fmla="+- 749 0 0"/>
                    <a:gd name="G2" fmla="+- 21600 0 0"/>
                    <a:gd name="T0" fmla="*/ 43170 w 43170"/>
                    <a:gd name="T1" fmla="*/ 1884 h 22349"/>
                    <a:gd name="T2" fmla="*/ 13 w 43170"/>
                    <a:gd name="T3" fmla="*/ 0 h 22349"/>
                    <a:gd name="T4" fmla="*/ 21600 w 43170"/>
                    <a:gd name="T5" fmla="*/ 749 h 22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70" h="22349" fill="none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</a:path>
                    <a:path w="43170" h="22349" stroke="0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  <a:lnTo>
                        <a:pt x="21600" y="749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Arc 72">
                  <a:extLst>
                    <a:ext uri="{FF2B5EF4-FFF2-40B4-BE49-F238E27FC236}">
                      <a16:creationId xmlns:a16="http://schemas.microsoft.com/office/drawing/2014/main" id="{BDEBAF5A-C156-494F-898C-1D380AF76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640" y="2773"/>
                  <a:ext cx="1919" cy="347"/>
                </a:xfrm>
                <a:custGeom>
                  <a:avLst/>
                  <a:gdLst>
                    <a:gd name="G0" fmla="+- 21600 0 0"/>
                    <a:gd name="G1" fmla="+- 749 0 0"/>
                    <a:gd name="G2" fmla="+- 21600 0 0"/>
                    <a:gd name="T0" fmla="*/ 43170 w 43170"/>
                    <a:gd name="T1" fmla="*/ 1884 h 22349"/>
                    <a:gd name="T2" fmla="*/ 13 w 43170"/>
                    <a:gd name="T3" fmla="*/ 0 h 22349"/>
                    <a:gd name="T4" fmla="*/ 21600 w 43170"/>
                    <a:gd name="T5" fmla="*/ 749 h 22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70" h="22349" fill="none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</a:path>
                    <a:path w="43170" h="22349" stroke="0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  <a:lnTo>
                        <a:pt x="21600" y="749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Arc 15">
                <a:extLst>
                  <a:ext uri="{FF2B5EF4-FFF2-40B4-BE49-F238E27FC236}">
                    <a16:creationId xmlns:a16="http://schemas.microsoft.com/office/drawing/2014/main" id="{DC05F1D3-CB8C-4789-BB0E-B4A40C1E7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709"/>
                <a:ext cx="1726" cy="971"/>
              </a:xfrm>
              <a:custGeom>
                <a:avLst/>
                <a:gdLst>
                  <a:gd name="G0" fmla="+- 21599 0 0"/>
                  <a:gd name="G1" fmla="+- 21600 0 0"/>
                  <a:gd name="G2" fmla="+- 21600 0 0"/>
                  <a:gd name="T0" fmla="*/ 0 w 43199"/>
                  <a:gd name="T1" fmla="*/ 21384 h 22091"/>
                  <a:gd name="T2" fmla="*/ 43193 w 43199"/>
                  <a:gd name="T3" fmla="*/ 22091 h 22091"/>
                  <a:gd name="T4" fmla="*/ 21599 w 43199"/>
                  <a:gd name="T5" fmla="*/ 21600 h 220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9" h="22091" fill="none" extrusionOk="0">
                    <a:moveTo>
                      <a:pt x="0" y="21384"/>
                    </a:moveTo>
                    <a:cubicBezTo>
                      <a:pt x="118" y="9539"/>
                      <a:pt x="9753" y="0"/>
                      <a:pt x="21599" y="0"/>
                    </a:cubicBezTo>
                    <a:cubicBezTo>
                      <a:pt x="33528" y="0"/>
                      <a:pt x="43199" y="9670"/>
                      <a:pt x="43199" y="21600"/>
                    </a:cubicBezTo>
                    <a:cubicBezTo>
                      <a:pt x="43199" y="21763"/>
                      <a:pt x="43197" y="21927"/>
                      <a:pt x="43193" y="22091"/>
                    </a:cubicBezTo>
                  </a:path>
                  <a:path w="43199" h="22091" stroke="0" extrusionOk="0">
                    <a:moveTo>
                      <a:pt x="0" y="21384"/>
                    </a:moveTo>
                    <a:cubicBezTo>
                      <a:pt x="118" y="9539"/>
                      <a:pt x="9753" y="0"/>
                      <a:pt x="21599" y="0"/>
                    </a:cubicBezTo>
                    <a:cubicBezTo>
                      <a:pt x="33528" y="0"/>
                      <a:pt x="43199" y="9670"/>
                      <a:pt x="43199" y="21600"/>
                    </a:cubicBezTo>
                    <a:cubicBezTo>
                      <a:pt x="43199" y="21763"/>
                      <a:pt x="43197" y="21927"/>
                      <a:pt x="43193" y="22091"/>
                    </a:cubicBezTo>
                    <a:lnTo>
                      <a:pt x="21599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7">
                <a:extLst>
                  <a:ext uri="{FF2B5EF4-FFF2-40B4-BE49-F238E27FC236}">
                    <a16:creationId xmlns:a16="http://schemas.microsoft.com/office/drawing/2014/main" id="{43D7A0CC-24BD-47A6-A2A9-73CB16C3DE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8" y="1647"/>
                <a:ext cx="3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25B315B2-AF06-4782-9397-9F2C61188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5" y="432"/>
                <a:ext cx="0" cy="4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1187B26E-1569-4A40-A426-BB8B77914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9" y="1647"/>
                <a:ext cx="17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4">
                <a:extLst>
                  <a:ext uri="{FF2B5EF4-FFF2-40B4-BE49-F238E27FC236}">
                    <a16:creationId xmlns:a16="http://schemas.microsoft.com/office/drawing/2014/main" id="{CB8C2ADC-3C1D-4ADC-83A0-10290CBD1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2" y="1647"/>
                <a:ext cx="130" cy="3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5">
                <a:extLst>
                  <a:ext uri="{FF2B5EF4-FFF2-40B4-BE49-F238E27FC236}">
                    <a16:creationId xmlns:a16="http://schemas.microsoft.com/office/drawing/2014/main" id="{8DC09EC6-2E3E-427B-880D-51DE3D1BB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96" y="1949"/>
                <a:ext cx="129" cy="2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bject 18">
                    <a:extLst>
                      <a:ext uri="{FF2B5EF4-FFF2-40B4-BE49-F238E27FC236}">
                        <a16:creationId xmlns:a16="http://schemas.microsoft.com/office/drawing/2014/main" id="{C1615B9B-9C94-4242-9848-344EFD42085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392" y="1646"/>
                    <a:ext cx="168" cy="2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3682" name="Object 18">
                    <a:extLst>
                      <a:ext uri="{FF2B5EF4-FFF2-40B4-BE49-F238E27FC236}">
                        <a16:creationId xmlns:a16="http://schemas.microsoft.com/office/drawing/2014/main" id="{C1615B9B-9C94-4242-9848-344EFD4208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392" y="1646"/>
                    <a:ext cx="168" cy="23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182" b="-645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bject 19">
                    <a:extLst>
                      <a:ext uri="{FF2B5EF4-FFF2-40B4-BE49-F238E27FC236}">
                        <a16:creationId xmlns:a16="http://schemas.microsoft.com/office/drawing/2014/main" id="{BC818ADD-89BE-4741-B8DE-32CD9AABA55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23" y="2056"/>
                    <a:ext cx="327" cy="2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b="1" i="1" kern="0" dirty="0">
                      <a:solidFill>
                        <a:srgbClr val="67666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3683" name="Object 19">
                    <a:extLst>
                      <a:ext uri="{FF2B5EF4-FFF2-40B4-BE49-F238E27FC236}">
                        <a16:creationId xmlns:a16="http://schemas.microsoft.com/office/drawing/2014/main" id="{BC818ADD-89BE-4741-B8DE-32CD9AABA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23" y="2056"/>
                    <a:ext cx="327" cy="29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Object 20">
                    <a:extLst>
                      <a:ext uri="{FF2B5EF4-FFF2-40B4-BE49-F238E27FC236}">
                        <a16:creationId xmlns:a16="http://schemas.microsoft.com/office/drawing/2014/main" id="{4F2C5E74-6FFC-4BDE-B233-73B85666F4C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58" y="376"/>
                    <a:ext cx="308" cy="24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3684" name="Object 20">
                    <a:extLst>
                      <a:ext uri="{FF2B5EF4-FFF2-40B4-BE49-F238E27FC236}">
                        <a16:creationId xmlns:a16="http://schemas.microsoft.com/office/drawing/2014/main" id="{4F2C5E74-6FFC-4BDE-B233-73B85666F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58" y="376"/>
                    <a:ext cx="308" cy="24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Object 67">
                    <a:extLst>
                      <a:ext uri="{FF2B5EF4-FFF2-40B4-BE49-F238E27FC236}">
                        <a16:creationId xmlns:a16="http://schemas.microsoft.com/office/drawing/2014/main" id="{599EAD92-8614-47F7-9653-7EB6A8A9A9C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165" y="1657"/>
                    <a:ext cx="163" cy="2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oMath>
                      </m:oMathPara>
                    </a14:m>
                    <a:endParaRPr lang="zh-CN" altLang="en-US" b="1" i="1" kern="0" dirty="0">
                      <a:solidFill>
                        <a:srgbClr val="676661"/>
                      </a:solidFill>
                      <a:latin typeface="Cambria Math" panose="02040503050406030204" pitchFamily="18" charset="0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3731" name="Object 67">
                    <a:extLst>
                      <a:ext uri="{FF2B5EF4-FFF2-40B4-BE49-F238E27FC236}">
                        <a16:creationId xmlns:a16="http://schemas.microsoft.com/office/drawing/2014/main" id="{599EAD92-8614-47F7-9653-7EB6A8A9A9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165" y="1657"/>
                    <a:ext cx="163" cy="2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Line 23">
                <a:extLst>
                  <a:ext uri="{FF2B5EF4-FFF2-40B4-BE49-F238E27FC236}">
                    <a16:creationId xmlns:a16="http://schemas.microsoft.com/office/drawing/2014/main" id="{0C5A30F5-DC84-4BE4-AB4B-3D700F1D1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5" y="870"/>
                <a:ext cx="0" cy="7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88">
                  <a:extLst>
                    <a:ext uri="{FF2B5EF4-FFF2-40B4-BE49-F238E27FC236}">
                      <a16:creationId xmlns:a16="http://schemas.microsoft.com/office/drawing/2014/main" id="{22F4DE86-C94E-4AC9-8B1A-7E74ACB22B42}"/>
                    </a:ext>
                  </a:extLst>
                </p:cNvPr>
                <p:cNvSpPr txBox="1"/>
                <p:nvPr/>
              </p:nvSpPr>
              <p:spPr bwMode="auto">
                <a:xfrm>
                  <a:off x="4174" y="1450"/>
                  <a:ext cx="230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113752" name="Object 88">
                  <a:extLst>
                    <a:ext uri="{FF2B5EF4-FFF2-40B4-BE49-F238E27FC236}">
                      <a16:creationId xmlns:a16="http://schemas.microsoft.com/office/drawing/2014/main" id="{22F4DE86-C94E-4AC9-8B1A-7E74ACB22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4" y="1450"/>
                  <a:ext cx="230" cy="24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215">
            <a:extLst>
              <a:ext uri="{FF2B5EF4-FFF2-40B4-BE49-F238E27FC236}">
                <a16:creationId xmlns:a16="http://schemas.microsoft.com/office/drawing/2014/main" id="{D5A130CA-1678-4EAB-B3B2-43DC5A8093F6}"/>
              </a:ext>
            </a:extLst>
          </p:cNvPr>
          <p:cNvGrpSpPr>
            <a:grpSpLocks/>
          </p:cNvGrpSpPr>
          <p:nvPr/>
        </p:nvGrpSpPr>
        <p:grpSpPr bwMode="auto">
          <a:xfrm>
            <a:off x="9312276" y="982872"/>
            <a:ext cx="1057275" cy="1987929"/>
            <a:chOff x="3962" y="841"/>
            <a:chExt cx="666" cy="1127"/>
          </a:xfrm>
        </p:grpSpPr>
        <p:sp>
          <p:nvSpPr>
            <p:cNvPr id="32" name="Line 201">
              <a:extLst>
                <a:ext uri="{FF2B5EF4-FFF2-40B4-BE49-F238E27FC236}">
                  <a16:creationId xmlns:a16="http://schemas.microsoft.com/office/drawing/2014/main" id="{0672074C-96D3-426F-9030-F29AD7A29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6" y="1334"/>
              <a:ext cx="0" cy="43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02">
              <a:extLst>
                <a:ext uri="{FF2B5EF4-FFF2-40B4-BE49-F238E27FC236}">
                  <a16:creationId xmlns:a16="http://schemas.microsoft.com/office/drawing/2014/main" id="{BF881FFD-A428-4A37-8C05-68D40E799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1218"/>
              <a:ext cx="0" cy="58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" name="Group 210">
              <a:extLst>
                <a:ext uri="{FF2B5EF4-FFF2-40B4-BE49-F238E27FC236}">
                  <a16:creationId xmlns:a16="http://schemas.microsoft.com/office/drawing/2014/main" id="{36011EA7-1AF7-4DA0-AA42-D91A23FC39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841"/>
              <a:ext cx="666" cy="1127"/>
              <a:chOff x="3962" y="841"/>
              <a:chExt cx="650" cy="1127"/>
            </a:xfrm>
          </p:grpSpPr>
          <p:sp>
            <p:nvSpPr>
              <p:cNvPr id="35" name="Arc 203">
                <a:extLst>
                  <a:ext uri="{FF2B5EF4-FFF2-40B4-BE49-F238E27FC236}">
                    <a16:creationId xmlns:a16="http://schemas.microsoft.com/office/drawing/2014/main" id="{005AB549-242C-4438-9B78-12353D7FF340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4014" y="841"/>
                <a:ext cx="598" cy="53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5 w 42231"/>
                  <a:gd name="T1" fmla="*/ 22989 h 22989"/>
                  <a:gd name="T2" fmla="*/ 42231 w 42231"/>
                  <a:gd name="T3" fmla="*/ 15203 h 22989"/>
                  <a:gd name="T4" fmla="*/ 21600 w 42231"/>
                  <a:gd name="T5" fmla="*/ 21600 h 22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231" h="22989" fill="none" extrusionOk="0">
                    <a:moveTo>
                      <a:pt x="44" y="22989"/>
                    </a:moveTo>
                    <a:cubicBezTo>
                      <a:pt x="14" y="22526"/>
                      <a:pt x="0" y="2206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065" y="0"/>
                      <a:pt x="39427" y="6162"/>
                      <a:pt x="42231" y="15202"/>
                    </a:cubicBezTo>
                  </a:path>
                  <a:path w="42231" h="22989" stroke="0" extrusionOk="0">
                    <a:moveTo>
                      <a:pt x="44" y="22989"/>
                    </a:moveTo>
                    <a:cubicBezTo>
                      <a:pt x="14" y="22526"/>
                      <a:pt x="0" y="2206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065" y="0"/>
                      <a:pt x="39427" y="6162"/>
                      <a:pt x="42231" y="1520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Freeform 205">
                <a:extLst>
                  <a:ext uri="{FF2B5EF4-FFF2-40B4-BE49-F238E27FC236}">
                    <a16:creationId xmlns:a16="http://schemas.microsoft.com/office/drawing/2014/main" id="{9267B1E3-F1D2-4074-B923-0A3E6BAA5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200"/>
                <a:ext cx="363" cy="768"/>
              </a:xfrm>
              <a:custGeom>
                <a:avLst/>
                <a:gdLst>
                  <a:gd name="T0" fmla="*/ 384 w 384"/>
                  <a:gd name="T1" fmla="*/ 0 h 768"/>
                  <a:gd name="T2" fmla="*/ 288 w 384"/>
                  <a:gd name="T3" fmla="*/ 432 h 768"/>
                  <a:gd name="T4" fmla="*/ 0 w 384"/>
                  <a:gd name="T5" fmla="*/ 768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768">
                    <a:moveTo>
                      <a:pt x="384" y="0"/>
                    </a:moveTo>
                    <a:cubicBezTo>
                      <a:pt x="368" y="152"/>
                      <a:pt x="352" y="304"/>
                      <a:pt x="288" y="432"/>
                    </a:cubicBezTo>
                    <a:cubicBezTo>
                      <a:pt x="224" y="560"/>
                      <a:pt x="112" y="664"/>
                      <a:pt x="0" y="768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207">
                <a:extLst>
                  <a:ext uri="{FF2B5EF4-FFF2-40B4-BE49-F238E27FC236}">
                    <a16:creationId xmlns:a16="http://schemas.microsoft.com/office/drawing/2014/main" id="{B6632D70-7BFF-4ACB-B0DB-D19FE2C9C4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1382"/>
                <a:ext cx="254" cy="576"/>
              </a:xfrm>
              <a:custGeom>
                <a:avLst/>
                <a:gdLst>
                  <a:gd name="T0" fmla="*/ 288 w 288"/>
                  <a:gd name="T1" fmla="*/ 576 h 576"/>
                  <a:gd name="T2" fmla="*/ 48 w 288"/>
                  <a:gd name="T3" fmla="*/ 240 h 576"/>
                  <a:gd name="T4" fmla="*/ 0 w 28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576">
                    <a:moveTo>
                      <a:pt x="288" y="576"/>
                    </a:moveTo>
                    <a:cubicBezTo>
                      <a:pt x="192" y="456"/>
                      <a:pt x="96" y="336"/>
                      <a:pt x="48" y="240"/>
                    </a:cubicBezTo>
                    <a:cubicBezTo>
                      <a:pt x="0" y="144"/>
                      <a:pt x="8" y="4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B9327AC-47C9-4FFD-B802-B6AFB646C41B}"/>
                  </a:ext>
                </a:extLst>
              </p:cNvPr>
              <p:cNvSpPr/>
              <p:nvPr/>
            </p:nvSpPr>
            <p:spPr>
              <a:xfrm>
                <a:off x="885825" y="5885861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d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B9327AC-47C9-4FFD-B802-B6AFB646C4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5885861"/>
                <a:ext cx="10730306" cy="677814"/>
              </a:xfrm>
              <a:prstGeom prst="rect">
                <a:avLst/>
              </a:prstGeom>
              <a:blipFill>
                <a:blip r:embed="rId11"/>
                <a:stretch>
                  <a:fillRect l="-1420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90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3" y="678072"/>
                <a:ext cx="7176104" cy="1979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被柱面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所截得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部分的曲面面积（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3200" b="1" kern="0" dirty="0" err="1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ViViani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曲面）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678072"/>
                <a:ext cx="7176104" cy="1979453"/>
              </a:xfrm>
              <a:prstGeom prst="rect">
                <a:avLst/>
              </a:prstGeom>
              <a:blipFill>
                <a:blip r:embed="rId2"/>
                <a:stretch>
                  <a:fillRect l="-2209" t="-615" r="-935"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85825" y="5885861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d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5885861"/>
                <a:ext cx="10730306" cy="677814"/>
              </a:xfrm>
              <a:prstGeom prst="rect">
                <a:avLst/>
              </a:prstGeom>
              <a:blipFill>
                <a:blip r:embed="rId3"/>
                <a:stretch>
                  <a:fillRect l="-1420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85">
            <a:extLst>
              <a:ext uri="{FF2B5EF4-FFF2-40B4-BE49-F238E27FC236}">
                <a16:creationId xmlns:a16="http://schemas.microsoft.com/office/drawing/2014/main" id="{8409ABB6-7D16-42C2-93EE-A0013475FB74}"/>
              </a:ext>
            </a:extLst>
          </p:cNvPr>
          <p:cNvGrpSpPr>
            <a:grpSpLocks/>
          </p:cNvGrpSpPr>
          <p:nvPr/>
        </p:nvGrpSpPr>
        <p:grpSpPr bwMode="auto">
          <a:xfrm>
            <a:off x="9329738" y="1675402"/>
            <a:ext cx="1008062" cy="1274763"/>
            <a:chOff x="3960" y="2240"/>
            <a:chExt cx="648" cy="803"/>
          </a:xfrm>
        </p:grpSpPr>
        <p:sp>
          <p:nvSpPr>
            <p:cNvPr id="9" name="Rectangle 79">
              <a:extLst>
                <a:ext uri="{FF2B5EF4-FFF2-40B4-BE49-F238E27FC236}">
                  <a16:creationId xmlns:a16="http://schemas.microsoft.com/office/drawing/2014/main" id="{3C053F42-DAC2-4024-A1E2-9BE61122B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400"/>
              <a:ext cx="648" cy="506"/>
            </a:xfrm>
            <a:prstGeom prst="rect">
              <a:avLst/>
            </a:pr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5000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rc 80">
              <a:extLst>
                <a:ext uri="{FF2B5EF4-FFF2-40B4-BE49-F238E27FC236}">
                  <a16:creationId xmlns:a16="http://schemas.microsoft.com/office/drawing/2014/main" id="{523F8C71-F231-4664-93EE-3E90182EA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880"/>
              <a:ext cx="646" cy="163"/>
            </a:xfrm>
            <a:custGeom>
              <a:avLst/>
              <a:gdLst>
                <a:gd name="G0" fmla="+- 21600 0 0"/>
                <a:gd name="G1" fmla="+- 1173 0 0"/>
                <a:gd name="G2" fmla="+- 21600 0 0"/>
                <a:gd name="T0" fmla="*/ 43168 w 43200"/>
                <a:gd name="T1" fmla="*/ 0 h 22773"/>
                <a:gd name="T2" fmla="*/ 0 w 43200"/>
                <a:gd name="T3" fmla="*/ 1109 h 22773"/>
                <a:gd name="T4" fmla="*/ 21600 w 43200"/>
                <a:gd name="T5" fmla="*/ 1173 h 22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773" fill="none" extrusionOk="0">
                  <a:moveTo>
                    <a:pt x="43168" y="-1"/>
                  </a:moveTo>
                  <a:cubicBezTo>
                    <a:pt x="43189" y="390"/>
                    <a:pt x="43200" y="781"/>
                    <a:pt x="43200" y="1173"/>
                  </a:cubicBezTo>
                  <a:cubicBezTo>
                    <a:pt x="43200" y="13102"/>
                    <a:pt x="33529" y="22773"/>
                    <a:pt x="21600" y="22773"/>
                  </a:cubicBezTo>
                  <a:cubicBezTo>
                    <a:pt x="9670" y="22773"/>
                    <a:pt x="0" y="13102"/>
                    <a:pt x="0" y="1173"/>
                  </a:cubicBezTo>
                  <a:cubicBezTo>
                    <a:pt x="0" y="1151"/>
                    <a:pt x="0" y="1130"/>
                    <a:pt x="0" y="1109"/>
                  </a:cubicBezTo>
                </a:path>
                <a:path w="43200" h="22773" stroke="0" extrusionOk="0">
                  <a:moveTo>
                    <a:pt x="43168" y="-1"/>
                  </a:moveTo>
                  <a:cubicBezTo>
                    <a:pt x="43189" y="390"/>
                    <a:pt x="43200" y="781"/>
                    <a:pt x="43200" y="1173"/>
                  </a:cubicBezTo>
                  <a:cubicBezTo>
                    <a:pt x="43200" y="13102"/>
                    <a:pt x="33529" y="22773"/>
                    <a:pt x="21600" y="22773"/>
                  </a:cubicBezTo>
                  <a:cubicBezTo>
                    <a:pt x="9670" y="22773"/>
                    <a:pt x="0" y="13102"/>
                    <a:pt x="0" y="1173"/>
                  </a:cubicBezTo>
                  <a:cubicBezTo>
                    <a:pt x="0" y="1151"/>
                    <a:pt x="0" y="1130"/>
                    <a:pt x="0" y="1109"/>
                  </a:cubicBezTo>
                  <a:lnTo>
                    <a:pt x="21600" y="1173"/>
                  </a:lnTo>
                  <a:close/>
                </a:path>
              </a:pathLst>
            </a:cu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5000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rc 81">
              <a:extLst>
                <a:ext uri="{FF2B5EF4-FFF2-40B4-BE49-F238E27FC236}">
                  <a16:creationId xmlns:a16="http://schemas.microsoft.com/office/drawing/2014/main" id="{FF0F6893-FCAE-4B73-A3D8-20E2E557186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962" y="2736"/>
              <a:ext cx="643" cy="171"/>
            </a:xfrm>
            <a:custGeom>
              <a:avLst/>
              <a:gdLst>
                <a:gd name="G0" fmla="+- 21600 0 0"/>
                <a:gd name="G1" fmla="+- 2394 0 0"/>
                <a:gd name="G2" fmla="+- 21600 0 0"/>
                <a:gd name="T0" fmla="*/ 43019 w 43019"/>
                <a:gd name="T1" fmla="*/ 5184 h 23994"/>
                <a:gd name="T2" fmla="*/ 133 w 43019"/>
                <a:gd name="T3" fmla="*/ 0 h 23994"/>
                <a:gd name="T4" fmla="*/ 21600 w 43019"/>
                <a:gd name="T5" fmla="*/ 2394 h 23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019" h="23994" fill="none" extrusionOk="0">
                  <a:moveTo>
                    <a:pt x="43019" y="5184"/>
                  </a:moveTo>
                  <a:cubicBezTo>
                    <a:pt x="41617" y="15943"/>
                    <a:pt x="32450" y="23993"/>
                    <a:pt x="21600" y="23993"/>
                  </a:cubicBezTo>
                  <a:cubicBezTo>
                    <a:pt x="9670" y="23994"/>
                    <a:pt x="0" y="14323"/>
                    <a:pt x="0" y="2394"/>
                  </a:cubicBezTo>
                  <a:cubicBezTo>
                    <a:pt x="0" y="1594"/>
                    <a:pt x="44" y="794"/>
                    <a:pt x="133" y="0"/>
                  </a:cubicBezTo>
                </a:path>
                <a:path w="43019" h="23994" stroke="0" extrusionOk="0">
                  <a:moveTo>
                    <a:pt x="43019" y="5184"/>
                  </a:moveTo>
                  <a:cubicBezTo>
                    <a:pt x="41617" y="15943"/>
                    <a:pt x="32450" y="23993"/>
                    <a:pt x="21600" y="23993"/>
                  </a:cubicBezTo>
                  <a:cubicBezTo>
                    <a:pt x="9670" y="23994"/>
                    <a:pt x="0" y="14323"/>
                    <a:pt x="0" y="2394"/>
                  </a:cubicBezTo>
                  <a:cubicBezTo>
                    <a:pt x="0" y="1594"/>
                    <a:pt x="44" y="794"/>
                    <a:pt x="133" y="0"/>
                  </a:cubicBezTo>
                  <a:lnTo>
                    <a:pt x="21600" y="2394"/>
                  </a:lnTo>
                  <a:close/>
                </a:path>
              </a:pathLst>
            </a:cu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50000">
                  <a:srgbClr val="33CC33"/>
                </a:gs>
                <a:gs pos="100000">
                  <a:srgbClr val="33CC33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79D45418-F69A-4EA5-9EEF-696E9884F9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0180">
              <a:off x="3960" y="2240"/>
              <a:ext cx="647" cy="309"/>
            </a:xfrm>
            <a:prstGeom prst="ellipse">
              <a:avLst/>
            </a:prstGeom>
            <a:gradFill rotWithShape="0">
              <a:gsLst>
                <a:gs pos="0">
                  <a:srgbClr val="008000">
                    <a:gamma/>
                    <a:shade val="46275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4803208-5946-482B-A2C9-EDB605348F2C}"/>
              </a:ext>
            </a:extLst>
          </p:cNvPr>
          <p:cNvSpPr>
            <a:spLocks noChangeArrowheads="1"/>
          </p:cNvSpPr>
          <p:nvPr/>
        </p:nvSpPr>
        <p:spPr bwMode="auto">
          <a:xfrm rot="130180">
            <a:off x="9318626" y="2461215"/>
            <a:ext cx="1027113" cy="490537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89">
            <a:extLst>
              <a:ext uri="{FF2B5EF4-FFF2-40B4-BE49-F238E27FC236}">
                <a16:creationId xmlns:a16="http://schemas.microsoft.com/office/drawing/2014/main" id="{7E4B43CC-79C2-4A42-9203-C9CE10103B8A}"/>
              </a:ext>
            </a:extLst>
          </p:cNvPr>
          <p:cNvGrpSpPr>
            <a:grpSpLocks/>
          </p:cNvGrpSpPr>
          <p:nvPr/>
        </p:nvGrpSpPr>
        <p:grpSpPr bwMode="auto">
          <a:xfrm>
            <a:off x="8561388" y="443501"/>
            <a:ext cx="3287712" cy="3130550"/>
            <a:chOff x="3489" y="376"/>
            <a:chExt cx="2071" cy="1972"/>
          </a:xfrm>
        </p:grpSpPr>
        <p:grpSp>
          <p:nvGrpSpPr>
            <p:cNvPr id="15" name="Group 78">
              <a:extLst>
                <a:ext uri="{FF2B5EF4-FFF2-40B4-BE49-F238E27FC236}">
                  <a16:creationId xmlns:a16="http://schemas.microsoft.com/office/drawing/2014/main" id="{5C08D237-EECA-45E7-9506-7E2590994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9" y="376"/>
              <a:ext cx="2071" cy="1972"/>
              <a:chOff x="3489" y="376"/>
              <a:chExt cx="2071" cy="1972"/>
            </a:xfrm>
          </p:grpSpPr>
          <p:grpSp>
            <p:nvGrpSpPr>
              <p:cNvPr id="17" name="Group 73">
                <a:extLst>
                  <a:ext uri="{FF2B5EF4-FFF2-40B4-BE49-F238E27FC236}">
                    <a16:creationId xmlns:a16="http://schemas.microsoft.com/office/drawing/2014/main" id="{0F429DF2-4BA5-4BE6-BF4B-25586DA77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2" y="1345"/>
                <a:ext cx="1726" cy="615"/>
                <a:chOff x="2640" y="2773"/>
                <a:chExt cx="1920" cy="684"/>
              </a:xfrm>
            </p:grpSpPr>
            <p:sp>
              <p:nvSpPr>
                <p:cNvPr id="29" name="Arc 71">
                  <a:extLst>
                    <a:ext uri="{FF2B5EF4-FFF2-40B4-BE49-F238E27FC236}">
                      <a16:creationId xmlns:a16="http://schemas.microsoft.com/office/drawing/2014/main" id="{A0191ACB-F7A4-471B-A37B-F96DC80C68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1" y="3110"/>
                  <a:ext cx="1919" cy="347"/>
                </a:xfrm>
                <a:custGeom>
                  <a:avLst/>
                  <a:gdLst>
                    <a:gd name="G0" fmla="+- 21600 0 0"/>
                    <a:gd name="G1" fmla="+- 749 0 0"/>
                    <a:gd name="G2" fmla="+- 21600 0 0"/>
                    <a:gd name="T0" fmla="*/ 43170 w 43170"/>
                    <a:gd name="T1" fmla="*/ 1884 h 22349"/>
                    <a:gd name="T2" fmla="*/ 13 w 43170"/>
                    <a:gd name="T3" fmla="*/ 0 h 22349"/>
                    <a:gd name="T4" fmla="*/ 21600 w 43170"/>
                    <a:gd name="T5" fmla="*/ 749 h 22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70" h="22349" fill="none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</a:path>
                    <a:path w="43170" h="22349" stroke="0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  <a:lnTo>
                        <a:pt x="21600" y="749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Arc 72">
                  <a:extLst>
                    <a:ext uri="{FF2B5EF4-FFF2-40B4-BE49-F238E27FC236}">
                      <a16:creationId xmlns:a16="http://schemas.microsoft.com/office/drawing/2014/main" id="{BDEBAF5A-C156-494F-898C-1D380AF76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640" y="2773"/>
                  <a:ext cx="1919" cy="347"/>
                </a:xfrm>
                <a:custGeom>
                  <a:avLst/>
                  <a:gdLst>
                    <a:gd name="G0" fmla="+- 21600 0 0"/>
                    <a:gd name="G1" fmla="+- 749 0 0"/>
                    <a:gd name="G2" fmla="+- 21600 0 0"/>
                    <a:gd name="T0" fmla="*/ 43170 w 43170"/>
                    <a:gd name="T1" fmla="*/ 1884 h 22349"/>
                    <a:gd name="T2" fmla="*/ 13 w 43170"/>
                    <a:gd name="T3" fmla="*/ 0 h 22349"/>
                    <a:gd name="T4" fmla="*/ 21600 w 43170"/>
                    <a:gd name="T5" fmla="*/ 749 h 22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70" h="22349" fill="none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</a:path>
                    <a:path w="43170" h="22349" stroke="0" extrusionOk="0">
                      <a:moveTo>
                        <a:pt x="43170" y="1884"/>
                      </a:moveTo>
                      <a:cubicBezTo>
                        <a:pt x="42566" y="13356"/>
                        <a:pt x="33088" y="22348"/>
                        <a:pt x="21600" y="22348"/>
                      </a:cubicBezTo>
                      <a:cubicBezTo>
                        <a:pt x="9670" y="22349"/>
                        <a:pt x="0" y="12678"/>
                        <a:pt x="0" y="749"/>
                      </a:cubicBezTo>
                      <a:cubicBezTo>
                        <a:pt x="0" y="499"/>
                        <a:pt x="4" y="249"/>
                        <a:pt x="12" y="-1"/>
                      </a:cubicBezTo>
                      <a:lnTo>
                        <a:pt x="21600" y="749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Arc 15">
                <a:extLst>
                  <a:ext uri="{FF2B5EF4-FFF2-40B4-BE49-F238E27FC236}">
                    <a16:creationId xmlns:a16="http://schemas.microsoft.com/office/drawing/2014/main" id="{DC05F1D3-CB8C-4789-BB0E-B4A40C1E7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3" y="709"/>
                <a:ext cx="1726" cy="971"/>
              </a:xfrm>
              <a:custGeom>
                <a:avLst/>
                <a:gdLst>
                  <a:gd name="G0" fmla="+- 21599 0 0"/>
                  <a:gd name="G1" fmla="+- 21600 0 0"/>
                  <a:gd name="G2" fmla="+- 21600 0 0"/>
                  <a:gd name="T0" fmla="*/ 0 w 43199"/>
                  <a:gd name="T1" fmla="*/ 21384 h 22091"/>
                  <a:gd name="T2" fmla="*/ 43193 w 43199"/>
                  <a:gd name="T3" fmla="*/ 22091 h 22091"/>
                  <a:gd name="T4" fmla="*/ 21599 w 43199"/>
                  <a:gd name="T5" fmla="*/ 21600 h 220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9" h="22091" fill="none" extrusionOk="0">
                    <a:moveTo>
                      <a:pt x="0" y="21384"/>
                    </a:moveTo>
                    <a:cubicBezTo>
                      <a:pt x="118" y="9539"/>
                      <a:pt x="9753" y="0"/>
                      <a:pt x="21599" y="0"/>
                    </a:cubicBezTo>
                    <a:cubicBezTo>
                      <a:pt x="33528" y="0"/>
                      <a:pt x="43199" y="9670"/>
                      <a:pt x="43199" y="21600"/>
                    </a:cubicBezTo>
                    <a:cubicBezTo>
                      <a:pt x="43199" y="21763"/>
                      <a:pt x="43197" y="21927"/>
                      <a:pt x="43193" y="22091"/>
                    </a:cubicBezTo>
                  </a:path>
                  <a:path w="43199" h="22091" stroke="0" extrusionOk="0">
                    <a:moveTo>
                      <a:pt x="0" y="21384"/>
                    </a:moveTo>
                    <a:cubicBezTo>
                      <a:pt x="118" y="9539"/>
                      <a:pt x="9753" y="0"/>
                      <a:pt x="21599" y="0"/>
                    </a:cubicBezTo>
                    <a:cubicBezTo>
                      <a:pt x="33528" y="0"/>
                      <a:pt x="43199" y="9670"/>
                      <a:pt x="43199" y="21600"/>
                    </a:cubicBezTo>
                    <a:cubicBezTo>
                      <a:pt x="43199" y="21763"/>
                      <a:pt x="43197" y="21927"/>
                      <a:pt x="43193" y="22091"/>
                    </a:cubicBezTo>
                    <a:lnTo>
                      <a:pt x="21599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7">
                <a:extLst>
                  <a:ext uri="{FF2B5EF4-FFF2-40B4-BE49-F238E27FC236}">
                    <a16:creationId xmlns:a16="http://schemas.microsoft.com/office/drawing/2014/main" id="{43D7A0CC-24BD-47A6-A2A9-73CB16C3DE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8" y="1647"/>
                <a:ext cx="3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25B315B2-AF06-4782-9397-9F2C61188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5" y="432"/>
                <a:ext cx="0" cy="4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1187B26E-1569-4A40-A426-BB8B77914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9" y="1647"/>
                <a:ext cx="17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4">
                <a:extLst>
                  <a:ext uri="{FF2B5EF4-FFF2-40B4-BE49-F238E27FC236}">
                    <a16:creationId xmlns:a16="http://schemas.microsoft.com/office/drawing/2014/main" id="{CB8C2ADC-3C1D-4ADC-83A0-10290CBD1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2" y="1647"/>
                <a:ext cx="130" cy="3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5">
                <a:extLst>
                  <a:ext uri="{FF2B5EF4-FFF2-40B4-BE49-F238E27FC236}">
                    <a16:creationId xmlns:a16="http://schemas.microsoft.com/office/drawing/2014/main" id="{8DC09EC6-2E3E-427B-880D-51DE3D1BB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96" y="1949"/>
                <a:ext cx="129" cy="2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bject 18">
                    <a:extLst>
                      <a:ext uri="{FF2B5EF4-FFF2-40B4-BE49-F238E27FC236}">
                        <a16:creationId xmlns:a16="http://schemas.microsoft.com/office/drawing/2014/main" id="{C1615B9B-9C94-4242-9848-344EFD42085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392" y="1646"/>
                    <a:ext cx="168" cy="2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3682" name="Object 18">
                    <a:extLst>
                      <a:ext uri="{FF2B5EF4-FFF2-40B4-BE49-F238E27FC236}">
                        <a16:creationId xmlns:a16="http://schemas.microsoft.com/office/drawing/2014/main" id="{C1615B9B-9C94-4242-9848-344EFD4208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392" y="1646"/>
                    <a:ext cx="168" cy="23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182" b="-6452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bject 19">
                    <a:extLst>
                      <a:ext uri="{FF2B5EF4-FFF2-40B4-BE49-F238E27FC236}">
                        <a16:creationId xmlns:a16="http://schemas.microsoft.com/office/drawing/2014/main" id="{BC818ADD-89BE-4741-B8DE-32CD9AABA55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23" y="2056"/>
                    <a:ext cx="327" cy="2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</m:oMath>
                      </m:oMathPara>
                    </a14:m>
                    <a:endParaRPr lang="zh-CN" altLang="en-US" b="1" i="1" kern="0" dirty="0">
                      <a:solidFill>
                        <a:srgbClr val="67666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3683" name="Object 19">
                    <a:extLst>
                      <a:ext uri="{FF2B5EF4-FFF2-40B4-BE49-F238E27FC236}">
                        <a16:creationId xmlns:a16="http://schemas.microsoft.com/office/drawing/2014/main" id="{BC818ADD-89BE-4741-B8DE-32CD9AABA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23" y="2056"/>
                    <a:ext cx="327" cy="29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Object 20">
                    <a:extLst>
                      <a:ext uri="{FF2B5EF4-FFF2-40B4-BE49-F238E27FC236}">
                        <a16:creationId xmlns:a16="http://schemas.microsoft.com/office/drawing/2014/main" id="{4F2C5E74-6FFC-4BDE-B233-73B85666F4C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158" y="376"/>
                    <a:ext cx="308" cy="24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3684" name="Object 20">
                    <a:extLst>
                      <a:ext uri="{FF2B5EF4-FFF2-40B4-BE49-F238E27FC236}">
                        <a16:creationId xmlns:a16="http://schemas.microsoft.com/office/drawing/2014/main" id="{4F2C5E74-6FFC-4BDE-B233-73B85666F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58" y="376"/>
                    <a:ext cx="308" cy="24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Object 67">
                    <a:extLst>
                      <a:ext uri="{FF2B5EF4-FFF2-40B4-BE49-F238E27FC236}">
                        <a16:creationId xmlns:a16="http://schemas.microsoft.com/office/drawing/2014/main" id="{599EAD92-8614-47F7-9653-7EB6A8A9A9C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165" y="1657"/>
                    <a:ext cx="163" cy="2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oMath>
                      </m:oMathPara>
                    </a14:m>
                    <a:endParaRPr lang="zh-CN" altLang="en-US" b="1" i="1" kern="0" dirty="0">
                      <a:solidFill>
                        <a:srgbClr val="676661"/>
                      </a:solidFill>
                      <a:latin typeface="Cambria Math" panose="02040503050406030204" pitchFamily="18" charset="0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3731" name="Object 67">
                    <a:extLst>
                      <a:ext uri="{FF2B5EF4-FFF2-40B4-BE49-F238E27FC236}">
                        <a16:creationId xmlns:a16="http://schemas.microsoft.com/office/drawing/2014/main" id="{599EAD92-8614-47F7-9653-7EB6A8A9A9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165" y="1657"/>
                    <a:ext cx="163" cy="2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Line 23">
                <a:extLst>
                  <a:ext uri="{FF2B5EF4-FFF2-40B4-BE49-F238E27FC236}">
                    <a16:creationId xmlns:a16="http://schemas.microsoft.com/office/drawing/2014/main" id="{0C5A30F5-DC84-4BE4-AB4B-3D700F1D10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5" y="870"/>
                <a:ext cx="0" cy="7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88">
                  <a:extLst>
                    <a:ext uri="{FF2B5EF4-FFF2-40B4-BE49-F238E27FC236}">
                      <a16:creationId xmlns:a16="http://schemas.microsoft.com/office/drawing/2014/main" id="{22F4DE86-C94E-4AC9-8B1A-7E74ACB22B42}"/>
                    </a:ext>
                  </a:extLst>
                </p:cNvPr>
                <p:cNvSpPr txBox="1"/>
                <p:nvPr/>
              </p:nvSpPr>
              <p:spPr bwMode="auto">
                <a:xfrm>
                  <a:off x="4174" y="1450"/>
                  <a:ext cx="230" cy="2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113752" name="Object 88">
                  <a:extLst>
                    <a:ext uri="{FF2B5EF4-FFF2-40B4-BE49-F238E27FC236}">
                      <a16:creationId xmlns:a16="http://schemas.microsoft.com/office/drawing/2014/main" id="{22F4DE86-C94E-4AC9-8B1A-7E74ACB22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4" y="1450"/>
                  <a:ext cx="230" cy="24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215">
            <a:extLst>
              <a:ext uri="{FF2B5EF4-FFF2-40B4-BE49-F238E27FC236}">
                <a16:creationId xmlns:a16="http://schemas.microsoft.com/office/drawing/2014/main" id="{D5A130CA-1678-4EAB-B3B2-43DC5A8093F6}"/>
              </a:ext>
            </a:extLst>
          </p:cNvPr>
          <p:cNvGrpSpPr>
            <a:grpSpLocks/>
          </p:cNvGrpSpPr>
          <p:nvPr/>
        </p:nvGrpSpPr>
        <p:grpSpPr bwMode="auto">
          <a:xfrm>
            <a:off x="9312276" y="982872"/>
            <a:ext cx="1057275" cy="1987929"/>
            <a:chOff x="3962" y="841"/>
            <a:chExt cx="666" cy="1127"/>
          </a:xfrm>
        </p:grpSpPr>
        <p:sp>
          <p:nvSpPr>
            <p:cNvPr id="32" name="Line 201">
              <a:extLst>
                <a:ext uri="{FF2B5EF4-FFF2-40B4-BE49-F238E27FC236}">
                  <a16:creationId xmlns:a16="http://schemas.microsoft.com/office/drawing/2014/main" id="{0672074C-96D3-426F-9030-F29AD7A29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6" y="1334"/>
              <a:ext cx="0" cy="43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02">
              <a:extLst>
                <a:ext uri="{FF2B5EF4-FFF2-40B4-BE49-F238E27FC236}">
                  <a16:creationId xmlns:a16="http://schemas.microsoft.com/office/drawing/2014/main" id="{BF881FFD-A428-4A37-8C05-68D40E799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1218"/>
              <a:ext cx="0" cy="58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" name="Group 210">
              <a:extLst>
                <a:ext uri="{FF2B5EF4-FFF2-40B4-BE49-F238E27FC236}">
                  <a16:creationId xmlns:a16="http://schemas.microsoft.com/office/drawing/2014/main" id="{36011EA7-1AF7-4DA0-AA42-D91A23FC39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841"/>
              <a:ext cx="666" cy="1127"/>
              <a:chOff x="3962" y="841"/>
              <a:chExt cx="650" cy="1127"/>
            </a:xfrm>
          </p:grpSpPr>
          <p:sp>
            <p:nvSpPr>
              <p:cNvPr id="35" name="Arc 203">
                <a:extLst>
                  <a:ext uri="{FF2B5EF4-FFF2-40B4-BE49-F238E27FC236}">
                    <a16:creationId xmlns:a16="http://schemas.microsoft.com/office/drawing/2014/main" id="{005AB549-242C-4438-9B78-12353D7FF340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000">
                <a:off x="4014" y="841"/>
                <a:ext cx="598" cy="53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45 w 42231"/>
                  <a:gd name="T1" fmla="*/ 22989 h 22989"/>
                  <a:gd name="T2" fmla="*/ 42231 w 42231"/>
                  <a:gd name="T3" fmla="*/ 15203 h 22989"/>
                  <a:gd name="T4" fmla="*/ 21600 w 42231"/>
                  <a:gd name="T5" fmla="*/ 21600 h 22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231" h="22989" fill="none" extrusionOk="0">
                    <a:moveTo>
                      <a:pt x="44" y="22989"/>
                    </a:moveTo>
                    <a:cubicBezTo>
                      <a:pt x="14" y="22526"/>
                      <a:pt x="0" y="2206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065" y="0"/>
                      <a:pt x="39427" y="6162"/>
                      <a:pt x="42231" y="15202"/>
                    </a:cubicBezTo>
                  </a:path>
                  <a:path w="42231" h="22989" stroke="0" extrusionOk="0">
                    <a:moveTo>
                      <a:pt x="44" y="22989"/>
                    </a:moveTo>
                    <a:cubicBezTo>
                      <a:pt x="14" y="22526"/>
                      <a:pt x="0" y="2206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065" y="0"/>
                      <a:pt x="39427" y="6162"/>
                      <a:pt x="42231" y="1520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Freeform 205">
                <a:extLst>
                  <a:ext uri="{FF2B5EF4-FFF2-40B4-BE49-F238E27FC236}">
                    <a16:creationId xmlns:a16="http://schemas.microsoft.com/office/drawing/2014/main" id="{9267B1E3-F1D2-4074-B923-0A3E6BAA5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200"/>
                <a:ext cx="363" cy="768"/>
              </a:xfrm>
              <a:custGeom>
                <a:avLst/>
                <a:gdLst>
                  <a:gd name="T0" fmla="*/ 384 w 384"/>
                  <a:gd name="T1" fmla="*/ 0 h 768"/>
                  <a:gd name="T2" fmla="*/ 288 w 384"/>
                  <a:gd name="T3" fmla="*/ 432 h 768"/>
                  <a:gd name="T4" fmla="*/ 0 w 384"/>
                  <a:gd name="T5" fmla="*/ 768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768">
                    <a:moveTo>
                      <a:pt x="384" y="0"/>
                    </a:moveTo>
                    <a:cubicBezTo>
                      <a:pt x="368" y="152"/>
                      <a:pt x="352" y="304"/>
                      <a:pt x="288" y="432"/>
                    </a:cubicBezTo>
                    <a:cubicBezTo>
                      <a:pt x="224" y="560"/>
                      <a:pt x="112" y="664"/>
                      <a:pt x="0" y="768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207">
                <a:extLst>
                  <a:ext uri="{FF2B5EF4-FFF2-40B4-BE49-F238E27FC236}">
                    <a16:creationId xmlns:a16="http://schemas.microsoft.com/office/drawing/2014/main" id="{B6632D70-7BFF-4ACB-B0DB-D19FE2C9C4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1382"/>
                <a:ext cx="254" cy="576"/>
              </a:xfrm>
              <a:custGeom>
                <a:avLst/>
                <a:gdLst>
                  <a:gd name="T0" fmla="*/ 288 w 288"/>
                  <a:gd name="T1" fmla="*/ 576 h 576"/>
                  <a:gd name="T2" fmla="*/ 48 w 288"/>
                  <a:gd name="T3" fmla="*/ 240 h 576"/>
                  <a:gd name="T4" fmla="*/ 0 w 288"/>
                  <a:gd name="T5" fmla="*/ 0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576">
                    <a:moveTo>
                      <a:pt x="288" y="576"/>
                    </a:moveTo>
                    <a:cubicBezTo>
                      <a:pt x="192" y="456"/>
                      <a:pt x="96" y="336"/>
                      <a:pt x="48" y="240"/>
                    </a:cubicBezTo>
                    <a:cubicBezTo>
                      <a:pt x="0" y="144"/>
                      <a:pt x="8" y="4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76B277A-935B-402B-B43B-67267F764510}"/>
                  </a:ext>
                </a:extLst>
              </p:cNvPr>
              <p:cNvSpPr/>
              <p:nvPr/>
            </p:nvSpPr>
            <p:spPr>
              <a:xfrm>
                <a:off x="877502" y="2661920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面上投影区域为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</a:t>
                </a:r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76B277A-935B-402B-B43B-67267F7645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661920"/>
                <a:ext cx="10730306" cy="677814"/>
              </a:xfrm>
              <a:prstGeom prst="rect">
                <a:avLst/>
              </a:prstGeom>
              <a:blipFill>
                <a:blip r:embed="rId9"/>
                <a:stretch>
                  <a:fillRect l="-1477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583CEF8-E219-4060-A9B6-EDA75E76108D}"/>
                  </a:ext>
                </a:extLst>
              </p:cNvPr>
              <p:cNvSpPr/>
              <p:nvPr/>
            </p:nvSpPr>
            <p:spPr>
              <a:xfrm>
                <a:off x="885825" y="3624013"/>
                <a:ext cx="10730306" cy="2108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3200" b="1" i="1" kern="0" smtClea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1" i="1" kern="0" smtClea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zh-CN" sz="3200" b="1" i="1" kern="0" smtClea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𝒅𝒙𝒅𝒚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583CEF8-E219-4060-A9B6-EDA75E761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3624013"/>
                <a:ext cx="10730306" cy="21083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94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：计算锥面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被柱面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所截部分的面积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  <a:blipFill>
                <a:blip r:embed="rId2"/>
                <a:stretch>
                  <a:fillRect l="-1543" b="-13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BF30CFD-766E-4BB6-BF19-55A45DAF6E40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715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rad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BF30CFD-766E-4BB6-BF19-55A45DAF6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715837"/>
              </a:xfrm>
              <a:prstGeom prst="rect">
                <a:avLst/>
              </a:prstGeom>
              <a:blipFill>
                <a:blip r:embed="rId5"/>
                <a:stretch>
                  <a:fillRect l="-1477" b="-27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25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：计算锥面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被柱面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所截部分的面积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445396"/>
              </a:xfrm>
              <a:prstGeom prst="rect">
                <a:avLst/>
              </a:prstGeom>
              <a:blipFill>
                <a:blip r:embed="rId2"/>
                <a:stretch>
                  <a:fillRect l="-1543" b="-13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715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rad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715837"/>
              </a:xfrm>
              <a:prstGeom prst="rect">
                <a:avLst/>
              </a:prstGeom>
              <a:blipFill>
                <a:blip r:embed="rId3"/>
                <a:stretch>
                  <a:fillRect l="-1477" b="-27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/>
              <p:nvPr/>
            </p:nvSpPr>
            <p:spPr>
              <a:xfrm>
                <a:off x="877502" y="2129683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面上投影区域为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</a:t>
                </a:r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129683"/>
                <a:ext cx="10730306" cy="677814"/>
              </a:xfrm>
              <a:prstGeom prst="rect">
                <a:avLst/>
              </a:prstGeom>
              <a:blipFill>
                <a:blip r:embed="rId4"/>
                <a:stretch>
                  <a:fillRect l="-1477" t="-178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E2C7CA2-8280-46B7-AD35-6D3BF29776D1}"/>
                  </a:ext>
                </a:extLst>
              </p:cNvPr>
              <p:cNvSpPr/>
              <p:nvPr/>
            </p:nvSpPr>
            <p:spPr>
              <a:xfrm>
                <a:off x="877502" y="3091999"/>
                <a:ext cx="10730306" cy="2074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e>
                          </m:rad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𝒅𝒙𝒅𝒚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E2C7CA2-8280-46B7-AD35-6D3BF2977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091999"/>
                <a:ext cx="10730306" cy="20742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98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271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曲面的面积：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𝑺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</m:e>
                          </m:rad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𝒅𝒙𝒅𝒚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2714461"/>
              </a:xfrm>
              <a:prstGeom prst="rect">
                <a:avLst/>
              </a:prstGeom>
              <a:blipFill>
                <a:blip r:embed="rId2"/>
                <a:stretch>
                  <a:fillRect l="-1440" t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71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重积分的应用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950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P191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8-4(A) 1(4)(6).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8-4(B) 1(1).</a:t>
            </a:r>
          </a:p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P192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总复习题八 三、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1(3), 2, 8.</a:t>
            </a: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https://www.bilibili.com/video/BV1Cx411S7Sw</a:t>
            </a: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15712</TotalTime>
  <Words>1241</Words>
  <Application>Microsoft Office PowerPoint</Application>
  <PresentationFormat>宽屏</PresentationFormat>
  <Paragraphs>150</Paragraphs>
  <Slides>27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971</cp:revision>
  <dcterms:created xsi:type="dcterms:W3CDTF">2015-08-18T02:51:41Z</dcterms:created>
  <dcterms:modified xsi:type="dcterms:W3CDTF">2022-01-11T06:46:39Z</dcterms:modified>
</cp:coreProperties>
</file>