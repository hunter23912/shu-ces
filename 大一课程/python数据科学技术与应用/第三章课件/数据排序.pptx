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50" r:id="rId2"/>
    <p:sldId id="521" r:id="rId3"/>
    <p:sldId id="522" r:id="rId4"/>
    <p:sldId id="523" r:id="rId5"/>
    <p:sldId id="551" r:id="rId6"/>
    <p:sldId id="524" r:id="rId7"/>
    <p:sldId id="525" r:id="rId8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5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026BCA"/>
    <a:srgbClr val="016BBB"/>
    <a:srgbClr val="006600"/>
    <a:srgbClr val="0276E0"/>
    <a:srgbClr val="026DCE"/>
    <a:srgbClr val="02539C"/>
    <a:srgbClr val="026AC8"/>
    <a:srgbClr val="0255A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81" autoAdjust="0"/>
    <p:restoredTop sz="94301" autoAdjust="0"/>
  </p:normalViewPr>
  <p:slideViewPr>
    <p:cSldViewPr>
      <p:cViewPr>
        <p:scale>
          <a:sx n="77" d="100"/>
          <a:sy n="77" d="100"/>
        </p:scale>
        <p:origin x="-462" y="10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-86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60"/>
    </p:cViewPr>
  </p:sorterViewPr>
  <p:notesViewPr>
    <p:cSldViewPr>
      <p:cViewPr varScale="1">
        <p:scale>
          <a:sx n="95" d="100"/>
          <a:sy n="95" d="100"/>
        </p:scale>
        <p:origin x="4042" y="62"/>
      </p:cViewPr>
      <p:guideLst>
        <p:guide orient="horz" pos="295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95161-C525-4802-9B57-5B3E986FDBC1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A82F5-4D64-4946-8E33-F6252E63C2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2209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BA40E-5606-4029-863C-DF903B52E771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C17DF-1D58-4647-8B50-01AC32906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8032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475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6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659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937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467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1787218"/>
            <a:ext cx="6400800" cy="38515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179514" y="6487289"/>
            <a:ext cx="1439863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94127" y="145882"/>
            <a:ext cx="5832475" cy="777240"/>
          </a:xfrm>
        </p:spPr>
        <p:txBody>
          <a:bodyPr/>
          <a:lstStyle>
            <a:lvl1pPr algn="l">
              <a:defRPr sz="22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611560" y="1758018"/>
            <a:ext cx="7920880" cy="3851582"/>
          </a:xfrm>
        </p:spPr>
        <p:txBody>
          <a:bodyPr>
            <a:normAutofit/>
          </a:bodyPr>
          <a:lstStyle>
            <a:lvl1pPr marL="457200" indent="-457200" algn="l"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9" name="灯片编号占位符 3"/>
          <p:cNvSpPr txBox="1"/>
          <p:nvPr userDrawn="1"/>
        </p:nvSpPr>
        <p:spPr>
          <a:xfrm>
            <a:off x="7429520" y="6429396"/>
            <a:ext cx="1714480" cy="4286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</a:rPr>
              <a:t>东华大学计算机学院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8399242" y="6488448"/>
            <a:ext cx="642515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灯片编号占位符 3"/>
          <p:cNvSpPr txBox="1"/>
          <p:nvPr userDrawn="1"/>
        </p:nvSpPr>
        <p:spPr>
          <a:xfrm>
            <a:off x="551143" y="6558157"/>
            <a:ext cx="3389136" cy="27907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000" b="1" dirty="0">
                <a:solidFill>
                  <a:schemeClr val="bg1"/>
                </a:solidFill>
              </a:rPr>
              <a:t>东华大学计算机科学与技术学院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5832475" cy="777240"/>
          </a:xfrm>
        </p:spPr>
        <p:txBody>
          <a:bodyPr/>
          <a:lstStyle>
            <a:lvl1pPr algn="l">
              <a:defRPr sz="22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"/>
          <p:cNvSpPr>
            <a:spLocks noGrp="1"/>
          </p:cNvSpPr>
          <p:nvPr>
            <p:ph idx="1"/>
          </p:nvPr>
        </p:nvSpPr>
        <p:spPr>
          <a:xfrm>
            <a:off x="230832" y="1009531"/>
            <a:ext cx="858964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400"/>
            </a:lvl1pPr>
            <a:lvl2pPr marL="742950" indent="-285750">
              <a:buFont typeface="Wingdings" panose="05000000000000000000" pitchFamily="2" charset="2"/>
              <a:buChar char="u"/>
              <a:defRPr sz="2000"/>
            </a:lvl2pPr>
            <a:lvl3pPr marL="1143000" indent="-228600">
              <a:buFont typeface="Wingdings" panose="05000000000000000000" pitchFamily="2" charset="2"/>
              <a:buChar char="l"/>
              <a:defRPr sz="1800"/>
            </a:lvl3pPr>
            <a:lvl4pPr marL="1600200" indent="-228600">
              <a:buFont typeface="Wingdings" panose="05000000000000000000" pitchFamily="2" charset="2"/>
              <a:buChar char="n"/>
              <a:defRPr sz="1600"/>
            </a:lvl4pPr>
            <a:lvl5pPr marL="2057400" indent="-228600">
              <a:buFont typeface="Wingdings" panose="05000000000000000000" pitchFamily="2" charset="2"/>
              <a:buChar char="Ø"/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 txBox="1"/>
          <p:nvPr userDrawn="1"/>
        </p:nvSpPr>
        <p:spPr>
          <a:xfrm>
            <a:off x="179514" y="6487289"/>
            <a:ext cx="1439863" cy="28384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dirty="0" smtClean="0">
                <a:solidFill>
                  <a:schemeClr val="bg1"/>
                </a:solidFill>
              </a:r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灯片编号占位符 3"/>
          <p:cNvSpPr txBox="1"/>
          <p:nvPr userDrawn="1"/>
        </p:nvSpPr>
        <p:spPr>
          <a:xfrm>
            <a:off x="7429520" y="6429396"/>
            <a:ext cx="1714480" cy="42860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200" b="1" dirty="0">
                <a:solidFill>
                  <a:schemeClr val="bg1"/>
                </a:solidFill>
              </a:rPr>
              <a:t>东华大学计算机学院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384C6-77FA-4AF6-AF10-492DE6DC1E29}" type="datetimeFigureOut">
              <a:rPr lang="zh-CN" altLang="en-US" smtClean="0"/>
              <a:t>2022/3/26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F426351-9812-44A2-9077-4528BA4AF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D53F9E72-D230-45A9-9D62-BD004C182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pPr algn="ctr"/>
            <a:r>
              <a:rPr lang="en-US" altLang="zh-CN" sz="3600" dirty="0"/>
              <a:t>3.5.2    </a:t>
            </a:r>
            <a:r>
              <a:rPr lang="zh-CN" altLang="en-US" sz="3600" dirty="0"/>
              <a:t>数据排序</a:t>
            </a:r>
            <a:endParaRPr lang="en-US" altLang="zh-CN" sz="3600" dirty="0"/>
          </a:p>
          <a:p>
            <a:pPr marL="0" indent="0" algn="ctr">
              <a:buNone/>
            </a:pPr>
            <a:endParaRPr lang="en-US" altLang="zh-CN" sz="3600" dirty="0"/>
          </a:p>
          <a:p>
            <a:pPr algn="ctr"/>
            <a:r>
              <a:rPr lang="en-US" altLang="zh-CN" sz="3600" dirty="0" smtClean="0"/>
              <a:t>P55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0957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848871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259228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en-US" altLang="zh-CN" sz="2600" dirty="0">
                <a:solidFill>
                  <a:srgbClr val="FF0000"/>
                </a:solidFill>
              </a:rPr>
              <a:t>Series</a:t>
            </a:r>
            <a:r>
              <a:rPr lang="zh-CN" altLang="en-US" sz="2600" dirty="0">
                <a:solidFill>
                  <a:srgbClr val="FF0000"/>
                </a:solidFill>
              </a:rPr>
              <a:t>和</a:t>
            </a:r>
            <a:r>
              <a:rPr lang="en-US" altLang="zh-CN" sz="2600" dirty="0" err="1">
                <a:solidFill>
                  <a:srgbClr val="FF0000"/>
                </a:solidFill>
              </a:rPr>
              <a:t>DataFrame</a:t>
            </a:r>
            <a:r>
              <a:rPr lang="zh-CN" altLang="en-US" sz="2600" dirty="0">
                <a:solidFill>
                  <a:srgbClr val="FF0000"/>
                </a:solidFill>
              </a:rPr>
              <a:t> 都支持排序</a:t>
            </a:r>
            <a:endParaRPr lang="en-US" altLang="zh-CN" sz="2600" dirty="0">
              <a:solidFill>
                <a:srgbClr val="FF0000"/>
              </a:solidFill>
            </a:endParaRP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sz="2200" dirty="0"/>
              <a:t>按照列数据值，排序</a:t>
            </a:r>
            <a:endParaRPr lang="en-US" altLang="zh-CN" sz="2200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en-US" sz="2200" dirty="0"/>
              <a:t>按</a:t>
            </a:r>
            <a:r>
              <a:rPr lang="zh-CN" altLang="en-US" sz="2200"/>
              <a:t>列数据，生成</a:t>
            </a:r>
            <a:r>
              <a:rPr lang="zh-CN" altLang="en-US" sz="2200" dirty="0"/>
              <a:t>排名 </a:t>
            </a:r>
            <a:endParaRPr lang="en-US" altLang="zh-CN" sz="2200" dirty="0">
              <a:cs typeface="+mn-ea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dirty="0">
                <a:cs typeface="+mn-ea"/>
                <a:sym typeface="+mn-lt"/>
              </a:rPr>
              <a:t>     </a:t>
            </a:r>
            <a:r>
              <a:rPr lang="en-US" altLang="zh-CN" b="1" dirty="0">
                <a:cs typeface="+mn-ea"/>
                <a:sym typeface="+mn-lt"/>
              </a:rPr>
              <a:t> 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b="1" dirty="0" err="1">
                <a:cs typeface="+mn-ea"/>
                <a:sym typeface="+mn-lt"/>
              </a:rPr>
              <a:t>DataFrame</a:t>
            </a:r>
            <a:r>
              <a:rPr lang="en-US" altLang="zh-CN" b="1" dirty="0">
                <a:cs typeface="+mn-ea"/>
                <a:sym typeface="+mn-lt"/>
              </a:rPr>
              <a:t> </a:t>
            </a:r>
            <a:r>
              <a:rPr lang="zh-CN" altLang="en-US" b="1" dirty="0">
                <a:cs typeface="+mn-ea"/>
                <a:sym typeface="+mn-lt"/>
              </a:rPr>
              <a:t>值排序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200" dirty="0">
                <a:solidFill>
                  <a:srgbClr val="FF0000"/>
                </a:solidFill>
                <a:cs typeface="+mn-ea"/>
                <a:sym typeface="+mn-lt"/>
              </a:rPr>
              <a:t>      </a:t>
            </a:r>
            <a:r>
              <a:rPr lang="en-US" altLang="zh-CN" sz="2200" b="1" dirty="0">
                <a:solidFill>
                  <a:srgbClr val="FF0000"/>
                </a:solidFill>
                <a:cs typeface="+mn-ea"/>
                <a:sym typeface="+mn-lt"/>
              </a:rPr>
              <a:t>obj. </a:t>
            </a:r>
            <a:r>
              <a:rPr lang="en-US" altLang="zh-CN" sz="2200" b="1" dirty="0" err="1">
                <a:solidFill>
                  <a:srgbClr val="FF0000"/>
                </a:solidFill>
                <a:cs typeface="+mn-ea"/>
                <a:sym typeface="+mn-lt"/>
              </a:rPr>
              <a:t>sort_values</a:t>
            </a:r>
            <a:r>
              <a:rPr lang="en-US" altLang="zh-CN" sz="2200" b="1" dirty="0">
                <a:solidFill>
                  <a:srgbClr val="FF0000"/>
                </a:solidFill>
                <a:cs typeface="+mn-ea"/>
                <a:sym typeface="+mn-lt"/>
              </a:rPr>
              <a:t>(by, ascending, </a:t>
            </a:r>
            <a:r>
              <a:rPr lang="en-US" altLang="zh-CN" sz="2200" b="1" dirty="0" err="1">
                <a:solidFill>
                  <a:srgbClr val="FF0000"/>
                </a:solidFill>
                <a:cs typeface="+mn-ea"/>
                <a:sym typeface="+mn-lt"/>
              </a:rPr>
              <a:t>inplace</a:t>
            </a:r>
            <a:r>
              <a:rPr lang="en-US" altLang="zh-CN" sz="2200" b="1" dirty="0">
                <a:solidFill>
                  <a:srgbClr val="FF0000"/>
                </a:solidFill>
                <a:cs typeface="+mn-ea"/>
                <a:sym typeface="+mn-lt"/>
              </a:rPr>
              <a:t>...)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cs typeface="+mn-ea"/>
              <a:sym typeface="+mn-lt"/>
            </a:endParaRPr>
          </a:p>
          <a:p>
            <a:pPr>
              <a:lnSpc>
                <a:spcPct val="140000"/>
              </a:lnSpc>
              <a:spcBef>
                <a:spcPct val="19608"/>
              </a:spcBef>
            </a:pPr>
            <a:endParaRPr lang="en-US" altLang="zh-CN" sz="2000" dirty="0">
              <a:cs typeface="+mn-ea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346479"/>
              </p:ext>
            </p:extLst>
          </p:nvPr>
        </p:nvGraphicFramePr>
        <p:xfrm>
          <a:off x="755576" y="3933056"/>
          <a:ext cx="7272808" cy="1584176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8182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546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00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参数说明：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by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列索引，定义用于排序的列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ascending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排序方式，</a:t>
                      </a: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True</a:t>
                      </a: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为升序，</a:t>
                      </a:r>
                      <a:r>
                        <a:rPr 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False</a:t>
                      </a:r>
                      <a:r>
                        <a:rPr lang="zh-CN" sz="1800" kern="0" dirty="0">
                          <a:solidFill>
                            <a:srgbClr val="FF0000"/>
                          </a:solidFill>
                          <a:effectLst/>
                        </a:rPr>
                        <a:t>为降序</a:t>
                      </a:r>
                      <a:r>
                        <a:rPr lang="zh-CN" altLang="en-US" sz="1800" kern="0" dirty="0">
                          <a:solidFill>
                            <a:srgbClr val="FF0000"/>
                          </a:solidFill>
                          <a:effectLst/>
                        </a:rPr>
                        <a:t>。</a:t>
                      </a:r>
                      <a:endParaRPr lang="zh-CN" sz="18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inplace</a:t>
                      </a:r>
                      <a:endParaRPr lang="zh-CN" sz="18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</a:rPr>
                        <a:t>是否修改原始数据，</a:t>
                      </a:r>
                      <a:r>
                        <a:rPr lang="en-US" sz="1800" kern="0" dirty="0">
                          <a:effectLst/>
                        </a:rPr>
                        <a:t>True</a:t>
                      </a:r>
                      <a:r>
                        <a:rPr lang="zh-CN" sz="1800" kern="0" dirty="0">
                          <a:effectLst/>
                        </a:rPr>
                        <a:t>为修改，默认为</a:t>
                      </a:r>
                      <a:r>
                        <a:rPr lang="en-US" sz="1800" kern="0" dirty="0">
                          <a:effectLst/>
                        </a:rPr>
                        <a:t>False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88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848871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zh-CN" altLang="en-US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排序</a:t>
            </a: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| 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【</a:t>
            </a:r>
            <a:r>
              <a:rPr lang="zh-CN" altLang="en-US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例题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3-13】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18457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zh-CN" sz="2000" dirty="0"/>
              <a:t>从文件</a:t>
            </a:r>
            <a:r>
              <a:rPr lang="en-US" altLang="zh-CN" sz="2000" dirty="0"/>
              <a:t>studentsInfo.xlsx</a:t>
            </a:r>
            <a:r>
              <a:rPr lang="zh-CN" altLang="zh-CN" sz="2000" dirty="0"/>
              <a:t>的“</a:t>
            </a:r>
            <a:r>
              <a:rPr lang="en-US" altLang="zh-CN" sz="2000" dirty="0"/>
              <a:t>Group3</a:t>
            </a:r>
            <a:r>
              <a:rPr lang="zh-CN" altLang="zh-CN" sz="2000"/>
              <a:t>”</a:t>
            </a:r>
            <a:r>
              <a:rPr lang="zh-CN" altLang="en-US" sz="2000" smtClean="0"/>
              <a:t>表中</a:t>
            </a:r>
            <a:r>
              <a:rPr lang="zh-CN" altLang="zh-CN" sz="2000" dirty="0"/>
              <a:t>读取数据，对“成绩”进行排序分析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ct val="19608"/>
              </a:spcBef>
              <a:buNone/>
            </a:pPr>
            <a:r>
              <a:rPr lang="en-US" altLang="zh-CN" sz="1600" dirty="0">
                <a:cs typeface="+mn-ea"/>
                <a:sym typeface="+mn-lt"/>
              </a:rPr>
              <a:t>#</a:t>
            </a:r>
            <a:r>
              <a:rPr lang="zh-CN" altLang="en-US" sz="1600" dirty="0">
                <a:cs typeface="+mn-ea"/>
                <a:sym typeface="+mn-lt"/>
              </a:rPr>
              <a:t>导入</a:t>
            </a:r>
            <a:r>
              <a:rPr lang="en-US" altLang="zh-CN" sz="1600" dirty="0">
                <a:cs typeface="+mn-ea"/>
                <a:sym typeface="+mn-lt"/>
              </a:rPr>
              <a:t>excel</a:t>
            </a:r>
            <a:r>
              <a:rPr lang="zh-CN" altLang="en-US" sz="1600" dirty="0">
                <a:cs typeface="+mn-ea"/>
                <a:sym typeface="+mn-lt"/>
              </a:rPr>
              <a:t>数据</a:t>
            </a:r>
          </a:p>
          <a:p>
            <a:pPr marL="0" indent="0">
              <a:lnSpc>
                <a:spcPct val="15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stu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= </a:t>
            </a:r>
            <a:r>
              <a:rPr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pd.read_excel</a:t>
            </a: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('data\studentsInfo.xlsx’,</a:t>
            </a:r>
          </a:p>
          <a:p>
            <a:pPr marL="0" indent="0">
              <a:lnSpc>
                <a:spcPct val="15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'Group3',index_col=0)</a:t>
            </a:r>
          </a:p>
          <a:p>
            <a:pPr marL="0" indent="0">
              <a:lnSpc>
                <a:spcPct val="15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sz="22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stu.sort_values</a:t>
            </a: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(by='</a:t>
            </a:r>
            <a:r>
              <a:rPr lang="zh-CN" altLang="en-US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成绩</a:t>
            </a:r>
            <a:r>
              <a:rPr lang="en-US" altLang="zh-CN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 ascending=False)           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#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按成绩降序排列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  <a:sym typeface="+mn-lt"/>
            </a:endParaRPr>
          </a:p>
          <a:p>
            <a:pPr marL="400050" lvl="1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性别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年龄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身高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体重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省份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成绩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月生活费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课程兴趣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案例教学</a:t>
            </a:r>
          </a:p>
          <a:p>
            <a:pPr marL="400050" lvl="1" indent="0">
              <a:buNone/>
            </a:pPr>
            <a:r>
              <a:rPr lang="zh-CN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序号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</a:t>
            </a:r>
            <a:endParaRPr lang="zh-CN" altLang="zh-CN" sz="1600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  female  20  168  52 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JiangSu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98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700     5     5</a:t>
            </a:r>
            <a:endParaRPr lang="zh-CN" altLang="zh-CN" sz="1600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  female  21  165  45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ShangHai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1200     5     5</a:t>
            </a:r>
            <a:endParaRPr lang="zh-CN" altLang="zh-CN" sz="1600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    male  21  169  80   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GanSu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93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900     5     5</a:t>
            </a:r>
            <a:endParaRPr lang="zh-CN" altLang="zh-CN" sz="1600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  female  19  167  42   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HuBei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89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800     5     5</a:t>
            </a:r>
            <a:endParaRPr lang="zh-CN" altLang="zh-CN" sz="1600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  female  20  161  51 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GuangXi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1250     5     5</a:t>
            </a:r>
            <a:endParaRPr lang="zh-CN" altLang="zh-CN" sz="1600" dirty="0">
              <a:solidFill>
                <a:srgbClr val="026BC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......</a:t>
            </a:r>
            <a:endParaRPr lang="zh-CN" altLang="en-US" sz="1600" dirty="0">
              <a:solidFill>
                <a:srgbClr val="339933"/>
              </a:solidFill>
              <a:latin typeface="Courier New" panose="02070309020205020404" pitchFamily="49" charset="0"/>
              <a:cs typeface="Courier New" panose="02070309020205020404" pitchFamily="49" charset="0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cs typeface="+mn-ea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="" xmlns:a16="http://schemas.microsoft.com/office/drawing/2014/main" id="{8D1BDE05-CAA8-4AEC-BD6B-0B4B9973E5D9}"/>
              </a:ext>
            </a:extLst>
          </p:cNvPr>
          <p:cNvSpPr/>
          <p:nvPr/>
        </p:nvSpPr>
        <p:spPr>
          <a:xfrm>
            <a:off x="4716016" y="4221088"/>
            <a:ext cx="432048" cy="16561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="" xmlns:a16="http://schemas.microsoft.com/office/drawing/2014/main" id="{3DA6D325-3ED0-4ACE-A690-F4954149726F}"/>
              </a:ext>
            </a:extLst>
          </p:cNvPr>
          <p:cNvSpPr/>
          <p:nvPr/>
        </p:nvSpPr>
        <p:spPr>
          <a:xfrm>
            <a:off x="4860032" y="3068960"/>
            <a:ext cx="2952328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圆角矩形 5">
            <a:extLst>
              <a:ext uri="{FF2B5EF4-FFF2-40B4-BE49-F238E27FC236}">
                <a16:creationId xmlns="" xmlns:a16="http://schemas.microsoft.com/office/drawing/2014/main" id="{6C3F6722-22D5-479F-8CF5-589474286377}"/>
              </a:ext>
            </a:extLst>
          </p:cNvPr>
          <p:cNvSpPr/>
          <p:nvPr/>
        </p:nvSpPr>
        <p:spPr>
          <a:xfrm>
            <a:off x="7632340" y="2132856"/>
            <a:ext cx="828092" cy="792088"/>
          </a:xfrm>
          <a:prstGeom prst="wedgeRoundRectCallout">
            <a:avLst>
              <a:gd name="adj1" fmla="val -88258"/>
              <a:gd name="adj2" fmla="val 6725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降序排序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="" xmlns:a16="http://schemas.microsoft.com/office/drawing/2014/main" id="{E46A5344-DF04-4D42-AD7A-0270CA1FE6D5}"/>
              </a:ext>
            </a:extLst>
          </p:cNvPr>
          <p:cNvSpPr/>
          <p:nvPr/>
        </p:nvSpPr>
        <p:spPr>
          <a:xfrm>
            <a:off x="3347864" y="1484784"/>
            <a:ext cx="2304256" cy="576064"/>
          </a:xfrm>
          <a:prstGeom prst="wedgeRoundRectCallout">
            <a:avLst>
              <a:gd name="adj1" fmla="val -20833"/>
              <a:gd name="adj2" fmla="val 22236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按‘成绩</a:t>
            </a:r>
            <a:r>
              <a:rPr lang="en-US" altLang="zh-CN" dirty="0">
                <a:solidFill>
                  <a:srgbClr val="FF0000"/>
                </a:solidFill>
              </a:rPr>
              <a:t>’</a:t>
            </a:r>
            <a:r>
              <a:rPr lang="zh-CN" altLang="en-US" dirty="0">
                <a:solidFill>
                  <a:srgbClr val="FF0000"/>
                </a:solidFill>
              </a:rPr>
              <a:t>  列 排序</a:t>
            </a:r>
          </a:p>
        </p:txBody>
      </p:sp>
    </p:spTree>
    <p:extLst>
      <p:ext uri="{BB962C8B-B14F-4D97-AF65-F5344CB8AC3E}">
        <p14:creationId xmlns:p14="http://schemas.microsoft.com/office/powerpoint/2010/main" val="324117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848871" cy="9003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zh-CN" altLang="en-US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排序</a:t>
            </a:r>
            <a:r>
              <a:rPr lang="en-US" altLang="zh-CN" sz="2800" dirty="0">
                <a:solidFill>
                  <a:srgbClr val="0276E0"/>
                </a:solidFill>
                <a:latin typeface="Arial"/>
                <a:ea typeface="Microsoft YaHei"/>
                <a:cs typeface="+mn-ea"/>
                <a:sym typeface="+mn-lt"/>
              </a:rPr>
              <a:t>| 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【</a:t>
            </a:r>
            <a:r>
              <a:rPr lang="zh-CN" altLang="en-US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例题</a:t>
            </a:r>
            <a:r>
              <a:rPr lang="en-US" altLang="zh-CN" sz="2800" dirty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3-13</a:t>
            </a:r>
            <a:r>
              <a:rPr lang="zh-CN" altLang="en-US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续</a:t>
            </a:r>
            <a:r>
              <a:rPr lang="en-US" altLang="zh-CN" sz="2800" dirty="0" smtClean="0">
                <a:solidFill>
                  <a:srgbClr val="FF0000"/>
                </a:solidFill>
                <a:latin typeface="Arial"/>
                <a:ea typeface="Microsoft YaHei"/>
                <a:cs typeface="+mn-ea"/>
                <a:sym typeface="+mn-lt"/>
              </a:rPr>
              <a:t>】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32859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en-US" dirty="0">
                <a:solidFill>
                  <a:srgbClr val="FF0000"/>
                </a:solidFill>
              </a:rPr>
              <a:t>指定</a:t>
            </a:r>
            <a:r>
              <a:rPr lang="zh-CN" altLang="zh-CN" dirty="0">
                <a:solidFill>
                  <a:srgbClr val="FF0000"/>
                </a:solidFill>
              </a:rPr>
              <a:t>多个列</a:t>
            </a:r>
            <a:r>
              <a:rPr lang="zh-CN" altLang="en-US" dirty="0">
                <a:solidFill>
                  <a:srgbClr val="FF0000"/>
                </a:solidFill>
              </a:rPr>
              <a:t>排序</a:t>
            </a:r>
            <a:r>
              <a:rPr lang="zh-CN" altLang="zh-CN" dirty="0">
                <a:solidFill>
                  <a:srgbClr val="FF0000"/>
                </a:solidFill>
              </a:rPr>
              <a:t>，如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by=['</a:t>
            </a:r>
            <a:r>
              <a:rPr lang="zh-CN" altLang="zh-CN" dirty="0">
                <a:solidFill>
                  <a:srgbClr val="FF0000"/>
                </a:solidFill>
              </a:rPr>
              <a:t>身高</a:t>
            </a:r>
            <a:r>
              <a:rPr lang="en-US" altLang="zh-CN" dirty="0">
                <a:solidFill>
                  <a:srgbClr val="FF0000"/>
                </a:solidFill>
              </a:rPr>
              <a:t>’, '</a:t>
            </a:r>
            <a:r>
              <a:rPr lang="zh-CN" altLang="zh-CN" dirty="0">
                <a:solidFill>
                  <a:srgbClr val="FF0000"/>
                </a:solidFill>
              </a:rPr>
              <a:t>体重</a:t>
            </a:r>
            <a:r>
              <a:rPr lang="en-US" altLang="zh-CN" dirty="0">
                <a:solidFill>
                  <a:srgbClr val="FF0000"/>
                </a:solidFill>
              </a:rPr>
              <a:t>’]</a:t>
            </a:r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zh-CN" dirty="0"/>
              <a:t>先按“身高”排序，</a:t>
            </a:r>
            <a:endParaRPr lang="en-US" altLang="zh-CN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zh-CN" dirty="0"/>
              <a:t>若某些行的“身高”相同，这几行再按“体重”排序</a:t>
            </a:r>
            <a:endParaRPr lang="en-US" altLang="zh-CN" dirty="0"/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stu.sort_values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(by=['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身高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','</a:t>
            </a:r>
            <a:r>
              <a:rPr lang="zh-CN" altLang="en-US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体重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'], ascending=True)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zh-CN" altLang="en-US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性别  年龄   身高  体重    省份  成绩  月生活费  课程兴趣  案例教学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zh-CN" altLang="en-US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序号                                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  female  21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160  49   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HeBei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59  1100     3     5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  female  22  </a:t>
            </a:r>
            <a:r>
              <a:rPr lang="en-US" altLang="zh-CN" sz="16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160  52  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ShanXi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73   800     3     4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  female  20  161  51 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GuangXi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80  1250     5     5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  female  21  162  49  </a:t>
            </a:r>
            <a:r>
              <a:rPr lang="en-US" altLang="zh-CN" sz="1600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ShanDong</a:t>
            </a:r>
            <a:r>
              <a:rPr lang="en-US" altLang="zh-CN" sz="16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65   950     4     4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1600" dirty="0">
              <a:cs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="" xmlns:a16="http://schemas.microsoft.com/office/drawing/2014/main" id="{BB0ADA13-83C1-48E0-BFEA-2EC49BF2FB20}"/>
              </a:ext>
            </a:extLst>
          </p:cNvPr>
          <p:cNvSpPr/>
          <p:nvPr/>
        </p:nvSpPr>
        <p:spPr>
          <a:xfrm>
            <a:off x="3203848" y="2924944"/>
            <a:ext cx="295232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圆角矩形 5">
            <a:extLst>
              <a:ext uri="{FF2B5EF4-FFF2-40B4-BE49-F238E27FC236}">
                <a16:creationId xmlns="" xmlns:a16="http://schemas.microsoft.com/office/drawing/2014/main" id="{5240F22B-4D2C-4DBB-B9AC-D5CADAA84BDB}"/>
              </a:ext>
            </a:extLst>
          </p:cNvPr>
          <p:cNvSpPr/>
          <p:nvPr/>
        </p:nvSpPr>
        <p:spPr>
          <a:xfrm>
            <a:off x="7236296" y="1484784"/>
            <a:ext cx="1656184" cy="1080120"/>
          </a:xfrm>
          <a:prstGeom prst="wedgeRoundRectCallout">
            <a:avLst>
              <a:gd name="adj1" fmla="val -37752"/>
              <a:gd name="adj2" fmla="val 10016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rgbClr val="FF0000"/>
                </a:solidFill>
              </a:rPr>
              <a:t>参数设置可以去除，默认就是升序排序</a:t>
            </a:r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29C67714-5C4B-4790-80CD-581ABCDCEF0F}"/>
              </a:ext>
            </a:extLst>
          </p:cNvPr>
          <p:cNvSpPr/>
          <p:nvPr/>
        </p:nvSpPr>
        <p:spPr>
          <a:xfrm>
            <a:off x="2699792" y="3429000"/>
            <a:ext cx="1296144" cy="27363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03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946D9C6-8A0F-47EE-9099-82EB5751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="" xmlns:a16="http://schemas.microsoft.com/office/drawing/2014/main" id="{454D0FB5-AD49-446E-A213-F5672056C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20688"/>
            <a:ext cx="7756644" cy="5513759"/>
          </a:xfrm>
        </p:spPr>
      </p:pic>
      <p:sp>
        <p:nvSpPr>
          <p:cNvPr id="6" name="椭圆 5">
            <a:extLst>
              <a:ext uri="{FF2B5EF4-FFF2-40B4-BE49-F238E27FC236}">
                <a16:creationId xmlns="" xmlns:a16="http://schemas.microsoft.com/office/drawing/2014/main" id="{C10623B8-A1B7-4026-88E5-5113A5159D0D}"/>
              </a:ext>
            </a:extLst>
          </p:cNvPr>
          <p:cNvSpPr/>
          <p:nvPr/>
        </p:nvSpPr>
        <p:spPr>
          <a:xfrm>
            <a:off x="2195736" y="1196752"/>
            <a:ext cx="4536504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C6631FC1-1B67-4817-A378-88211246B3A2}"/>
              </a:ext>
            </a:extLst>
          </p:cNvPr>
          <p:cNvSpPr/>
          <p:nvPr/>
        </p:nvSpPr>
        <p:spPr>
          <a:xfrm>
            <a:off x="2267744" y="2924944"/>
            <a:ext cx="1296143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66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1" y="8358"/>
            <a:ext cx="7848871" cy="900362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en-US" altLang="zh-CN" sz="2400" dirty="0">
                <a:cs typeface="+mn-ea"/>
                <a:sym typeface="+mn-lt"/>
              </a:rPr>
              <a:t>2. </a:t>
            </a:r>
            <a:r>
              <a:rPr lang="zh-CN" altLang="en-US" sz="2400" dirty="0">
                <a:cs typeface="+mn-ea"/>
                <a:sym typeface="+mn-lt"/>
              </a:rPr>
              <a:t>排名</a:t>
            </a:r>
            <a:br>
              <a:rPr lang="zh-CN" altLang="en-US" sz="2400" dirty="0">
                <a:cs typeface="+mn-ea"/>
                <a:sym typeface="+mn-lt"/>
              </a:rPr>
            </a:br>
            <a:r>
              <a:rPr lang="en-US" altLang="zh-CN" sz="2400" dirty="0">
                <a:cs typeface="+mn-ea"/>
                <a:sym typeface="+mn-lt"/>
              </a:rPr>
              <a:t>2. </a:t>
            </a:r>
            <a:r>
              <a:rPr lang="zh-CN" altLang="en-US" sz="2400" dirty="0">
                <a:cs typeface="+mn-ea"/>
                <a:sym typeface="+mn-lt"/>
              </a:rPr>
              <a:t>排名</a:t>
            </a:r>
            <a:br>
              <a:rPr lang="zh-CN" altLang="en-US" sz="2400" dirty="0">
                <a:cs typeface="+mn-ea"/>
                <a:sym typeface="+mn-lt"/>
              </a:rPr>
            </a:b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7930" y="534582"/>
            <a:ext cx="8856984" cy="3888432"/>
          </a:xfrm>
        </p:spPr>
        <p:txBody>
          <a:bodyPr>
            <a:normAutofit/>
          </a:bodyPr>
          <a:lstStyle/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800" b="1" dirty="0">
                <a:cs typeface="+mn-ea"/>
                <a:sym typeface="+mn-lt"/>
              </a:rPr>
              <a:t> </a:t>
            </a:r>
            <a:r>
              <a:rPr lang="en-US" altLang="zh-CN" sz="2800" b="1" dirty="0" smtClean="0">
                <a:cs typeface="+mn-ea"/>
                <a:sym typeface="+mn-lt"/>
              </a:rPr>
              <a:t>P56  </a:t>
            </a:r>
            <a:r>
              <a:rPr lang="zh-CN" altLang="en-US" sz="2800" b="1" dirty="0">
                <a:cs typeface="+mn-ea"/>
                <a:sym typeface="+mn-lt"/>
              </a:rPr>
              <a:t>排名</a:t>
            </a:r>
          </a:p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zh-CN" sz="2800" dirty="0"/>
              <a:t>排名给出每行的名次</a:t>
            </a:r>
            <a:endParaRPr lang="en-US" altLang="zh-CN" sz="2800" dirty="0"/>
          </a:p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zh-CN" dirty="0"/>
              <a:t>定义等值数据的处理方式，如并列名次取最小值或最大值，也可以取均值</a:t>
            </a:r>
            <a:r>
              <a:rPr lang="zh-CN" altLang="zh-CN" sz="1800" dirty="0"/>
              <a:t>。</a:t>
            </a:r>
            <a:endParaRPr lang="en-US" altLang="zh-CN" sz="1800" dirty="0"/>
          </a:p>
          <a:p>
            <a:pPr>
              <a:lnSpc>
                <a:spcPct val="140000"/>
              </a:lnSpc>
              <a:spcBef>
                <a:spcPct val="19608"/>
              </a:spcBef>
            </a:pPr>
            <a:r>
              <a:rPr lang="zh-CN" altLang="zh-CN" sz="2000" dirty="0">
                <a:solidFill>
                  <a:srgbClr val="FF0000"/>
                </a:solidFill>
              </a:rPr>
              <a:t>排名函数形式</a:t>
            </a:r>
            <a:endParaRPr lang="en-US" altLang="zh-CN" sz="2000" dirty="0">
              <a:solidFill>
                <a:srgbClr val="FF0000"/>
              </a:solidFill>
              <a:cs typeface="+mn-ea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     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obj.rank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(axis, method, ascending,...)</a:t>
            </a:r>
            <a:endParaRPr lang="en-US" altLang="zh-CN" sz="2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  <a:sym typeface="+mn-lt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138014"/>
              </p:ext>
            </p:extLst>
          </p:nvPr>
        </p:nvGraphicFramePr>
        <p:xfrm>
          <a:off x="683568" y="4005064"/>
          <a:ext cx="7776864" cy="1673344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0542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7225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18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参数说明：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8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axis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</a:rPr>
                        <a:t>0</a:t>
                      </a:r>
                      <a:r>
                        <a:rPr lang="zh-CN" sz="2000" kern="0" dirty="0">
                          <a:effectLst/>
                        </a:rPr>
                        <a:t>：按行数据排名，</a:t>
                      </a:r>
                      <a:r>
                        <a:rPr lang="en-US" sz="2000" kern="0" dirty="0">
                          <a:effectLst/>
                        </a:rPr>
                        <a:t>1</a:t>
                      </a:r>
                      <a:r>
                        <a:rPr lang="zh-CN" sz="2000" kern="0" dirty="0">
                          <a:effectLst/>
                        </a:rPr>
                        <a:t>：按列数据排名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8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method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并列</a:t>
                      </a:r>
                      <a:r>
                        <a:rPr lang="zh-CN" alt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时</a:t>
                      </a: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取值</a:t>
                      </a:r>
                      <a:r>
                        <a:rPr lang="zh-CN" alt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方式</a:t>
                      </a: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：</a:t>
                      </a:r>
                      <a:r>
                        <a:rPr 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min</a:t>
                      </a: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sz="2000" kern="0" dirty="0">
                          <a:solidFill>
                            <a:srgbClr val="FF0000"/>
                          </a:solidFill>
                          <a:effectLst/>
                        </a:rPr>
                        <a:t>max</a:t>
                      </a:r>
                      <a:r>
                        <a:rPr 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、</a:t>
                      </a:r>
                      <a:r>
                        <a:rPr lang="en-US" altLang="zh-CN" sz="2000" kern="0" dirty="0">
                          <a:solidFill>
                            <a:srgbClr val="FF0000"/>
                          </a:solidFill>
                          <a:effectLst/>
                        </a:rPr>
                        <a:t>average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833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</a:rPr>
                        <a:t>ascending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</a:rPr>
                        <a:t>排序方式，</a:t>
                      </a:r>
                      <a:r>
                        <a:rPr lang="en-US" sz="2000" kern="0" dirty="0">
                          <a:effectLst/>
                        </a:rPr>
                        <a:t>True</a:t>
                      </a:r>
                      <a:r>
                        <a:rPr lang="zh-CN" sz="2000" kern="0" dirty="0">
                          <a:effectLst/>
                        </a:rPr>
                        <a:t>为升序，</a:t>
                      </a:r>
                      <a:r>
                        <a:rPr lang="en-US" sz="2000" kern="0" dirty="0">
                          <a:effectLst/>
                        </a:rPr>
                        <a:t>False</a:t>
                      </a:r>
                      <a:r>
                        <a:rPr lang="zh-CN" sz="2000" kern="0" dirty="0">
                          <a:effectLst/>
                        </a:rPr>
                        <a:t>为降序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229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7848871" cy="900362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  <a:spcBef>
                <a:spcPct val="19608"/>
              </a:spcBef>
            </a:pPr>
            <a:r>
              <a:rPr lang="en-US" altLang="zh-CN" sz="2400" dirty="0">
                <a:cs typeface="+mn-ea"/>
                <a:sym typeface="+mn-lt"/>
              </a:rPr>
              <a:t> </a:t>
            </a:r>
            <a:r>
              <a:rPr lang="zh-CN" altLang="en-US" sz="2400" dirty="0">
                <a:cs typeface="+mn-ea"/>
                <a:sym typeface="+mn-lt"/>
              </a:rPr>
              <a:t>排名</a:t>
            </a:r>
            <a:br>
              <a:rPr lang="zh-CN" altLang="en-US" sz="2400" dirty="0">
                <a:cs typeface="+mn-ea"/>
                <a:sym typeface="+mn-lt"/>
              </a:rPr>
            </a:br>
            <a:r>
              <a:rPr lang="en-US" altLang="zh-CN" sz="3100" dirty="0">
                <a:solidFill>
                  <a:schemeClr val="tx1"/>
                </a:solidFill>
                <a:latin typeface="+mn-lt"/>
                <a:ea typeface="+mj-ea"/>
                <a:cs typeface="+mn-ea"/>
                <a:sym typeface="+mn-lt"/>
              </a:rPr>
              <a:t> </a:t>
            </a:r>
            <a:r>
              <a:rPr lang="zh-CN" altLang="en-US" sz="2400" dirty="0">
                <a:cs typeface="+mn-ea"/>
                <a:sym typeface="+mn-lt"/>
              </a:rPr>
              <a:t/>
            </a:r>
            <a:br>
              <a:rPr lang="zh-CN" altLang="en-US" sz="2400" dirty="0">
                <a:cs typeface="+mn-ea"/>
                <a:sym typeface="+mn-lt"/>
              </a:rPr>
            </a:b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184576"/>
          </a:xfrm>
        </p:spPr>
        <p:txBody>
          <a:bodyPr>
            <a:normAutofit fontScale="85000" lnSpcReduction="10000"/>
          </a:bodyPr>
          <a:lstStyle/>
          <a:p>
            <a:pPr lvl="1">
              <a:lnSpc>
                <a:spcPct val="140000"/>
              </a:lnSpc>
              <a:spcBef>
                <a:spcPct val="19608"/>
              </a:spcBef>
            </a:pPr>
            <a:r>
              <a:rPr lang="zh-CN" altLang="zh-CN" sz="2800" dirty="0">
                <a:solidFill>
                  <a:srgbClr val="FF0000"/>
                </a:solidFill>
              </a:rPr>
              <a:t>对例</a:t>
            </a:r>
            <a:r>
              <a:rPr lang="en-US" altLang="zh-CN" sz="2800" dirty="0">
                <a:solidFill>
                  <a:srgbClr val="FF0000"/>
                </a:solidFill>
              </a:rPr>
              <a:t>3-13</a:t>
            </a:r>
            <a:r>
              <a:rPr lang="zh-CN" altLang="zh-CN" sz="2800" dirty="0">
                <a:solidFill>
                  <a:srgbClr val="FF0000"/>
                </a:solidFill>
              </a:rPr>
              <a:t>的成绩数据降序排名，增加“成绩排名”列。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dirty="0">
                <a:sym typeface="+mn-lt"/>
              </a:rPr>
              <a:t>&gt;&gt;&gt; </a:t>
            </a:r>
            <a:r>
              <a:rPr lang="en-US" altLang="zh-CN" dirty="0" err="1">
                <a:sym typeface="+mn-lt"/>
              </a:rPr>
              <a:t>stu</a:t>
            </a:r>
            <a:r>
              <a:rPr lang="en-US" altLang="zh-CN" dirty="0">
                <a:sym typeface="+mn-lt"/>
              </a:rPr>
              <a:t>['</a:t>
            </a:r>
            <a:r>
              <a:rPr lang="zh-CN" altLang="en-US" dirty="0">
                <a:sym typeface="+mn-lt"/>
              </a:rPr>
              <a:t>成绩排名</a:t>
            </a:r>
            <a:r>
              <a:rPr lang="en-US" altLang="zh-CN" dirty="0">
                <a:sym typeface="+mn-lt"/>
              </a:rPr>
              <a:t>'] = </a:t>
            </a:r>
            <a:r>
              <a:rPr lang="en-US" altLang="zh-CN" dirty="0" err="1">
                <a:solidFill>
                  <a:srgbClr val="FF0000"/>
                </a:solidFill>
                <a:sym typeface="+mn-lt"/>
              </a:rPr>
              <a:t>stu</a:t>
            </a:r>
            <a:r>
              <a:rPr lang="en-US" altLang="zh-CN" dirty="0">
                <a:solidFill>
                  <a:srgbClr val="FF0000"/>
                </a:solidFill>
                <a:sym typeface="+mn-lt"/>
              </a:rPr>
              <a:t>['</a:t>
            </a:r>
            <a:r>
              <a:rPr lang="zh-CN" altLang="en-US" dirty="0">
                <a:solidFill>
                  <a:srgbClr val="FF0000"/>
                </a:solidFill>
                <a:sym typeface="+mn-lt"/>
              </a:rPr>
              <a:t>成绩</a:t>
            </a:r>
            <a:r>
              <a:rPr lang="en-US" altLang="zh-CN" dirty="0">
                <a:solidFill>
                  <a:srgbClr val="FF0000"/>
                </a:solidFill>
                <a:sym typeface="+mn-lt"/>
              </a:rPr>
              <a:t>'].</a:t>
            </a:r>
            <a:r>
              <a:rPr lang="en-US" altLang="zh-CN" dirty="0">
                <a:sym typeface="+mn-lt"/>
              </a:rPr>
              <a:t>rank(</a:t>
            </a:r>
            <a:r>
              <a:rPr lang="en-US" altLang="zh-CN" b="1" dirty="0">
                <a:solidFill>
                  <a:srgbClr val="C00000"/>
                </a:solidFill>
                <a:sym typeface="+mn-lt"/>
              </a:rPr>
              <a:t>method='min'</a:t>
            </a:r>
            <a:r>
              <a:rPr lang="en-US" altLang="zh-CN" dirty="0">
                <a:solidFill>
                  <a:srgbClr val="C00000"/>
                </a:solidFill>
                <a:sym typeface="+mn-lt"/>
              </a:rPr>
              <a:t>, </a:t>
            </a:r>
            <a:r>
              <a:rPr lang="en-US" altLang="zh-CN" dirty="0">
                <a:sym typeface="+mn-lt"/>
              </a:rPr>
              <a:t>ascending=False)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&gt;&gt;&gt;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stu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  <a:sym typeface="+mn-lt"/>
            </a:endParaRP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zh-CN" altLang="en-US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</a:t>
            </a:r>
            <a:r>
              <a:rPr lang="zh-CN" altLang="en-US" sz="20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性别 年龄 身高  体重  省份  成绩  月生活费  课程兴趣  案例教学 </a:t>
            </a:r>
            <a:r>
              <a:rPr lang="zh-CN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成绩排名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zh-CN" altLang="en-US" sz="2000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序号                                                           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21  female  21  165  45  </a:t>
            </a:r>
            <a:r>
              <a:rPr lang="en-US" altLang="zh-CN" sz="20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ShangHai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 93  1200     5     5 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2.0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22  female  19  167  42     </a:t>
            </a:r>
            <a:r>
              <a:rPr lang="en-US" altLang="zh-CN" sz="20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HuBei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 89   800     5     5 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4.0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23    male  21  169  80     </a:t>
            </a:r>
            <a:r>
              <a:rPr lang="en-US" altLang="zh-CN" sz="20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GanSu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 93   900     5     5 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2.0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24  female  21  160  49     </a:t>
            </a:r>
            <a:r>
              <a:rPr lang="en-US" altLang="zh-CN" sz="2000" b="1" dirty="0" err="1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HeBei</a:t>
            </a:r>
            <a:r>
              <a:rPr lang="en-US" altLang="zh-CN" sz="2000" b="1" dirty="0">
                <a:solidFill>
                  <a:srgbClr val="026BCA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  59  1100     3     5   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10.0</a:t>
            </a:r>
          </a:p>
          <a:p>
            <a:pPr marL="0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  <a:sym typeface="+mn-lt"/>
              </a:rPr>
              <a:t>.......</a:t>
            </a:r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endParaRPr lang="en-US" altLang="zh-CN" sz="1800" dirty="0"/>
          </a:p>
          <a:p>
            <a:pPr marL="400050" lvl="1" indent="0">
              <a:lnSpc>
                <a:spcPct val="140000"/>
              </a:lnSpc>
              <a:spcBef>
                <a:spcPct val="19608"/>
              </a:spcBef>
              <a:buNone/>
            </a:pPr>
            <a:r>
              <a:rPr lang="zh-CN" altLang="en-US" sz="2400" dirty="0"/>
              <a:t>排名结果显示，序号为</a:t>
            </a:r>
            <a:r>
              <a:rPr lang="en-US" altLang="zh-CN" sz="2400" dirty="0"/>
              <a:t>21</a:t>
            </a:r>
            <a:r>
              <a:rPr lang="zh-CN" altLang="en-US" sz="2400" dirty="0"/>
              <a:t>和</a:t>
            </a:r>
            <a:r>
              <a:rPr lang="en-US" altLang="zh-CN" sz="2400" dirty="0"/>
              <a:t>23</a:t>
            </a:r>
            <a:r>
              <a:rPr lang="zh-CN" altLang="en-US" sz="2400" dirty="0"/>
              <a:t>的两位学生</a:t>
            </a:r>
            <a:r>
              <a:rPr lang="zh-CN" altLang="en-US" sz="2400" b="1" dirty="0"/>
              <a:t>并列第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名，第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名空缺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6F4C4291-819C-4153-B964-0A6C91414723}"/>
              </a:ext>
            </a:extLst>
          </p:cNvPr>
          <p:cNvCxnSpPr>
            <a:cxnSpLocks/>
          </p:cNvCxnSpPr>
          <p:nvPr/>
        </p:nvCxnSpPr>
        <p:spPr>
          <a:xfrm>
            <a:off x="755576" y="1916832"/>
            <a:ext cx="79928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对话气泡: 圆角矩形 5">
            <a:extLst>
              <a:ext uri="{FF2B5EF4-FFF2-40B4-BE49-F238E27FC236}">
                <a16:creationId xmlns="" xmlns:a16="http://schemas.microsoft.com/office/drawing/2014/main" id="{CB1FB353-38FE-4131-8818-645D91A4B56E}"/>
              </a:ext>
            </a:extLst>
          </p:cNvPr>
          <p:cNvSpPr/>
          <p:nvPr/>
        </p:nvSpPr>
        <p:spPr>
          <a:xfrm>
            <a:off x="5724128" y="4941168"/>
            <a:ext cx="1512168" cy="432048"/>
          </a:xfrm>
          <a:prstGeom prst="wedgeRoundRectCallout">
            <a:avLst>
              <a:gd name="adj1" fmla="val 93627"/>
              <a:gd name="adj2" fmla="val -10258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FF0000"/>
                </a:solidFill>
              </a:rPr>
              <a:t>增加了</a:t>
            </a:r>
            <a:r>
              <a:rPr lang="en-US" altLang="zh-CN" sz="1600" dirty="0">
                <a:solidFill>
                  <a:srgbClr val="FF0000"/>
                </a:solidFill>
              </a:rPr>
              <a:t>1</a:t>
            </a:r>
            <a:r>
              <a:rPr lang="zh-CN" altLang="en-US" sz="1600" dirty="0">
                <a:solidFill>
                  <a:srgbClr val="FF0000"/>
                </a:solidFill>
              </a:rPr>
              <a:t>列</a:t>
            </a:r>
          </a:p>
        </p:txBody>
      </p:sp>
      <p:sp>
        <p:nvSpPr>
          <p:cNvPr id="4" name="椭圆 3"/>
          <p:cNvSpPr/>
          <p:nvPr/>
        </p:nvSpPr>
        <p:spPr>
          <a:xfrm>
            <a:off x="7668344" y="2060848"/>
            <a:ext cx="1152128" cy="29523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1970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}"/>
</p:tagLst>
</file>

<file path=ppt/theme/theme1.xml><?xml version="1.0" encoding="utf-8"?>
<a:theme xmlns:a="http://schemas.openxmlformats.org/drawingml/2006/main" name="Office 主题​​">
  <a:themeElements>
    <a:clrScheme name="自定义 14">
      <a:dk1>
        <a:sysClr val="windowText" lastClr="000000"/>
      </a:dk1>
      <a:lt1>
        <a:sysClr val="window" lastClr="FFFFFF"/>
      </a:lt1>
      <a:dk2>
        <a:srgbClr val="014C83"/>
      </a:dk2>
      <a:lt2>
        <a:srgbClr val="EEECE1"/>
      </a:lt2>
      <a:accent1>
        <a:srgbClr val="014C8D"/>
      </a:accent1>
      <a:accent2>
        <a:srgbClr val="012E57"/>
      </a:accent2>
      <a:accent3>
        <a:srgbClr val="24673E"/>
      </a:accent3>
      <a:accent4>
        <a:srgbClr val="3371A4"/>
      </a:accent4>
      <a:accent5>
        <a:srgbClr val="4BACC6"/>
      </a:accent5>
      <a:accent6>
        <a:srgbClr val="7FA6C7"/>
      </a:accent6>
      <a:hlink>
        <a:srgbClr val="0000FF"/>
      </a:hlink>
      <a:folHlink>
        <a:srgbClr val="CDDBE8"/>
      </a:folHlink>
    </a:clrScheme>
    <a:fontScheme name="jcgaousr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6394</TotalTime>
  <Words>517</Words>
  <Application>Microsoft Office PowerPoint</Application>
  <PresentationFormat>全屏显示(4:3)</PresentationFormat>
  <Paragraphs>82</Paragraphs>
  <Slides>7</Slides>
  <Notes>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PowerPoint 演示文稿</vt:lpstr>
      <vt:lpstr>PowerPoint 演示文稿</vt:lpstr>
      <vt:lpstr>排序| 【例题3-13】</vt:lpstr>
      <vt:lpstr>排序| 【例题3-13续】</vt:lpstr>
      <vt:lpstr>PowerPoint 演示文稿</vt:lpstr>
      <vt:lpstr>2. 排名 2. 排名 </vt:lpstr>
      <vt:lpstr> 排名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wangjing</dc:creator>
  <cp:lastModifiedBy>qw</cp:lastModifiedBy>
  <cp:revision>1200</cp:revision>
  <dcterms:created xsi:type="dcterms:W3CDTF">2011-06-03T14:53:00Z</dcterms:created>
  <dcterms:modified xsi:type="dcterms:W3CDTF">2022-03-26T13:40:53Z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2052-10.1.0.6489</vt:lpwstr>
  </property>
</Properties>
</file>