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05" r:id="rId2"/>
    <p:sldId id="515" r:id="rId3"/>
    <p:sldId id="516" r:id="rId4"/>
    <p:sldId id="517" r:id="rId5"/>
    <p:sldId id="518" r:id="rId6"/>
    <p:sldId id="550" r:id="rId7"/>
    <p:sldId id="519" r:id="rId8"/>
    <p:sldId id="520" r:id="rId9"/>
    <p:sldId id="551" r:id="rId10"/>
    <p:sldId id="552" r:id="rId11"/>
    <p:sldId id="554" r:id="rId12"/>
    <p:sldId id="555" r:id="rId13"/>
    <p:sldId id="553" r:id="rId14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5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026BCA"/>
    <a:srgbClr val="016BBB"/>
    <a:srgbClr val="006600"/>
    <a:srgbClr val="0276E0"/>
    <a:srgbClr val="026DCE"/>
    <a:srgbClr val="02539C"/>
    <a:srgbClr val="026AC8"/>
    <a:srgbClr val="0255A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7" autoAdjust="0"/>
    <p:restoredTop sz="94301" autoAdjust="0"/>
  </p:normalViewPr>
  <p:slideViewPr>
    <p:cSldViewPr>
      <p:cViewPr varScale="1">
        <p:scale>
          <a:sx n="69" d="100"/>
          <a:sy n="69" d="100"/>
        </p:scale>
        <p:origin x="-588" y="-60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-86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60"/>
    </p:cViewPr>
  </p:sorterViewPr>
  <p:notesViewPr>
    <p:cSldViewPr>
      <p:cViewPr varScale="1">
        <p:scale>
          <a:sx n="95" d="100"/>
          <a:sy n="95" d="100"/>
        </p:scale>
        <p:origin x="4042" y="62"/>
      </p:cViewPr>
      <p:guideLst>
        <p:guide orient="horz" pos="295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95161-C525-4802-9B57-5B3E986FDBC1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A82F5-4D64-4946-8E33-F6252E63C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2209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BA40E-5606-4029-863C-DF903B52E771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C17DF-1D58-4647-8B50-01AC32906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8032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436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111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716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913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524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611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26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886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022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1787218"/>
            <a:ext cx="6400800" cy="38515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179514" y="6487289"/>
            <a:ext cx="1439863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94127" y="145882"/>
            <a:ext cx="5832475" cy="777240"/>
          </a:xfrm>
        </p:spPr>
        <p:txBody>
          <a:bodyPr/>
          <a:lstStyle>
            <a:lvl1pPr algn="l">
              <a:defRPr sz="22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611560" y="1758018"/>
            <a:ext cx="7920880" cy="3851582"/>
          </a:xfrm>
        </p:spPr>
        <p:txBody>
          <a:bodyPr>
            <a:normAutofit/>
          </a:bodyPr>
          <a:lstStyle>
            <a:lvl1pPr marL="457200" indent="-457200" algn="l"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9" name="灯片编号占位符 3"/>
          <p:cNvSpPr txBox="1"/>
          <p:nvPr userDrawn="1"/>
        </p:nvSpPr>
        <p:spPr>
          <a:xfrm>
            <a:off x="7429520" y="6429396"/>
            <a:ext cx="1714480" cy="4286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</a:rPr>
              <a:t>东华大学计算机学院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8399242" y="6488448"/>
            <a:ext cx="642515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灯片编号占位符 3"/>
          <p:cNvSpPr txBox="1"/>
          <p:nvPr userDrawn="1"/>
        </p:nvSpPr>
        <p:spPr>
          <a:xfrm>
            <a:off x="551143" y="6558157"/>
            <a:ext cx="3389136" cy="27907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000" b="1" dirty="0">
                <a:solidFill>
                  <a:schemeClr val="bg1"/>
                </a:solidFill>
              </a:rPr>
              <a:t>东华大学计算机科学与技术学院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5832475" cy="777240"/>
          </a:xfrm>
        </p:spPr>
        <p:txBody>
          <a:bodyPr/>
          <a:lstStyle>
            <a:lvl1pPr algn="l">
              <a:defRPr sz="22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"/>
          <p:cNvSpPr>
            <a:spLocks noGrp="1"/>
          </p:cNvSpPr>
          <p:nvPr>
            <p:ph idx="1"/>
          </p:nvPr>
        </p:nvSpPr>
        <p:spPr>
          <a:xfrm>
            <a:off x="230832" y="1009531"/>
            <a:ext cx="858964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 marL="742950" indent="-285750">
              <a:buFont typeface="Wingdings" panose="05000000000000000000" pitchFamily="2" charset="2"/>
              <a:buChar char="u"/>
              <a:defRPr sz="2000"/>
            </a:lvl2pPr>
            <a:lvl3pPr marL="1143000" indent="-228600">
              <a:buFont typeface="Wingdings" panose="05000000000000000000" pitchFamily="2" charset="2"/>
              <a:buChar char="l"/>
              <a:defRPr sz="1800"/>
            </a:lvl3pPr>
            <a:lvl4pPr marL="1600200" indent="-228600">
              <a:buFont typeface="Wingdings" panose="05000000000000000000" pitchFamily="2" charset="2"/>
              <a:buChar char="n"/>
              <a:defRPr sz="1600"/>
            </a:lvl4pPr>
            <a:lvl5pPr marL="2057400" indent="-228600">
              <a:buFont typeface="Wingdings" panose="05000000000000000000" pitchFamily="2" charset="2"/>
              <a:buChar char="Ø"/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179514" y="6487289"/>
            <a:ext cx="1439863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灯片编号占位符 3"/>
          <p:cNvSpPr txBox="1"/>
          <p:nvPr userDrawn="1"/>
        </p:nvSpPr>
        <p:spPr>
          <a:xfrm>
            <a:off x="7429520" y="6429396"/>
            <a:ext cx="1714480" cy="4286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</a:rPr>
              <a:t>东华大学计算机学院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2320273"/>
            <a:ext cx="9144000" cy="1987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195477"/>
            <a:ext cx="9144000" cy="266429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9672" y="2776079"/>
            <a:ext cx="5988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000" b="1" dirty="0">
                <a:solidFill>
                  <a:schemeClr val="bg1"/>
                </a:solidFill>
                <a:cs typeface="+mn-ea"/>
                <a:sym typeface="+mn-lt"/>
              </a:rPr>
              <a:t>3. 5.  </a:t>
            </a:r>
            <a:r>
              <a:rPr lang="zh-CN" altLang="en-US" sz="4000" b="1" dirty="0">
                <a:solidFill>
                  <a:schemeClr val="bg1"/>
                </a:solidFill>
                <a:cs typeface="+mn-ea"/>
                <a:sym typeface="+mn-lt"/>
              </a:rPr>
              <a:t>数据规整化    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3BFC1A26-146D-4FF9-BF30-332B15F1BAAE}"/>
              </a:ext>
            </a:extLst>
          </p:cNvPr>
          <p:cNvSpPr txBox="1"/>
          <p:nvPr/>
        </p:nvSpPr>
        <p:spPr>
          <a:xfrm>
            <a:off x="2411760" y="4636860"/>
            <a:ext cx="51240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3.5.1  </a:t>
            </a:r>
            <a:r>
              <a:rPr lang="zh-CN" altLang="en-US" sz="2800" b="1" dirty="0"/>
              <a:t>数据合并</a:t>
            </a:r>
            <a:endParaRPr lang="en-US" altLang="zh-CN" sz="2800" b="1" dirty="0"/>
          </a:p>
          <a:p>
            <a:r>
              <a:rPr lang="en-US" altLang="zh-CN" sz="2800" b="1" dirty="0"/>
              <a:t>3.5.2  </a:t>
            </a:r>
            <a:r>
              <a:rPr lang="zh-CN" altLang="en-US" sz="2800" b="1" dirty="0"/>
              <a:t>数据排序</a:t>
            </a:r>
          </a:p>
        </p:txBody>
      </p:sp>
    </p:spTree>
    <p:extLst>
      <p:ext uri="{BB962C8B-B14F-4D97-AF65-F5344CB8AC3E}">
        <p14:creationId xmlns:p14="http://schemas.microsoft.com/office/powerpoint/2010/main" val="175946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6264695" cy="77724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数据合并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08720"/>
            <a:ext cx="8352928" cy="547260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b="1" dirty="0">
                <a:cs typeface="+mn-ea"/>
                <a:sym typeface="+mn-lt"/>
              </a:rPr>
              <a:t>同一实体的数据来自不同的业务系统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sz="1800" dirty="0">
                <a:cs typeface="+mn-ea"/>
                <a:sym typeface="+mn-lt"/>
              </a:rPr>
              <a:t>学生的基本信息来自教务系统</a:t>
            </a:r>
            <a:endParaRPr lang="en-US" altLang="zh-CN" sz="1800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sz="1800" dirty="0">
                <a:cs typeface="+mn-ea"/>
                <a:sym typeface="+mn-lt"/>
              </a:rPr>
              <a:t>学生刷卡数据来自一卡通系统</a:t>
            </a:r>
            <a:endParaRPr lang="en-US" altLang="zh-CN" sz="1800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b="1" dirty="0">
                <a:cs typeface="+mn-ea"/>
                <a:sym typeface="+mn-lt"/>
              </a:rPr>
              <a:t>相同实体的多个数据集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sz="1800" dirty="0">
                <a:cs typeface="+mn-ea"/>
                <a:sym typeface="+mn-lt"/>
              </a:rPr>
              <a:t>案例</a:t>
            </a:r>
            <a:r>
              <a:rPr lang="en-US" altLang="zh-CN" sz="1800" dirty="0">
                <a:cs typeface="+mn-ea"/>
                <a:sym typeface="+mn-lt"/>
              </a:rPr>
              <a:t>3-1</a:t>
            </a:r>
            <a:r>
              <a:rPr lang="zh-CN" altLang="en-US" sz="1800" dirty="0">
                <a:cs typeface="+mn-ea"/>
                <a:sym typeface="+mn-lt"/>
              </a:rPr>
              <a:t>中反馈数据存放在</a:t>
            </a:r>
            <a:r>
              <a:rPr lang="en-US" altLang="zh-CN" sz="1800" dirty="0">
                <a:cs typeface="+mn-ea"/>
                <a:sym typeface="+mn-lt"/>
              </a:rPr>
              <a:t>5</a:t>
            </a:r>
            <a:r>
              <a:rPr lang="zh-CN" altLang="en-US" sz="1800" dirty="0">
                <a:cs typeface="+mn-ea"/>
                <a:sym typeface="+mn-lt"/>
              </a:rPr>
              <a:t>张</a:t>
            </a:r>
            <a:r>
              <a:rPr lang="en-US" altLang="zh-CN" sz="1800" dirty="0">
                <a:cs typeface="+mn-ea"/>
                <a:sym typeface="+mn-lt"/>
              </a:rPr>
              <a:t>Excel</a:t>
            </a:r>
            <a:r>
              <a:rPr lang="zh-CN" altLang="en-US" sz="1800" dirty="0">
                <a:cs typeface="+mn-ea"/>
                <a:sym typeface="+mn-lt"/>
              </a:rPr>
              <a:t>表中</a:t>
            </a:r>
            <a:endParaRPr lang="en-US" altLang="zh-CN" sz="1800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b="1" dirty="0">
                <a:cs typeface="+mn-ea"/>
                <a:sym typeface="+mn-lt"/>
              </a:rPr>
              <a:t>数据合并可分为两种处理方式</a:t>
            </a:r>
            <a:endParaRPr lang="en-US" altLang="zh-CN" b="1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sz="1800" dirty="0">
                <a:cs typeface="+mn-ea"/>
                <a:sym typeface="+mn-lt"/>
              </a:rPr>
              <a:t>行数据追加</a:t>
            </a:r>
            <a:endParaRPr lang="en-US" altLang="zh-CN" sz="1800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sz="1800" dirty="0">
                <a:cs typeface="+mn-ea"/>
                <a:sym typeface="+mn-lt"/>
              </a:rPr>
              <a:t>列数据连接</a:t>
            </a:r>
          </a:p>
          <a:p>
            <a:pPr>
              <a:lnSpc>
                <a:spcPct val="140000"/>
              </a:lnSpc>
              <a:spcBef>
                <a:spcPct val="19608"/>
              </a:spcBef>
            </a:pPr>
            <a:endParaRPr lang="en-US" altLang="zh-CN" sz="2000" dirty="0">
              <a:cs typeface="+mn-ea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04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848871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数据合并 </a:t>
            </a: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| 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行数据追加 </a:t>
            </a:r>
            <a:r>
              <a:rPr lang="zh-CN" altLang="en-US" sz="2800" dirty="0" smtClean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  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【</a:t>
            </a:r>
            <a:r>
              <a:rPr lang="zh-CN" altLang="en-US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例题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3-11】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7936" y="3237765"/>
            <a:ext cx="8272536" cy="2855531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#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分别建立原有数据和新数据的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DataFrame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对象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colName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= ['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学号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 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姓名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 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专业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’ ]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#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列索引</a:t>
            </a:r>
          </a:p>
          <a:p>
            <a:pPr marL="0" indent="0">
              <a:lnSpc>
                <a:spcPct val="15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data1 = [ ['202003101','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赵成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软件工程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'], ['202005114','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李斌丽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机械制造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'], </a:t>
            </a:r>
          </a:p>
          <a:p>
            <a:pPr marL="0" indent="0">
              <a:lnSpc>
                <a:spcPct val="15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                     ['202009111','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孙武一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工业设计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'] ]     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#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值列表</a:t>
            </a:r>
          </a:p>
          <a:p>
            <a:pPr marL="0" indent="0">
              <a:lnSpc>
                <a:spcPct val="150000"/>
              </a:lnSpc>
              <a:spcBef>
                <a:spcPct val="19608"/>
              </a:spcBef>
              <a:buNone/>
            </a:pPr>
            <a:r>
              <a:rPr lang="en-US" altLang="zh-CN" sz="2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stu1 = 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DataFrame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( data1, columns=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colName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)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#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行索引自动生成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data2 = [['202003103','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王芳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软件工程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'], ['202005116','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袁一凡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工业设计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']]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stu2 = 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DataFrame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( data2, columns=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colName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)</a:t>
            </a:r>
            <a:endParaRPr lang="en-US" altLang="zh-CN" sz="2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008228"/>
              </p:ext>
            </p:extLst>
          </p:nvPr>
        </p:nvGraphicFramePr>
        <p:xfrm>
          <a:off x="611560" y="1556792"/>
          <a:ext cx="7992887" cy="1368153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136030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12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1032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043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512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1127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25019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283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学号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姓名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专业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学号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姓名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专业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65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202003101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赵成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软件工程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202003103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王芳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软件工程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65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202005114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李斌丽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机械制造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202005116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袁一凡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工业设计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65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202009111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>
                          <a:effectLst/>
                        </a:rPr>
                        <a:t>孙武一</a:t>
                      </a:r>
                      <a:endParaRPr lang="zh-CN" sz="14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effectLst/>
                        </a:rPr>
                        <a:t>工业设计</a:t>
                      </a:r>
                      <a:endParaRPr lang="zh-CN" sz="14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>
          <a:xfrm>
            <a:off x="547936" y="989112"/>
            <a:ext cx="8344544" cy="711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sz="2000" dirty="0"/>
              <a:t>将</a:t>
            </a:r>
            <a:r>
              <a:rPr lang="zh-CN" altLang="zh-CN" sz="2000" dirty="0"/>
              <a:t>新同学的信息</a:t>
            </a:r>
            <a:r>
              <a:rPr lang="zh-CN" altLang="en-US" sz="2000" dirty="0"/>
              <a:t>（右表）</a:t>
            </a:r>
            <a:r>
              <a:rPr lang="zh-CN" altLang="zh-CN" sz="2000" dirty="0"/>
              <a:t>添加</a:t>
            </a:r>
            <a:r>
              <a:rPr lang="zh-CN" altLang="en-US" sz="2000" dirty="0"/>
              <a:t>到</a:t>
            </a:r>
            <a:r>
              <a:rPr lang="zh-CN" altLang="zh-CN" sz="2000" dirty="0"/>
              <a:t>学生基本信息</a:t>
            </a:r>
            <a:r>
              <a:rPr lang="zh-CN" altLang="en-US" sz="2000" dirty="0"/>
              <a:t>（左表）中</a:t>
            </a:r>
            <a:endParaRPr lang="en-US" altLang="zh-CN" sz="20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628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8208911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数据合并 </a:t>
            </a: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| 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行数据追加 例题</a:t>
            </a:r>
            <a:r>
              <a:rPr lang="en-US" altLang="zh-CN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3-11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续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08720"/>
            <a:ext cx="8640960" cy="5616624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zh-CN" sz="2000" dirty="0"/>
              <a:t>原数据的列与新增数据的列完全相同</a:t>
            </a:r>
            <a:endParaRPr lang="en-US" altLang="zh-CN" sz="2000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zh-CN" sz="2400" dirty="0"/>
              <a:t>轴向连接：</a:t>
            </a:r>
            <a:r>
              <a:rPr lang="en-US" altLang="zh-CN" sz="2400" b="1" dirty="0" err="1">
                <a:solidFill>
                  <a:srgbClr val="C00000"/>
                </a:solidFill>
              </a:rPr>
              <a:t>concat</a:t>
            </a:r>
            <a:r>
              <a:rPr lang="en-US" altLang="zh-CN" sz="2400" b="1" dirty="0">
                <a:solidFill>
                  <a:srgbClr val="C00000"/>
                </a:solidFill>
              </a:rPr>
              <a:t>()</a:t>
            </a:r>
            <a:r>
              <a:rPr lang="zh-CN" altLang="zh-CN" sz="2400" b="1" dirty="0">
                <a:solidFill>
                  <a:srgbClr val="C00000"/>
                </a:solidFill>
              </a:rPr>
              <a:t>函数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#axis=0</a:t>
            </a:r>
            <a:r>
              <a:rPr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，表示按行进行数据追加</a:t>
            </a:r>
            <a:endParaRPr lang="en-US" altLang="zh-CN" sz="1800" b="1" dirty="0"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newstu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=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pd.concat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([stu1,stu2], axis=0) 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newstu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400050" lvl="1" indent="0">
              <a:buNone/>
            </a:pPr>
            <a:r>
              <a:rPr lang="zh-CN" altLang="en-US" sz="18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      </a:t>
            </a:r>
            <a:r>
              <a:rPr lang="zh-CN" altLang="en-US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学号           姓名    专业</a:t>
            </a:r>
          </a:p>
          <a:p>
            <a:pPr marL="400050" lvl="1" indent="0"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0  202003101         </a:t>
            </a:r>
            <a:r>
              <a:rPr lang="zh-CN" altLang="en-US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赵成    软件工程</a:t>
            </a:r>
          </a:p>
          <a:p>
            <a:pPr marL="400050" lvl="1" indent="0"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1  202005114         </a:t>
            </a:r>
            <a:r>
              <a:rPr lang="zh-CN" altLang="en-US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李斌丽   机械制造</a:t>
            </a:r>
          </a:p>
          <a:p>
            <a:pPr marL="400050" lvl="1" indent="0"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2  202009111         </a:t>
            </a:r>
            <a:r>
              <a:rPr lang="zh-CN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孙武一   工业设计</a:t>
            </a:r>
          </a:p>
          <a:p>
            <a:pPr marL="400050" lvl="1" indent="0"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0  202003103         </a:t>
            </a:r>
            <a:r>
              <a:rPr lang="zh-CN" altLang="en-US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王芳     软件工程</a:t>
            </a:r>
          </a:p>
          <a:p>
            <a:pPr marL="400050" lvl="1" indent="0">
              <a:buNone/>
            </a:pPr>
            <a:r>
              <a:rPr lang="en-US" altLang="zh-CN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1  202005116         </a:t>
            </a:r>
            <a:r>
              <a:rPr lang="zh-CN" altLang="en-US" sz="18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袁一凡   工业设计</a:t>
            </a:r>
            <a:endParaRPr lang="en-US" altLang="zh-CN" sz="18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="" xmlns:a16="http://schemas.microsoft.com/office/drawing/2014/main" id="{EC815F43-3EE9-4C01-A628-602D5AA0DC75}"/>
              </a:ext>
            </a:extLst>
          </p:cNvPr>
          <p:cNvSpPr/>
          <p:nvPr/>
        </p:nvSpPr>
        <p:spPr>
          <a:xfrm>
            <a:off x="971600" y="3356992"/>
            <a:ext cx="1800200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话气泡: 圆角矩形 4">
            <a:extLst>
              <a:ext uri="{FF2B5EF4-FFF2-40B4-BE49-F238E27FC236}">
                <a16:creationId xmlns="" xmlns:a16="http://schemas.microsoft.com/office/drawing/2014/main" id="{0739A47B-3859-4F44-B6E1-F5DFBEE866A5}"/>
              </a:ext>
            </a:extLst>
          </p:cNvPr>
          <p:cNvSpPr/>
          <p:nvPr/>
        </p:nvSpPr>
        <p:spPr>
          <a:xfrm>
            <a:off x="6516216" y="1430385"/>
            <a:ext cx="2160240" cy="468314"/>
          </a:xfrm>
          <a:prstGeom prst="wedgeRoundRectCallout">
            <a:avLst>
              <a:gd name="adj1" fmla="val -51975"/>
              <a:gd name="adj2" fmla="val 175469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按行追加数据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582838E1-EB51-4CE5-A13A-16E182738B31}"/>
              </a:ext>
            </a:extLst>
          </p:cNvPr>
          <p:cNvSpPr/>
          <p:nvPr/>
        </p:nvSpPr>
        <p:spPr>
          <a:xfrm>
            <a:off x="683568" y="1412776"/>
            <a:ext cx="4320480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2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848871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数据合并 </a:t>
            </a: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| 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列数据连接 </a:t>
            </a:r>
            <a:r>
              <a:rPr lang="zh-CN" altLang="en-US" sz="2800" dirty="0" smtClean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【</a:t>
            </a:r>
            <a:r>
              <a:rPr lang="zh-CN" altLang="en-US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例题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3-12】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712968" cy="1008112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sz="2000" dirty="0"/>
              <a:t>分析各专业学生上图书馆的习惯</a:t>
            </a:r>
            <a:endParaRPr lang="en-US" altLang="zh-CN" sz="2000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dirty="0"/>
              <a:t>去图书馆的信息保存在学生刷卡表中</a:t>
            </a:r>
            <a:endParaRPr lang="en-US" altLang="zh-CN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dirty="0"/>
              <a:t>将教务数据表与刷卡信息表拼接起来</a:t>
            </a:r>
            <a:endParaRPr lang="en-US" altLang="zh-CN" dirty="0">
              <a:cs typeface="+mn-ea"/>
              <a:sym typeface="+mn-lt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="" xmlns:a16="http://schemas.microsoft.com/office/drawing/2014/main" id="{EDB8F69D-0A85-43F3-BDE4-DCEFF3271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688499"/>
              </p:ext>
            </p:extLst>
          </p:nvPr>
        </p:nvGraphicFramePr>
        <p:xfrm>
          <a:off x="971600" y="2852936"/>
          <a:ext cx="6552728" cy="2343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6168">
                  <a:extLst>
                    <a:ext uri="{9D8B030D-6E8A-4147-A177-3AD203B41FA5}">
                      <a16:colId xmlns="" xmlns:a16="http://schemas.microsoft.com/office/drawing/2014/main" val="4111044774"/>
                    </a:ext>
                  </a:extLst>
                </a:gridCol>
                <a:gridCol w="1497223">
                  <a:extLst>
                    <a:ext uri="{9D8B030D-6E8A-4147-A177-3AD203B41FA5}">
                      <a16:colId xmlns="" xmlns:a16="http://schemas.microsoft.com/office/drawing/2014/main" val="1676247519"/>
                    </a:ext>
                  </a:extLst>
                </a:gridCol>
                <a:gridCol w="1913236">
                  <a:extLst>
                    <a:ext uri="{9D8B030D-6E8A-4147-A177-3AD203B41FA5}">
                      <a16:colId xmlns="" xmlns:a16="http://schemas.microsoft.com/office/drawing/2014/main" val="575499997"/>
                    </a:ext>
                  </a:extLst>
                </a:gridCol>
                <a:gridCol w="1646101">
                  <a:extLst>
                    <a:ext uri="{9D8B030D-6E8A-4147-A177-3AD203B41FA5}">
                      <a16:colId xmlns="" xmlns:a16="http://schemas.microsoft.com/office/drawing/2014/main" val="1324018638"/>
                    </a:ext>
                  </a:extLst>
                </a:gridCol>
              </a:tblGrid>
              <a:tr h="3195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ID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刷卡地点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刷卡时间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消费金额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35158734"/>
                  </a:ext>
                </a:extLst>
              </a:tr>
              <a:tr h="337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202003101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一食堂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20180305 11:45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14.2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86744360"/>
                  </a:ext>
                </a:extLst>
              </a:tr>
              <a:tr h="337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104574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教育超市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20180307 17:30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25.2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1488331"/>
                  </a:ext>
                </a:extLst>
              </a:tr>
              <a:tr h="337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202003103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图书馆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20180311 18:23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18396751"/>
                  </a:ext>
                </a:extLst>
              </a:tr>
              <a:tr h="337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202005116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图书馆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20180312 08:32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51877087"/>
                  </a:ext>
                </a:extLst>
              </a:tr>
              <a:tr h="337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202005114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二食堂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20180312 17:08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12.5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28993674"/>
                  </a:ext>
                </a:extLst>
              </a:tr>
              <a:tr h="337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202003101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</a:rPr>
                        <a:t>图书馆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20180314 13:45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22094123"/>
                  </a:ext>
                </a:extLst>
              </a:tr>
            </a:tbl>
          </a:graphicData>
        </a:graphic>
      </p:graphicFrame>
      <p:sp>
        <p:nvSpPr>
          <p:cNvPr id="4" name="椭圆 3">
            <a:extLst>
              <a:ext uri="{FF2B5EF4-FFF2-40B4-BE49-F238E27FC236}">
                <a16:creationId xmlns="" xmlns:a16="http://schemas.microsoft.com/office/drawing/2014/main" id="{087C8CBC-9B21-4B33-893B-D30A089F156E}"/>
              </a:ext>
            </a:extLst>
          </p:cNvPr>
          <p:cNvSpPr/>
          <p:nvPr/>
        </p:nvSpPr>
        <p:spPr>
          <a:xfrm>
            <a:off x="971600" y="2636912"/>
            <a:ext cx="1512168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39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848871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数据合并 </a:t>
            </a: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| 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列数据连接 例题</a:t>
            </a:r>
            <a:r>
              <a:rPr lang="en-US" altLang="zh-CN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3-12</a:t>
            </a:r>
            <a:endParaRPr lang="zh-CN" altLang="en-US" dirty="0">
              <a:solidFill>
                <a:schemeClr val="tx2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228419"/>
              </p:ext>
            </p:extLst>
          </p:nvPr>
        </p:nvGraphicFramePr>
        <p:xfrm>
          <a:off x="647564" y="3212977"/>
          <a:ext cx="7848872" cy="2399907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6201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22869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811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参数说明：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74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x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左数据对象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74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y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右数据对象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452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how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数据对象连接的方式，</a:t>
                      </a:r>
                      <a:r>
                        <a:rPr 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'inner'</a:t>
                      </a: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'outer'</a:t>
                      </a: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'left'</a:t>
                      </a: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'right'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74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left_on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左数据对象用于连接的键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74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right_on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右数据对象用于连接的键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内容占位符 2"/>
          <p:cNvSpPr txBox="1">
            <a:spLocks/>
          </p:cNvSpPr>
          <p:nvPr/>
        </p:nvSpPr>
        <p:spPr>
          <a:xfrm>
            <a:off x="323528" y="1268760"/>
            <a:ext cx="8712968" cy="1116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40000"/>
              </a:lnSpc>
              <a:spcBef>
                <a:spcPct val="19608"/>
              </a:spcBef>
              <a:buFont typeface="Wingdings" panose="05000000000000000000" pitchFamily="2" charset="2"/>
              <a:buChar char="n"/>
            </a:pPr>
            <a:r>
              <a:rPr lang="zh-CN" altLang="en-US" sz="2400" dirty="0"/>
              <a:t>教务表</a:t>
            </a:r>
            <a:r>
              <a:rPr lang="zh-CN" altLang="zh-CN" sz="2400" dirty="0"/>
              <a:t>“</a:t>
            </a:r>
            <a:r>
              <a:rPr lang="zh-CN" altLang="zh-CN" sz="2400" dirty="0">
                <a:solidFill>
                  <a:srgbClr val="FF0000"/>
                </a:solidFill>
              </a:rPr>
              <a:t>学号”</a:t>
            </a:r>
            <a:r>
              <a:rPr lang="zh-CN" altLang="en-US" sz="2400" dirty="0"/>
              <a:t>与一卡通表</a:t>
            </a:r>
            <a:r>
              <a:rPr lang="zh-CN" altLang="en-US" sz="2400" dirty="0">
                <a:solidFill>
                  <a:srgbClr val="FF0000"/>
                </a:solidFill>
              </a:rPr>
              <a:t>“</a:t>
            </a:r>
            <a:r>
              <a:rPr lang="en-US" altLang="zh-CN" sz="2400" dirty="0">
                <a:solidFill>
                  <a:srgbClr val="FF0000"/>
                </a:solidFill>
              </a:rPr>
              <a:t>ID</a:t>
            </a:r>
            <a:r>
              <a:rPr lang="zh-CN" altLang="en-US" sz="2400" dirty="0">
                <a:solidFill>
                  <a:srgbClr val="FF0000"/>
                </a:solidFill>
              </a:rPr>
              <a:t>”</a:t>
            </a:r>
            <a:r>
              <a:rPr lang="zh-CN" altLang="en-US" sz="2400" dirty="0"/>
              <a:t>表示相同概念</a:t>
            </a:r>
            <a:endParaRPr lang="en-US" altLang="zh-CN" sz="2400" dirty="0"/>
          </a:p>
          <a:p>
            <a:pPr lvl="2">
              <a:lnSpc>
                <a:spcPct val="140000"/>
              </a:lnSpc>
              <a:spcBef>
                <a:spcPct val="19608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比较两张表</a:t>
            </a:r>
            <a:r>
              <a:rPr lang="zh-CN" altLang="zh-CN" sz="2000" dirty="0"/>
              <a:t>每行的“学号”</a:t>
            </a:r>
            <a:r>
              <a:rPr lang="zh-CN" altLang="en-US" sz="2000" dirty="0"/>
              <a:t>与“</a:t>
            </a:r>
            <a:r>
              <a:rPr lang="en-US" altLang="zh-CN" sz="2000" dirty="0"/>
              <a:t>ID</a:t>
            </a:r>
            <a:r>
              <a:rPr lang="zh-CN" altLang="en-US" sz="2000" dirty="0"/>
              <a:t>”</a:t>
            </a:r>
            <a:r>
              <a:rPr lang="zh-CN" altLang="zh-CN" sz="2000" dirty="0"/>
              <a:t>（键）</a:t>
            </a:r>
            <a:r>
              <a:rPr lang="zh-CN" altLang="en-US" sz="2000" dirty="0"/>
              <a:t>进行拼接</a:t>
            </a:r>
            <a:endParaRPr lang="en-US" altLang="zh-CN" sz="2000" dirty="0"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FontTx/>
              <a:buNone/>
            </a:pPr>
            <a:r>
              <a:rPr lang="en-US" altLang="zh-CN" sz="2000" dirty="0"/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merge ( 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x,y,how,left_on,right_on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C7C51689-3AF1-42E4-9EF0-BD6782C8CA40}"/>
              </a:ext>
            </a:extLst>
          </p:cNvPr>
          <p:cNvSpPr/>
          <p:nvPr/>
        </p:nvSpPr>
        <p:spPr>
          <a:xfrm>
            <a:off x="539552" y="2384885"/>
            <a:ext cx="7920880" cy="612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88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8280919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数据合并 </a:t>
            </a: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| 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列数据连接 例题</a:t>
            </a:r>
            <a:r>
              <a:rPr lang="en-US" altLang="zh-CN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3-12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续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124744"/>
            <a:ext cx="8712968" cy="475252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参数</a:t>
            </a:r>
            <a:r>
              <a:rPr lang="en-US" altLang="zh-CN" sz="2000" dirty="0">
                <a:solidFill>
                  <a:srgbClr val="FF0000"/>
                </a:solidFill>
              </a:rPr>
              <a:t>how</a:t>
            </a:r>
            <a:r>
              <a:rPr lang="zh-CN" altLang="en-US" sz="2000" dirty="0">
                <a:solidFill>
                  <a:srgbClr val="FF0000"/>
                </a:solidFill>
              </a:rPr>
              <a:t>定义了四种合并方式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dirty="0"/>
              <a:t>1</a:t>
            </a:r>
            <a:r>
              <a:rPr lang="zh-CN" altLang="en-US" sz="1800" dirty="0"/>
              <a:t>）</a:t>
            </a:r>
            <a:r>
              <a:rPr lang="en-US" altLang="zh-CN" sz="1800" dirty="0">
                <a:solidFill>
                  <a:srgbClr val="FF0000"/>
                </a:solidFill>
              </a:rPr>
              <a:t>inner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内连接，拼接两个数据对象中键值交集的行，其余忽略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dirty="0"/>
              <a:t>2</a:t>
            </a:r>
            <a:r>
              <a:rPr lang="zh-CN" altLang="en-US" sz="1800" dirty="0"/>
              <a:t>）</a:t>
            </a:r>
            <a:r>
              <a:rPr lang="en-US" altLang="zh-CN" sz="1800" dirty="0">
                <a:solidFill>
                  <a:srgbClr val="FF0000"/>
                </a:solidFill>
              </a:rPr>
              <a:t>outer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外连接，拼接两个数据对象中键值并集的行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dirty="0"/>
              <a:t>3</a:t>
            </a:r>
            <a:r>
              <a:rPr lang="zh-CN" altLang="en-US" sz="1800" dirty="0"/>
              <a:t>）</a:t>
            </a:r>
            <a:r>
              <a:rPr lang="en-US" altLang="zh-CN" sz="1800" dirty="0">
                <a:solidFill>
                  <a:srgbClr val="FF0000"/>
                </a:solidFill>
              </a:rPr>
              <a:t>left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左连接，取出</a:t>
            </a:r>
            <a:r>
              <a:rPr lang="en-US" altLang="zh-CN" sz="1800" dirty="0"/>
              <a:t>x</a:t>
            </a:r>
            <a:r>
              <a:rPr lang="zh-CN" altLang="en-US" sz="1800" dirty="0"/>
              <a:t>的全部行，拼接</a:t>
            </a:r>
            <a:r>
              <a:rPr lang="en-US" altLang="zh-CN" sz="1800" dirty="0"/>
              <a:t>y</a:t>
            </a:r>
            <a:r>
              <a:rPr lang="zh-CN" altLang="en-US" sz="1800" dirty="0"/>
              <a:t>中匹配的键值行。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dirty="0"/>
              <a:t>4</a:t>
            </a:r>
            <a:r>
              <a:rPr lang="zh-CN" altLang="en-US" sz="1800" dirty="0"/>
              <a:t>）</a:t>
            </a:r>
            <a:r>
              <a:rPr lang="en-US" altLang="zh-CN" sz="1800" dirty="0">
                <a:solidFill>
                  <a:srgbClr val="FF0000"/>
                </a:solidFill>
              </a:rPr>
              <a:t>right</a:t>
            </a:r>
            <a:r>
              <a:rPr lang="zh-CN" altLang="en-US" sz="1800" dirty="0">
                <a:solidFill>
                  <a:srgbClr val="FF0000"/>
                </a:solidFill>
              </a:rPr>
              <a:t>：</a:t>
            </a:r>
            <a:r>
              <a:rPr lang="zh-CN" altLang="en-US" sz="1800" dirty="0"/>
              <a:t>右连接，取出</a:t>
            </a:r>
            <a:r>
              <a:rPr lang="en-US" altLang="zh-CN" sz="1800" dirty="0"/>
              <a:t>y</a:t>
            </a:r>
            <a:r>
              <a:rPr lang="zh-CN" altLang="en-US" sz="1800" dirty="0"/>
              <a:t>的全部行，拼接</a:t>
            </a:r>
            <a:r>
              <a:rPr lang="en-US" altLang="zh-CN" sz="1800" dirty="0"/>
              <a:t>x</a:t>
            </a:r>
            <a:r>
              <a:rPr lang="zh-CN" altLang="en-US" sz="1800" dirty="0"/>
              <a:t>中匹配的键值行。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cs typeface="+mn-ea"/>
              <a:sym typeface="+mn-lt"/>
            </a:endParaRPr>
          </a:p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sz="2000" dirty="0">
                <a:solidFill>
                  <a:srgbClr val="FF0000"/>
                </a:solidFill>
                <a:cs typeface="+mn-ea"/>
                <a:sym typeface="+mn-lt"/>
              </a:rPr>
              <a:t>本例中分析学生去图书馆的信息</a:t>
            </a:r>
            <a:endParaRPr lang="en-US" altLang="zh-CN" sz="2000" dirty="0">
              <a:solidFill>
                <a:srgbClr val="FF0000"/>
              </a:solidFill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dirty="0">
                <a:cs typeface="+mn-ea"/>
                <a:sym typeface="+mn-lt"/>
              </a:rPr>
              <a:t>采用“</a:t>
            </a:r>
            <a:r>
              <a:rPr lang="en-US" altLang="zh-CN" dirty="0">
                <a:cs typeface="+mn-ea"/>
                <a:sym typeface="+mn-lt"/>
              </a:rPr>
              <a:t>left”</a:t>
            </a:r>
            <a:r>
              <a:rPr lang="zh-CN" altLang="en-US" dirty="0">
                <a:cs typeface="+mn-ea"/>
                <a:sym typeface="+mn-lt"/>
              </a:rPr>
              <a:t>方式合并“学生表”和“一卡通表”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dirty="0">
                <a:cs typeface="+mn-ea"/>
                <a:sym typeface="+mn-lt"/>
              </a:rPr>
              <a:t>忽略一卡通记录中非学生记录</a:t>
            </a:r>
            <a:endParaRPr lang="en-US" altLang="zh-CN" dirty="0">
              <a:cs typeface="+mn-ea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2056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8280919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列数据合并 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例题</a:t>
            </a:r>
            <a:r>
              <a:rPr lang="en-US" altLang="zh-CN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3-12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续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4968552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cardcol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['ID','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刷卡地点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刷卡时间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消费金额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data3 = [ ['202003101','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一食堂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','20180305 1145',14.2], ['104574','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教育超市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','20180307 1730',25.2],['202003103','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图书馆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','20180311 1823'],['202005116','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图书馆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','20180312 0832'],['202005114','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二食堂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','20180312 1708',12.5],['202003101','</a:t>
            </a:r>
            <a:r>
              <a:rPr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图书馆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','20180314 1345’]]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创建一卡通数据对象</a:t>
            </a:r>
            <a:endParaRPr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card =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data3, columns=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cardcol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  <a:r>
              <a:rPr lang="en-US" altLang="zh-CN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zh-CN" altLang="en-US" sz="2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04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8280919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列数据合并 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例题</a:t>
            </a:r>
            <a:r>
              <a:rPr lang="en-US" altLang="zh-CN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3-12</a:t>
            </a:r>
            <a:r>
              <a:rPr lang="zh-CN" altLang="en-US" sz="2800" dirty="0">
                <a:solidFill>
                  <a:schemeClr val="tx2"/>
                </a:solidFill>
                <a:latin typeface="Arial"/>
                <a:ea typeface="Microsoft YaHei"/>
                <a:cs typeface="+mn-ea"/>
                <a:sym typeface="+mn-lt"/>
              </a:rPr>
              <a:t>续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052736"/>
            <a:ext cx="8928992" cy="496855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4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4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左连接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pd.merge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newstu,card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how='left', 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left_on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zh-CN" altLang="en-US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学号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altLang="zh-CN" sz="2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right_on</a:t>
            </a:r>
            <a:r>
              <a:rPr lang="en-US" altLang="zh-CN" sz="2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='ID’)</a:t>
            </a:r>
            <a:r>
              <a:rPr lang="en-US" altLang="zh-CN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学号	姓名	专业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刷卡地点	刷卡时间	消费金额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	202003101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赵成	软件工程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202003101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一食堂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20180305 1145	14.2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	202003101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赵成	软件工程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202003101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图书馆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20180314 1345	</a:t>
            </a:r>
            <a:r>
              <a:rPr lang="en-US" altLang="zh-CN" sz="19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zh-CN" sz="19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	202005114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李斌丽	机械制造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202005114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二食堂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20180312 1708	12.5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	202009111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孙武一	工业设计	      </a:t>
            </a:r>
            <a:r>
              <a:rPr lang="en-US" altLang="zh-CN" sz="19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zh-CN" sz="19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</a:t>
            </a:r>
            <a:r>
              <a:rPr lang="en-US" altLang="zh-CN" sz="19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CN" sz="19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zh-CN" sz="19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	202003103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王芳	软件工程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202003103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图书馆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20180311 1823	</a:t>
            </a:r>
            <a:r>
              <a:rPr lang="en-US" altLang="zh-CN" sz="19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zh-CN" sz="19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	202005116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袁一凡	工业设计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202005116	</a:t>
            </a:r>
            <a:r>
              <a:rPr lang="zh-CN" altLang="en-US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图书馆	</a:t>
            </a:r>
            <a:r>
              <a:rPr lang="en-US" altLang="zh-CN" sz="19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20180312 0832	</a:t>
            </a:r>
            <a:r>
              <a:rPr lang="en-US" altLang="zh-CN" sz="19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zh-CN" sz="19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="" xmlns:a16="http://schemas.microsoft.com/office/drawing/2014/main" id="{4F8B437A-328C-4715-B6E2-E45B77EE690F}"/>
              </a:ext>
            </a:extLst>
          </p:cNvPr>
          <p:cNvSpPr/>
          <p:nvPr/>
        </p:nvSpPr>
        <p:spPr>
          <a:xfrm>
            <a:off x="3563888" y="1916832"/>
            <a:ext cx="172819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1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54FD845-7834-4413-88F7-370555A9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F3AC320D-347C-4D5D-A5F5-14560DFA8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07" y="1124744"/>
            <a:ext cx="8379515" cy="4392488"/>
          </a:xfrm>
        </p:spPr>
      </p:pic>
      <p:sp>
        <p:nvSpPr>
          <p:cNvPr id="8" name="椭圆 7">
            <a:extLst>
              <a:ext uri="{FF2B5EF4-FFF2-40B4-BE49-F238E27FC236}">
                <a16:creationId xmlns="" xmlns:a16="http://schemas.microsoft.com/office/drawing/2014/main" id="{1AC19C37-C14E-435B-B25B-3FFA8F65E5F2}"/>
              </a:ext>
            </a:extLst>
          </p:cNvPr>
          <p:cNvSpPr/>
          <p:nvPr/>
        </p:nvSpPr>
        <p:spPr>
          <a:xfrm>
            <a:off x="2555776" y="1844824"/>
            <a:ext cx="115212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="" xmlns:a16="http://schemas.microsoft.com/office/drawing/2014/main" id="{F3E86D54-1D1A-4892-B937-5074448B3119}"/>
              </a:ext>
            </a:extLst>
          </p:cNvPr>
          <p:cNvSpPr/>
          <p:nvPr/>
        </p:nvSpPr>
        <p:spPr>
          <a:xfrm>
            <a:off x="237607" y="929614"/>
            <a:ext cx="2534193" cy="9152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106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54FD845-7834-4413-88F7-370555A9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0C9F98E4-15E9-4E6F-902F-F36C47EEA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55" y="980728"/>
            <a:ext cx="8185690" cy="4392488"/>
          </a:xfrm>
        </p:spPr>
      </p:pic>
      <p:sp>
        <p:nvSpPr>
          <p:cNvPr id="6" name="椭圆 5">
            <a:extLst>
              <a:ext uri="{FF2B5EF4-FFF2-40B4-BE49-F238E27FC236}">
                <a16:creationId xmlns="" xmlns:a16="http://schemas.microsoft.com/office/drawing/2014/main" id="{F9ED2500-1695-49C8-AC34-9BE40DDB3BBD}"/>
              </a:ext>
            </a:extLst>
          </p:cNvPr>
          <p:cNvSpPr/>
          <p:nvPr/>
        </p:nvSpPr>
        <p:spPr>
          <a:xfrm>
            <a:off x="1259632" y="980728"/>
            <a:ext cx="3384376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97E6AF03-8C7C-4682-9584-84CB7F36E3FB}"/>
              </a:ext>
            </a:extLst>
          </p:cNvPr>
          <p:cNvSpPr/>
          <p:nvPr/>
        </p:nvSpPr>
        <p:spPr>
          <a:xfrm>
            <a:off x="2771800" y="1844824"/>
            <a:ext cx="136815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801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54FD845-7834-4413-88F7-370555A9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2DDB31F8-CD95-49E9-A360-A12C1BA5F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80728"/>
            <a:ext cx="8338281" cy="4032448"/>
          </a:xfrm>
        </p:spPr>
      </p:pic>
      <p:sp>
        <p:nvSpPr>
          <p:cNvPr id="6" name="椭圆 5">
            <a:extLst>
              <a:ext uri="{FF2B5EF4-FFF2-40B4-BE49-F238E27FC236}">
                <a16:creationId xmlns="" xmlns:a16="http://schemas.microsoft.com/office/drawing/2014/main" id="{74659A37-5D44-4D94-8EF9-1C0FA53AE543}"/>
              </a:ext>
            </a:extLst>
          </p:cNvPr>
          <p:cNvSpPr/>
          <p:nvPr/>
        </p:nvSpPr>
        <p:spPr>
          <a:xfrm>
            <a:off x="1259632" y="980728"/>
            <a:ext cx="2880320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60D2C72B-2BE9-4E29-9E04-2841BE30DC1F}"/>
              </a:ext>
            </a:extLst>
          </p:cNvPr>
          <p:cNvSpPr/>
          <p:nvPr/>
        </p:nvSpPr>
        <p:spPr>
          <a:xfrm>
            <a:off x="2843808" y="1757968"/>
            <a:ext cx="1224136" cy="4468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68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54FD845-7834-4413-88F7-370555A9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9C1F92AD-E7A4-4D92-96F2-2CE5ECBCF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501293"/>
            <a:ext cx="8064896" cy="4608512"/>
          </a:xfrm>
        </p:spPr>
      </p:pic>
      <p:sp>
        <p:nvSpPr>
          <p:cNvPr id="6" name="椭圆 5">
            <a:extLst>
              <a:ext uri="{FF2B5EF4-FFF2-40B4-BE49-F238E27FC236}">
                <a16:creationId xmlns="" xmlns:a16="http://schemas.microsoft.com/office/drawing/2014/main" id="{C7D30E0A-7F88-4C2F-AFA2-108FA8621761}"/>
              </a:ext>
            </a:extLst>
          </p:cNvPr>
          <p:cNvSpPr/>
          <p:nvPr/>
        </p:nvSpPr>
        <p:spPr>
          <a:xfrm>
            <a:off x="1328471" y="1412776"/>
            <a:ext cx="2808312" cy="777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80C35619-13ED-414B-9F4D-8014B2331E97}"/>
              </a:ext>
            </a:extLst>
          </p:cNvPr>
          <p:cNvSpPr/>
          <p:nvPr/>
        </p:nvSpPr>
        <p:spPr>
          <a:xfrm>
            <a:off x="2879812" y="2272487"/>
            <a:ext cx="1188132" cy="4215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DB8F954C-2D2A-4DBC-B185-EB9FBA45158A}"/>
              </a:ext>
            </a:extLst>
          </p:cNvPr>
          <p:cNvSpPr/>
          <p:nvPr/>
        </p:nvSpPr>
        <p:spPr>
          <a:xfrm>
            <a:off x="5364087" y="382981"/>
            <a:ext cx="3528392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如果连接的键，名称相同，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假如</a:t>
            </a:r>
            <a:r>
              <a:rPr lang="en-US" altLang="zh-CN" dirty="0">
                <a:solidFill>
                  <a:srgbClr val="FF0000"/>
                </a:solidFill>
              </a:rPr>
              <a:t>card</a:t>
            </a:r>
            <a:r>
              <a:rPr lang="zh-CN" altLang="en-US" dirty="0">
                <a:solidFill>
                  <a:srgbClr val="FF0000"/>
                </a:solidFill>
              </a:rPr>
              <a:t>中的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也 是学号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</a:rPr>
              <a:t>可以写成：</a:t>
            </a:r>
            <a:endParaRPr lang="en-US" altLang="zh-CN" dirty="0">
              <a:solidFill>
                <a:srgbClr val="FF0000"/>
              </a:solidFill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</a:rPr>
              <a:t>on=‘</a:t>
            </a:r>
            <a:r>
              <a:rPr lang="zh-CN" altLang="en-US" dirty="0">
                <a:solidFill>
                  <a:srgbClr val="FF0000"/>
                </a:solidFill>
              </a:rPr>
              <a:t>学号</a:t>
            </a:r>
            <a:r>
              <a:rPr lang="en-US" altLang="zh-CN" dirty="0">
                <a:solidFill>
                  <a:srgbClr val="FF0000"/>
                </a:solidFill>
              </a:rPr>
              <a:t>’</a:t>
            </a:r>
            <a:r>
              <a:rPr lang="zh-CN" altLang="en-US" dirty="0"/>
              <a:t>果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="" xmlns:a16="http://schemas.microsoft.com/office/drawing/2014/main" id="{6D3FEFFF-8B5D-4CE6-B2A9-59D8EB8873DB}"/>
              </a:ext>
            </a:extLst>
          </p:cNvPr>
          <p:cNvSpPr/>
          <p:nvPr/>
        </p:nvSpPr>
        <p:spPr>
          <a:xfrm>
            <a:off x="4164470" y="2190016"/>
            <a:ext cx="3071826" cy="504056"/>
          </a:xfrm>
          <a:prstGeom prst="wedgeRoundRectCallout">
            <a:avLst>
              <a:gd name="adj1" fmla="val 37953"/>
              <a:gd name="adj2" fmla="val -17074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5677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}"/>
</p:tagLst>
</file>

<file path=ppt/theme/theme1.xml><?xml version="1.0" encoding="utf-8"?>
<a:theme xmlns:a="http://schemas.openxmlformats.org/drawingml/2006/main" name="Office 主题​​">
  <a:themeElements>
    <a:clrScheme name="自定义 14">
      <a:dk1>
        <a:sysClr val="windowText" lastClr="000000"/>
      </a:dk1>
      <a:lt1>
        <a:sysClr val="window" lastClr="FFFFFF"/>
      </a:lt1>
      <a:dk2>
        <a:srgbClr val="014C83"/>
      </a:dk2>
      <a:lt2>
        <a:srgbClr val="EEECE1"/>
      </a:lt2>
      <a:accent1>
        <a:srgbClr val="014C8D"/>
      </a:accent1>
      <a:accent2>
        <a:srgbClr val="012E57"/>
      </a:accent2>
      <a:accent3>
        <a:srgbClr val="24673E"/>
      </a:accent3>
      <a:accent4>
        <a:srgbClr val="3371A4"/>
      </a:accent4>
      <a:accent5>
        <a:srgbClr val="4BACC6"/>
      </a:accent5>
      <a:accent6>
        <a:srgbClr val="7FA6C7"/>
      </a:accent6>
      <a:hlink>
        <a:srgbClr val="0000FF"/>
      </a:hlink>
      <a:folHlink>
        <a:srgbClr val="CDDBE8"/>
      </a:folHlink>
    </a:clrScheme>
    <a:fontScheme name="jcgaousr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6376</TotalTime>
  <Words>763</Words>
  <Application>Microsoft Office PowerPoint</Application>
  <PresentationFormat>全屏显示(4:3)</PresentationFormat>
  <Paragraphs>150</Paragraphs>
  <Slides>13</Slides>
  <Notes>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主题​​</vt:lpstr>
      <vt:lpstr>PowerPoint 演示文稿</vt:lpstr>
      <vt:lpstr>  数据合并</vt:lpstr>
      <vt:lpstr>数据合并 | 行数据追加   【例题3-11】</vt:lpstr>
      <vt:lpstr> 数据合并 | 行数据追加 例题3-11续</vt:lpstr>
      <vt:lpstr> 数据合并 | 列数据连接  【例题3-12】</vt:lpstr>
      <vt:lpstr> 数据合并 | 列数据连接 例题3-12</vt:lpstr>
      <vt:lpstr>数据合并 | 列数据连接 例题3-12续</vt:lpstr>
      <vt:lpstr>列数据合并 例题3-12续</vt:lpstr>
      <vt:lpstr> 列数据合并 例题3-12续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wangjing</dc:creator>
  <cp:lastModifiedBy>qw</cp:lastModifiedBy>
  <cp:revision>1196</cp:revision>
  <dcterms:created xsi:type="dcterms:W3CDTF">2011-06-03T14:53:00Z</dcterms:created>
  <dcterms:modified xsi:type="dcterms:W3CDTF">2022-03-26T13:27:41Z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