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9" r:id="rId3"/>
    <p:sldId id="277" r:id="rId4"/>
    <p:sldId id="268" r:id="rId5"/>
    <p:sldId id="279" r:id="rId6"/>
    <p:sldId id="280" r:id="rId7"/>
    <p:sldId id="271" r:id="rId8"/>
    <p:sldId id="278" r:id="rId9"/>
    <p:sldId id="272" r:id="rId10"/>
    <p:sldId id="281" r:id="rId11"/>
    <p:sldId id="285" r:id="rId12"/>
    <p:sldId id="284" r:id="rId13"/>
    <p:sldId id="283" r:id="rId14"/>
    <p:sldId id="282" r:id="rId15"/>
    <p:sldId id="290" r:id="rId16"/>
    <p:sldId id="286" r:id="rId17"/>
    <p:sldId id="287" r:id="rId18"/>
    <p:sldId id="288" r:id="rId19"/>
    <p:sldId id="289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0B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0" autoAdjust="0"/>
    <p:restoredTop sz="94660"/>
  </p:normalViewPr>
  <p:slideViewPr>
    <p:cSldViewPr>
      <p:cViewPr>
        <p:scale>
          <a:sx n="73" d="100"/>
          <a:sy n="73" d="100"/>
        </p:scale>
        <p:origin x="-579" y="3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74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73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357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80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089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963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390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106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57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054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14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20C05-7718-4490-BE7C-445CE581F14D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962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19256" cy="720080"/>
          </a:xfrm>
        </p:spPr>
        <p:txBody>
          <a:bodyPr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32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DataFrame</a:t>
            </a:r>
            <a:r>
              <a:rPr lang="zh-CN" altLang="en-US" sz="32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DataFrame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类似于表格，有行、列。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  <a:p>
            <a:pPr marL="0" indent="0"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  <a:p>
            <a:pPr marL="0" indent="0">
              <a:buNone/>
            </a:pP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DataFrame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对象包括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个组成部分：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(1) 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values (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值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)  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：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是二维数组</a:t>
            </a:r>
            <a:endParaRPr lang="en-US" altLang="zh-CN" sz="2400" b="1" dirty="0">
              <a:sym typeface="+mn-lt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(2) 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index  (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行索引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是列表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(3) 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columns (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列索引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是列表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  <a:p>
            <a:pPr marL="0" indent="0">
              <a:buNone/>
            </a:pP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  <a:p>
            <a:pPr marL="0" indent="0">
              <a:buNone/>
            </a:pP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5205F675-0681-4B38-BE68-6BB35148FE1F}"/>
              </a:ext>
            </a:extLst>
          </p:cNvPr>
          <p:cNvSpPr txBox="1"/>
          <p:nvPr/>
        </p:nvSpPr>
        <p:spPr>
          <a:xfrm>
            <a:off x="4114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61B4F224-7CE1-48DD-BCB7-3FD8CD0CD593}"/>
              </a:ext>
            </a:extLst>
          </p:cNvPr>
          <p:cNvSpPr txBox="1"/>
          <p:nvPr/>
        </p:nvSpPr>
        <p:spPr>
          <a:xfrm>
            <a:off x="755576" y="4943475"/>
            <a:ext cx="7200800" cy="10156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 err="1"/>
              <a:t>DataFrame</a:t>
            </a:r>
            <a:r>
              <a:rPr lang="zh-CN" altLang="en-US" sz="2000" b="1" dirty="0"/>
              <a:t>对象和</a:t>
            </a:r>
            <a:r>
              <a:rPr lang="en-US" altLang="zh-CN" sz="2000" b="1" dirty="0"/>
              <a:t>Series</a:t>
            </a:r>
            <a:r>
              <a:rPr lang="zh-CN" altLang="en-US" sz="2000" b="1" dirty="0"/>
              <a:t>对象有何关系？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 err="1"/>
              <a:t>DataFrame</a:t>
            </a:r>
            <a:r>
              <a:rPr lang="zh-CN" altLang="en-US" sz="2000" b="1" dirty="0"/>
              <a:t>对象中的任意一行或一列数据，是</a:t>
            </a:r>
            <a:r>
              <a:rPr lang="en-US" altLang="zh-CN" sz="2000" b="1" dirty="0"/>
              <a:t>Series</a:t>
            </a:r>
            <a:r>
              <a:rPr lang="zh-CN" altLang="en-US" sz="2000" b="1" dirty="0"/>
              <a:t>对象。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E469B743-E7E2-4679-A4D7-AF116A3B9CC6}"/>
              </a:ext>
            </a:extLst>
          </p:cNvPr>
          <p:cNvSpPr txBox="1"/>
          <p:nvPr/>
        </p:nvSpPr>
        <p:spPr>
          <a:xfrm>
            <a:off x="5868144" y="55892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001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125" y="157064"/>
            <a:ext cx="4176464" cy="585192"/>
          </a:xfrm>
        </p:spPr>
        <p:txBody>
          <a:bodyPr>
            <a:normAutofit/>
          </a:bodyPr>
          <a:lstStyle/>
          <a:p>
            <a:r>
              <a:rPr lang="en-US" altLang="zh-CN" sz="28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DataFrame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</a:t>
            </a:r>
            <a:endParaRPr lang="zh-CN" altLang="en-US" sz="2800" dirty="0"/>
          </a:p>
        </p:txBody>
      </p:sp>
      <p:pic>
        <p:nvPicPr>
          <p:cNvPr id="4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85490"/>
            <a:ext cx="7761894" cy="3158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1040264" y="4941168"/>
            <a:ext cx="5403944" cy="4949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可以修改 </a:t>
            </a:r>
            <a:r>
              <a:rPr lang="en-US" altLang="zh-CN" sz="2000" b="1" dirty="0" err="1">
                <a:solidFill>
                  <a:schemeClr val="bg1"/>
                </a:solidFill>
              </a:rPr>
              <a:t>DataFrame</a:t>
            </a:r>
            <a:r>
              <a:rPr lang="zh-CN" altLang="en-US" sz="2000" b="1" dirty="0">
                <a:solidFill>
                  <a:schemeClr val="bg1"/>
                </a:solidFill>
              </a:rPr>
              <a:t>对象的行索引和列索引。</a:t>
            </a:r>
          </a:p>
        </p:txBody>
      </p:sp>
      <p:sp>
        <p:nvSpPr>
          <p:cNvPr id="3" name="椭圆 2">
            <a:extLst>
              <a:ext uri="{FF2B5EF4-FFF2-40B4-BE49-F238E27FC236}">
                <a16:creationId xmlns="" xmlns:a16="http://schemas.microsoft.com/office/drawing/2014/main" id="{322715C7-7F75-4E7A-9E98-EED5D3B829D0}"/>
              </a:ext>
            </a:extLst>
          </p:cNvPr>
          <p:cNvSpPr/>
          <p:nvPr/>
        </p:nvSpPr>
        <p:spPr>
          <a:xfrm>
            <a:off x="1331640" y="1652490"/>
            <a:ext cx="980372" cy="22176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="" xmlns:a16="http://schemas.microsoft.com/office/drawing/2014/main" id="{28660813-7820-4B87-820D-367802E1684E}"/>
              </a:ext>
            </a:extLst>
          </p:cNvPr>
          <p:cNvSpPr/>
          <p:nvPr/>
        </p:nvSpPr>
        <p:spPr>
          <a:xfrm>
            <a:off x="2843808" y="1421904"/>
            <a:ext cx="3816424" cy="792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049178B8-70E9-43C4-9429-9D10562B4214}"/>
              </a:ext>
            </a:extLst>
          </p:cNvPr>
          <p:cNvSpPr txBox="1"/>
          <p:nvPr/>
        </p:nvSpPr>
        <p:spPr>
          <a:xfrm>
            <a:off x="4572000" y="275082"/>
            <a:ext cx="3491763" cy="7078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可以将</a:t>
            </a:r>
            <a:r>
              <a:rPr lang="en-US" altLang="zh-CN" sz="2000" dirty="0" err="1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DataFrame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对象理解为：带行索引和列索引的二维数组。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52003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DataFrame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对象的属性</a:t>
            </a:r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3200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3364574"/>
              </p:ext>
            </p:extLst>
          </p:nvPr>
        </p:nvGraphicFramePr>
        <p:xfrm>
          <a:off x="1691680" y="1556792"/>
          <a:ext cx="5472608" cy="34385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05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37201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63476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</a:rPr>
                        <a:t>index</a:t>
                      </a:r>
                      <a:endParaRPr lang="zh-CN" sz="2400" b="1" kern="100" dirty="0">
                        <a:solidFill>
                          <a:schemeClr val="bg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400" b="1" kern="100" dirty="0">
                          <a:solidFill>
                            <a:schemeClr val="bg1"/>
                          </a:solidFill>
                          <a:effectLst/>
                        </a:rPr>
                        <a:t>行索引</a:t>
                      </a:r>
                      <a:endParaRPr lang="zh-CN" sz="2400" b="1" kern="100" dirty="0">
                        <a:solidFill>
                          <a:schemeClr val="bg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88979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</a:rPr>
                        <a:t>columns</a:t>
                      </a:r>
                      <a:endParaRPr lang="zh-CN" sz="2400" b="1" kern="100" dirty="0">
                        <a:solidFill>
                          <a:schemeClr val="bg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400" b="1" kern="100" dirty="0">
                          <a:solidFill>
                            <a:schemeClr val="bg1"/>
                          </a:solidFill>
                          <a:effectLst/>
                        </a:rPr>
                        <a:t>列索引</a:t>
                      </a:r>
                      <a:endParaRPr lang="zh-CN" sz="2400" b="1" kern="100" dirty="0">
                        <a:solidFill>
                          <a:schemeClr val="bg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88979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</a:rPr>
                        <a:t>values</a:t>
                      </a:r>
                      <a:endParaRPr lang="zh-CN" sz="2400" b="1" kern="100" dirty="0">
                        <a:solidFill>
                          <a:schemeClr val="bg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400" b="1" kern="100" dirty="0">
                          <a:solidFill>
                            <a:schemeClr val="bg1"/>
                          </a:solidFill>
                          <a:effectLst/>
                        </a:rPr>
                        <a:t>值（二维数组）</a:t>
                      </a:r>
                      <a:endParaRPr lang="zh-CN" sz="2400" b="1" kern="100" dirty="0">
                        <a:solidFill>
                          <a:schemeClr val="bg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58231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</a:rPr>
                        <a:t>shape</a:t>
                      </a:r>
                      <a:endParaRPr lang="zh-CN" sz="2400" b="1" kern="100" dirty="0">
                        <a:solidFill>
                          <a:schemeClr val="bg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400" b="1" kern="100" dirty="0">
                          <a:solidFill>
                            <a:schemeClr val="bg1"/>
                          </a:solidFill>
                          <a:effectLst/>
                        </a:rPr>
                        <a:t>形状（行</a:t>
                      </a:r>
                      <a:r>
                        <a:rPr lang="zh-CN" altLang="en-US" sz="2400" b="1" kern="100" dirty="0">
                          <a:solidFill>
                            <a:schemeClr val="bg1"/>
                          </a:solidFill>
                          <a:effectLst/>
                        </a:rPr>
                        <a:t>数</a:t>
                      </a:r>
                      <a:r>
                        <a:rPr lang="zh-CN" sz="2400" b="1" kern="100" dirty="0">
                          <a:solidFill>
                            <a:schemeClr val="bg1"/>
                          </a:solidFill>
                          <a:effectLst/>
                        </a:rPr>
                        <a:t>，列</a:t>
                      </a:r>
                      <a:r>
                        <a:rPr lang="zh-CN" altLang="en-US" sz="2400" b="1" kern="100" dirty="0">
                          <a:solidFill>
                            <a:schemeClr val="bg1"/>
                          </a:solidFill>
                          <a:effectLst/>
                        </a:rPr>
                        <a:t>数</a:t>
                      </a:r>
                      <a:r>
                        <a:rPr lang="zh-CN" sz="2400" b="1" kern="100" dirty="0">
                          <a:solidFill>
                            <a:schemeClr val="bg1"/>
                          </a:solidFill>
                          <a:effectLst/>
                        </a:rPr>
                        <a:t>）</a:t>
                      </a:r>
                      <a:endParaRPr lang="zh-CN" sz="2400" b="1" kern="100" dirty="0">
                        <a:solidFill>
                          <a:schemeClr val="bg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58231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400" b="1" kern="100" dirty="0" err="1" smtClean="0">
                          <a:solidFill>
                            <a:schemeClr val="bg1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dtypes</a:t>
                      </a:r>
                      <a:endParaRPr lang="zh-CN" sz="2400" b="1" kern="100" dirty="0">
                        <a:solidFill>
                          <a:schemeClr val="bg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2400" b="1" kern="100" dirty="0" smtClean="0">
                          <a:solidFill>
                            <a:schemeClr val="bg1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查看各列的数据类型</a:t>
                      </a:r>
                      <a:endParaRPr lang="zh-CN" sz="2400" b="1" kern="100" dirty="0">
                        <a:solidFill>
                          <a:schemeClr val="bg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80653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</a:rPr>
                        <a:t>T</a:t>
                      </a: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400" b="1" kern="100" dirty="0">
                          <a:solidFill>
                            <a:schemeClr val="bg1"/>
                          </a:solidFill>
                          <a:effectLst/>
                        </a:rPr>
                        <a:t>行</a:t>
                      </a: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zh-CN" sz="2400" b="1" kern="100" dirty="0">
                          <a:solidFill>
                            <a:schemeClr val="bg1"/>
                          </a:solidFill>
                          <a:effectLst/>
                        </a:rPr>
                        <a:t>列 转置</a:t>
                      </a:r>
                      <a:endParaRPr lang="zh-CN" sz="2400" b="1" kern="100" dirty="0">
                        <a:solidFill>
                          <a:schemeClr val="bg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B026E6B1-37EA-436E-BCB9-8B574C440B0D}"/>
              </a:ext>
            </a:extLst>
          </p:cNvPr>
          <p:cNvSpPr txBox="1"/>
          <p:nvPr/>
        </p:nvSpPr>
        <p:spPr>
          <a:xfrm>
            <a:off x="2339930" y="4874745"/>
            <a:ext cx="3384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/>
              <a:t>DataFrame</a:t>
            </a:r>
            <a:r>
              <a:rPr lang="zh-CN" altLang="en-US" sz="2400" b="1" dirty="0"/>
              <a:t>对象</a:t>
            </a:r>
            <a:r>
              <a:rPr lang="en-US" altLang="zh-CN" sz="2400" b="1" dirty="0"/>
              <a:t>.</a:t>
            </a:r>
            <a:r>
              <a:rPr lang="zh-CN" altLang="en-US" sz="2400" b="1" dirty="0"/>
              <a:t>属性</a:t>
            </a:r>
          </a:p>
        </p:txBody>
      </p:sp>
    </p:spTree>
    <p:extLst>
      <p:ext uri="{BB962C8B-B14F-4D97-AF65-F5344CB8AC3E}">
        <p14:creationId xmlns:p14="http://schemas.microsoft.com/office/powerpoint/2010/main" val="187521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8112" y="836712"/>
            <a:ext cx="8124328" cy="720080"/>
          </a:xfrm>
        </p:spPr>
        <p:txBody>
          <a:bodyPr>
            <a:norm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创建</a:t>
            </a:r>
            <a:r>
              <a:rPr lang="en-US" altLang="zh-CN" sz="32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lt"/>
              </a:rPr>
              <a:t>DataFrame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 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700808"/>
            <a:ext cx="86868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import   pandas  as   pd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a=</a:t>
            </a:r>
            <a:r>
              <a:rPr lang="en-US" altLang="zh-CN" dirty="0" err="1">
                <a:solidFill>
                  <a:srgbClr val="FF0000"/>
                </a:solidFill>
              </a:rPr>
              <a:t>pd.DataFrame</a:t>
            </a:r>
            <a:r>
              <a:rPr lang="en-US" altLang="zh-CN" dirty="0">
                <a:solidFill>
                  <a:srgbClr val="FF0000"/>
                </a:solidFill>
              </a:rPr>
              <a:t>(data, index=[], columns=[])</a:t>
            </a:r>
          </a:p>
          <a:p>
            <a:pPr marL="0" indent="0">
              <a:buNone/>
            </a:pPr>
            <a:endParaRPr lang="en-US" altLang="zh-CN" sz="3600" dirty="0"/>
          </a:p>
          <a:p>
            <a:r>
              <a:rPr lang="en-US" altLang="zh-CN" sz="2800" dirty="0">
                <a:cs typeface="+mn-ea"/>
              </a:rPr>
              <a:t>data:   </a:t>
            </a:r>
            <a:r>
              <a:rPr lang="zh-CN" altLang="en-US" sz="2800" dirty="0">
                <a:cs typeface="+mn-ea"/>
              </a:rPr>
              <a:t>可以是列表或二维数组对象。</a:t>
            </a:r>
            <a:endParaRPr lang="en-US" altLang="zh-CN" sz="2800" dirty="0">
              <a:cs typeface="+mn-ea"/>
            </a:endParaRPr>
          </a:p>
          <a:p>
            <a:r>
              <a:rPr lang="en-US" altLang="zh-CN" sz="2800" dirty="0">
                <a:cs typeface="+mn-ea"/>
              </a:rPr>
              <a:t>index</a:t>
            </a:r>
            <a:r>
              <a:rPr lang="zh-CN" altLang="en-US" sz="2800" dirty="0">
                <a:cs typeface="+mn-ea"/>
              </a:rPr>
              <a:t>：是行索引列表</a:t>
            </a:r>
            <a:endParaRPr lang="en-US" altLang="zh-CN" sz="2800" dirty="0"/>
          </a:p>
          <a:p>
            <a:r>
              <a:rPr lang="en-US" altLang="zh-CN" sz="2800" dirty="0"/>
              <a:t>columns</a:t>
            </a:r>
            <a:r>
              <a:rPr lang="zh-CN" altLang="en-US" sz="2800" dirty="0"/>
              <a:t>：是列索引</a:t>
            </a:r>
            <a:r>
              <a:rPr lang="zh-CN" altLang="en-US" sz="2800" dirty="0">
                <a:cs typeface="+mn-ea"/>
              </a:rPr>
              <a:t>列表</a:t>
            </a:r>
            <a:endParaRPr lang="en-US" altLang="zh-CN" sz="2800" dirty="0">
              <a:cs typeface="+mn-ea"/>
            </a:endParaRPr>
          </a:p>
          <a:p>
            <a:r>
              <a:rPr lang="zh-CN" altLang="en-US" sz="2800" dirty="0">
                <a:cs typeface="+mn-ea"/>
              </a:rPr>
              <a:t>在定义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  <a:sym typeface="+mn-lt"/>
              </a:rPr>
              <a:t>DataFrame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对象时，</a:t>
            </a:r>
            <a:r>
              <a:rPr lang="zh-CN" altLang="en-US" sz="2800" dirty="0">
                <a:cs typeface="+mn-ea"/>
              </a:rPr>
              <a:t>若省略</a:t>
            </a:r>
            <a:r>
              <a:rPr lang="en-US" altLang="zh-CN" sz="2800" dirty="0">
                <a:cs typeface="+mn-ea"/>
              </a:rPr>
              <a:t>index</a:t>
            </a:r>
            <a:r>
              <a:rPr lang="zh-CN" altLang="en-US" sz="2800" dirty="0">
                <a:cs typeface="+mn-ea"/>
              </a:rPr>
              <a:t>或</a:t>
            </a:r>
            <a:r>
              <a:rPr lang="en-US" altLang="zh-CN" sz="2800" dirty="0">
                <a:cs typeface="+mn-ea"/>
              </a:rPr>
              <a:t>columns</a:t>
            </a:r>
            <a:r>
              <a:rPr lang="zh-CN" altLang="en-US" sz="2800" dirty="0">
                <a:cs typeface="+mn-ea"/>
              </a:rPr>
              <a:t>，则自动生成</a:t>
            </a:r>
            <a:r>
              <a:rPr lang="en-US" altLang="zh-CN" sz="2800" dirty="0">
                <a:cs typeface="+mn-ea"/>
              </a:rPr>
              <a:t>0 ~n-1</a:t>
            </a:r>
            <a:r>
              <a:rPr lang="zh-CN" altLang="zh-CN" sz="2800" dirty="0">
                <a:cs typeface="+mn-ea"/>
              </a:rPr>
              <a:t>的序号标签</a:t>
            </a:r>
            <a:r>
              <a:rPr lang="zh-CN" altLang="en-US" sz="2800" dirty="0">
                <a:cs typeface="+mn-ea"/>
              </a:rPr>
              <a:t>。</a:t>
            </a:r>
            <a:endParaRPr lang="en-US" altLang="zh-CN" sz="2800" dirty="0"/>
          </a:p>
          <a:p>
            <a:endParaRPr lang="en-US" altLang="zh-CN" sz="3600" dirty="0"/>
          </a:p>
        </p:txBody>
      </p:sp>
    </p:spTree>
    <p:extLst>
      <p:ext uri="{BB962C8B-B14F-4D97-AF65-F5344CB8AC3E}">
        <p14:creationId xmlns:p14="http://schemas.microsoft.com/office/powerpoint/2010/main" val="1358972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089BDAC-5E8D-46D4-8FB2-FE8938C6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643192" cy="850106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【</a:t>
            </a:r>
            <a:r>
              <a:rPr lang="zh-CN" altLang="en-US" sz="36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例题</a:t>
            </a:r>
            <a:r>
              <a:rPr lang="en-US" altLang="zh-CN" sz="36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3-3】 </a:t>
            </a:r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A7264432-016B-4E55-B0F3-AC58BC581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66018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zh-CN" sz="2400" b="1" dirty="0"/>
              <a:t>创建</a:t>
            </a:r>
            <a:r>
              <a:rPr lang="en-US" altLang="zh-CN" sz="2400" b="1" dirty="0" err="1"/>
              <a:t>DataFrame</a:t>
            </a:r>
            <a:r>
              <a:rPr lang="zh-CN" altLang="zh-CN" sz="2400" b="1" dirty="0"/>
              <a:t>对象</a:t>
            </a:r>
            <a:r>
              <a:rPr lang="en-US" altLang="zh-CN" sz="2400" b="1" dirty="0"/>
              <a:t>students, </a:t>
            </a:r>
            <a:r>
              <a:rPr lang="zh-CN" altLang="zh-CN" sz="2400" b="1" dirty="0"/>
              <a:t>记录</a:t>
            </a:r>
            <a:r>
              <a:rPr lang="en-US" altLang="zh-CN" sz="2400" b="1" dirty="0"/>
              <a:t>3</a:t>
            </a:r>
            <a:r>
              <a:rPr lang="zh-CN" altLang="zh-CN" sz="2400" b="1" dirty="0"/>
              <a:t>名学生的信息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565EC086-95DB-4C21-8C18-8FA57C7D6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90" y="1628800"/>
            <a:ext cx="8735419" cy="3240360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="" xmlns:a16="http://schemas.microsoft.com/office/drawing/2014/main" id="{11CC2631-CBF2-4073-92C5-DC65B24B3359}"/>
              </a:ext>
            </a:extLst>
          </p:cNvPr>
          <p:cNvSpPr/>
          <p:nvPr/>
        </p:nvSpPr>
        <p:spPr>
          <a:xfrm>
            <a:off x="539552" y="3140968"/>
            <a:ext cx="2448272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15A765A8-4A83-42C0-AB2F-2FAA89403C4E}"/>
              </a:ext>
            </a:extLst>
          </p:cNvPr>
          <p:cNvSpPr/>
          <p:nvPr/>
        </p:nvSpPr>
        <p:spPr>
          <a:xfrm>
            <a:off x="251520" y="3573016"/>
            <a:ext cx="504056" cy="12961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对话气泡: 圆角矩形 7">
            <a:extLst>
              <a:ext uri="{FF2B5EF4-FFF2-40B4-BE49-F238E27FC236}">
                <a16:creationId xmlns="" xmlns:a16="http://schemas.microsoft.com/office/drawing/2014/main" id="{E85E10B6-6FA0-4E31-BEFF-E59FCBFCEB38}"/>
              </a:ext>
            </a:extLst>
          </p:cNvPr>
          <p:cNvSpPr/>
          <p:nvPr/>
        </p:nvSpPr>
        <p:spPr>
          <a:xfrm>
            <a:off x="3995936" y="3140968"/>
            <a:ext cx="1296144" cy="432048"/>
          </a:xfrm>
          <a:prstGeom prst="wedgeRoundRectCallout">
            <a:avLst>
              <a:gd name="adj1" fmla="val -117569"/>
              <a:gd name="adj2" fmla="val -3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列索引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对话气泡: 圆角矩形 8">
            <a:extLst>
              <a:ext uri="{FF2B5EF4-FFF2-40B4-BE49-F238E27FC236}">
                <a16:creationId xmlns="" xmlns:a16="http://schemas.microsoft.com/office/drawing/2014/main" id="{D6126AD9-BF4E-4EB6-95F4-D7A1A6CAE97C}"/>
              </a:ext>
            </a:extLst>
          </p:cNvPr>
          <p:cNvSpPr/>
          <p:nvPr/>
        </p:nvSpPr>
        <p:spPr>
          <a:xfrm>
            <a:off x="1187624" y="5085184"/>
            <a:ext cx="1296144" cy="432048"/>
          </a:xfrm>
          <a:prstGeom prst="wedgeRoundRectCallout">
            <a:avLst>
              <a:gd name="adj1" fmla="val -92984"/>
              <a:gd name="adj2" fmla="val -11867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行索引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073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4EB02E6-FE89-4A34-9583-BE8FA8175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2800" b="1" dirty="0"/>
              <a:t>创建</a:t>
            </a:r>
            <a:r>
              <a:rPr lang="en-US" altLang="zh-CN" sz="2800" b="1" dirty="0" err="1"/>
              <a:t>DataFrame</a:t>
            </a:r>
            <a:r>
              <a:rPr lang="zh-CN" altLang="en-US" sz="2800" b="1" dirty="0"/>
              <a:t>对象时，省略了行索引和列索引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="" xmlns:a16="http://schemas.microsoft.com/office/drawing/2014/main" id="{372F045F-94CB-48A7-8DB2-1B93D7828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424078"/>
            <a:ext cx="5555122" cy="3949138"/>
          </a:xfrm>
        </p:spPr>
      </p:pic>
      <p:cxnSp>
        <p:nvCxnSpPr>
          <p:cNvPr id="13" name="直接连接符 12">
            <a:extLst>
              <a:ext uri="{FF2B5EF4-FFF2-40B4-BE49-F238E27FC236}">
                <a16:creationId xmlns="" xmlns:a16="http://schemas.microsoft.com/office/drawing/2014/main" id="{88F893DE-D628-4F8A-8430-15F1F8B8E975}"/>
              </a:ext>
            </a:extLst>
          </p:cNvPr>
          <p:cNvCxnSpPr>
            <a:cxnSpLocks/>
          </p:cNvCxnSpPr>
          <p:nvPr/>
        </p:nvCxnSpPr>
        <p:spPr>
          <a:xfrm>
            <a:off x="4139952" y="2060848"/>
            <a:ext cx="26642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D3656320-1F81-40C7-8B2F-ADDD817E6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00" y="2995122"/>
            <a:ext cx="2194750" cy="499915"/>
          </a:xfrm>
          <a:prstGeom prst="rect">
            <a:avLst/>
          </a:prstGeom>
        </p:spPr>
      </p:pic>
      <p:sp>
        <p:nvSpPr>
          <p:cNvPr id="17" name="对话气泡: 圆角矩形 16">
            <a:extLst>
              <a:ext uri="{FF2B5EF4-FFF2-40B4-BE49-F238E27FC236}">
                <a16:creationId xmlns="" xmlns:a16="http://schemas.microsoft.com/office/drawing/2014/main" id="{702934AE-25A2-448E-B3ED-21A77BDF983D}"/>
              </a:ext>
            </a:extLst>
          </p:cNvPr>
          <p:cNvSpPr/>
          <p:nvPr/>
        </p:nvSpPr>
        <p:spPr>
          <a:xfrm>
            <a:off x="611560" y="4509120"/>
            <a:ext cx="1296144" cy="432048"/>
          </a:xfrm>
          <a:prstGeom prst="wedgeRoundRectCallout">
            <a:avLst>
              <a:gd name="adj1" fmla="val 62007"/>
              <a:gd name="adj2" fmla="val -11226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行索引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="" xmlns:a16="http://schemas.microsoft.com/office/drawing/2014/main" id="{A1B79F70-9D25-49B4-8F26-939C3758DF6B}"/>
              </a:ext>
            </a:extLst>
          </p:cNvPr>
          <p:cNvSpPr/>
          <p:nvPr/>
        </p:nvSpPr>
        <p:spPr>
          <a:xfrm>
            <a:off x="2779084" y="2973292"/>
            <a:ext cx="1800200" cy="4722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="" xmlns:a16="http://schemas.microsoft.com/office/drawing/2014/main" id="{E8629C45-60A2-423E-8430-F83C8C48A7AE}"/>
              </a:ext>
            </a:extLst>
          </p:cNvPr>
          <p:cNvSpPr/>
          <p:nvPr/>
        </p:nvSpPr>
        <p:spPr>
          <a:xfrm>
            <a:off x="2204798" y="3320988"/>
            <a:ext cx="504056" cy="19442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70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en-US" altLang="zh-CN" sz="36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DataFrame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对象数据访问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1" dirty="0"/>
              <a:t>如何获取需要的数据？</a:t>
            </a:r>
            <a:endParaRPr lang="en-US" altLang="zh-CN" sz="2800" b="1" dirty="0"/>
          </a:p>
          <a:p>
            <a:r>
              <a:rPr lang="zh-CN" altLang="en-US" sz="2800" b="1" dirty="0"/>
              <a:t>方法一：  </a:t>
            </a:r>
            <a:r>
              <a:rPr lang="zh-CN" altLang="en-US" sz="2800" b="1" dirty="0">
                <a:solidFill>
                  <a:srgbClr val="FF0000"/>
                </a:solidFill>
              </a:rPr>
              <a:t>通过行索引，列索引。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zh-CN" altLang="en-US" sz="2800" b="1" dirty="0"/>
              <a:t>方法二：  </a:t>
            </a:r>
            <a:endParaRPr lang="en-US" altLang="zh-CN" sz="2800" b="1" dirty="0"/>
          </a:p>
          <a:p>
            <a:pPr marL="0" indent="0"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   通过值的位置序号，</a:t>
            </a:r>
            <a:r>
              <a:rPr lang="zh-CN" altLang="en-US" sz="2800" b="1" dirty="0"/>
              <a:t>得到想要的数据，类似于二维数组对元素的访问。</a:t>
            </a:r>
            <a:endParaRPr lang="en-US" altLang="zh-CN" sz="2800" b="1" dirty="0"/>
          </a:p>
          <a:p>
            <a:pPr marL="0" indent="0">
              <a:buNone/>
            </a:pPr>
            <a:endParaRPr lang="en-US" altLang="zh-CN" sz="3600" b="1" dirty="0"/>
          </a:p>
          <a:p>
            <a:pPr marL="0" indent="0">
              <a:buNone/>
            </a:pPr>
            <a:endParaRPr lang="en-US" altLang="zh-CN" sz="3600" b="1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326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6177" y="116632"/>
            <a:ext cx="7862247" cy="576064"/>
          </a:xfrm>
        </p:spPr>
        <p:txBody>
          <a:bodyPr>
            <a:normAutofit fontScale="90000"/>
          </a:bodyPr>
          <a:lstStyle/>
          <a:p>
            <a:r>
              <a:rPr lang="en-US" altLang="zh-CN" sz="32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DataFrame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</a:t>
            </a:r>
            <a:r>
              <a:rPr lang="zh-CN" altLang="en-US" sz="27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（有两套索引）</a:t>
            </a:r>
            <a:endParaRPr lang="zh-CN" altLang="en-US" sz="2700" dirty="0"/>
          </a:p>
        </p:txBody>
      </p:sp>
      <p:pic>
        <p:nvPicPr>
          <p:cNvPr id="4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37" y="2276872"/>
            <a:ext cx="8316926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E6D074D7-FF2B-4A59-B02A-D8670E64BA3D}"/>
              </a:ext>
            </a:extLst>
          </p:cNvPr>
          <p:cNvSpPr txBox="1"/>
          <p:nvPr/>
        </p:nvSpPr>
        <p:spPr>
          <a:xfrm>
            <a:off x="611560" y="2708920"/>
            <a:ext cx="432048" cy="22467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0</a:t>
            </a:r>
          </a:p>
          <a:p>
            <a:r>
              <a:rPr lang="en-US" altLang="zh-CN" sz="2800" dirty="0"/>
              <a:t>1</a:t>
            </a:r>
          </a:p>
          <a:p>
            <a:r>
              <a:rPr lang="en-US" altLang="zh-CN" sz="2800" dirty="0"/>
              <a:t>2</a:t>
            </a:r>
          </a:p>
          <a:p>
            <a:r>
              <a:rPr lang="en-US" altLang="zh-CN" sz="2800" dirty="0"/>
              <a:t>3</a:t>
            </a:r>
          </a:p>
          <a:p>
            <a:r>
              <a:rPr lang="en-US" altLang="zh-CN" sz="2800" dirty="0"/>
              <a:t>4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="" xmlns:a16="http://schemas.microsoft.com/office/drawing/2014/main" id="{A1351BCA-76A0-44EB-A5A3-2EC42928F917}"/>
              </a:ext>
            </a:extLst>
          </p:cNvPr>
          <p:cNvSpPr/>
          <p:nvPr/>
        </p:nvSpPr>
        <p:spPr>
          <a:xfrm>
            <a:off x="180494" y="1327408"/>
            <a:ext cx="1511185" cy="576064"/>
          </a:xfrm>
          <a:prstGeom prst="wedgeRoundRectCallout">
            <a:avLst>
              <a:gd name="adj1" fmla="val -5887"/>
              <a:gd name="adj2" fmla="val 168320"/>
              <a:gd name="adj3" fmla="val 1666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行位置序号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4A6B4E6D-F245-4644-A211-D5BB0A55F720}"/>
              </a:ext>
            </a:extLst>
          </p:cNvPr>
          <p:cNvSpPr txBox="1"/>
          <p:nvPr/>
        </p:nvSpPr>
        <p:spPr>
          <a:xfrm>
            <a:off x="3095836" y="1812411"/>
            <a:ext cx="2952328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0              1                2</a:t>
            </a:r>
            <a:endParaRPr lang="zh-CN" altLang="en-US" sz="2400" dirty="0"/>
          </a:p>
        </p:txBody>
      </p:sp>
      <p:sp>
        <p:nvSpPr>
          <p:cNvPr id="11" name="对话气泡: 圆角矩形 10">
            <a:extLst>
              <a:ext uri="{FF2B5EF4-FFF2-40B4-BE49-F238E27FC236}">
                <a16:creationId xmlns="" xmlns:a16="http://schemas.microsoft.com/office/drawing/2014/main" id="{F7FE0DCF-5387-4403-A7DD-36DF776CAFA7}"/>
              </a:ext>
            </a:extLst>
          </p:cNvPr>
          <p:cNvSpPr/>
          <p:nvPr/>
        </p:nvSpPr>
        <p:spPr>
          <a:xfrm>
            <a:off x="6516216" y="751344"/>
            <a:ext cx="1656184" cy="576064"/>
          </a:xfrm>
          <a:prstGeom prst="wedgeRoundRectCallout">
            <a:avLst>
              <a:gd name="adj1" fmla="val -98504"/>
              <a:gd name="adj2" fmla="val 123827"/>
              <a:gd name="adj3" fmla="val 1666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列位置序号</a:t>
            </a:r>
          </a:p>
        </p:txBody>
      </p:sp>
    </p:spTree>
    <p:extLst>
      <p:ext uri="{BB962C8B-B14F-4D97-AF65-F5344CB8AC3E}">
        <p14:creationId xmlns:p14="http://schemas.microsoft.com/office/powerpoint/2010/main" val="403708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6864" cy="720080"/>
          </a:xfrm>
        </p:spPr>
        <p:txBody>
          <a:bodyPr>
            <a:normAutofit/>
          </a:bodyPr>
          <a:lstStyle/>
          <a:p>
            <a:r>
              <a:rPr lang="en-US" altLang="zh-CN" sz="4000" b="1" dirty="0" err="1"/>
              <a:t>DataFrame</a:t>
            </a:r>
            <a:r>
              <a:rPr lang="en-US" altLang="zh-CN" sz="4000" b="1" dirty="0"/>
              <a:t> </a:t>
            </a:r>
            <a:r>
              <a:rPr lang="zh-CN" altLang="en-US" sz="4000" b="1" dirty="0"/>
              <a:t>数据选取方法  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3986408"/>
              </p:ext>
            </p:extLst>
          </p:nvPr>
        </p:nvGraphicFramePr>
        <p:xfrm>
          <a:off x="323528" y="1196752"/>
          <a:ext cx="8558609" cy="515597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1817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98761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85281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9515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solidFill>
                            <a:schemeClr val="tx1"/>
                          </a:solidFill>
                          <a:effectLst/>
                        </a:rPr>
                        <a:t>选取类型</a:t>
                      </a:r>
                      <a:endParaRPr lang="zh-CN" sz="20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solidFill>
                            <a:schemeClr val="tx1"/>
                          </a:solidFill>
                          <a:effectLst/>
                        </a:rPr>
                        <a:t>选取方法</a:t>
                      </a:r>
                      <a:endParaRPr lang="zh-CN" sz="20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solidFill>
                            <a:schemeClr val="tx1"/>
                          </a:solidFill>
                          <a:effectLst/>
                        </a:rPr>
                        <a:t>说明</a:t>
                      </a:r>
                      <a:endParaRPr lang="zh-CN" sz="20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3866">
                <a:tc rowSpan="4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索引名选取</a:t>
                      </a:r>
                      <a:endParaRPr lang="zh-CN" sz="1800" b="1" kern="0" dirty="0">
                        <a:solidFill>
                          <a:srgbClr val="FF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[ col ]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</a:rPr>
                        <a:t>选取某列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38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[ 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colList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 ]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</a:rPr>
                        <a:t>选取某几列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38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obj.loc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[ index, col ]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</a:rPr>
                        <a:t>选取某行某列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38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obj.loc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[ 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indexList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colList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 ]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</a:rPr>
                        <a:t>选取多行多列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23866">
                <a:tc rowSpan="3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lang="zh-CN" sz="1800" b="1" kern="0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位置序号选取</a:t>
                      </a:r>
                      <a:endParaRPr lang="zh-CN" sz="1800" b="1" kern="0" dirty="0">
                        <a:solidFill>
                          <a:srgbClr val="FF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obj.iloc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[ 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iloc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cloc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]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</a:rPr>
                        <a:t>选取某行某列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38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obj.iloc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[ 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ilocList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clocList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 ]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</a:rPr>
                        <a:t>选取多行多列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941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obj.iloc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[ a:b, c:d ]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</a:rPr>
                        <a:t>选取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a~(b-1)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</a:rPr>
                        <a:t>行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, c~(d-1)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</a:rPr>
                        <a:t>列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895119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条件筛选</a:t>
                      </a:r>
                      <a:endParaRPr lang="zh-CN" sz="1800" b="1" kern="0" dirty="0">
                        <a:solidFill>
                          <a:srgbClr val="FF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obj.loc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[ condition, 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colList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 ]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</a:rPr>
                        <a:t>使用索引构造条件表达式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</a:rPr>
                        <a:t>选取满足条件的行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8284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obj.iloc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[ condition, 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effectLst/>
                        </a:rPr>
                        <a:t>clocList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</a:rPr>
                        <a:t> ]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</a:rPr>
                        <a:t>使用位置序号构造条件表达式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</a:rPr>
                        <a:t>选取满足条件的行</a:t>
                      </a:r>
                      <a:endParaRPr 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椭圆 2">
            <a:extLst>
              <a:ext uri="{FF2B5EF4-FFF2-40B4-BE49-F238E27FC236}">
                <a16:creationId xmlns="" xmlns:a16="http://schemas.microsoft.com/office/drawing/2014/main" id="{4785B971-C155-4C2D-A0FA-DCAEB501FFB3}"/>
              </a:ext>
            </a:extLst>
          </p:cNvPr>
          <p:cNvSpPr/>
          <p:nvPr/>
        </p:nvSpPr>
        <p:spPr>
          <a:xfrm>
            <a:off x="1835696" y="1556792"/>
            <a:ext cx="5112568" cy="11521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5" name="椭圆 4">
            <a:extLst>
              <a:ext uri="{FF2B5EF4-FFF2-40B4-BE49-F238E27FC236}">
                <a16:creationId xmlns="" xmlns:a16="http://schemas.microsoft.com/office/drawing/2014/main" id="{5C396CB1-0877-42D2-8567-61E775EC17FB}"/>
              </a:ext>
            </a:extLst>
          </p:cNvPr>
          <p:cNvSpPr/>
          <p:nvPr/>
        </p:nvSpPr>
        <p:spPr>
          <a:xfrm>
            <a:off x="1835696" y="4653136"/>
            <a:ext cx="5976664" cy="93610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392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828FFA8-47EC-4BC5-8C32-551FB48C7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68815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4. </a:t>
            </a:r>
            <a:r>
              <a:rPr lang="zh-CN" altLang="en-US" b="1" dirty="0">
                <a:solidFill>
                  <a:srgbClr val="FF0000"/>
                </a:solidFill>
              </a:rPr>
              <a:t>举例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000" dirty="0"/>
              <a:t>对</a:t>
            </a:r>
            <a:r>
              <a:rPr lang="en-US" altLang="zh-CN" sz="2000" dirty="0" err="1"/>
              <a:t>DataFrame</a:t>
            </a:r>
            <a:r>
              <a:rPr lang="zh-CN" altLang="en-US" sz="2000" dirty="0"/>
              <a:t>对象中的数据，可以进行查询、 增加、修改、删除等操作。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zh-CN" sz="2000" dirty="0"/>
              <a:t>使用例</a:t>
            </a:r>
            <a:r>
              <a:rPr lang="en-US" altLang="zh-CN" sz="2000" dirty="0"/>
              <a:t>3-3</a:t>
            </a:r>
            <a:r>
              <a:rPr lang="zh-CN" altLang="zh-CN" sz="2000" dirty="0"/>
              <a:t>创建的</a:t>
            </a:r>
            <a:r>
              <a:rPr lang="en-US" altLang="zh-CN" sz="2000" dirty="0" err="1"/>
              <a:t>DataFrame</a:t>
            </a:r>
            <a:r>
              <a:rPr lang="zh-CN" altLang="zh-CN" sz="2000" dirty="0"/>
              <a:t>对象</a:t>
            </a:r>
            <a:r>
              <a:rPr lang="en-US" altLang="zh-CN" sz="2000" dirty="0"/>
              <a:t>students</a:t>
            </a:r>
            <a:r>
              <a:rPr lang="zh-CN" altLang="zh-CN" sz="2000" dirty="0"/>
              <a:t>，</a:t>
            </a:r>
            <a:r>
              <a:rPr lang="zh-CN" altLang="zh-CN" sz="2000" b="1" dirty="0">
                <a:solidFill>
                  <a:srgbClr val="FF0000"/>
                </a:solidFill>
              </a:rPr>
              <a:t>实现</a:t>
            </a:r>
            <a:r>
              <a:rPr lang="zh-CN" altLang="en-US" sz="2000" b="1" dirty="0">
                <a:solidFill>
                  <a:srgbClr val="FF0000"/>
                </a:solidFill>
              </a:rPr>
              <a:t>对</a:t>
            </a:r>
            <a:r>
              <a:rPr lang="zh-CN" altLang="zh-CN" sz="2000" b="1" dirty="0">
                <a:solidFill>
                  <a:srgbClr val="FF0000"/>
                </a:solidFill>
              </a:rPr>
              <a:t>学生信息的查询、增加、修改</a:t>
            </a:r>
            <a:r>
              <a:rPr lang="zh-CN" altLang="en-US" sz="2000" b="1" dirty="0">
                <a:solidFill>
                  <a:srgbClr val="FF0000"/>
                </a:solidFill>
              </a:rPr>
              <a:t>、</a:t>
            </a:r>
            <a:r>
              <a:rPr lang="zh-CN" altLang="zh-CN" sz="2000" b="1" dirty="0">
                <a:solidFill>
                  <a:srgbClr val="FF0000"/>
                </a:solidFill>
              </a:rPr>
              <a:t>删除</a:t>
            </a:r>
            <a:r>
              <a:rPr lang="zh-CN" altLang="en-US" sz="2000" b="1" dirty="0">
                <a:solidFill>
                  <a:srgbClr val="FF0000"/>
                </a:solidFill>
              </a:rPr>
              <a:t>等操作。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zh-CN" altLang="en-US" sz="2800" dirty="0"/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3EEE38B-52EF-40CB-A69D-C0A8BD140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636912"/>
            <a:ext cx="8735419" cy="32403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686AE3C6-5D87-49B0-AE38-C53440E9D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4149081"/>
            <a:ext cx="1896797" cy="432048"/>
          </a:xfrm>
          <a:prstGeom prst="rect">
            <a:avLst/>
          </a:prstGeom>
        </p:spPr>
      </p:pic>
      <p:sp>
        <p:nvSpPr>
          <p:cNvPr id="10" name="对话气泡: 圆角矩形 9">
            <a:extLst>
              <a:ext uri="{FF2B5EF4-FFF2-40B4-BE49-F238E27FC236}">
                <a16:creationId xmlns="" xmlns:a16="http://schemas.microsoft.com/office/drawing/2014/main" id="{D8432F33-30EF-4AF2-A236-B78117F15EA3}"/>
              </a:ext>
            </a:extLst>
          </p:cNvPr>
          <p:cNvSpPr/>
          <p:nvPr/>
        </p:nvSpPr>
        <p:spPr>
          <a:xfrm>
            <a:off x="1115616" y="6021288"/>
            <a:ext cx="1080120" cy="280175"/>
          </a:xfrm>
          <a:prstGeom prst="wedgeRoundRectCallout">
            <a:avLst>
              <a:gd name="adj1" fmla="val -89946"/>
              <a:gd name="adj2" fmla="val -15716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行索引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57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485D389-6BAE-4903-95B7-03AF17F4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CN" sz="3600" b="1" dirty="0"/>
              <a:t>1. </a:t>
            </a:r>
            <a:r>
              <a:rPr lang="zh-CN" altLang="en-US" sz="3600" b="1" dirty="0"/>
              <a:t>学生信息查询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828FFA8-47EC-4BC5-8C32-551FB48C7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06287"/>
            <a:ext cx="8784976" cy="4977075"/>
          </a:xfrm>
        </p:spPr>
        <p:txBody>
          <a:bodyPr>
            <a:normAutofit fontScale="47500" lnSpcReduction="20000"/>
          </a:bodyPr>
          <a:lstStyle/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4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zh-CN" sz="4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students.loc</a:t>
            </a:r>
            <a:r>
              <a:rPr lang="en-US" altLang="zh-CN" sz="4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[ 1, 'age'] </a:t>
            </a:r>
            <a:r>
              <a:rPr lang="en-US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查询</a:t>
            </a:r>
            <a:r>
              <a:rPr lang="en-US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CN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号同学的年龄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3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  <a:endParaRPr lang="zh-CN" altLang="zh-CN" sz="38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4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zh-CN" sz="4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students.loc</a:t>
            </a:r>
            <a:r>
              <a:rPr lang="en-US" altLang="zh-CN" sz="4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[[1,3],['</a:t>
            </a:r>
            <a:r>
              <a:rPr lang="en-US" altLang="zh-CN" sz="4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height','weight</a:t>
            </a:r>
            <a:r>
              <a:rPr lang="en-US" altLang="zh-CN" sz="42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’]] 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查询</a:t>
            </a:r>
            <a:r>
              <a:rPr lang="en-US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CN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zh-CN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号同学的身高和体重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3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height  weight</a:t>
            </a:r>
            <a:endParaRPr lang="zh-CN" altLang="zh-CN" sz="38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3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1     170      68</a:t>
            </a:r>
            <a:endParaRPr lang="zh-CN" altLang="zh-CN" sz="38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3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3     175      65</a:t>
            </a:r>
            <a:endParaRPr lang="zh-CN" altLang="zh-CN" sz="38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4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zh-CN" sz="4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students.iloc</a:t>
            </a:r>
            <a:r>
              <a:rPr lang="en-US" altLang="zh-CN" sz="4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[[0,2],[0,1]] </a:t>
            </a:r>
            <a:r>
              <a:rPr lang="en-US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查询第</a:t>
            </a:r>
            <a:r>
              <a:rPr lang="en-US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zh-CN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zh-CN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行的第</a:t>
            </a:r>
            <a:r>
              <a:rPr lang="en-US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zh-CN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CN" altLang="zh-CN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列的值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3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age  height</a:t>
            </a:r>
            <a:endParaRPr lang="zh-CN" altLang="zh-CN" sz="38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3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1   19      170</a:t>
            </a:r>
            <a:endParaRPr lang="zh-CN" altLang="zh-CN" sz="38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3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3   18      175</a:t>
            </a:r>
            <a:endParaRPr lang="zh-CN" altLang="en-US" sz="3800" b="1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2EB6A57D-EAC0-480F-8807-F62155F85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414" y="104318"/>
            <a:ext cx="2114550" cy="1338263"/>
          </a:xfrm>
          <a:prstGeom prst="rect">
            <a:avLst/>
          </a:prstGeom>
          <a:ln w="19050">
            <a:solidFill>
              <a:srgbClr val="00B050"/>
            </a:solidFill>
          </a:ln>
        </p:spPr>
      </p:pic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0EDEDBAE-A244-4FC4-9843-E7E6152D2966}"/>
              </a:ext>
            </a:extLst>
          </p:cNvPr>
          <p:cNvCxnSpPr/>
          <p:nvPr/>
        </p:nvCxnSpPr>
        <p:spPr>
          <a:xfrm>
            <a:off x="2843808" y="2060848"/>
            <a:ext cx="20882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对话气泡: 圆角矩形 7">
            <a:extLst>
              <a:ext uri="{FF2B5EF4-FFF2-40B4-BE49-F238E27FC236}">
                <a16:creationId xmlns="" xmlns:a16="http://schemas.microsoft.com/office/drawing/2014/main" id="{578EB0CA-80FA-42DF-AFE7-CF5C2361EBF7}"/>
              </a:ext>
            </a:extLst>
          </p:cNvPr>
          <p:cNvSpPr/>
          <p:nvPr/>
        </p:nvSpPr>
        <p:spPr>
          <a:xfrm>
            <a:off x="4697404" y="3241985"/>
            <a:ext cx="936104" cy="436909"/>
          </a:xfrm>
          <a:prstGeom prst="wedgeRoundRectCallout">
            <a:avLst>
              <a:gd name="adj1" fmla="val -135535"/>
              <a:gd name="adj2" fmla="val -14044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行索引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="" xmlns:a16="http://schemas.microsoft.com/office/drawing/2014/main" id="{B5557D4D-8B0D-40B7-B93F-BAE5E9F2F584}"/>
              </a:ext>
            </a:extLst>
          </p:cNvPr>
          <p:cNvSpPr/>
          <p:nvPr/>
        </p:nvSpPr>
        <p:spPr>
          <a:xfrm>
            <a:off x="7164288" y="2924944"/>
            <a:ext cx="936104" cy="436909"/>
          </a:xfrm>
          <a:prstGeom prst="wedgeRoundRectCallout">
            <a:avLst>
              <a:gd name="adj1" fmla="val -151075"/>
              <a:gd name="adj2" fmla="val -6909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列索引</a:t>
            </a:r>
          </a:p>
        </p:txBody>
      </p:sp>
      <p:sp>
        <p:nvSpPr>
          <p:cNvPr id="10" name="对话气泡: 圆角矩形 9">
            <a:extLst>
              <a:ext uri="{FF2B5EF4-FFF2-40B4-BE49-F238E27FC236}">
                <a16:creationId xmlns="" xmlns:a16="http://schemas.microsoft.com/office/drawing/2014/main" id="{BC45F257-E69E-4CE3-8491-9B30565D756A}"/>
              </a:ext>
            </a:extLst>
          </p:cNvPr>
          <p:cNvSpPr/>
          <p:nvPr/>
        </p:nvSpPr>
        <p:spPr>
          <a:xfrm>
            <a:off x="2483768" y="1075053"/>
            <a:ext cx="936104" cy="436909"/>
          </a:xfrm>
          <a:prstGeom prst="wedgeRoundRectCallout">
            <a:avLst>
              <a:gd name="adj1" fmla="val 62788"/>
              <a:gd name="adj2" fmla="val 92625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行索引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="" xmlns:a16="http://schemas.microsoft.com/office/drawing/2014/main" id="{E78F96A2-AD15-4D57-838F-857FA53CADBA}"/>
              </a:ext>
            </a:extLst>
          </p:cNvPr>
          <p:cNvSpPr/>
          <p:nvPr/>
        </p:nvSpPr>
        <p:spPr>
          <a:xfrm>
            <a:off x="4788026" y="785045"/>
            <a:ext cx="936104" cy="436909"/>
          </a:xfrm>
          <a:prstGeom prst="wedgeRoundRectCallout">
            <a:avLst>
              <a:gd name="adj1" fmla="val -96314"/>
              <a:gd name="adj2" fmla="val 15763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列索引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="" xmlns:a16="http://schemas.microsoft.com/office/drawing/2014/main" id="{9C2DB54C-2A5F-422D-9AC7-4EAF3FB2C053}"/>
              </a:ext>
            </a:extLst>
          </p:cNvPr>
          <p:cNvCxnSpPr>
            <a:cxnSpLocks/>
          </p:cNvCxnSpPr>
          <p:nvPr/>
        </p:nvCxnSpPr>
        <p:spPr>
          <a:xfrm>
            <a:off x="2699794" y="4869160"/>
            <a:ext cx="28083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对话气泡: 圆角矩形 13">
            <a:extLst>
              <a:ext uri="{FF2B5EF4-FFF2-40B4-BE49-F238E27FC236}">
                <a16:creationId xmlns="" xmlns:a16="http://schemas.microsoft.com/office/drawing/2014/main" id="{30E15925-45E4-485D-9E6C-A449E8AAAA4F}"/>
              </a:ext>
            </a:extLst>
          </p:cNvPr>
          <p:cNvSpPr/>
          <p:nvPr/>
        </p:nvSpPr>
        <p:spPr>
          <a:xfrm>
            <a:off x="3635896" y="5251712"/>
            <a:ext cx="864096" cy="670183"/>
          </a:xfrm>
          <a:prstGeom prst="wedgeRoundRectCallout">
            <a:avLst>
              <a:gd name="adj1" fmla="val -21999"/>
              <a:gd name="adj2" fmla="val -12124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行位置序号</a:t>
            </a:r>
          </a:p>
        </p:txBody>
      </p:sp>
      <p:sp>
        <p:nvSpPr>
          <p:cNvPr id="15" name="对话气泡: 圆角矩形 14">
            <a:extLst>
              <a:ext uri="{FF2B5EF4-FFF2-40B4-BE49-F238E27FC236}">
                <a16:creationId xmlns="" xmlns:a16="http://schemas.microsoft.com/office/drawing/2014/main" id="{6E0BD087-AD4B-42FB-A07D-23D2B06747F1}"/>
              </a:ext>
            </a:extLst>
          </p:cNvPr>
          <p:cNvSpPr/>
          <p:nvPr/>
        </p:nvSpPr>
        <p:spPr>
          <a:xfrm>
            <a:off x="5076056" y="5314592"/>
            <a:ext cx="864096" cy="670183"/>
          </a:xfrm>
          <a:prstGeom prst="wedgeRoundRectCallout">
            <a:avLst>
              <a:gd name="adj1" fmla="val -66893"/>
              <a:gd name="adj2" fmla="val -13364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列位置序号</a:t>
            </a:r>
          </a:p>
        </p:txBody>
      </p:sp>
    </p:spTree>
    <p:extLst>
      <p:ext uri="{BB962C8B-B14F-4D97-AF65-F5344CB8AC3E}">
        <p14:creationId xmlns:p14="http://schemas.microsoft.com/office/powerpoint/2010/main" val="5595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485D389-6BAE-4903-95B7-03AF17F4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b="1" dirty="0"/>
              <a:t>1. </a:t>
            </a:r>
            <a:r>
              <a:rPr lang="zh-CN" altLang="en-US" sz="3200" b="1" dirty="0"/>
              <a:t>学生信息查询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828FFA8-47EC-4BC5-8C32-551FB48C7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65104"/>
          </a:xfrm>
        </p:spPr>
        <p:txBody>
          <a:bodyPr/>
          <a:lstStyle/>
          <a:p>
            <a:pPr marL="400050" lvl="1" indent="0">
              <a:lnSpc>
                <a:spcPct val="130000"/>
              </a:lnSpc>
              <a:spcBef>
                <a:spcPct val="19608"/>
              </a:spcBef>
              <a:buNone/>
            </a:pP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zh-CN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students[[‘height’, ‘weight’]] 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查询</a:t>
            </a:r>
            <a:r>
              <a:rPr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两列数据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400050" lvl="1" indent="0">
              <a:lnSpc>
                <a:spcPct val="130000"/>
              </a:lnSpc>
              <a:spcBef>
                <a:spcPct val="19608"/>
              </a:spcBef>
              <a:buNone/>
            </a:pP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7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  weight</a:t>
            </a:r>
            <a:endParaRPr lang="zh-CN" altLang="zh-CN" sz="17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7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1     170      68</a:t>
            </a:r>
            <a:endParaRPr lang="zh-CN" altLang="zh-CN" sz="17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7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2     165      65</a:t>
            </a:r>
            <a:endParaRPr lang="zh-CN" altLang="zh-CN" sz="17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7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3     175      65</a:t>
            </a:r>
            <a:endParaRPr lang="zh-CN" altLang="zh-CN" sz="17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30000"/>
              </a:lnSpc>
              <a:spcBef>
                <a:spcPct val="19608"/>
              </a:spcBef>
              <a:buNone/>
            </a:pP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</a:t>
            </a:r>
            <a:r>
              <a:rPr lang="en-US" altLang="zh-CN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iloc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[1:, 0:2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#</a:t>
            </a:r>
            <a:r>
              <a:rPr lang="zh-CN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通过切片抽取某些行和列的</a:t>
            </a:r>
            <a:r>
              <a:rPr lang="zh-CN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数据</a:t>
            </a:r>
          </a:p>
          <a:p>
            <a:pPr marL="400050" lvl="1" indent="0">
              <a:buNone/>
            </a:pP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    height</a:t>
            </a:r>
            <a:endParaRPr lang="zh-CN" altLang="zh-CN" sz="18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2   20     165</a:t>
            </a:r>
            <a:endParaRPr lang="zh-CN" altLang="zh-CN" sz="18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3   18     175</a:t>
            </a:r>
            <a:endParaRPr lang="zh-CN" altLang="zh-CN" sz="18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2F249779-6133-44E4-929F-E8AA9DE0A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118911"/>
            <a:ext cx="2520280" cy="1618658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="" xmlns:a16="http://schemas.microsoft.com/office/drawing/2014/main" id="{CBE7D51F-C761-46AC-8A25-C79051DB1215}"/>
              </a:ext>
            </a:extLst>
          </p:cNvPr>
          <p:cNvCxnSpPr/>
          <p:nvPr/>
        </p:nvCxnSpPr>
        <p:spPr>
          <a:xfrm>
            <a:off x="3203848" y="3933056"/>
            <a:ext cx="21602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对话气泡: 圆角矩形 6">
            <a:extLst>
              <a:ext uri="{FF2B5EF4-FFF2-40B4-BE49-F238E27FC236}">
                <a16:creationId xmlns="" xmlns:a16="http://schemas.microsoft.com/office/drawing/2014/main" id="{94D162C3-5B73-44DF-A7CE-8925B0128CBC}"/>
              </a:ext>
            </a:extLst>
          </p:cNvPr>
          <p:cNvSpPr/>
          <p:nvPr/>
        </p:nvSpPr>
        <p:spPr>
          <a:xfrm>
            <a:off x="4499992" y="4437112"/>
            <a:ext cx="1368152" cy="576040"/>
          </a:xfrm>
          <a:prstGeom prst="wedgeRoundRectCallout">
            <a:avLst>
              <a:gd name="adj1" fmla="val -75516"/>
              <a:gd name="adj2" fmla="val -13953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位置序号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="" xmlns:a16="http://schemas.microsoft.com/office/drawing/2014/main" id="{7F967036-4083-429D-A9E8-F88C9B116D02}"/>
              </a:ext>
            </a:extLst>
          </p:cNvPr>
          <p:cNvCxnSpPr>
            <a:cxnSpLocks/>
          </p:cNvCxnSpPr>
          <p:nvPr/>
        </p:nvCxnSpPr>
        <p:spPr>
          <a:xfrm>
            <a:off x="3203848" y="2132856"/>
            <a:ext cx="33123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对话气泡: 圆角矩形 10">
            <a:extLst>
              <a:ext uri="{FF2B5EF4-FFF2-40B4-BE49-F238E27FC236}">
                <a16:creationId xmlns="" xmlns:a16="http://schemas.microsoft.com/office/drawing/2014/main" id="{69370FEC-CD1F-43E9-B8EE-979729668F4C}"/>
              </a:ext>
            </a:extLst>
          </p:cNvPr>
          <p:cNvSpPr/>
          <p:nvPr/>
        </p:nvSpPr>
        <p:spPr>
          <a:xfrm>
            <a:off x="4845108" y="2514622"/>
            <a:ext cx="1815123" cy="436894"/>
          </a:xfrm>
          <a:prstGeom prst="wedgeRoundRectCallout">
            <a:avLst>
              <a:gd name="adj1" fmla="val -50200"/>
              <a:gd name="adj2" fmla="val -12843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列索引列表</a:t>
            </a:r>
          </a:p>
        </p:txBody>
      </p:sp>
    </p:spTree>
    <p:extLst>
      <p:ext uri="{BB962C8B-B14F-4D97-AF65-F5344CB8AC3E}">
        <p14:creationId xmlns:p14="http://schemas.microsoft.com/office/powerpoint/2010/main" val="3500539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485D389-6BAE-4903-95B7-03AF17F4D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283152" cy="706090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b="1" dirty="0"/>
              <a:t>1. </a:t>
            </a:r>
            <a:r>
              <a:rPr lang="zh-CN" altLang="en-US" sz="3200" b="1" dirty="0"/>
              <a:t>学生信息查询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828FFA8-47EC-4BC5-8C32-551FB48C7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003857"/>
            <a:ext cx="8352928" cy="4873415"/>
          </a:xfrm>
        </p:spPr>
        <p:txBody>
          <a:bodyPr>
            <a:normAutofit lnSpcReduction="10000"/>
          </a:bodyPr>
          <a:lstStyle/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#</a:t>
            </a:r>
            <a:r>
              <a:rPr lang="zh-CN" altLang="en-US" sz="2400" b="1" dirty="0">
                <a:solidFill>
                  <a:srgbClr val="FF0000"/>
                </a:solidFill>
              </a:rPr>
              <a:t>筛选身高大于</a:t>
            </a:r>
            <a:r>
              <a:rPr lang="en-US" altLang="zh-CN" sz="2400" b="1" dirty="0">
                <a:solidFill>
                  <a:srgbClr val="FF0000"/>
                </a:solidFill>
              </a:rPr>
              <a:t>168</a:t>
            </a:r>
            <a:r>
              <a:rPr lang="zh-CN" altLang="en-US" sz="2400" b="1" dirty="0">
                <a:solidFill>
                  <a:srgbClr val="FF0000"/>
                </a:solidFill>
              </a:rPr>
              <a:t>的同学，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显示其身高和体重值</a:t>
            </a:r>
          </a:p>
          <a:p>
            <a:pPr marL="400050" lvl="1" indent="0">
              <a:buNone/>
            </a:pP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mask = students['height']&gt;=168</a:t>
            </a:r>
          </a:p>
          <a:p>
            <a:pPr marL="400050" lvl="1" indent="0">
              <a:buNone/>
            </a:pP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mask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altLang="zh-CN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 True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altLang="zh-CN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 False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altLang="zh-CN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  True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altLang="zh-CN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Name: height, </a:t>
            </a:r>
            <a:r>
              <a:rPr lang="en-US" altLang="zh-CN" sz="1800" b="1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zh-CN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bool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endParaRPr lang="en-US" altLang="zh-CN" sz="1600" dirty="0">
              <a:solidFill>
                <a:srgbClr val="00B050"/>
              </a:solidFill>
            </a:endParaRPr>
          </a:p>
          <a:p>
            <a:pPr marL="400050" lvl="1" indent="0">
              <a:buNone/>
            </a:pP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students.loc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 mask, ['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height','weight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'] ]   </a:t>
            </a:r>
          </a:p>
          <a:p>
            <a:pPr marL="400050" lvl="1" indent="0"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   weight</a:t>
            </a:r>
            <a:endParaRPr lang="zh-CN" altLang="zh-CN" sz="20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1      170      68</a:t>
            </a:r>
            <a:endParaRPr lang="zh-CN" altLang="zh-CN" sz="20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3      175      65</a:t>
            </a:r>
            <a:endParaRPr lang="zh-CN" altLang="en-US" sz="2000" b="1" dirty="0"/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C8D40E54-7131-4817-AF79-F9A57A04B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226166"/>
            <a:ext cx="2520280" cy="1618658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="" xmlns:a16="http://schemas.microsoft.com/office/drawing/2014/main" id="{A4D87D50-B828-4724-A3D6-15B38AE26DE0}"/>
              </a:ext>
            </a:extLst>
          </p:cNvPr>
          <p:cNvCxnSpPr/>
          <p:nvPr/>
        </p:nvCxnSpPr>
        <p:spPr>
          <a:xfrm>
            <a:off x="2915816" y="4437112"/>
            <a:ext cx="532859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对话气泡: 圆角矩形 6">
            <a:extLst>
              <a:ext uri="{FF2B5EF4-FFF2-40B4-BE49-F238E27FC236}">
                <a16:creationId xmlns="" xmlns:a16="http://schemas.microsoft.com/office/drawing/2014/main" id="{749E245D-4D1F-4354-BDAF-6045A14131DF}"/>
              </a:ext>
            </a:extLst>
          </p:cNvPr>
          <p:cNvSpPr/>
          <p:nvPr/>
        </p:nvSpPr>
        <p:spPr>
          <a:xfrm>
            <a:off x="3923928" y="5034788"/>
            <a:ext cx="1080120" cy="360031"/>
          </a:xfrm>
          <a:prstGeom prst="wedgeRoundRectCallout">
            <a:avLst>
              <a:gd name="adj1" fmla="val -43693"/>
              <a:gd name="adj2" fmla="val -19678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筛选条件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="" xmlns:a16="http://schemas.microsoft.com/office/drawing/2014/main" id="{247D7570-B85A-4026-929E-DC4118E7B67D}"/>
              </a:ext>
            </a:extLst>
          </p:cNvPr>
          <p:cNvSpPr/>
          <p:nvPr/>
        </p:nvSpPr>
        <p:spPr>
          <a:xfrm>
            <a:off x="5957129" y="5106798"/>
            <a:ext cx="2304256" cy="576041"/>
          </a:xfrm>
          <a:prstGeom prst="wedgeRoundRectCallout">
            <a:avLst>
              <a:gd name="adj1" fmla="val -35664"/>
              <a:gd name="adj2" fmla="val -15740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选取满足条件的行中的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两列数据</a:t>
            </a:r>
          </a:p>
        </p:txBody>
      </p:sp>
    </p:spTree>
    <p:extLst>
      <p:ext uri="{BB962C8B-B14F-4D97-AF65-F5344CB8AC3E}">
        <p14:creationId xmlns:p14="http://schemas.microsoft.com/office/powerpoint/2010/main" val="75175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485D389-6BAE-4903-95B7-03AF17F4D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260648"/>
            <a:ext cx="7859216" cy="70609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1" dirty="0"/>
              <a:t> </a:t>
            </a:r>
            <a:r>
              <a:rPr lang="en-US" altLang="zh-CN" sz="3200" b="1" dirty="0"/>
              <a:t>2.</a:t>
            </a:r>
            <a:r>
              <a:rPr lang="zh-CN" altLang="en-US" sz="3200" b="1" dirty="0"/>
              <a:t>（</a:t>
            </a:r>
            <a:r>
              <a:rPr lang="en-US" altLang="zh-CN" sz="3200" b="1" dirty="0"/>
              <a:t>1</a:t>
            </a:r>
            <a:r>
              <a:rPr lang="zh-CN" altLang="en-US" sz="3200" b="1" dirty="0"/>
              <a:t>）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增加列</a:t>
            </a:r>
            <a:r>
              <a:rPr lang="zh-CN" altLang="en-US" sz="2800" b="1" dirty="0"/>
              <a:t>（操作方便）</a:t>
            </a:r>
            <a:endParaRPr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828FFA8-47EC-4BC5-8C32-551FB48C7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052736"/>
            <a:ext cx="8496944" cy="5184576"/>
          </a:xfrm>
        </p:spPr>
        <p:txBody>
          <a:bodyPr>
            <a:normAutofit/>
          </a:bodyPr>
          <a:lstStyle/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#</a:t>
            </a:r>
            <a:r>
              <a:rPr lang="zh-CN" altLang="en-US" sz="2400" b="1" dirty="0">
                <a:solidFill>
                  <a:srgbClr val="FF0000"/>
                </a:solidFill>
              </a:rPr>
              <a:t>如果列索引标签不存在，则添加新列；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#</a:t>
            </a:r>
            <a:r>
              <a:rPr lang="zh-CN" altLang="en-US" sz="2400" b="1" dirty="0">
                <a:solidFill>
                  <a:srgbClr val="FF0000"/>
                </a:solidFill>
              </a:rPr>
              <a:t>若列索引标签存在，则修改列值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为学生增加月消费数据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students['expense'] = [1500,1600,1200]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10000"/>
              </a:lnSpc>
              <a:buNone/>
            </a:pP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students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1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   height   weight  </a:t>
            </a:r>
            <a:r>
              <a:rPr lang="en-US" altLang="zh-CN" sz="2100" b="1" dirty="0">
                <a:solidFill>
                  <a:srgbClr val="026BC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expense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1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1   19     170      68     </a:t>
            </a:r>
            <a:r>
              <a:rPr lang="en-US" altLang="zh-CN" sz="2100" b="1" dirty="0">
                <a:solidFill>
                  <a:srgbClr val="026BC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1500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1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2   20     165      65     </a:t>
            </a:r>
            <a:r>
              <a:rPr lang="en-US" altLang="zh-CN" sz="2100" b="1" dirty="0">
                <a:solidFill>
                  <a:srgbClr val="026BC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1600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1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3   18     175      65     </a:t>
            </a:r>
            <a:r>
              <a:rPr lang="en-US" altLang="zh-CN" sz="2100" b="1" dirty="0">
                <a:solidFill>
                  <a:srgbClr val="026BC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1200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endParaRPr lang="en-US" altLang="zh-CN" sz="1600" b="1" dirty="0">
              <a:solidFill>
                <a:srgbClr val="C00000"/>
              </a:solidFill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="" xmlns:a16="http://schemas.microsoft.com/office/drawing/2014/main" id="{2EAA1CE9-FC6B-48B2-B1C6-3184BB81331A}"/>
              </a:ext>
            </a:extLst>
          </p:cNvPr>
          <p:cNvSpPr/>
          <p:nvPr/>
        </p:nvSpPr>
        <p:spPr>
          <a:xfrm>
            <a:off x="4860032" y="3356992"/>
            <a:ext cx="1584176" cy="20882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="" xmlns:a16="http://schemas.microsoft.com/office/drawing/2014/main" id="{80EF3AD9-6FBC-4E02-AD7E-7406BF628F7C}"/>
              </a:ext>
            </a:extLst>
          </p:cNvPr>
          <p:cNvCxnSpPr>
            <a:cxnSpLocks/>
          </p:cNvCxnSpPr>
          <p:nvPr/>
        </p:nvCxnSpPr>
        <p:spPr>
          <a:xfrm>
            <a:off x="1475656" y="3068960"/>
            <a:ext cx="64807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239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485D389-6BAE-4903-95B7-03AF17F4D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260648"/>
            <a:ext cx="7859216" cy="70609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1" dirty="0"/>
              <a:t> </a:t>
            </a:r>
            <a:r>
              <a:rPr lang="en-US" altLang="zh-CN" sz="3200" b="1" dirty="0"/>
              <a:t>2.</a:t>
            </a:r>
            <a:r>
              <a:rPr lang="zh-CN" altLang="en-US" sz="3200" b="1" dirty="0"/>
              <a:t>（</a:t>
            </a:r>
            <a:r>
              <a:rPr lang="en-US" altLang="zh-CN" sz="3200" b="1" dirty="0"/>
              <a:t>2</a:t>
            </a:r>
            <a:r>
              <a:rPr lang="zh-CN" altLang="en-US" sz="3200" b="1" dirty="0"/>
              <a:t>）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增加行</a:t>
            </a:r>
            <a:r>
              <a:rPr lang="zh-CN" altLang="en-US" sz="2800" b="1" dirty="0"/>
              <a:t>（操作方便）</a:t>
            </a:r>
            <a:endParaRPr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828FFA8-47EC-4BC5-8C32-551FB48C7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052736"/>
            <a:ext cx="8496944" cy="5184576"/>
          </a:xfrm>
        </p:spPr>
        <p:txBody>
          <a:bodyPr>
            <a:normAutofit/>
          </a:bodyPr>
          <a:lstStyle/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增加一位学生的数据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indent="-342900">
              <a:lnSpc>
                <a:spcPct val="120000"/>
              </a:lnSpc>
              <a:spcBef>
                <a:spcPct val="19608"/>
              </a:spcBef>
              <a:buAutoNum type="arabicPlain" startAt="3"/>
            </a:pPr>
            <a:endParaRPr lang="en-US" altLang="zh-CN" sz="1600" b="1" dirty="0">
              <a:solidFill>
                <a:srgbClr val="C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4FAEB028-7600-489B-B1DB-F0BAA0038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556792"/>
            <a:ext cx="6938197" cy="3600400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="" xmlns:a16="http://schemas.microsoft.com/office/drawing/2014/main" id="{F55B970B-0080-450D-95B8-4901F65991B7}"/>
              </a:ext>
            </a:extLst>
          </p:cNvPr>
          <p:cNvCxnSpPr/>
          <p:nvPr/>
        </p:nvCxnSpPr>
        <p:spPr>
          <a:xfrm>
            <a:off x="683568" y="2060848"/>
            <a:ext cx="708221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="" xmlns:a16="http://schemas.microsoft.com/office/drawing/2014/main" id="{0CDB1DC3-1E94-478F-919E-91A3BAD3F8E6}"/>
              </a:ext>
            </a:extLst>
          </p:cNvPr>
          <p:cNvSpPr/>
          <p:nvPr/>
        </p:nvSpPr>
        <p:spPr>
          <a:xfrm>
            <a:off x="467544" y="4509120"/>
            <a:ext cx="3960440" cy="6480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89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32605AB-0673-4A0D-BF06-06240112B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19" y="692696"/>
            <a:ext cx="7836055" cy="576064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b="1" dirty="0"/>
              <a:t> </a:t>
            </a:r>
            <a:r>
              <a:rPr lang="en-US" altLang="zh-CN" sz="3600" b="1" dirty="0"/>
              <a:t>3. </a:t>
            </a:r>
            <a:r>
              <a:rPr lang="zh-CN" altLang="en-US" sz="3600" b="1" dirty="0"/>
              <a:t>修改学生信息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C15D8257-7EB1-4022-9D74-8DBB2920E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19" y="1412776"/>
            <a:ext cx="8229600" cy="4525963"/>
          </a:xfrm>
        </p:spPr>
        <p:txBody>
          <a:bodyPr/>
          <a:lstStyle/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选中月消费列，用标量赋值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students['expense'] = 1000</a:t>
            </a:r>
            <a:endParaRPr lang="zh-CN" alt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20000"/>
              </a:lnSpc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students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    height   weight  expense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1   19     170      68     </a:t>
            </a:r>
            <a:r>
              <a:rPr lang="en-US" altLang="zh-CN" sz="2000" b="1" dirty="0">
                <a:solidFill>
                  <a:srgbClr val="026BC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1000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2   20     165      65     </a:t>
            </a:r>
            <a:r>
              <a:rPr lang="en-US" altLang="zh-CN" sz="2000" b="1" dirty="0">
                <a:solidFill>
                  <a:srgbClr val="026BC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1000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3   18     175      65     </a:t>
            </a:r>
            <a:r>
              <a:rPr lang="en-US" altLang="zh-CN" sz="2000" b="1" dirty="0">
                <a:solidFill>
                  <a:srgbClr val="026BC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1000</a:t>
            </a:r>
            <a:endParaRPr lang="zh-CN" altLang="en-US" sz="2000" b="1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CA851ED3-35E2-49C4-AA5A-E3DC02E5B31D}"/>
              </a:ext>
            </a:extLst>
          </p:cNvPr>
          <p:cNvCxnSpPr/>
          <p:nvPr/>
        </p:nvCxnSpPr>
        <p:spPr>
          <a:xfrm>
            <a:off x="1763688" y="2420888"/>
            <a:ext cx="482453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="" xmlns:a16="http://schemas.microsoft.com/office/drawing/2014/main" id="{B64B37F1-D524-466B-B682-018200D6D03C}"/>
              </a:ext>
            </a:extLst>
          </p:cNvPr>
          <p:cNvSpPr/>
          <p:nvPr/>
        </p:nvSpPr>
        <p:spPr>
          <a:xfrm>
            <a:off x="4860032" y="2636912"/>
            <a:ext cx="1440160" cy="25202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57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E7BE84C-EE1D-4703-97E1-F74A6E02D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569356"/>
            <a:ext cx="7643192" cy="70609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b="1" dirty="0"/>
              <a:t> </a:t>
            </a:r>
            <a:r>
              <a:rPr lang="en-US" altLang="zh-CN" sz="3600" b="1" dirty="0"/>
              <a:t>4. </a:t>
            </a:r>
            <a:r>
              <a:rPr lang="zh-CN" altLang="en-US" sz="3600" b="1" dirty="0"/>
              <a:t>删除学生信息</a:t>
            </a:r>
            <a:r>
              <a:rPr lang="en-US" altLang="zh-CN" sz="3600" b="1" dirty="0"/>
              <a:t/>
            </a:r>
            <a:br>
              <a:rPr lang="en-US" altLang="zh-CN" sz="3600" b="1" dirty="0"/>
            </a:br>
            <a:r>
              <a:rPr lang="zh-CN" altLang="en-US" sz="2000" b="1" dirty="0">
                <a:solidFill>
                  <a:srgbClr val="FF0000"/>
                </a:solidFill>
              </a:rPr>
              <a:t>（默认情况，不修改原始数据对象。）</a:t>
            </a:r>
            <a:r>
              <a:rPr lang="en-US" altLang="zh-CN" sz="2000" b="1" dirty="0">
                <a:solidFill>
                  <a:srgbClr val="FF0000"/>
                </a:solidFill>
              </a:rPr>
              <a:t/>
            </a:r>
            <a:br>
              <a:rPr lang="en-US" altLang="zh-CN" sz="2000" b="1" dirty="0">
                <a:solidFill>
                  <a:srgbClr val="FF0000"/>
                </a:solidFill>
              </a:rPr>
            </a:b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7E3E4105-D884-47B4-9DC1-D2D6BDB26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060848"/>
            <a:ext cx="8229600" cy="4525963"/>
          </a:xfrm>
        </p:spPr>
        <p:txBody>
          <a:bodyPr>
            <a:noAutofit/>
          </a:bodyPr>
          <a:lstStyle/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students.drop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(1, axis=0) 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#axis=0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表示行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age   height    weight  expense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2  20     165      65     1000</a:t>
            </a:r>
          </a:p>
          <a:p>
            <a:pPr lvl="1" indent="-342900">
              <a:lnSpc>
                <a:spcPct val="120000"/>
              </a:lnSpc>
              <a:spcBef>
                <a:spcPct val="19608"/>
              </a:spcBef>
              <a:buAutoNum type="arabicPlain" startAt="3"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18     175      65     1000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students.drop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('expense', axis=1)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删除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expense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列，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axis=1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表示列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    height   weight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1   21     180      70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2   20     165      65</a:t>
            </a:r>
          </a:p>
          <a:p>
            <a:pPr lvl="1" indent="-342900">
              <a:lnSpc>
                <a:spcPct val="120000"/>
              </a:lnSpc>
              <a:spcBef>
                <a:spcPct val="19608"/>
              </a:spcBef>
              <a:buAutoNum type="arabicPlain" startAt="3"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18     175      65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students.drop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([1, 2], axis=0)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删除多行，给出行索引名列表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     height   weight  expense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3   18     175      65      1000</a:t>
            </a:r>
            <a:endParaRPr lang="zh-CN" altLang="en-US" sz="1600" b="1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CA814BD7-C5A2-408E-A871-9D5010EC6391}"/>
              </a:ext>
            </a:extLst>
          </p:cNvPr>
          <p:cNvCxnSpPr>
            <a:cxnSpLocks/>
          </p:cNvCxnSpPr>
          <p:nvPr/>
        </p:nvCxnSpPr>
        <p:spPr>
          <a:xfrm>
            <a:off x="1259632" y="2420888"/>
            <a:ext cx="302433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6CC9D340-CF51-4A3B-B02A-C30875B924FB}"/>
              </a:ext>
            </a:extLst>
          </p:cNvPr>
          <p:cNvSpPr txBox="1"/>
          <p:nvPr/>
        </p:nvSpPr>
        <p:spPr>
          <a:xfrm>
            <a:off x="4355976" y="299923"/>
            <a:ext cx="4464496" cy="124495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400050" lvl="1" indent="0">
              <a:lnSpc>
                <a:spcPct val="120000"/>
              </a:lnSpc>
              <a:buNone/>
            </a:pPr>
            <a:r>
              <a:rPr lang="en-US" altLang="zh-CN" sz="14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age   height     weight  expense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4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1   21     180      70     1200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4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2   20     165      65     1000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4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3   18     175      65     1000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="" xmlns:a16="http://schemas.microsoft.com/office/drawing/2014/main" id="{2B88BEE4-090B-4ACB-8502-A9CF84597EE3}"/>
              </a:ext>
            </a:extLst>
          </p:cNvPr>
          <p:cNvCxnSpPr/>
          <p:nvPr/>
        </p:nvCxnSpPr>
        <p:spPr>
          <a:xfrm>
            <a:off x="1187624" y="3789040"/>
            <a:ext cx="43924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="" xmlns:a16="http://schemas.microsoft.com/office/drawing/2014/main" id="{1F71F90F-1460-41E8-A3B2-337A2E4C5015}"/>
              </a:ext>
            </a:extLst>
          </p:cNvPr>
          <p:cNvCxnSpPr/>
          <p:nvPr/>
        </p:nvCxnSpPr>
        <p:spPr>
          <a:xfrm>
            <a:off x="1259632" y="5805264"/>
            <a:ext cx="374441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对话气泡: 圆角矩形 12">
            <a:extLst>
              <a:ext uri="{FF2B5EF4-FFF2-40B4-BE49-F238E27FC236}">
                <a16:creationId xmlns="" xmlns:a16="http://schemas.microsoft.com/office/drawing/2014/main" id="{5E251207-0BAF-4A62-9094-AD2703681D4C}"/>
              </a:ext>
            </a:extLst>
          </p:cNvPr>
          <p:cNvSpPr/>
          <p:nvPr/>
        </p:nvSpPr>
        <p:spPr>
          <a:xfrm>
            <a:off x="2051720" y="1431374"/>
            <a:ext cx="1008112" cy="360041"/>
          </a:xfrm>
          <a:prstGeom prst="wedgeRoundRectCallout">
            <a:avLst>
              <a:gd name="adj1" fmla="val 49715"/>
              <a:gd name="adj2" fmla="val 14282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行索引</a:t>
            </a:r>
          </a:p>
        </p:txBody>
      </p:sp>
      <p:sp>
        <p:nvSpPr>
          <p:cNvPr id="14" name="对话气泡: 圆角矩形 13">
            <a:extLst>
              <a:ext uri="{FF2B5EF4-FFF2-40B4-BE49-F238E27FC236}">
                <a16:creationId xmlns="" xmlns:a16="http://schemas.microsoft.com/office/drawing/2014/main" id="{A61A846F-3C91-42E6-890A-1B2E0F811E64}"/>
              </a:ext>
            </a:extLst>
          </p:cNvPr>
          <p:cNvSpPr/>
          <p:nvPr/>
        </p:nvSpPr>
        <p:spPr>
          <a:xfrm>
            <a:off x="4499992" y="4647864"/>
            <a:ext cx="1008112" cy="360041"/>
          </a:xfrm>
          <a:prstGeom prst="wedgeRoundRectCallout">
            <a:avLst>
              <a:gd name="adj1" fmla="val -133755"/>
              <a:gd name="adj2" fmla="val 202473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行索引</a:t>
            </a:r>
          </a:p>
        </p:txBody>
      </p:sp>
      <p:sp>
        <p:nvSpPr>
          <p:cNvPr id="15" name="对话气泡: 圆角矩形 14">
            <a:extLst>
              <a:ext uri="{FF2B5EF4-FFF2-40B4-BE49-F238E27FC236}">
                <a16:creationId xmlns="" xmlns:a16="http://schemas.microsoft.com/office/drawing/2014/main" id="{657653A1-7924-4E93-86A6-AAAF8F192A95}"/>
              </a:ext>
            </a:extLst>
          </p:cNvPr>
          <p:cNvSpPr/>
          <p:nvPr/>
        </p:nvSpPr>
        <p:spPr>
          <a:xfrm>
            <a:off x="5436096" y="3068958"/>
            <a:ext cx="1008112" cy="360041"/>
          </a:xfrm>
          <a:prstGeom prst="wedgeRoundRectCallout">
            <a:avLst>
              <a:gd name="adj1" fmla="val -182543"/>
              <a:gd name="adj2" fmla="val 9088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列索引</a:t>
            </a:r>
          </a:p>
        </p:txBody>
      </p:sp>
    </p:spTree>
    <p:extLst>
      <p:ext uri="{BB962C8B-B14F-4D97-AF65-F5344CB8AC3E}">
        <p14:creationId xmlns:p14="http://schemas.microsoft.com/office/powerpoint/2010/main" val="377246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98FBD37-787A-4ED0-B010-039753270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231" y="378792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b="1" dirty="0"/>
              <a:t>4. </a:t>
            </a:r>
            <a:r>
              <a:rPr lang="zh-CN" altLang="en-US" sz="3200" b="1" dirty="0"/>
              <a:t>删除学生信息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1C816902-72F3-4996-9D67-E12DFDFAF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66018"/>
            <a:ext cx="8229600" cy="4525963"/>
          </a:xfrm>
        </p:spPr>
        <p:txBody>
          <a:bodyPr>
            <a:normAutofit/>
          </a:bodyPr>
          <a:lstStyle/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zh-CN" altLang="zh-CN" sz="2200" b="1" dirty="0">
                <a:solidFill>
                  <a:srgbClr val="FF0000"/>
                </a:solidFill>
              </a:rPr>
              <a:t>如果需要直接删除原始对象的行或列，</a:t>
            </a:r>
            <a:r>
              <a:rPr lang="zh-CN" altLang="en-US" sz="2200" b="1" dirty="0">
                <a:solidFill>
                  <a:srgbClr val="FF0000"/>
                </a:solidFill>
              </a:rPr>
              <a:t>设置</a:t>
            </a:r>
            <a:r>
              <a:rPr lang="zh-CN" altLang="zh-CN" sz="2200" b="1" dirty="0">
                <a:solidFill>
                  <a:srgbClr val="FF0000"/>
                </a:solidFill>
              </a:rPr>
              <a:t>参数</a:t>
            </a:r>
            <a:r>
              <a:rPr lang="en-US" altLang="zh-CN" sz="2200" b="1" dirty="0">
                <a:solidFill>
                  <a:srgbClr val="FF0000"/>
                </a:solidFill>
              </a:rPr>
              <a:t> </a:t>
            </a:r>
            <a:r>
              <a:rPr lang="en-US" altLang="zh-CN" sz="2200" b="1" dirty="0" err="1">
                <a:solidFill>
                  <a:srgbClr val="FF0000"/>
                </a:solidFill>
              </a:rPr>
              <a:t>inplace</a:t>
            </a:r>
            <a:r>
              <a:rPr lang="en-US" altLang="zh-CN" sz="2200" b="1" dirty="0">
                <a:solidFill>
                  <a:srgbClr val="FF0000"/>
                </a:solidFill>
              </a:rPr>
              <a:t>=True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zh-CN" altLang="en-US" sz="2200" b="1" dirty="0"/>
              <a:t>例如：删除多列，并修改</a:t>
            </a:r>
            <a:r>
              <a:rPr lang="en-US" altLang="zh-CN" sz="2200" b="1" dirty="0"/>
              <a:t>students</a:t>
            </a:r>
            <a:r>
              <a:rPr lang="zh-CN" altLang="en-US" sz="2200" b="1" dirty="0"/>
              <a:t>对象</a:t>
            </a:r>
            <a:endParaRPr lang="en-US" altLang="zh-CN" sz="2200" b="1" dirty="0"/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students.drop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(['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age','weight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'], axis=1,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=True) 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   expense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1     180     1200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2     165     1000</a:t>
            </a:r>
          </a:p>
          <a:p>
            <a:pPr lvl="1" indent="-342900">
              <a:lnSpc>
                <a:spcPct val="120000"/>
              </a:lnSpc>
              <a:spcBef>
                <a:spcPct val="19608"/>
              </a:spcBef>
              <a:buAutoNum type="arabicPlain" startAt="3"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175     1000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students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height   expense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1     180     1200</a:t>
            </a:r>
          </a:p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2     165     1000</a:t>
            </a:r>
          </a:p>
          <a:p>
            <a:pPr lvl="1" indent="-342900">
              <a:lnSpc>
                <a:spcPct val="120000"/>
              </a:lnSpc>
              <a:spcBef>
                <a:spcPct val="19608"/>
              </a:spcBef>
              <a:buAutoNum type="arabicPlain" startAt="3"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175     1000</a:t>
            </a:r>
          </a:p>
          <a:p>
            <a:endParaRPr lang="zh-CN" altLang="en-US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="" xmlns:a16="http://schemas.microsoft.com/office/drawing/2014/main" id="{E571DF5E-2850-45B5-A39C-06C9C470F133}"/>
              </a:ext>
            </a:extLst>
          </p:cNvPr>
          <p:cNvSpPr/>
          <p:nvPr/>
        </p:nvSpPr>
        <p:spPr>
          <a:xfrm>
            <a:off x="4644008" y="3068960"/>
            <a:ext cx="1224136" cy="432048"/>
          </a:xfrm>
          <a:prstGeom prst="wedgeRoundRectCallout">
            <a:avLst>
              <a:gd name="adj1" fmla="val -97062"/>
              <a:gd name="adj2" fmla="val -17388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列索引</a:t>
            </a:r>
          </a:p>
        </p:txBody>
      </p:sp>
    </p:spTree>
    <p:extLst>
      <p:ext uri="{BB962C8B-B14F-4D97-AF65-F5344CB8AC3E}">
        <p14:creationId xmlns:p14="http://schemas.microsoft.com/office/powerpoint/2010/main" val="693515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843F2070-9D1D-4212-93BB-3F65A0D7B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859216" cy="7166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P45 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思考与练习题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="" xmlns:a16="http://schemas.microsoft.com/office/drawing/2014/main" id="{FDCEA299-2255-4ACD-BCAF-E1796A000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532" y="991269"/>
            <a:ext cx="8424936" cy="5143302"/>
          </a:xfrm>
        </p:spPr>
        <p:txBody>
          <a:bodyPr>
            <a:noAutofit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2.  </a:t>
            </a:r>
            <a:r>
              <a:rPr lang="zh-CN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创建并访问</a:t>
            </a:r>
            <a:r>
              <a:rPr lang="en-US" altLang="zh-CN" sz="2000" b="1" kern="0" dirty="0" err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DataFrame</a:t>
            </a:r>
            <a:r>
              <a:rPr lang="zh-CN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对象。</a:t>
            </a:r>
            <a:endParaRPr lang="zh-CN" altLang="zh-CN" sz="2000" b="1" kern="1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zh-CN" sz="1600" kern="100" dirty="0">
                <a:latin typeface="Times New Roman" panose="02020603050405020304" pitchFamily="18" charset="0"/>
              </a:rPr>
              <a:t>1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）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创建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3×3DataFrame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数据对象：数据内容为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1-9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；行索引为字符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a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，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b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，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c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；列索引为字符串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one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，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two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，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three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；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zh-CN" sz="1600" kern="100" dirty="0">
                <a:latin typeface="Times New Roman" panose="02020603050405020304" pitchFamily="18" charset="0"/>
              </a:rPr>
              <a:t>2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）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查询列索引为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two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和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three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的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两列数据；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zh-CN" sz="1600" kern="100" dirty="0">
                <a:latin typeface="Times New Roman" panose="02020603050405020304" pitchFamily="18" charset="0"/>
              </a:rPr>
              <a:t>3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）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查询第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0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行、第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2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行、第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0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列、第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2</a:t>
            </a:r>
            <a:r>
              <a:rPr lang="zh-CN" altLang="zh-CN" sz="1600" kern="100" dirty="0" smtClean="0">
                <a:latin typeface="Times New Roman" panose="02020603050405020304" pitchFamily="18" charset="0"/>
              </a:rPr>
              <a:t>列</a:t>
            </a:r>
            <a:r>
              <a:rPr lang="zh-CN" altLang="en-US" sz="1600" kern="100" dirty="0" smtClean="0">
                <a:latin typeface="Times New Roman" panose="02020603050405020304" pitchFamily="18" charset="0"/>
              </a:rPr>
              <a:t>的</a:t>
            </a:r>
            <a:r>
              <a:rPr lang="zh-CN" altLang="zh-CN" sz="1600" kern="100" dirty="0" smtClean="0">
                <a:latin typeface="Times New Roman" panose="02020603050405020304" pitchFamily="18" charset="0"/>
              </a:rPr>
              <a:t>数据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；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zh-CN" sz="1600" kern="100" dirty="0">
                <a:latin typeface="Times New Roman" panose="02020603050405020304" pitchFamily="18" charset="0"/>
              </a:rPr>
              <a:t>4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）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筛选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第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1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列中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值大于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2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的所有行数据，另存为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data1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对象；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zh-CN" sz="1600" kern="100" dirty="0">
                <a:latin typeface="Times New Roman" panose="02020603050405020304" pitchFamily="18" charset="0"/>
              </a:rPr>
              <a:t>5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）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为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data1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添加一列数据，列索引为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four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，值都为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10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；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zh-CN" sz="1600" kern="100" dirty="0">
                <a:latin typeface="Times New Roman" panose="02020603050405020304" pitchFamily="18" charset="0"/>
              </a:rPr>
              <a:t>6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）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将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data1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所有值大于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9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的数据修改为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8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；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zh-CN" sz="1600" kern="100" dirty="0">
                <a:latin typeface="Times New Roman" panose="02020603050405020304" pitchFamily="18" charset="0"/>
              </a:rPr>
              <a:t>7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）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删除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data1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中第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0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行和第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1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行数据。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kern="100" dirty="0">
                <a:latin typeface="Times New Roman" panose="02020603050405020304" pitchFamily="18" charset="0"/>
              </a:rPr>
              <a:t>【提示】</a:t>
            </a:r>
            <a:endParaRPr lang="en-US" altLang="zh-CN" sz="1600" kern="100" dirty="0"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latin typeface="Times New Roman" panose="02020603050405020304" pitchFamily="18" charset="0"/>
              </a:rPr>
              <a:t>1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）</a:t>
            </a:r>
            <a:r>
              <a:rPr lang="zh-CN" altLang="zh-CN" sz="1600" kern="100" dirty="0" smtClean="0">
                <a:latin typeface="Times New Roman" panose="02020603050405020304" pitchFamily="18" charset="0"/>
              </a:rPr>
              <a:t>生成</a:t>
            </a:r>
            <a:r>
              <a:rPr lang="zh-CN" altLang="en-US" sz="1600" kern="100" dirty="0" smtClean="0">
                <a:latin typeface="Times New Roman" panose="02020603050405020304" pitchFamily="18" charset="0"/>
              </a:rPr>
              <a:t>值为</a:t>
            </a:r>
            <a:r>
              <a:rPr lang="en-US" altLang="zh-CN" sz="1600" kern="100" dirty="0" smtClean="0">
                <a:latin typeface="Times New Roman" panose="02020603050405020304" pitchFamily="18" charset="0"/>
              </a:rPr>
              <a:t>1-9</a:t>
            </a:r>
            <a:r>
              <a:rPr lang="zh-CN" altLang="en-US" sz="1600" kern="100" dirty="0" smtClean="0">
                <a:latin typeface="Times New Roman" panose="02020603050405020304" pitchFamily="18" charset="0"/>
              </a:rPr>
              <a:t>的二维数组对象</a:t>
            </a:r>
            <a:r>
              <a:rPr lang="zh-CN" altLang="zh-CN" sz="1600" kern="100" dirty="0" smtClean="0">
                <a:latin typeface="Times New Roman" panose="02020603050405020304" pitchFamily="18" charset="0"/>
              </a:rPr>
              <a:t>，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使用</a:t>
            </a:r>
            <a:r>
              <a:rPr lang="en-US" altLang="zh-CN" sz="1600" kern="100" dirty="0" err="1">
                <a:latin typeface="Times New Roman" panose="02020603050405020304" pitchFamily="18" charset="0"/>
              </a:rPr>
              <a:t>numpy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的</a:t>
            </a:r>
            <a:r>
              <a:rPr lang="en-US" altLang="zh-CN" sz="1600" kern="100" dirty="0" err="1">
                <a:latin typeface="Times New Roman" panose="02020603050405020304" pitchFamily="18" charset="0"/>
              </a:rPr>
              <a:t>arange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()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函数和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reshape()</a:t>
            </a:r>
            <a:r>
              <a:rPr lang="zh-CN" altLang="zh-CN" sz="1600" kern="100" dirty="0">
                <a:latin typeface="Times New Roman" panose="02020603050405020304" pitchFamily="18" charset="0"/>
              </a:rPr>
              <a:t>函数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；</a:t>
            </a:r>
            <a:endParaRPr lang="en-US" altLang="zh-CN" sz="1600" kern="100" dirty="0"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latin typeface="Times New Roman" panose="02020603050405020304" pitchFamily="18" charset="0"/>
              </a:rPr>
              <a:t>2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）使用 </a:t>
            </a:r>
            <a:r>
              <a:rPr lang="en-US" altLang="zh-CN" sz="1600" kern="100" dirty="0">
                <a:latin typeface="Times New Roman" panose="02020603050405020304" pitchFamily="18" charset="0"/>
              </a:rPr>
              <a:t>data&gt;9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生成布尔型的</a:t>
            </a:r>
            <a:r>
              <a:rPr lang="en-US" altLang="zh-CN" sz="1600" kern="100" dirty="0" err="1" smtClean="0">
                <a:latin typeface="Times New Roman" panose="02020603050405020304" pitchFamily="18" charset="0"/>
              </a:rPr>
              <a:t>DataFrame</a:t>
            </a:r>
            <a:r>
              <a:rPr lang="zh-CN" altLang="en-US" sz="1600" kern="100" dirty="0" smtClean="0">
                <a:latin typeface="Times New Roman" panose="02020603050405020304" pitchFamily="18" charset="0"/>
              </a:rPr>
              <a:t>对象，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用于</a:t>
            </a:r>
            <a:r>
              <a:rPr lang="en-US" altLang="zh-CN" sz="1600" kern="100" dirty="0" err="1" smtClean="0">
                <a:latin typeface="Times New Roman" panose="02020603050405020304" pitchFamily="18" charset="0"/>
              </a:rPr>
              <a:t>DataFrame</a:t>
            </a:r>
            <a:r>
              <a:rPr lang="zh-CN" altLang="en-US" sz="1600" kern="100" dirty="0" smtClean="0">
                <a:latin typeface="Times New Roman" panose="02020603050405020304" pitchFamily="18" charset="0"/>
              </a:rPr>
              <a:t>对象所有</a:t>
            </a:r>
            <a:r>
              <a:rPr lang="zh-CN" altLang="en-US" sz="1600" kern="100" dirty="0">
                <a:latin typeface="Times New Roman" panose="02020603050405020304" pitchFamily="18" charset="0"/>
              </a:rPr>
              <a:t>值的过滤。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5030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1223</Words>
  <Application>Microsoft Office PowerPoint</Application>
  <PresentationFormat>全屏显示(4:3)</PresentationFormat>
  <Paragraphs>206</Paragraphs>
  <Slides>19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0" baseType="lpstr">
      <vt:lpstr>Office 主题​​</vt:lpstr>
      <vt:lpstr>1、DataFrame对象</vt:lpstr>
      <vt:lpstr>DataFrame对象</vt:lpstr>
      <vt:lpstr>DataFrame对象的属性 </vt:lpstr>
      <vt:lpstr>2. 创建DataFrame对象 </vt:lpstr>
      <vt:lpstr>【例题3-3】 </vt:lpstr>
      <vt:lpstr>创建DataFrame对象时，省略了行索引和列索引</vt:lpstr>
      <vt:lpstr>3. DataFrame对象数据访问</vt:lpstr>
      <vt:lpstr>DataFrame对象（有两套索引）</vt:lpstr>
      <vt:lpstr>DataFrame 数据选取方法  </vt:lpstr>
      <vt:lpstr>PowerPoint 演示文稿</vt:lpstr>
      <vt:lpstr>1. 学生信息查询 </vt:lpstr>
      <vt:lpstr>1. 学生信息查询</vt:lpstr>
      <vt:lpstr>1. 学生信息查询</vt:lpstr>
      <vt:lpstr> 2.（1） 增加列（操作方便）</vt:lpstr>
      <vt:lpstr> 2.（2） 增加行（操作方便）</vt:lpstr>
      <vt:lpstr> 3. 修改学生信息 </vt:lpstr>
      <vt:lpstr> 4. 删除学生信息 （默认情况，不修改原始数据对象。） </vt:lpstr>
      <vt:lpstr>4. 删除学生信息</vt:lpstr>
      <vt:lpstr>P45 思考与练习题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数据汇总与统计 </dc:title>
  <dc:creator>chunming xu</dc:creator>
  <cp:lastModifiedBy>qw</cp:lastModifiedBy>
  <cp:revision>309</cp:revision>
  <dcterms:created xsi:type="dcterms:W3CDTF">2019-12-05T06:22:46Z</dcterms:created>
  <dcterms:modified xsi:type="dcterms:W3CDTF">2022-03-22T07:57:29Z</dcterms:modified>
</cp:coreProperties>
</file>