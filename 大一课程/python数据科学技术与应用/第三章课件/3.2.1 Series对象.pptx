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1" r:id="rId5"/>
    <p:sldId id="263" r:id="rId6"/>
    <p:sldId id="266" r:id="rId7"/>
    <p:sldId id="265" r:id="rId8"/>
    <p:sldId id="269" r:id="rId9"/>
    <p:sldId id="267" r:id="rId10"/>
    <p:sldId id="268" r:id="rId11"/>
    <p:sldId id="270" r:id="rId12"/>
    <p:sldId id="275" r:id="rId13"/>
    <p:sldId id="273" r:id="rId14"/>
    <p:sldId id="271" r:id="rId15"/>
    <p:sldId id="274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6" autoAdjust="0"/>
    <p:restoredTop sz="94660"/>
  </p:normalViewPr>
  <p:slideViewPr>
    <p:cSldViewPr>
      <p:cViewPr varScale="1">
        <p:scale>
          <a:sx n="65" d="100"/>
          <a:sy n="65" d="100"/>
        </p:scale>
        <p:origin x="-759" y="-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74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73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35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80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08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9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10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7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05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14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20C05-7718-4490-BE7C-445CE581F14D}" type="datetimeFigureOut">
              <a:rPr lang="zh-CN" altLang="en-US" smtClean="0"/>
              <a:t>2021/12/12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A9AF8-958A-45BB-AD37-11FD1C2D6C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96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3.2  pandas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数据结构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/>
            </a:r>
            <a:b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91264" cy="489654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en-US" altLang="zh-CN" sz="2400" dirty="0">
                <a:cs typeface="+mn-ea"/>
                <a:sym typeface="+mn-lt"/>
              </a:rPr>
              <a:t>p</a:t>
            </a:r>
            <a:r>
              <a:rPr lang="zh-CN" altLang="en-US" sz="2400" dirty="0">
                <a:cs typeface="+mn-ea"/>
                <a:sym typeface="+mn-lt"/>
              </a:rPr>
              <a:t>andas是基于</a:t>
            </a:r>
            <a:r>
              <a:rPr lang="en-US" altLang="zh-CN" sz="2400" dirty="0">
                <a:cs typeface="+mn-ea"/>
                <a:sym typeface="+mn-lt"/>
              </a:rPr>
              <a:t>python</a:t>
            </a:r>
            <a:r>
              <a:rPr lang="zh-CN" altLang="en-US" sz="2400" dirty="0">
                <a:cs typeface="+mn-ea"/>
                <a:sym typeface="+mn-lt"/>
              </a:rPr>
              <a:t>的数据分析工具包</a:t>
            </a:r>
            <a:endParaRPr lang="en-US" altLang="zh-CN" sz="2400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Series数据结构</a:t>
            </a:r>
            <a:r>
              <a:rPr lang="zh-CN" altLang="en-US" sz="2400" b="1" dirty="0">
                <a:cs typeface="+mn-ea"/>
                <a:sym typeface="+mn-lt"/>
              </a:rPr>
              <a:t>：</a:t>
            </a:r>
            <a:r>
              <a:rPr lang="zh-CN" altLang="en-US" sz="2400" dirty="0">
                <a:cs typeface="+mn-ea"/>
                <a:sym typeface="+mn-lt"/>
              </a:rPr>
              <a:t>一维数据</a:t>
            </a:r>
            <a:endParaRPr lang="en-US" altLang="zh-CN" sz="2400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b="1" dirty="0">
                <a:solidFill>
                  <a:srgbClr val="FF0000"/>
                </a:solidFill>
                <a:cs typeface="+mn-ea"/>
                <a:sym typeface="+mn-lt"/>
              </a:rPr>
              <a:t>DataFrame数据结构</a:t>
            </a:r>
            <a:r>
              <a:rPr lang="zh-CN" altLang="en-US" sz="2400" dirty="0">
                <a:cs typeface="+mn-ea"/>
                <a:sym typeface="+mn-lt"/>
              </a:rPr>
              <a:t>：二维数据和高维数据</a:t>
            </a:r>
            <a:endParaRPr lang="en-US" altLang="zh-CN" sz="2400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dirty="0">
                <a:cs typeface="+mn-ea"/>
                <a:sym typeface="+mn-lt"/>
              </a:rPr>
              <a:t>汇集多种数据源数据、处理缺失数据</a:t>
            </a:r>
            <a:endParaRPr lang="en-US" altLang="zh-CN" sz="2400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dirty="0">
                <a:cs typeface="+mn-ea"/>
                <a:sym typeface="+mn-lt"/>
              </a:rPr>
              <a:t>对数据进行切片、聚合和汇总统计</a:t>
            </a:r>
            <a:endParaRPr lang="en-US" altLang="zh-CN" sz="2400" dirty="0">
              <a:cs typeface="+mn-ea"/>
              <a:sym typeface="+mn-lt"/>
            </a:endParaRPr>
          </a:p>
          <a:p>
            <a:pPr lvl="1"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dirty="0">
                <a:cs typeface="+mn-ea"/>
                <a:sym typeface="+mn-lt"/>
              </a:rPr>
              <a:t>实现数据可视化</a:t>
            </a:r>
            <a:endParaRPr lang="en-US" altLang="zh-CN" sz="2400" dirty="0">
              <a:cs typeface="+mn-ea"/>
              <a:sym typeface="+mn-lt"/>
            </a:endParaRPr>
          </a:p>
          <a:p>
            <a:pPr>
              <a:lnSpc>
                <a:spcPct val="130000"/>
              </a:lnSpc>
              <a:spcBef>
                <a:spcPct val="10000"/>
              </a:spcBef>
              <a:spcAft>
                <a:spcPts val="10"/>
              </a:spcAft>
            </a:pPr>
            <a:r>
              <a:rPr lang="zh-CN" altLang="en-US" sz="2400" b="1" dirty="0">
                <a:cs typeface="+mn-ea"/>
                <a:sym typeface="+mn-lt"/>
              </a:rPr>
              <a:t>使用前需要导入</a:t>
            </a:r>
            <a:endParaRPr lang="en-US" altLang="zh-CN" sz="2400" b="1" dirty="0">
              <a:cs typeface="+mn-ea"/>
              <a:sym typeface="+mn-lt"/>
            </a:endParaRPr>
          </a:p>
          <a:p>
            <a:pPr indent="0" algn="just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zh-CN" sz="2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pandas  as  </a:t>
            </a:r>
            <a:r>
              <a:rPr lang="en-US" altLang="zh-CN" sz="28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324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742" y="482677"/>
            <a:ext cx="8229600" cy="786083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en-US" altLang="zh-CN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Series</a:t>
            </a:r>
            <a:r>
              <a:rPr lang="zh-CN" altLang="en-US" sz="4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742" y="1340768"/>
            <a:ext cx="8229600" cy="4525963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创建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Series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 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import  pandas  as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pd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  a=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pd.Series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data,index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=[])</a:t>
            </a:r>
          </a:p>
          <a:p>
            <a:pPr marL="742950" indent="-742950">
              <a:buAutoNum type="arabicPeriod"/>
            </a:pP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标注 3"/>
          <p:cNvSpPr/>
          <p:nvPr/>
        </p:nvSpPr>
        <p:spPr>
          <a:xfrm>
            <a:off x="899026" y="3861048"/>
            <a:ext cx="1260140" cy="432048"/>
          </a:xfrm>
          <a:prstGeom prst="wedgeRectCallout">
            <a:avLst>
              <a:gd name="adj1" fmla="val 57838"/>
              <a:gd name="adj2" fmla="val -2251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5" name="矩形标注 4"/>
          <p:cNvSpPr/>
          <p:nvPr/>
        </p:nvSpPr>
        <p:spPr>
          <a:xfrm>
            <a:off x="2483768" y="3966057"/>
            <a:ext cx="1512168" cy="720081"/>
          </a:xfrm>
          <a:prstGeom prst="wedgeRectCallout">
            <a:avLst>
              <a:gd name="adj1" fmla="val 19193"/>
              <a:gd name="adj2" fmla="val -1727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列表或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一维数组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4811971" y="3966057"/>
            <a:ext cx="1512168" cy="576064"/>
          </a:xfrm>
          <a:prstGeom prst="wedgeRectCallout">
            <a:avLst>
              <a:gd name="adj1" fmla="val -59160"/>
              <a:gd name="adj2" fmla="val -1914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列表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25B5440D-C95B-49B2-88E1-C831BA26223D}"/>
              </a:ext>
            </a:extLst>
          </p:cNvPr>
          <p:cNvSpPr txBox="1"/>
          <p:nvPr/>
        </p:nvSpPr>
        <p:spPr>
          <a:xfrm>
            <a:off x="6444208" y="1340768"/>
            <a:ext cx="2376264" cy="1015663"/>
          </a:xfrm>
          <a:prstGeom prst="rect">
            <a:avLst/>
          </a:prstGeom>
          <a:noFill/>
          <a:ln w="19050">
            <a:solidFill>
              <a:srgbClr val="0F0BB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可以理解为：</a:t>
            </a:r>
            <a:endParaRPr lang="en-US" altLang="zh-CN" sz="2000" b="1" dirty="0"/>
          </a:p>
          <a:p>
            <a:r>
              <a:rPr lang="en-US" altLang="zh-CN" sz="2000" b="1" dirty="0"/>
              <a:t>Series</a:t>
            </a:r>
            <a:r>
              <a:rPr lang="zh-CN" altLang="en-US" sz="2000" b="1" dirty="0"/>
              <a:t>对象是</a:t>
            </a:r>
            <a:endParaRPr lang="en-US" altLang="zh-CN" sz="2000" b="1" dirty="0"/>
          </a:p>
          <a:p>
            <a:r>
              <a:rPr lang="zh-CN" altLang="en-US" sz="2000" b="1" dirty="0"/>
              <a:t>带索引的一维数组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181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56576"/>
            <a:ext cx="8435280" cy="4525963"/>
          </a:xfrm>
        </p:spPr>
        <p:txBody>
          <a:bodyPr/>
          <a:lstStyle/>
          <a:p>
            <a:r>
              <a:rPr lang="zh-CN" altLang="en-US" b="1" dirty="0"/>
              <a:t>创建一个</a:t>
            </a:r>
            <a:r>
              <a:rPr lang="en-US" altLang="zh-CN" b="1" dirty="0"/>
              <a:t>Series </a:t>
            </a:r>
            <a:r>
              <a:rPr lang="zh-CN" altLang="en-US" b="1" dirty="0"/>
              <a:t>对象：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t=</a:t>
            </a:r>
            <a:r>
              <a:rPr lang="en-US" altLang="zh-CN" b="1" dirty="0" err="1">
                <a:solidFill>
                  <a:srgbClr val="FF0000"/>
                </a:solidFill>
              </a:rPr>
              <a:t>pd.Series</a:t>
            </a:r>
            <a:r>
              <a:rPr lang="en-US" altLang="zh-CN" dirty="0"/>
              <a:t>([10,20,30], index=[‘a’, ’b’, ’c’])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</a:t>
            </a:r>
          </a:p>
          <a:p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48880"/>
            <a:ext cx="6624736" cy="297648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F8AD8F10-25D3-4AAE-89F4-51FD93CC6BE9}"/>
              </a:ext>
            </a:extLst>
          </p:cNvPr>
          <p:cNvSpPr txBox="1"/>
          <p:nvPr/>
        </p:nvSpPr>
        <p:spPr>
          <a:xfrm>
            <a:off x="4211960" y="4314633"/>
            <a:ext cx="4225668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cs typeface="+mn-ea"/>
              </a:rPr>
              <a:t>index</a:t>
            </a:r>
            <a:r>
              <a:rPr lang="zh-CN" altLang="en-US" sz="2400" dirty="0">
                <a:cs typeface="+mn-ea"/>
              </a:rPr>
              <a:t>：是列表，若省略则自动生成</a:t>
            </a:r>
            <a:r>
              <a:rPr lang="en-US" altLang="zh-CN" sz="2400" dirty="0">
                <a:cs typeface="+mn-ea"/>
              </a:rPr>
              <a:t>0 ~ n-1</a:t>
            </a:r>
            <a:r>
              <a:rPr lang="zh-CN" altLang="zh-CN" sz="2400" dirty="0">
                <a:cs typeface="+mn-ea"/>
              </a:rPr>
              <a:t>的序号标签</a:t>
            </a:r>
            <a:r>
              <a:rPr lang="zh-CN" altLang="en-US" sz="2400" dirty="0">
                <a:cs typeface="+mn-ea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0541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Series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对象的两个重要属性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/>
            </a:r>
            <a:b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</a:br>
            <a:endParaRPr lang="zh-CN" altLang="en-US" sz="36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values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 （即值）  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（是一维数组）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index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 （即索引） 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（由索引组成，是列表）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988840"/>
            <a:ext cx="2585529" cy="207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标注 5"/>
          <p:cNvSpPr/>
          <p:nvPr/>
        </p:nvSpPr>
        <p:spPr>
          <a:xfrm>
            <a:off x="4572000" y="4469795"/>
            <a:ext cx="1440160" cy="399365"/>
          </a:xfrm>
          <a:prstGeom prst="wedgeRectCallout">
            <a:avLst>
              <a:gd name="adj1" fmla="val 76669"/>
              <a:gd name="adj2" fmla="val -2084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index</a:t>
            </a:r>
            <a:endParaRPr lang="zh-CN" altLang="en-US" sz="2400" b="1" dirty="0"/>
          </a:p>
        </p:txBody>
      </p:sp>
      <p:sp>
        <p:nvSpPr>
          <p:cNvPr id="8" name="矩形标注 7"/>
          <p:cNvSpPr/>
          <p:nvPr/>
        </p:nvSpPr>
        <p:spPr>
          <a:xfrm>
            <a:off x="6682146" y="4832491"/>
            <a:ext cx="1440161" cy="399365"/>
          </a:xfrm>
          <a:prstGeom prst="wedgeRectCallout">
            <a:avLst>
              <a:gd name="adj1" fmla="val 26389"/>
              <a:gd name="adj2" fmla="val -2858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values</a:t>
            </a:r>
            <a:endParaRPr lang="zh-CN" altLang="en-US" sz="2400" b="1" dirty="0"/>
          </a:p>
        </p:txBody>
      </p:sp>
      <p:sp>
        <p:nvSpPr>
          <p:cNvPr id="9" name="矩形 8"/>
          <p:cNvSpPr/>
          <p:nvPr/>
        </p:nvSpPr>
        <p:spPr>
          <a:xfrm>
            <a:off x="395536" y="4670473"/>
            <a:ext cx="3384376" cy="561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如何查看这两个属性？</a:t>
            </a:r>
          </a:p>
        </p:txBody>
      </p:sp>
    </p:spTree>
    <p:extLst>
      <p:ext uri="{BB962C8B-B14F-4D97-AF65-F5344CB8AC3E}">
        <p14:creationId xmlns:p14="http://schemas.microsoft.com/office/powerpoint/2010/main" val="39019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查看 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Series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对象的两个重要属性</a:t>
            </a:r>
            <a:endParaRPr lang="zh-CN" altLang="en-US" sz="32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12776"/>
            <a:ext cx="6526456" cy="3169362"/>
          </a:xfrm>
        </p:spPr>
      </p:pic>
      <p:sp>
        <p:nvSpPr>
          <p:cNvPr id="5" name="矩形 4"/>
          <p:cNvSpPr/>
          <p:nvPr/>
        </p:nvSpPr>
        <p:spPr>
          <a:xfrm>
            <a:off x="1403648" y="4869160"/>
            <a:ext cx="6048672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可以修改索引，用新的列表代替即可</a:t>
            </a:r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960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通过索引访问值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7" y="1340768"/>
            <a:ext cx="2376264" cy="3569772"/>
          </a:xfrm>
        </p:spPr>
      </p:pic>
    </p:spTree>
    <p:extLst>
      <p:ext uri="{BB962C8B-B14F-4D97-AF65-F5344CB8AC3E}">
        <p14:creationId xmlns:p14="http://schemas.microsoft.com/office/powerpoint/2010/main" val="363536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修改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Series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对象的索引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12776"/>
            <a:ext cx="6356122" cy="3456384"/>
          </a:xfrm>
        </p:spPr>
      </p:pic>
    </p:spTree>
    <p:extLst>
      <p:ext uri="{BB962C8B-B14F-4D97-AF65-F5344CB8AC3E}">
        <p14:creationId xmlns:p14="http://schemas.microsoft.com/office/powerpoint/2010/main" val="54716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F3734FB-88E0-4A1B-9999-13E0B188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</a:rPr>
              <a:t>二、</a:t>
            </a:r>
            <a:r>
              <a:rPr lang="en-US" altLang="zh-CN" sz="3200" b="1" dirty="0">
                <a:solidFill>
                  <a:srgbClr val="FF0000"/>
                </a:solidFill>
              </a:rPr>
              <a:t>Series</a:t>
            </a:r>
            <a:r>
              <a:rPr lang="zh-CN" altLang="en-US" sz="3200" b="1" dirty="0">
                <a:solidFill>
                  <a:srgbClr val="FF0000"/>
                </a:solidFill>
              </a:rPr>
              <a:t>数据访问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xmlns="" id="{3AC0BF9C-58E1-48B1-8AAC-D4C7D6AAE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413296"/>
            <a:ext cx="7056784" cy="3308848"/>
          </a:xfr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F987AA24-C09C-48E2-891D-D3F7C279796B}"/>
              </a:ext>
            </a:extLst>
          </p:cNvPr>
          <p:cNvSpPr txBox="1"/>
          <p:nvPr/>
        </p:nvSpPr>
        <p:spPr>
          <a:xfrm>
            <a:off x="755576" y="1196752"/>
            <a:ext cx="7217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方法一：  通过索引访问值</a:t>
            </a:r>
            <a:endParaRPr lang="en-US" altLang="zh-CN" sz="2000" b="1" dirty="0"/>
          </a:p>
          <a:p>
            <a:r>
              <a:rPr lang="zh-CN" altLang="en-US" sz="2000" b="1" dirty="0"/>
              <a:t>方法二： 通过位置序号访问值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B26C6082-7333-4FB1-A49C-C50DD62DA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915670"/>
            <a:ext cx="2121195" cy="136751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39DE519D-8262-4694-9486-13AEBB858ABA}"/>
              </a:ext>
            </a:extLst>
          </p:cNvPr>
          <p:cNvSpPr txBox="1"/>
          <p:nvPr/>
        </p:nvSpPr>
        <p:spPr>
          <a:xfrm>
            <a:off x="6336196" y="1122653"/>
            <a:ext cx="720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0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1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xmlns="" id="{A55CC09B-90C8-4858-AFE5-6625DCF5F5E4}"/>
              </a:ext>
            </a:extLst>
          </p:cNvPr>
          <p:cNvSpPr/>
          <p:nvPr/>
        </p:nvSpPr>
        <p:spPr>
          <a:xfrm>
            <a:off x="5508104" y="116632"/>
            <a:ext cx="1152128" cy="612262"/>
          </a:xfrm>
          <a:prstGeom prst="wedgeRoundRectCallout">
            <a:avLst>
              <a:gd name="adj1" fmla="val 29281"/>
              <a:gd name="adj2" fmla="val 11567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位置序号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xmlns="" id="{589506B2-C928-4EDD-960E-10CE1137161D}"/>
              </a:ext>
            </a:extLst>
          </p:cNvPr>
          <p:cNvSpPr/>
          <p:nvPr/>
        </p:nvSpPr>
        <p:spPr>
          <a:xfrm>
            <a:off x="6804248" y="116632"/>
            <a:ext cx="648072" cy="612262"/>
          </a:xfrm>
          <a:prstGeom prst="wedgeRoundRectCallout">
            <a:avLst>
              <a:gd name="adj1" fmla="val 21465"/>
              <a:gd name="adj2" fmla="val 8852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索引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xmlns="" id="{64FB20F1-09E1-4B27-B24A-9AC5C107A88C}"/>
              </a:ext>
            </a:extLst>
          </p:cNvPr>
          <p:cNvSpPr/>
          <p:nvPr/>
        </p:nvSpPr>
        <p:spPr>
          <a:xfrm>
            <a:off x="7790923" y="69479"/>
            <a:ext cx="648072" cy="612262"/>
          </a:xfrm>
          <a:prstGeom prst="wedgeRoundRectCallout">
            <a:avLst>
              <a:gd name="adj1" fmla="val 21465"/>
              <a:gd name="adj2" fmla="val 8852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F1D0DFD7-8004-4FA3-9D3E-8194D44CFA5F}"/>
              </a:ext>
            </a:extLst>
          </p:cNvPr>
          <p:cNvSpPr/>
          <p:nvPr/>
        </p:nvSpPr>
        <p:spPr>
          <a:xfrm>
            <a:off x="6948264" y="980728"/>
            <a:ext cx="1656184" cy="13675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xmlns="" id="{719E44E9-A6FD-4749-A23A-3C1250885D9A}"/>
              </a:ext>
            </a:extLst>
          </p:cNvPr>
          <p:cNvSpPr/>
          <p:nvPr/>
        </p:nvSpPr>
        <p:spPr>
          <a:xfrm>
            <a:off x="7452321" y="2996952"/>
            <a:ext cx="1440160" cy="504056"/>
          </a:xfrm>
          <a:prstGeom prst="wedgeRoundRectCallout">
            <a:avLst>
              <a:gd name="adj1" fmla="val -28872"/>
              <a:gd name="adj2" fmla="val -15073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Series</a:t>
            </a:r>
            <a:r>
              <a:rPr lang="zh-CN" altLang="en-US" b="1" dirty="0">
                <a:solidFill>
                  <a:srgbClr val="FF0000"/>
                </a:solidFill>
              </a:rPr>
              <a:t>对象</a:t>
            </a:r>
            <a:r>
              <a:rPr lang="en-US" altLang="zh-CN" b="1" dirty="0">
                <a:solidFill>
                  <a:srgbClr val="FF0000"/>
                </a:solidFill>
              </a:rPr>
              <a:t>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22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496C8F0-0C80-46BE-9A0B-6FC473AE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6632"/>
            <a:ext cx="7787208" cy="634082"/>
          </a:xfrm>
        </p:spPr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36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</a:t>
            </a:r>
            <a:r>
              <a:rPr lang="en-US" altLang="zh-CN" sz="36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3-1】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221ABE3-FD25-4237-AAD5-585E5C5C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750714"/>
            <a:ext cx="8568952" cy="553062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600" b="1" dirty="0"/>
              <a:t>创建</a:t>
            </a:r>
            <a:r>
              <a:rPr lang="en-US" altLang="zh-CN" sz="2600" b="1" dirty="0"/>
              <a:t>5</a:t>
            </a:r>
            <a:r>
              <a:rPr lang="zh-CN" altLang="en-US" sz="2600" b="1" dirty="0"/>
              <a:t>名篮球运动员身高的</a:t>
            </a:r>
            <a:r>
              <a:rPr lang="en-US" altLang="zh-CN" sz="2600" b="1" dirty="0"/>
              <a:t>Series</a:t>
            </a:r>
            <a:r>
              <a:rPr lang="zh-CN" altLang="en-US" sz="2600" b="1" dirty="0"/>
              <a:t>结构对象</a:t>
            </a:r>
            <a:r>
              <a:rPr lang="en-US" altLang="zh-CN" sz="2600" b="1" dirty="0"/>
              <a:t>height</a:t>
            </a:r>
            <a:r>
              <a:rPr lang="zh-CN" altLang="en-US" sz="2600" b="1" dirty="0"/>
              <a:t>，</a:t>
            </a:r>
            <a:endParaRPr lang="en-US" altLang="zh-CN" sz="2600" b="1" dirty="0"/>
          </a:p>
          <a:p>
            <a:r>
              <a:rPr lang="zh-CN" altLang="en-US" sz="2600" b="1" dirty="0"/>
              <a:t>值是身高，索引为球衣号码（数字字符串作为索引）。</a:t>
            </a:r>
            <a:endParaRPr lang="en-US" altLang="zh-CN" sz="2600" b="1" dirty="0"/>
          </a:p>
          <a:p>
            <a:pPr marL="0" indent="0">
              <a:buNone/>
            </a:pPr>
            <a:r>
              <a:rPr lang="en-US" altLang="zh-CN" sz="2200" dirty="0"/>
              <a:t>import  pandas  as  pd</a:t>
            </a:r>
          </a:p>
          <a:p>
            <a:pPr marL="0" indent="0"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height=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([187,190,185,178,185],index=['13','14','7','2','9'])           </a:t>
            </a:r>
          </a:p>
          <a:p>
            <a:pPr marL="0" indent="0">
              <a:buNone/>
            </a:pPr>
            <a:r>
              <a:rPr lang="en-US" altLang="zh-CN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</a:p>
          <a:p>
            <a:pPr marL="400050" lvl="1" indent="0">
              <a:buNone/>
            </a:pPr>
            <a:r>
              <a:rPr lang="en-US" altLang="zh-CN" sz="2200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13    187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14    190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7     185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2     178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9     185</a:t>
            </a:r>
          </a:p>
          <a:p>
            <a:pPr marL="400050" lvl="1" indent="0">
              <a:buNone/>
            </a:pP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200" b="1" dirty="0" err="1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zh-CN" sz="22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</a:p>
          <a:p>
            <a:endParaRPr lang="en-US" altLang="zh-CN" sz="2200" dirty="0"/>
          </a:p>
          <a:p>
            <a:r>
              <a:rPr lang="zh-CN" altLang="zh-CN" sz="2200" b="1" dirty="0">
                <a:solidFill>
                  <a:srgbClr val="FF0000"/>
                </a:solidFill>
              </a:rPr>
              <a:t>用字典创建</a:t>
            </a:r>
            <a:r>
              <a:rPr lang="en-US" altLang="zh-CN" sz="2200" b="1" dirty="0">
                <a:solidFill>
                  <a:srgbClr val="FF0000"/>
                </a:solidFill>
              </a:rPr>
              <a:t>Series</a:t>
            </a:r>
            <a:r>
              <a:rPr lang="zh-CN" altLang="zh-CN" sz="2200" b="1" dirty="0">
                <a:solidFill>
                  <a:srgbClr val="FF0000"/>
                </a:solidFill>
              </a:rPr>
              <a:t>对象，将字典的</a:t>
            </a:r>
            <a:r>
              <a:rPr lang="en-US" altLang="zh-CN" sz="2200" b="1" dirty="0">
                <a:solidFill>
                  <a:srgbClr val="FF0000"/>
                </a:solidFill>
              </a:rPr>
              <a:t>key</a:t>
            </a:r>
            <a:r>
              <a:rPr lang="zh-CN" altLang="zh-CN" sz="2200" b="1" dirty="0">
                <a:solidFill>
                  <a:srgbClr val="FF0000"/>
                </a:solidFill>
              </a:rPr>
              <a:t>作为索引</a:t>
            </a:r>
            <a:r>
              <a:rPr lang="zh-CN" altLang="en-US" sz="2200" b="1" dirty="0">
                <a:solidFill>
                  <a:srgbClr val="FF0000"/>
                </a:solidFill>
              </a:rPr>
              <a:t>：</a:t>
            </a:r>
            <a:endParaRPr lang="en-US" altLang="zh-CN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height=</a:t>
            </a:r>
            <a:r>
              <a:rPr lang="en-US" altLang="zh-CN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zh-CN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({'13':187,'14':190,'7':185,'2':178,</a:t>
            </a:r>
          </a:p>
          <a:p>
            <a:pPr marL="0" indent="0">
              <a:buNone/>
            </a:pPr>
            <a:r>
              <a:rPr lang="en-US" altLang="zh-CN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'9':185}) </a:t>
            </a:r>
            <a:endParaRPr lang="zh-CN" alt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xmlns="" id="{299B797D-C679-46E3-AE0B-06FDF3CCEF86}"/>
              </a:ext>
            </a:extLst>
          </p:cNvPr>
          <p:cNvSpPr/>
          <p:nvPr/>
        </p:nvSpPr>
        <p:spPr>
          <a:xfrm>
            <a:off x="899592" y="2780928"/>
            <a:ext cx="576064" cy="19442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xmlns="" id="{A7CBA359-FCFD-4247-BEFE-2C0204321E76}"/>
              </a:ext>
            </a:extLst>
          </p:cNvPr>
          <p:cNvSpPr/>
          <p:nvPr/>
        </p:nvSpPr>
        <p:spPr>
          <a:xfrm>
            <a:off x="107504" y="4221088"/>
            <a:ext cx="720080" cy="432048"/>
          </a:xfrm>
          <a:prstGeom prst="wedgeRoundRectCallout">
            <a:avLst>
              <a:gd name="adj1" fmla="val 59976"/>
              <a:gd name="adj2" fmla="val -13860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FF0000"/>
                </a:solidFill>
              </a:rPr>
              <a:t>索引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79CF50FC-208E-4BB4-8B4B-C9F2799546EF}"/>
              </a:ext>
            </a:extLst>
          </p:cNvPr>
          <p:cNvCxnSpPr/>
          <p:nvPr/>
        </p:nvCxnSpPr>
        <p:spPr>
          <a:xfrm>
            <a:off x="3347864" y="5949280"/>
            <a:ext cx="1080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BE9C746E-36F1-4C3F-9F16-56E24770F579}"/>
              </a:ext>
            </a:extLst>
          </p:cNvPr>
          <p:cNvCxnSpPr/>
          <p:nvPr/>
        </p:nvCxnSpPr>
        <p:spPr>
          <a:xfrm>
            <a:off x="4788024" y="5949280"/>
            <a:ext cx="1080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xmlns="" id="{CE6071FC-1A30-4D65-A117-932B5DEFE910}"/>
              </a:ext>
            </a:extLst>
          </p:cNvPr>
          <p:cNvCxnSpPr/>
          <p:nvPr/>
        </p:nvCxnSpPr>
        <p:spPr>
          <a:xfrm>
            <a:off x="6084168" y="5949280"/>
            <a:ext cx="1080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xmlns="" id="{3D82D3E3-2249-4278-A70B-12FC26E8709E}"/>
              </a:ext>
            </a:extLst>
          </p:cNvPr>
          <p:cNvCxnSpPr/>
          <p:nvPr/>
        </p:nvCxnSpPr>
        <p:spPr>
          <a:xfrm>
            <a:off x="7308304" y="5949280"/>
            <a:ext cx="1080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xmlns="" id="{43E278F2-5879-4B30-9E76-EBD0D6D8D3AC}"/>
              </a:ext>
            </a:extLst>
          </p:cNvPr>
          <p:cNvCxnSpPr/>
          <p:nvPr/>
        </p:nvCxnSpPr>
        <p:spPr>
          <a:xfrm>
            <a:off x="578055" y="6165304"/>
            <a:ext cx="10801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57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496C8F0-0C80-46BE-9A0B-6FC473AE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63408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</a:t>
            </a:r>
            <a:r>
              <a:rPr lang="en-US" altLang="zh-CN" sz="32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3-2】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221ABE3-FD25-4237-AAD5-585E5C5C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08" y="944724"/>
            <a:ext cx="8512580" cy="5436604"/>
          </a:xfrm>
        </p:spPr>
        <p:txBody>
          <a:bodyPr/>
          <a:lstStyle/>
          <a:p>
            <a:pPr lvl="0">
              <a:buBlip>
                <a:blip r:embed="rId2"/>
              </a:buBlip>
            </a:pPr>
            <a:r>
              <a:rPr lang="zh-CN" altLang="zh-CN" sz="2400" dirty="0">
                <a:latin typeface="Arial"/>
                <a:ea typeface="Microsoft YaHei"/>
              </a:rPr>
              <a:t>使用例</a:t>
            </a:r>
            <a:r>
              <a:rPr lang="en-US" altLang="zh-CN" sz="2400" dirty="0">
                <a:latin typeface="Arial"/>
                <a:ea typeface="Microsoft YaHei"/>
              </a:rPr>
              <a:t>3-1</a:t>
            </a:r>
            <a:r>
              <a:rPr lang="zh-CN" altLang="zh-CN" sz="2400" dirty="0">
                <a:latin typeface="Arial"/>
                <a:ea typeface="Microsoft YaHei"/>
              </a:rPr>
              <a:t>创建的球员身高</a:t>
            </a:r>
            <a:r>
              <a:rPr lang="en-US" altLang="zh-CN" sz="2400" dirty="0">
                <a:latin typeface="Arial"/>
                <a:ea typeface="Microsoft YaHei"/>
              </a:rPr>
              <a:t>Series</a:t>
            </a:r>
            <a:r>
              <a:rPr lang="zh-CN" altLang="zh-CN" sz="2400" dirty="0">
                <a:latin typeface="Arial"/>
                <a:ea typeface="Microsoft YaHei"/>
              </a:rPr>
              <a:t>对象，实现球员数据的查询、增加、删除和修改。</a:t>
            </a:r>
            <a:endParaRPr lang="en-US" altLang="zh-CN" sz="2400" dirty="0">
              <a:latin typeface="Arial"/>
              <a:ea typeface="Microsoft YaHei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球员身高查询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height['13']</a:t>
            </a:r>
            <a:endParaRPr lang="zh-CN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16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187</a:t>
            </a:r>
            <a:endParaRPr lang="zh-CN" altLang="zh-CN" sz="1600" b="1" dirty="0">
              <a:solidFill>
                <a:srgbClr val="016BBB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height[ ['13','2','7'] ]</a:t>
            </a:r>
            <a:endParaRPr lang="zh-CN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13    187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2    178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7    185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height[1:3]                  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检索</a:t>
            </a:r>
            <a:r>
              <a:rPr lang="zh-CN" alt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位置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序号</a:t>
            </a:r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1~2</a:t>
            </a:r>
            <a:r>
              <a:rPr lang="zh-CN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的球员身高</a:t>
            </a: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14    190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7    185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height[ </a:t>
            </a:r>
            <a:r>
              <a:rPr lang="en-US" altLang="zh-CN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height.values</a:t>
            </a:r>
            <a:r>
              <a:rPr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&gt;=186 ]  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检索高于</a:t>
            </a:r>
            <a:r>
              <a:rPr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186</a:t>
            </a:r>
            <a:r>
              <a:rPr lang="zh-CN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的球员</a:t>
            </a: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13    187</a:t>
            </a:r>
            <a:endParaRPr lang="zh-CN" altLang="zh-CN" sz="16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14    190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5D7AECFC-0813-4959-A003-C6366581D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697" y="1643062"/>
            <a:ext cx="2795588" cy="178593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7560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B13791B-30A5-45DC-AEFB-ECE8EC82D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0" y="548680"/>
            <a:ext cx="8604956" cy="561662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/>
                <a:ea typeface="Microsoft YaHei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Arial"/>
                <a:ea typeface="Microsoft YaHei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Arial"/>
                <a:ea typeface="Microsoft YaHei"/>
              </a:rPr>
              <a:t>球员身高修改</a:t>
            </a:r>
            <a:endParaRPr lang="en-US" altLang="zh-CN" sz="2400" b="1" dirty="0">
              <a:solidFill>
                <a:srgbClr val="FF0000"/>
              </a:solidFill>
              <a:latin typeface="Arial"/>
              <a:ea typeface="Microsoft YaHei"/>
            </a:endParaRPr>
          </a:p>
          <a:p>
            <a:pPr marL="0" lvl="0" indent="0">
              <a:buNone/>
            </a:pPr>
            <a:endParaRPr lang="en-US" altLang="zh-CN" sz="2000" dirty="0">
              <a:solidFill>
                <a:prstClr val="black"/>
              </a:solidFill>
              <a:latin typeface="Arial"/>
              <a:ea typeface="Microsoft YaHei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&gt;&gt;&gt; height['13'] = 188     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#</a:t>
            </a:r>
            <a:r>
              <a:rPr lang="zh-CN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将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13</a:t>
            </a:r>
            <a:r>
              <a:rPr lang="zh-CN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号队员的身高修改为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188</a:t>
            </a:r>
            <a:endParaRPr lang="zh-CN" altLang="zh-CN" sz="2000" dirty="0">
              <a:solidFill>
                <a:prstClr val="black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&gt;&gt;&gt; height['13']</a:t>
            </a:r>
            <a:endParaRPr lang="zh-CN" altLang="zh-CN" sz="2000" b="1" dirty="0">
              <a:solidFill>
                <a:prstClr val="black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188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endParaRPr lang="en-US" altLang="zh-CN" sz="2000" dirty="0">
              <a:solidFill>
                <a:srgbClr val="016BBB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&gt;&gt;&gt; height[1:3] = 160   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#</a:t>
            </a:r>
            <a:r>
              <a:rPr lang="zh-CN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修改位置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 1</a:t>
            </a:r>
            <a:r>
              <a:rPr lang="zh-CN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2</a:t>
            </a:r>
            <a:r>
              <a:rPr lang="zh-CN" altLang="zh-CN" sz="2000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的数据</a:t>
            </a: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&gt;&gt;&gt; height</a:t>
            </a:r>
            <a:endParaRPr lang="zh-CN" altLang="zh-CN" sz="2000" b="1" dirty="0">
              <a:solidFill>
                <a:prstClr val="black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13    188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14    </a:t>
            </a: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160</a:t>
            </a:r>
            <a:endParaRPr lang="zh-CN" altLang="zh-CN" sz="2000" b="1" dirty="0">
              <a:solidFill>
                <a:srgbClr val="026BC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 7    </a:t>
            </a: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160</a:t>
            </a:r>
            <a:endParaRPr lang="zh-CN" altLang="zh-CN" sz="2000" b="1" dirty="0">
              <a:solidFill>
                <a:srgbClr val="026BC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 2    178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ea typeface="Microsoft YaHei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ea typeface="Microsoft YaHei"/>
                <a:cs typeface="Courier New" panose="02070309020205020404" pitchFamily="49" charset="0"/>
              </a:rPr>
              <a:t> 9    185</a:t>
            </a:r>
            <a:endParaRPr lang="zh-CN" altLang="en-US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E7A999D-D88B-438C-93A4-538501A0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645024"/>
            <a:ext cx="2853175" cy="184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0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B53090B-2BD6-45CD-938D-699513CB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03" y="548680"/>
            <a:ext cx="8075240" cy="77809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3. </a:t>
            </a:r>
            <a:r>
              <a:rPr lang="zh-CN" altLang="en-US" sz="4000" b="1" dirty="0">
                <a:solidFill>
                  <a:srgbClr val="FF0000"/>
                </a:solidFill>
              </a:rPr>
              <a:t>增加新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球员</a:t>
            </a:r>
            <a:r>
              <a:rPr lang="en-US" altLang="zh-CN" b="1" dirty="0">
                <a:solidFill>
                  <a:srgbClr val="FF0000"/>
                </a:solidFill>
              </a:rPr>
              <a:t/>
            </a:r>
            <a:br>
              <a:rPr lang="en-US" altLang="zh-CN" b="1" dirty="0">
                <a:solidFill>
                  <a:srgbClr val="FF0000"/>
                </a:solidFill>
              </a:rPr>
            </a:b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xmlns="" id="{1BDFF171-1949-44B2-A30B-17A4EFA2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624" y="1190360"/>
            <a:ext cx="5328592" cy="4477279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xmlns="" id="{E4BC8DB9-5DE8-4E69-8A6B-5C6A16BED477}"/>
              </a:ext>
            </a:extLst>
          </p:cNvPr>
          <p:cNvSpPr/>
          <p:nvPr/>
        </p:nvSpPr>
        <p:spPr>
          <a:xfrm>
            <a:off x="971600" y="4581128"/>
            <a:ext cx="3456384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xmlns="" id="{8C091DE6-31D8-47F0-AF28-F47608844086}"/>
              </a:ext>
            </a:extLst>
          </p:cNvPr>
          <p:cNvSpPr/>
          <p:nvPr/>
        </p:nvSpPr>
        <p:spPr>
          <a:xfrm>
            <a:off x="3851920" y="2780928"/>
            <a:ext cx="936104" cy="504056"/>
          </a:xfrm>
          <a:prstGeom prst="wedgeRoundRectCallout">
            <a:avLst>
              <a:gd name="adj1" fmla="val -114698"/>
              <a:gd name="adj2" fmla="val -2034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索引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xmlns="" id="{06090B48-3E26-4895-88CD-D9D811784CA2}"/>
              </a:ext>
            </a:extLst>
          </p:cNvPr>
          <p:cNvSpPr/>
          <p:nvPr/>
        </p:nvSpPr>
        <p:spPr>
          <a:xfrm>
            <a:off x="5148064" y="2348880"/>
            <a:ext cx="936104" cy="504056"/>
          </a:xfrm>
          <a:prstGeom prst="wedgeRoundRectCallout">
            <a:avLst>
              <a:gd name="adj1" fmla="val -133198"/>
              <a:gd name="adj2" fmla="val -15395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值</a:t>
            </a:r>
          </a:p>
        </p:txBody>
      </p:sp>
    </p:spTree>
    <p:extLst>
      <p:ext uri="{BB962C8B-B14F-4D97-AF65-F5344CB8AC3E}">
        <p14:creationId xmlns:p14="http://schemas.microsoft.com/office/powerpoint/2010/main" val="367817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B13791B-30A5-45DC-AEFB-ECE8EC82D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11" y="548680"/>
            <a:ext cx="8517632" cy="5688632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4. </a:t>
            </a:r>
            <a:r>
              <a:rPr lang="zh-CN" altLang="en-US" sz="2800" b="1" dirty="0">
                <a:solidFill>
                  <a:srgbClr val="FF0000"/>
                </a:solidFill>
              </a:rPr>
              <a:t>删除球员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0F0BB5"/>
                </a:solidFill>
                <a:highlight>
                  <a:srgbClr val="C0C0C0"/>
                </a:highlight>
              </a:rPr>
              <a:t>（删除数据时，必须要使用索引）</a:t>
            </a:r>
            <a:endParaRPr lang="en-US" altLang="zh-CN" sz="2000" b="1" dirty="0">
              <a:solidFill>
                <a:srgbClr val="0F0BB5"/>
              </a:solidFill>
              <a:highlight>
                <a:srgbClr val="C0C0C0"/>
              </a:highlight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删除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zh-C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号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号</a:t>
            </a:r>
            <a:r>
              <a:rPr lang="zh-CN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球员数据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new = height . drop( ['13', '9'] ) </a:t>
            </a:r>
            <a:endParaRPr lang="zh-CN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new </a:t>
            </a:r>
            <a:endParaRPr lang="zh-CN" altLang="zh-CN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14    160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7    160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2    178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dirty="0">
                <a:solidFill>
                  <a:srgbClr val="026BCA"/>
                </a:solidFill>
              </a:rPr>
              <a:t> </a:t>
            </a:r>
            <a:endParaRPr lang="en-US" altLang="zh-CN" sz="2000" dirty="0"/>
          </a:p>
          <a:p>
            <a:pPr marL="400050" lvl="1" indent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Series</a:t>
            </a:r>
            <a:r>
              <a:rPr lang="zh-CN" altLang="zh-CN" sz="2400" b="1" dirty="0">
                <a:solidFill>
                  <a:srgbClr val="FF0000"/>
                </a:solidFill>
              </a:rPr>
              <a:t>的</a:t>
            </a:r>
            <a:r>
              <a:rPr lang="en-US" altLang="zh-CN" sz="2400" b="1" dirty="0">
                <a:solidFill>
                  <a:srgbClr val="FF0000"/>
                </a:solidFill>
              </a:rPr>
              <a:t>drop()</a:t>
            </a:r>
            <a:r>
              <a:rPr lang="zh-CN" altLang="zh-CN" sz="2400" b="1" dirty="0">
                <a:solidFill>
                  <a:srgbClr val="FF0000"/>
                </a:solidFill>
              </a:rPr>
              <a:t>函数不删除原始对象的数据</a:t>
            </a:r>
            <a:r>
              <a:rPr lang="zh-CN" altLang="en-US" sz="2400" b="1" dirty="0">
                <a:solidFill>
                  <a:srgbClr val="FF0000"/>
                </a:solidFill>
              </a:rPr>
              <a:t>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zh-CN" altLang="en-US" sz="2400" b="1" dirty="0"/>
              <a:t>如果要直接删除原始数据，使用</a:t>
            </a:r>
            <a:r>
              <a:rPr lang="zh-CN" altLang="en-US" sz="2400" b="1" dirty="0">
                <a:solidFill>
                  <a:srgbClr val="FF0000"/>
                </a:solidFill>
              </a:rPr>
              <a:t>参数</a:t>
            </a:r>
            <a:r>
              <a:rPr lang="en-US" altLang="zh-CN" sz="2400" b="1" dirty="0" err="1">
                <a:solidFill>
                  <a:srgbClr val="FF0000"/>
                </a:solidFill>
              </a:rPr>
              <a:t>inplace</a:t>
            </a:r>
            <a:r>
              <a:rPr lang="en-US" altLang="zh-CN" sz="2400" b="1" dirty="0">
                <a:solidFill>
                  <a:srgbClr val="FF0000"/>
                </a:solidFill>
              </a:rPr>
              <a:t>=True</a:t>
            </a:r>
          </a:p>
          <a:p>
            <a:pPr marL="400050" lvl="1" indent="0">
              <a:buNone/>
            </a:pP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height.drop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['13', '9’] ,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2E7EEDD8-96A8-4A25-A7E6-78462A413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875" y="116632"/>
            <a:ext cx="2592288" cy="167834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9E893255-9E65-42F6-93E5-3145F557498A}"/>
              </a:ext>
            </a:extLst>
          </p:cNvPr>
          <p:cNvCxnSpPr/>
          <p:nvPr/>
        </p:nvCxnSpPr>
        <p:spPr>
          <a:xfrm>
            <a:off x="3707904" y="2564904"/>
            <a:ext cx="30963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F3A97EDE-C055-49F4-92B6-270A4EAD9F44}"/>
              </a:ext>
            </a:extLst>
          </p:cNvPr>
          <p:cNvCxnSpPr/>
          <p:nvPr/>
        </p:nvCxnSpPr>
        <p:spPr>
          <a:xfrm>
            <a:off x="5508104" y="5661248"/>
            <a:ext cx="27363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535E868C-7158-4E24-90FE-CB80852A5D5A}"/>
              </a:ext>
            </a:extLst>
          </p:cNvPr>
          <p:cNvSpPr txBox="1"/>
          <p:nvPr/>
        </p:nvSpPr>
        <p:spPr>
          <a:xfrm>
            <a:off x="2987824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894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B13791B-30A5-45DC-AEFB-ECE8EC82D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332656"/>
            <a:ext cx="8496944" cy="5616624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5. </a:t>
            </a:r>
            <a:r>
              <a:rPr lang="zh-CN" altLang="en-US" sz="2400" b="1" dirty="0">
                <a:solidFill>
                  <a:srgbClr val="FF0000"/>
                </a:solidFill>
              </a:rPr>
              <a:t>更改索引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height.index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13,14,7,2,9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</a:p>
          <a:p>
            <a:pPr marL="400050" lvl="1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zh-CN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注意这里是数字索引</a:t>
            </a:r>
            <a:endParaRPr lang="zh-CN" altLang="zh-CN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188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14 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160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160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178</a:t>
            </a:r>
            <a:endParaRPr lang="zh-CN" altLang="zh-CN" sz="2000" b="1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2000" b="1" dirty="0">
                <a:solidFill>
                  <a:srgbClr val="026BC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9 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185</a:t>
            </a:r>
          </a:p>
          <a:p>
            <a:pPr marL="400050" lvl="1" indent="0">
              <a:buNone/>
            </a:pPr>
            <a:endParaRPr lang="en-US" altLang="zh-CN" sz="1600" dirty="0">
              <a:solidFill>
                <a:srgbClr val="026BCA"/>
              </a:solidFill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Series</a:t>
            </a:r>
            <a:r>
              <a:rPr lang="zh-CN" altLang="en-US" sz="2400" b="1" dirty="0">
                <a:solidFill>
                  <a:srgbClr val="FF0000"/>
                </a:solidFill>
              </a:rPr>
              <a:t>的索引为数字，基于位置序号访问需要使用</a:t>
            </a:r>
            <a:r>
              <a:rPr lang="en-US" altLang="zh-CN" sz="2400" b="1" dirty="0" err="1">
                <a:solidFill>
                  <a:srgbClr val="FF0000"/>
                </a:solidFill>
              </a:rPr>
              <a:t>iloc</a:t>
            </a:r>
            <a:r>
              <a:rPr lang="zh-CN" altLang="en-US" sz="2400" b="1" dirty="0">
                <a:solidFill>
                  <a:srgbClr val="FF0000"/>
                </a:solidFill>
              </a:rPr>
              <a:t>方式。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zh-CN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height.iloc</a:t>
            </a:r>
            <a:r>
              <a:rPr lang="en-US" altLang="zh-CN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 </a:t>
            </a:r>
          </a:p>
          <a:p>
            <a:pPr marL="400050" lvl="1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188</a:t>
            </a:r>
            <a:endParaRPr lang="zh-CN" altLang="en-US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02E87E91-D13F-4D17-A416-D8A63B213E3B}"/>
              </a:ext>
            </a:extLst>
          </p:cNvPr>
          <p:cNvSpPr txBox="1"/>
          <p:nvPr/>
        </p:nvSpPr>
        <p:spPr>
          <a:xfrm>
            <a:off x="4788024" y="4581128"/>
            <a:ext cx="3744416" cy="13234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建议：</a:t>
            </a:r>
            <a:endParaRPr lang="en-US" altLang="zh-CN" sz="2000" b="1" dirty="0"/>
          </a:p>
          <a:p>
            <a:r>
              <a:rPr lang="zh-CN" altLang="en-US" sz="2000" b="1" dirty="0"/>
              <a:t>使用位置序号访问</a:t>
            </a:r>
            <a:r>
              <a:rPr lang="en-US" altLang="zh-CN" sz="2000" b="1" dirty="0"/>
              <a:t>Series</a:t>
            </a:r>
            <a:r>
              <a:rPr lang="zh-CN" altLang="en-US" sz="2000" b="1" dirty="0"/>
              <a:t>对象中的数据时，采用以下格式：</a:t>
            </a:r>
            <a:endParaRPr lang="en-US" altLang="zh-CN" sz="2000" b="1" dirty="0"/>
          </a:p>
          <a:p>
            <a:r>
              <a:rPr lang="en-US" altLang="zh-CN" sz="2000" b="1" dirty="0">
                <a:solidFill>
                  <a:srgbClr val="FF0000"/>
                </a:solidFill>
              </a:rPr>
              <a:t>Series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en-US" altLang="zh-CN" sz="2000" b="1" dirty="0">
                <a:solidFill>
                  <a:srgbClr val="FF0000"/>
                </a:solidFill>
              </a:rPr>
              <a:t>.</a:t>
            </a:r>
            <a:r>
              <a:rPr lang="en-US" altLang="zh-CN" sz="2000" b="1" dirty="0" err="1">
                <a:solidFill>
                  <a:srgbClr val="FF0000"/>
                </a:solidFill>
              </a:rPr>
              <a:t>iloc</a:t>
            </a:r>
            <a:r>
              <a:rPr lang="en-US" altLang="zh-CN" sz="2000" b="1" dirty="0">
                <a:solidFill>
                  <a:srgbClr val="FF0000"/>
                </a:solidFill>
              </a:rPr>
              <a:t>[</a:t>
            </a:r>
            <a:r>
              <a:rPr lang="zh-CN" altLang="en-US" sz="2000" b="1" dirty="0">
                <a:solidFill>
                  <a:srgbClr val="FF0000"/>
                </a:solidFill>
              </a:rPr>
              <a:t>位置序号</a:t>
            </a:r>
            <a:r>
              <a:rPr lang="en-US" altLang="zh-CN" sz="2000" b="1" dirty="0">
                <a:solidFill>
                  <a:srgbClr val="FF0000"/>
                </a:solidFill>
              </a:rPr>
              <a:t>]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02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8EC45A2-388E-4605-8066-D603C177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77809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思考与练习  </a:t>
            </a:r>
            <a:r>
              <a:rPr lang="en-US" altLang="zh-CN" sz="3600" b="1" dirty="0" smtClean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P44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1D6DAA5-B69F-4F27-9531-3603F738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124744"/>
            <a:ext cx="8365116" cy="5256584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zh-CN" sz="2800" b="1" kern="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创建并访问</a:t>
            </a:r>
            <a:r>
              <a:rPr lang="en-US" altLang="zh-CN" sz="2800" b="1" kern="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Series</a:t>
            </a:r>
            <a:r>
              <a:rPr lang="zh-CN" altLang="zh-CN" sz="2800" b="1" kern="0" dirty="0">
                <a:solidFill>
                  <a:prstClr val="black"/>
                </a:solidFill>
                <a:latin typeface="黑体" pitchFamily="49" charset="-122"/>
                <a:ea typeface="黑体" pitchFamily="49" charset="-122"/>
              </a:rPr>
              <a:t>对象。</a:t>
            </a:r>
            <a:endParaRPr lang="zh-CN" altLang="zh-CN" sz="2800" b="1" kern="100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创建如</a:t>
            </a:r>
            <a:r>
              <a:rPr lang="zh-CN" altLang="en-US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下</a:t>
            </a:r>
            <a:r>
              <a:rPr lang="zh-CN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表</a:t>
            </a:r>
            <a:r>
              <a:rPr lang="zh-CN" altLang="en-US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所示</a:t>
            </a:r>
            <a:r>
              <a:rPr lang="zh-CN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Series</a:t>
            </a:r>
            <a:r>
              <a:rPr lang="zh-CN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数据对象，其中</a:t>
            </a:r>
            <a:r>
              <a:rPr lang="en-US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a-f</a:t>
            </a:r>
            <a:r>
              <a:rPr lang="zh-CN" altLang="zh-CN" sz="2100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为索引；</a:t>
            </a:r>
            <a:endParaRPr lang="en-US" altLang="zh-CN" sz="2100" b="1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900" b="1" kern="100" dirty="0">
                <a:latin typeface="Times New Roman" panose="02020603050405020304" pitchFamily="18" charset="0"/>
              </a:rPr>
              <a:t>    2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）增加数据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27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，索引为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g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；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900" b="1" kern="100" dirty="0">
                <a:latin typeface="Times New Roman" panose="02020603050405020304" pitchFamily="18" charset="0"/>
              </a:rPr>
              <a:t>   3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）修改索引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d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对应的值为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40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；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900" b="1" kern="100" dirty="0">
                <a:latin typeface="Times New Roman" panose="02020603050405020304" pitchFamily="18" charset="0"/>
              </a:rPr>
              <a:t>  4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）查询值大于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27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的数据；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900" b="1" kern="100" dirty="0">
                <a:latin typeface="Times New Roman" panose="02020603050405020304" pitchFamily="18" charset="0"/>
              </a:rPr>
              <a:t>  5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）删除</a:t>
            </a:r>
            <a:r>
              <a:rPr lang="zh-CN" altLang="zh-CN" sz="1900" b="1" kern="100" dirty="0" smtClean="0">
                <a:latin typeface="Times New Roman" panose="02020603050405020304" pitchFamily="18" charset="0"/>
              </a:rPr>
              <a:t>位置</a:t>
            </a:r>
            <a:r>
              <a:rPr lang="zh-CN" altLang="en-US" sz="1900" b="1" kern="100" dirty="0" smtClean="0">
                <a:latin typeface="Times New Roman" panose="02020603050405020304" pitchFamily="18" charset="0"/>
              </a:rPr>
              <a:t>序号</a:t>
            </a:r>
            <a:r>
              <a:rPr lang="zh-CN" altLang="zh-CN" sz="1900" b="1" kern="100" dirty="0" smtClean="0">
                <a:latin typeface="Times New Roman" panose="02020603050405020304" pitchFamily="18" charset="0"/>
              </a:rPr>
              <a:t>为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1-3</a:t>
            </a:r>
            <a:r>
              <a:rPr lang="zh-CN" altLang="zh-CN" sz="1900" b="1" kern="100" dirty="0">
                <a:latin typeface="Times New Roman" panose="02020603050405020304" pitchFamily="18" charset="0"/>
              </a:rPr>
              <a:t>的数据。</a:t>
            </a:r>
            <a:endParaRPr lang="en-US" altLang="zh-CN" sz="1900" b="1" kern="1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900" b="1" kern="100" dirty="0">
                <a:latin typeface="Times New Roman" panose="02020603050405020304" pitchFamily="18" charset="0"/>
              </a:rPr>
              <a:t>【</a:t>
            </a:r>
            <a:r>
              <a:rPr lang="zh-CN" altLang="en-US" sz="1900" b="1" kern="100" dirty="0">
                <a:latin typeface="Times New Roman" panose="02020603050405020304" pitchFamily="18" charset="0"/>
              </a:rPr>
              <a:t>提示</a:t>
            </a:r>
            <a:r>
              <a:rPr lang="en-US" altLang="zh-CN" sz="1900" b="1" kern="100" dirty="0">
                <a:latin typeface="Times New Roman" panose="02020603050405020304" pitchFamily="18" charset="0"/>
              </a:rPr>
              <a:t>】</a:t>
            </a:r>
            <a:r>
              <a:rPr lang="zh-CN" altLang="en-US" sz="19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位置序号</a:t>
            </a:r>
            <a:r>
              <a:rPr lang="en-US" altLang="zh-CN" sz="19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1-3</a:t>
            </a:r>
            <a:r>
              <a:rPr lang="zh-CN" altLang="en-US" sz="19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的索引列表，可以用 </a:t>
            </a:r>
            <a:r>
              <a:rPr lang="en-US" altLang="zh-CN" sz="1900" b="1" kern="1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series.index</a:t>
            </a:r>
            <a:r>
              <a:rPr lang="en-US" altLang="zh-CN" sz="19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[1:4] </a:t>
            </a:r>
            <a:r>
              <a:rPr lang="zh-CN" altLang="en-US" sz="19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来得到。</a:t>
            </a:r>
            <a:endParaRPr lang="zh-CN" altLang="zh-CN" sz="1900" b="1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zh-CN" altLang="zh-CN" sz="1400" kern="1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3DE6DBB1-FF93-4404-84C1-DC928A7A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276872"/>
            <a:ext cx="5534224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19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728</Words>
  <Application>Microsoft Office PowerPoint</Application>
  <PresentationFormat>全屏显示(4:3)</PresentationFormat>
  <Paragraphs>134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Office 主题​​</vt:lpstr>
      <vt:lpstr>3.2  pandas数据结构   </vt:lpstr>
      <vt:lpstr>一、Series对象</vt:lpstr>
      <vt:lpstr>PowerPoint 演示文稿</vt:lpstr>
      <vt:lpstr>Series对象的两个重要属性 </vt:lpstr>
      <vt:lpstr>查看 Series对象的两个重要属性</vt:lpstr>
      <vt:lpstr>通过索引访问值</vt:lpstr>
      <vt:lpstr>修改Series对象的索引</vt:lpstr>
      <vt:lpstr>二、Series数据访问</vt:lpstr>
      <vt:lpstr>【例3-1】</vt:lpstr>
      <vt:lpstr>【例3-2】</vt:lpstr>
      <vt:lpstr>PowerPoint 演示文稿</vt:lpstr>
      <vt:lpstr> 3. 增加新球员 </vt:lpstr>
      <vt:lpstr>PowerPoint 演示文稿</vt:lpstr>
      <vt:lpstr>PowerPoint 演示文稿</vt:lpstr>
      <vt:lpstr>思考与练习  P44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数据汇总与统计 </dc:title>
  <dc:creator>chunming xu</dc:creator>
  <cp:lastModifiedBy>qw</cp:lastModifiedBy>
  <cp:revision>296</cp:revision>
  <dcterms:created xsi:type="dcterms:W3CDTF">2019-12-05T06:22:46Z</dcterms:created>
  <dcterms:modified xsi:type="dcterms:W3CDTF">2021-12-12T07:05:28Z</dcterms:modified>
</cp:coreProperties>
</file>