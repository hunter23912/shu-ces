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93" r:id="rId2"/>
    <p:sldId id="494" r:id="rId3"/>
    <p:sldId id="497" r:id="rId4"/>
    <p:sldId id="511" r:id="rId5"/>
    <p:sldId id="504" r:id="rId6"/>
    <p:sldId id="495" r:id="rId7"/>
    <p:sldId id="506" r:id="rId8"/>
    <p:sldId id="505" r:id="rId9"/>
    <p:sldId id="507" r:id="rId10"/>
    <p:sldId id="508" r:id="rId11"/>
    <p:sldId id="509" r:id="rId12"/>
    <p:sldId id="510" r:id="rId13"/>
    <p:sldId id="500" r:id="rId14"/>
    <p:sldId id="501" r:id="rId15"/>
    <p:sldId id="512" r:id="rId16"/>
    <p:sldId id="502" r:id="rId17"/>
    <p:sldId id="503" r:id="rId18"/>
    <p:sldId id="513" r:id="rId19"/>
    <p:sldId id="514" r:id="rId20"/>
    <p:sldId id="518" r:id="rId21"/>
  </p:sldIdLst>
  <p:sldSz cx="9144000" cy="6858000" type="screen4x3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5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0C03"/>
    <a:srgbClr val="339933"/>
    <a:srgbClr val="026BCA"/>
    <a:srgbClr val="016BBB"/>
    <a:srgbClr val="006600"/>
    <a:srgbClr val="0276E0"/>
    <a:srgbClr val="026DCE"/>
    <a:srgbClr val="02539C"/>
    <a:srgbClr val="026AC8"/>
    <a:srgbClr val="0255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17" autoAdjust="0"/>
    <p:restoredTop sz="94301" autoAdjust="0"/>
  </p:normalViewPr>
  <p:slideViewPr>
    <p:cSldViewPr>
      <p:cViewPr varScale="1">
        <p:scale>
          <a:sx n="69" d="100"/>
          <a:sy n="69" d="100"/>
        </p:scale>
        <p:origin x="-588" y="-60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-86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60"/>
    </p:cViewPr>
  </p:sorterViewPr>
  <p:notesViewPr>
    <p:cSldViewPr>
      <p:cViewPr varScale="1">
        <p:scale>
          <a:sx n="95" d="100"/>
          <a:sy n="95" d="100"/>
        </p:scale>
        <p:origin x="4042" y="62"/>
      </p:cViewPr>
      <p:guideLst>
        <p:guide orient="horz" pos="295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95161-C525-4802-9B57-5B3E986FDBC1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A82F5-4D64-4946-8E33-F6252E63C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2209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BA40E-5606-4029-863C-DF903B52E771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C17DF-1D58-4647-8B50-01AC32906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8032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436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899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817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414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824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43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404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36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047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1787218"/>
            <a:ext cx="6400800" cy="38515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 txBox="1"/>
          <p:nvPr userDrawn="1"/>
        </p:nvSpPr>
        <p:spPr>
          <a:xfrm>
            <a:off x="179514" y="6487289"/>
            <a:ext cx="1439863" cy="2838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dirty="0" smtClean="0">
                <a:solidFill>
                  <a:schemeClr val="bg1"/>
                </a:solidFill>
              </a:r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94127" y="145882"/>
            <a:ext cx="5832475" cy="777240"/>
          </a:xfrm>
        </p:spPr>
        <p:txBody>
          <a:bodyPr/>
          <a:lstStyle>
            <a:lvl1pPr algn="l">
              <a:defRPr sz="22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611560" y="1758018"/>
            <a:ext cx="7920880" cy="3851582"/>
          </a:xfrm>
        </p:spPr>
        <p:txBody>
          <a:bodyPr>
            <a:normAutofit/>
          </a:bodyPr>
          <a:lstStyle>
            <a:lvl1pPr marL="457200" indent="-457200" algn="l"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9" name="灯片编号占位符 3"/>
          <p:cNvSpPr txBox="1"/>
          <p:nvPr userDrawn="1"/>
        </p:nvSpPr>
        <p:spPr>
          <a:xfrm>
            <a:off x="7429520" y="6429396"/>
            <a:ext cx="1714480" cy="4286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200" b="1" dirty="0">
                <a:solidFill>
                  <a:schemeClr val="bg1"/>
                </a:solidFill>
              </a:rPr>
              <a:t>东华大学计算机学院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 txBox="1"/>
          <p:nvPr userDrawn="1"/>
        </p:nvSpPr>
        <p:spPr>
          <a:xfrm>
            <a:off x="8399242" y="6488448"/>
            <a:ext cx="642515" cy="2838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dirty="0" smtClean="0">
                <a:solidFill>
                  <a:schemeClr val="bg1"/>
                </a:solidFill>
              </a:r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灯片编号占位符 3"/>
          <p:cNvSpPr txBox="1"/>
          <p:nvPr userDrawn="1"/>
        </p:nvSpPr>
        <p:spPr>
          <a:xfrm>
            <a:off x="551143" y="6558157"/>
            <a:ext cx="3389136" cy="27907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000" b="1" dirty="0">
                <a:solidFill>
                  <a:schemeClr val="bg1"/>
                </a:solidFill>
              </a:rPr>
              <a:t>东华大学计算机科学与技术学院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5832475" cy="777240"/>
          </a:xfrm>
        </p:spPr>
        <p:txBody>
          <a:bodyPr/>
          <a:lstStyle>
            <a:lvl1pPr algn="l">
              <a:defRPr sz="22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"/>
          <p:cNvSpPr>
            <a:spLocks noGrp="1"/>
          </p:cNvSpPr>
          <p:nvPr>
            <p:ph idx="1"/>
          </p:nvPr>
        </p:nvSpPr>
        <p:spPr>
          <a:xfrm>
            <a:off x="230832" y="1009531"/>
            <a:ext cx="8589640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 marL="742950" indent="-285750">
              <a:buFont typeface="Wingdings" panose="05000000000000000000" pitchFamily="2" charset="2"/>
              <a:buChar char="u"/>
              <a:defRPr sz="2000"/>
            </a:lvl2pPr>
            <a:lvl3pPr marL="1143000" indent="-228600">
              <a:buFont typeface="Wingdings" panose="05000000000000000000" pitchFamily="2" charset="2"/>
              <a:buChar char="l"/>
              <a:defRPr sz="1800"/>
            </a:lvl3pPr>
            <a:lvl4pPr marL="1600200" indent="-228600">
              <a:buFont typeface="Wingdings" panose="05000000000000000000" pitchFamily="2" charset="2"/>
              <a:buChar char="n"/>
              <a:defRPr sz="1600"/>
            </a:lvl4pPr>
            <a:lvl5pPr marL="2057400" indent="-228600">
              <a:buFont typeface="Wingdings" panose="05000000000000000000" pitchFamily="2" charset="2"/>
              <a:buChar char="Ø"/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 txBox="1"/>
          <p:nvPr userDrawn="1"/>
        </p:nvSpPr>
        <p:spPr>
          <a:xfrm>
            <a:off x="179514" y="6487289"/>
            <a:ext cx="1439863" cy="2838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dirty="0" smtClean="0">
                <a:solidFill>
                  <a:schemeClr val="bg1"/>
                </a:solidFill>
              </a:r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灯片编号占位符 3"/>
          <p:cNvSpPr txBox="1"/>
          <p:nvPr userDrawn="1"/>
        </p:nvSpPr>
        <p:spPr>
          <a:xfrm>
            <a:off x="7429520" y="6429396"/>
            <a:ext cx="1714480" cy="4286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200" b="1" dirty="0">
                <a:solidFill>
                  <a:schemeClr val="bg1"/>
                </a:solidFill>
              </a:rPr>
              <a:t>东华大学计算机学院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2284756"/>
            <a:ext cx="9144000" cy="1987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195477"/>
            <a:ext cx="9144000" cy="266429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12774" y="2727273"/>
            <a:ext cx="5988185" cy="767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3.3    </a:t>
            </a:r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数据文件读写</a:t>
            </a:r>
          </a:p>
        </p:txBody>
      </p:sp>
    </p:spTree>
    <p:extLst>
      <p:ext uri="{BB962C8B-B14F-4D97-AF65-F5344CB8AC3E}">
        <p14:creationId xmlns:p14="http://schemas.microsoft.com/office/powerpoint/2010/main" val="87439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052736"/>
            <a:ext cx="8352928" cy="5472608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20000"/>
              </a:lnSpc>
              <a:spcBef>
                <a:spcPct val="19608"/>
              </a:spcBef>
              <a:buNone/>
            </a:pPr>
            <a:endParaRPr lang="en-US" altLang="zh-CN" sz="1600" dirty="0"/>
          </a:p>
          <a:p>
            <a:pPr marL="342900" lvl="1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3"/>
              </a:buBlip>
            </a:pPr>
            <a:r>
              <a:rPr lang="en-US" altLang="zh-CN" sz="2400" dirty="0">
                <a:cs typeface="+mn-ea"/>
              </a:rPr>
              <a:t>Pandas</a:t>
            </a:r>
            <a:r>
              <a:rPr lang="zh-CN" altLang="en-US" sz="2400" dirty="0">
                <a:cs typeface="+mn-ea"/>
              </a:rPr>
              <a:t>支持多种格式的数据导入和导出</a:t>
            </a:r>
            <a:endParaRPr lang="en-US" altLang="zh-CN" sz="2400" dirty="0">
              <a:cs typeface="+mn-ea"/>
            </a:endParaRPr>
          </a:p>
          <a:p>
            <a:pPr marL="742950" lvl="2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Font typeface="Wingdings" pitchFamily="2" charset="2"/>
              <a:buChar char="n"/>
            </a:pPr>
            <a:r>
              <a:rPr lang="en-US" altLang="zh-CN" sz="2400" dirty="0">
                <a:cs typeface="+mn-ea"/>
              </a:rPr>
              <a:t>CSV</a:t>
            </a:r>
            <a:r>
              <a:rPr lang="zh-CN" altLang="en-US" sz="2400" dirty="0">
                <a:cs typeface="+mn-ea"/>
              </a:rPr>
              <a:t>、</a:t>
            </a:r>
            <a:r>
              <a:rPr lang="en-US" altLang="zh-CN" sz="2400" dirty="0">
                <a:cs typeface="+mn-ea"/>
              </a:rPr>
              <a:t>TXT</a:t>
            </a:r>
            <a:r>
              <a:rPr lang="zh-CN" altLang="en-US" sz="2400" dirty="0">
                <a:cs typeface="+mn-ea"/>
              </a:rPr>
              <a:t>、</a:t>
            </a:r>
            <a:r>
              <a:rPr lang="en-US" altLang="zh-CN" sz="2400" dirty="0">
                <a:cs typeface="+mn-ea"/>
              </a:rPr>
              <a:t>Excel</a:t>
            </a:r>
            <a:r>
              <a:rPr lang="zh-CN" altLang="en-US" sz="2400" dirty="0">
                <a:cs typeface="+mn-ea"/>
              </a:rPr>
              <a:t>、</a:t>
            </a:r>
            <a:r>
              <a:rPr lang="en-US" altLang="zh-CN" sz="2400" dirty="0">
                <a:cs typeface="+mn-ea"/>
              </a:rPr>
              <a:t>HTML</a:t>
            </a:r>
            <a:r>
              <a:rPr lang="zh-CN" altLang="en-US" sz="2400" dirty="0">
                <a:cs typeface="+mn-ea"/>
              </a:rPr>
              <a:t>等文件格式</a:t>
            </a:r>
            <a:endParaRPr lang="en-US" altLang="zh-CN" sz="2400" dirty="0">
              <a:cs typeface="+mn-ea"/>
            </a:endParaRPr>
          </a:p>
          <a:p>
            <a:pPr marL="742950" lvl="2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Font typeface="Wingdings" pitchFamily="2" charset="2"/>
              <a:buChar char="n"/>
            </a:pPr>
            <a:r>
              <a:rPr lang="en-US" altLang="zh-CN" sz="2400" dirty="0">
                <a:cs typeface="+mn-ea"/>
              </a:rPr>
              <a:t>MySQL</a:t>
            </a:r>
            <a:r>
              <a:rPr lang="zh-CN" altLang="en-US" sz="2400" dirty="0">
                <a:cs typeface="+mn-ea"/>
              </a:rPr>
              <a:t>、</a:t>
            </a:r>
            <a:r>
              <a:rPr lang="en-US" altLang="zh-CN" sz="2400" dirty="0" err="1">
                <a:cs typeface="+mn-ea"/>
              </a:rPr>
              <a:t>SQLServer</a:t>
            </a:r>
            <a:r>
              <a:rPr lang="zh-CN" altLang="en-US" sz="2400" dirty="0">
                <a:cs typeface="+mn-ea"/>
              </a:rPr>
              <a:t>等数据库格式</a:t>
            </a:r>
            <a:endParaRPr lang="en-US" altLang="zh-CN" sz="2400" dirty="0">
              <a:cs typeface="+mn-ea"/>
            </a:endParaRPr>
          </a:p>
          <a:p>
            <a:pPr marL="742950" lvl="2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Font typeface="Wingdings" pitchFamily="2" charset="2"/>
              <a:buChar char="n"/>
            </a:pPr>
            <a:r>
              <a:rPr lang="en-US" altLang="zh-CN" sz="2400" dirty="0">
                <a:cs typeface="+mn-ea"/>
              </a:rPr>
              <a:t>JSON</a:t>
            </a:r>
            <a:r>
              <a:rPr lang="zh-CN" altLang="en-US" sz="2400" dirty="0">
                <a:cs typeface="+mn-ea"/>
              </a:rPr>
              <a:t>等</a:t>
            </a:r>
            <a:r>
              <a:rPr lang="en-US" altLang="zh-CN" sz="2400" dirty="0">
                <a:cs typeface="+mn-ea"/>
              </a:rPr>
              <a:t>Web API</a:t>
            </a:r>
            <a:r>
              <a:rPr lang="zh-CN" altLang="en-US" sz="2400" dirty="0">
                <a:cs typeface="+mn-ea"/>
              </a:rPr>
              <a:t>数据交换格式</a:t>
            </a:r>
            <a:endParaRPr lang="en-US" altLang="zh-CN" sz="2400" dirty="0">
              <a:cs typeface="+mn-ea"/>
            </a:endParaRPr>
          </a:p>
          <a:p>
            <a:pPr marL="400050" lvl="2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endParaRPr lang="en-US" altLang="zh-CN" sz="2400" dirty="0">
              <a:cs typeface="+mn-ea"/>
            </a:endParaRPr>
          </a:p>
          <a:p>
            <a:pPr marL="0" lvl="1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r>
              <a:rPr lang="zh-CN" altLang="en-US" sz="2400" dirty="0">
                <a:solidFill>
                  <a:srgbClr val="FF0000"/>
                </a:solidFill>
                <a:cs typeface="+mn-ea"/>
              </a:rPr>
              <a:t>介绍</a:t>
            </a:r>
            <a:r>
              <a:rPr lang="en-US" altLang="zh-CN" sz="2400" dirty="0">
                <a:solidFill>
                  <a:srgbClr val="FF0000"/>
                </a:solidFill>
                <a:cs typeface="+mn-ea"/>
              </a:rPr>
              <a:t>CSV</a:t>
            </a:r>
            <a:r>
              <a:rPr lang="zh-CN" altLang="en-US" sz="2400" dirty="0">
                <a:solidFill>
                  <a:srgbClr val="FF0000"/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cs typeface="+mn-ea"/>
              </a:rPr>
              <a:t>TXT</a:t>
            </a:r>
            <a:r>
              <a:rPr lang="zh-CN" altLang="en-US" sz="2400" dirty="0">
                <a:solidFill>
                  <a:srgbClr val="FF0000"/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cs typeface="+mn-ea"/>
              </a:rPr>
              <a:t>Excel  3</a:t>
            </a:r>
            <a:r>
              <a:rPr lang="zh-CN" altLang="en-US" sz="2400" dirty="0">
                <a:solidFill>
                  <a:srgbClr val="FF0000"/>
                </a:solidFill>
                <a:cs typeface="+mn-ea"/>
              </a:rPr>
              <a:t>种文件的数据读写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62D47839-87FB-46B6-BD51-6F62DBC1C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06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7056783" cy="77724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文本文件编码格式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052736"/>
            <a:ext cx="8496944" cy="5040560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zh-CN" altLang="en-US" dirty="0">
                <a:solidFill>
                  <a:srgbClr val="FF0000"/>
                </a:solidFill>
              </a:rPr>
              <a:t>注意： </a:t>
            </a:r>
            <a:r>
              <a:rPr lang="zh-CN" altLang="zh-CN" dirty="0">
                <a:solidFill>
                  <a:srgbClr val="FF0000"/>
                </a:solidFill>
              </a:rPr>
              <a:t>文本文件包含中文</a:t>
            </a:r>
            <a:r>
              <a:rPr lang="zh-CN" altLang="en-US" dirty="0">
                <a:solidFill>
                  <a:srgbClr val="FF0000"/>
                </a:solidFill>
              </a:rPr>
              <a:t>时</a:t>
            </a:r>
            <a:r>
              <a:rPr lang="zh-CN" altLang="zh-CN" dirty="0">
                <a:solidFill>
                  <a:srgbClr val="FF0000"/>
                </a:solidFill>
              </a:rPr>
              <a:t>，</a:t>
            </a:r>
            <a:r>
              <a:rPr lang="zh-CN" altLang="en-US" dirty="0">
                <a:solidFill>
                  <a:srgbClr val="FF0000"/>
                </a:solidFill>
              </a:rPr>
              <a:t>必须保存为</a:t>
            </a:r>
            <a:r>
              <a:rPr lang="zh-CN" altLang="zh-CN" dirty="0">
                <a:solidFill>
                  <a:srgbClr val="FF0000"/>
                </a:solidFill>
              </a:rPr>
              <a:t>“</a:t>
            </a:r>
            <a:r>
              <a:rPr lang="en-US" altLang="zh-CN" dirty="0">
                <a:solidFill>
                  <a:srgbClr val="FF0000"/>
                </a:solidFill>
              </a:rPr>
              <a:t>UTF-8</a:t>
            </a:r>
            <a:r>
              <a:rPr lang="zh-CN" altLang="zh-CN" dirty="0">
                <a:solidFill>
                  <a:srgbClr val="FF0000"/>
                </a:solidFill>
              </a:rPr>
              <a:t>”编码格式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800" dirty="0"/>
              <a:t>                  </a:t>
            </a:r>
            <a:r>
              <a:rPr lang="zh-CN" altLang="en-US" sz="2000" dirty="0"/>
              <a:t>否则，</a:t>
            </a:r>
            <a:r>
              <a:rPr lang="en-US" altLang="zh-CN" sz="2000" dirty="0"/>
              <a:t>Python 3 </a:t>
            </a:r>
            <a:r>
              <a:rPr lang="zh-CN" altLang="en-US" sz="2000" dirty="0"/>
              <a:t>读取文件时，会报错。</a:t>
            </a:r>
            <a:endParaRPr lang="en-US" altLang="zh-CN" sz="2000" dirty="0"/>
          </a:p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en-US" sz="2000" dirty="0"/>
              <a:t>保存方法</a:t>
            </a:r>
            <a:endParaRPr lang="en-US" altLang="zh-CN" sz="2000" dirty="0"/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zh-CN" dirty="0"/>
              <a:t>用“记事本”程序打开文件</a:t>
            </a:r>
            <a:r>
              <a:rPr lang="zh-CN" altLang="en-US" dirty="0"/>
              <a:t>，</a:t>
            </a:r>
            <a:r>
              <a:rPr lang="zh-CN" altLang="zh-CN" dirty="0">
                <a:solidFill>
                  <a:srgbClr val="FF0000"/>
                </a:solidFill>
              </a:rPr>
              <a:t>选择“文件”的“另存为”菜单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dirty="0"/>
              <a:t>点击</a:t>
            </a:r>
            <a:r>
              <a:rPr lang="zh-CN" altLang="zh-CN" dirty="0"/>
              <a:t>最下方的“编码”</a:t>
            </a:r>
            <a:r>
              <a:rPr lang="zh-CN" altLang="en-US" dirty="0"/>
              <a:t>下拉列表</a:t>
            </a:r>
            <a:endParaRPr lang="en-US" altLang="zh-CN" dirty="0"/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dirty="0">
                <a:solidFill>
                  <a:srgbClr val="FF0000"/>
                </a:solidFill>
              </a:rPr>
              <a:t>选择</a:t>
            </a:r>
            <a:r>
              <a:rPr lang="zh-CN" altLang="zh-CN" dirty="0">
                <a:solidFill>
                  <a:srgbClr val="FF0000"/>
                </a:solidFill>
              </a:rPr>
              <a:t>“</a:t>
            </a:r>
            <a:r>
              <a:rPr lang="en-US" altLang="zh-CN" dirty="0">
                <a:solidFill>
                  <a:srgbClr val="FF0000"/>
                </a:solidFill>
              </a:rPr>
              <a:t>UTF-8</a:t>
            </a:r>
            <a:r>
              <a:rPr lang="zh-CN" altLang="zh-CN" dirty="0">
                <a:solidFill>
                  <a:srgbClr val="FF0000"/>
                </a:solidFill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 →“</a:t>
            </a:r>
            <a:r>
              <a:rPr lang="zh-CN" altLang="zh-CN" dirty="0">
                <a:solidFill>
                  <a:srgbClr val="FF0000"/>
                </a:solidFill>
              </a:rPr>
              <a:t>保存</a:t>
            </a:r>
            <a:r>
              <a:rPr lang="zh-CN" altLang="en-US" dirty="0">
                <a:solidFill>
                  <a:srgbClr val="FF0000"/>
                </a:solidFill>
              </a:rPr>
              <a:t>”</a:t>
            </a:r>
            <a:endParaRPr lang="en-US" altLang="zh-CN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endParaRPr lang="zh-CN" altLang="zh-CN" sz="16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283968" y="3645023"/>
            <a:ext cx="4608512" cy="2254763"/>
            <a:chOff x="2051720" y="3129136"/>
            <a:chExt cx="5067033" cy="2736304"/>
          </a:xfrm>
        </p:grpSpPr>
        <p:pic>
          <p:nvPicPr>
            <p:cNvPr id="13315" name="图片 1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720" y="3129136"/>
              <a:ext cx="5067033" cy="2736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" name="矩形 4"/>
            <p:cNvSpPr/>
            <p:nvPr/>
          </p:nvSpPr>
          <p:spPr>
            <a:xfrm>
              <a:off x="3563888" y="5445224"/>
              <a:ext cx="1800200" cy="36004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839573CB-FF85-4421-902C-9BCA69F1B6E8}"/>
              </a:ext>
            </a:extLst>
          </p:cNvPr>
          <p:cNvSpPr/>
          <p:nvPr/>
        </p:nvSpPr>
        <p:spPr>
          <a:xfrm>
            <a:off x="4283968" y="3645023"/>
            <a:ext cx="720080" cy="2880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28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DD9D03F-E7B8-4AA8-A37B-E7946C89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7CCF67B4-28C3-4420-A6C2-646E216BFA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cs typeface="+mn-ea"/>
                <a:sym typeface="+mn-lt"/>
              </a:rPr>
              <a:t>3.3.1  </a:t>
            </a:r>
            <a:r>
              <a:rPr lang="zh-CN" altLang="en-US" sz="3600" b="1" dirty="0">
                <a:solidFill>
                  <a:srgbClr val="FF0000"/>
                </a:solidFill>
                <a:cs typeface="+mn-ea"/>
                <a:sym typeface="+mn-lt"/>
              </a:rPr>
              <a:t>读写</a:t>
            </a:r>
            <a:r>
              <a:rPr lang="en-US" altLang="zh-CN" sz="3600" b="1" dirty="0">
                <a:solidFill>
                  <a:srgbClr val="FF0000"/>
                </a:solidFill>
                <a:cs typeface="+mn-ea"/>
                <a:sym typeface="+mn-lt"/>
              </a:rPr>
              <a:t>CSV</a:t>
            </a:r>
            <a:r>
              <a:rPr lang="zh-CN" altLang="en-US" sz="3600" b="1" dirty="0">
                <a:solidFill>
                  <a:srgbClr val="FF0000"/>
                </a:solidFill>
                <a:cs typeface="+mn-ea"/>
                <a:sym typeface="+mn-lt"/>
              </a:rPr>
              <a:t>和</a:t>
            </a:r>
            <a:r>
              <a:rPr lang="en-US" altLang="zh-CN" sz="3600" b="1" dirty="0">
                <a:solidFill>
                  <a:srgbClr val="FF0000"/>
                </a:solidFill>
                <a:cs typeface="+mn-ea"/>
                <a:sym typeface="+mn-lt"/>
              </a:rPr>
              <a:t>TXT</a:t>
            </a:r>
            <a:r>
              <a:rPr lang="zh-CN" altLang="en-US" sz="3600" b="1" dirty="0">
                <a:solidFill>
                  <a:srgbClr val="FF0000"/>
                </a:solidFill>
                <a:cs typeface="+mn-ea"/>
                <a:sym typeface="+mn-lt"/>
              </a:rPr>
              <a:t>文件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43908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69744D9-1174-497B-999A-EB8BC0D87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08720"/>
            <a:ext cx="8136904" cy="470932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sz="3200" b="1" dirty="0">
                <a:solidFill>
                  <a:srgbClr val="FF0000"/>
                </a:solidFill>
              </a:rPr>
              <a:t>读取</a:t>
            </a:r>
            <a:r>
              <a:rPr lang="en-US" altLang="zh-CN" sz="3200" b="1" dirty="0">
                <a:solidFill>
                  <a:srgbClr val="FF0000"/>
                </a:solidFill>
              </a:rPr>
              <a:t>CSV</a:t>
            </a:r>
            <a:r>
              <a:rPr lang="zh-CN" altLang="en-US" sz="3200" b="1" dirty="0">
                <a:solidFill>
                  <a:srgbClr val="FF0000"/>
                </a:solidFill>
              </a:rPr>
              <a:t>格式文件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3200" b="1" dirty="0">
              <a:solidFill>
                <a:srgbClr val="FF0000"/>
              </a:solidFill>
            </a:endParaRPr>
          </a:p>
          <a:p>
            <a:pPr marL="342900" lvl="1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2"/>
              </a:buBlip>
            </a:pP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CSV是一种特殊的文本文件</a:t>
            </a:r>
            <a:r>
              <a:rPr lang="zh-CN" altLang="en-US" sz="2400" dirty="0">
                <a:cs typeface="+mn-ea"/>
                <a:sym typeface="+mn-lt"/>
              </a:rPr>
              <a:t>，通常使用：</a:t>
            </a:r>
            <a:endParaRPr lang="en-US" altLang="zh-CN" sz="2400" dirty="0">
              <a:cs typeface="+mn-ea"/>
              <a:sym typeface="+mn-lt"/>
            </a:endParaRPr>
          </a:p>
          <a:p>
            <a:pPr marL="742950" lvl="2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2"/>
              </a:buBlip>
            </a:pPr>
            <a:r>
              <a:rPr lang="zh-CN" altLang="en-US" sz="2400" dirty="0">
                <a:cs typeface="+mn-ea"/>
                <a:sym typeface="+mn-lt"/>
              </a:rPr>
              <a:t>逗号：字段之间的分隔符（必须是英文逗号）</a:t>
            </a:r>
            <a:endParaRPr lang="en-US" altLang="zh-CN" sz="2400" dirty="0">
              <a:cs typeface="+mn-ea"/>
              <a:sym typeface="+mn-lt"/>
            </a:endParaRPr>
          </a:p>
          <a:p>
            <a:pPr marL="742950" lvl="2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2"/>
              </a:buBlip>
            </a:pPr>
            <a:r>
              <a:rPr lang="zh-CN" altLang="en-US" sz="2400" dirty="0">
                <a:cs typeface="+mn-ea"/>
                <a:sym typeface="+mn-lt"/>
              </a:rPr>
              <a:t>换行符：记录之间分隔符</a:t>
            </a:r>
            <a:endParaRPr lang="zh-CN" altLang="en-US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BFD5A8FB-5DC2-418B-A861-75ABFC244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005064"/>
            <a:ext cx="4392488" cy="2267443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xmlns="" id="{2AE6CD7F-A084-40D3-8DB9-605CA823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45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6307" y="620688"/>
            <a:ext cx="8784976" cy="5472608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3"/>
              </a:buBlip>
            </a:pPr>
            <a:r>
              <a:rPr lang="zh-CN" altLang="en-US" sz="2800" dirty="0">
                <a:cs typeface="+mn-ea"/>
                <a:sym typeface="+mn-lt"/>
              </a:rPr>
              <a:t>读取</a:t>
            </a:r>
            <a:r>
              <a:rPr lang="en-US" altLang="zh-CN" sz="2800" dirty="0">
                <a:cs typeface="+mn-ea"/>
                <a:sym typeface="+mn-lt"/>
              </a:rPr>
              <a:t>CSV</a:t>
            </a:r>
            <a:r>
              <a:rPr lang="zh-CN" altLang="en-US" sz="2800" dirty="0">
                <a:cs typeface="+mn-ea"/>
                <a:sym typeface="+mn-lt"/>
              </a:rPr>
              <a:t>文件方法</a:t>
            </a:r>
            <a:endParaRPr lang="en-US" altLang="zh-CN" sz="2800" dirty="0">
              <a:cs typeface="+mn-ea"/>
              <a:sym typeface="+mn-lt"/>
            </a:endParaRPr>
          </a:p>
          <a:p>
            <a:pPr marL="0" lvl="1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r>
              <a:rPr lang="en-US" altLang="zh-CN" dirty="0">
                <a:cs typeface="+mn-ea"/>
                <a:sym typeface="+mn-lt"/>
              </a:rPr>
              <a:t>    import  pandas as  pd</a:t>
            </a:r>
            <a:endParaRPr lang="en-US" altLang="zh-CN" sz="2000" dirty="0">
              <a:cs typeface="+mn-ea"/>
              <a:sym typeface="+mn-lt"/>
            </a:endParaRPr>
          </a:p>
          <a:p>
            <a:pPr marL="0" lvl="1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 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pd.read_csv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( file, 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sep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, header, 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index_col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, names, 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skiprows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,...)</a:t>
            </a:r>
          </a:p>
          <a:p>
            <a:pPr marL="0" lvl="1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endParaRPr lang="en-US" altLang="zh-CN" sz="1800" b="1" dirty="0"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026096"/>
              </p:ext>
            </p:extLst>
          </p:nvPr>
        </p:nvGraphicFramePr>
        <p:xfrm>
          <a:off x="539552" y="2708920"/>
          <a:ext cx="7704856" cy="2592289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4937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110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3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参数说明</a:t>
                      </a:r>
                      <a:r>
                        <a:rPr lang="zh-CN" altLang="en-US" sz="1800" kern="0" dirty="0">
                          <a:effectLst/>
                        </a:rPr>
                        <a:t>：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FF0000"/>
                          </a:solidFill>
                          <a:effectLst/>
                        </a:rPr>
                        <a:t>file</a:t>
                      </a:r>
                      <a:endParaRPr lang="zh-CN" sz="24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字符串，文件路径和文件名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sep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字符串，每行各数据之间的分隔符，默认为‘</a:t>
                      </a:r>
                      <a:r>
                        <a:rPr lang="en-US" sz="1800" kern="0" dirty="0">
                          <a:effectLst/>
                        </a:rPr>
                        <a:t>,</a:t>
                      </a:r>
                      <a:r>
                        <a:rPr lang="zh-CN" sz="1800" kern="0" dirty="0">
                          <a:effectLst/>
                        </a:rPr>
                        <a:t>’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header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header=None</a:t>
                      </a: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，文件中第一行不是列索引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index_col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数字，用作行索引的列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names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800" kern="0" dirty="0">
                          <a:effectLst/>
                        </a:rPr>
                        <a:t>列表</a:t>
                      </a:r>
                      <a:r>
                        <a:rPr lang="zh-CN" sz="1800" kern="0" dirty="0">
                          <a:effectLst/>
                        </a:rPr>
                        <a:t>，定义列索引，默认文件中第一行为列索引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skiprows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整数或列表，需要忽略的行数或需要跳过的行号列表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12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A23FFC7-9B83-4A18-A6DE-FB8BD7600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620688"/>
            <a:ext cx="7488832" cy="77724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【</a:t>
            </a:r>
            <a:r>
              <a:rPr lang="zh-CN" altLang="en-US" sz="3200" dirty="0" smtClean="0">
                <a:solidFill>
                  <a:srgbClr val="FF0000"/>
                </a:solidFill>
              </a:rPr>
              <a:t>例</a:t>
            </a:r>
            <a:r>
              <a:rPr lang="en-US" altLang="zh-CN" sz="3200" dirty="0" smtClean="0">
                <a:solidFill>
                  <a:srgbClr val="FF0000"/>
                </a:solidFill>
              </a:rPr>
              <a:t>3-5】</a:t>
            </a:r>
            <a:r>
              <a:rPr lang="zh-CN" altLang="en-US" sz="3200" dirty="0" smtClean="0">
                <a:solidFill>
                  <a:schemeClr val="tx1"/>
                </a:solidFill>
              </a:rPr>
              <a:t>读取</a:t>
            </a:r>
            <a:r>
              <a:rPr lang="zh-CN" altLang="en-US" sz="3200" dirty="0">
                <a:solidFill>
                  <a:schemeClr val="tx1"/>
                </a:solidFill>
              </a:rPr>
              <a:t>文件</a:t>
            </a:r>
            <a:r>
              <a:rPr lang="en-US" altLang="zh-CN" sz="3200" dirty="0">
                <a:solidFill>
                  <a:schemeClr val="tx1"/>
                </a:solidFill>
              </a:rPr>
              <a:t> d:\data\student1.csv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xmlns="" id="{959545A9-0DB4-44D4-A994-91E06542F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672" y="2132856"/>
            <a:ext cx="4641910" cy="239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4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7B777EE-E1F4-4FC1-9CBA-D2EB42F8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xmlns="" id="{01CEB1FE-CF65-432A-835A-3F1F60555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41054"/>
            <a:ext cx="7328933" cy="2981846"/>
          </a:xfr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xmlns="" id="{08306BCF-6C05-4FC6-B156-A8E8C629D8B9}"/>
              </a:ext>
            </a:extLst>
          </p:cNvPr>
          <p:cNvSpPr/>
          <p:nvPr/>
        </p:nvSpPr>
        <p:spPr>
          <a:xfrm>
            <a:off x="1246285" y="1556792"/>
            <a:ext cx="360040" cy="17577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xmlns="" id="{D1ED73A0-F28B-4B05-92D1-EBEEEE1AF6EB}"/>
              </a:ext>
            </a:extLst>
          </p:cNvPr>
          <p:cNvSpPr/>
          <p:nvPr/>
        </p:nvSpPr>
        <p:spPr>
          <a:xfrm>
            <a:off x="1426305" y="1117042"/>
            <a:ext cx="3816424" cy="4677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xmlns="" id="{50E88B05-5B5C-4E27-9E7D-00DF6A3F4D90}"/>
              </a:ext>
            </a:extLst>
          </p:cNvPr>
          <p:cNvSpPr/>
          <p:nvPr/>
        </p:nvSpPr>
        <p:spPr>
          <a:xfrm>
            <a:off x="179512" y="2459176"/>
            <a:ext cx="864096" cy="576064"/>
          </a:xfrm>
          <a:prstGeom prst="wedgeRoundRectCallout">
            <a:avLst>
              <a:gd name="adj1" fmla="val 66847"/>
              <a:gd name="adj2" fmla="val -88296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行索引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xmlns="" id="{8ED3843E-8F31-460C-9B8E-7B3465CFD167}"/>
              </a:ext>
            </a:extLst>
          </p:cNvPr>
          <p:cNvSpPr/>
          <p:nvPr/>
        </p:nvSpPr>
        <p:spPr>
          <a:xfrm>
            <a:off x="179512" y="1062860"/>
            <a:ext cx="864096" cy="576064"/>
          </a:xfrm>
          <a:prstGeom prst="wedgeRoundRectCallout">
            <a:avLst>
              <a:gd name="adj1" fmla="val 81209"/>
              <a:gd name="adj2" fmla="val -4395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列索引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40E1F851-09C3-4C2E-A241-A6B8C54BE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349" y="3461843"/>
            <a:ext cx="6538913" cy="3243263"/>
          </a:xfrm>
          <a:prstGeom prst="rect">
            <a:avLst/>
          </a:prstGeom>
        </p:spPr>
      </p:pic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xmlns="" id="{12508DF6-B7F8-4A37-A36C-D1F55A07C64A}"/>
              </a:ext>
            </a:extLst>
          </p:cNvPr>
          <p:cNvSpPr/>
          <p:nvPr/>
        </p:nvSpPr>
        <p:spPr>
          <a:xfrm>
            <a:off x="455809" y="4293096"/>
            <a:ext cx="864096" cy="576064"/>
          </a:xfrm>
          <a:prstGeom prst="wedgeRoundRectCallout">
            <a:avLst>
              <a:gd name="adj1" fmla="val 106908"/>
              <a:gd name="adj2" fmla="val 127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列索引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xmlns="" id="{7F039BF2-EC36-44CB-9B8D-03E1A58C236D}"/>
              </a:ext>
            </a:extLst>
          </p:cNvPr>
          <p:cNvSpPr/>
          <p:nvPr/>
        </p:nvSpPr>
        <p:spPr>
          <a:xfrm>
            <a:off x="229370" y="5877272"/>
            <a:ext cx="864096" cy="576064"/>
          </a:xfrm>
          <a:prstGeom prst="wedgeRoundRectCallout">
            <a:avLst>
              <a:gd name="adj1" fmla="val 66847"/>
              <a:gd name="adj2" fmla="val -88296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行索引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81A1C2CA-9D00-4F10-8B2C-C501AB01FF4A}"/>
              </a:ext>
            </a:extLst>
          </p:cNvPr>
          <p:cNvSpPr/>
          <p:nvPr/>
        </p:nvSpPr>
        <p:spPr>
          <a:xfrm>
            <a:off x="1835696" y="4388564"/>
            <a:ext cx="3816424" cy="4677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D1B8FCB6-523E-4862-BFCB-F1663C3E2424}"/>
              </a:ext>
            </a:extLst>
          </p:cNvPr>
          <p:cNvSpPr/>
          <p:nvPr/>
        </p:nvSpPr>
        <p:spPr>
          <a:xfrm>
            <a:off x="1495128" y="5013983"/>
            <a:ext cx="360040" cy="17577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D44609F4-ABCB-4642-B07F-03E55D5EEACE}"/>
              </a:ext>
            </a:extLst>
          </p:cNvPr>
          <p:cNvSpPr/>
          <p:nvPr/>
        </p:nvSpPr>
        <p:spPr>
          <a:xfrm>
            <a:off x="4932040" y="3573016"/>
            <a:ext cx="1080120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34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F3F7C3B1-4C7C-4118-8316-BEEFB6209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72" y="620688"/>
            <a:ext cx="8733656" cy="5505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b="1" dirty="0" smtClean="0">
                <a:solidFill>
                  <a:srgbClr val="FF0000"/>
                </a:solidFill>
              </a:rPr>
              <a:t>补充例子</a:t>
            </a:r>
            <a:r>
              <a:rPr lang="zh-CN" altLang="en-US" sz="3200" dirty="0" smtClean="0"/>
              <a:t>：读取</a:t>
            </a:r>
            <a:r>
              <a:rPr lang="zh-CN" altLang="en-US" sz="3200" dirty="0"/>
              <a:t>文件</a:t>
            </a:r>
            <a:r>
              <a:rPr lang="en-US" altLang="zh-CN" sz="3200" dirty="0"/>
              <a:t> d:\data\bankdebt.csv</a:t>
            </a:r>
            <a:r>
              <a:rPr lang="zh-CN" altLang="en-US" sz="3200" b="1" dirty="0"/>
              <a:t> 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pPr marL="0" indent="0">
              <a:buNone/>
            </a:pP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79CE37A-E97D-4425-A00F-CC84A723E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710930"/>
            <a:ext cx="3096344" cy="452638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7372B5BB-365D-4A15-A786-FB6D525FEB80}"/>
              </a:ext>
            </a:extLst>
          </p:cNvPr>
          <p:cNvSpPr/>
          <p:nvPr/>
        </p:nvSpPr>
        <p:spPr>
          <a:xfrm>
            <a:off x="5940152" y="1916832"/>
            <a:ext cx="2736304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0000"/>
                </a:solidFill>
              </a:rPr>
              <a:t>注意：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文件中第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行不是列索引</a:t>
            </a:r>
          </a:p>
        </p:txBody>
      </p:sp>
    </p:spTree>
    <p:extLst>
      <p:ext uri="{BB962C8B-B14F-4D97-AF65-F5344CB8AC3E}">
        <p14:creationId xmlns:p14="http://schemas.microsoft.com/office/powerpoint/2010/main" val="247178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46AC727A-FE6A-473C-A9EB-7837E367B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77443"/>
            <a:ext cx="5472608" cy="2881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740C274-7791-4F33-9224-CC7704D5B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284984"/>
            <a:ext cx="5548313" cy="3067050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xmlns="" id="{B3D16CA5-EF9B-4028-8F46-3E3C97860BF2}"/>
              </a:ext>
            </a:extLst>
          </p:cNvPr>
          <p:cNvSpPr/>
          <p:nvPr/>
        </p:nvSpPr>
        <p:spPr>
          <a:xfrm>
            <a:off x="4499992" y="260648"/>
            <a:ext cx="2304256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xmlns="" id="{E3331FCB-53F6-4ED6-974C-546DCD460433}"/>
              </a:ext>
            </a:extLst>
          </p:cNvPr>
          <p:cNvSpPr/>
          <p:nvPr/>
        </p:nvSpPr>
        <p:spPr>
          <a:xfrm>
            <a:off x="1619672" y="928314"/>
            <a:ext cx="201622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56ED2407-6283-48A5-BA9B-7FBB8374D5D0}"/>
              </a:ext>
            </a:extLst>
          </p:cNvPr>
          <p:cNvSpPr/>
          <p:nvPr/>
        </p:nvSpPr>
        <p:spPr>
          <a:xfrm>
            <a:off x="1259632" y="1196752"/>
            <a:ext cx="360040" cy="18008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xmlns="" id="{94A4FCD9-10AF-4E56-9D01-7ACA2B198EAA}"/>
              </a:ext>
            </a:extLst>
          </p:cNvPr>
          <p:cNvSpPr/>
          <p:nvPr/>
        </p:nvSpPr>
        <p:spPr>
          <a:xfrm>
            <a:off x="4427984" y="1196752"/>
            <a:ext cx="1080122" cy="504056"/>
          </a:xfrm>
          <a:prstGeom prst="wedgeRoundRectCallout">
            <a:avLst>
              <a:gd name="adj1" fmla="val -109018"/>
              <a:gd name="adj2" fmla="val -4181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列索引</a:t>
            </a: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xmlns="" id="{5197C132-6D93-4DEF-A67D-DF553B977221}"/>
              </a:ext>
            </a:extLst>
          </p:cNvPr>
          <p:cNvSpPr/>
          <p:nvPr/>
        </p:nvSpPr>
        <p:spPr>
          <a:xfrm>
            <a:off x="251520" y="1700808"/>
            <a:ext cx="792088" cy="504056"/>
          </a:xfrm>
          <a:prstGeom prst="wedgeRoundRectCallout">
            <a:avLst>
              <a:gd name="adj1" fmla="val 79849"/>
              <a:gd name="adj2" fmla="val -46345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行索引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C48203FA-E682-47C2-8F5A-93D5E83A6DFE}"/>
              </a:ext>
            </a:extLst>
          </p:cNvPr>
          <p:cNvSpPr/>
          <p:nvPr/>
        </p:nvSpPr>
        <p:spPr>
          <a:xfrm>
            <a:off x="1691680" y="4005064"/>
            <a:ext cx="2664296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xmlns="" id="{C2D10B22-AE00-42AE-8425-BA96CE94CB61}"/>
              </a:ext>
            </a:extLst>
          </p:cNvPr>
          <p:cNvSpPr/>
          <p:nvPr/>
        </p:nvSpPr>
        <p:spPr>
          <a:xfrm>
            <a:off x="5107213" y="4221088"/>
            <a:ext cx="1080122" cy="504056"/>
          </a:xfrm>
          <a:prstGeom prst="wedgeRoundRectCallout">
            <a:avLst>
              <a:gd name="adj1" fmla="val -109018"/>
              <a:gd name="adj2" fmla="val -4181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列索引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823B6C9-9824-4325-81FC-FD9000195B3E}"/>
              </a:ext>
            </a:extLst>
          </p:cNvPr>
          <p:cNvSpPr/>
          <p:nvPr/>
        </p:nvSpPr>
        <p:spPr>
          <a:xfrm>
            <a:off x="1403648" y="3284984"/>
            <a:ext cx="547260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对话气泡: 圆角矩形 17">
            <a:extLst>
              <a:ext uri="{FF2B5EF4-FFF2-40B4-BE49-F238E27FC236}">
                <a16:creationId xmlns:a16="http://schemas.microsoft.com/office/drawing/2014/main" xmlns="" id="{E89A8B90-04B7-468A-BE04-CCBEA8442CAD}"/>
              </a:ext>
            </a:extLst>
          </p:cNvPr>
          <p:cNvSpPr/>
          <p:nvPr/>
        </p:nvSpPr>
        <p:spPr>
          <a:xfrm>
            <a:off x="6372200" y="1730544"/>
            <a:ext cx="1919591" cy="611727"/>
          </a:xfrm>
          <a:prstGeom prst="wedgeRoundRectCallout">
            <a:avLst>
              <a:gd name="adj1" fmla="val -117235"/>
              <a:gd name="adj2" fmla="val -239536"/>
              <a:gd name="adj3" fmla="val 16667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文件中，第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zh-CN" altLang="en-US" sz="1400" dirty="0">
                <a:solidFill>
                  <a:srgbClr val="FF0000"/>
                </a:solidFill>
              </a:rPr>
              <a:t>行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不是列索引</a:t>
            </a:r>
          </a:p>
        </p:txBody>
      </p:sp>
    </p:spTree>
    <p:extLst>
      <p:ext uri="{BB962C8B-B14F-4D97-AF65-F5344CB8AC3E}">
        <p14:creationId xmlns:p14="http://schemas.microsoft.com/office/powerpoint/2010/main" val="280306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F3F7C3B1-4C7C-4118-8316-BEEFB6209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72" y="620688"/>
            <a:ext cx="8733656" cy="5505691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2"/>
            </a:pPr>
            <a:r>
              <a:rPr lang="zh-CN" altLang="en-US" sz="3200" b="1" dirty="0">
                <a:solidFill>
                  <a:srgbClr val="FF0000"/>
                </a:solidFill>
              </a:rPr>
              <a:t>读取</a:t>
            </a:r>
            <a:r>
              <a:rPr lang="en-US" altLang="zh-CN" sz="3200" b="1" dirty="0">
                <a:solidFill>
                  <a:srgbClr val="FF0000"/>
                </a:solidFill>
              </a:rPr>
              <a:t>TXT</a:t>
            </a:r>
            <a:r>
              <a:rPr lang="zh-CN" altLang="en-US" sz="3200" b="1" dirty="0">
                <a:solidFill>
                  <a:srgbClr val="FF0000"/>
                </a:solidFill>
              </a:rPr>
              <a:t>文件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3200" b="1" dirty="0"/>
          </a:p>
          <a:p>
            <a:pPr marL="0" indent="0">
              <a:buNone/>
            </a:pPr>
            <a:r>
              <a:rPr lang="en-US" altLang="zh-CN" sz="3200" b="1" dirty="0" smtClean="0">
                <a:solidFill>
                  <a:srgbClr val="FF0000"/>
                </a:solidFill>
              </a:rPr>
              <a:t>【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3-6】</a:t>
            </a:r>
            <a:r>
              <a:rPr lang="zh-CN" altLang="en-US" sz="3200" dirty="0" smtClean="0"/>
              <a:t>读取</a:t>
            </a:r>
            <a:r>
              <a:rPr lang="zh-CN" altLang="en-US" sz="3200" dirty="0"/>
              <a:t>文件</a:t>
            </a:r>
            <a:r>
              <a:rPr lang="en-US" altLang="zh-CN" sz="3200" dirty="0"/>
              <a:t> d:\data\student2.txt</a:t>
            </a:r>
            <a:endParaRPr lang="zh-CN" altLang="en-US" sz="3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DE39AA21-4959-4F1D-9F4D-2083E24F0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24" y="2996952"/>
            <a:ext cx="8017192" cy="21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1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A0EF9BF8-3AF9-4DBF-AD22-18850C895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908720"/>
            <a:ext cx="8203603" cy="3744416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xmlns="" id="{0EA2CF1C-7F69-47B1-BEED-E4C79417DF28}"/>
              </a:ext>
            </a:extLst>
          </p:cNvPr>
          <p:cNvSpPr/>
          <p:nvPr/>
        </p:nvSpPr>
        <p:spPr>
          <a:xfrm>
            <a:off x="5508104" y="260648"/>
            <a:ext cx="2232248" cy="504056"/>
          </a:xfrm>
          <a:prstGeom prst="wedgeRoundRectCallout">
            <a:avLst>
              <a:gd name="adj1" fmla="val -72621"/>
              <a:gd name="adj2" fmla="val 151909"/>
              <a:gd name="adj3" fmla="val 16667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用制表符</a:t>
            </a:r>
            <a:r>
              <a:rPr lang="en-US" altLang="zh-CN" sz="1400" dirty="0">
                <a:solidFill>
                  <a:srgbClr val="FF0000"/>
                </a:solidFill>
              </a:rPr>
              <a:t>\t </a:t>
            </a:r>
            <a:r>
              <a:rPr lang="zh-CN" altLang="en-US" sz="1400" dirty="0">
                <a:solidFill>
                  <a:srgbClr val="FF0000"/>
                </a:solidFill>
              </a:rPr>
              <a:t> 作为分割符</a:t>
            </a:r>
            <a:endParaRPr lang="zh-CN" altLang="en-US" sz="1400" dirty="0"/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xmlns="" id="{D8EB5EBD-E40B-46C0-8795-28B7AFE33AC9}"/>
              </a:ext>
            </a:extLst>
          </p:cNvPr>
          <p:cNvSpPr/>
          <p:nvPr/>
        </p:nvSpPr>
        <p:spPr>
          <a:xfrm>
            <a:off x="4499992" y="2060847"/>
            <a:ext cx="1584176" cy="566285"/>
          </a:xfrm>
          <a:prstGeom prst="wedgeRoundRectCallout">
            <a:avLst>
              <a:gd name="adj1" fmla="val 39858"/>
              <a:gd name="adj2" fmla="val -146007"/>
              <a:gd name="adj3" fmla="val 16667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文件中，第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zh-CN" altLang="en-US" sz="1400" dirty="0">
                <a:solidFill>
                  <a:srgbClr val="FF0000"/>
                </a:solidFill>
              </a:rPr>
              <a:t>列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作为行索引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xmlns="" id="{AEC0B399-4299-418F-A61A-999FB508DF76}"/>
              </a:ext>
            </a:extLst>
          </p:cNvPr>
          <p:cNvSpPr/>
          <p:nvPr/>
        </p:nvSpPr>
        <p:spPr>
          <a:xfrm>
            <a:off x="5508104" y="3347214"/>
            <a:ext cx="1656184" cy="585841"/>
          </a:xfrm>
          <a:prstGeom prst="wedgeRoundRectCallout">
            <a:avLst>
              <a:gd name="adj1" fmla="val 27977"/>
              <a:gd name="adj2" fmla="val -364586"/>
              <a:gd name="adj3" fmla="val 16667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文件中，第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zh-CN" altLang="en-US" sz="1400" dirty="0">
                <a:solidFill>
                  <a:srgbClr val="FF0000"/>
                </a:solidFill>
              </a:rPr>
              <a:t>行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不是列索引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xmlns="" id="{DF9DF88A-3BA2-441F-8802-555D5778AF08}"/>
              </a:ext>
            </a:extLst>
          </p:cNvPr>
          <p:cNvSpPr/>
          <p:nvPr/>
        </p:nvSpPr>
        <p:spPr>
          <a:xfrm>
            <a:off x="7543471" y="2488007"/>
            <a:ext cx="1277001" cy="652961"/>
          </a:xfrm>
          <a:prstGeom prst="wedgeRoundRectCallout">
            <a:avLst>
              <a:gd name="adj1" fmla="val -34972"/>
              <a:gd name="adj2" fmla="val -197143"/>
              <a:gd name="adj3" fmla="val 16667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定义列索引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9969A86C-2BA0-4F5E-9DF6-0FCCA756AB5F}"/>
              </a:ext>
            </a:extLst>
          </p:cNvPr>
          <p:cNvSpPr/>
          <p:nvPr/>
        </p:nvSpPr>
        <p:spPr>
          <a:xfrm>
            <a:off x="611560" y="2060847"/>
            <a:ext cx="3528392" cy="504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78B930A1-DAA4-42CF-B844-890F63A8FC27}"/>
              </a:ext>
            </a:extLst>
          </p:cNvPr>
          <p:cNvSpPr/>
          <p:nvPr/>
        </p:nvSpPr>
        <p:spPr>
          <a:xfrm>
            <a:off x="467544" y="2488007"/>
            <a:ext cx="432048" cy="21651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243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392" y="138878"/>
            <a:ext cx="6768751" cy="77724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3.  </a:t>
            </a:r>
            <a:r>
              <a:rPr lang="zh-CN" altLang="en-US" sz="32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导出数据，保存为</a:t>
            </a:r>
            <a:r>
              <a:rPr lang="en-US" altLang="zh-CN" sz="32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CSV</a:t>
            </a:r>
            <a:r>
              <a:rPr lang="zh-CN" altLang="en-US" sz="32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格式文件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052736"/>
            <a:ext cx="8784976" cy="5472608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3"/>
              </a:buBlip>
            </a:pPr>
            <a:r>
              <a:rPr lang="zh-CN" altLang="en-US" sz="2800" dirty="0">
                <a:cs typeface="+mn-ea"/>
                <a:sym typeface="+mn-lt"/>
              </a:rPr>
              <a:t>将数据导出，保存到</a:t>
            </a:r>
            <a:r>
              <a:rPr lang="en-US" altLang="zh-CN" sz="2800" dirty="0">
                <a:cs typeface="+mn-ea"/>
                <a:sym typeface="+mn-lt"/>
              </a:rPr>
              <a:t>CSV</a:t>
            </a:r>
            <a:r>
              <a:rPr lang="zh-CN" altLang="en-US" sz="2800" dirty="0">
                <a:cs typeface="+mn-ea"/>
                <a:sym typeface="+mn-lt"/>
              </a:rPr>
              <a:t>文件中</a:t>
            </a:r>
            <a:endParaRPr lang="en-US" altLang="zh-CN" sz="2800" dirty="0">
              <a:cs typeface="+mn-ea"/>
              <a:sym typeface="+mn-lt"/>
            </a:endParaRPr>
          </a:p>
          <a:p>
            <a:pPr marL="0" lvl="1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r>
              <a:rPr lang="en-US" altLang="zh-CN" b="1" dirty="0"/>
              <a:t>     </a:t>
            </a:r>
            <a:r>
              <a:rPr lang="en-US" altLang="zh-CN" sz="2400" b="1" dirty="0" err="1">
                <a:solidFill>
                  <a:srgbClr val="FF0000"/>
                </a:solidFill>
              </a:rPr>
              <a:t>to_csv</a:t>
            </a:r>
            <a:r>
              <a:rPr lang="en-US" altLang="zh-CN" sz="2400" b="1" dirty="0">
                <a:solidFill>
                  <a:srgbClr val="FF0000"/>
                </a:solidFill>
              </a:rPr>
              <a:t> (file, </a:t>
            </a:r>
            <a:r>
              <a:rPr lang="en-US" altLang="zh-CN" sz="2400" b="1" dirty="0" err="1">
                <a:solidFill>
                  <a:srgbClr val="FF0000"/>
                </a:solidFill>
              </a:rPr>
              <a:t>sep</a:t>
            </a:r>
            <a:r>
              <a:rPr lang="en-US" altLang="zh-CN" sz="2400" b="1" dirty="0">
                <a:solidFill>
                  <a:srgbClr val="FF0000"/>
                </a:solidFill>
              </a:rPr>
              <a:t>, mode, index, header,...)</a:t>
            </a:r>
          </a:p>
          <a:p>
            <a:pPr marL="0" lvl="1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endParaRPr lang="en-US" altLang="zh-CN" b="1" dirty="0">
              <a:cs typeface="+mn-ea"/>
              <a:sym typeface="+mn-lt"/>
            </a:endParaRPr>
          </a:p>
          <a:p>
            <a:pPr marL="0" lvl="1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endParaRPr lang="en-US" altLang="zh-CN" dirty="0"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624003"/>
              </p:ext>
            </p:extLst>
          </p:nvPr>
        </p:nvGraphicFramePr>
        <p:xfrm>
          <a:off x="683568" y="2492896"/>
          <a:ext cx="7128792" cy="2424271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606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参数说明：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file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文件路径和文件名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sep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分隔符，默认为逗号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mode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导出模式，</a:t>
                      </a: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w</a:t>
                      </a: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为导出到新文件，</a:t>
                      </a: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为追加到现有文件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index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是否导出行索引，默认为</a:t>
                      </a:r>
                      <a:r>
                        <a:rPr lang="en-US" sz="1800" kern="0" dirty="0">
                          <a:effectLst/>
                        </a:rPr>
                        <a:t>True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header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是否导出列索引，默认为</a:t>
                      </a:r>
                      <a:r>
                        <a:rPr lang="en-US" sz="1800" kern="0" dirty="0">
                          <a:effectLst/>
                        </a:rPr>
                        <a:t>True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11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5233" y="396978"/>
            <a:ext cx="8900593" cy="5472608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例</a:t>
            </a:r>
            <a:r>
              <a:rPr lang="en-US" altLang="zh-CN" dirty="0" smtClean="0">
                <a:solidFill>
                  <a:srgbClr val="FF0000"/>
                </a:solidFill>
              </a:rPr>
              <a:t>3-7】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zh-CN" altLang="zh-CN" dirty="0"/>
              <a:t>新建</a:t>
            </a:r>
            <a:r>
              <a:rPr lang="en-US" altLang="zh-CN" dirty="0" err="1"/>
              <a:t>DataFrame</a:t>
            </a:r>
            <a:r>
              <a:rPr lang="zh-CN" altLang="zh-CN" dirty="0"/>
              <a:t>对象</a:t>
            </a:r>
            <a:r>
              <a:rPr lang="en-US" altLang="zh-CN" dirty="0"/>
              <a:t>student</a:t>
            </a:r>
            <a:r>
              <a:rPr lang="zh-CN" altLang="zh-CN" dirty="0"/>
              <a:t>，并将数据保存到</a:t>
            </a:r>
            <a:r>
              <a:rPr lang="en-US" altLang="zh-CN" dirty="0"/>
              <a:t>out.csv</a:t>
            </a:r>
            <a:r>
              <a:rPr lang="zh-CN" altLang="zh-CN" dirty="0"/>
              <a:t>文件</a:t>
            </a:r>
            <a:endParaRPr lang="en-US" altLang="zh-CN" b="1" dirty="0">
              <a:solidFill>
                <a:srgbClr val="016BBB"/>
              </a:solidFill>
            </a:endParaRPr>
          </a:p>
          <a:p>
            <a:pPr marL="400050" lvl="1" indent="0">
              <a:buNone/>
            </a:pPr>
            <a:endParaRPr lang="en-US" altLang="zh-CN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0E937DBE-3F3E-409A-986A-1576B76D9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96" y="1068690"/>
            <a:ext cx="7272808" cy="5189516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xmlns="" id="{389715A6-F631-49DC-BE18-0E0FB5CB8A94}"/>
              </a:ext>
            </a:extLst>
          </p:cNvPr>
          <p:cNvSpPr/>
          <p:nvPr/>
        </p:nvSpPr>
        <p:spPr>
          <a:xfrm>
            <a:off x="395536" y="4941168"/>
            <a:ext cx="7812868" cy="16001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47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27C9D92-BF57-4291-8BB0-891EAE3D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EECF8F83-47FD-40FF-993E-6697CFA1A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916832"/>
            <a:ext cx="8589640" cy="51845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3.3.2   </a:t>
            </a:r>
            <a:r>
              <a:rPr lang="zh-CN" altLang="en-US" sz="3600" b="1" dirty="0" smtClean="0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读取</a:t>
            </a:r>
            <a:r>
              <a:rPr lang="en-US" altLang="zh-CN" sz="3600" b="1" dirty="0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E</a:t>
            </a:r>
            <a:r>
              <a:rPr lang="en-US" altLang="zh-CN" sz="3600" b="1" dirty="0" smtClean="0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xcel</a:t>
            </a:r>
            <a:r>
              <a:rPr lang="zh-CN" altLang="en-US" sz="3600" b="1" dirty="0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文件</a:t>
            </a:r>
            <a:endParaRPr lang="zh-CN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9525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5556" y="1700808"/>
            <a:ext cx="7992888" cy="4464496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3"/>
              </a:buBlip>
            </a:pPr>
            <a:r>
              <a:rPr lang="zh-CN" altLang="zh-CN" sz="2800" dirty="0"/>
              <a:t>从</a:t>
            </a:r>
            <a:r>
              <a:rPr lang="en-US" altLang="zh-CN" sz="2800" dirty="0"/>
              <a:t>Excel</a:t>
            </a:r>
            <a:r>
              <a:rPr lang="zh-CN" altLang="zh-CN" sz="2800" dirty="0"/>
              <a:t>文件中读取数据的函数类似</a:t>
            </a:r>
            <a:r>
              <a:rPr lang="en-US" altLang="zh-CN" sz="2800" dirty="0"/>
              <a:t>CSV</a:t>
            </a:r>
            <a:r>
              <a:rPr lang="zh-CN" altLang="zh-CN" sz="2800" dirty="0"/>
              <a:t>文件</a:t>
            </a:r>
            <a:endParaRPr lang="en-US" altLang="zh-CN" sz="2800" dirty="0"/>
          </a:p>
          <a:p>
            <a:pPr marL="742950" lvl="2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3"/>
              </a:buBlip>
            </a:pPr>
            <a:r>
              <a:rPr lang="zh-CN" altLang="en-US" sz="2800" dirty="0"/>
              <a:t>需</a:t>
            </a:r>
            <a:r>
              <a:rPr lang="zh-CN" altLang="zh-CN" sz="2800" dirty="0"/>
              <a:t>给出数据所在的</a:t>
            </a:r>
            <a:r>
              <a:rPr lang="zh-CN" altLang="en-US" sz="2800" dirty="0"/>
              <a:t>工作表名称</a:t>
            </a:r>
            <a:endParaRPr lang="en-US" altLang="zh-CN" sz="2800" dirty="0"/>
          </a:p>
          <a:p>
            <a:pPr marL="742950" lvl="2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3"/>
              </a:buBlip>
            </a:pPr>
            <a:endParaRPr lang="en-US" altLang="zh-CN" sz="2800" dirty="0"/>
          </a:p>
          <a:p>
            <a:pPr marL="342900" lvl="1" indent="-34290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Blip>
                <a:blip r:embed="rId3"/>
              </a:buBlip>
            </a:pPr>
            <a:r>
              <a:rPr lang="zh-CN" altLang="en-US" sz="2800" dirty="0"/>
              <a:t>读取方法：</a:t>
            </a:r>
            <a:endParaRPr lang="en-US" altLang="zh-CN" sz="2800" dirty="0"/>
          </a:p>
          <a:p>
            <a:pPr marL="0" lvl="1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     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pd. </a:t>
            </a:r>
            <a:r>
              <a:rPr lang="en-US" altLang="zh-CN" sz="2800" b="1" dirty="0" err="1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read_excel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(file, </a:t>
            </a:r>
            <a:r>
              <a:rPr lang="en-US" altLang="zh-CN" sz="2800" b="1" dirty="0" err="1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sheetname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, ...)</a:t>
            </a:r>
            <a:endParaRPr lang="en-US" altLang="zh-CN" sz="2800" b="1" dirty="0">
              <a:solidFill>
                <a:srgbClr val="FF0000"/>
              </a:solidFill>
              <a:latin typeface="+mn-ea"/>
              <a:cs typeface="Courier New" panose="02070309020205020404" pitchFamily="49" charset="0"/>
              <a:sym typeface="+mn-lt"/>
            </a:endParaRPr>
          </a:p>
          <a:p>
            <a:pPr marL="0" lvl="1" indent="0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  <a:buNone/>
            </a:pP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80377BC6-8433-4836-97AC-621C8472469E}"/>
              </a:ext>
            </a:extLst>
          </p:cNvPr>
          <p:cNvSpPr txBox="1"/>
          <p:nvPr/>
        </p:nvSpPr>
        <p:spPr>
          <a:xfrm>
            <a:off x="755576" y="508030"/>
            <a:ext cx="7272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1.  </a:t>
            </a:r>
            <a:r>
              <a:rPr lang="zh-CN" altLang="en-US" sz="3200" b="1" dirty="0">
                <a:solidFill>
                  <a:srgbClr val="FF0000"/>
                </a:solidFill>
              </a:rPr>
              <a:t>读取</a:t>
            </a:r>
            <a:r>
              <a:rPr lang="en-US" altLang="zh-CN" sz="3200" b="1" dirty="0">
                <a:solidFill>
                  <a:srgbClr val="FF0000"/>
                </a:solidFill>
              </a:rPr>
              <a:t>Excel</a:t>
            </a:r>
            <a:r>
              <a:rPr lang="zh-CN" altLang="zh-CN" sz="3200" b="1" dirty="0">
                <a:solidFill>
                  <a:srgbClr val="FF0000"/>
                </a:solidFill>
              </a:rPr>
              <a:t>文件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xmlns="" id="{56E83771-C680-45A4-A8F7-FF9D6941454E}"/>
              </a:ext>
            </a:extLst>
          </p:cNvPr>
          <p:cNvSpPr/>
          <p:nvPr/>
        </p:nvSpPr>
        <p:spPr>
          <a:xfrm>
            <a:off x="1547664" y="5445224"/>
            <a:ext cx="2304256" cy="720080"/>
          </a:xfrm>
          <a:prstGeom prst="wedgeRoundRectCallout">
            <a:avLst>
              <a:gd name="adj1" fmla="val 55286"/>
              <a:gd name="adj2" fmla="val -15405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字符串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表示文件路径和文件名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xmlns="" id="{68D53238-0852-4019-9081-F0A67DDC9E15}"/>
              </a:ext>
            </a:extLst>
          </p:cNvPr>
          <p:cNvSpPr/>
          <p:nvPr/>
        </p:nvSpPr>
        <p:spPr>
          <a:xfrm>
            <a:off x="5292080" y="5445224"/>
            <a:ext cx="2376264" cy="720080"/>
          </a:xfrm>
          <a:prstGeom prst="wedgeRoundRectCallout">
            <a:avLst>
              <a:gd name="adj1" fmla="val -33367"/>
              <a:gd name="adj2" fmla="val -16193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字符串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表示数据所在的工作表</a:t>
            </a:r>
          </a:p>
        </p:txBody>
      </p:sp>
    </p:spTree>
    <p:extLst>
      <p:ext uri="{BB962C8B-B14F-4D97-AF65-F5344CB8AC3E}">
        <p14:creationId xmlns:p14="http://schemas.microsoft.com/office/powerpoint/2010/main" val="381738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595511"/>
            <a:ext cx="8424936" cy="1584176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3800" b="1" dirty="0" smtClean="0">
                <a:solidFill>
                  <a:srgbClr val="FF0000"/>
                </a:solidFill>
              </a:rPr>
              <a:t>【</a:t>
            </a:r>
            <a:r>
              <a:rPr lang="zh-CN" altLang="en-US" sz="3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3800" b="1" dirty="0" smtClean="0">
                <a:solidFill>
                  <a:srgbClr val="FF0000"/>
                </a:solidFill>
              </a:rPr>
              <a:t>3-8】</a:t>
            </a:r>
            <a:r>
              <a:rPr lang="zh-CN" altLang="zh-CN" sz="3200" dirty="0" smtClean="0"/>
              <a:t>从</a:t>
            </a:r>
            <a:r>
              <a:rPr lang="zh-CN" altLang="en-US" sz="3200" dirty="0"/>
              <a:t>如图所示的</a:t>
            </a:r>
            <a:r>
              <a:rPr lang="en-US" altLang="zh-CN" sz="3200" dirty="0">
                <a:solidFill>
                  <a:srgbClr val="FF0000"/>
                </a:solidFill>
              </a:rPr>
              <a:t>student3. </a:t>
            </a:r>
            <a:r>
              <a:rPr lang="en-US" altLang="zh-CN" sz="3200" dirty="0" err="1">
                <a:solidFill>
                  <a:srgbClr val="FF0000"/>
                </a:solidFill>
              </a:rPr>
              <a:t>xlsx</a:t>
            </a:r>
            <a:r>
              <a:rPr lang="zh-CN" altLang="zh-CN" sz="3200" dirty="0">
                <a:solidFill>
                  <a:srgbClr val="FF0000"/>
                </a:solidFill>
              </a:rPr>
              <a:t>文件“</a:t>
            </a:r>
            <a:r>
              <a:rPr lang="en-US" altLang="zh-CN" sz="3200" dirty="0">
                <a:solidFill>
                  <a:srgbClr val="FF0000"/>
                </a:solidFill>
              </a:rPr>
              <a:t>Group1</a:t>
            </a:r>
            <a:r>
              <a:rPr lang="zh-CN" altLang="zh-CN" sz="3200" dirty="0">
                <a:solidFill>
                  <a:srgbClr val="FF0000"/>
                </a:solidFill>
              </a:rPr>
              <a:t>” </a:t>
            </a:r>
            <a:r>
              <a:rPr lang="zh-CN" altLang="en-US" sz="3200" dirty="0">
                <a:solidFill>
                  <a:srgbClr val="FF0000"/>
                </a:solidFill>
              </a:rPr>
              <a:t>工作表</a:t>
            </a:r>
            <a:r>
              <a:rPr lang="zh-CN" altLang="zh-CN" sz="3200" dirty="0"/>
              <a:t>中读取数据，保存至</a:t>
            </a:r>
            <a:r>
              <a:rPr lang="en-US" altLang="zh-CN" sz="3200" dirty="0" err="1"/>
              <a:t>DataFrame</a:t>
            </a:r>
            <a:r>
              <a:rPr lang="zh-CN" altLang="zh-CN" sz="3200" dirty="0"/>
              <a:t>对象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>
              <a:lnSpc>
                <a:spcPct val="140000"/>
              </a:lnSpc>
              <a:spcBef>
                <a:spcPct val="19608"/>
              </a:spcBef>
            </a:pPr>
            <a:endParaRPr lang="en-US" altLang="zh-CN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C7E94A4-72B0-40D7-A739-50D17A7FB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493974"/>
            <a:ext cx="5529263" cy="3923358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xmlns="" id="{3D8B3C54-C7D1-44F3-8118-261C0FDF64CD}"/>
              </a:ext>
            </a:extLst>
          </p:cNvPr>
          <p:cNvSpPr/>
          <p:nvPr/>
        </p:nvSpPr>
        <p:spPr>
          <a:xfrm>
            <a:off x="1691680" y="6093296"/>
            <a:ext cx="936104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30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0DBAB268-349A-4037-8B0D-231FFA0A3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1" y="836712"/>
            <a:ext cx="8897435" cy="4392488"/>
          </a:xfrm>
          <a:prstGeom prst="rect">
            <a:avLst/>
          </a:prstGeom>
        </p:spPr>
      </p:pic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xmlns="" id="{4840BC3A-F314-4BF9-AC96-703E85065BD3}"/>
              </a:ext>
            </a:extLst>
          </p:cNvPr>
          <p:cNvSpPr/>
          <p:nvPr/>
        </p:nvSpPr>
        <p:spPr>
          <a:xfrm>
            <a:off x="7236296" y="3068960"/>
            <a:ext cx="1440160" cy="576064"/>
          </a:xfrm>
          <a:prstGeom prst="wedgeRoundRectCallout">
            <a:avLst>
              <a:gd name="adj1" fmla="val 15172"/>
              <a:gd name="adj2" fmla="val -25030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忽略前</a:t>
            </a:r>
            <a:r>
              <a:rPr lang="en-US" altLang="zh-CN" sz="1400" dirty="0">
                <a:solidFill>
                  <a:srgbClr val="FF0000"/>
                </a:solidFill>
              </a:rPr>
              <a:t>3</a:t>
            </a:r>
            <a:r>
              <a:rPr lang="zh-CN" altLang="en-US" sz="1400" dirty="0">
                <a:solidFill>
                  <a:srgbClr val="FF0000"/>
                </a:solidFill>
              </a:rPr>
              <a:t>行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xmlns="" id="{4DD818D4-666B-4166-8D3A-DC442C8D14C7}"/>
              </a:ext>
            </a:extLst>
          </p:cNvPr>
          <p:cNvSpPr/>
          <p:nvPr/>
        </p:nvSpPr>
        <p:spPr>
          <a:xfrm>
            <a:off x="4932040" y="3140968"/>
            <a:ext cx="1597442" cy="576064"/>
          </a:xfrm>
          <a:prstGeom prst="wedgeRoundRectCallout">
            <a:avLst>
              <a:gd name="adj1" fmla="val 7462"/>
              <a:gd name="adj2" fmla="val -26957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读取工作表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Group1</a:t>
            </a:r>
            <a:r>
              <a:rPr lang="zh-CN" altLang="en-US" sz="1400" dirty="0">
                <a:solidFill>
                  <a:srgbClr val="FF0000"/>
                </a:solidFill>
              </a:rPr>
              <a:t>中的数据</a:t>
            </a:r>
          </a:p>
        </p:txBody>
      </p:sp>
    </p:spTree>
    <p:extLst>
      <p:ext uri="{BB962C8B-B14F-4D97-AF65-F5344CB8AC3E}">
        <p14:creationId xmlns:p14="http://schemas.microsoft.com/office/powerpoint/2010/main" val="350504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F7A122D-20F1-4F8A-B5F3-C7890F06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404664"/>
            <a:ext cx="6624736" cy="777240"/>
          </a:xfrm>
        </p:spPr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rgbClr val="FF0000"/>
                </a:solidFill>
                <a:latin typeface="+mn-ea"/>
                <a:ea typeface="+mn-ea"/>
              </a:rPr>
              <a:t>2.  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ea typeface="+mn-ea"/>
              </a:rPr>
              <a:t>导出数据，保存为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ea typeface="+mn-ea"/>
              </a:rPr>
              <a:t>Excel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ea typeface="+mn-ea"/>
              </a:rPr>
              <a:t>文件</a:t>
            </a:r>
            <a:r>
              <a:rPr lang="zh-CN" altLang="en-US" sz="2400" dirty="0">
                <a:solidFill>
                  <a:srgbClr val="FF0000"/>
                </a:solidFill>
              </a:rPr>
              <a:t/>
            </a:r>
            <a:br>
              <a:rPr lang="zh-CN" altLang="en-US" sz="2400" dirty="0">
                <a:solidFill>
                  <a:srgbClr val="FF0000"/>
                </a:solidFill>
              </a:rPr>
            </a:b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D1DD3DE5-6A3D-48D9-8B49-5636B2A4D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0768"/>
            <a:ext cx="8157592" cy="4291677"/>
          </a:xfrm>
        </p:spPr>
        <p:txBody>
          <a:bodyPr/>
          <a:lstStyle/>
          <a:p>
            <a:r>
              <a:rPr lang="zh-CN" altLang="en-US" sz="2800" dirty="0"/>
              <a:t>将数据导出，保存到</a:t>
            </a:r>
            <a:r>
              <a:rPr lang="en-US" altLang="zh-CN" sz="2800" dirty="0"/>
              <a:t>excel</a:t>
            </a:r>
            <a:r>
              <a:rPr lang="zh-CN" altLang="en-US" sz="2800" dirty="0"/>
              <a:t>文件中。</a:t>
            </a:r>
            <a:endParaRPr lang="en-US" altLang="zh-CN" sz="2800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2800" dirty="0" err="1"/>
              <a:t>DataFrame</a:t>
            </a:r>
            <a:r>
              <a:rPr lang="zh-CN" altLang="en-US" sz="2800" dirty="0"/>
              <a:t>对象</a:t>
            </a:r>
            <a:r>
              <a:rPr lang="en-US" altLang="zh-CN" sz="2800" dirty="0"/>
              <a:t>. </a:t>
            </a:r>
            <a:r>
              <a:rPr lang="en-US" altLang="zh-CN" sz="2800" dirty="0" err="1">
                <a:solidFill>
                  <a:srgbClr val="FF0000"/>
                </a:solidFill>
              </a:rPr>
              <a:t>to_excel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/>
              <a:t>( </a:t>
            </a:r>
            <a:r>
              <a:rPr lang="en-US" altLang="zh-CN" sz="2800" dirty="0" smtClean="0"/>
              <a:t>)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334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84E3755-145C-472F-9560-61EAA7BB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思考与练习   </a:t>
            </a:r>
            <a:r>
              <a:rPr lang="en-US" altLang="zh-CN" sz="3200" dirty="0" smtClean="0">
                <a:solidFill>
                  <a:srgbClr val="FF0000"/>
                </a:solidFill>
              </a:rPr>
              <a:t>P49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B0E2507-81DD-4734-B343-3ADF7BD48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zh-CN" altLang="en-US" b="1" dirty="0">
                <a:ea typeface="宋体" panose="02010600030101010101" pitchFamily="2" charset="-122"/>
              </a:rPr>
              <a:t>创建</a:t>
            </a:r>
            <a:r>
              <a:rPr lang="en-US" altLang="zh-CN" b="1" dirty="0">
                <a:ea typeface="宋体" panose="02010600030101010101" pitchFamily="2" charset="-122"/>
              </a:rPr>
              <a:t>50×7</a:t>
            </a:r>
            <a:r>
              <a:rPr lang="zh-CN" altLang="en-US" b="1" dirty="0">
                <a:ea typeface="宋体" panose="02010600030101010101" pitchFamily="2" charset="-122"/>
              </a:rPr>
              <a:t>的</a:t>
            </a:r>
            <a:r>
              <a:rPr lang="en-US" altLang="zh-CN" b="1" dirty="0" err="1">
                <a:ea typeface="宋体" panose="02010600030101010101" pitchFamily="2" charset="-122"/>
              </a:rPr>
              <a:t>DataFrame</a:t>
            </a:r>
            <a:r>
              <a:rPr lang="zh-CN" altLang="en-US" b="1" dirty="0">
                <a:ea typeface="宋体" panose="02010600030101010101" pitchFamily="2" charset="-122"/>
              </a:rPr>
              <a:t>对象，数据为 </a:t>
            </a:r>
            <a:r>
              <a:rPr lang="en-US" altLang="zh-CN" b="1" dirty="0">
                <a:ea typeface="宋体" panose="02010600030101010101" pitchFamily="2" charset="-122"/>
              </a:rPr>
              <a:t>[10,99]</a:t>
            </a:r>
            <a:r>
              <a:rPr lang="zh-CN" altLang="en-US" b="1" dirty="0">
                <a:ea typeface="宋体" panose="02010600030101010101" pitchFamily="2" charset="-122"/>
              </a:rPr>
              <a:t>之间的随机整数；</a:t>
            </a:r>
            <a:r>
              <a:rPr lang="en-US" altLang="zh-CN" b="1" dirty="0">
                <a:ea typeface="宋体" panose="02010600030101010101" pitchFamily="2" charset="-122"/>
              </a:rPr>
              <a:t>columns</a:t>
            </a:r>
            <a:r>
              <a:rPr lang="zh-CN" altLang="en-US" b="1" dirty="0">
                <a:ea typeface="宋体" panose="02010600030101010101" pitchFamily="2" charset="-122"/>
              </a:rPr>
              <a:t>为字符</a:t>
            </a:r>
            <a:r>
              <a:rPr lang="en-US" altLang="zh-CN" b="1" dirty="0">
                <a:ea typeface="宋体" panose="02010600030101010101" pitchFamily="2" charset="-122"/>
              </a:rPr>
              <a:t>a-g</a:t>
            </a:r>
            <a:r>
              <a:rPr lang="zh-CN" altLang="en-US" b="1" dirty="0">
                <a:ea typeface="宋体" panose="02010600030101010101" pitchFamily="2" charset="-122"/>
              </a:rPr>
              <a:t>；将</a:t>
            </a:r>
            <a:r>
              <a:rPr lang="en-US" altLang="zh-CN" b="1" dirty="0" err="1">
                <a:ea typeface="宋体" panose="02010600030101010101" pitchFamily="2" charset="-122"/>
              </a:rPr>
              <a:t>DataFrame</a:t>
            </a:r>
            <a:r>
              <a:rPr lang="zh-CN" altLang="en-US" b="1" dirty="0">
                <a:ea typeface="宋体" panose="02010600030101010101" pitchFamily="2" charset="-122"/>
              </a:rPr>
              <a:t>对象保存到</a:t>
            </a:r>
            <a:r>
              <a:rPr lang="en-US" altLang="zh-CN" b="1" dirty="0">
                <a:ea typeface="宋体" panose="02010600030101010101" pitchFamily="2" charset="-122"/>
              </a:rPr>
              <a:t>csv</a:t>
            </a:r>
            <a:r>
              <a:rPr lang="zh-CN" altLang="en-US" b="1" dirty="0">
                <a:ea typeface="宋体" panose="02010600030101010101" pitchFamily="2" charset="-122"/>
              </a:rPr>
              <a:t>文件中。</a:t>
            </a:r>
            <a:endParaRPr lang="en-US" altLang="zh-CN" b="1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ea typeface="宋体" panose="02010600030101010101" pitchFamily="2" charset="-122"/>
              </a:rPr>
              <a:t>【</a:t>
            </a:r>
            <a:r>
              <a:rPr lang="zh-CN" altLang="en-US" b="1" dirty="0">
                <a:ea typeface="宋体" panose="02010600030101010101" pitchFamily="2" charset="-122"/>
              </a:rPr>
              <a:t>提示</a:t>
            </a:r>
            <a:r>
              <a:rPr lang="en-US" altLang="zh-CN" b="1" dirty="0">
                <a:ea typeface="宋体" panose="02010600030101010101" pitchFamily="2" charset="-122"/>
              </a:rPr>
              <a:t>】</a:t>
            </a:r>
            <a:r>
              <a:rPr lang="zh-CN" altLang="en-US" b="1" dirty="0">
                <a:ea typeface="宋体" panose="02010600030101010101" pitchFamily="2" charset="-122"/>
              </a:rPr>
              <a:t>使用</a:t>
            </a:r>
            <a:r>
              <a:rPr lang="en-US" altLang="zh-CN" b="1" dirty="0">
                <a:ea typeface="宋体" panose="02010600030101010101" pitchFamily="2" charset="-122"/>
              </a:rPr>
              <a:t>NumPy</a:t>
            </a:r>
            <a:r>
              <a:rPr lang="zh-CN" altLang="en-US" b="1" dirty="0">
                <a:ea typeface="宋体" panose="02010600030101010101" pitchFamily="2" charset="-122"/>
              </a:rPr>
              <a:t>的随机生成函数</a:t>
            </a:r>
            <a:r>
              <a:rPr lang="en-US" altLang="zh-CN" b="1" dirty="0" err="1">
                <a:ea typeface="宋体" panose="02010600030101010101" pitchFamily="2" charset="-122"/>
              </a:rPr>
              <a:t>randint</a:t>
            </a:r>
            <a:r>
              <a:rPr lang="en-US" altLang="zh-CN" b="1" dirty="0">
                <a:ea typeface="宋体" panose="02010600030101010101" pitchFamily="2" charset="-122"/>
              </a:rPr>
              <a:t>()</a:t>
            </a:r>
            <a:r>
              <a:rPr lang="zh-CN" altLang="en-US" b="1" dirty="0">
                <a:ea typeface="宋体" panose="02010600030101010101" pitchFamily="2" charset="-122"/>
              </a:rPr>
              <a:t>生成数据。</a:t>
            </a:r>
            <a:endParaRPr lang="en-US" altLang="zh-CN" b="1" dirty="0"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ea typeface="宋体" panose="02010600030101010101" pitchFamily="2" charset="-122"/>
              </a:rPr>
              <a:t>2.  </a:t>
            </a:r>
            <a:r>
              <a:rPr lang="zh-CN" altLang="en-US" b="1" dirty="0">
                <a:ea typeface="宋体" panose="02010600030101010101" pitchFamily="2" charset="-122"/>
              </a:rPr>
              <a:t>海伦一直使用在线交友网站寻找适合的约会对象</a:t>
            </a:r>
            <a:r>
              <a:rPr lang="en-US" altLang="zh-CN" b="1" dirty="0">
                <a:ea typeface="宋体" panose="02010600030101010101" pitchFamily="2" charset="-122"/>
              </a:rPr>
              <a:t>, </a:t>
            </a:r>
            <a:r>
              <a:rPr lang="zh-CN" altLang="en-US" b="1" dirty="0">
                <a:ea typeface="宋体" panose="02010600030101010101" pitchFamily="2" charset="-122"/>
              </a:rPr>
              <a:t>她将交友数据存放在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datingTestSet.cvs</a:t>
            </a:r>
            <a:r>
              <a:rPr lang="zh-CN" altLang="en-US" b="1" dirty="0">
                <a:ea typeface="宋体" panose="02010600030101010101" pitchFamily="2" charset="-122"/>
              </a:rPr>
              <a:t>文件中。</a:t>
            </a:r>
          </a:p>
          <a:p>
            <a:pPr marL="0" indent="0">
              <a:buNone/>
            </a:pPr>
            <a:r>
              <a:rPr lang="en-US" altLang="zh-CN" b="1" dirty="0">
                <a:ea typeface="宋体" panose="02010600030101010101" pitchFamily="2" charset="-122"/>
              </a:rPr>
              <a:t>   1</a:t>
            </a:r>
            <a:r>
              <a:rPr lang="zh-CN" altLang="en-US" b="1" dirty="0">
                <a:ea typeface="宋体" panose="02010600030101010101" pitchFamily="2" charset="-122"/>
              </a:rPr>
              <a:t>）从文件中读取有效数据保存到</a:t>
            </a:r>
            <a:r>
              <a:rPr lang="en-US" altLang="zh-CN" b="1" dirty="0" err="1">
                <a:ea typeface="宋体" panose="02010600030101010101" pitchFamily="2" charset="-122"/>
              </a:rPr>
              <a:t>Dataframe</a:t>
            </a:r>
            <a:r>
              <a:rPr lang="zh-CN" altLang="en-US" b="1" dirty="0">
                <a:ea typeface="宋体" panose="02010600030101010101" pitchFamily="2" charset="-122"/>
              </a:rPr>
              <a:t>对象中，跳过所有文字解释行；</a:t>
            </a:r>
          </a:p>
          <a:p>
            <a:pPr marL="0" indent="0">
              <a:buNone/>
            </a:pPr>
            <a:r>
              <a:rPr lang="en-US" altLang="zh-CN" b="1" dirty="0">
                <a:ea typeface="宋体" panose="02010600030101010101" pitchFamily="2" charset="-122"/>
              </a:rPr>
              <a:t>   2</a:t>
            </a:r>
            <a:r>
              <a:rPr lang="zh-CN" altLang="en-US" b="1" dirty="0">
                <a:ea typeface="宋体" panose="02010600030101010101" pitchFamily="2" charset="-122"/>
              </a:rPr>
              <a:t>）列索引名设为 </a:t>
            </a:r>
            <a:r>
              <a:rPr lang="en-US" altLang="zh-CN" b="1" dirty="0">
                <a:ea typeface="宋体" panose="02010600030101010101" pitchFamily="2" charset="-122"/>
              </a:rPr>
              <a:t>['</a:t>
            </a:r>
            <a:r>
              <a:rPr lang="en-US" altLang="zh-CN" b="1" dirty="0" err="1">
                <a:ea typeface="宋体" panose="02010600030101010101" pitchFamily="2" charset="-122"/>
              </a:rPr>
              <a:t>flymiles</a:t>
            </a:r>
            <a:r>
              <a:rPr lang="en-US" altLang="zh-CN" b="1" dirty="0">
                <a:ea typeface="宋体" panose="02010600030101010101" pitchFamily="2" charset="-122"/>
              </a:rPr>
              <a:t>','videogame','</a:t>
            </a:r>
            <a:r>
              <a:rPr lang="en-US" altLang="zh-CN" b="1" dirty="0" err="1">
                <a:ea typeface="宋体" panose="02010600030101010101" pitchFamily="2" charset="-122"/>
              </a:rPr>
              <a:t>icecream</a:t>
            </a:r>
            <a:r>
              <a:rPr lang="en-US" altLang="zh-CN" b="1" dirty="0">
                <a:ea typeface="宋体" panose="02010600030101010101" pitchFamily="2" charset="-122"/>
              </a:rPr>
              <a:t>','type‘]</a:t>
            </a:r>
            <a:r>
              <a:rPr lang="zh-CN" altLang="en-US" b="1" dirty="0">
                <a:ea typeface="宋体" panose="02010600030101010101" pitchFamily="2" charset="-122"/>
              </a:rPr>
              <a:t>；</a:t>
            </a:r>
          </a:p>
          <a:p>
            <a:pPr marL="0" indent="0">
              <a:buNone/>
            </a:pPr>
            <a:r>
              <a:rPr lang="en-US" altLang="zh-CN" b="1" dirty="0">
                <a:ea typeface="宋体" panose="02010600030101010101" pitchFamily="2" charset="-122"/>
              </a:rPr>
              <a:t>   3</a:t>
            </a:r>
            <a:r>
              <a:rPr lang="zh-CN" altLang="en-US" b="1" dirty="0">
                <a:ea typeface="宋体" panose="02010600030101010101" pitchFamily="2" charset="-122"/>
              </a:rPr>
              <a:t>）显示读取到的前面</a:t>
            </a:r>
            <a:r>
              <a:rPr lang="en-US" altLang="zh-CN" b="1" dirty="0">
                <a:ea typeface="宋体" panose="02010600030101010101" pitchFamily="2" charset="-122"/>
              </a:rPr>
              <a:t>5</a:t>
            </a:r>
            <a:r>
              <a:rPr lang="zh-CN" altLang="en-US" b="1" dirty="0">
                <a:ea typeface="宋体" panose="02010600030101010101" pitchFamily="2" charset="-122"/>
              </a:rPr>
              <a:t>条数据；</a:t>
            </a:r>
          </a:p>
          <a:p>
            <a:pPr marL="0" indent="0">
              <a:buNone/>
            </a:pPr>
            <a:r>
              <a:rPr lang="en-US" altLang="zh-CN" b="1" dirty="0">
                <a:ea typeface="宋体" panose="02010600030101010101" pitchFamily="2" charset="-122"/>
              </a:rPr>
              <a:t>   4</a:t>
            </a:r>
            <a:r>
              <a:rPr lang="zh-CN" altLang="en-US" b="1" dirty="0">
                <a:ea typeface="宋体" panose="02010600030101010101" pitchFamily="2" charset="-122"/>
              </a:rPr>
              <a:t>）显示</a:t>
            </a:r>
            <a:r>
              <a:rPr lang="zh-CN" altLang="en-US" b="1" dirty="0" smtClean="0">
                <a:ea typeface="宋体" panose="02010600030101010101" pitchFamily="2" charset="-122"/>
              </a:rPr>
              <a:t>所有</a:t>
            </a:r>
            <a:r>
              <a:rPr lang="en-US" altLang="zh-CN" b="1" dirty="0" smtClean="0">
                <a:ea typeface="宋体" panose="02010600030101010101" pitchFamily="2" charset="-122"/>
              </a:rPr>
              <a:t>‘type’</a:t>
            </a:r>
            <a:r>
              <a:rPr lang="zh-CN" altLang="en-US" b="1" dirty="0" smtClean="0">
                <a:ea typeface="宋体" panose="02010600030101010101" pitchFamily="2" charset="-122"/>
              </a:rPr>
              <a:t>为</a:t>
            </a:r>
            <a:r>
              <a:rPr lang="en-US" altLang="zh-CN" b="1" dirty="0" smtClean="0">
                <a:ea typeface="宋体" panose="02010600030101010101" pitchFamily="2" charset="-122"/>
              </a:rPr>
              <a:t>‘</a:t>
            </a:r>
            <a:r>
              <a:rPr lang="en-US" altLang="zh-CN" b="1" dirty="0" err="1" smtClean="0">
                <a:ea typeface="宋体" panose="02010600030101010101" pitchFamily="2" charset="-122"/>
              </a:rPr>
              <a:t>largeDoses</a:t>
            </a:r>
            <a:r>
              <a:rPr lang="en-US" altLang="zh-CN" b="1" dirty="0">
                <a:ea typeface="宋体" panose="02010600030101010101" pitchFamily="2" charset="-122"/>
              </a:rPr>
              <a:t>‘</a:t>
            </a:r>
            <a:r>
              <a:rPr lang="zh-CN" altLang="en-US" b="1" dirty="0">
                <a:ea typeface="宋体" panose="02010600030101010101" pitchFamily="2" charset="-122"/>
              </a:rPr>
              <a:t>的</a:t>
            </a:r>
            <a:r>
              <a:rPr lang="zh-CN" altLang="en-US" b="1" dirty="0" smtClean="0">
                <a:ea typeface="宋体" panose="02010600030101010101" pitchFamily="2" charset="-122"/>
              </a:rPr>
              <a:t>数据。</a:t>
            </a:r>
            <a:endParaRPr lang="en-US" altLang="zh-CN" b="1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ea typeface="宋体" panose="02010600030101010101" pitchFamily="2" charset="-122"/>
              </a:rPr>
              <a:t>   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750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}"/>
</p:tagLst>
</file>

<file path=ppt/theme/theme1.xml><?xml version="1.0" encoding="utf-8"?>
<a:theme xmlns:a="http://schemas.openxmlformats.org/drawingml/2006/main" name="Office 主题​​">
  <a:themeElements>
    <a:clrScheme name="自定义 14">
      <a:dk1>
        <a:sysClr val="windowText" lastClr="000000"/>
      </a:dk1>
      <a:lt1>
        <a:sysClr val="window" lastClr="FFFFFF"/>
      </a:lt1>
      <a:dk2>
        <a:srgbClr val="014C83"/>
      </a:dk2>
      <a:lt2>
        <a:srgbClr val="EEECE1"/>
      </a:lt2>
      <a:accent1>
        <a:srgbClr val="014C8D"/>
      </a:accent1>
      <a:accent2>
        <a:srgbClr val="012E57"/>
      </a:accent2>
      <a:accent3>
        <a:srgbClr val="24673E"/>
      </a:accent3>
      <a:accent4>
        <a:srgbClr val="3371A4"/>
      </a:accent4>
      <a:accent5>
        <a:srgbClr val="4BACC6"/>
      </a:accent5>
      <a:accent6>
        <a:srgbClr val="7FA6C7"/>
      </a:accent6>
      <a:hlink>
        <a:srgbClr val="0000FF"/>
      </a:hlink>
      <a:folHlink>
        <a:srgbClr val="CDDBE8"/>
      </a:folHlink>
    </a:clrScheme>
    <a:fontScheme name="jcgaousr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6555</TotalTime>
  <Words>693</Words>
  <Application>Microsoft Office PowerPoint</Application>
  <PresentationFormat>全屏显示(4:3)</PresentationFormat>
  <Paragraphs>115</Paragraphs>
  <Slides>20</Slides>
  <Notes>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Office 主题​​</vt:lpstr>
      <vt:lpstr>PowerPoint 演示文稿</vt:lpstr>
      <vt:lpstr>PowerPoint 演示文稿</vt:lpstr>
      <vt:lpstr>文本文件编码格式</vt:lpstr>
      <vt:lpstr>PowerPoint 演示文稿</vt:lpstr>
      <vt:lpstr>PowerPoint 演示文稿</vt:lpstr>
      <vt:lpstr>PowerPoint 演示文稿</vt:lpstr>
      <vt:lpstr>【例3-5】读取文件 d:\data\student1.csv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 导出数据，保存为CSV格式文件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  导出数据，保存为Excel文件 </vt:lpstr>
      <vt:lpstr>思考与练习   P49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wangjing</dc:creator>
  <cp:lastModifiedBy>qw</cp:lastModifiedBy>
  <cp:revision>1254</cp:revision>
  <dcterms:created xsi:type="dcterms:W3CDTF">2011-06-03T14:53:00Z</dcterms:created>
  <dcterms:modified xsi:type="dcterms:W3CDTF">2022-03-26T12:53:14Z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2052-10.1.0.6489</vt:lpwstr>
  </property>
</Properties>
</file>